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Relationship Id="rId9" Type="http://schemas.openxmlformats.org/officeDocument/2006/relationships/image" Target="../media/image12.png"/><Relationship Id="rId10" Type="http://schemas.openxmlformats.org/officeDocument/2006/relationships/image" Target="../media/image13.png"/><Relationship Id="rId11" Type="http://schemas.openxmlformats.org/officeDocument/2006/relationships/image" Target="../media/image14.png"/><Relationship Id="rId12" Type="http://schemas.openxmlformats.org/officeDocument/2006/relationships/image" Target="../media/image15.png"/><Relationship Id="rId13" Type="http://schemas.openxmlformats.org/officeDocument/2006/relationships/image" Target="../media/image16.png"/><Relationship Id="rId14" Type="http://schemas.openxmlformats.org/officeDocument/2006/relationships/image" Target="../media/image1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image" Target="../media/image22.png"/><Relationship Id="rId8" Type="http://schemas.openxmlformats.org/officeDocument/2006/relationships/image" Target="../media/image23.png"/><Relationship Id="rId9" Type="http://schemas.openxmlformats.org/officeDocument/2006/relationships/image" Target="../media/image24.png"/><Relationship Id="rId10" Type="http://schemas.openxmlformats.org/officeDocument/2006/relationships/image" Target="../media/image25.png"/><Relationship Id="rId11" Type="http://schemas.openxmlformats.org/officeDocument/2006/relationships/image" Target="../media/image26.png"/><Relationship Id="rId12" Type="http://schemas.openxmlformats.org/officeDocument/2006/relationships/image" Target="../media/image27.png"/><Relationship Id="rId13" Type="http://schemas.openxmlformats.org/officeDocument/2006/relationships/image" Target="../media/image28.png"/><Relationship Id="rId14" Type="http://schemas.openxmlformats.org/officeDocument/2006/relationships/image" Target="../media/image2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Relationship Id="rId7" Type="http://schemas.openxmlformats.org/officeDocument/2006/relationships/image" Target="../media/image34.png"/><Relationship Id="rId8" Type="http://schemas.openxmlformats.org/officeDocument/2006/relationships/image" Target="../media/image35.png"/><Relationship Id="rId9" Type="http://schemas.openxmlformats.org/officeDocument/2006/relationships/image" Target="../media/image36.png"/><Relationship Id="rId10" Type="http://schemas.openxmlformats.org/officeDocument/2006/relationships/image" Target="../media/image37.png"/><Relationship Id="rId11" Type="http://schemas.openxmlformats.org/officeDocument/2006/relationships/image" Target="../media/image38.png"/><Relationship Id="rId12" Type="http://schemas.openxmlformats.org/officeDocument/2006/relationships/image" Target="../media/image39.png"/><Relationship Id="rId13" Type="http://schemas.openxmlformats.org/officeDocument/2006/relationships/image" Target="../media/image40.png"/><Relationship Id="rId14" Type="http://schemas.openxmlformats.org/officeDocument/2006/relationships/image" Target="../media/image4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2.png"/><Relationship Id="rId4" Type="http://schemas.openxmlformats.org/officeDocument/2006/relationships/image" Target="../media/image43.png"/><Relationship Id="rId5" Type="http://schemas.openxmlformats.org/officeDocument/2006/relationships/image" Target="../media/image44.png"/><Relationship Id="rId6" Type="http://schemas.openxmlformats.org/officeDocument/2006/relationships/image" Target="../media/image45.png"/><Relationship Id="rId7" Type="http://schemas.openxmlformats.org/officeDocument/2006/relationships/image" Target="../media/image46.png"/><Relationship Id="rId8" Type="http://schemas.openxmlformats.org/officeDocument/2006/relationships/image" Target="../media/image47.png"/><Relationship Id="rId9" Type="http://schemas.openxmlformats.org/officeDocument/2006/relationships/image" Target="../media/image48.png"/><Relationship Id="rId10" Type="http://schemas.openxmlformats.org/officeDocument/2006/relationships/image" Target="../media/image49.png"/><Relationship Id="rId11" Type="http://schemas.openxmlformats.org/officeDocument/2006/relationships/image" Target="../media/image50.png"/><Relationship Id="rId12" Type="http://schemas.openxmlformats.org/officeDocument/2006/relationships/image" Target="../media/image51.png"/><Relationship Id="rId13" Type="http://schemas.openxmlformats.org/officeDocument/2006/relationships/image" Target="../media/image52.png"/><Relationship Id="rId14" Type="http://schemas.openxmlformats.org/officeDocument/2006/relationships/image" Target="../media/image5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4.png"/><Relationship Id="rId4" Type="http://schemas.openxmlformats.org/officeDocument/2006/relationships/image" Target="../media/image55.png"/><Relationship Id="rId5" Type="http://schemas.openxmlformats.org/officeDocument/2006/relationships/image" Target="../media/image56.png"/><Relationship Id="rId6" Type="http://schemas.openxmlformats.org/officeDocument/2006/relationships/image" Target="../media/image57.png"/><Relationship Id="rId7" Type="http://schemas.openxmlformats.org/officeDocument/2006/relationships/image" Target="../media/image58.png"/><Relationship Id="rId8" Type="http://schemas.openxmlformats.org/officeDocument/2006/relationships/image" Target="../media/image59.png"/><Relationship Id="rId9" Type="http://schemas.openxmlformats.org/officeDocument/2006/relationships/image" Target="../media/image60.png"/><Relationship Id="rId10" Type="http://schemas.openxmlformats.org/officeDocument/2006/relationships/image" Target="../media/image39.png"/><Relationship Id="rId11" Type="http://schemas.openxmlformats.org/officeDocument/2006/relationships/image" Target="../media/image61.png"/><Relationship Id="rId12" Type="http://schemas.openxmlformats.org/officeDocument/2006/relationships/image" Target="../media/image44.png"/><Relationship Id="rId13" Type="http://schemas.openxmlformats.org/officeDocument/2006/relationships/image" Target="../media/image62.png"/><Relationship Id="rId14" Type="http://schemas.openxmlformats.org/officeDocument/2006/relationships/image" Target="../media/image5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3.png"/><Relationship Id="rId4" Type="http://schemas.openxmlformats.org/officeDocument/2006/relationships/image" Target="../media/image64.png"/><Relationship Id="rId5" Type="http://schemas.openxmlformats.org/officeDocument/2006/relationships/image" Target="../media/image18.png"/><Relationship Id="rId6" Type="http://schemas.openxmlformats.org/officeDocument/2006/relationships/image" Target="../media/image65.png"/><Relationship Id="rId7" Type="http://schemas.openxmlformats.org/officeDocument/2006/relationships/image" Target="../media/image66.png"/><Relationship Id="rId8" Type="http://schemas.openxmlformats.org/officeDocument/2006/relationships/image" Target="../media/image31.png"/><Relationship Id="rId9" Type="http://schemas.openxmlformats.org/officeDocument/2006/relationships/image" Target="../media/image67.png"/><Relationship Id="rId10" Type="http://schemas.openxmlformats.org/officeDocument/2006/relationships/image" Target="../media/image68.png"/><Relationship Id="rId11" Type="http://schemas.openxmlformats.org/officeDocument/2006/relationships/image" Target="../media/image69.png"/><Relationship Id="rId12" Type="http://schemas.openxmlformats.org/officeDocument/2006/relationships/image" Target="../media/image70.png"/><Relationship Id="rId13" Type="http://schemas.openxmlformats.org/officeDocument/2006/relationships/image" Target="../media/image71.png"/><Relationship Id="rId14" Type="http://schemas.openxmlformats.org/officeDocument/2006/relationships/image" Target="../media/image7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4.png"/><Relationship Id="rId4" Type="http://schemas.openxmlformats.org/officeDocument/2006/relationships/image" Target="../media/image73.png"/><Relationship Id="rId5" Type="http://schemas.openxmlformats.org/officeDocument/2006/relationships/image" Target="../media/image22.png"/><Relationship Id="rId6" Type="http://schemas.openxmlformats.org/officeDocument/2006/relationships/image" Target="../media/image74.png"/><Relationship Id="rId7" Type="http://schemas.openxmlformats.org/officeDocument/2006/relationships/image" Target="../media/image75.png"/><Relationship Id="rId8" Type="http://schemas.openxmlformats.org/officeDocument/2006/relationships/image" Target="../media/image76.png"/><Relationship Id="rId9" Type="http://schemas.openxmlformats.org/officeDocument/2006/relationships/image" Target="../media/image27.png"/><Relationship Id="rId10" Type="http://schemas.openxmlformats.org/officeDocument/2006/relationships/image" Target="../media/image77.png"/><Relationship Id="rId11" Type="http://schemas.openxmlformats.org/officeDocument/2006/relationships/image" Target="../media/image78.png"/><Relationship Id="rId12" Type="http://schemas.openxmlformats.org/officeDocument/2006/relationships/image" Target="../media/image79.png"/><Relationship Id="rId13" Type="http://schemas.openxmlformats.org/officeDocument/2006/relationships/image" Target="../media/image80.png"/><Relationship Id="rId14" Type="http://schemas.openxmlformats.org/officeDocument/2006/relationships/image" Target="../media/image8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2.png"/><Relationship Id="rId4" Type="http://schemas.openxmlformats.org/officeDocument/2006/relationships/image" Target="../media/image83.png"/><Relationship Id="rId5" Type="http://schemas.openxmlformats.org/officeDocument/2006/relationships/image" Target="../media/image22.png"/><Relationship Id="rId6" Type="http://schemas.openxmlformats.org/officeDocument/2006/relationships/image" Target="../media/image84.png"/><Relationship Id="rId7" Type="http://schemas.openxmlformats.org/officeDocument/2006/relationships/image" Target="../media/image24.png"/><Relationship Id="rId8" Type="http://schemas.openxmlformats.org/officeDocument/2006/relationships/image" Target="../media/image85.png"/><Relationship Id="rId9" Type="http://schemas.openxmlformats.org/officeDocument/2006/relationships/image" Target="../media/image86.png"/><Relationship Id="rId10" Type="http://schemas.openxmlformats.org/officeDocument/2006/relationships/image" Target="../media/image87.png"/><Relationship Id="rId11" Type="http://schemas.openxmlformats.org/officeDocument/2006/relationships/image" Target="../media/image88.png"/><Relationship Id="rId12" Type="http://schemas.openxmlformats.org/officeDocument/2006/relationships/image" Target="../media/image89.png"/><Relationship Id="rId13" Type="http://schemas.openxmlformats.org/officeDocument/2006/relationships/image" Target="../media/image90.png"/><Relationship Id="rId14" Type="http://schemas.openxmlformats.org/officeDocument/2006/relationships/image" Target="../media/image4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1.png"/><Relationship Id="rId4" Type="http://schemas.openxmlformats.org/officeDocument/2006/relationships/image" Target="../media/image92.png"/><Relationship Id="rId5" Type="http://schemas.openxmlformats.org/officeDocument/2006/relationships/image" Target="../media/image93.png"/><Relationship Id="rId6" Type="http://schemas.openxmlformats.org/officeDocument/2006/relationships/image" Target="../media/image94.png"/><Relationship Id="rId7" Type="http://schemas.openxmlformats.org/officeDocument/2006/relationships/image" Target="../media/image95.png"/><Relationship Id="rId8" Type="http://schemas.openxmlformats.org/officeDocument/2006/relationships/image" Target="../media/image96.png"/><Relationship Id="rId9" Type="http://schemas.openxmlformats.org/officeDocument/2006/relationships/image" Target="../media/image97.png"/><Relationship Id="rId10" Type="http://schemas.openxmlformats.org/officeDocument/2006/relationships/image" Target="../media/image98.png"/><Relationship Id="rId11" Type="http://schemas.openxmlformats.org/officeDocument/2006/relationships/image" Target="../media/image99.png"/><Relationship Id="rId12" Type="http://schemas.openxmlformats.org/officeDocument/2006/relationships/image" Target="../media/image100.png"/><Relationship Id="rId13" Type="http://schemas.openxmlformats.org/officeDocument/2006/relationships/image" Target="../media/image101.png"/><Relationship Id="rId14" Type="http://schemas.openxmlformats.org/officeDocument/2006/relationships/image" Target="../media/image5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2.png"/><Relationship Id="rId4" Type="http://schemas.openxmlformats.org/officeDocument/2006/relationships/image" Target="../media/image103.png"/><Relationship Id="rId5" Type="http://schemas.openxmlformats.org/officeDocument/2006/relationships/image" Target="../media/image10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5.png"/><Relationship Id="rId4" Type="http://schemas.openxmlformats.org/officeDocument/2006/relationships/image" Target="../media/image106.png"/><Relationship Id="rId5" Type="http://schemas.openxmlformats.org/officeDocument/2006/relationships/image" Target="../media/image107.png"/><Relationship Id="rId6" Type="http://schemas.openxmlformats.org/officeDocument/2006/relationships/image" Target="../media/image108.png"/><Relationship Id="rId7" Type="http://schemas.openxmlformats.org/officeDocument/2006/relationships/image" Target="../media/image109.png"/><Relationship Id="rId8" Type="http://schemas.openxmlformats.org/officeDocument/2006/relationships/image" Target="../media/image110.png"/><Relationship Id="rId9" Type="http://schemas.openxmlformats.org/officeDocument/2006/relationships/image" Target="../media/image111.png"/><Relationship Id="rId10" Type="http://schemas.openxmlformats.org/officeDocument/2006/relationships/image" Target="../media/image112.png"/><Relationship Id="rId11" Type="http://schemas.openxmlformats.org/officeDocument/2006/relationships/image" Target="../media/image113.png"/><Relationship Id="rId12" Type="http://schemas.openxmlformats.org/officeDocument/2006/relationships/image" Target="../media/image11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5.png"/><Relationship Id="rId4" Type="http://schemas.openxmlformats.org/officeDocument/2006/relationships/image" Target="../media/image116.png"/><Relationship Id="rId5" Type="http://schemas.openxmlformats.org/officeDocument/2006/relationships/image" Target="../media/image11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8.png"/><Relationship Id="rId4" Type="http://schemas.openxmlformats.org/officeDocument/2006/relationships/image" Target="../media/image11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0.png"/><Relationship Id="rId4" Type="http://schemas.openxmlformats.org/officeDocument/2006/relationships/image" Target="../media/image121.png"/><Relationship Id="rId5" Type="http://schemas.openxmlformats.org/officeDocument/2006/relationships/image" Target="../media/image122.png"/><Relationship Id="rId6" Type="http://schemas.openxmlformats.org/officeDocument/2006/relationships/image" Target="../media/image12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4.png"/><Relationship Id="rId4" Type="http://schemas.openxmlformats.org/officeDocument/2006/relationships/image" Target="../media/image125.png"/><Relationship Id="rId5" Type="http://schemas.openxmlformats.org/officeDocument/2006/relationships/image" Target="../media/image126.png"/><Relationship Id="rId6" Type="http://schemas.openxmlformats.org/officeDocument/2006/relationships/image" Target="../media/image127.png"/><Relationship Id="rId7" Type="http://schemas.openxmlformats.org/officeDocument/2006/relationships/image" Target="../media/image128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9.png"/><Relationship Id="rId4" Type="http://schemas.openxmlformats.org/officeDocument/2006/relationships/image" Target="../media/image130.png"/><Relationship Id="rId5" Type="http://schemas.openxmlformats.org/officeDocument/2006/relationships/image" Target="../media/image131.png"/><Relationship Id="rId6" Type="http://schemas.openxmlformats.org/officeDocument/2006/relationships/image" Target="../media/image132.png"/><Relationship Id="rId7" Type="http://schemas.openxmlformats.org/officeDocument/2006/relationships/image" Target="../media/image133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4.png"/><Relationship Id="rId4" Type="http://schemas.openxmlformats.org/officeDocument/2006/relationships/image" Target="../media/image135.png"/><Relationship Id="rId5" Type="http://schemas.openxmlformats.org/officeDocument/2006/relationships/image" Target="../media/image136.png"/><Relationship Id="rId6" Type="http://schemas.openxmlformats.org/officeDocument/2006/relationships/image" Target="../media/image137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8.png"/><Relationship Id="rId4" Type="http://schemas.openxmlformats.org/officeDocument/2006/relationships/image" Target="../media/image139.png"/><Relationship Id="rId5" Type="http://schemas.openxmlformats.org/officeDocument/2006/relationships/image" Target="../media/image140.png"/><Relationship Id="rId6" Type="http://schemas.openxmlformats.org/officeDocument/2006/relationships/image" Target="../media/image14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42.png"/><Relationship Id="rId4" Type="http://schemas.openxmlformats.org/officeDocument/2006/relationships/image" Target="../media/image143.png"/><Relationship Id="rId5" Type="http://schemas.openxmlformats.org/officeDocument/2006/relationships/image" Target="../media/image144.png"/><Relationship Id="rId6" Type="http://schemas.openxmlformats.org/officeDocument/2006/relationships/image" Target="../media/image145.png"/><Relationship Id="rId7" Type="http://schemas.openxmlformats.org/officeDocument/2006/relationships/image" Target="../media/image146.png"/><Relationship Id="rId8" Type="http://schemas.openxmlformats.org/officeDocument/2006/relationships/image" Target="../media/image147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48.png"/><Relationship Id="rId4" Type="http://schemas.openxmlformats.org/officeDocument/2006/relationships/image" Target="../media/image149.png"/><Relationship Id="rId5" Type="http://schemas.openxmlformats.org/officeDocument/2006/relationships/image" Target="../media/image15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262E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223760" cy="685800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223760" y="0"/>
            <a:ext cx="32004" cy="685800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475488"/>
            <a:ext cx="1773936" cy="7668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03504" y="1847088"/>
            <a:ext cx="493776" cy="8229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3504" y="2139696"/>
            <a:ext cx="7315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FFC95C"/>
                </a:solidFill>
                <a:latin typeface="Segoe UI"/>
              </a:rPr>
              <a:t>ДОСЛІДЖЕННЯ РИНКУ ТА ОЦІНКА ДОЦІЛЬНОСТІ ВХОДУ · ВЕРЕСЕНЬ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" y="2542032"/>
            <a:ext cx="694944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200" b="1">
                <a:solidFill>
                  <a:srgbClr val="FFFFFF"/>
                </a:solidFill>
                <a:latin typeface="Segoe UI"/>
              </a:rPr>
              <a:t>Японські ножі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200" b="1">
                <a:solidFill>
                  <a:srgbClr val="FFFFFF"/>
                </a:solidFill>
                <a:latin typeface="Segoe UI"/>
              </a:rPr>
              <a:t>для професійної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200" b="1">
                <a:solidFill>
                  <a:srgbClr val="FFFFFF"/>
                </a:solidFill>
                <a:latin typeface="Segoe UI"/>
              </a:rPr>
              <a:t>та домашньої кухні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" y="4773168"/>
            <a:ext cx="5394960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4" y="5010912"/>
            <a:ext cx="6400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50" b="0">
                <a:solidFill>
                  <a:srgbClr val="9FA9C4"/>
                </a:solidFill>
                <a:latin typeface="Segoe UI"/>
              </a:rPr>
              <a:t>Україна · роздріб, маркетплейси, HoReCa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50" b="0">
                <a:solidFill>
                  <a:srgbClr val="9FA9C4"/>
                </a:solidFill>
                <a:latin typeface="Segoe UI"/>
              </a:rPr>
              <a:t>Попередня робота до пошуку постачальника: хто вже на ринку,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50" b="0">
                <a:solidFill>
                  <a:srgbClr val="9FA9C4"/>
                </a:solidFill>
                <a:latin typeface="Segoe UI"/>
              </a:rPr>
              <a:t>скільки він коштує в грошах і штуках, і чи є туди сенс іти</a:t>
            </a:r>
          </a:p>
        </p:txBody>
      </p:sp>
      <p:pic>
        <p:nvPicPr>
          <p:cNvPr id="11" name="Picture 10" descr="p_591b78bcdd90d95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2944" y="566928"/>
            <a:ext cx="4069080" cy="230428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552944" y="2980944"/>
            <a:ext cx="1280160" cy="10607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_95ce8b7c022e05a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6952" y="3044952"/>
            <a:ext cx="1152144" cy="932688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8915400" y="2980944"/>
            <a:ext cx="1280160" cy="10607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_0a79080f794a1d6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79408" y="3044952"/>
            <a:ext cx="1152144" cy="932688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10277856" y="2980944"/>
            <a:ext cx="1280160" cy="10607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_eced8cc3671657b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41864" y="3044952"/>
            <a:ext cx="1152144" cy="932688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7552944" y="4224528"/>
            <a:ext cx="2002536" cy="731520"/>
          </a:xfrm>
          <a:prstGeom prst="roundRect">
            <a:avLst>
              <a:gd name="adj" fmla="val 10000"/>
            </a:avLst>
          </a:prstGeom>
          <a:solidFill>
            <a:srgbClr val="3C47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9248" y="4352544"/>
            <a:ext cx="17190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FFC95C"/>
                </a:solidFill>
                <a:latin typeface="Segoe UI"/>
              </a:rPr>
              <a:t>₴691–924 млн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99248" y="4645152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9FA9C4"/>
                </a:solidFill>
                <a:latin typeface="Segoe UI"/>
              </a:rPr>
              <a:t>роздріб кухонних ножів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19488" y="4224528"/>
            <a:ext cx="2002536" cy="731520"/>
          </a:xfrm>
          <a:prstGeom prst="roundRect">
            <a:avLst>
              <a:gd name="adj" fmla="val 10000"/>
            </a:avLst>
          </a:prstGeom>
          <a:solidFill>
            <a:srgbClr val="3C47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65792" y="4352544"/>
            <a:ext cx="17190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FFC95C"/>
                </a:solidFill>
                <a:latin typeface="Segoe UI"/>
              </a:rPr>
              <a:t>₴16–19 млн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65792" y="4645152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9FA9C4"/>
                </a:solidFill>
                <a:latin typeface="Segoe UI"/>
              </a:rPr>
              <a:t>справжня Японія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552944" y="5065776"/>
            <a:ext cx="2002536" cy="731520"/>
          </a:xfrm>
          <a:prstGeom prst="roundRect">
            <a:avLst>
              <a:gd name="adj" fmla="val 10000"/>
            </a:avLst>
          </a:prstGeom>
          <a:solidFill>
            <a:srgbClr val="3C47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99248" y="5193792"/>
            <a:ext cx="17190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FFC95C"/>
                </a:solidFill>
                <a:latin typeface="Segoe UI"/>
              </a:rPr>
              <a:t>103 тис. $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99248" y="5486400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9FA9C4"/>
                </a:solidFill>
                <a:latin typeface="Segoe UI"/>
              </a:rPr>
              <a:t>імпорт із Японії, 2024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19488" y="5065776"/>
            <a:ext cx="2002536" cy="731520"/>
          </a:xfrm>
          <a:prstGeom prst="roundRect">
            <a:avLst>
              <a:gd name="adj" fmla="val 10000"/>
            </a:avLst>
          </a:prstGeom>
          <a:solidFill>
            <a:srgbClr val="3C47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765792" y="5193792"/>
            <a:ext cx="17190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FFC95C"/>
                </a:solidFill>
                <a:latin typeface="Segoe UI"/>
              </a:rPr>
              <a:t>1,3 %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65792" y="5486400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9FA9C4"/>
                </a:solidFill>
                <a:latin typeface="Segoe UI"/>
              </a:rPr>
              <a:t>частка Японії в митній базі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52944" y="6144768"/>
            <a:ext cx="44531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F9A50B"/>
                </a:solidFill>
                <a:latin typeface="Segoe UI"/>
              </a:rPr>
              <a:t>ЗМІСТ РОБОТИ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52944" y="6345936"/>
            <a:ext cx="44531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700" b="0">
                <a:solidFill>
                  <a:srgbClr val="9FA9C4"/>
                </a:solidFill>
                <a:latin typeface="Segoe UI"/>
              </a:rPr>
              <a:t>48 слайдів · 17 продавців · 55 японських брендів · 300 ножів у каталозі ·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700" b="0">
                <a:solidFill>
                  <a:srgbClr val="9FA9C4"/>
                </a:solidFill>
                <a:latin typeface="Segoe UI"/>
              </a:rPr>
              <a:t>4 роки митної статистики · модель попиту HoReCa · 3 сценарії входу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ГОЛОВНЕ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Вісім цифр, які описують ринок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Усі ціни в колоді — роздрібні, за один ніж, станом на вересень 2026. Курс НБУ 44,86 грн/$ (30.09.2026).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54480"/>
            <a:ext cx="2615184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709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МИТНА БАЗА КАТЕГОРІЇ 2024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1920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C4820A"/>
                </a:solidFill>
                <a:latin typeface="Segoe UI"/>
              </a:rPr>
              <a:t>9,02 млн $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395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Кухонні + столові ножі та
набори, CIF. Останній повний рік.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83280" y="1554480"/>
            <a:ext cx="2615184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84448" y="1709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РОЗДРІБ, ОЦІНКА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4448" y="1920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1E9EA6"/>
                </a:solidFill>
                <a:latin typeface="Segoe UI"/>
              </a:rPr>
              <a:t>691–924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84448" y="2395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млн грн на рік. Розрахунок
через імпорт × 2,34–3,12.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9632" y="1554480"/>
            <a:ext cx="2615184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1709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ІМПОРТ ІЗ ЯПОНІЇ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1920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5D4B96"/>
                </a:solidFill>
                <a:latin typeface="Segoe UI"/>
              </a:rPr>
              <a:t>103 тис. $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395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CIF 2024, код 8211 92.
Нижче за рівень 2022 року.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15984" y="1554480"/>
            <a:ext cx="2615184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17152" y="1709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СПРАВЖНЯ ЯПОНІЯ В РОЗДРІБІ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17152" y="1920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C94F7C"/>
                </a:solidFill>
                <a:latin typeface="Segoe UI"/>
              </a:rPr>
              <a:t>16–19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17152" y="2395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млн грн на рік. Це 2 % ринку
в грошах і 0,15 % у штуках.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2798064"/>
            <a:ext cx="2615184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2953512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НАЙБІЛЬШИЙ «ЯПОНСЬКИЙ» БРЕНД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" y="316382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C03B4B"/>
                </a:solidFill>
                <a:latin typeface="Segoe UI"/>
              </a:rPr>
              <a:t>Samura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" y="3639312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287 SKU в Епіцентрі. Засновано
для ринку РФ, вироблено в Китаї.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383280" y="2798064"/>
            <a:ext cx="2615184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84448" y="2953512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ЯПОНЦІ В ПРОФ. ОПТІ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84448" y="316382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37A169"/>
                </a:solidFill>
                <a:latin typeface="Segoe UI"/>
              </a:rPr>
              <a:t>2 з 15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84448" y="3639312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брендів у каталозі опту HoReCa.
523 ножі, японських — одиниці.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99632" y="2798064"/>
            <a:ext cx="2615184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0" y="2953512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МИТО НА ЯПОНІЮ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316382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F9A50B"/>
                </a:solidFill>
                <a:latin typeface="Segoe UI"/>
              </a:rPr>
              <a:t>10 %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3639312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+20 % ПДВ. З ЄС — 0 % мита.
Структурний програш 10 пунктів.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015984" y="2798064"/>
            <a:ext cx="2615184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217152" y="2953512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ЦІНОВИЙ РОЗМАХ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17152" y="316382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303A5D"/>
                </a:solidFill>
                <a:latin typeface="Segoe UI"/>
              </a:rPr>
              <a:t>175–40 140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17152" y="3639312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грн за один ніж. Розрив
у 229 разів усередині категорії.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66928" y="4169663"/>
            <a:ext cx="5413248" cy="157276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66928" y="4169663"/>
            <a:ext cx="36576" cy="157276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04672" y="432511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ЩО ЦЕ ОЗНАЧАЄ ДЛЯ РІШЕННЯ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4672" y="4553712"/>
            <a:ext cx="4937760" cy="1042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1. Ринок кухонних ножів в Україні великий — але «японського» в ньому майже немає.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2. Справжня Японія — це нішa на 16–19 млн грн, яка за три роки не виросла.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3. Гроші під вивіскою «японський ніж» заробляє Китай: 64 % митної бази.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4. Професійна кухня японські ножі не купує — і структурних причин для зміни немає.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5. Найбільша комерційна можливість категорії не потребує японського постачальника.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217920" y="4169663"/>
            <a:ext cx="5413248" cy="157276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217920" y="4169663"/>
            <a:ext cx="36576" cy="1572768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55664" y="432511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9FA9C4"/>
                </a:solidFill>
                <a:latin typeface="Segoe UI"/>
              </a:rPr>
              <a:t>ЧОГО В ЦІЙ КОЛОДІ НЕМАЄ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55664" y="4553712"/>
            <a:ext cx="4937760" cy="1042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1. Немає даних продажів: в Україні для цієї категорії немає панелі Nielsen/GfK.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2. Немає митної статистики за 2025 рік — вона ще не опублікована в Comtrade.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3. Немає оптових цін: їх не отримати без акаунта постачальника.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4. Немає точної частки кухонних ножів у коді 8211 92 — це припущення 55–70 %.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5. Немає прямої оцінки сірого імпорту до 150 € — він для митниці невидимий.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СЕГМЕНТ ЦІНИ · 1 З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До 2 500 грн: справжньої Японії тут майже немає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Нижній діапазон каталогу. Саме тут лежить обсяг ринку — і саме тут японське виробництво представлене найгірше.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_f69a98636c839cc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1572768"/>
            <a:ext cx="1624584" cy="731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5800" y="2359152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4820A"/>
                </a:solidFill>
                <a:latin typeface="Segoe UI"/>
              </a:rPr>
              <a:t>KAI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овочевий з ножнами KAI DG · 3002, 95мм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726 грн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8061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41096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_d34fe3069faa98a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4976" y="1572768"/>
            <a:ext cx="1624584" cy="7315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529840" y="2359152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4820A"/>
                </a:solidFill>
                <a:latin typeface="Segoe UI"/>
              </a:rPr>
              <a:t>Seki Kanetsugu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2984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Kanetsugu Miyabi Isshin Vegetable 2000 90мм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2984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990 грн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2465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5500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p_2799f444e90a6a6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19016" y="1572768"/>
            <a:ext cx="1624584" cy="7315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373880" y="2359152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4820A"/>
                </a:solidFill>
                <a:latin typeface="Segoe UI"/>
              </a:rPr>
              <a:t>Samura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7388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кухонний Samura HARAKIRI SHR · 0021B універсал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7388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1 149 грн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6869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9904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p_7001238afb28480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63056" y="1572768"/>
            <a:ext cx="1624584" cy="7315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217920" y="2359152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4820A"/>
                </a:solidFill>
                <a:latin typeface="Segoe UI"/>
              </a:rPr>
              <a:t>Samura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кухонний Samura Mo · V SM · 0010 овочевий, 90м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1 299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1273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43087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p_f3556a9c64c3865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07095" y="1572768"/>
            <a:ext cx="1624584" cy="7315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8061960" y="2359152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4820A"/>
                </a:solidFill>
                <a:latin typeface="Segoe UI"/>
              </a:rPr>
              <a:t>Samura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6196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кухонний Samura Mo · V SM · 0021 універсальний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6196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1 399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5677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787127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p_edd2bfb7561b68b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51135" y="1572768"/>
            <a:ext cx="1624584" cy="73152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9905999" y="2359152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4820A"/>
                </a:solidFill>
                <a:latin typeface="Segoe UI"/>
              </a:rPr>
              <a:t>Seki Kanetsugu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05999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Kanetsugu Miyabi Isshin Santoku 2003 170мм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05999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1 590 грн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100815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6692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p_4e48961b2b61008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0936" y="3054096"/>
            <a:ext cx="1624584" cy="73152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685800" y="3840480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4820A"/>
                </a:solidFill>
                <a:latin typeface="Segoe UI"/>
              </a:rPr>
              <a:t>HONMAMON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580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кухонний HONMAMON / Хонмамон Paring, 105 мм (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580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1 750 грн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88061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Sekator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41096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p_8dc075f7679255ba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74976" y="3054096"/>
            <a:ext cx="1624584" cy="73152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2529840" y="3840480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4820A"/>
                </a:solidFill>
                <a:latin typeface="Segoe UI"/>
              </a:rPr>
              <a:t>HONMAMON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52984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кухонний Honmamon / Хонмамон Paring, 120 мм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52984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1 905 грн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72465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Sekator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25500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p_a83efe47d2cae4e5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19016" y="3054096"/>
            <a:ext cx="1624584" cy="731520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4373880" y="3840480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4820A"/>
                </a:solidFill>
                <a:latin typeface="Segoe UI"/>
              </a:rPr>
              <a:t>KAI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37388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Wasabi Black 6715Y Янагіба, 15см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37388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2 016 грн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56869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09904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5" name="Picture 64" descr="p_afcba965a2a8ddb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63056" y="3054096"/>
            <a:ext cx="1624584" cy="731520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6217920" y="3840480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4820A"/>
                </a:solidFill>
                <a:latin typeface="Segoe UI"/>
              </a:rPr>
              <a:t>Samura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21792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Кухарський Шеф Samura Bamboo SBA · 0087, 240мм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2 199 грн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41273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943087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p_8d85612ca249da64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07095" y="3054096"/>
            <a:ext cx="1624584" cy="731520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8061960" y="3840480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4820A"/>
                </a:solidFill>
                <a:latin typeface="Segoe UI"/>
              </a:rPr>
              <a:t>HONMAMON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06196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кухонний Honmamon / Хонмамон Paring, 150 мм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06196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2 365 грн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25677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Sekator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787127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p_8149c7d4b6c85963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851135" y="3054096"/>
            <a:ext cx="1624584" cy="731520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9905999" y="3840480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4820A"/>
                </a:solidFill>
                <a:latin typeface="Segoe UI"/>
              </a:rPr>
              <a:t>Masahiro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905999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Petty MRS · 30 10696 120мм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905999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2 400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1100815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66928" y="4535424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C4820A"/>
                </a:solidFill>
                <a:latin typeface="Segoe UI"/>
              </a:rPr>
              <a:t>АНАЛІТИКА СЕГМЕНТА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566928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94944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ПОЗИЦІЙ У СЕГМЕНТІ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94944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C4820A"/>
                </a:solidFill>
                <a:latin typeface="Segoe UI"/>
              </a:rPr>
              <a:t>45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94944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15 % каталогу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1956816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2084832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МЕДІАННА ЦІНА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084832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C2235"/>
                </a:solidFill>
                <a:latin typeface="Segoe UI"/>
              </a:rPr>
              <a:t>1 650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084832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грн за один ніж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3346704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3474720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ДІАПАЗОН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474720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717890"/>
                </a:solidFill>
                <a:latin typeface="Segoe UI"/>
              </a:rPr>
              <a:t>726–2 400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474720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грн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4736592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864607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БРЕНДІВ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864607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303A5D"/>
                </a:solidFill>
                <a:latin typeface="Segoe UI"/>
              </a:rPr>
              <a:t>13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864607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у сегменті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217920" y="4754880"/>
            <a:ext cx="5413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717890"/>
                </a:solidFill>
                <a:latin typeface="Segoe UI"/>
              </a:rPr>
              <a:t>ХТО ЗАЙМАЄ СЕГМЕНТ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217920" y="493776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Samura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7827264" y="4974336"/>
            <a:ext cx="2395728" cy="7772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0296144" y="493776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4820A"/>
                </a:solidFill>
                <a:latin typeface="Segoe UI"/>
              </a:rPr>
              <a:t>15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735056" y="493776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33 %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217920" y="512064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Seki Kanetsugu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7827264" y="5157216"/>
            <a:ext cx="1286256" cy="7772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10296144" y="512064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4820A"/>
                </a:solidFill>
                <a:latin typeface="Segoe UI"/>
              </a:rP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735056" y="512064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18 %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217920" y="530352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Satake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7827264" y="5340096"/>
            <a:ext cx="652272" cy="7772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10296144" y="530352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4820A"/>
                </a:solidFill>
                <a:latin typeface="Segoe UI"/>
              </a:rPr>
              <a:t>4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0735056" y="530352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9 %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217920" y="548640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HONMAMON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7827264" y="5522976"/>
            <a:ext cx="652272" cy="7772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10296144" y="548640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4820A"/>
                </a:solidFill>
                <a:latin typeface="Segoe UI"/>
              </a:rP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735056" y="548640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9 %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217920" y="566928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KAI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7827264" y="5705856"/>
            <a:ext cx="493776" cy="7772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10296144" y="566928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4820A"/>
                </a:solidFill>
                <a:latin typeface="Segoe UI"/>
              </a:rPr>
              <a:t>3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0735056" y="566928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7 %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566928" y="5687568"/>
            <a:ext cx="11064240" cy="844905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566928" y="5687568"/>
            <a:ext cx="36576" cy="844905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804672" y="5843016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4820A"/>
                </a:solidFill>
                <a:latin typeface="Segoe UI"/>
              </a:rPr>
              <a:t>ЩО ВИЗНАЧАЄ СЕГМЕНТ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04672" y="6071616"/>
            <a:ext cx="10588752" cy="314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Моносталь або базова VG-10, штамповка, західне руків'я. Японія сюди дістає лише Satake, Seki Kanetsugu і бюджетними лініями KAI Wasabi.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Основний мешканець діапазону — Samura, бренд китайського виробництва. Для нового гравця це єдиний сегмент із реальним обсягом і найщільнішою конкуренцією.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03504" y="658368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Показано 12 позицій, рівномірно розподілених за ціною; аналітика рахована по всіх 45 позиціях сегмента. Джерело: картки товарів ProfiMax, ROKS, WildCat, жовтень 2026.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СЕГМЕНТ ЦІНИ · 2 З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2 500 – 5 000 грн: вхід у справжню Японію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Перший діапазон, де японське виробництво стає нормою, а не винятком. 70 позицій каталогу, 27 %.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_55fb8ee3c69828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1572768"/>
            <a:ext cx="1624584" cy="731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5800" y="2359152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E9EA6"/>
                </a:solidFill>
                <a:latin typeface="Segoe UI"/>
              </a:rPr>
              <a:t>Samura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кухонний Samura Mo · V Stonewash SM · 0043B На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2 599 грн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8061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41096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_0c5ba13008812e6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4976" y="1572768"/>
            <a:ext cx="1624584" cy="7315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529840" y="2359152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E9EA6"/>
                </a:solidFill>
                <a:latin typeface="Segoe UI"/>
              </a:rPr>
              <a:t>Samura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2984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Набір з 3 · х кухонних ножів Samura HARAKIRI 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2984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2 779 грн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2465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5500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p_be0666da39b43d3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19016" y="1572768"/>
            <a:ext cx="1624584" cy="7315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373880" y="2359152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E9EA6"/>
                </a:solidFill>
                <a:latin typeface="Segoe UI"/>
              </a:rPr>
              <a:t>Hanakumagawa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7388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для фруктів з дамаської сталі Hanakumagawa / 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7388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2 870 грн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6869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Sekator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9904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p_d879a2bc9ad8a36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63056" y="1572768"/>
            <a:ext cx="1624584" cy="7315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217920" y="2359152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E9EA6"/>
                </a:solidFill>
                <a:latin typeface="Segoe UI"/>
              </a:rPr>
              <a:t>Takanori Izumi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AUS · 10M damascus шеф ніж 210 мм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3 080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1273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43087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p_0c24a26e64ffdeb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07095" y="1572768"/>
            <a:ext cx="1624584" cy="7315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8061960" y="2359152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E9EA6"/>
                </a:solidFill>
                <a:latin typeface="Segoe UI"/>
              </a:rPr>
              <a:t>Tomita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6196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Deba ніж Blue Steel #2 110 mm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6196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3 215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5677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787127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p_c77b1a474cf8d8f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51135" y="1572768"/>
            <a:ext cx="1624584" cy="73152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9905999" y="2359152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E9EA6"/>
                </a:solidFill>
                <a:latin typeface="Segoe UI"/>
              </a:rPr>
              <a:t>Tojiro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05999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для овочів Tojiro DP F · 800, 9cм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05999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3 499 грн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100815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6692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p_9c8b55acafe58d1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0936" y="3054096"/>
            <a:ext cx="1624584" cy="73152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685800" y="3840480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E9EA6"/>
                </a:solidFill>
                <a:latin typeface="Segoe UI"/>
              </a:rPr>
              <a:t>Hisashige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580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Honyaki ніж із вуглецевої сталі 150мм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580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3 520 грн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88061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41096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p_2f64d2ff36d730f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74976" y="3054096"/>
            <a:ext cx="1624584" cy="73152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2529840" y="3840480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E9EA6"/>
                </a:solidFill>
                <a:latin typeface="Segoe UI"/>
              </a:rPr>
              <a:t>Seki Kanetsugu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52984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Kanetsugu SAIUN 9000 90мм VG10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52984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3 980 грн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72465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25500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p_52f5ff0adc7c2791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19016" y="3054096"/>
            <a:ext cx="1624584" cy="731520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4373880" y="3840480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E9EA6"/>
                </a:solidFill>
                <a:latin typeface="Segoe UI"/>
              </a:rPr>
              <a:t>Tosa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37388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Sashimi · bocho 240мм (двосторонній)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37388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4 400 грн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56869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09904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5" name="Picture 64" descr="p_44034dd442faacd6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63056" y="3054096"/>
            <a:ext cx="1624584" cy="731520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6217920" y="3840480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E9EA6"/>
                </a:solidFill>
                <a:latin typeface="Segoe UI"/>
              </a:rPr>
              <a:t>Tosa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21792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Sashimi · bocho Black 210мм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4 600 грн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41273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943087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p_58447fc0767cdac9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07095" y="3054096"/>
            <a:ext cx="1624584" cy="731520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8061960" y="3840480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E9EA6"/>
                </a:solidFill>
                <a:latin typeface="Segoe UI"/>
              </a:rPr>
              <a:t>HONMAMON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06196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кухонний HONMAMON / Хонмамон Santoku 180 мм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06196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4 850 грн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25677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Sekator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787127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p_6339a60440c5d0a4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851135" y="3054096"/>
            <a:ext cx="1624584" cy="731520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9905999" y="3840480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E9EA6"/>
                </a:solidFill>
                <a:latin typeface="Segoe UI"/>
              </a:rPr>
              <a:t>Yaxell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905999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універсальний Yaxell ZEN 35502, 120мм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905999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4 996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1100815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66928" y="4535424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1E9EA6"/>
                </a:solidFill>
                <a:latin typeface="Segoe UI"/>
              </a:rPr>
              <a:t>АНАЛІТИКА СЕГМЕНТА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566928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94944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ПОЗИЦІЙ У СЕГМЕНТІ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94944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E9EA6"/>
                </a:solidFill>
                <a:latin typeface="Segoe UI"/>
              </a:rPr>
              <a:t>83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94944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28 % каталогу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1956816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2084832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МЕДІАННА ЦІНА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084832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C2235"/>
                </a:solidFill>
                <a:latin typeface="Segoe UI"/>
              </a:rPr>
              <a:t>3 500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084832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грн за один ніж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3346704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3474720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ДІАПАЗОН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474720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717890"/>
                </a:solidFill>
                <a:latin typeface="Segoe UI"/>
              </a:rPr>
              <a:t>2 599–4 996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474720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грн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4736592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864607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БРЕНДІВ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864607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303A5D"/>
                </a:solidFill>
                <a:latin typeface="Segoe UI"/>
              </a:rPr>
              <a:t>20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864607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у сегменті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217920" y="4754880"/>
            <a:ext cx="5413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717890"/>
                </a:solidFill>
                <a:latin typeface="Segoe UI"/>
              </a:rPr>
              <a:t>ХТО ЗАЙМАЄ СЕГМЕНТ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217920" y="493776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Samura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7827264" y="4974336"/>
            <a:ext cx="2395728" cy="7772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0296144" y="493776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1E9EA6"/>
                </a:solidFill>
                <a:latin typeface="Segoe UI"/>
              </a:rPr>
              <a:t>16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735056" y="493776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19 %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217920" y="512064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Tosa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7827264" y="5157216"/>
            <a:ext cx="1504188" cy="7772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10296144" y="512064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1E9EA6"/>
                </a:solidFill>
                <a:latin typeface="Segoe UI"/>
              </a:rP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735056" y="512064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12 %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217920" y="530352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Masahiro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7827264" y="5340096"/>
            <a:ext cx="1207008" cy="7772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10296144" y="530352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1E9EA6"/>
                </a:solidFill>
                <a:latin typeface="Segoe UI"/>
              </a:rPr>
              <a:t>8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0735056" y="530352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10 %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217920" y="548640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KAI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7827264" y="5522976"/>
            <a:ext cx="1058418" cy="7772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10296144" y="548640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1E9EA6"/>
                </a:solidFill>
                <a:latin typeface="Segoe UI"/>
              </a:rP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735056" y="548640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8 %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217920" y="566928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Tojiro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7827264" y="5705856"/>
            <a:ext cx="1058418" cy="7772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10296144" y="566928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1E9EA6"/>
                </a:solidFill>
                <a:latin typeface="Segoe UI"/>
              </a:rPr>
              <a:t>7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0735056" y="566928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8 %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566928" y="5687568"/>
            <a:ext cx="11064240" cy="844905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566928" y="5687568"/>
            <a:ext cx="36576" cy="844905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804672" y="5843016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E9EA6"/>
                </a:solidFill>
                <a:latin typeface="Segoe UI"/>
              </a:rPr>
              <a:t>ЩО ВИЗНАЧАЄ СЕГМЕНТ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04672" y="6071616"/>
            <a:ext cx="10588752" cy="314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VG-10 у три шари, перші куроучі з Тоса, артизанальні ножі з вуглецевої сталі. Тут з'являються імена кузень, а не лише бренди.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Це найцікавіший діапазон для входу з японським постачальником: покупець уже готовий платити за походження, але ще не вимагає дамаску й порошкової сталі.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03504" y="658368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Показано 12 позицій, рівномірно розподілених за ціною; аналітика рахована по всіх 83 позиціях сегмента. Джерело: картки товарів ProfiMax, ROKS, WildCat, жовтень 2026.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СЕГМЕНТ ЦІНИ · 3 З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5 000 – 10 000 грн: ядро асортименту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Найгустіший діапазон каталогу — 110 позицій, 42 %. Сюди цілиться більшість продавців справжньої Японії.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_e6e2976fb0ba738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1572768"/>
            <a:ext cx="1624584" cy="731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5800" y="2359152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D4B96"/>
                </a:solidFill>
                <a:latin typeface="Segoe UI"/>
              </a:rPr>
              <a:t>Tosa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Migaki Yanagiba HC305 · W2 240мм японський кух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5 060 грн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8061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41096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_efa83e5079efca4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4976" y="1572768"/>
            <a:ext cx="1624584" cy="7315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529840" y="2359152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D4B96"/>
                </a:solidFill>
                <a:latin typeface="Segoe UI"/>
              </a:rPr>
              <a:t>Tosa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2984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Nakiri Kanto 54x165мм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2984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5 439 грн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2465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5500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p_c5f68f1ce8fe929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19016" y="1572768"/>
            <a:ext cx="1624584" cy="7315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373880" y="2359152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D4B96"/>
                </a:solidFill>
                <a:latin typeface="Segoe UI"/>
              </a:rPr>
              <a:t>Tojiro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7388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для нарізки Tojiro DP F · 826, 21см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7388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5 699 грн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6869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9904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p_9dffe0d7c3d0afb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63056" y="1572768"/>
            <a:ext cx="1624584" cy="7315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217920" y="2359152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D4B96"/>
                </a:solidFill>
                <a:latin typeface="Segoe UI"/>
              </a:rPr>
              <a:t>HONMAMON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кухонний Honmamon / Хонмамон Paring, 135 мм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6 125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1273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Sekator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43087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p_5deeaf9f20e260f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07095" y="1572768"/>
            <a:ext cx="1624584" cy="7315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8061960" y="2359152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D4B96"/>
                </a:solidFill>
                <a:latin typeface="Segoe UI"/>
              </a:rPr>
              <a:t>Yaxell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6196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для нарізки Yaxell RAN 36007, 180мм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6196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6 671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5677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787127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p_9550f175c467c89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51135" y="1572768"/>
            <a:ext cx="1624584" cy="73152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9905999" y="2359152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D4B96"/>
                </a:solidFill>
                <a:latin typeface="Segoe UI"/>
              </a:rPr>
              <a:t>Yaxell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05999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Kiritsuke Yaxell ZEN 35534, 200мм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05999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7 048 грн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100815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6692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p_a78fc6dcd9bfe5a3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0936" y="3054096"/>
            <a:ext cx="1624584" cy="73152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685800" y="3840480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D4B96"/>
                </a:solidFill>
                <a:latin typeface="Segoe UI"/>
              </a:rPr>
              <a:t>HONMAMON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580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кухонний Honmamon / Хонмамон Gyuto (Шеф), 240 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580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7 400 грн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88061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Sekator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41096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p_317e21fd06fe7eb3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74976" y="3054096"/>
            <a:ext cx="1624584" cy="73152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2529840" y="3840480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D4B96"/>
                </a:solidFill>
                <a:latin typeface="Segoe UI"/>
              </a:rPr>
              <a:t>Yaxell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52984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Кухарський Шеф Yaxell RAN 36000, 200мм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52984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7 804 грн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72465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25500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p_ccd649852536bf23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19016" y="3054096"/>
            <a:ext cx="1624584" cy="731520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4373880" y="3840480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D4B96"/>
                </a:solidFill>
                <a:latin typeface="Segoe UI"/>
              </a:rPr>
              <a:t>Yaxell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37388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Кухарський Шеф Yaxell RAN 36000G з рифленням н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37388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8 307 грн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56869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09904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5" name="Picture 64" descr="p_837a29c02e099f13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63056" y="3054096"/>
            <a:ext cx="1624584" cy="731520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6217920" y="3840480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D4B96"/>
                </a:solidFill>
                <a:latin typeface="Segoe UI"/>
              </a:rPr>
              <a:t>Tojiro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21792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Кухарський Шеф Tojiro DP Damascus F · 654, 18с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8 845 грн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41273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943087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p_06a1e062fbdf81cf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07095" y="3054096"/>
            <a:ext cx="1624584" cy="731520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8061960" y="3840480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D4B96"/>
                </a:solidFill>
                <a:latin typeface="Segoe UI"/>
              </a:rPr>
              <a:t>Tojiro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06196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Кухарський Шеф Tojiro Shippu Black FD · 1593, 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06196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9 499 грн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25677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787127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p_adef0362c3a8d00a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851135" y="3054096"/>
            <a:ext cx="1624584" cy="731520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9905999" y="3840480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D4B96"/>
                </a:solidFill>
                <a:latin typeface="Segoe UI"/>
              </a:rPr>
              <a:t>Tojiro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905999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обвалочний Tojiro Flash FF · BO150, 15см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905999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9 999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1100815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66928" y="4535424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5D4B96"/>
                </a:solidFill>
                <a:latin typeface="Segoe UI"/>
              </a:rPr>
              <a:t>АНАЛІТИКА СЕГМЕНТА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566928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94944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ПОЗИЦІЙ У СЕГМЕНТІ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94944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5D4B96"/>
                </a:solidFill>
                <a:latin typeface="Segoe UI"/>
              </a:rPr>
              <a:t>123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94944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41 % каталогу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1956816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2084832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МЕДІАННА ЦІНА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084832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C2235"/>
                </a:solidFill>
                <a:latin typeface="Segoe UI"/>
              </a:rPr>
              <a:t>7 280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084832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грн за один ніж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3346704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3474720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ДІАПАЗОН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474720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717890"/>
                </a:solidFill>
                <a:latin typeface="Segoe UI"/>
              </a:rPr>
              <a:t>5 060–9 999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474720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грн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4736592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864607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БРЕНДІВ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864607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303A5D"/>
                </a:solidFill>
                <a:latin typeface="Segoe UI"/>
              </a:rPr>
              <a:t>19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864607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у сегменті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217920" y="4754880"/>
            <a:ext cx="5413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717890"/>
                </a:solidFill>
                <a:latin typeface="Segoe UI"/>
              </a:rPr>
              <a:t>ХТО ЗАЙМАЄ СЕГМЕНТ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217920" y="493776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Tojiro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7827264" y="4974336"/>
            <a:ext cx="2395728" cy="77724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0296144" y="493776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5D4B96"/>
                </a:solidFill>
                <a:latin typeface="Segoe UI"/>
              </a:rPr>
              <a:t>24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735056" y="493776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20 %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217920" y="512064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Yaxell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7827264" y="5157216"/>
            <a:ext cx="2296668" cy="77724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10296144" y="512064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5D4B96"/>
                </a:solidFill>
                <a:latin typeface="Segoe UI"/>
              </a:rPr>
              <a:t>23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735056" y="512064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19 %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217920" y="530352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KAI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7827264" y="5340096"/>
            <a:ext cx="1504188" cy="77724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10296144" y="530352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5D4B96"/>
                </a:solidFill>
                <a:latin typeface="Segoe UI"/>
              </a:rPr>
              <a:t>15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0735056" y="530352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12 %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217920" y="548640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Tosa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7827264" y="5522976"/>
            <a:ext cx="1107948" cy="77724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10296144" y="548640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5D4B96"/>
                </a:solidFill>
                <a:latin typeface="Segoe UI"/>
              </a:rP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735056" y="548640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9 %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217920" y="566928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HONMAMON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7827264" y="5705856"/>
            <a:ext cx="1107948" cy="77724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10296144" y="566928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5D4B96"/>
                </a:solidFill>
                <a:latin typeface="Segoe UI"/>
              </a:rPr>
              <a:t>11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0735056" y="566928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9 %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566928" y="5687568"/>
            <a:ext cx="11064240" cy="844905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566928" y="5687568"/>
            <a:ext cx="36576" cy="844905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804672" y="5843016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5D4B96"/>
                </a:solidFill>
                <a:latin typeface="Segoe UI"/>
              </a:rPr>
              <a:t>ЩО ВИЗНАЧАЄ СЕГМЕНТ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04672" y="6071616"/>
            <a:ext cx="10588752" cy="314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Дамаск 32–69 шарів поверх VG-10, куроучі Тоса, Takamura Chromax, Tojiro DP Damascus. Твердість 60–61 HRC.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Тут найбільша щільність позицій — і найбільша конкуренція між продавцями за одного покупця. Новий бренд без історії тут не має аргументу.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03504" y="658368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Показано 12 позицій, рівномірно розподілених за ціною; аналітика рахована по всіх 123 позиціях сегмента. Джерело: картки товарів ProfiMax, ROKS, WildCat, жовтень 2026.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СЕГМЕНТ ЦІНИ · 4 З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Понад 10 000 грн: порошкова сталь і іменні ковалі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Верхній діапазон — 44 позиції, 17 % каталогу. Тут платять за сталь, кількість шарів і підпис майстра.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_03beca3eae9669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1572768"/>
            <a:ext cx="1624584" cy="731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5800" y="2359152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94F7C"/>
                </a:solidFill>
                <a:latin typeface="Segoe UI"/>
              </a:rPr>
              <a:t>Tosa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Chief Damascus TADAYOSHI Tosa 240мм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10 035 грн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8061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41096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_25231c3c364e208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4976" y="1572768"/>
            <a:ext cx="1624584" cy="7315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529840" y="2359152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94F7C"/>
                </a:solidFill>
                <a:latin typeface="Segoe UI"/>
              </a:rPr>
              <a:t>KAI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2984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SHUN CLASSIC DM · 0702 Сантоку, 180мм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2984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10 220 грн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2465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5500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p_62f119d714aed83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19016" y="1572768"/>
            <a:ext cx="1624584" cy="7315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373880" y="2359152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94F7C"/>
                </a:solidFill>
                <a:latin typeface="Segoe UI"/>
              </a:rPr>
              <a:t>Tojiro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7388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Кухарський Tojiro Flash FF · CH160, 16см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7388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10 799 грн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6869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9904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p_cc19c7b6f35c211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63056" y="1572768"/>
            <a:ext cx="1624584" cy="7315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217920" y="2359152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94F7C"/>
                </a:solidFill>
                <a:latin typeface="Segoe UI"/>
              </a:rPr>
              <a:t>KAI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SHUN CLASSIC DM · 0705 хлібний, 23см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11 200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1273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43087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p_c07aa14169ef918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07095" y="1572768"/>
            <a:ext cx="1624584" cy="7315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8061960" y="2359152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94F7C"/>
                </a:solidFill>
                <a:latin typeface="Segoe UI"/>
              </a:rPr>
              <a:t>JCK Natures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6196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Aogami Super Series SAKURA · 2 Шеф 180mm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6196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12 220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5677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787127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p_068f5ff3e079552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51135" y="1572768"/>
            <a:ext cx="1624584" cy="73152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9905999" y="2359152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94F7C"/>
                </a:solidFill>
                <a:latin typeface="Segoe UI"/>
              </a:rPr>
              <a:t>Tojiro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05999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Кухарський Шеф Tojiro Flash FF · CH180, 18см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05999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12 999 грн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100815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6692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p_a20d9f5d9d6f852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0936" y="3054096"/>
            <a:ext cx="1624584" cy="73152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685800" y="3840480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94F7C"/>
                </a:solidFill>
                <a:latin typeface="Segoe UI"/>
              </a:rPr>
              <a:t>Seki Kanetsugu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580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Kanetsugu Kiritsuke Zuiun 9305 210мм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580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13 900 грн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88061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41096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p_37317c29c260df1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74976" y="3054096"/>
            <a:ext cx="1624584" cy="73152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2529840" y="3840480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94F7C"/>
                </a:solidFill>
                <a:latin typeface="Segoe UI"/>
              </a:rPr>
              <a:t>KAI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52984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Shun CLASSIC DM · 0712 Сокирка цайдао, 18см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52984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15 120 грн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72465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25500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p_7b88a0fa2cabf692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19016" y="3054096"/>
            <a:ext cx="1624584" cy="731520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4373880" y="3840480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94F7C"/>
                </a:solidFill>
                <a:latin typeface="Segoe UI"/>
              </a:rPr>
              <a:t>KAI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37388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Набір з 2 · х ножів KAI SHUN CLASSIC DMS · 220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37388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17 010 грн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56869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09904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5" name="Picture 64" descr="p_c3e9fe6e5d6bcb8c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63056" y="3054096"/>
            <a:ext cx="1624584" cy="731520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6217920" y="3840480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94F7C"/>
                </a:solidFill>
                <a:latin typeface="Segoe UI"/>
              </a:rPr>
              <a:t>KAI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21792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Набір із двох ножів KAI Shun Premier Tim Malze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20 090 грн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41273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943087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p_215a7b3e8b8fe864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07095" y="3054096"/>
            <a:ext cx="1624584" cy="731520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8061960" y="3840480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94F7C"/>
                </a:solidFill>
                <a:latin typeface="Segoe UI"/>
              </a:rPr>
              <a:t>Harukaze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06196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кухонний Honmamon / Хонмамон "HARUKAZE" Gyuto 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06196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26 990 грн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25677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Sekator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787127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p_fc0b454179225fc8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851135" y="3054096"/>
            <a:ext cx="1624584" cy="731520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9905999" y="3840480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94F7C"/>
                </a:solidFill>
                <a:latin typeface="Segoe UI"/>
              </a:rPr>
              <a:t>Yaxell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905999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Набір з 3 · х ножів Yaxell Super Gou 37101 · 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905999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38 640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1100815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66928" y="4535424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C94F7C"/>
                </a:solidFill>
                <a:latin typeface="Segoe UI"/>
              </a:rPr>
              <a:t>АНАЛІТИКА СЕГМЕНТА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566928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94944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ПОЗИЦІЙ У СЕГМЕНТІ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94944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C94F7C"/>
                </a:solidFill>
                <a:latin typeface="Segoe UI"/>
              </a:rPr>
              <a:t>49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94944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16 % каталогу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1956816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2084832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МЕДІАННА ЦІНА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084832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C2235"/>
                </a:solidFill>
                <a:latin typeface="Segoe UI"/>
              </a:rPr>
              <a:t>13 500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084832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грн за один ніж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3346704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3474720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ДІАПАЗОН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474720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717890"/>
                </a:solidFill>
                <a:latin typeface="Segoe UI"/>
              </a:rPr>
              <a:t>10 035–38 640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474720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грн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4736592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864607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БРЕНДІВ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864607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303A5D"/>
                </a:solidFill>
                <a:latin typeface="Segoe UI"/>
              </a:rPr>
              <a:t>12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864607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у сегменті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217920" y="4754880"/>
            <a:ext cx="5413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717890"/>
                </a:solidFill>
                <a:latin typeface="Segoe UI"/>
              </a:rPr>
              <a:t>ХТО ЗАЙМАЄ СЕГМЕНТ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217920" y="493776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KAI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7827264" y="4974336"/>
            <a:ext cx="2395728" cy="77724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0296144" y="493776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94F7C"/>
                </a:solidFill>
                <a:latin typeface="Segoe UI"/>
              </a:rPr>
              <a:t>15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735056" y="493776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31 %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217920" y="512064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Yaxell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7827264" y="5157216"/>
            <a:ext cx="1603248" cy="77724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10296144" y="512064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94F7C"/>
                </a:solidFill>
                <a:latin typeface="Segoe UI"/>
              </a:rP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735056" y="512064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20 %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217920" y="530352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Tojiro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7827264" y="5340096"/>
            <a:ext cx="1286256" cy="77724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10296144" y="530352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94F7C"/>
                </a:solidFill>
                <a:latin typeface="Segoe UI"/>
              </a:rPr>
              <a:t>8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0735056" y="530352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16 %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217920" y="548640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Takamura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7827264" y="5522976"/>
            <a:ext cx="493776" cy="77724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10296144" y="548640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94F7C"/>
                </a:solidFill>
                <a:latin typeface="Segoe UI"/>
              </a:rP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735056" y="548640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6 %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217920" y="566928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HONMAMON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7827264" y="5705856"/>
            <a:ext cx="493776" cy="77724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10296144" y="566928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94F7C"/>
                </a:solidFill>
                <a:latin typeface="Segoe UI"/>
              </a:rPr>
              <a:t>3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0735056" y="566928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6 %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566928" y="5687568"/>
            <a:ext cx="11064240" cy="844905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566928" y="5687568"/>
            <a:ext cx="36576" cy="844905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804672" y="5843016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94F7C"/>
                </a:solidFill>
                <a:latin typeface="Segoe UI"/>
              </a:rPr>
              <a:t>ЩО ВИЗНАЧАЄ СЕГМЕНТ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04672" y="6071616"/>
            <a:ext cx="10588752" cy="314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SG-2 і R2 порошкові сталі, 101–193 шари, ZDP-189 при 65–67 HRC, honyaki. Yaxell Super Gou, Nigara, Myojin, Hatsukokoro.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Покупців на всю країну — кілька тисяч. Ніж за 17 746 грн це 57 % середньої місячної зарплати: сегмент обмежений не смаком, а доходом.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03504" y="658368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Показано 12 позицій, рівномірно розподілених за ціною; аналітика рахована по всіх 49 позиціях сегмента. Джерело: картки товарів ProfiMax, ROKS, WildCat, жовтень 2026.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СЕГМЕНТ ТИПУ · 1 З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Шеф і гюто: 55 позицій, найбільший тип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Робочий ніж кухні, 180–240 мм. Найширше представлений тип у каталозі й головний драйвер середнього чека.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_d433f6d1871e588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1572768"/>
            <a:ext cx="1624584" cy="731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5800" y="2359152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4820A"/>
                </a:solidFill>
                <a:latin typeface="Segoe UI"/>
              </a:rPr>
              <a:t>Satake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Шеф малий Satake Swordsmith 803 · 274, 135мм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1 149 грн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8061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41096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_35c7e99f2b38cee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4976" y="1572768"/>
            <a:ext cx="1624584" cy="7315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529840" y="2359152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4820A"/>
                </a:solidFill>
                <a:latin typeface="Segoe UI"/>
              </a:rPr>
              <a:t>Samura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2984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Кухарський Шеф Samura Bamboo SBA · 0085, 200мм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2984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1 999 грн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2465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5500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p_139867536550167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19016" y="1572768"/>
            <a:ext cx="1624584" cy="7315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373880" y="2359152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4820A"/>
                </a:solidFill>
                <a:latin typeface="Segoe UI"/>
              </a:rPr>
              <a:t>Samura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7388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Набір з 3 · х ножів Samura Shadow SH · 0220 "К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7388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2 799 грн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6869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9904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p_b4111bac97c3bcf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63056" y="1572768"/>
            <a:ext cx="1624584" cy="7315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217920" y="2359152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4820A"/>
                </a:solidFill>
                <a:latin typeface="Segoe UI"/>
              </a:rPr>
              <a:t>Samura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Набір з 3х ножів Samura Bamboo SBA · 0220 "Кух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3 699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1273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43087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p_76bc5225073e1f9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07095" y="1572768"/>
            <a:ext cx="1624584" cy="7315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8061960" y="2359152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4820A"/>
                </a:solidFill>
                <a:latin typeface="Segoe UI"/>
              </a:rPr>
              <a:t>Tojiro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6196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Кухарський Шеф Tojiro Basic Damascus F · 332, 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6196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5 499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5677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787127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p_3d382306b23fc838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51135" y="1572768"/>
            <a:ext cx="1624584" cy="73152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9905999" y="2359152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4820A"/>
                </a:solidFill>
                <a:latin typeface="Segoe UI"/>
              </a:rPr>
              <a:t>Tojiro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05999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Шеф · Ніж TOJIRO DP F · 810, 27см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05999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6 199 грн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100815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6692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p_0ace7999a552cc4f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0936" y="3054096"/>
            <a:ext cx="1624584" cy="73152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685800" y="3840480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4820A"/>
                </a:solidFill>
                <a:latin typeface="Segoe UI"/>
              </a:rPr>
              <a:t>Takamura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580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Gyuto Migaki VG10 210мм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580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7 950 грн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88061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41096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p_837a29c02e099f13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74976" y="3054096"/>
            <a:ext cx="1624584" cy="73152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2529840" y="3840480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4820A"/>
                </a:solidFill>
                <a:latin typeface="Segoe UI"/>
              </a:rPr>
              <a:t>Tojiro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52984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Кухарський Шеф Tojiro DP Damascus F · 654, 18с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52984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8 845 грн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72465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25500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p_8a214a5b6c7c2838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19016" y="3054096"/>
            <a:ext cx="1624584" cy="731520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4373880" y="3840480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4820A"/>
                </a:solidFill>
                <a:latin typeface="Segoe UI"/>
              </a:rPr>
              <a:t>Tojiro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37388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Кухарський Шеф Tojiro DP Damascus F · 655, 21с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37388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9 999 грн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56869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09904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5" name="Picture 64" descr="p_62f119d714aed83c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63056" y="3054096"/>
            <a:ext cx="1624584" cy="731520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6217920" y="3840480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4820A"/>
                </a:solidFill>
                <a:latin typeface="Segoe UI"/>
              </a:rPr>
              <a:t>Tojiro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21792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Кухарський Tojiro Flash FF · CH160, 16см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10 799 грн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41273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943087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p_24f183eac56cf608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07095" y="3054096"/>
            <a:ext cx="1624584" cy="731520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8061960" y="3840480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4820A"/>
                </a:solidFill>
                <a:latin typeface="Segoe UI"/>
              </a:rPr>
              <a:t>KAI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06196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SHUN CLASSIC DM · 0707 Кухарський Шеф, 25.5см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06196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12 880 грн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25677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787127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p_215a7b3e8b8fe864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851135" y="3054096"/>
            <a:ext cx="1624584" cy="731520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9905999" y="3840480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4820A"/>
                </a:solidFill>
                <a:latin typeface="Segoe UI"/>
              </a:rPr>
              <a:t>Harukaze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905999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кухонний Honmamon / Хонмамон "HARUKAZE" Gyuto 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905999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26 990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1100815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Sekator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66928" y="4535424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C4820A"/>
                </a:solidFill>
                <a:latin typeface="Segoe UI"/>
              </a:rPr>
              <a:t>АНАЛІТИКА СЕГМЕНТА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566928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94944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ПОЗИЦІЙ У СЕГМЕНТІ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94944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C4820A"/>
                </a:solidFill>
                <a:latin typeface="Segoe UI"/>
              </a:rPr>
              <a:t>63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94944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21 % каталогу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1956816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2084832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МЕДІАННА ЦІНА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084832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C2235"/>
                </a:solidFill>
                <a:latin typeface="Segoe UI"/>
              </a:rPr>
              <a:t>6 999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084832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грн за один ніж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3346704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3474720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ДІАПАЗОН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474720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717890"/>
                </a:solidFill>
                <a:latin typeface="Segoe UI"/>
              </a:rPr>
              <a:t>1 149–26 990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474720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грн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4736592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864607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БРЕНДІВ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864607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303A5D"/>
                </a:solidFill>
                <a:latin typeface="Segoe UI"/>
              </a:rPr>
              <a:t>14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864607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у сегменті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217920" y="4754880"/>
            <a:ext cx="5413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717890"/>
                </a:solidFill>
                <a:latin typeface="Segoe UI"/>
              </a:rPr>
              <a:t>ХТО ЗАЙМАЄ СЕГМЕНТ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217920" y="493776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Samura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7827264" y="4974336"/>
            <a:ext cx="2395728" cy="7772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0296144" y="493776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4820A"/>
                </a:solidFill>
                <a:latin typeface="Segoe UI"/>
              </a:rPr>
              <a:t>14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735056" y="493776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22 %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217920" y="512064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Tojiro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7827264" y="5157216"/>
            <a:ext cx="2395728" cy="7772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10296144" y="512064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4820A"/>
                </a:solidFill>
                <a:latin typeface="Segoe UI"/>
              </a:rP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735056" y="512064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22 %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217920" y="530352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HONMAMON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7827264" y="5340096"/>
            <a:ext cx="1207008" cy="7772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10296144" y="530352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4820A"/>
                </a:solidFill>
                <a:latin typeface="Segoe UI"/>
              </a:rPr>
              <a:t>7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0735056" y="530352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11 %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217920" y="548640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Yaxell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7827264" y="5522976"/>
            <a:ext cx="867373" cy="7772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10296144" y="548640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4820A"/>
                </a:solidFill>
                <a:latin typeface="Segoe UI"/>
              </a:rP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735056" y="548640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8 %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217920" y="566928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Satake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7827264" y="5705856"/>
            <a:ext cx="697556" cy="7772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10296144" y="566928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4820A"/>
                </a:solidFill>
                <a:latin typeface="Segoe UI"/>
              </a:rPr>
              <a:t>4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0735056" y="566928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6 %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566928" y="5687568"/>
            <a:ext cx="11064240" cy="844905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566928" y="5687568"/>
            <a:ext cx="36576" cy="844905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804672" y="5843016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4820A"/>
                </a:solidFill>
                <a:latin typeface="Segoe UI"/>
              </a:rPr>
              <a:t>ЩО ЦЕ ЗА СЕГМЕНТ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04672" y="6071616"/>
            <a:ext cx="10588752" cy="314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Універсальний робочий ніж: м'ясо, овочі, риба. Купують і домашній просьюмер, і шеф-кухар для себе.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Саме в цьому типі найширший ціновий розкид — від 1 199 до 38 640 грн, тобто у 32 рази. Тип не визначає ціну; її визначає сталь.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03504" y="658368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Показано 12 позицій, рівномірно розподілених за ціною; аналітика рахована по всіх 63 позиціях сегмента. Джерело: картки товарів ProfiMax, ROKS, WildCat, жовтень 2026.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СЕГМЕНТ ТИПУ · 2 З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Сантоку, петті, накірі: домашня трійця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74 позиції разом. Три типи, які купує домашня кухня, і які формують уявлення про «японський ніж» у масовому покупця.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_5afb432f8613504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1572768"/>
            <a:ext cx="1624584" cy="731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5800" y="2359152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E9EA6"/>
                </a:solidFill>
                <a:latin typeface="Segoe UI"/>
              </a:rPr>
              <a:t>Samura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кухонний універсальний SAMURA GOLF SG · 0023,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969 грн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8061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41096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_4f0bc5b5c3f662a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4976" y="1572768"/>
            <a:ext cx="1624584" cy="7315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529840" y="2359152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E9EA6"/>
                </a:solidFill>
                <a:latin typeface="Segoe UI"/>
              </a:rPr>
              <a:t>Samura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2984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кухонний Samura Mo · V SM · 0023 універсальний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2984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1 429 грн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2465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5500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p_55fb8ee3c698281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19016" y="1572768"/>
            <a:ext cx="1624584" cy="7315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373880" y="2359152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E9EA6"/>
                </a:solidFill>
                <a:latin typeface="Segoe UI"/>
              </a:rPr>
              <a:t>Samura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7388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кухонний Samura Mo · V Stonewash SM · 0043B На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7388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2 599 грн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6869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9904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p_c385448d820bc31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63056" y="1572768"/>
            <a:ext cx="1624584" cy="7315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217920" y="2359152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E9EA6"/>
                </a:solidFill>
                <a:latin typeface="Segoe UI"/>
              </a:rPr>
              <a:t>Tojiro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Shirogami Kasumi Петті ніж 120 мм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3 119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1273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43087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p_6dd7c0c2682d0c7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07095" y="1572768"/>
            <a:ext cx="1624584" cy="7315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8061960" y="2359152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E9EA6"/>
                </a:solidFill>
                <a:latin typeface="Segoe UI"/>
              </a:rPr>
              <a:t>Tojiro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6196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універсальний Tojiro DP Damascus F · 650, 12см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6196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4 299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5677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787127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p_efa83e5079efca4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51135" y="1572768"/>
            <a:ext cx="1624584" cy="73152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9905999" y="2359152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E9EA6"/>
                </a:solidFill>
                <a:latin typeface="Segoe UI"/>
              </a:rPr>
              <a:t>Tosa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05999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Nakiri Kanto 54x165мм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05999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5 439 грн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100815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6692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p_93d27f3f42600ec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0936" y="3054096"/>
            <a:ext cx="1624584" cy="73152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685800" y="3840480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E9EA6"/>
                </a:solidFill>
                <a:latin typeface="Segoe UI"/>
              </a:rPr>
              <a:t>KAI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580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SHUN CLASSIC DM · 0701 універсальний, 15см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580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6 440 грн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88061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41096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p_b0613c48f6d55682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74976" y="3054096"/>
            <a:ext cx="1624584" cy="73152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2529840" y="3840480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E9EA6"/>
                </a:solidFill>
                <a:latin typeface="Segoe UI"/>
              </a:rPr>
              <a:t>Tosa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52984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Santoku Damascus TADAYOSHI Tosa 150мм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52984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7 250 грн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72465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25500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p_b9f7e9705774f9a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19016" y="3054096"/>
            <a:ext cx="1624584" cy="731520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4373880" y="3840480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E9EA6"/>
                </a:solidFill>
                <a:latin typeface="Segoe UI"/>
              </a:rPr>
              <a:t>Yaxell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37388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Сантоку Yaxell RAN 36001G з рифленням на клинк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37388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7 804 грн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56869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09904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5" name="Picture 64" descr="p_a5371c0bbe595a4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63056" y="3054096"/>
            <a:ext cx="1624584" cy="731520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6217920" y="3840480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E9EA6"/>
                </a:solidFill>
                <a:latin typeface="Segoe UI"/>
              </a:rPr>
              <a:t>Kasumi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21792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Накірі Kasumi Damascus 84017, 180мм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8 999 грн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41273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943087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p_b5e9b22fe97b88e7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07095" y="3054096"/>
            <a:ext cx="1624584" cy="731520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8061960" y="3840480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E9EA6"/>
                </a:solidFill>
                <a:latin typeface="Segoe UI"/>
              </a:rPr>
              <a:t>Yaxell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06196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універсальний Yaxell Super Gou 37102, 120мм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06196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10 195 грн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25677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787127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p_d160ceedb3911759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851135" y="3054096"/>
            <a:ext cx="1624584" cy="731520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9905999" y="3840480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E9EA6"/>
                </a:solidFill>
                <a:latin typeface="Segoe UI"/>
              </a:rPr>
              <a:t>Harukaze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905999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кухонний Honmamon / Хонмамон "HARUKAZE" Petty 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905999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19 990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1100815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Sekator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66928" y="4535424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1E9EA6"/>
                </a:solidFill>
                <a:latin typeface="Segoe UI"/>
              </a:rPr>
              <a:t>АНАЛІТИКА СЕГМЕНТА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566928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94944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ПОЗИЦІЙ У СЕГМЕНТІ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94944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E9EA6"/>
                </a:solidFill>
                <a:latin typeface="Segoe UI"/>
              </a:rPr>
              <a:t>88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94944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29 % каталогу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1956816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2084832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МЕДІАННА ЦІНА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084832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C2235"/>
                </a:solidFill>
                <a:latin typeface="Segoe UI"/>
              </a:rPr>
              <a:t>5 899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084832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грн за один ніж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3346704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3474720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ДІАПАЗОН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474720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717890"/>
                </a:solidFill>
                <a:latin typeface="Segoe UI"/>
              </a:rPr>
              <a:t>969–19 990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474720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грн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4736592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864607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БРЕНДІВ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864607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303A5D"/>
                </a:solidFill>
                <a:latin typeface="Segoe UI"/>
              </a:rPr>
              <a:t>20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864607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у сегменті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217920" y="4754880"/>
            <a:ext cx="5413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717890"/>
                </a:solidFill>
                <a:latin typeface="Segoe UI"/>
              </a:rPr>
              <a:t>ХТО ЗАЙМАЄ СЕГМЕНТ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217920" y="493776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Yaxell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7827264" y="4974336"/>
            <a:ext cx="2395728" cy="7772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0296144" y="493776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1E9EA6"/>
                </a:solidFill>
                <a:latin typeface="Segoe UI"/>
              </a:rPr>
              <a:t>12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735056" y="493776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14 %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217920" y="512064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Tojiro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7827264" y="5157216"/>
            <a:ext cx="1999488" cy="7772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10296144" y="512064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1E9EA6"/>
                </a:solidFill>
                <a:latin typeface="Segoe UI"/>
              </a:rP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735056" y="512064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11 %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217920" y="530352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Samura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7827264" y="5340096"/>
            <a:ext cx="1801368" cy="7772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10296144" y="530352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1E9EA6"/>
                </a:solidFill>
                <a:latin typeface="Segoe UI"/>
              </a:rPr>
              <a:t>9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0735056" y="530352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10 %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217920" y="548640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HONMAMON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7827264" y="5522976"/>
            <a:ext cx="1801368" cy="7772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10296144" y="548640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1E9EA6"/>
                </a:solidFill>
                <a:latin typeface="Segoe UI"/>
              </a:rP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735056" y="548640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10 %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217920" y="566928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KAI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7827264" y="5705856"/>
            <a:ext cx="1603248" cy="7772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10296144" y="566928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1E9EA6"/>
                </a:solidFill>
                <a:latin typeface="Segoe UI"/>
              </a:rPr>
              <a:t>8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0735056" y="566928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9 %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566928" y="5687568"/>
            <a:ext cx="11064240" cy="844905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566928" y="5687568"/>
            <a:ext cx="36576" cy="844905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804672" y="5843016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E9EA6"/>
                </a:solidFill>
                <a:latin typeface="Segoe UI"/>
              </a:rPr>
              <a:t>ЩО ЦЕ ЗА СЕГМЕНТ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04672" y="6071616"/>
            <a:ext cx="10588752" cy="314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Сантоку — другий ніж у домі після шефа. Петті — найчастіша купівля з найнижчим чеком. Накірі зростає разом із модою на овочі.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Це єдина група, де японська геометрія вже стала масовою: у Fissman 61 SKU сантоку, і покупець не перевіряє походження.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03504" y="658368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Показано 12 позицій, рівномірно розподілених за ціною; аналітика рахована по всіх 88 позиціях сегмента. Джерело: картки товарів ProfiMax, ROKS, WildCat, жовтень 2026.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СЕГМЕНТ ТИПУ · 3 З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Односторонні: янагіба, деба, сашимі, усуба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33 позиції, 13 % каталогу. Єдина геометрія, де японське виробництво не має європейського замінника.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_a83efe47d2cae4e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1572768"/>
            <a:ext cx="1624584" cy="731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5800" y="2359152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D4B96"/>
                </a:solidFill>
                <a:latin typeface="Segoe UI"/>
              </a:rPr>
              <a:t>KAI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Wasabi Black 6715Y Янагіба, 15см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2 016 грн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8061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41096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_b65f5ff7e2be7d3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4976" y="1572768"/>
            <a:ext cx="1624584" cy="7315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529840" y="2359152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D4B96"/>
                </a:solidFill>
                <a:latin typeface="Segoe UI"/>
              </a:rPr>
              <a:t>HONMAMON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2984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кухонний Honmamon / Хонмамон Sashimi Hocho, 18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2984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2 695 грн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2465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Sekator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5500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p_0c24a26e64ffdeb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19016" y="1572768"/>
            <a:ext cx="1624584" cy="7315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373880" y="2359152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D4B96"/>
                </a:solidFill>
                <a:latin typeface="Segoe UI"/>
              </a:rPr>
              <a:t>Tomita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7388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Deba ніж Blue Steel #2 110 mm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7388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3 215 грн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6869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9904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p_0d44b46d7c55cf5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63056" y="1572768"/>
            <a:ext cx="1624584" cy="7315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217920" y="2359152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D4B96"/>
                </a:solidFill>
                <a:latin typeface="Segoe UI"/>
              </a:rPr>
              <a:t>Tosa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Sashimi · bocho 210мм (двосторонній)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3 500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1273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43087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p_b87f9ee8a0ca1fd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07095" y="1572768"/>
            <a:ext cx="1624584" cy="7315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8061960" y="2359152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D4B96"/>
                </a:solidFill>
                <a:latin typeface="Segoe UI"/>
              </a:rPr>
              <a:t>KAI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6196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Seki Magoroku Ginju AK · 5068 Янагіба, 24см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6196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3 599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5677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787127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p_6bc3f76321cd287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51135" y="1572768"/>
            <a:ext cx="1624584" cy="73152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9905999" y="2359152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D4B96"/>
                </a:solidFill>
                <a:latin typeface="Segoe UI"/>
              </a:rPr>
              <a:t>KAI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05999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Seki Magoroku Red Wood MGR · 0210Y Янагіба, 21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05999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4 130 грн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100815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6692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p_44034dd442faacd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0936" y="3054096"/>
            <a:ext cx="1624584" cy="73152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685800" y="3840480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D4B96"/>
                </a:solidFill>
                <a:latin typeface="Segoe UI"/>
              </a:rPr>
              <a:t>Tosa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580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Sashimi · bocho Black 210мм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580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4 600 грн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88061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41096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p_4397e4673af356b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74976" y="3054096"/>
            <a:ext cx="1624584" cy="73152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2529840" y="3840480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D4B96"/>
                </a:solidFill>
                <a:latin typeface="Segoe UI"/>
              </a:rPr>
              <a:t>Tosa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52984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Sashimi · bocho 270мм (двосторонній)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52984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4 900 грн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72465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25500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p_c7043ad3f7e5ece4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19016" y="3054096"/>
            <a:ext cx="1624584" cy="731520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4373880" y="3840480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D4B96"/>
                </a:solidFill>
                <a:latin typeface="Segoe UI"/>
              </a:rPr>
              <a:t>Tanaka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37388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Kamagata Usuba ніж Super Blue Steel 150mm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37388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5 203 грн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56869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09904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5" name="Picture 64" descr="p_d482b9f87f9500d0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63056" y="3054096"/>
            <a:ext cx="1624584" cy="731520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6217920" y="3840480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D4B96"/>
                </a:solidFill>
                <a:latin typeface="Segoe UI"/>
              </a:rPr>
              <a:t>Masahiro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21792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Янагіба Masahiro 16219 Yanagiba, 24см сталь Ki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5 997 грн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41273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943087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p_46f7ff8401b6b421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07095" y="3054096"/>
            <a:ext cx="1624584" cy="731520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8061960" y="3840480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D4B96"/>
                </a:solidFill>
                <a:latin typeface="Segoe UI"/>
              </a:rPr>
              <a:t>Tosa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06196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ніж Tosauchi White 2 Deba 185 мм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06196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7 360 грн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25677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787127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p_97bfc2a3a6a5b421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851135" y="3054096"/>
            <a:ext cx="1624584" cy="731520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9905999" y="3840480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D4B96"/>
                </a:solidFill>
                <a:latin typeface="Segoe UI"/>
              </a:rPr>
              <a:t>Sakai Takayuki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905999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Янагіба SAKAI TAKAYUKI Yasugi для лівші, 24см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905999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7 640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1100815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66928" y="4535424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5D4B96"/>
                </a:solidFill>
                <a:latin typeface="Segoe UI"/>
              </a:rPr>
              <a:t>АНАЛІТИКА СЕГМЕНТА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566928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94944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ПОЗИЦІЙ У СЕГМЕНТІ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94944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5D4B96"/>
                </a:solidFill>
                <a:latin typeface="Segoe UI"/>
              </a:rPr>
              <a:t>37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94944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12 % каталогу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1956816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2084832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МЕДІАННА ЦІНА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084832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C2235"/>
                </a:solidFill>
                <a:latin typeface="Segoe UI"/>
              </a:rPr>
              <a:t>4 451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084832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грн за один ніж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3346704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3474720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ДІАПАЗОН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474720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717890"/>
                </a:solidFill>
                <a:latin typeface="Segoe UI"/>
              </a:rPr>
              <a:t>2 016–7 640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474720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грн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4736592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864607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БРЕНДІВ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864607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303A5D"/>
                </a:solidFill>
                <a:latin typeface="Segoe UI"/>
              </a:rPr>
              <a:t>13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864607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у сегменті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217920" y="4754880"/>
            <a:ext cx="5413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717890"/>
                </a:solidFill>
                <a:latin typeface="Segoe UI"/>
              </a:rPr>
              <a:t>ХТО ЗАЙМАЄ СЕГМЕНТ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217920" y="493776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Tosa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7827264" y="4974336"/>
            <a:ext cx="2395728" cy="77724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0296144" y="493776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5D4B96"/>
                </a:solidFill>
                <a:latin typeface="Segoe UI"/>
              </a:rPr>
              <a:t>11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735056" y="493776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30 %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217920" y="512064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KAI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7827264" y="5157216"/>
            <a:ext cx="1747335" cy="77724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10296144" y="512064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5D4B96"/>
                </a:solidFill>
                <a:latin typeface="Segoe UI"/>
              </a:rP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735056" y="512064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22 %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217920" y="530352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HONMAMON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7827264" y="5340096"/>
            <a:ext cx="666680" cy="77724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10296144" y="530352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5D4B96"/>
                </a:solidFill>
                <a:latin typeface="Segoe UI"/>
              </a:rPr>
              <a:t>3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0735056" y="530352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8 %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217920" y="548640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Samura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7827264" y="5522976"/>
            <a:ext cx="450549" cy="77724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10296144" y="548640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5D4B96"/>
                </a:solidFill>
                <a:latin typeface="Segoe UI"/>
              </a:rP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735056" y="548640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5 %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217920" y="566928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Tomita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7827264" y="5705856"/>
            <a:ext cx="450549" cy="77724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10296144" y="566928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5D4B96"/>
                </a:solidFill>
                <a:latin typeface="Segoe UI"/>
              </a:rPr>
              <a:t>2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0735056" y="566928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5 %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566928" y="5687568"/>
            <a:ext cx="11064240" cy="844905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566928" y="5687568"/>
            <a:ext cx="36576" cy="844905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804672" y="5843016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5D4B96"/>
                </a:solidFill>
                <a:latin typeface="Segoe UI"/>
              </a:rPr>
              <a:t>ЩО ЦЕ ЗА СЕГМЕНТ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04672" y="6071616"/>
            <a:ext cx="10588752" cy="314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Одностороннє заточення під праву руку, вуглецева або високовуглецева сталь, традиційне руків'я wa. Вимагає водних каменів і навички.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Професійний інструмент суші-кухні. Попит на всю країну — 500–900 ножів на рік: канал реальний, ринок за обсягом — ні.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03504" y="658368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Показано 12 позицій, рівномірно розподілених за ціною; аналітика рахована по всіх 37 позиціях сегмента. Джерело: картки товарів ProfiMax, ROKS, WildCat, жовтень 2026.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СЕГМЕНТ СТАЛІ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Вуглецева сталь: Aogami, Shirogami, Hagane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Окремий зріз за матеріалом клинка. Вуглець тримає кромку довше за нержавійку — і іржавіє, якщо ніж не витерти насухо.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_d28c3cac44967ae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1572768"/>
            <a:ext cx="1624584" cy="731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5800" y="2359152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D4B96"/>
                </a:solidFill>
                <a:latin typeface="Segoe UI"/>
              </a:rPr>
              <a:t>Hanakumagawa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Funayuki ніж Shirogami 2 Steel 165 mm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2 390 грн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8061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41096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_0b31b88dbd85047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4976" y="1572768"/>
            <a:ext cx="1624584" cy="7315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529840" y="2359152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D4B96"/>
                </a:solidFill>
                <a:latin typeface="Segoe UI"/>
              </a:rPr>
              <a:t>Hanakumagawa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2984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Funayuki ніж Shirogami 2 Steel 166 mm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2984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2 790 грн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2465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5500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p_0c24a26e64ffdeb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19016" y="1572768"/>
            <a:ext cx="1624584" cy="7315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373880" y="2359152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D4B96"/>
                </a:solidFill>
                <a:latin typeface="Segoe UI"/>
              </a:rPr>
              <a:t>Tomita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7388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Deba ніж Blue Steel #2 110 mm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7388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3 215 грн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6869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9904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p_4b4d0c04f85d216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63056" y="1572768"/>
            <a:ext cx="1624584" cy="7315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217920" y="2359152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D4B96"/>
                </a:solidFill>
                <a:latin typeface="Segoe UI"/>
              </a:rPr>
              <a:t>Tojiro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Shirogami Kasumi Петті ніж 150 мм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3 247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1273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43087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p_9c8b55acafe58d1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07095" y="1572768"/>
            <a:ext cx="1624584" cy="7315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8061960" y="2359152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D4B96"/>
                </a:solidFill>
                <a:latin typeface="Segoe UI"/>
              </a:rPr>
              <a:t>Hisashige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6196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Honyaki ніж із вуглецевої сталі 150мм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6196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3 520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5677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787127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p_f5c4c53e9dcf5a8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51135" y="1572768"/>
            <a:ext cx="1624584" cy="73152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9905999" y="2359152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D4B96"/>
                </a:solidFill>
                <a:latin typeface="Segoe UI"/>
              </a:rPr>
              <a:t>Tomita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05999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універсальний ніж Super Blue Steel 120 mm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05999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4 362 грн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100815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6692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p_5220b992792993e0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0936" y="3054096"/>
            <a:ext cx="1624584" cy="73152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685800" y="3840480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D4B96"/>
                </a:solidFill>
                <a:latin typeface="Segoe UI"/>
              </a:rPr>
              <a:t>Fukamizu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580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Kurouchi Bunka 165мм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580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4 850 грн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88061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41096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p_b607d35558bd2b8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74976" y="3054096"/>
            <a:ext cx="1624584" cy="73152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2529840" y="3840480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D4B96"/>
                </a:solidFill>
                <a:latin typeface="Segoe UI"/>
              </a:rPr>
              <a:t>Tojiro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52984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Shirogami Kasumi Шеф ніж, 180 мм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52984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4 976 грн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72465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25500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p_fc0893b22d315715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19016" y="3054096"/>
            <a:ext cx="1624584" cy="731520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4373880" y="3840480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D4B96"/>
                </a:solidFill>
                <a:latin typeface="Segoe UI"/>
              </a:rPr>
              <a:t>HONMAMON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37388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кухонний Honmamon / Хонмамон Deba, Shirogami #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37388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5 490 грн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56869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Sekator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09904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5" name="Picture 64" descr="p_8ceaaf42caf42f2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63056" y="3054096"/>
            <a:ext cx="1624584" cy="731520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6217920" y="3840480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D4B96"/>
                </a:solidFill>
                <a:latin typeface="Segoe UI"/>
              </a:rPr>
              <a:t>Sakai Haruhiko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21792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White 2 Янагіба 240мм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7 040 грн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41273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943087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p_7d3f633cc134593a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07095" y="3054096"/>
            <a:ext cx="1624584" cy="731520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8061960" y="3840480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D4B96"/>
                </a:solidFill>
                <a:latin typeface="Segoe UI"/>
              </a:rPr>
              <a:t>Tadayoshi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06196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Tokaji Santoku · Blue Steel 185mm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06196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8 480 грн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25677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787127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p_c07aa14169ef918a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851135" y="3054096"/>
            <a:ext cx="1624584" cy="731520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9905999" y="3840480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D4B96"/>
                </a:solidFill>
                <a:latin typeface="Segoe UI"/>
              </a:rPr>
              <a:t>JCK Natures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905999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Aogami Super Series SAKURA · 2 Шеф 180mm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905999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12 220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1100815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66928" y="4535424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5D4B96"/>
                </a:solidFill>
                <a:latin typeface="Segoe UI"/>
              </a:rPr>
              <a:t>АНАЛІТИКА СЕГМЕНТА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566928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94944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ПОЗИЦІЙ У СЕГМЕНТІ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94944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5D4B96"/>
                </a:solidFill>
                <a:latin typeface="Segoe UI"/>
              </a:rPr>
              <a:t>23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94944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8 % каталогу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1956816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2084832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МЕДІАННА ЦІНА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084832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C2235"/>
                </a:solidFill>
                <a:latin typeface="Segoe UI"/>
              </a:rPr>
              <a:t>4 590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084832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грн за один ніж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3346704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3474720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ДІАПАЗОН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474720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717890"/>
                </a:solidFill>
                <a:latin typeface="Segoe UI"/>
              </a:rPr>
              <a:t>2 390–12 220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474720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грн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4736592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864607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БРЕНДІВ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864607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303A5D"/>
                </a:solidFill>
                <a:latin typeface="Segoe UI"/>
              </a:rPr>
              <a:t>14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864607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у сегменті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217920" y="4754880"/>
            <a:ext cx="5413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717890"/>
                </a:solidFill>
                <a:latin typeface="Segoe UI"/>
              </a:rPr>
              <a:t>ХТО ЗАЙМАЄ СЕГМЕНТ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217920" y="493776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Tomita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7827264" y="4974336"/>
            <a:ext cx="2395728" cy="77724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0296144" y="493776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5D4B96"/>
                </a:solidFill>
                <a:latin typeface="Segoe UI"/>
              </a:rP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735056" y="493776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17 %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217920" y="512064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Hanakumagawa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7827264" y="5157216"/>
            <a:ext cx="1801368" cy="77724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10296144" y="512064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5D4B96"/>
                </a:solidFill>
                <a:latin typeface="Segoe UI"/>
              </a:rP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735056" y="512064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13 %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217920" y="530352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Tojiro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7827264" y="5340096"/>
            <a:ext cx="1801368" cy="77724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10296144" y="530352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5D4B96"/>
                </a:solidFill>
                <a:latin typeface="Segoe UI"/>
              </a:rPr>
              <a:t>3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0735056" y="530352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13 %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217920" y="548640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Tosa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7827264" y="5522976"/>
            <a:ext cx="1801368" cy="77724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10296144" y="548640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5D4B96"/>
                </a:solidFill>
                <a:latin typeface="Segoe UI"/>
              </a:rP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735056" y="548640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13 %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217920" y="566928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Kanetaka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7827264" y="5705856"/>
            <a:ext cx="612648" cy="77724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10296144" y="566928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5D4B96"/>
                </a:solidFill>
                <a:latin typeface="Segoe UI"/>
              </a:rPr>
              <a:t>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0735056" y="566928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4 %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566928" y="5687568"/>
            <a:ext cx="11064240" cy="844905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566928" y="5687568"/>
            <a:ext cx="36576" cy="844905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804672" y="5843016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5D4B96"/>
                </a:solidFill>
                <a:latin typeface="Segoe UI"/>
              </a:rPr>
              <a:t>ЧОМУ ЦЕ ОКРЕМИЙ СЕГМЕНТ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04672" y="6071616"/>
            <a:ext cx="10588752" cy="314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Вуглецева сталь — це вибір проти зручності: вища твердість і довша кромка ціною обов'язкового догляду після кожного різання.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Європейські виробники сюди не йдуть узагалі. Це єдиний матеріальний сегмент, де японське походження не має замінника — і водночас найменш придатний для масового покупця.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03504" y="658368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Показано 12 позицій, рівномірно розподілених за ціною; аналітика рахована по всіх 23 позиціях сегмента. Джерело: картки товарів ProfiMax, ROKS, WildCat, жовтень 2026.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СЕГМЕНТ ТИПУ · 4 З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Набори: 29 позицій і подарунковий двигун категорії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Набори з 2–5 предметів. У митній статистиці це окремий код 8211 10 — 26 % усієї митної бази категорії.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_134147445787498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1572768"/>
            <a:ext cx="1624584" cy="731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5800" y="2359152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94F7C"/>
                </a:solidFill>
                <a:latin typeface="Segoe UI"/>
              </a:rPr>
              <a:t>Samura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Набір з 2 · х ножів Samura Shadow SH · 0210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2 299 грн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8061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41096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_8d10a99e8f0fedd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4976" y="1572768"/>
            <a:ext cx="1624584" cy="7315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529840" y="2359152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94F7C"/>
                </a:solidFill>
                <a:latin typeface="Segoe UI"/>
              </a:rPr>
              <a:t>Samura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2984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Набір з 6 · ти ножів для стейку Samura Harakir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2984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2 799 грн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2465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5500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p_bf41c1f1a9f793c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19016" y="1572768"/>
            <a:ext cx="1624584" cy="7315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373880" y="2359152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94F7C"/>
                </a:solidFill>
                <a:latin typeface="Segoe UI"/>
              </a:rPr>
              <a:t>Samura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7388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Набір з 3х керамічних ножів Samura INCA SIN ·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7388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3 099 грн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6869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9904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p_bbb5260f706cc84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63056" y="1572768"/>
            <a:ext cx="1624584" cy="7315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217920" y="2359152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94F7C"/>
                </a:solidFill>
                <a:latin typeface="Segoe UI"/>
              </a:rPr>
              <a:t>Samura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Набір з 3х ножів "Кухарська трійка" Samura Mo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5 099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1273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43087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p_0e1a6760378698d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07095" y="1572768"/>
            <a:ext cx="1624584" cy="7315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8061960" y="2359152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94F7C"/>
                </a:solidFill>
                <a:latin typeface="Segoe UI"/>
              </a:rPr>
              <a:t>Samura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6196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Набір з 3 · х ножів Samura KAIJU SKJ · 0220 Ку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6196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5 899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5677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787127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p_52f59bed9876c5b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51135" y="1572768"/>
            <a:ext cx="1624584" cy="73152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9905999" y="2359152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94F7C"/>
                </a:solidFill>
                <a:latin typeface="Segoe UI"/>
              </a:rPr>
              <a:t>KAI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05999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Набір з 3 · х ножів KAI WASABI Black 67S · 310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05999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7 280 грн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100815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6692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p_032c52bf20085f93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0936" y="3054096"/>
            <a:ext cx="1624584" cy="73152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685800" y="3840480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94F7C"/>
                </a:solidFill>
                <a:latin typeface="Segoe UI"/>
              </a:rPr>
              <a:t>Tojiro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580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Набір з 2х кухонних ножів Tojiro DP · GIFTSET 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580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9 470 грн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88061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41096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p_f09b37373f363c7f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74976" y="3054096"/>
            <a:ext cx="1624584" cy="73152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2529840" y="3840480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94F7C"/>
                </a:solidFill>
                <a:latin typeface="Segoe UI"/>
              </a:rPr>
              <a:t>Tojiro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52984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Набір з 2х кухонних ножів Tojiro Damascus DP ·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52984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12 499 грн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72465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25500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p_4664011e36f44288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19016" y="3054096"/>
            <a:ext cx="1624584" cy="731520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4373880" y="3840480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94F7C"/>
                </a:solidFill>
                <a:latin typeface="Segoe UI"/>
              </a:rPr>
              <a:t>Samura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37388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Набір з 3 · х ножів Samura "Super 5" SP5 · 022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37388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14 299 грн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56869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09904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5" name="Picture 64" descr="p_e704c2ed970bb296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63056" y="3054096"/>
            <a:ext cx="1624584" cy="731520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6217920" y="3840480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94F7C"/>
                </a:solidFill>
                <a:latin typeface="Segoe UI"/>
              </a:rPr>
              <a:t>KAI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21792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Набір ножів KAI Shun Premier Tim Malzer TDMS ·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20 300 грн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41273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943087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p_f239debcf35570d5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07095" y="3054096"/>
            <a:ext cx="1624584" cy="731520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8061960" y="3840480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94F7C"/>
                </a:solidFill>
                <a:latin typeface="Segoe UI"/>
              </a:rPr>
              <a:t>KAI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06196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Набір з 3 · х ножів KAI Shun Premier Tim Malze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06196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27 350 грн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25677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787127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p_fc0b454179225fc8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851135" y="3054096"/>
            <a:ext cx="1624584" cy="731520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9905999" y="3840480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94F7C"/>
                </a:solidFill>
                <a:latin typeface="Segoe UI"/>
              </a:rPr>
              <a:t>Yaxell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905999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Набір з 3 · х ножів Yaxell Super Gou 37101 · 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905999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38 640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1100815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66928" y="4535424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C94F7C"/>
                </a:solidFill>
                <a:latin typeface="Segoe UI"/>
              </a:rPr>
              <a:t>АНАЛІТИКА СЕГМЕНТА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566928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94944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ПОЗИЦІЙ У СЕГМЕНТІ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94944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C94F7C"/>
                </a:solidFill>
                <a:latin typeface="Segoe UI"/>
              </a:rPr>
              <a:t>36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94944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12 % каталогу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1956816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2084832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МЕДІАННА ЦІНА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084832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C2235"/>
                </a:solidFill>
                <a:latin typeface="Segoe UI"/>
              </a:rPr>
              <a:t>8 699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084832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грн за один ніж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3346704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3474720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ДІАПАЗОН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474720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717890"/>
                </a:solidFill>
                <a:latin typeface="Segoe UI"/>
              </a:rPr>
              <a:t>2 299–38 640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474720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грн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4736592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864607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БРЕНДІВ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864607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303A5D"/>
                </a:solidFill>
                <a:latin typeface="Segoe UI"/>
              </a:rPr>
              <a:t>5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864607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у сегменті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217920" y="4754880"/>
            <a:ext cx="5413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717890"/>
                </a:solidFill>
                <a:latin typeface="Segoe UI"/>
              </a:rPr>
              <a:t>ХТО ЗАЙМАЄ СЕГМЕНТ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217920" y="493776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Samura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7827264" y="4974336"/>
            <a:ext cx="2395728" cy="77724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0296144" y="493776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94F7C"/>
                </a:solidFill>
                <a:latin typeface="Segoe UI"/>
              </a:rPr>
              <a:t>18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735056" y="493776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50 %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217920" y="512064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KAI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7827264" y="5157216"/>
            <a:ext cx="1339088" cy="77724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10296144" y="512064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94F7C"/>
                </a:solidFill>
                <a:latin typeface="Segoe UI"/>
              </a:rP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735056" y="512064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28 %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217920" y="530352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Yaxell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7827264" y="5340096"/>
            <a:ext cx="678688" cy="77724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10296144" y="530352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94F7C"/>
                </a:solidFill>
                <a:latin typeface="Segoe UI"/>
              </a:rPr>
              <a:t>5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0735056" y="530352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14 %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217920" y="548640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Tojiro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7827264" y="5522976"/>
            <a:ext cx="282448" cy="77724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10296144" y="548640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94F7C"/>
                </a:solidFill>
                <a:latin typeface="Segoe UI"/>
              </a:rP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735056" y="548640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6 %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217920" y="566928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Satake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7827264" y="5705856"/>
            <a:ext cx="150367" cy="77724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10296144" y="566928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94F7C"/>
                </a:solidFill>
                <a:latin typeface="Segoe UI"/>
              </a:rPr>
              <a:t>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0735056" y="566928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3 %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566928" y="5687568"/>
            <a:ext cx="11064240" cy="844905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566928" y="5687568"/>
            <a:ext cx="36576" cy="844905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804672" y="5843016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94F7C"/>
                </a:solidFill>
                <a:latin typeface="Segoe UI"/>
              </a:rPr>
              <a:t>ЩО ЦЕ ЗА СЕГМЕНТ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04672" y="6071616"/>
            <a:ext cx="10588752" cy="314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Купують не для себе. Пік продажів — грудень і березень. Коробка, підкладка й гравіювання важать більше за марку сталі.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Найвищий середній чек у категорії при найнижчій вимозі до продукту. Для входу це найдешевший спосіб купити місце на полиці.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03504" y="658368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Показано 12 позицій, рівномірно розподілених за ціною; аналітика рахована по всіх 36 позиціях сегмента. Джерело: картки товарів ProfiMax, ROKS, WildCat, жовтень 2026.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ЩО ПРЕДСТАВЛЕНО · ТИП ЛЕЗА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Три типи леза дають половину всього асортименту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Розбір 300 карток товарів із каталогів ProfiMax, ROKS і WildCat. Це представленість на полиці, а не продажі — панелі продажів у категорії не існує.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4572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ПОЗИЦІЙ У КАТАЛОГАХ, ШТ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1554480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ЦІНОВИЙ КОРИДОР ТИПУ, ГРН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1792224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Шеф / гюто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157984" y="1833372"/>
            <a:ext cx="3035808" cy="9144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48656" y="1792224"/>
            <a:ext cx="4754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C4820A"/>
                </a:solidFill>
                <a:latin typeface="Segoe UI"/>
              </a:rPr>
              <a:t>63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0" y="1792224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24 %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55957" y="1851660"/>
            <a:ext cx="2425789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412515" y="1815084"/>
            <a:ext cx="64008" cy="12344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30384" y="1792224"/>
            <a:ext cx="17007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1 149 – 26 990   мед. 6 999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2061972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E9EA6"/>
                </a:solidFill>
                <a:latin typeface="Segoe UI"/>
              </a:rPr>
              <a:t>Петті / універсальний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157984" y="2103120"/>
            <a:ext cx="1742585" cy="9144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48656" y="2061972"/>
            <a:ext cx="4754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E9EA6"/>
                </a:solidFill>
                <a:latin typeface="Segoe UI"/>
              </a:rPr>
              <a:t>36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60720" y="2061972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14 %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925020" y="2121408"/>
            <a:ext cx="2326000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099436" y="2084831"/>
            <a:ext cx="64008" cy="12344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30384" y="2061972"/>
            <a:ext cx="17007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969 – 19 990   мед. 4 657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2331720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F9A50B"/>
                </a:solidFill>
                <a:latin typeface="Segoe UI"/>
              </a:rPr>
              <a:t>Сантоку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157984" y="2372868"/>
            <a:ext cx="1742585" cy="9144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48656" y="2331720"/>
            <a:ext cx="4754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F9A50B"/>
                </a:solidFill>
                <a:latin typeface="Segoe UI"/>
              </a:rPr>
              <a:t>36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60720" y="2331720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14 %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207246" y="2391156"/>
            <a:ext cx="1742053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434273" y="2354579"/>
            <a:ext cx="64008" cy="12344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930384" y="2331720"/>
            <a:ext cx="17007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1 399 – 13 499   мед. 7 200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2601468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94F7C"/>
                </a:solidFill>
                <a:latin typeface="Segoe UI"/>
              </a:rPr>
              <a:t>Набір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157984" y="2642615"/>
            <a:ext cx="1407305" cy="91440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248656" y="2601468"/>
            <a:ext cx="4754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C94F7C"/>
                </a:solidFill>
                <a:latin typeface="Segoe UI"/>
              </a:rPr>
              <a:t>29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760720" y="2601468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11 %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588966" y="2660903"/>
            <a:ext cx="2168530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765261" y="2624327"/>
            <a:ext cx="64008" cy="123444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930384" y="2601468"/>
            <a:ext cx="17007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2 299 – 38 640   мед. 11 076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2871215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5D4B96"/>
                </a:solidFill>
                <a:latin typeface="Segoe UI"/>
              </a:rPr>
              <a:t>Янагіба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157984" y="2912363"/>
            <a:ext cx="880436" cy="9144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48656" y="2871215"/>
            <a:ext cx="4754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5D4B96"/>
                </a:solidFill>
                <a:latin typeface="Segoe UI"/>
              </a:rPr>
              <a:t>18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760720" y="2871215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7 %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488019" y="2930651"/>
            <a:ext cx="1023842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007145" y="2894075"/>
            <a:ext cx="64008" cy="123444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930384" y="2871215"/>
            <a:ext cx="17007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2 016 – 7 640   мед. 4 130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" y="3140963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E9EA6"/>
                </a:solidFill>
                <a:latin typeface="Segoe UI"/>
              </a:rPr>
              <a:t>Овочевий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157984" y="3182111"/>
            <a:ext cx="736745" cy="9144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248656" y="3140963"/>
            <a:ext cx="4754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E9EA6"/>
                </a:solidFill>
                <a:latin typeface="Segoe UI"/>
              </a:rPr>
              <a:t>15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760720" y="3140963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6 %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703146" y="3200399"/>
            <a:ext cx="1596834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122518" y="3163823"/>
            <a:ext cx="64008" cy="12344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930384" y="3140963"/>
            <a:ext cx="17007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726 – 5 799   мед. 4 799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6928" y="3410711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E9EA6"/>
                </a:solidFill>
                <a:latin typeface="Segoe UI"/>
              </a:rPr>
              <a:t>Накірі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157984" y="3451859"/>
            <a:ext cx="736745" cy="9144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248656" y="3410711"/>
            <a:ext cx="4754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E9EA6"/>
                </a:solidFill>
                <a:latin typeface="Segoe UI"/>
              </a:rPr>
              <a:t>15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760720" y="3410711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6 %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334060" y="3470147"/>
            <a:ext cx="1447362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8218724" y="3433571"/>
            <a:ext cx="64008" cy="12344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930384" y="3410711"/>
            <a:ext cx="17007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1 650 – 10 850   мед. 5 439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6928" y="3680459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717890"/>
                </a:solidFill>
                <a:latin typeface="Segoe UI"/>
              </a:rPr>
              <a:t>Слайсер / нарізка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157984" y="3721607"/>
            <a:ext cx="640950" cy="91440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248656" y="3680459"/>
            <a:ext cx="4754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717890"/>
                </a:solidFill>
                <a:latin typeface="Segoe UI"/>
              </a:rPr>
              <a:t>13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760720" y="3680459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5 %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383657" y="3739896"/>
            <a:ext cx="1635208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455225" y="3703320"/>
            <a:ext cx="64008" cy="123444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930384" y="3680459"/>
            <a:ext cx="17007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1 760 – 14 778   мед. 7 399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66928" y="3950207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5D4B96"/>
                </a:solidFill>
                <a:latin typeface="Segoe UI"/>
              </a:rPr>
              <a:t>Сашимі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157984" y="3991355"/>
            <a:ext cx="497259" cy="9144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248656" y="3950207"/>
            <a:ext cx="4754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5D4B96"/>
                </a:solidFill>
                <a:latin typeface="Segoe UI"/>
              </a:rPr>
              <a:t>10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760720" y="3950207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4 %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711098" y="4009644"/>
            <a:ext cx="705241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8089972" y="3973068"/>
            <a:ext cx="64008" cy="123444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9930384" y="3950207"/>
            <a:ext cx="17007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2 695 – 6 747   мед. 4 600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" y="4219955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5D4B96"/>
                </a:solidFill>
                <a:latin typeface="Segoe UI"/>
              </a:rPr>
              <a:t>Кіріцуке</a:t>
            </a:r>
          </a:p>
        </p:txBody>
      </p:sp>
      <p:sp>
        <p:nvSpPr>
          <p:cNvPr id="76" name="Rectangle 75"/>
          <p:cNvSpPr/>
          <p:nvPr/>
        </p:nvSpPr>
        <p:spPr>
          <a:xfrm>
            <a:off x="2157984" y="4261103"/>
            <a:ext cx="449362" cy="9144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248656" y="4219955"/>
            <a:ext cx="4754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5D4B96"/>
                </a:solidFill>
                <a:latin typeface="Segoe UI"/>
              </a:rPr>
              <a:t>9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760720" y="4219955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3 %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236035" y="4279392"/>
            <a:ext cx="735760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8541957" y="4242816"/>
            <a:ext cx="64008" cy="123444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930384" y="4219955"/>
            <a:ext cx="17007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5 336 – 13 900   мед. 8 283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66928" y="4489703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5D4B96"/>
                </a:solidFill>
                <a:latin typeface="Segoe UI"/>
              </a:rPr>
              <a:t>Деба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157984" y="4530851"/>
            <a:ext cx="401465" cy="9144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248656" y="4489703"/>
            <a:ext cx="4754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5D4B96"/>
                </a:solidFill>
                <a:latin typeface="Segoe UI"/>
              </a:rPr>
              <a:t>8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760720" y="4489703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3 %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555140" y="4549140"/>
            <a:ext cx="951675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8097122" y="4512564"/>
            <a:ext cx="64008" cy="123444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9930384" y="4489703"/>
            <a:ext cx="17007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2 200 – 7 590   мед. 4 643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66928" y="4759451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717890"/>
                </a:solidFill>
                <a:latin typeface="Segoe UI"/>
              </a:rPr>
              <a:t>Хліб</a:t>
            </a:r>
          </a:p>
        </p:txBody>
      </p:sp>
      <p:sp>
        <p:nvSpPr>
          <p:cNvPr id="90" name="Rectangle 89"/>
          <p:cNvSpPr/>
          <p:nvPr/>
        </p:nvSpPr>
        <p:spPr>
          <a:xfrm>
            <a:off x="2157984" y="4800599"/>
            <a:ext cx="257773" cy="91440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248656" y="4759451"/>
            <a:ext cx="4754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717890"/>
                </a:solidFill>
                <a:latin typeface="Segoe UI"/>
              </a:rPr>
              <a:t>5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760720" y="4759451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2 %</a:t>
            </a:r>
          </a:p>
        </p:txBody>
      </p:sp>
      <p:sp>
        <p:nvSpPr>
          <p:cNvPr id="93" name="Rectangle 92"/>
          <p:cNvSpPr/>
          <p:nvPr/>
        </p:nvSpPr>
        <p:spPr>
          <a:xfrm>
            <a:off x="8528183" y="4818888"/>
            <a:ext cx="692889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8773817" y="4782312"/>
            <a:ext cx="64008" cy="123444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9930384" y="4759451"/>
            <a:ext cx="17007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7 804 – 19 226   мед. 11 200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66928" y="5029199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FA9C4"/>
                </a:solidFill>
                <a:latin typeface="Segoe UI"/>
              </a:rPr>
              <a:t>Фунаюкі</a:t>
            </a:r>
          </a:p>
        </p:txBody>
      </p:sp>
      <p:sp>
        <p:nvSpPr>
          <p:cNvPr id="97" name="Rectangle 96"/>
          <p:cNvSpPr/>
          <p:nvPr/>
        </p:nvSpPr>
        <p:spPr>
          <a:xfrm>
            <a:off x="2157984" y="5070347"/>
            <a:ext cx="257773" cy="91440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248656" y="5029199"/>
            <a:ext cx="4754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9FA9C4"/>
                </a:solidFill>
                <a:latin typeface="Segoe UI"/>
              </a:rPr>
              <a:t>5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760720" y="5029199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2 %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7618798" y="5088636"/>
            <a:ext cx="484577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7705717" y="5052059"/>
            <a:ext cx="64008" cy="123444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9930384" y="5029199"/>
            <a:ext cx="17007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2 390 – 4 490   мед. 2 790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66928" y="5298947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FA9C4"/>
                </a:solidFill>
                <a:latin typeface="Segoe UI"/>
              </a:rPr>
              <a:t>Бунка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2157984" y="5340095"/>
            <a:ext cx="161979" cy="91440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5248656" y="5298947"/>
            <a:ext cx="4754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9FA9C4"/>
                </a:solidFill>
                <a:latin typeface="Segoe UI"/>
              </a:rPr>
              <a:t>3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60720" y="5298947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1 %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7911953" y="5358383"/>
            <a:ext cx="1199815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8130642" y="5321807"/>
            <a:ext cx="64008" cy="123444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9930384" y="5298947"/>
            <a:ext cx="17007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3 500 – 16 677   мед. 4 850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66928" y="5568695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FA9C4"/>
                </a:solidFill>
                <a:latin typeface="Segoe UI"/>
              </a:rPr>
              <a:t>Усуба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2157984" y="5609843"/>
            <a:ext cx="66185" cy="91440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248656" y="5568695"/>
            <a:ext cx="4754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9FA9C4"/>
                </a:solidFill>
                <a:latin typeface="Segoe UI"/>
              </a:rPr>
              <a:t>1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5760720" y="5568695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0 %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8216638" y="5628131"/>
            <a:ext cx="36576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8184634" y="5591555"/>
            <a:ext cx="64008" cy="123444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9930384" y="5568695"/>
            <a:ext cx="17007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5 203 – 5 203   мед. 5 203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6949220" y="1755648"/>
            <a:ext cx="5486" cy="4046219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766340" y="5856731"/>
            <a:ext cx="36576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9FA9C4"/>
                </a:solidFill>
                <a:latin typeface="Segoe UI"/>
              </a:rPr>
              <a:t>1k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7793490" y="1755648"/>
            <a:ext cx="5486" cy="4046219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7610610" y="5856731"/>
            <a:ext cx="36576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9FA9C4"/>
                </a:solidFill>
                <a:latin typeface="Segoe UI"/>
              </a:rPr>
              <a:t>3k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8718729" y="1755648"/>
            <a:ext cx="5486" cy="4046219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8535849" y="5856731"/>
            <a:ext cx="36576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9FA9C4"/>
                </a:solidFill>
                <a:latin typeface="Segoe UI"/>
              </a:rPr>
              <a:t>10k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9562999" y="1755648"/>
            <a:ext cx="5486" cy="4046219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9380119" y="5856731"/>
            <a:ext cx="36576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9FA9C4"/>
                </a:solidFill>
                <a:latin typeface="Segoe UI"/>
              </a:rPr>
              <a:t>30k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566928" y="5888736"/>
            <a:ext cx="5413248" cy="8517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566928" y="5888736"/>
            <a:ext cx="36576" cy="85171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804672" y="6044184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ЩО ЦЕ ОЗНАЧАЄ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" y="6272784"/>
            <a:ext cx="49377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Шеф, петті й сантоку — 116 позицій із 260, 45 % асортименту.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Решта п'ятнадцять типів ділять другу половину.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6217920" y="5888736"/>
            <a:ext cx="5413248" cy="8517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6217920" y="5888736"/>
            <a:ext cx="36576" cy="85171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455664" y="6044184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5D4B96"/>
                </a:solidFill>
                <a:latin typeface="Segoe UI"/>
              </a:rPr>
              <a:t>ОДНОСТОРОННІ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455664" y="6272784"/>
            <a:ext cx="49377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Янагіба, сашимі, деба, усуба — 33 позиції, 13 %.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Це весь професійний суші-інструмент країни.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ЩО ПРЕДСТАВЛЕНО · ЦІНА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Ринок зібраний у коридорі 2 500 – 10 000 грн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Розподіл 260 позицій за ціною. Це розподіл асортименту, а не продажів: дорогі позиції стоять у каталозі довше за дешеві.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РОЗПОДІЛ ПОЗИЦІЙ ЗА ЦІНОЮ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4774803"/>
            <a:ext cx="746760" cy="126380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591923"/>
            <a:ext cx="929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717890"/>
                </a:solidFill>
                <a:latin typeface="Segoe UI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974336"/>
            <a:ext cx="929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до 1 000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266944"/>
            <a:ext cx="929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717890"/>
                </a:solidFill>
                <a:latin typeface="Segoe UI"/>
              </a:rPr>
              <a:t>2 %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44040" y="3890140"/>
            <a:ext cx="746760" cy="1011043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752599" y="3707260"/>
            <a:ext cx="929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C4820A"/>
                </a:solidFill>
                <a:latin typeface="Segoe UI"/>
              </a:rPr>
              <a:t>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52599" y="4974336"/>
            <a:ext cx="929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1 000–
2 499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52599" y="5266944"/>
            <a:ext cx="929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717890"/>
                </a:solidFill>
                <a:latin typeface="Segoe UI"/>
              </a:rPr>
              <a:t>13 %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73680" y="2803267"/>
            <a:ext cx="746760" cy="209791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682240" y="2620387"/>
            <a:ext cx="929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1E9EA6"/>
                </a:solidFill>
                <a:latin typeface="Segoe UI"/>
              </a:rPr>
              <a:t>83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82240" y="4974336"/>
            <a:ext cx="929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2 500–
4 999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82240" y="5266944"/>
            <a:ext cx="929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717890"/>
                </a:solidFill>
                <a:latin typeface="Segoe UI"/>
              </a:rPr>
              <a:t>28 %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703320" y="1792223"/>
            <a:ext cx="746760" cy="310896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11879" y="1609343"/>
            <a:ext cx="929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5D4B96"/>
                </a:solidFill>
                <a:latin typeface="Segoe UI"/>
              </a:rPr>
              <a:t>123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11879" y="4974336"/>
            <a:ext cx="929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5 000–
9 999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11879" y="5266944"/>
            <a:ext cx="929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717890"/>
                </a:solidFill>
                <a:latin typeface="Segoe UI"/>
              </a:rPr>
              <a:t>41 %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32960" y="3915416"/>
            <a:ext cx="746760" cy="985767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41520" y="3732536"/>
            <a:ext cx="929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C94F7C"/>
                </a:solidFill>
                <a:latin typeface="Segoe UI"/>
              </a:rPr>
              <a:t>39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41520" y="4974336"/>
            <a:ext cx="929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10 000–
19 999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41520" y="5266944"/>
            <a:ext cx="929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717890"/>
                </a:solidFill>
                <a:latin typeface="Segoe UI"/>
              </a:rPr>
              <a:t>13 %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562600" y="4648423"/>
            <a:ext cx="746760" cy="25276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71160" y="4465543"/>
            <a:ext cx="929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C03B4B"/>
                </a:solidFill>
                <a:latin typeface="Segoe UI"/>
              </a:rPr>
              <a:t>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71160" y="4974336"/>
            <a:ext cx="929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20 000 +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71160" y="5266944"/>
            <a:ext cx="929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717890"/>
                </a:solidFill>
                <a:latin typeface="Segoe UI"/>
              </a:rPr>
              <a:t>3 %</a:t>
            </a:r>
          </a:p>
        </p:txBody>
      </p:sp>
      <p:sp>
        <p:nvSpPr>
          <p:cNvPr id="35" name="Oval 34"/>
          <p:cNvSpPr/>
          <p:nvPr/>
        </p:nvSpPr>
        <p:spPr>
          <a:xfrm>
            <a:off x="1242059" y="4803648"/>
            <a:ext cx="91440" cy="91440"/>
          </a:xfrm>
          <a:prstGeom prst="ellipse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76883" y="4629911"/>
            <a:ext cx="62179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1C2235"/>
                </a:solidFill>
                <a:latin typeface="Segoe UI"/>
              </a:rPr>
              <a:t>2 %</a:t>
            </a:r>
          </a:p>
        </p:txBody>
      </p:sp>
      <p:sp>
        <p:nvSpPr>
          <p:cNvPr id="37" name="Oval 36"/>
          <p:cNvSpPr/>
          <p:nvPr/>
        </p:nvSpPr>
        <p:spPr>
          <a:xfrm>
            <a:off x="2171700" y="4389120"/>
            <a:ext cx="91440" cy="91440"/>
          </a:xfrm>
          <a:prstGeom prst="ellipse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287780" y="4849367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354182" y="4819758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420585" y="4790149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486988" y="4760540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553391" y="4730931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619794" y="4701322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686197" y="4671713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752599" y="4642104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819002" y="4612494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885405" y="4582885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951808" y="4553276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018211" y="4523667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084614" y="4494058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151017" y="4464449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906524" y="4215383"/>
            <a:ext cx="62179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1C2235"/>
                </a:solidFill>
                <a:latin typeface="Segoe UI"/>
              </a:rPr>
              <a:t>15 %</a:t>
            </a:r>
          </a:p>
        </p:txBody>
      </p:sp>
      <p:sp>
        <p:nvSpPr>
          <p:cNvPr id="53" name="Oval 52"/>
          <p:cNvSpPr/>
          <p:nvPr/>
        </p:nvSpPr>
        <p:spPr>
          <a:xfrm>
            <a:off x="3101340" y="3528974"/>
            <a:ext cx="91440" cy="91440"/>
          </a:xfrm>
          <a:prstGeom prst="ellipse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217420" y="4434840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283822" y="4373401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2350225" y="4311962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416628" y="4250523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483031" y="4189084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549434" y="4127645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2615837" y="4066206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682240" y="4004767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748642" y="3943328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2815045" y="3881889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2881448" y="3820450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2947851" y="3759011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3014254" y="3697572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080657" y="3636133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836164" y="3355238"/>
            <a:ext cx="62179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1C2235"/>
                </a:solidFill>
                <a:latin typeface="Segoe UI"/>
              </a:rPr>
              <a:t>43 %</a:t>
            </a:r>
          </a:p>
        </p:txBody>
      </p:sp>
      <p:sp>
        <p:nvSpPr>
          <p:cNvPr id="69" name="Oval 68"/>
          <p:cNvSpPr/>
          <p:nvPr/>
        </p:nvSpPr>
        <p:spPr>
          <a:xfrm>
            <a:off x="4030980" y="2254300"/>
            <a:ext cx="91440" cy="91440"/>
          </a:xfrm>
          <a:prstGeom prst="ellipse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147060" y="3574694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213462" y="3483646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3279865" y="3392598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3346268" y="3301550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412671" y="3210501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479074" y="3119453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545477" y="3028405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611879" y="2937357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678282" y="2846309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3744685" y="2755261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3811088" y="2664213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3877491" y="2573165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3943894" y="2482117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010297" y="2391068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765804" y="2080564"/>
            <a:ext cx="62179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1C2235"/>
                </a:solidFill>
                <a:latin typeface="Segoe UI"/>
              </a:rPr>
              <a:t>84 %</a:t>
            </a:r>
          </a:p>
        </p:txBody>
      </p:sp>
      <p:sp>
        <p:nvSpPr>
          <p:cNvPr id="85" name="Oval 84"/>
          <p:cNvSpPr/>
          <p:nvPr/>
        </p:nvSpPr>
        <p:spPr>
          <a:xfrm>
            <a:off x="4960620" y="1850136"/>
            <a:ext cx="91440" cy="91440"/>
          </a:xfrm>
          <a:prstGeom prst="ellipse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4076699" y="2300020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4143102" y="2271151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4209505" y="2242282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4275908" y="2213414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4342311" y="2184545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4408714" y="2155676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475117" y="2126807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4541520" y="2097938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4607922" y="2069069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674325" y="2040200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4740728" y="2011331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4807131" y="1982462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4873534" y="1953593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4939937" y="1924724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4695444" y="1676400"/>
            <a:ext cx="62179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1C2235"/>
                </a:solidFill>
                <a:latin typeface="Segoe UI"/>
              </a:rPr>
              <a:t>97 %</a:t>
            </a:r>
          </a:p>
        </p:txBody>
      </p:sp>
      <p:sp>
        <p:nvSpPr>
          <p:cNvPr id="101" name="Oval 100"/>
          <p:cNvSpPr/>
          <p:nvPr/>
        </p:nvSpPr>
        <p:spPr>
          <a:xfrm>
            <a:off x="5890260" y="1746504"/>
            <a:ext cx="91440" cy="91440"/>
          </a:xfrm>
          <a:prstGeom prst="ellipse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5006340" y="1895856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5072742" y="1888453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5139145" y="1881051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5205548" y="1873649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5271951" y="1866246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5338354" y="1858844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5404757" y="1851442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5471160" y="1844040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5537562" y="1836637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603965" y="1829235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5670368" y="1821833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5736771" y="1814430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5803174" y="1807028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5869577" y="1799626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5625084" y="1572768"/>
            <a:ext cx="62179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1C2235"/>
                </a:solidFill>
                <a:latin typeface="Segoe UI"/>
              </a:rPr>
              <a:t>100 %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66928" y="5468112"/>
            <a:ext cx="5852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9FA9C4"/>
                </a:solidFill>
                <a:latin typeface="Segoe UI"/>
              </a:rPr>
              <a:t>Чорна лінія — накопичена частка позицій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6675120" y="1792224"/>
            <a:ext cx="4956048" cy="93268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876288" y="1920240"/>
            <a:ext cx="455371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ПОЗИЦІЙ У ВИБІРЦІ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76288" y="2103120"/>
            <a:ext cx="23774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C4820A"/>
                </a:solidFill>
                <a:latin typeface="Segoe UI"/>
              </a:rPr>
              <a:t>300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876288" y="2468880"/>
            <a:ext cx="4553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карток із фото, моделлю і ціною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6675120" y="2816352"/>
            <a:ext cx="4956048" cy="93268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6876288" y="2944368"/>
            <a:ext cx="455371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МЕДІАНА КАТАЛОГУ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876288" y="3127248"/>
            <a:ext cx="23774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1E9EA6"/>
                </a:solidFill>
                <a:latin typeface="Segoe UI"/>
              </a:rPr>
              <a:t>5 899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6876288" y="3493008"/>
            <a:ext cx="4553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грн. Половина ножів дорожча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6675120" y="3840480"/>
            <a:ext cx="4956048" cy="93268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6876288" y="3968496"/>
            <a:ext cx="455371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ЯДРО РИНКУ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76288" y="4151376"/>
            <a:ext cx="23774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5D4B96"/>
                </a:solidFill>
                <a:latin typeface="Segoe UI"/>
              </a:rPr>
              <a:t>69 %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876288" y="4517136"/>
            <a:ext cx="4553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позицій у коридорі 2 500 – 10 000 грн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6675120" y="4864608"/>
            <a:ext cx="4956048" cy="93268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876288" y="4992624"/>
            <a:ext cx="455371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ДЕШЕВШЕ 2 500 ГРН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876288" y="5175504"/>
            <a:ext cx="23774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C03B4B"/>
                </a:solidFill>
                <a:latin typeface="Segoe UI"/>
              </a:rPr>
              <a:t>14 %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876288" y="5541264"/>
            <a:ext cx="4553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Справжньої Японії нижче майже немає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566928" y="5980176"/>
            <a:ext cx="11064240" cy="69103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566928" y="5980176"/>
            <a:ext cx="36576" cy="69103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804672" y="6135624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ЧОМУ ЦЕ ВАЖЛИВО ДЛЯ ВХОДУ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04672" y="6364224"/>
            <a:ext cx="10588752" cy="160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Асортимент зібраний там, де масовий покупець уже не ходить, а ентузіаст ще не платить премію: 2 500 – 10 000 грн. Нижче 2 500 грн справжньої Японії майже немає — і саме там лежить обсяг ринку.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ЦІНОВИЙ КОРИДОР БРЕНДІВ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Де кожен бренд стоїть на ціновій шкалі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Смуга — спостережений діапазон цін бренду в каталогах, крапка — медіана. Логарифмічна шкала. Лише бренди, де зібрано не менше двох позицій.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33862" y="1755648"/>
            <a:ext cx="5486" cy="4023360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86390" y="1572768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1 000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90705" y="1755648"/>
            <a:ext cx="5486" cy="4023360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43233" y="1572768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2 500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44059" y="1755648"/>
            <a:ext cx="5486" cy="4023360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96587" y="1572768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5 000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97412" y="1755648"/>
            <a:ext cx="5486" cy="4023360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49940" y="1572768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10 000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50766" y="1755648"/>
            <a:ext cx="5486" cy="4023360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294" y="1572768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20 000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104120" y="1755648"/>
            <a:ext cx="5486" cy="4023360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56648" y="1572768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40 000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1810512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Seki Kanetsugu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57984" y="1810512"/>
            <a:ext cx="5120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n=15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15689" y="1869948"/>
            <a:ext cx="4777173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415689" y="1869948"/>
            <a:ext cx="4777173" cy="5029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450052" y="1824228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41280" y="1810512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990 – 13 900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2052828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E9EA6"/>
                </a:solidFill>
                <a:latin typeface="Segoe UI"/>
              </a:rPr>
              <a:t>Satake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57984" y="2052828"/>
            <a:ext cx="5120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85007" y="2112264"/>
            <a:ext cx="1794080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85007" y="2112264"/>
            <a:ext cx="1794080" cy="50292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738001" y="2066544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241280" y="2052828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1 149 – 3 099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2295144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5D4B96"/>
                </a:solidFill>
                <a:latin typeface="Segoe UI"/>
              </a:rPr>
              <a:t>Takanori Izumi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57984" y="2295144"/>
            <a:ext cx="5120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669042" y="2354580"/>
            <a:ext cx="798925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669042" y="2354580"/>
            <a:ext cx="798925" cy="5029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152655" y="2308860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41280" y="2295144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1 980 – 3 080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2537460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5D4B96"/>
                </a:solidFill>
                <a:latin typeface="Segoe UI"/>
              </a:rPr>
              <a:t>Motokane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157984" y="2537460"/>
            <a:ext cx="5120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n=3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859556" y="2596896"/>
            <a:ext cx="2166315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859556" y="2596896"/>
            <a:ext cx="2166315" cy="5029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189939" y="2551176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241280" y="2537460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2 200 – 7 290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" y="2779776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E9EA6"/>
                </a:solidFill>
                <a:latin typeface="Segoe UI"/>
              </a:rPr>
              <a:t>Hanakumagawa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157984" y="2779776"/>
            <a:ext cx="5120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n=5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09340" y="2839212"/>
            <a:ext cx="330935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09340" y="2839212"/>
            <a:ext cx="330935" cy="50292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252581" y="2793492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241280" y="2779776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2 390 – 2 870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928" y="3022092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03B4B"/>
                </a:solidFill>
                <a:latin typeface="Segoe UI"/>
              </a:rPr>
              <a:t>Samura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157984" y="3022092"/>
            <a:ext cx="5120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n=40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072815" y="3081528"/>
            <a:ext cx="5171220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3072815" y="3081528"/>
            <a:ext cx="5171220" cy="50292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258405" y="3035808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241280" y="3022092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819 – 14 299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" y="3264408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E9EA6"/>
                </a:solidFill>
                <a:latin typeface="Segoe UI"/>
              </a:rPr>
              <a:t>Masahiro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157984" y="3264408"/>
            <a:ext cx="5120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n=11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16890" y="3323844"/>
            <a:ext cx="1804912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016890" y="3323844"/>
            <a:ext cx="1804912" cy="50292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662540" y="3278124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241280" y="3264408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2 400 – 6 512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66928" y="3506724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5D4B96"/>
                </a:solidFill>
                <a:latin typeface="Segoe UI"/>
              </a:rPr>
              <a:t>Tomita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157984" y="3506724"/>
            <a:ext cx="5120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n=4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545535" y="3566160"/>
            <a:ext cx="1300538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545535" y="3566160"/>
            <a:ext cx="1300538" cy="5029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060649" y="3520440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241280" y="3506724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3 215 – 6 600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6928" y="3749040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5D4B96"/>
                </a:solidFill>
                <a:latin typeface="Segoe UI"/>
              </a:rPr>
              <a:t>Fukamizu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157984" y="3749040"/>
            <a:ext cx="5120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n=3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679899" y="3808476"/>
            <a:ext cx="609082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5679899" y="3808476"/>
            <a:ext cx="609082" cy="5029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097172" y="3762756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241280" y="3749040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3 463 – 4 850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66928" y="3991356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5D4B96"/>
                </a:solidFill>
                <a:latin typeface="Segoe UI"/>
              </a:rPr>
              <a:t>Misono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157984" y="3991356"/>
            <a:ext cx="5120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n=2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382679" y="4050792"/>
            <a:ext cx="1957759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4382679" y="4050792"/>
            <a:ext cx="1957759" cy="5029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303863" y="4005072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0241280" y="3991356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1 690 – 4 990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66928" y="4233672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Tosa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157984" y="4233672"/>
            <a:ext cx="5120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n=22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554512" y="4293108"/>
            <a:ext cx="2049218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5554512" y="4293108"/>
            <a:ext cx="2049218" cy="5029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6421354" y="4247388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241280" y="4233672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3 231 – 10 035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66928" y="4475988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HONMAMON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157984" y="4475988"/>
            <a:ext cx="5120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n=24</a:t>
            </a:r>
          </a:p>
        </p:txBody>
      </p:sp>
      <p:sp>
        <p:nvSpPr>
          <p:cNvPr id="90" name="Rectangle 89"/>
          <p:cNvSpPr/>
          <p:nvPr/>
        </p:nvSpPr>
        <p:spPr>
          <a:xfrm>
            <a:off x="4339367" y="4535424"/>
            <a:ext cx="4840320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4339367" y="4535424"/>
            <a:ext cx="4840320" cy="5029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6634142" y="4489704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241280" y="4475988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1 650 – 23 990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66928" y="4718304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Tojiro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157984" y="4718304"/>
            <a:ext cx="5120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n=39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490720" y="4777740"/>
            <a:ext cx="3012088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5490720" y="4777740"/>
            <a:ext cx="3012088" cy="5029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6725093" y="4732020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241280" y="4718304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3 119 – 16 499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66928" y="4960620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Kasumi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157984" y="4960620"/>
            <a:ext cx="5120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n=19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4679060" y="5020055"/>
            <a:ext cx="2727637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4679060" y="5020055"/>
            <a:ext cx="2727637" cy="5029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6889614" y="4974336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0241280" y="4960620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1 991 – 8 999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66928" y="5202936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5D4B96"/>
                </a:solidFill>
                <a:latin typeface="Segoe UI"/>
              </a:rPr>
              <a:t>Sakai Takayuki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157984" y="5202936"/>
            <a:ext cx="5120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n=2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067554" y="5262371"/>
            <a:ext cx="45720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7067554" y="5262371"/>
            <a:ext cx="45720" cy="5029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7074090" y="5216651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10241280" y="5202936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7 460 – 7 640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66928" y="5445251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Yaxell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157984" y="5445251"/>
            <a:ext cx="5120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n=37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6215556" y="5504687"/>
            <a:ext cx="3826015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6215556" y="5504687"/>
            <a:ext cx="3826015" cy="5029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7112494" y="5458967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10241280" y="5445251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4 657 – 38 640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" y="5687567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E9EA6"/>
                </a:solidFill>
                <a:latin typeface="Segoe UI"/>
              </a:rPr>
              <a:t>Takamura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2157984" y="5687567"/>
            <a:ext cx="5120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n=9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6456231" y="5747003"/>
            <a:ext cx="1469348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6456231" y="5747003"/>
            <a:ext cx="1469348" cy="50292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7245569" y="5701283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10241280" y="5687567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5 320 – 11 990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566928" y="5929883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KAI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157984" y="5929883"/>
            <a:ext cx="5120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n=40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2854864" y="5989319"/>
            <a:ext cx="6602374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2854864" y="5989319"/>
            <a:ext cx="6602374" cy="5029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7290219" y="5943599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10241280" y="5929883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726 – 27 970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566928" y="6172199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5D4B96"/>
                </a:solidFill>
                <a:latin typeface="Segoe UI"/>
              </a:rPr>
              <a:t>Harukaze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2157984" y="6172199"/>
            <a:ext cx="5120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n=2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8849862" y="6231635"/>
            <a:ext cx="542885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8849862" y="6231635"/>
            <a:ext cx="542885" cy="5029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9356171" y="6185915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10241280" y="6172199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19 990 – 26 990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566928" y="5943600"/>
            <a:ext cx="5413248" cy="844905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566928" y="5943600"/>
            <a:ext cx="36576" cy="844905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804672" y="6099048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ХТО ДЕ СТОЇТЬ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804672" y="6327648"/>
            <a:ext cx="4937760" cy="314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Медіану нижче 2 500 грн мають лише Seki Kanetsugu, Satake, Takanori Izumi,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Hanakumagawa — і Samura. Найвищі медіани: KAI, Takamura, Yaxell.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6217920" y="5943600"/>
            <a:ext cx="5413248" cy="844905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217920" y="5943600"/>
            <a:ext cx="36576" cy="844905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455664" y="6099048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ПЕРЕКРИТТЯ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455664" y="6327648"/>
            <a:ext cx="4937760" cy="314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Коридор Samura (819 – 14 299 грн) перекриває майже всю шкалу і перетинається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з Tosa, Tojiro і Kasumi. Китайський бренд стоїть за ті самі гроші, що й Японія.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ДЕ КОНЦЕНТРУЄТЬСЯ АСОРТИМЕНТ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Матриця: тип леза проти ціни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Кожна клітинка — скільки позицій у каталогах припадає на цей тип у цьому ціновому діапазоні. Темніше — густіше.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1700784"/>
            <a:ext cx="138988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до 1 000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24528" y="1700784"/>
            <a:ext cx="138988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1 000–
2 499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14416" y="1700784"/>
            <a:ext cx="138988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2 500–
4 999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04304" y="1700784"/>
            <a:ext cx="138988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5 000–
9 999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94192" y="1700784"/>
            <a:ext cx="138988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10 000–
19 999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1700784"/>
            <a:ext cx="138988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20 000 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2112264"/>
            <a:ext cx="21579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Шеф / гюто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871216" y="203911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261104" y="203911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A0A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24528" y="211226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10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50992" y="203911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9097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14416" y="211226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Segoe UI"/>
              </a:rPr>
              <a:t>12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040880" y="203911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04304" y="211226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Segoe UI"/>
              </a:rPr>
              <a:t>24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30767" y="203911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787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94192" y="211226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Segoe UI"/>
              </a:rPr>
              <a:t>15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820655" y="203911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E0E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84080" y="211226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10544" y="2112264"/>
            <a:ext cx="4206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63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2478024"/>
            <a:ext cx="21579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Петті / універсальний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871216" y="240487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E0E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834640" y="247802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2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61104" y="240487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A8AE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224528" y="247802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9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50992" y="240487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A8AE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14416" y="247802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9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040880" y="240487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888F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004304" y="247802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Segoe UI"/>
              </a:rPr>
              <a:t>13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430767" y="240487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D8D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94192" y="247802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3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820655" y="240487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210544" y="2478024"/>
            <a:ext cx="4206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36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2843784"/>
            <a:ext cx="21579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Сантоку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871216" y="277063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261104" y="277063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E0E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24528" y="284378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2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650992" y="277063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A0A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614416" y="284378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10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040880" y="277063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5860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004304" y="284378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Segoe UI"/>
              </a:rPr>
              <a:t>19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430767" y="277063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C8C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394192" y="284378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5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820655" y="277063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1210544" y="2843784"/>
            <a:ext cx="4206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36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6928" y="3209544"/>
            <a:ext cx="21579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Набір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2871216" y="313639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4261104" y="313639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E8EC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224528" y="320954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650992" y="313639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B8B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614416" y="320954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7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040880" y="313639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C0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004304" y="320954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6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430767" y="313639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B8B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394192" y="320954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7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820655" y="313639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B0B6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784080" y="320954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210544" y="3209544"/>
            <a:ext cx="4206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29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" y="3575304"/>
            <a:ext cx="21579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Янагіба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871216" y="350215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4261104" y="350215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E8EC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224528" y="357530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5650992" y="350215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989E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614416" y="357530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Segoe UI"/>
              </a:rPr>
              <a:t>11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7040880" y="350215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C0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004304" y="357530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6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8430767" y="350215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9820655" y="350215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1210544" y="3575304"/>
            <a:ext cx="4206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18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66928" y="3941064"/>
            <a:ext cx="21579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Накірі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2871216" y="386791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4261104" y="386791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D8D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224528" y="394106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3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5650992" y="386791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D8D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614416" y="394106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3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7040880" y="386791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B0B6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004304" y="394106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8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8430767" y="386791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E8EC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394192" y="394106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9820655" y="386791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1210544" y="3941064"/>
            <a:ext cx="4206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15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66928" y="4306824"/>
            <a:ext cx="21579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Овочевий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2871216" y="423367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D8D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834640" y="430682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3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4261104" y="423367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D8D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224528" y="430682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3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5650992" y="423367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D8D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614416" y="430682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3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7040880" y="423367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C0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7004304" y="430682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6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8430767" y="423367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ounded Rectangle 99"/>
          <p:cNvSpPr/>
          <p:nvPr/>
        </p:nvSpPr>
        <p:spPr>
          <a:xfrm>
            <a:off x="9820655" y="423367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1210544" y="4306824"/>
            <a:ext cx="4206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66928" y="4672584"/>
            <a:ext cx="21579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Слайсер / нарізка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2871216" y="459943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ounded Rectangle 103"/>
          <p:cNvSpPr/>
          <p:nvPr/>
        </p:nvSpPr>
        <p:spPr>
          <a:xfrm>
            <a:off x="4261104" y="459943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E8EC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224528" y="467258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5650992" y="459943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E8EC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614416" y="467258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7040880" y="459943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A0A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004304" y="467258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10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8430767" y="459943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E8EC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394192" y="467258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9820655" y="459943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11210544" y="4672584"/>
            <a:ext cx="4206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13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566928" y="5038344"/>
            <a:ext cx="21579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Кіріцуке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2871216" y="496519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ounded Rectangle 115"/>
          <p:cNvSpPr/>
          <p:nvPr/>
        </p:nvSpPr>
        <p:spPr>
          <a:xfrm>
            <a:off x="4261104" y="496519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ounded Rectangle 116"/>
          <p:cNvSpPr/>
          <p:nvPr/>
        </p:nvSpPr>
        <p:spPr>
          <a:xfrm>
            <a:off x="5650992" y="496519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ounded Rectangle 117"/>
          <p:cNvSpPr/>
          <p:nvPr/>
        </p:nvSpPr>
        <p:spPr>
          <a:xfrm>
            <a:off x="7040880" y="496519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B8B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7004304" y="503834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7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8430767" y="496519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E0E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8394192" y="503834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2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9820655" y="496519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11210544" y="5038344"/>
            <a:ext cx="4206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9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566928" y="5404104"/>
            <a:ext cx="21579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Деба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2871216" y="533095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ounded Rectangle 125"/>
          <p:cNvSpPr/>
          <p:nvPr/>
        </p:nvSpPr>
        <p:spPr>
          <a:xfrm>
            <a:off x="4261104" y="533095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E8EC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4224528" y="540410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5650992" y="533095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D0D5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5614416" y="540410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4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7040880" y="533095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D8D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7004304" y="540410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3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8430767" y="533095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ounded Rectangle 132"/>
          <p:cNvSpPr/>
          <p:nvPr/>
        </p:nvSpPr>
        <p:spPr>
          <a:xfrm>
            <a:off x="9820655" y="533095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11210544" y="5404104"/>
            <a:ext cx="4206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1210544" y="1810512"/>
            <a:ext cx="42062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717890"/>
                </a:solidFill>
                <a:latin typeface="Segoe UI"/>
              </a:rPr>
              <a:t>УСЬОГО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566928" y="5852160"/>
            <a:ext cx="5413248" cy="844905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566928" y="5852160"/>
            <a:ext cx="36576" cy="844905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804672" y="6007608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ДЕ ГУСТО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804672" y="6236208"/>
            <a:ext cx="4937760" cy="314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Шеф-ніж за 5 000 – 10 000 грн — найщільніша клітинка ринку.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Сантоку й петті концентруються там само.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6217920" y="5852160"/>
            <a:ext cx="5413248" cy="844905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217920" y="5852160"/>
            <a:ext cx="36576" cy="844905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455664" y="6007608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ДЕ ПОРОЖНЬО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455664" y="6236208"/>
            <a:ext cx="4937760" cy="314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Уся ліва колонка: до 1 000 грн справжньої Японії немає взагалі.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Односторонні ножі не опускаються нижче 2 500 грн.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ВИЗНАЧЕННЯ КАТЕГОРІЇ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FFFFFF"/>
                </a:solidFill>
                <a:latin typeface="Segoe UI"/>
              </a:rPr>
              <a:t>Три різні «японські ножі», які відрізняються у 15 разів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Перед тим як рахувати ринок, треба домовитись, що саме ми рахуємо. Від визначення залежить і розмір, і стратегія.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36192"/>
            <a:ext cx="3547872" cy="316382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36192"/>
            <a:ext cx="3547872" cy="4572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8096" y="1719072"/>
            <a:ext cx="292608" cy="237744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1778507"/>
            <a:ext cx="2926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FFFFFF"/>
                </a:solidFill>
                <a:latin typeface="Segoe UI"/>
              </a:rPr>
              <a:t>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2144" y="1755648"/>
            <a:ext cx="2743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C2235"/>
                </a:solidFill>
                <a:latin typeface="Segoe UI"/>
              </a:rPr>
              <a:t>ЗРОБЛЕНО В ЯПОНІЇ</a:t>
            </a:r>
          </a:p>
        </p:txBody>
      </p:sp>
      <p:pic>
        <p:nvPicPr>
          <p:cNvPr id="15" name="Picture 14" descr="p_52ed752ac25240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" y="2011680"/>
            <a:ext cx="3145536" cy="7863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8096" y="2852928"/>
            <a:ext cx="1920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1E9EA6"/>
                </a:solidFill>
                <a:latin typeface="Segoe UI"/>
              </a:rPr>
              <a:t>₴16–19 млн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88336" y="2926080"/>
            <a:ext cx="12252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717890"/>
                </a:solidFill>
                <a:latin typeface="Segoe UI"/>
              </a:rPr>
              <a:t>≈ 3 700 шт/рік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8096" y="3182112"/>
            <a:ext cx="314553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3291840"/>
            <a:ext cx="3145536" cy="1042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Країна походження — Японія, підтверджена митним кодом.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Yaxell, KAI Shun, Kasumi, Tojiro, Satake,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Suncraft, Kanetsugu, Miyabi, Sakai Takayuki.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Джерело: митна статистика 8211 92, Японія, 2024.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8096" y="4315968"/>
            <a:ext cx="314553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8096" y="4425696"/>
            <a:ext cx="314553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2 % ринку в грошах, 0,15 % у штуках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70248" y="1536192"/>
            <a:ext cx="3547872" cy="316382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70248" y="1536192"/>
            <a:ext cx="3547872" cy="4572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471416" y="1719072"/>
            <a:ext cx="292608" cy="237744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71416" y="1778507"/>
            <a:ext cx="2926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FFFFFF"/>
                </a:solidFill>
                <a:latin typeface="Segoe UI"/>
              </a:rPr>
              <a:t>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55464" y="1755648"/>
            <a:ext cx="2743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C2235"/>
                </a:solidFill>
                <a:latin typeface="Segoe UI"/>
              </a:rPr>
              <a:t>ЯПОНСЬКИЙ БРЕНД</a:t>
            </a:r>
          </a:p>
        </p:txBody>
      </p:sp>
      <p:pic>
        <p:nvPicPr>
          <p:cNvPr id="27" name="Picture 26" descr="p_b9e6dbc59ad140f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1416" y="2011680"/>
            <a:ext cx="3145536" cy="786384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4471416" y="2852928"/>
            <a:ext cx="1920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5D4B96"/>
                </a:solidFill>
                <a:latin typeface="Segoe UI"/>
              </a:rPr>
              <a:t>₴150–230 млн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91656" y="2926080"/>
            <a:ext cx="12252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717890"/>
                </a:solidFill>
                <a:latin typeface="Segoe UI"/>
              </a:rPr>
              <a:t>≈ 120–200 тис. шт/рік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471416" y="3182112"/>
            <a:ext cx="314553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71416" y="3291840"/>
            <a:ext cx="3145536" cy="1042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Бренд подається як японський, виробництво — інше.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Samura (Китай), Sekiryu, Satori, Takagi,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плюс безіменні «японські» пропозиції.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Джерело: SKU-аудит Епіцентр, Rozetka, Prom, ProfiMax.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471416" y="4315968"/>
            <a:ext cx="314553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71416" y="4425696"/>
            <a:ext cx="314553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17–25 % ринку в грошах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73567" y="1536192"/>
            <a:ext cx="3547872" cy="316382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973567" y="1536192"/>
            <a:ext cx="3547872" cy="4572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174736" y="1719072"/>
            <a:ext cx="292608" cy="237744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174736" y="1778507"/>
            <a:ext cx="2926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FFFFFF"/>
                </a:solidFill>
                <a:latin typeface="Segoe UI"/>
              </a:rPr>
              <a:t>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58784" y="1755648"/>
            <a:ext cx="2743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C2235"/>
                </a:solidFill>
                <a:latin typeface="Segoe UI"/>
              </a:rPr>
              <a:t>ЯПОНСЬКА ФОРМА</a:t>
            </a:r>
          </a:p>
        </p:txBody>
      </p:sp>
      <p:pic>
        <p:nvPicPr>
          <p:cNvPr id="39" name="Picture 38" descr="p_42251fe95197c2b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74736" y="2011680"/>
            <a:ext cx="3145536" cy="786384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8174736" y="2852928"/>
            <a:ext cx="1920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F9A50B"/>
                </a:solidFill>
                <a:latin typeface="Segoe UI"/>
              </a:rPr>
              <a:t>₴140–260 млн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94976" y="2926080"/>
            <a:ext cx="12252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717890"/>
                </a:solidFill>
                <a:latin typeface="Segoe UI"/>
              </a:rPr>
              <a:t>≈ 400–700 тис. шт/рік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174736" y="3182112"/>
            <a:ext cx="314553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174736" y="3291840"/>
            <a:ext cx="3145536" cy="1042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Сантоку / накірі / гюто будь-якого походження.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Fissman, Krauff, Ardesto, Vinzer, Maestro,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DICK, ICEL, Hendi, Tramontina, Victorinox.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Джерело: фільтр «японський ніж (сантоку)» в роздробі.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174736" y="4315968"/>
            <a:ext cx="314553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174736" y="4425696"/>
            <a:ext cx="314553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Сантоку став другим ножем у масовій рознічі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66928" y="4846320"/>
            <a:ext cx="5532120" cy="138988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66928" y="4846320"/>
            <a:ext cx="36576" cy="138988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04672" y="5001768"/>
            <a:ext cx="505663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ЧОМУ ЦЕ НАЙВАЖЛИВІШИЙ СЛАЙД У КОЛОДІ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4672" y="5230368"/>
            <a:ext cx="5056631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Питання «який обсяг ринку японських ножів» не має однієї відповіді.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Різниця між визначенням A і B — 12 разів у грошах і 40 разів у штуках.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Постачальник із Секі і постачальник із Янцзяна конкурують у різних всесвітах,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хоча на полиці Епіцентру стоять поруч і обидва підписані «японський ніж».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217920" y="4846320"/>
            <a:ext cx="5413248" cy="138988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217920" y="4846320"/>
            <a:ext cx="36576" cy="1389888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55664" y="5001768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9FA9C4"/>
                </a:solidFill>
                <a:latin typeface="Segoe UI"/>
              </a:rPr>
              <a:t>НАСЛІДОК ДЛЯ ВХОДУ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55664" y="5230368"/>
            <a:ext cx="4937760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Вибір визначення = вибір бізнес-моделі.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A — імпорт преміуму з 10 % митом у ніші, що не росте.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B — брендинг і контрактне виробництво, де вже сидить Samura.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C — товарна війна цінників із Fissman і Krauff.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Змішувати їх в одній фінмоделі не можна.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03504" y="649224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Оцінки B і C — власний розрахунок на основі SKU-аудиту та припущень про оборотність; вони мають нижчу надійність, ніж A, яка спирається на митну статистику. Див. слайд 45.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ОБСЯГ РИНКУ · МИТНА 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9,02 млн $ імпорту — і 1,3 % із них із Японії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Останній повний рік у Comtrade — 2024. Дані за 2025 рік ще не опубліковані, тому вся митна частина колоди — це 2024.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3657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МИТНІ КОДИ КАТЕГОРІЇ, ІМПОРТ 2024, ТИС. $ CIF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810512"/>
            <a:ext cx="1783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КОД УКТЗЕД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50008" y="1810512"/>
            <a:ext cx="2331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НАЗВА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81727" y="1810512"/>
            <a:ext cx="1234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ІМПОРТ, ТИС. $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16167" y="1810512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ЧАСТКА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7687" y="1810512"/>
            <a:ext cx="2057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ГОЛОВНЕ ДЖЕРЕЛО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05088" y="1810512"/>
            <a:ext cx="2926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КОМЕНТАР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3776" y="1988820"/>
            <a:ext cx="1121054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2029968"/>
            <a:ext cx="17282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8211 10 00 00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50008" y="2029968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Набори ножів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81727" y="2029968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2 339,2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16167" y="2029968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26 %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7687" y="2029968"/>
            <a:ext cx="2002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Китай 2 021,3 (86 %)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05088" y="2029968"/>
            <a:ext cx="28712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Подарунковий сегмент. Майже повністю Китай.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2304288"/>
            <a:ext cx="17282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8211 91 00 00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50008" y="2304288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Ножі столові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81727" y="2304288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1 093,4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16167" y="2304288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12 %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47687" y="2304288"/>
            <a:ext cx="2002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Китай 969,6 (89 %)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05088" y="2304288"/>
            <a:ext cx="28712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Столові набори, HoReCa-сервіровка.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93776" y="2537460"/>
            <a:ext cx="1121054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2578608"/>
            <a:ext cx="17282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8211 92 00 00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50008" y="2578608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Ножі з фіксованим лезом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81727" y="2578608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5 587,3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16167" y="2578608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62 %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47687" y="2578608"/>
            <a:ext cx="2002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Китай 3 555,9 (64 %)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05088" y="2578608"/>
            <a:ext cx="28712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Тут і кухонні, і мисливські, і польові.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6928" y="2871215"/>
            <a:ext cx="11064240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6928" y="2980944"/>
            <a:ext cx="17282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РАЗОМ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350008" y="2980944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Митна база категорії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81727" y="2980944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9 019,8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16167" y="2980944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100 %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47687" y="2980944"/>
            <a:ext cx="2002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Китай 6 546,7 (73 %)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705088" y="2980944"/>
            <a:ext cx="28712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Японія — 117,5 тис. $, або 1,3 %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3218688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ІМПОРТ ІЗ ЯПОНІЇ, КОД 8211 92, ТИС. $ CIF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928" y="3493008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2022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07007" y="3534156"/>
            <a:ext cx="3017520" cy="8229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207007" y="3534156"/>
            <a:ext cx="2766833" cy="8229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315967" y="3493008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119,2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928" y="3803904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2023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207007" y="3845052"/>
            <a:ext cx="3017520" cy="8229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207007" y="3845052"/>
            <a:ext cx="1840687" cy="8229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315967" y="3803904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79,3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6928" y="4114800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2024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207007" y="4155948"/>
            <a:ext cx="3017520" cy="8229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207007" y="4155948"/>
            <a:ext cx="2397767" cy="8229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315967" y="4114800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103,3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566928" y="4517136"/>
            <a:ext cx="5413248" cy="170078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66928" y="4517136"/>
            <a:ext cx="36576" cy="1700784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04672" y="4672584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5D4B96"/>
                </a:solidFill>
                <a:latin typeface="Segoe UI"/>
              </a:rPr>
              <a:t>ЩО ГОВОРИТЬ ЦЯ ДИНАМІКА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04672" y="4901184"/>
            <a:ext cx="4937760" cy="1170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Японський імпорт у 2024 році на 13 % нижчий за 2022 рік у номінальних доларах.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З урахуванням доларової інфляції падіння реальне і суттєвіше.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Стрибок 2023→2024 (+30 %) — це відновлення після провалу, а не тренд зростання.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Висновок: у цій ніші немає імпортної хвилі, на яку можна сісти.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17920" y="3218688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ТОП-10 КРАЇН-ПОСТАЧАЛЬНИКІВ, 8211 92, 2024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217920" y="3474720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Китай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223760" y="3515868"/>
            <a:ext cx="3070875" cy="822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424160" y="3474720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3 556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217920" y="3730752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Польща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223760" y="3771900"/>
            <a:ext cx="373766" cy="82296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424160" y="3730752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433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986784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Іспанія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223760" y="4027932"/>
            <a:ext cx="290515" cy="82296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424160" y="3986784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336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217920" y="4242816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Бразилія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223760" y="4283964"/>
            <a:ext cx="229976" cy="82296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424160" y="4242816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266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217920" y="4498848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Німеччина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223760" y="4539996"/>
            <a:ext cx="172201" cy="82296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0424160" y="4498848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199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217920" y="4754880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Швеція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223760" y="4796028"/>
            <a:ext cx="123840" cy="82296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0424160" y="4754880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143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217920" y="5010912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Японія</a:t>
            </a:r>
          </a:p>
        </p:txBody>
      </p:sp>
      <p:sp>
        <p:nvSpPr>
          <p:cNvPr id="81" name="Rectangle 80"/>
          <p:cNvSpPr/>
          <p:nvPr/>
        </p:nvSpPr>
        <p:spPr>
          <a:xfrm>
            <a:off x="7223760" y="5052060"/>
            <a:ext cx="89209" cy="82296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0424160" y="5010912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103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217920" y="5266944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Італія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223760" y="5308092"/>
            <a:ext cx="74183" cy="82296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424160" y="5266944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86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217920" y="5522976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Франція</a:t>
            </a:r>
          </a:p>
        </p:txBody>
      </p:sp>
      <p:sp>
        <p:nvSpPr>
          <p:cNvPr id="87" name="Rectangle 86"/>
          <p:cNvSpPr/>
          <p:nvPr/>
        </p:nvSpPr>
        <p:spPr>
          <a:xfrm>
            <a:off x="7223760" y="5564124"/>
            <a:ext cx="60711" cy="82296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0424160" y="5522976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70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217920" y="5779008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Швейцарія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223760" y="5820156"/>
            <a:ext cx="54320" cy="82296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424160" y="5779008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63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03504" y="649224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Джерело: World Bank WITS / UN Comtrade, імпорт України, 2022–2024, коди 8211 10, 8211 91, 8211 92. Сума по Японії: 103,3 (8211 92) + 14,3 (8211 91) = 117,5 тис. $; у наборах 8211 10 Японія не потрапила в опубліковані рядки.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ЯК РАХУВАЛИ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Від 9,02 млн $ митниці до 691–924 млн грн полиці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Кожен крок — це припущення. Показую всі, щоб можна було не погодитись із конкретним, а не з результатом.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54480"/>
            <a:ext cx="1664208" cy="11887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700784"/>
            <a:ext cx="13898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717890"/>
                </a:solidFill>
                <a:latin typeface="Segoe UI"/>
              </a:rPr>
              <a:t>9 020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2029968"/>
            <a:ext cx="13898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717890"/>
                </a:solidFill>
                <a:latin typeface="Segoe UI"/>
              </a:rPr>
              <a:t>тис. $ CIF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2231136"/>
            <a:ext cx="138988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митна база
8211 10+91+92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39696" y="2029968"/>
            <a:ext cx="182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9FA9C4"/>
                </a:solidFill>
                <a:latin typeface="Segoe UI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414016" y="1554480"/>
            <a:ext cx="1664208" cy="11887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60320" y="1700784"/>
            <a:ext cx="13898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C4820A"/>
                </a:solidFill>
                <a:latin typeface="Segoe UI"/>
              </a:rPr>
              <a:t>6 600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20" y="2029968"/>
            <a:ext cx="13898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717890"/>
                </a:solidFill>
                <a:latin typeface="Segoe UI"/>
              </a:rPr>
              <a:t>тис. $ CIF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60320" y="2231136"/>
            <a:ext cx="138988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кухонна частка:
55–70 % коду 92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86784" y="2029968"/>
            <a:ext cx="182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9FA9C4"/>
                </a:solidFill>
                <a:latin typeface="Segoe UI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61104" y="1554480"/>
            <a:ext cx="1664208" cy="11887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07408" y="1700784"/>
            <a:ext cx="13898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1E9EA6"/>
                </a:solidFill>
                <a:latin typeface="Segoe UI"/>
              </a:rPr>
              <a:t>7 130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07408" y="2029968"/>
            <a:ext cx="13898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717890"/>
                </a:solidFill>
                <a:latin typeface="Segoe UI"/>
              </a:rPr>
              <a:t>тис. $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07408" y="2231136"/>
            <a:ext cx="138988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+8 % сірий імпорт
і локальне пакування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33872" y="2029968"/>
            <a:ext cx="182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9FA9C4"/>
                </a:solidFill>
                <a:latin typeface="Segoe UI"/>
              </a:rP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08192" y="1554480"/>
            <a:ext cx="1664208" cy="11887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54496" y="1700784"/>
            <a:ext cx="13898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5D4B96"/>
                </a:solidFill>
                <a:latin typeface="Segoe UI"/>
              </a:rPr>
              <a:t>×1,30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54496" y="2029968"/>
            <a:ext cx="13898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717890"/>
                </a:solidFill>
                <a:latin typeface="Segoe UI"/>
              </a:rPr>
              <a:t>мито + ПДВ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54496" y="2231136"/>
            <a:ext cx="138988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10 % Китай/Японія,
0 % ЄС; ПДВ 20 %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2029968"/>
            <a:ext cx="182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9FA9C4"/>
                </a:solidFill>
                <a:latin typeface="Segoe UI"/>
              </a:rP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955279" y="1554480"/>
            <a:ext cx="1664208" cy="11887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01583" y="1700784"/>
            <a:ext cx="13898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C94F7C"/>
                </a:solidFill>
                <a:latin typeface="Segoe UI"/>
              </a:rPr>
              <a:t>×1,8–2,4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01583" y="2029968"/>
            <a:ext cx="13898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717890"/>
                </a:solidFill>
                <a:latin typeface="Segoe UI"/>
              </a:rPr>
              <a:t>торгова націнка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01583" y="2231136"/>
            <a:ext cx="138988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маса 1,7–2,0;
спеціалізація 2,0–2,6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28048" y="2029968"/>
            <a:ext cx="182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9FA9C4"/>
                </a:solidFill>
                <a:latin typeface="Segoe UI"/>
              </a:rPr>
              <a:t>→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802367" y="1554480"/>
            <a:ext cx="1664208" cy="11887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948672" y="1700784"/>
            <a:ext cx="13898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37A169"/>
                </a:solidFill>
                <a:latin typeface="Segoe UI"/>
              </a:rPr>
              <a:t>691–924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48672" y="2029968"/>
            <a:ext cx="13898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717890"/>
                </a:solidFill>
                <a:latin typeface="Segoe UI"/>
              </a:rPr>
              <a:t>млн грн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48672" y="2231136"/>
            <a:ext cx="138988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роздріб на рік
= 15,4–20,6 млн $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928" y="2944368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ПЕРЕРАХУНОК У ШТУКИ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3182112"/>
            <a:ext cx="2377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СЕГМЕНТ ПОХОДЖЕННЯ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44368" y="3182112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СЕРЕДНЯ ЦІНА CIF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98848" y="3182112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ОЦІНКА ШТУК НА РІК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93776" y="3342132"/>
            <a:ext cx="572414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66928" y="3383280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Китай, масовий сегмент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944368" y="3383280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1,2–2,5 $/шт CIF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98848" y="3383280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≈ 1 900–2 400 тис. шт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" y="3657600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Європа, середній і проф.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944368" y="3657600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6–12 $/шт CIF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98848" y="3657600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≈ 90–140 тис. шт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93776" y="3890772"/>
            <a:ext cx="572414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66928" y="3931920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Японія, преміум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944368" y="3931920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25–45 $/шт CIF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98848" y="3931920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≈ 3–4 тис. шт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66928" y="4297680"/>
            <a:ext cx="5577840" cy="64008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68096" y="4443984"/>
            <a:ext cx="23774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717890"/>
                </a:solidFill>
                <a:latin typeface="Segoe UI"/>
              </a:rPr>
              <a:t>РАЗОМ, ШТУК НА РІК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68096" y="4626864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1C2235"/>
                </a:solidFill>
                <a:latin typeface="Segoe UI"/>
              </a:rPr>
              <a:t>2,0–2,6 млн ножів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840480" y="4498848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≈ 0,17–0,22 ножа
на домогосподарство на рік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309360" y="2944368"/>
            <a:ext cx="5321808" cy="148132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309360" y="2944368"/>
            <a:ext cx="36576" cy="1481328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547104" y="3099816"/>
            <a:ext cx="4846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37A169"/>
                </a:solidFill>
                <a:latin typeface="Segoe UI"/>
              </a:rPr>
              <a:t>ПЕРЕВІРКА НА ЗДОРОВИЙ ГЛУЗД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547104" y="3328416"/>
            <a:ext cx="4846320" cy="9509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11–12 млн домогосподарств × 0,2 ножа на рік = цикл заміни 5 років на 1 ніж.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Це відповідає поведінці масового покупця: ніж змінюють, коли він перестав різати,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а не за графіком. Порядок величини правдоподібний.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309360" y="4572000"/>
            <a:ext cx="5321808" cy="166420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309360" y="4572000"/>
            <a:ext cx="36576" cy="1664208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547104" y="4727448"/>
            <a:ext cx="4846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ДЕ ЦЯ МОДЕЛЬ НАЙБІЛЬШЕ МОЖЕ ПОМИЛЯТИСЬ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547104" y="4956048"/>
            <a:ext cx="4846320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1. Частка кухонних ножів у коді 8211 92 — головна невизначеність. Війна підняла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    попит на польові й тактичні ножі, тому реальна частка може бути ближче до 50 %.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2. Торгова націнка 1,8–2,4 — галузева конвенція, а не виміряна маржа.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3. Середні ціни CIF по сегментах — експертна оцінка, не митні дані по вагах.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03504" y="649224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Курс НБУ 44,86 грн/$ станом на 30.09.2026. Діапазон 691–924 млн грн = 15,4–20,6 млн $. Середина діапазону ≈ 18 млн $ або 807 млн грн.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МИТО І СОБІВАРТІСТЬ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Японія платить 10 % там, де ЄС платить 0 %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Угоди про вільну торгівлю між Україною та Японією немає. Це не деталь оформлення — це 10 пунктів собівартості назавжди.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СТАВКИ ДЛЯ КОДУ 8211 92 00 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810512"/>
            <a:ext cx="187451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ПОХОДЖЕННЯ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41448" y="1810512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МИТО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10128" y="1810512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ПДВ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41648" y="1810512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МНОЖНИК НА CIF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58968" y="1810512"/>
            <a:ext cx="3063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ЩО ЦЕ ЗНАЧИТЬ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3776" y="1988820"/>
            <a:ext cx="8101583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2029968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Японія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41448" y="2029968"/>
            <a:ext cx="8138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10 %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10128" y="2029968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20 %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41648" y="2029968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× 1,32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58968" y="2029968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Режим найбільшого сприяння СОТ. FTA немає.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2286000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Китай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41448" y="2286000"/>
            <a:ext cx="8138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10 %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10128" y="2286000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20 %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41648" y="2286000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× 1,32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58968" y="2286000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Той самий режим, що й Японія.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93776" y="2500884"/>
            <a:ext cx="8101583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2542032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ЄС (Польща, Іспанія, Італія)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41448" y="2542032"/>
            <a:ext cx="8138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0 %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10128" y="2542032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20 %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41648" y="2542032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× 1,20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58968" y="2542032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Поглиблена ЗВТ Україна–ЄС.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2798064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Велика Британія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41448" y="2798064"/>
            <a:ext cx="8138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0 %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10128" y="2798064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20 %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41648" y="2798064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× 1,20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58968" y="2798064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ЗВТ, з 01.04.2026.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93776" y="3012948"/>
            <a:ext cx="8101583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6928" y="3054096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Канада, ЄАВТ, Ізраїль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41448" y="3054096"/>
            <a:ext cx="8138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0 %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10128" y="3054096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20 %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41648" y="3054096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× 1,20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58968" y="3054096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Чинні угоди про вільну торгівлю.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3310128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ОАЕ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441448" y="3310128"/>
            <a:ext cx="8138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6,7 %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10128" y="3310128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20 %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041648" y="3310128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× 1,28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58968" y="3310128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Перехідна ставка на 2026 рік.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928" y="3712463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ОДИН І ТОЙ САМИЙ САНТОКУ, ДВА ПОХОДЖЕННЯ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" y="3950208"/>
            <a:ext cx="3017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СТАТТЯ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584448" y="3950208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ЯПОНІЯ, СЕКІ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138928" y="3950208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ЄС, СОЛІНГЕН / ТОЛЕДО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93776" y="4110228"/>
            <a:ext cx="663854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66928" y="4151376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Ціна EXW / FOB постачальника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584448" y="415137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20,00 $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138928" y="4151376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20,00 $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6928" y="4407408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Фрахт і страхування до кордону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584448" y="4407408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+2,40 $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138928" y="4407408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+1,00 $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93776" y="4622292"/>
            <a:ext cx="663854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66928" y="4663440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CIF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584448" y="4663440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22,40 $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138928" y="4663440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21,00 $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66928" y="4919472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Мито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584448" y="4919472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+2,24 $ (10 %)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138928" y="4919472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0,00 $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93776" y="5134356"/>
            <a:ext cx="663854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66928" y="5175504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База ПДВ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584448" y="5175504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24,64 $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138928" y="5175504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21,00 $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66928" y="5431536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Собівартість на складі, без ПДВ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584448" y="543153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24,64 $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138928" y="5431536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21,00 $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493776" y="5646420"/>
            <a:ext cx="663854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66928" y="5687568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Роздріб при націнці ×2,2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584448" y="5687568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2 432 грн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138928" y="5687568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2 072 грн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8686800" y="1810512"/>
            <a:ext cx="2944368" cy="21031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686800" y="1810512"/>
            <a:ext cx="36576" cy="210312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924544" y="1965960"/>
            <a:ext cx="24688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C03B4B"/>
                </a:solidFill>
                <a:latin typeface="Segoe UI"/>
              </a:rPr>
              <a:t>НАСЛІДОК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924544" y="2194560"/>
            <a:ext cx="2468880" cy="15727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Японський ніж приїжджає на полицю на 17 % дорожче за європейський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аналог тієї самої закупівельної ціни.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На полиці це 360 грн різниці на кожному ножі за 2 000 грн.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8686800" y="4041648"/>
            <a:ext cx="2944368" cy="219456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8686800" y="4041648"/>
            <a:ext cx="36576" cy="219456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924544" y="4197096"/>
            <a:ext cx="24688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ЩО ЦЕ ЗМІНЮЄ В СТРАТЕГІЇ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924544" y="4425696"/>
            <a:ext cx="2468880" cy="1664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Японське походження треба продавати як цінність, а не як характеристику.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Якщо покупець не платить премію за напис «Made in Seki»,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японський постачальник програє європейському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ще до першої продажі.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03504" y="649224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Ставки: УКТЗЕД 8211 92 00 00, повна (РНС) ставка 10 % із 01.01.2023, ПДВ 20 %. Преференційні ставки 0 % — ЄС, ЄАВТ, Канада, Ізраїль, Північна Македонія, Велика Британія. Приклад розрахунку умовний.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СЕГМЕНТАЦІЯ · ВІСЬ 1 · ГЕОМЕТРІЯ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Вісім типів леза, з яких ринок купує три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Профілі накреслені в один масштаб за реальними довжинами клинка. Рукав'я умовне: чорне клепане — західне (yo), дерев'яне — японське (wa).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36192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ПРОФІЛІ КЛИНКА В ЄДИНОМУ МАСШТАБІ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3776" y="1746504"/>
            <a:ext cx="5779008" cy="612647"/>
          </a:xfrm>
          <a:prstGeom prst="roundRect">
            <a:avLst>
              <a:gd name="adj" fmla="val 12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819656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C4820A"/>
                </a:solidFill>
                <a:latin typeface="Segoe UI"/>
              </a:rPr>
              <a:t>Гюто / шеф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984248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0">
                <a:solidFill>
                  <a:srgbClr val="717890"/>
                </a:solidFill>
                <a:latin typeface="Segoe UI"/>
              </a:rPr>
              <a:t>180–240 мм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2148840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0">
                <a:solidFill>
                  <a:srgbClr val="303A5D"/>
                </a:solidFill>
                <a:latin typeface="Segoe UI"/>
              </a:rPr>
              <a:t>Робочий ніж кухні</a:t>
            </a:r>
          </a:p>
        </p:txBody>
      </p:sp>
      <p:pic>
        <p:nvPicPr>
          <p:cNvPr id="15" name="Picture 14" descr="gyu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7632" y="1778507"/>
            <a:ext cx="2740152" cy="5852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66928" y="2468879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F9A50B"/>
                </a:solidFill>
                <a:latin typeface="Segoe UI"/>
              </a:rPr>
              <a:t>Сантоку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2633472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0">
                <a:solidFill>
                  <a:srgbClr val="717890"/>
                </a:solidFill>
                <a:latin typeface="Segoe UI"/>
              </a:rPr>
              <a:t>165–180 мм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2798064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0">
                <a:solidFill>
                  <a:srgbClr val="303A5D"/>
                </a:solidFill>
                <a:latin typeface="Segoe UI"/>
              </a:rPr>
              <a:t>Універсал, драйвер обсягу</a:t>
            </a:r>
          </a:p>
        </p:txBody>
      </p:sp>
      <p:pic>
        <p:nvPicPr>
          <p:cNvPr id="19" name="Picture 18" descr="santok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2435352"/>
            <a:ext cx="2423160" cy="569976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493776" y="3044952"/>
            <a:ext cx="5779008" cy="612647"/>
          </a:xfrm>
          <a:prstGeom prst="roundRect">
            <a:avLst>
              <a:gd name="adj" fmla="val 12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3118103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E9EA6"/>
                </a:solidFill>
                <a:latin typeface="Segoe UI"/>
              </a:rPr>
              <a:t>Накірі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3282696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0">
                <a:solidFill>
                  <a:srgbClr val="717890"/>
                </a:solidFill>
                <a:latin typeface="Segoe UI"/>
              </a:rPr>
              <a:t>165–180 мм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3447288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0">
                <a:solidFill>
                  <a:srgbClr val="303A5D"/>
                </a:solidFill>
                <a:latin typeface="Segoe UI"/>
              </a:rPr>
              <a:t>Овочі, шаткування</a:t>
            </a:r>
          </a:p>
        </p:txBody>
      </p:sp>
      <p:pic>
        <p:nvPicPr>
          <p:cNvPr id="24" name="Picture 23" descr="nakir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7632" y="3069336"/>
            <a:ext cx="2383536" cy="60045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66928" y="3767328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E9EA6"/>
                </a:solidFill>
                <a:latin typeface="Segoe UI"/>
              </a:rPr>
              <a:t>Кіріцуке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3931920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0">
                <a:solidFill>
                  <a:srgbClr val="717890"/>
                </a:solidFill>
                <a:latin typeface="Segoe UI"/>
              </a:rPr>
              <a:t>180–240 мм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4096512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0">
                <a:solidFill>
                  <a:srgbClr val="303A5D"/>
                </a:solidFill>
                <a:latin typeface="Segoe UI"/>
              </a:rPr>
              <a:t>Гібрид, статусний</a:t>
            </a:r>
          </a:p>
        </p:txBody>
      </p:sp>
      <p:pic>
        <p:nvPicPr>
          <p:cNvPr id="28" name="Picture 27" descr="kiritsuk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7632" y="3733800"/>
            <a:ext cx="2740152" cy="569976"/>
          </a:xfrm>
          <a:prstGeom prst="rect">
            <a:avLst/>
          </a:prstGeom>
        </p:spPr>
      </p:pic>
      <p:sp>
        <p:nvSpPr>
          <p:cNvPr id="29" name="Rounded Rectangle 28"/>
          <p:cNvSpPr/>
          <p:nvPr/>
        </p:nvSpPr>
        <p:spPr>
          <a:xfrm>
            <a:off x="493776" y="4343400"/>
            <a:ext cx="5779008" cy="612647"/>
          </a:xfrm>
          <a:prstGeom prst="roundRect">
            <a:avLst>
              <a:gd name="adj" fmla="val 12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4416552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5D4B96"/>
                </a:solidFill>
                <a:latin typeface="Segoe UI"/>
              </a:rPr>
              <a:t>Янагіба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4581144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0">
                <a:solidFill>
                  <a:srgbClr val="717890"/>
                </a:solidFill>
                <a:latin typeface="Segoe UI"/>
              </a:rPr>
              <a:t>210–300 мм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4745736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0">
                <a:solidFill>
                  <a:srgbClr val="303A5D"/>
                </a:solidFill>
                <a:latin typeface="Segoe UI"/>
              </a:rPr>
              <a:t>Сашимі, одностороннє</a:t>
            </a:r>
          </a:p>
        </p:txBody>
      </p:sp>
      <p:pic>
        <p:nvPicPr>
          <p:cNvPr id="33" name="Picture 32" descr="yanagib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27632" y="4439412"/>
            <a:ext cx="3215640" cy="4572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66928" y="5065776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5D4B96"/>
                </a:solidFill>
                <a:latin typeface="Segoe UI"/>
              </a:rPr>
              <a:t>Деба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5230368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0">
                <a:solidFill>
                  <a:srgbClr val="717890"/>
                </a:solidFill>
                <a:latin typeface="Segoe UI"/>
              </a:rPr>
              <a:t>150–180 мм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5394960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0">
                <a:solidFill>
                  <a:srgbClr val="303A5D"/>
                </a:solidFill>
                <a:latin typeface="Segoe UI"/>
              </a:rPr>
              <a:t>Розбирання риби</a:t>
            </a:r>
          </a:p>
        </p:txBody>
      </p:sp>
      <p:pic>
        <p:nvPicPr>
          <p:cNvPr id="37" name="Picture 36" descr="deb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627632" y="5024628"/>
            <a:ext cx="2383536" cy="585216"/>
          </a:xfrm>
          <a:prstGeom prst="rect">
            <a:avLst/>
          </a:prstGeom>
        </p:spPr>
      </p:pic>
      <p:sp>
        <p:nvSpPr>
          <p:cNvPr id="38" name="Rounded Rectangle 37"/>
          <p:cNvSpPr/>
          <p:nvPr/>
        </p:nvSpPr>
        <p:spPr>
          <a:xfrm>
            <a:off x="493776" y="5641848"/>
            <a:ext cx="5779008" cy="612647"/>
          </a:xfrm>
          <a:prstGeom prst="roundRect">
            <a:avLst>
              <a:gd name="adj" fmla="val 12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6928" y="5715000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717890"/>
                </a:solidFill>
                <a:latin typeface="Segoe UI"/>
              </a:rPr>
              <a:t>Петті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5879592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0">
                <a:solidFill>
                  <a:srgbClr val="717890"/>
                </a:solidFill>
                <a:latin typeface="Segoe UI"/>
              </a:rPr>
              <a:t>90–150 мм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" y="6044184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0">
                <a:solidFill>
                  <a:srgbClr val="303A5D"/>
                </a:solidFill>
                <a:latin typeface="Segoe UI"/>
              </a:rPr>
              <a:t>Дрібна робота</a:t>
            </a:r>
          </a:p>
        </p:txBody>
      </p:sp>
      <p:pic>
        <p:nvPicPr>
          <p:cNvPr id="42" name="Picture 41" descr="pett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27632" y="5760720"/>
            <a:ext cx="2026920" cy="41148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6419088" y="1536192"/>
            <a:ext cx="12070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ТИП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626096" y="1536192"/>
            <a:ext cx="11704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ЦІНА, ГРН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796528" y="1536192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ДЕ ПРОДАЄТЬСЯ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149840" y="1536192"/>
            <a:ext cx="14813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РОЛЬ У КАТЕГОРІЇ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345936" y="1714500"/>
            <a:ext cx="5285232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19088" y="1755648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F9A50B"/>
                </a:solidFill>
                <a:latin typeface="Segoe UI"/>
              </a:rPr>
              <a:t>Сантоку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626096" y="1755648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175 – 12 000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796528" y="1755648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Усюди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149840" y="1755648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Драйвер обсягу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19088" y="2029967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C4820A"/>
                </a:solidFill>
                <a:latin typeface="Segoe UI"/>
              </a:rPr>
              <a:t>Гюто / шеф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626096" y="2029967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500 – 27 970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796528" y="2029967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Усюди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149840" y="2029967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Драйвер ціни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345936" y="2263139"/>
            <a:ext cx="5285232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19088" y="2304287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E9EA6"/>
                </a:solidFill>
                <a:latin typeface="Segoe UI"/>
              </a:rPr>
              <a:t>Петті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626096" y="2304287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175 – 5 000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796528" y="2304287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Усюди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149840" y="2304287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Часта купівля, малий чек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19088" y="2578607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E9EA6"/>
                </a:solidFill>
                <a:latin typeface="Segoe UI"/>
              </a:rPr>
              <a:t>Накірі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26096" y="2578607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1 249 – 13 290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796528" y="2578607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Спеціаліст, Епіцентр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149840" y="2578607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Зростає вдома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345936" y="2811779"/>
            <a:ext cx="5285232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419088" y="2852927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5D4B96"/>
                </a:solidFill>
                <a:latin typeface="Segoe UI"/>
              </a:rPr>
              <a:t>Янагіба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26096" y="2852927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1 107 – 13 971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796528" y="2852927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Суші-спеціалізація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49840" y="2852927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Вузький HoReCa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19088" y="3127247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5D4B96"/>
                </a:solidFill>
                <a:latin typeface="Segoe UI"/>
              </a:rPr>
              <a:t>Деба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626096" y="3127247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1 470 – 9 000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796528" y="3127247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Суші-спеціалізація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149840" y="3127247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Вузький HoReCa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345936" y="3360419"/>
            <a:ext cx="5285232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419088" y="3401567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9FA9C4"/>
                </a:solidFill>
                <a:latin typeface="Segoe UI"/>
              </a:rPr>
              <a:t>Кіріцуке, бунка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626096" y="3401567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3 000 – 20 000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796528" y="3401567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Тільки спеціаліст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149840" y="3401567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Довгий хвіст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419088" y="3675887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C94F7C"/>
                </a:solidFill>
                <a:latin typeface="Segoe UI"/>
              </a:rPr>
              <a:t>Набори 2–5 шт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626096" y="3675887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2 500 – 27 970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796528" y="3675887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Усюди, пік у грудні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149840" y="3675887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26 % митної бази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6419088" y="4041648"/>
            <a:ext cx="1645920" cy="140817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p_4d367364e4ca0e9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92240" y="4114800"/>
            <a:ext cx="1499616" cy="932688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6565392" y="5120640"/>
            <a:ext cx="13533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Накірі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565392" y="5285232"/>
            <a:ext cx="13533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Росте вдома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8174736" y="4041648"/>
            <a:ext cx="1645920" cy="140817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8" name="Picture 87" descr="p_d55507e899775b1f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47888" y="4114800"/>
            <a:ext cx="1499616" cy="932688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8321040" y="5120640"/>
            <a:ext cx="13533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Янагіба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321040" y="5285232"/>
            <a:ext cx="13533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500–900 шт/рік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9930384" y="4041648"/>
            <a:ext cx="1645920" cy="140817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p_a5500e2d77c6055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003536" y="4114800"/>
            <a:ext cx="1499616" cy="932688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10076688" y="5120640"/>
            <a:ext cx="13533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94F7C"/>
                </a:solidFill>
                <a:latin typeface="Segoe UI"/>
              </a:rPr>
              <a:t>Набір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076688" y="5285232"/>
            <a:ext cx="13533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26 % митної бази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6419088" y="5541264"/>
            <a:ext cx="5212080" cy="991971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6419088" y="5541264"/>
            <a:ext cx="36576" cy="991971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656831" y="5696712"/>
            <a:ext cx="47365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ЩО КУПУЮТЬ НАСПРАВДІ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656831" y="5925312"/>
            <a:ext cx="4736592" cy="4616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Сантоку в Україні перестав бути японським ножем і став формою леза: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у Fissman 61 SKU сантоку на Rozetka. Покупець купує геометрію,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походження він не перевіряє.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03504" y="6528816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Профілі — схематичні креслення за типовими пропорціями, а не зображення конкретних моделей. Фото — картки товарів українських магазинів, вересень 2026.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СЕГМЕНТАЦІЯ · ВІСЬ 2 · СТАЛЬ І КОНСТРУКЦІЯ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Справжні цінові сходи — не бренд, а сталь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Ціна японського ножа на 70 % визначається маркою сталі й кількістю шарів. Це єдина вісь, яку можна перевірити лабораторно.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2560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КОНСТРУКЦІЯ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27248" y="1572768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СТАЛЬ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47488" y="1572768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ТВЕРДІСТЬ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16168" y="1572768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РОЗДРІБ, ГРН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33488" y="1572768"/>
            <a:ext cx="3108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ХТО ТУТ СТОЇТЬ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3776" y="1751076"/>
            <a:ext cx="1038758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1792224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Мо-ванадієва моносталь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27248" y="1792224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AUS-6A, AUS-8, 8Cr13MoV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47488" y="1792224"/>
            <a:ext cx="8138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56–58 HRC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16168" y="1792224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700 – 2 500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33488" y="1792224"/>
            <a:ext cx="3054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Samura Harakiri, Kasumi Tora, Satake Saku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881360" y="1833372"/>
            <a:ext cx="164957" cy="822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066543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VG-10 моно або 3 шари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27248" y="2066543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VG-10 core, clad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47488" y="2066543"/>
            <a:ext cx="8138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60–61 HRC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16168" y="2066543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2 500 – 6 000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33488" y="2066543"/>
            <a:ext cx="3054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Tojiro DP, Satake Sakura, KAI Wasabi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881360" y="2107691"/>
            <a:ext cx="284927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93776" y="2299715"/>
            <a:ext cx="1038758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2340863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VG-10 + дамаск 32–69 шарів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27248" y="2340863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VG-10 core, damascus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47488" y="2340863"/>
            <a:ext cx="8138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60–61 HRC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16168" y="2340863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5 000 – 12 000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33488" y="2340863"/>
            <a:ext cx="3054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Kasumi Damascus, Yaxell Zen/Ran, KAI Shun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881360" y="2382011"/>
            <a:ext cx="434888" cy="8229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2615183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94F7C"/>
                </a:solidFill>
                <a:latin typeface="Segoe UI"/>
              </a:rPr>
              <a:t>Порошкова SG-2 / R2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127248" y="2615183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101–193 шари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47488" y="2615183"/>
            <a:ext cx="8138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62–64 HRC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16168" y="2615183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12 000 – 40 140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33488" y="2615183"/>
            <a:ext cx="3054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Yaxell Gou / Super Gou / Ypsilon, Miyabi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881360" y="2656331"/>
            <a:ext cx="749808" cy="82296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93776" y="2848355"/>
            <a:ext cx="1038758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6928" y="2889503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Вуглецева Сіроґамі / Аоґамі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127248" y="2889503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одностороннє заточення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47488" y="2889503"/>
            <a:ext cx="8138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62–65 HRC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16168" y="2889503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3 000 – 15 000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33488" y="2889503"/>
            <a:ext cx="3054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Sakai Takayuki, Kaneyoshi, Yoshihiro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881360" y="2930651"/>
            <a:ext cx="337413" cy="82296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66928" y="3163823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Кераміка ZrO₂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127248" y="3163823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цирконій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47488" y="3163823"/>
            <a:ext cx="8138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16168" y="3163823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175 – 1 900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33488" y="3163823"/>
            <a:ext cx="3054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Ardesto, Samura Inca, Fissman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881360" y="3204971"/>
            <a:ext cx="74980" cy="82296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881360" y="1572768"/>
            <a:ext cx="7498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ВІДН. ЦІНА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66928" y="3584448"/>
            <a:ext cx="2340864" cy="1517904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p_6724b2936515eb7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657600"/>
            <a:ext cx="2194560" cy="1024127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713232" y="4754880"/>
            <a:ext cx="2048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Дамаск, 32–69 шарів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13232" y="4919472"/>
            <a:ext cx="2048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VG-10 у серцевині, 60–61 HRC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072384" y="3584448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ВІСЬ 3 · РУКІВ'Я — ЩО ВОНО ГОВОРИТЬ ПРО КАНАЛ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072384" y="3822191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ТИП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175504" y="3822191"/>
            <a:ext cx="2240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МАТЕРІАЛ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415783" y="3822191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ДЕ ЗУСТРІЧАЄТЬСЯ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999232" y="3982212"/>
            <a:ext cx="627278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072384" y="4023360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5D4B96"/>
                </a:solidFill>
                <a:latin typeface="Segoe UI"/>
              </a:rPr>
              <a:t>Wa — японське восьмигранне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175504" y="4023360"/>
            <a:ext cx="21854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магнолія, пакка, стабілізоване дерево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415783" y="4023360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Тільки спеціалізовані магазини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072384" y="4297680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E9EA6"/>
                </a:solidFill>
                <a:latin typeface="Segoe UI"/>
              </a:rPr>
              <a:t>Yo — західне клепане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175504" y="4297680"/>
            <a:ext cx="21854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мікарта, POM, ламінат, сталь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415783" y="4297680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Усе, що доходить до полиці та HoReCa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473184" y="3584448"/>
            <a:ext cx="1042415" cy="1517904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p_925db2918203bf9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6336" y="3657600"/>
            <a:ext cx="896111" cy="1371600"/>
          </a:xfrm>
          <a:prstGeom prst="rect">
            <a:avLst/>
          </a:prstGeom>
        </p:spPr>
      </p:pic>
      <p:sp>
        <p:nvSpPr>
          <p:cNvPr id="72" name="Rounded Rectangle 71"/>
          <p:cNvSpPr/>
          <p:nvPr/>
        </p:nvSpPr>
        <p:spPr>
          <a:xfrm>
            <a:off x="10588752" y="3584448"/>
            <a:ext cx="1042415" cy="1517904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3" name="Picture 72" descr="p_6627fa7684885df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61904" y="3657600"/>
            <a:ext cx="896111" cy="1371600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9473184" y="5157216"/>
            <a:ext cx="1042415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wa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588752" y="5157216"/>
            <a:ext cx="1042415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yo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566928" y="5358384"/>
            <a:ext cx="5413248" cy="1043025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566928" y="5358384"/>
            <a:ext cx="36576" cy="1043025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04672" y="551383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ЧОМУ ЦЯ ВІСЬ ВАЖЛИВІША ЗА БРЕНД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" y="5742432"/>
            <a:ext cx="4937760" cy="5126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Сталь можна перевірити: твердомір, XRF-аналізатор, різ по канату. Бренд —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не можна. У категорії, де 3 000+ пропозицій на Prom підписані «японська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сталь AUS-8», сталь — єдина основа для порівняння.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217920" y="5358384"/>
            <a:ext cx="5413248" cy="1043025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217920" y="5358384"/>
            <a:ext cx="36576" cy="1043025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455664" y="551383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РИЗИК ТВЕРДОСТІ ПОНАД 60 HRC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455664" y="5742432"/>
            <a:ext cx="4937760" cy="5126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Чим вища твердість, тим довше тримає кромку — і тим легше вона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викришується на кістці й замороженому продукті. Ножі 62–64 HRC вимагають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водних каменів і навички, а сервісу заточення в Україні немає.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СЕГМЕНТАЦІЯ · ВІСЬ 4 · ЦІНОВІ ДІАПАЗОНИ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Половина штук дає 12 % грошей, 4 % штук дають 24 %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Розподіл — власна оцінка на основі структури асортименту й спостережених цін. Це модель, а не виміряні продажі.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ЦІНОВІ ДІАПАЗОНИ · ЧАСТКА У ШТУКАХ І В ГРОШАХ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810512"/>
            <a:ext cx="1691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ДІАПАЗОН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58568" y="1810512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ГРН ЗА НІЖ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21608" y="1810512"/>
            <a:ext cx="1783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ШТУКИ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04688" y="1810512"/>
            <a:ext cx="1783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ГРОШІ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7768" y="1810512"/>
            <a:ext cx="3017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ТИПОВІ БРЕНДИ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05288" y="1810512"/>
            <a:ext cx="1691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КАНАЛ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3776" y="2007108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2048256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Вхідний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58568" y="204825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175 – 699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87768" y="2048256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Ardesto, Kamille, Maestro, Vinzer, no-name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05288" y="2048256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Маркетплейс, Епіцентр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721608" y="2089404"/>
            <a:ext cx="1188720" cy="82296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56048" y="2048256"/>
            <a:ext cx="457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50 %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504688" y="2089404"/>
            <a:ext cx="570585" cy="82296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39128" y="2048256"/>
            <a:ext cx="457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12 %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2322576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Цінність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58568" y="232257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700 – 1 499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7768" y="2322576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Samura Harakiri, Krauff, Fissman, Satake Saku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05288" y="2322576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Епіцентр, Rozetka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721608" y="2363724"/>
            <a:ext cx="641908" cy="822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956048" y="2322576"/>
            <a:ext cx="457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27 %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04688" y="2363724"/>
            <a:ext cx="950976" cy="822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39128" y="2322576"/>
            <a:ext cx="457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20 %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93776" y="2555748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2596896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Середній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258568" y="259689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1 500 – 3 499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87768" y="2596896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Satake Satoru/Sakura, Samura Mo-V, KAI Wasabi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305288" y="2596896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Епіцентр, спеціалізація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721608" y="2638044"/>
            <a:ext cx="309067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956048" y="2596896"/>
            <a:ext cx="457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13 %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504688" y="2638044"/>
            <a:ext cx="1046073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39128" y="2596896"/>
            <a:ext cx="457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22 %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" y="2871215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Верхній середній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258568" y="2871215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3 500 – 7 499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287768" y="2871215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Tojiro DP, Suncraft Senzo, Kasumi Damascus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305288" y="2871215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Спеціалізація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721608" y="2912363"/>
            <a:ext cx="142646" cy="8229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956048" y="2871215"/>
            <a:ext cx="457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6 %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504688" y="2912363"/>
            <a:ext cx="1046073" cy="8229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739128" y="2871215"/>
            <a:ext cx="457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22 %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93776" y="3104387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66928" y="3145535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94F7C"/>
                </a:solidFill>
                <a:latin typeface="Segoe UI"/>
              </a:rPr>
              <a:t>Преміум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258568" y="3145535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7 500 – 14 999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87768" y="3145535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Yaxell Ran, KAI Shun, Kanetsugu Saiun, Miyabi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305288" y="3145535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Спеціалізація, монобренд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721608" y="3186683"/>
            <a:ext cx="71323" cy="82296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956048" y="3145535"/>
            <a:ext cx="457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3 %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504688" y="3186683"/>
            <a:ext cx="713232" cy="82296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739128" y="3145535"/>
            <a:ext cx="457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15 %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66928" y="3419855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Ультра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258568" y="3419855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15 000 – 40 140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287768" y="3419855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Yaxell Super Gou / Ypsilon, Shun сети, Miyabi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305288" y="3419855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Монобренд, під замовлення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721608" y="3461003"/>
            <a:ext cx="23774" cy="82296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56048" y="3419855"/>
            <a:ext cx="457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1 %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504688" y="3461003"/>
            <a:ext cx="427939" cy="82296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739128" y="3419855"/>
            <a:ext cx="457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9 %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66928" y="3840480"/>
            <a:ext cx="2615184" cy="109728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68096" y="3995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СЕРЕДНІЙ ЧЕК КАТЕГОРІЇ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" y="4206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C4820A"/>
                </a:solidFill>
                <a:latin typeface="Segoe UI"/>
              </a:rPr>
              <a:t>≈ 330 грн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68096" y="4681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807 млн грн / 2,4 млн шт.
Домінує вхідний сегмент.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3383280" y="3840480"/>
            <a:ext cx="2615184" cy="109728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584448" y="3995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СЕРЕДНЯ ЗАРПЛАТА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584448" y="4206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E9EA6"/>
                </a:solidFill>
                <a:latin typeface="Segoe UI"/>
              </a:rPr>
              <a:t>30 926 грн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584448" y="4681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Держстат, грудень 2025.
Повна зайнятість.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6199632" y="3840480"/>
            <a:ext cx="2615184" cy="109728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400800" y="3995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ШЕФ-НІЖ KAI SHUN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400800" y="4206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C94F7C"/>
                </a:solidFill>
                <a:latin typeface="Segoe UI"/>
              </a:rPr>
              <a:t>35 %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400800" y="4681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від місячної зарплати.
10 710 грн за один ніж.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9015984" y="3840480"/>
            <a:ext cx="2615184" cy="109728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217152" y="3995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YAXELL SUPER GOU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217152" y="4206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C03B4B"/>
                </a:solidFill>
                <a:latin typeface="Segoe UI"/>
              </a:rPr>
              <a:t>57 %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217152" y="4681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від місячної зарплати.
17 746 грн за один ніж.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566928" y="5138928"/>
            <a:ext cx="5413248" cy="109728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566928" y="5138928"/>
            <a:ext cx="36576" cy="109728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04672" y="529437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СТЕЛЯ ДОСТУПНОСТІ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04672" y="5522976"/>
            <a:ext cx="49377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Преміум-сегмент в Україні обмежений не смаком, а доходом. При середній зарплаті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30,9 тис. грн ніж за 10–18 тис. грн — це покупка рівня побутової техніки,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яку роблять раз на кілька років і переважно як подарунок.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6217920" y="5138928"/>
            <a:ext cx="5413248" cy="109728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217920" y="5138928"/>
            <a:ext cx="36576" cy="109728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455664" y="529437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ДЕ ГРОШІ, А ДЕ ОБСЯГ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455664" y="5522976"/>
            <a:ext cx="49377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Обсяг живе до 1 500 грн, гроші — від 1 500 до 7 500 грн. Діапазон 1 500–7 500 грн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дає 44 % грошей при 19 % штук. Це найпривабливіша зона за співвідношенням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маржі й оборотності — і саме там сидить Samura.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03504" y="649224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Розподіл часток — авторська оцінка на базі структури асортименту (SKU-аудит Епіцентр, Rozetka, ProfiMax, Prom) і спостережених цін. Прямих даних sell-through по категорії в Україні немає.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СЕГМЕНТАЦІЯ · ВІСЬ 5 · ПОКУПЕЦЬ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Сім покупців, і лише два з них купують Японію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Сегментація за тим, хто платить і за що. Вона визначає канал, комунікацію і повернення на маркетинг.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ПОКУПЕЦЬ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70048" y="1572768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ЧЕК, ГРН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50208" y="1572768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ЩО ВИРІШУЄ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61888" y="1572768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ДЕ КУПУЄ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65008" y="1572768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ЯПОНІЯ?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42248" y="1572768"/>
            <a:ext cx="2743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ПОРТРЕТ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3776" y="1751076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1792224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B2C · масовий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70048" y="1792224"/>
            <a:ext cx="12252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300 – 1 500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50208" y="1792224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Форма леза, ціна, знижка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61888" y="1792224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Маркетплейс, Епіцентр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65008" y="1792224"/>
            <a:ext cx="722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Ні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42248" y="1792224"/>
            <a:ext cx="2688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Не знає брендів. Купує сантоку, бо «японський»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2080260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B2C · просьюмер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70048" y="2080260"/>
            <a:ext cx="12252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1 500 – 6 000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50208" y="2080260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Марка сталі, огляди, HRC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61888" y="2080260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Спеціалізований онлайн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65008" y="2080260"/>
            <a:ext cx="722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Так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42248" y="2080260"/>
            <a:ext cx="2688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Satake, Tojiro, Kasumi Tora. Читає перед покупкою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93776" y="2327148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2368296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B2C · ентузіаст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70048" y="2368296"/>
            <a:ext cx="12252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6 000 – 40 140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50208" y="2368296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Ковалі, серії, колекція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61888" y="2368296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Монобренд, сірий імпорт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65008" y="2368296"/>
            <a:ext cx="722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Так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42248" y="2368296"/>
            <a:ext cx="2688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Yaxell Gou, Shun, одностороннє вуглецеве. 2–4 тис. людей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2656332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94F7C"/>
                </a:solidFill>
                <a:latin typeface="Segoe UI"/>
              </a:rPr>
              <a:t>B2C · подарунок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670048" y="2656332"/>
            <a:ext cx="12252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3 000 – 20 000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50208" y="2656332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Коробка, гравіювання, набір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61888" y="2656332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Спеціалізація, монобренд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65008" y="2656332"/>
            <a:ext cx="722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Так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42248" y="2656332"/>
            <a:ext cx="2688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Пік у грудні та березні. Купує не для себе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93776" y="2903220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2944368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B2B · лінійний кухар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670048" y="2944368"/>
            <a:ext cx="12252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300 – 1 500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950208" y="2944368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Зносостійкість, ціна заміни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61888" y="2944368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Опт HoReCa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65008" y="2944368"/>
            <a:ext cx="722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Ні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842248" y="2944368"/>
            <a:ext cx="2688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Arcos, Tramontina, Pirge. Ніж — витратний матеріал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928" y="3232403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B2B · шеф і суші-майстер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670048" y="3232403"/>
            <a:ext cx="12252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2 000 – 15 000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950208" y="3232403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Особистий набір, геометрія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961888" y="3232403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Купує сам, часто за кордоном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065008" y="3232403"/>
            <a:ext cx="722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Так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842248" y="3232403"/>
            <a:ext cx="2688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Єдиний професіонал, що платить за Японію. Але не через дистриб'ютора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93776" y="3479291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66928" y="3520439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B2B · інституційний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670048" y="3520439"/>
            <a:ext cx="12252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200 – 800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950208" y="3520439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HACCP, кольорове кодування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961888" y="3520439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Тендер, опт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065008" y="3520439"/>
            <a:ext cx="722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Ні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842248" y="3520439"/>
            <a:ext cx="2688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Їдальні, кейтеринг, харчові виробництва. Європа за замовчуванням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66928" y="4041648"/>
            <a:ext cx="3584448" cy="219456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66928" y="4041648"/>
            <a:ext cx="36576" cy="219456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04672" y="4197096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5D4B96"/>
                </a:solidFill>
                <a:latin typeface="Segoe UI"/>
              </a:rPr>
              <a:t>ЄДИНІ ДВА, ХТО ПЛАТИТЬ ЗА ЯПОНІЮ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04672" y="4425696"/>
            <a:ext cx="3108960" cy="1664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Просьюмер і ентузіаст. Разом це, за оцінкою, 15–25 тис. активних покупців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на всю країну.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Подарунковий покупець платить за коробку, а не за походження: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його однаково влаштує Solingen.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297680" y="4041648"/>
            <a:ext cx="3584448" cy="219456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4297680" y="4041648"/>
            <a:ext cx="36576" cy="219456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535424" y="4197096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ПАРАДОКС ШЕФА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35424" y="4425696"/>
            <a:ext cx="3108960" cy="1664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Шеф-кухар — найкваліфікованіший покупець японського ножа в країні.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І саме він найгірший клієнт для дистриб'ютора: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він купує один ніж раз на 3–5 років, обирає сам, часто привозить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із-за кордону або замовляє напряму. Він не канал — він референс.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046720" y="4041648"/>
            <a:ext cx="3584448" cy="219456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046720" y="4041648"/>
            <a:ext cx="36576" cy="219456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284464" y="4197096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ДЕ РЕАЛЬНІ ГРОШІ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284464" y="4425696"/>
            <a:ext cx="3108960" cy="1664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Масовий B2C і лінійний кухар — це 80 % штук категорії.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Обидва не купують Японію і не збираються.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Будь-яка модель, побудована на японському походженні,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за визначенням відрізає себе від 80 % ринку.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КАРТА КАНАЛІВ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Шість каналів, і японська глибина тільки в двох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Аудит публічних каталогів, вересень 2026. SKU — це ширина асортименту, а не продажі.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КАНАЛ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70048" y="1572768"/>
            <a:ext cx="3154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ГРАВЦІ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24728" y="1572768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ГЛИБИНА ЯПОНІЇ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87768" y="1572768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ЦІНИ, ГРН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05088" y="1572768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ПОКУПЕЦЬ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25328" y="1572768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РОЛЬ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3776" y="1773936"/>
            <a:ext cx="11155680" cy="548640"/>
          </a:xfrm>
          <a:prstGeom prst="roundRect">
            <a:avLst>
              <a:gd name="adj" fmla="val 1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1828800"/>
            <a:ext cx="20299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60" b="1">
                <a:solidFill>
                  <a:srgbClr val="5D4B96"/>
                </a:solidFill>
                <a:latin typeface="Segoe UI"/>
              </a:rPr>
              <a:t>Спеціалізований онлайн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70048" y="1828800"/>
            <a:ext cx="309067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japan-knife, ProfiMax, ROKS, Volod, Rezat,
Hangiri, Nojaro, Smart-Kitchen, Europosud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24728" y="1828800"/>
            <a:ext cx="13898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5D4B96"/>
                </a:solidFill>
                <a:latin typeface="Segoe UI"/>
              </a:rPr>
              <a:t>Максимальна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2048" y="1828800"/>
            <a:ext cx="13533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1 000 – 38 640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59368" y="1828800"/>
            <a:ext cx="184708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Ентузіаст, просьюмер, подарунок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79608" y="1828800"/>
            <a:ext cx="1051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Авторитет категорії. Малий обіг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2432304"/>
            <a:ext cx="20299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60" b="1">
                <a:solidFill>
                  <a:srgbClr val="C94F7C"/>
                </a:solidFill>
                <a:latin typeface="Segoe UI"/>
              </a:rPr>
              <a:t>Монобрендові імпортери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70048" y="2432304"/>
            <a:ext cx="309067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yaxell.com.ua, zwilling.in.ua (Miyabi),
arcos.com.ua, lacocotte.com.ua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24728" y="2432304"/>
            <a:ext cx="13898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94F7C"/>
                </a:solidFill>
                <a:latin typeface="Segoe UI"/>
              </a:rPr>
              <a:t>Ексклюзив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42048" y="2432304"/>
            <a:ext cx="13533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2 895 – 40 140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59368" y="2432304"/>
            <a:ext cx="184708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Преміум B2C, подарунок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79608" y="2432304"/>
            <a:ext cx="1051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Слоти топ-брендів уже зайняті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93776" y="2980944"/>
            <a:ext cx="11155680" cy="548640"/>
          </a:xfrm>
          <a:prstGeom prst="roundRect">
            <a:avLst>
              <a:gd name="adj" fmla="val 1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3035808"/>
            <a:ext cx="20299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60" b="1">
                <a:solidFill>
                  <a:srgbClr val="C4820A"/>
                </a:solidFill>
                <a:latin typeface="Segoe UI"/>
              </a:rPr>
              <a:t>Великий формат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70048" y="3035808"/>
            <a:ext cx="309067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Епіцентр: 4 950 SKU ножів,
з них Samura 287, Suncraft 97, Tojiro 30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24728" y="3035808"/>
            <a:ext cx="13898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Дрібна, але справжня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42048" y="3035808"/>
            <a:ext cx="13533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8 – 56 242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59368" y="3035808"/>
            <a:ext cx="184708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Масовий B2C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79608" y="3035808"/>
            <a:ext cx="1051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Основний обсяг. Домінує Samura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3639312"/>
            <a:ext cx="20299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60" b="1">
                <a:solidFill>
                  <a:srgbClr val="F9A50B"/>
                </a:solidFill>
                <a:latin typeface="Segoe UI"/>
              </a:rPr>
              <a:t>Маркетплейси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670048" y="3639312"/>
            <a:ext cx="309067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Rozetka (Samura 218 SKU), Prom (3 000+
«японських»), Kasta, Bigl, Shafa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24728" y="3639312"/>
            <a:ext cx="13898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F9A50B"/>
                </a:solidFill>
                <a:latin typeface="Segoe UI"/>
              </a:rPr>
              <a:t>Широка, непідтверджена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42048" y="3639312"/>
            <a:ext cx="13533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175 – 9 499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59368" y="3639312"/>
            <a:ext cx="184708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Масовий B2C, мисливець за ціною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79608" y="3639312"/>
            <a:ext cx="1051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Цінова війна. Потік no-name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93776" y="4187952"/>
            <a:ext cx="11155680" cy="548640"/>
          </a:xfrm>
          <a:prstGeom prst="roundRect">
            <a:avLst>
              <a:gd name="adj" fmla="val 1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4242816"/>
            <a:ext cx="20299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60" b="1">
                <a:solidFill>
                  <a:srgbClr val="1E9EA6"/>
                </a:solidFill>
                <a:latin typeface="Segoe UI"/>
              </a:rPr>
              <a:t>Опт HoReCa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670048" y="4242816"/>
            <a:ext cx="309067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AL-Group (523 проф. ножі), LFood, Gastro24,
Profood, Новий Проект, System4, Kareho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24728" y="4242816"/>
            <a:ext cx="13898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E9EA6"/>
                </a:solidFill>
                <a:latin typeface="Segoe UI"/>
              </a:rPr>
              <a:t>Майже нульова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42048" y="4242816"/>
            <a:ext cx="13533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296 – 13 290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59368" y="4242816"/>
            <a:ext cx="184708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Ресторани, кейтеринг, виробництва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579608" y="4242816"/>
            <a:ext cx="1051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Тримають європейські бренди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928" y="4846320"/>
            <a:ext cx="20299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60" b="1">
                <a:solidFill>
                  <a:srgbClr val="717890"/>
                </a:solidFill>
                <a:latin typeface="Segoe UI"/>
              </a:rPr>
              <a:t>Сірий / особистий імпорт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670048" y="4846320"/>
            <a:ext cx="309067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Meest, Nova Poshta Global, Amazon,
mygoodknife, eBay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824728" y="4846320"/>
            <a:ext cx="13898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717890"/>
                </a:solidFill>
                <a:latin typeface="Segoe UI"/>
              </a:rPr>
              <a:t>Будь-яка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42048" y="4846320"/>
            <a:ext cx="13533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до 150 € без мита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59368" y="4846320"/>
            <a:ext cx="184708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Ентузіаст, шеф-кухар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579608" y="4846320"/>
            <a:ext cx="1051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Витік найдорожчого попиту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66928" y="5504688"/>
            <a:ext cx="5413248" cy="87213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66928" y="5504688"/>
            <a:ext cx="36576" cy="87213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04672" y="566013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СТРУКТУРА, ЯКА ВИЗНАЧАЄ ВСЕ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04672" y="5888736"/>
            <a:ext cx="4937760" cy="3417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Обсяг і глибина Японії розведені по різних каналах. Там, де є обіг (Епіцентр,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маркетплейси), японського майже немає. Там, де є Японія, немає обігу.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217920" y="5504688"/>
            <a:ext cx="5413248" cy="87213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217920" y="5504688"/>
            <a:ext cx="36576" cy="872134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455664" y="566013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ЩО ЦЕ ЗНАЧИТЬ ДЛЯ ВХОДУ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455664" y="5888736"/>
            <a:ext cx="4937760" cy="3417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Новий гравець мусить обрати: або ставати шостим спеціалістом у ніші на 16–19 млн грн,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або битися за полицю Епіцентру — де японського походження ніхто не вимагає.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КАНАЛ 1 · СПЕЦІАЛІЗОВАНИЙ ОНЛАЙН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Дев'ять магазинів тримають усю справжню Японію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Це вся категорія «зроблено в Японії» в Україні. Разом — близько 1 000 японських SKU і оцінно 16–19 млн грн роздрібу на рік.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187451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МАГАЗИН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41448" y="1572768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ГЕО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4408" y="1572768"/>
            <a:ext cx="2331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АСОРТИМЕНТ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7" y="1572768"/>
            <a:ext cx="1691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ЦІНИ, ГРН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87767" y="1572768"/>
            <a:ext cx="374903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КЛЮЧОВІ БРЕНДИ І SKU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36807" y="1572768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РОЛЬ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3776" y="1751076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1792224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profimax.com.ua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41448" y="1792224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Київ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64408" y="1792224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12 япон. брендів, ~700 япон. SKU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96127" y="1792224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1 041 – 38 640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87767" y="1792224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Yaxell 103, KAI 140, Samura 206, Tojiro 86, Suncraft 79, Satake 64, Kasumi 21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78440" y="1792224"/>
            <a:ext cx="12527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Найширший каталог країни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2061972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roks.in.ua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41448" y="2061972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Київ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64408" y="2061972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24 япон. бренди, 137 SKU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96127" y="2061972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80 – 16 740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87767" y="2061972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Tosa 26, Kanetsugu 17, Masahiro 16, Yoshihiro 15, Takamura 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78440" y="2061972"/>
            <a:ext cx="12527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Найрідкісніші ковалі. Дилерства не заявляє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93776" y="2290572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2331720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japan-knife.com.ua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41448" y="2331720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Київ, Prom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64408" y="2331720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6 брендів + камені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96127" y="2331720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899 – 9 999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87767" y="2331720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Yaxell, KAI, Kasumi, Tojiro, Samura, Suncraft + Shapton, Naniwa, King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378440" y="2331720"/>
            <a:ext cx="12527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Ніж + заточення в одному місці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2601468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volod.in.ua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41448" y="2601468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Київ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64408" y="2601468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Kasumi 18 SKU, японська секція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96127" y="2601468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1 180 – 10 870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87767" y="2601468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Kasumi Damascus 13, Tora 10, Kuro 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378440" y="2601468"/>
            <a:ext cx="12527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Глибина по одному бренду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93776" y="2830068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2871215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rezat.com.ua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41448" y="2871215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Київ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264408" y="2871215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300+ позицій япон. категорії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96127" y="2871215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570 – 1 150 (масова полиця)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287767" y="2871215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KAI, Samura, Satake, Kanetsugu, Tojiro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378440" y="2871215"/>
            <a:ext cx="12527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Найдоступніший вхід у категорію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928" y="3140963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94F7C"/>
                </a:solidFill>
                <a:latin typeface="Segoe UI"/>
              </a:rPr>
              <a:t>hangiri.com.ua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441448" y="3140963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Київ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264408" y="3140963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Односторонні ножі для суші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96127" y="3140963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1 107 – 4 420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287767" y="3140963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Sekiryu, Sakai Takayuki, KAI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378440" y="3140963"/>
            <a:ext cx="12527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Єдиний профільний суші-магазин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93776" y="3369563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66928" y="3410711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smart-kitchen.com.ua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441448" y="3410711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Київ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264408" y="3410711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Секція «для суші»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596127" y="3410711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287767" y="3410711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Sekiryu та ін.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378440" y="3410711"/>
            <a:ext cx="12527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Кухонна спеціалізація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6928" y="3680459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nojaro.com.ua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441448" y="3680459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264408" y="3680459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Секція сантоку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596127" y="3680459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287767" y="3680459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Змішаний асортимент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378440" y="3680459"/>
            <a:ext cx="12527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Нішевий агрегатор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93776" y="3909059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66928" y="3950207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europosud.ua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441448" y="3950207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264408" y="3950207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Серія «японські ножі»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596127" y="3950207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287767" y="3950207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Samura, Tojiro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378440" y="3950207"/>
            <a:ext cx="12527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Посуд + ножі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378440" y="1572768"/>
            <a:ext cx="12527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РОЛЬ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566928" y="4315968"/>
            <a:ext cx="3584448" cy="192024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566928" y="4315968"/>
            <a:ext cx="36576" cy="192024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04672" y="4471416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ЧОМУ ЦЕЙ КАНАЛ НЕ МАСШТАБУЄТЬСЯ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" y="4700016"/>
            <a:ext cx="3108960" cy="1389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Дев'ять магазинів на 33 млн населення — це не недорозвиненість,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а рівновага. Ринок, який вони обслуговують, замалий для десятого.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Жоден із них не має офлайн-мережі: усе працює через Нову пошту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з одного київського складу.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297680" y="4315968"/>
            <a:ext cx="3584448" cy="192024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4297680" y="4315968"/>
            <a:ext cx="36576" cy="192024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535424" y="4471416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E9EA6"/>
                </a:solidFill>
                <a:latin typeface="Segoe UI"/>
              </a:rPr>
              <a:t>ЩО ЦЕЙ КАНАЛ РОБИТЬ ДОБРЕ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535424" y="4700016"/>
            <a:ext cx="3108960" cy="1389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Продає складний товар складному покупцю: описи сталі, HRC,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кількість шарів, походження заводу.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Це єдиний канал, де маржа виправдовує консультацію.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Тут можна запустити новий бренд — але не можна заробити обсяг.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8046720" y="4315968"/>
            <a:ext cx="3584448" cy="192024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8046720" y="4315968"/>
            <a:ext cx="36576" cy="192024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284464" y="4471416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ЗАУВАЖЕННЯ ПРО ДОСТОВІРНІСТЬ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284464" y="4700016"/>
            <a:ext cx="3108960" cy="1389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ROKS прямо не заявляє статусу офіційного дилера, хоча продає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24 японські бренди. japan-knife працює через Prom.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Для покупця це означає, що гарантія і походження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тримаються на слові продавця, а не на дилерському договорі.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КАНАЛ 2 · МОНОБРЕНДОВІ ІМПОРТЕРИ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Найкращі бренди вже мають ексклюзивного партнера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Це головна перешкода входу, яку зазвичай помічають надто пізно: вільних топ-брендів на ринку немає.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1783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50008" y="1572768"/>
            <a:ext cx="1828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ПОХОДЖЕННЯ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78808" y="1572768"/>
            <a:ext cx="2514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КАНАЛ В УКРАЇНІ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3408" y="1572768"/>
            <a:ext cx="3246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СТАТУС ДИСТРИБУЦІЇ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39528" y="1572768"/>
            <a:ext cx="1325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ЦІНИ, ГРН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3776" y="1764792"/>
            <a:ext cx="11155680" cy="402336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1810512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Yaxell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50008" y="1810512"/>
            <a:ext cx="17647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Японія, Секі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78808" y="1810512"/>
            <a:ext cx="24505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yaxell.com.ua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3408" y="1810512"/>
            <a:ext cx="31821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Ексклюзивний імпортер, шоурум у Києві
(Борщагівська 154а, ТЦ Аркадія)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39528" y="1810512"/>
            <a:ext cx="12618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2 895 – 38 640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018520" y="1792224"/>
            <a:ext cx="612648" cy="173736"/>
          </a:xfrm>
          <a:prstGeom prst="roundRect">
            <a:avLst>
              <a:gd name="adj" fmla="val 35000"/>
            </a:avLst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018520" y="1819656"/>
            <a:ext cx="6126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Зайнято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2267712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Miyabi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50008" y="2267712"/>
            <a:ext cx="17647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Японія, Секі (Zwilling)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78808" y="2267712"/>
            <a:ext cx="24505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zwilling.in.ua, lacocotte.com.ua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93408" y="2267712"/>
            <a:ext cx="31821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Офіційне представництво Zwilling в Україні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39528" y="2267712"/>
            <a:ext cx="12618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7 220 – 40 140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018520" y="2249424"/>
            <a:ext cx="612648" cy="173736"/>
          </a:xfrm>
          <a:prstGeom prst="roundRect">
            <a:avLst>
              <a:gd name="adj" fmla="val 35000"/>
            </a:avLst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018520" y="2276856"/>
            <a:ext cx="6126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Зайнято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93776" y="2679192"/>
            <a:ext cx="11155680" cy="402336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2724912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KAI / Shun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50008" y="2724912"/>
            <a:ext cx="17647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Японія, Секі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78808" y="2724912"/>
            <a:ext cx="24505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profimax, Епіцентр, japan-knife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93408" y="2724912"/>
            <a:ext cx="31821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Кілька продавців, дистриб'ютор не афішується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39528" y="2724912"/>
            <a:ext cx="12618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726 – 27 970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018520" y="2706624"/>
            <a:ext cx="612648" cy="173736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018520" y="2734056"/>
            <a:ext cx="6126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Напівзайнято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3182112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Tojiro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350008" y="3182112"/>
            <a:ext cx="17647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Японія, 3 заводи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78808" y="3182112"/>
            <a:ext cx="24505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profimax, Епіцентр, europosud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93408" y="3182112"/>
            <a:ext cx="31821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Кілька продавців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39528" y="3182112"/>
            <a:ext cx="12618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599 – 16 499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1018520" y="3163824"/>
            <a:ext cx="612648" cy="173736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018520" y="3191256"/>
            <a:ext cx="6126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Напівзайнято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93776" y="3593592"/>
            <a:ext cx="11155680" cy="402336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66928" y="3639312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Suncraft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350008" y="3639312"/>
            <a:ext cx="17647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78808" y="3639312"/>
            <a:ext cx="24505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profimax, Епіцентр (97 SKU)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693408" y="3639312"/>
            <a:ext cx="31821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Присутній у великому форматі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39528" y="3639312"/>
            <a:ext cx="12618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3 299 – 18 999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018520" y="3621024"/>
            <a:ext cx="612648" cy="173736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018520" y="3648456"/>
            <a:ext cx="6126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Напівзайнято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6928" y="4096512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Satake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350008" y="4096512"/>
            <a:ext cx="17647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Японія, Секі, з 1947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178808" y="4096512"/>
            <a:ext cx="24505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profimax, rezat, Prom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693408" y="4096512"/>
            <a:ext cx="31821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Розсіяний, без явного ексклюзиву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939528" y="4096512"/>
            <a:ext cx="12618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979 – 16 999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1018520" y="4078224"/>
            <a:ext cx="612648" cy="173736"/>
          </a:xfrm>
          <a:prstGeom prst="roundRect">
            <a:avLst>
              <a:gd name="adj" fmla="val 35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1018520" y="4105656"/>
            <a:ext cx="6126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Вільніше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93776" y="4507992"/>
            <a:ext cx="11155680" cy="402336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66928" y="4553712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Kasumi / Sumikama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350008" y="4553712"/>
            <a:ext cx="17647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Японія, Секі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178808" y="4553712"/>
            <a:ext cx="24505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volod, japan-knife, profimax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693408" y="4553712"/>
            <a:ext cx="31821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Розсіяний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939528" y="4553712"/>
            <a:ext cx="12618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1 180 – 10 870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1018520" y="4535424"/>
            <a:ext cx="612648" cy="173736"/>
          </a:xfrm>
          <a:prstGeom prst="roundRect">
            <a:avLst>
              <a:gd name="adj" fmla="val 35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1018520" y="4562856"/>
            <a:ext cx="6126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Вільніше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66928" y="5010912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Arcos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350008" y="5010912"/>
            <a:ext cx="17647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Іспанія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178808" y="5010912"/>
            <a:ext cx="24505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arcos.com.ua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693408" y="5010912"/>
            <a:ext cx="31821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Офіційний сайт бренду в Україні, 311 SKU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939528" y="5010912"/>
            <a:ext cx="12618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1018520" y="4992624"/>
            <a:ext cx="612648" cy="173736"/>
          </a:xfrm>
          <a:prstGeom prst="roundRect">
            <a:avLst>
              <a:gd name="adj" fmla="val 35000"/>
            </a:avLst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1018520" y="5020056"/>
            <a:ext cx="6126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Зайнято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1018520" y="1572768"/>
            <a:ext cx="6126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СЛОТ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566928" y="5504688"/>
            <a:ext cx="5413248" cy="87782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566928" y="5504688"/>
            <a:ext cx="36576" cy="87782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04672" y="566013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ЩО ЗАЛИШИЛОСЬ ВІЛЬНИМ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" y="5888736"/>
            <a:ext cx="49377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Satake і Kasumi — єдині серйозні японські бренди без явного ексклюзивного партнера.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Обидва — середній ціновий сегмент. Верхній сегмент закритий повністю.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217920" y="5504688"/>
            <a:ext cx="5413248" cy="87782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217920" y="5504688"/>
            <a:ext cx="36576" cy="87782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455664" y="566013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E9EA6"/>
                </a:solidFill>
                <a:latin typeface="Segoe UI"/>
              </a:rPr>
              <a:t>АЛЬТЕРНАТИВА ДИСТРИБУЦІЇ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455664" y="5888736"/>
            <a:ext cx="49377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Власна торгова марка з японського заводу (OEM) обходить питання слотів,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але додає вартість побудови бренду до вже наявних 10 % мита.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03504" y="649224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Статус дистрибуції визначено за наявністю окремого брендового сайту з українською доменною зоною та заявою про ексклюзив; це непрямий індикатор, а не перевірені дилерські договори.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КАНАЛ 3 · ВЕЛИКИЙ ФОРМАТ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FFFFFF"/>
                </a:solidFill>
                <a:latin typeface="Segoe UI"/>
              </a:rPr>
              <a:t>Епіцентр: 4 950 ножів, і третій бренд у ньому — Samura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Найбільша офлайн-полиця кухонних ножів в Україні. Саме вона визначає, що більшість людей вважає нормальною ціною.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БРЕНДИ ЗА ШИРИНОЮ АСОРТИМЕНТУ · КАТЕГОРІЯ «КУХОННІ НОЖІ»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810512"/>
            <a:ext cx="1371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1C2235"/>
                </a:solidFill>
                <a:latin typeface="Segoe UI"/>
              </a:rPr>
              <a:t>Victorinox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93392" y="1851660"/>
            <a:ext cx="2795663" cy="82296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19472" y="1810512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717890"/>
                </a:solidFill>
                <a:latin typeface="Segoe UI"/>
              </a:rPr>
              <a:t>789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32120" y="1810512"/>
            <a:ext cx="1600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Швейцарія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78040" y="1810512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Проф. і масовий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2066543"/>
            <a:ext cx="1371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1C2235"/>
                </a:solidFill>
                <a:latin typeface="Segoe UI"/>
              </a:rPr>
              <a:t>Tramontina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93392" y="2107691"/>
            <a:ext cx="2239365" cy="82296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19472" y="2066543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717890"/>
                </a:solidFill>
                <a:latin typeface="Segoe UI"/>
              </a:rPr>
              <a:t>632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32120" y="2066543"/>
            <a:ext cx="1600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Бразилія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78040" y="2066543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Масовий, HoReCa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2322576"/>
            <a:ext cx="1371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Samura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993392" y="2363724"/>
            <a:ext cx="1016927" cy="82296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19472" y="2322576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03B4B"/>
                </a:solidFill>
                <a:latin typeface="Segoe UI"/>
              </a:rPr>
              <a:t>287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32120" y="2322576"/>
            <a:ext cx="1600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«Японія» / Китай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78040" y="2322576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Масовий, середній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2578608"/>
            <a:ext cx="1371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1C2235"/>
                </a:solidFill>
                <a:latin typeface="Segoe UI"/>
              </a:rPr>
              <a:t>Fissman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993392" y="2619756"/>
            <a:ext cx="846848" cy="822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19472" y="2578608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239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32120" y="2578608"/>
            <a:ext cx="1600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Латвія / Китай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78040" y="2578608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Масовий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2834640"/>
            <a:ext cx="1371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1C2235"/>
                </a:solidFill>
                <a:latin typeface="Segoe UI"/>
              </a:rPr>
              <a:t>Maestro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993392" y="2875788"/>
            <a:ext cx="425196" cy="82296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919472" y="2834640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717890"/>
                </a:solidFill>
                <a:latin typeface="Segoe UI"/>
              </a:rPr>
              <a:t>120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32120" y="2834640"/>
            <a:ext cx="1600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 / Китай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78040" y="2834640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Вхідний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3090672"/>
            <a:ext cx="1371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1C2235"/>
                </a:solidFill>
                <a:latin typeface="Segoe UI"/>
              </a:rPr>
              <a:t>Tescoma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993392" y="3131820"/>
            <a:ext cx="400392" cy="82296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19472" y="3090672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717890"/>
                </a:solidFill>
                <a:latin typeface="Segoe UI"/>
              </a:rPr>
              <a:t>113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32120" y="3090672"/>
            <a:ext cx="1600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Чехія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78040" y="3090672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Масовий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" y="3346704"/>
            <a:ext cx="1371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1C2235"/>
                </a:solidFill>
                <a:latin typeface="Segoe UI"/>
              </a:rPr>
              <a:t>Vinzer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993392" y="3387852"/>
            <a:ext cx="389763" cy="82296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919472" y="3346704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717890"/>
                </a:solidFill>
                <a:latin typeface="Segoe UI"/>
              </a:rPr>
              <a:t>110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532120" y="3346704"/>
            <a:ext cx="1600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 / Китай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178040" y="3346704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Масовий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" y="3602736"/>
            <a:ext cx="1371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1C2235"/>
                </a:solidFill>
                <a:latin typeface="Segoe UI"/>
              </a:rPr>
              <a:t>Krauff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993392" y="3643884"/>
            <a:ext cx="361416" cy="822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919472" y="3602736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102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532120" y="3602736"/>
            <a:ext cx="1600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Німеччина / Китай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78040" y="3602736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Масовий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6928" y="3858768"/>
            <a:ext cx="1371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Suncraft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993392" y="3899916"/>
            <a:ext cx="343700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19472" y="3858768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E9EA6"/>
                </a:solidFill>
                <a:latin typeface="Segoe UI"/>
              </a:rPr>
              <a:t>97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532120" y="3858768"/>
            <a:ext cx="1600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178040" y="3858768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Середній і преміум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6928" y="4114800"/>
            <a:ext cx="1371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1C2235"/>
                </a:solidFill>
                <a:latin typeface="Segoe UI"/>
              </a:rPr>
              <a:t>Kamille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993392" y="4155948"/>
            <a:ext cx="315353" cy="82296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919472" y="4114800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717890"/>
                </a:solidFill>
                <a:latin typeface="Segoe UI"/>
              </a:rPr>
              <a:t>89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532120" y="4114800"/>
            <a:ext cx="1600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 / Китай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178040" y="4114800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Вхідний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6928" y="4370832"/>
            <a:ext cx="1371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Tojiro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993392" y="4411980"/>
            <a:ext cx="106299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919472" y="4370832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E9EA6"/>
                </a:solidFill>
                <a:latin typeface="Segoe UI"/>
              </a:rPr>
              <a:t>30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532120" y="4370832"/>
            <a:ext cx="1600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178040" y="4370832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Преміум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66928" y="4626864"/>
            <a:ext cx="1371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KAI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993392" y="4668012"/>
            <a:ext cx="21259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919472" y="4626864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E9EA6"/>
                </a:solidFill>
                <a:latin typeface="Segoe UI"/>
              </a:rPr>
              <a:t>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532120" y="4626864"/>
            <a:ext cx="1600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178040" y="4626864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Преміум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8833104" y="1810512"/>
            <a:ext cx="2798064" cy="102412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034272" y="1965960"/>
            <a:ext cx="23957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УСЬОГО SKU В КАТЕГОРІЇ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034272" y="2176272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C4820A"/>
                </a:solidFill>
                <a:latin typeface="Segoe UI"/>
              </a:rPr>
              <a:t>4 950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34272" y="2651760"/>
            <a:ext cx="2395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Ножі кухонні, Епіцентр,
вересень 2026.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8833104" y="2926080"/>
            <a:ext cx="2798064" cy="102412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034272" y="3081528"/>
            <a:ext cx="23957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ЦІНОВИЙ РОЗМАХ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034272" y="3291840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1E9EA6"/>
                </a:solidFill>
                <a:latin typeface="Segoe UI"/>
              </a:rPr>
              <a:t>8 – 56 242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034272" y="3767328"/>
            <a:ext cx="2395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грн. Основна маса —
79–699 грн.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8833104" y="4041648"/>
            <a:ext cx="2798064" cy="102412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034272" y="4197096"/>
            <a:ext cx="23957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СПРАВЖНЯ ЯПОНІЯ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034272" y="4407408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5D4B96"/>
                </a:solidFill>
                <a:latin typeface="Segoe UI"/>
              </a:rPr>
              <a:t>133 SKU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034272" y="4882896"/>
            <a:ext cx="2395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Suncraft 97 + Tojiro 30 + KAI 6.
2,7 % полиці.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8833104" y="5157216"/>
            <a:ext cx="2798064" cy="102412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9034272" y="5312664"/>
            <a:ext cx="23957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«ЯПОНІЯ» З КИТАЮ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034272" y="5522976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C03B4B"/>
                </a:solidFill>
                <a:latin typeface="Segoe UI"/>
              </a:rPr>
              <a:t>287 SKU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034272" y="5998464"/>
            <a:ext cx="2395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Тільки Samura.
У 2,2 раза більше за всю Японію.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566928" y="5029200"/>
            <a:ext cx="4005072" cy="120700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566928" y="5029200"/>
            <a:ext cx="36576" cy="1207008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04672" y="5184648"/>
            <a:ext cx="35295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ГОЛОВНИЙ ФАКТ ЦІЄЇ ПОЛИЦІ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04672" y="5413248"/>
            <a:ext cx="3529584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Найбільша мережа країни продає під вивіскою японського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ножа у 2,2 раза більше SKU бренду з Китаю, ніж усіх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справжніх японців разом. Покупець різниці не бачить.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4718304" y="5029200"/>
            <a:ext cx="4005072" cy="120700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718304" y="5029200"/>
            <a:ext cx="36576" cy="1207008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956048" y="5184648"/>
            <a:ext cx="35295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37A169"/>
                </a:solidFill>
                <a:latin typeface="Segoe UI"/>
              </a:rPr>
              <a:t>ЩО ЦЕ ВІДКРИВАЄ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956048" y="5413248"/>
            <a:ext cx="3529584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Suncraft із 97 SKU — не тест, а повноцінна лінійка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справжньої Японії у великому форматі. Бар'єр не в мережі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й не в покупцеві, а в тому, хто зайде з пропозицією.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03504" y="649224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Джерело: публічний каталог epicentrk.ua, фільтр «Кухонні ножі», вересень 2026. Кількість SKU відображає ширину асортименту, а не продажі. Походження вказано за даними виробників і публічних джерел.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КАНАЛ 4 · МАРКЕТПЛЕЙСИ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3 000+ «японських ножів», з яких японських — одиниці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Тут формується уявлення покупця про ціну. І тут же — найбільший ризик для будь-якого бренду, який хоче тримати позиціювання.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54480"/>
            <a:ext cx="3584448" cy="224942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54480"/>
            <a:ext cx="3584448" cy="4572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1755648"/>
            <a:ext cx="31455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1C2235"/>
                </a:solidFill>
                <a:latin typeface="Segoe UI"/>
              </a:rPr>
              <a:t>ROZETKA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2048256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Samura — 218 SKU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2249424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717890"/>
                </a:solidFill>
                <a:latin typeface="Segoe UI"/>
              </a:rPr>
              <a:t>Fissman сантоку — 61 SKU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2487168"/>
            <a:ext cx="31455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C2235"/>
                </a:solidFill>
                <a:latin typeface="Segoe UI"/>
              </a:rPr>
              <a:t>175 – 9 499 грн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6384" y="2761488"/>
            <a:ext cx="314553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" y="2889504"/>
            <a:ext cx="3145536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Найбільший трафік категорії в Україні.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Фільтр «японський ніж (сантоку)» — це тип леза,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а не походження. Global присутній, 2 618 – 13 195 грн.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70248" y="1554480"/>
            <a:ext cx="3584448" cy="224942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70248" y="1554480"/>
            <a:ext cx="3584448" cy="4572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9704" y="1755648"/>
            <a:ext cx="31455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1C2235"/>
                </a:solidFill>
                <a:latin typeface="Segoe UI"/>
              </a:rPr>
              <a:t>PROM.UA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9704" y="2048256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5D4B96"/>
                </a:solidFill>
                <a:latin typeface="Segoe UI"/>
              </a:rPr>
              <a:t>3 000+ пропозицій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9704" y="2249424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717890"/>
                </a:solidFill>
                <a:latin typeface="Segoe UI"/>
              </a:rPr>
              <a:t>29 на першій сторінці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9704" y="2487168"/>
            <a:ext cx="31455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C2235"/>
                </a:solidFill>
                <a:latin typeface="Segoe UI"/>
              </a:rPr>
              <a:t>399 – 6 200 грн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89704" y="2761488"/>
            <a:ext cx="314553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9704" y="2889504"/>
            <a:ext cx="3145536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Продавці: KnivaX, Ukrmaga, City Home, Rubanok,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Комплекс Маркет. Бренди: Satake, Takagi, Satori,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Suncraft Senzo, Vinzer, SONMELONY, TURWHO.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73567" y="1554480"/>
            <a:ext cx="3584448" cy="224942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973567" y="1554480"/>
            <a:ext cx="3584448" cy="45720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93023" y="1755648"/>
            <a:ext cx="31455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1C2235"/>
                </a:solidFill>
                <a:latin typeface="Segoe UI"/>
              </a:rPr>
              <a:t>ІНШІ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93023" y="2048256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717890"/>
                </a:solidFill>
                <a:latin typeface="Segoe UI"/>
              </a:rPr>
              <a:t>Kasta, Bigl, Shafa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93023" y="2249424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717890"/>
                </a:solidFill>
                <a:latin typeface="Segoe UI"/>
              </a:rPr>
              <a:t>Shafa — вторинний ринок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93023" y="2487168"/>
            <a:ext cx="31455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C2235"/>
                </a:solidFill>
                <a:latin typeface="Segoe UI"/>
              </a:rPr>
              <a:t>1 999 – 2 979 грн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93023" y="2761488"/>
            <a:ext cx="314553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93023" y="2889504"/>
            <a:ext cx="3145536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Shafa продає «професійний японський кіріцуке»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за 2 979 грн без бренду взагалі.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Вторинний ринок japanese-style уже сформувався.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3968496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ЩО РЕАЛЬНО ПРОДАЄТЬСЯ ПІД СЛОВОМ «ЯПОНСЬКИЙ»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4206240"/>
            <a:ext cx="3840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ПОЗИЦІЯ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07408" y="4206240"/>
            <a:ext cx="1234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МАЙДАНЧИК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41848" y="4206240"/>
            <a:ext cx="11430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ЦІНА, ГРН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84848" y="4206240"/>
            <a:ext cx="4800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ЩО ЦЕ НАСПРАВДІ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93776" y="4366260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6928" y="4407408"/>
            <a:ext cx="3785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TURWHO шеф 8″, дамаск VG-10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07408" y="4407408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Prom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41848" y="4407408"/>
            <a:ext cx="10881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2 870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84848" y="4407408"/>
            <a:ext cx="4745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Китай, бренд без історії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4663440"/>
            <a:ext cx="3785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Янагіба без бренду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07408" y="4663440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Prom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41848" y="4663440"/>
            <a:ext cx="10881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1 586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784848" y="4663440"/>
            <a:ext cx="4745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Походження не вказано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93776" y="4878324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66928" y="4919472"/>
            <a:ext cx="3785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Кіріцуке «професійний»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407408" y="4919472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Shafa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41848" y="4919472"/>
            <a:ext cx="10881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2 979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784848" y="4919472"/>
            <a:ext cx="4745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Вторинний ринок, без бренду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6928" y="5175504"/>
            <a:ext cx="3785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Satake Saku накірі 170 мм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407408" y="5175504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Prom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41848" y="5175504"/>
            <a:ext cx="10881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1 249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784848" y="5175504"/>
            <a:ext cx="4745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Секі, Японія, з 1947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93776" y="5390388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66928" y="5431536"/>
            <a:ext cx="3785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Sekiryu SR-400 янагіба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407408" y="5431536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Hangiri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641848" y="5431536"/>
            <a:ext cx="10881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1 107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784848" y="5431536"/>
            <a:ext cx="4745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Японський бренд, бюджетна лінія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6928" y="5687568"/>
            <a:ext cx="3785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Krauff Luxus сантоку 17,7 см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407408" y="5687568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Rozetka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641848" y="5687568"/>
            <a:ext cx="10881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540 (з 720)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784848" y="5687568"/>
            <a:ext cx="4745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Німецький бренд, Китай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93776" y="5902452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66928" y="5943600"/>
            <a:ext cx="3785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Fissman Elegance сантоку 13 см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407408" y="5943600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Rozetka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641848" y="5943600"/>
            <a:ext cx="10881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436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784848" y="5943600"/>
            <a:ext cx="4745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Латвійський бренд, Китай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03504" y="6327648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Ціни зібрані з публічних сторінок магазинів у вересні 2026 і включають промо-знижки. Вони не є середніми цінами продажу.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КАНАЛ 5 · ОПТ HORECA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FFFFFF"/>
                </a:solidFill>
                <a:latin typeface="Segoe UI"/>
              </a:rPr>
              <a:t>523 професійні ножі — і два японські бренди серед них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Це головний негативний результат дослідження. Професійний канал в Україні японські ножі не продає.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AL-GROUP · ОПТ ПРОФЕСІЙНИХ НОЖІВ ДЛЯ HORECA · 523 ПОЗИЦІЇ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810512"/>
            <a:ext cx="1353312" cy="256032"/>
          </a:xfrm>
          <a:prstGeom prst="roundRect">
            <a:avLst>
              <a:gd name="adj" fmla="val 3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879092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303A5D"/>
                </a:solidFill>
                <a:latin typeface="Segoe UI"/>
              </a:rPr>
              <a:t>Arcos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2084831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Іспанія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993392" y="1810512"/>
            <a:ext cx="1353312" cy="256032"/>
          </a:xfrm>
          <a:prstGeom prst="roundRect">
            <a:avLst>
              <a:gd name="adj" fmla="val 3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993392" y="1879092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303A5D"/>
                </a:solidFill>
                <a:latin typeface="Segoe UI"/>
              </a:rPr>
              <a:t>Tramontina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93392" y="2084831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Бразилія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19856" y="1810512"/>
            <a:ext cx="1353312" cy="256032"/>
          </a:xfrm>
          <a:prstGeom prst="roundRect">
            <a:avLst>
              <a:gd name="adj" fmla="val 3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19856" y="1879092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303A5D"/>
                </a:solidFill>
                <a:latin typeface="Segoe UI"/>
              </a:rPr>
              <a:t>Pirge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19856" y="2084831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Туреччина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46320" y="1810512"/>
            <a:ext cx="1353312" cy="256032"/>
          </a:xfrm>
          <a:prstGeom prst="roundRect">
            <a:avLst>
              <a:gd name="adj" fmla="val 3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46320" y="1879092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303A5D"/>
                </a:solidFill>
                <a:latin typeface="Segoe UI"/>
              </a:rPr>
              <a:t>Sanelli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6320" y="2084831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Італія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72784" y="1810512"/>
            <a:ext cx="1353312" cy="256032"/>
          </a:xfrm>
          <a:prstGeom prst="roundRect">
            <a:avLst>
              <a:gd name="adj" fmla="val 3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72784" y="1879092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303A5D"/>
                </a:solidFill>
                <a:latin typeface="Segoe UI"/>
              </a:rPr>
              <a:t>Hendi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72784" y="2084831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Нідерланди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699248" y="1810512"/>
            <a:ext cx="1353312" cy="256032"/>
          </a:xfrm>
          <a:prstGeom prst="roundRect">
            <a:avLst>
              <a:gd name="adj" fmla="val 3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99248" y="1879092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303A5D"/>
                </a:solidFill>
                <a:latin typeface="Segoe UI"/>
              </a:rPr>
              <a:t>Stalgast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99248" y="2084831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Польща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25712" y="1810512"/>
            <a:ext cx="1353312" cy="256032"/>
          </a:xfrm>
          <a:prstGeom prst="roundRect">
            <a:avLst>
              <a:gd name="adj" fmla="val 3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25712" y="1879092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303A5D"/>
                </a:solidFill>
                <a:latin typeface="Segoe UI"/>
              </a:rPr>
              <a:t>Paderno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25712" y="2084831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Італія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2304288"/>
            <a:ext cx="1353312" cy="256032"/>
          </a:xfrm>
          <a:prstGeom prst="roundRect">
            <a:avLst>
              <a:gd name="adj" fmla="val 3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2372868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303A5D"/>
                </a:solidFill>
                <a:latin typeface="Segoe UI"/>
              </a:rPr>
              <a:t>Lacor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2578608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Іспанія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993392" y="2304288"/>
            <a:ext cx="1353312" cy="256032"/>
          </a:xfrm>
          <a:prstGeom prst="roundRect">
            <a:avLst>
              <a:gd name="adj" fmla="val 3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993392" y="2372868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303A5D"/>
                </a:solidFill>
                <a:latin typeface="Segoe UI"/>
              </a:rPr>
              <a:t>Giesser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93392" y="2578608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Німеччина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419856" y="2304288"/>
            <a:ext cx="1353312" cy="256032"/>
          </a:xfrm>
          <a:prstGeom prst="roundRect">
            <a:avLst>
              <a:gd name="adj" fmla="val 3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419856" y="2372868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303A5D"/>
                </a:solidFill>
                <a:latin typeface="Segoe UI"/>
              </a:rPr>
              <a:t>Forest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19856" y="2578608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Іспанія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846320" y="2304288"/>
            <a:ext cx="1353312" cy="256032"/>
          </a:xfrm>
          <a:prstGeom prst="roundRect">
            <a:avLst>
              <a:gd name="adj" fmla="val 3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846320" y="2372868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303A5D"/>
                </a:solidFill>
                <a:latin typeface="Segoe UI"/>
              </a:rPr>
              <a:t>WAS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46320" y="2578608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Німеччина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272784" y="2304288"/>
            <a:ext cx="1353312" cy="256032"/>
          </a:xfrm>
          <a:prstGeom prst="roundRect">
            <a:avLst>
              <a:gd name="adj" fmla="val 3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272784" y="2372868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303A5D"/>
                </a:solidFill>
                <a:latin typeface="Segoe UI"/>
              </a:rPr>
              <a:t>GI.Metall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72784" y="2578608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Італія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699248" y="2304288"/>
            <a:ext cx="1353312" cy="256032"/>
          </a:xfrm>
          <a:prstGeom prst="roundRect">
            <a:avLst>
              <a:gd name="adj" fmla="val 3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699248" y="2372868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303A5D"/>
                </a:solidFill>
                <a:latin typeface="Segoe UI"/>
              </a:rPr>
              <a:t>Chef-1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699248" y="2578608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570464" y="1810512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ЄВРОПА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570464" y="197510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1E9EA6"/>
                </a:solidFill>
                <a:latin typeface="Segoe UI"/>
              </a:rPr>
              <a:t>13 брендів
із 15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928" y="2871216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C03B4B"/>
                </a:solidFill>
                <a:latin typeface="Segoe UI"/>
              </a:rPr>
              <a:t>ЯПОНСЬКІ ПОЗИЦІЇ В ЦЬОМУ КАТАЛОЗІ — ВСЬОГО ТРИ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6928" y="3108960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029968" y="3108960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ПОЗИЦІЯ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041648" y="3108960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230368" y="3108960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ПОХОДЖЕННЯ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93776" y="3268980"/>
            <a:ext cx="654710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66928" y="3310128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Yaxell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029968" y="3310128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Сантоку 165 мм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041648" y="3310128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8 004 грн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30368" y="3310128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Японія, Секі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6928" y="3584448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Kaneyoshi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029968" y="3584448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Янагіба 210 мм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041648" y="3584448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5 740 грн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230368" y="3584448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93776" y="3817620"/>
            <a:ext cx="654710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66928" y="3858768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Ketu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029968" y="3858768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Накірі 165 мм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041648" y="3858768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13 290 грн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230368" y="3858768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Лінія Yaxell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7223760" y="2852928"/>
            <a:ext cx="2103120" cy="148132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2" name="Picture 71" descr="p_834b41037720a5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6912" y="2926080"/>
            <a:ext cx="1956815" cy="100584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7370064" y="4005072"/>
            <a:ext cx="181051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Європа на профкухні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370064" y="4169664"/>
            <a:ext cx="181051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Arcos, Tramontina, Pirge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9528048" y="2852928"/>
            <a:ext cx="2103120" cy="148132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p_3f769ecb7390676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0" y="2926080"/>
            <a:ext cx="1956815" cy="1005840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9674352" y="4005072"/>
            <a:ext cx="181051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«Японський» в опті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674352" y="4169664"/>
            <a:ext cx="181051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= форма леза, не походження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7223760" y="4517136"/>
            <a:ext cx="4407408" cy="11887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223760" y="4517136"/>
            <a:ext cx="36576" cy="118872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461504" y="4672584"/>
            <a:ext cx="39319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LFOOD.COM.UA · КАТЕГОРІЯ «ЯПОНСЬКІ НОЖІ»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461504" y="4901184"/>
            <a:ext cx="39319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28 позицій, 1 274 – 5 907 грн. Бренди: DICK (Німеччина, 13),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ICEL (Португалія, 8), Hendi (6), Stalgast (1).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Японських брендів — жодного.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«Японський ніж» у профканалі означає форму леза.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566928" y="4041648"/>
            <a:ext cx="3218688" cy="173736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566928" y="4041648"/>
            <a:ext cx="36576" cy="173736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04672" y="4197096"/>
            <a:ext cx="27432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E9EA6"/>
                </a:solidFill>
                <a:latin typeface="Segoe UI"/>
              </a:rPr>
              <a:t>ЧОМУ ЄВРОПА ВИГРАЛА ЦЕЙ КАНАЛ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" y="4425696"/>
            <a:ext cx="2743200" cy="12070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Ціна заміни. Arcos і Tramontina — 300–900 грн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за ніж, це списується без болю.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Логістика. Ножі приїжджають разом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із каструлями, дошками і формою.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Ніж — рядок у накладній, а не окрема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закупівля.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3931920" y="4041648"/>
            <a:ext cx="3035808" cy="173736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931920" y="4041648"/>
            <a:ext cx="36576" cy="173736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169663" y="4197096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ЩО ЦЕ ЗНАЧИТЬ ДЛЯ МОДЕЛІ ВХОДУ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169663" y="4425696"/>
            <a:ext cx="2560320" cy="12070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Продати японський ніж у HoReCa через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існуючий опт не вийде: у цих каталогів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немає ні полиці, ні аргументу, ні сервісу.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Єдиний виняток — односторонні ножі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для суші, але це 500–900 штук на рік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на всю країну.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МАТРИЦЯ БРЕНДІВ · 1 З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Справжня Японія, преміум: ₴7 000 – 40 140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Бренди з підтвердженим японським виробництвом у верхньому ціновому діапазоні. Усі мають робочий канал в Україні.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12848" y="1572768"/>
            <a:ext cx="1234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ЗАВОД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47288" y="1572768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SKU В УКРАЇНІ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1572768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ЦІНОВИЙ ДІАПАЗОН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4768" y="1572768"/>
            <a:ext cx="2377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КЛЮЧОВІ СЕРІЇ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22208" y="1572768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ДЕ ПРОДАЄТЬСЯ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85248" y="1572768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ПОЗИЦІЯ НА РИНКУ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3776" y="1751076"/>
            <a:ext cx="11164824" cy="25603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1792224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94F7C"/>
                </a:solidFill>
                <a:latin typeface="Segoe UI"/>
              </a:rPr>
              <a:t>Yaxell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12848" y="1792224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Секі, Японія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47288" y="1792224"/>
            <a:ext cx="10424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4568" y="179222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2 895 – 38 640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44768" y="1792224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Zen 37, Ran 69, Gou 101, Super Gou 161,
Ypsilon 193 шари, Ketu, Taishi, Rei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22208" y="1792224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Ексклюзив + ProfiMax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85248" y="179222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Верх ринку. SG-2 порошок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2089404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94F7C"/>
                </a:solidFill>
                <a:latin typeface="Segoe UI"/>
              </a:rPr>
              <a:t>KAI / Shun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12848" y="2089404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Секі, Японія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47288" y="2089404"/>
            <a:ext cx="10424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140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44568" y="208940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726 – 27 970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44768" y="2089404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Shun Classic 42, Premier Tim Mälzer 18,
Wasabi Black 20, Seki Magoroku 16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22208" y="2089404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ProfiMax, Епіцентр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85248" y="208940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Найвідоміше ім'я. Шеф 20 см — 10 710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93776" y="2345436"/>
            <a:ext cx="11164824" cy="25603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2386584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94F7C"/>
                </a:solidFill>
                <a:latin typeface="Segoe UI"/>
              </a:rPr>
              <a:t>Miyabi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212848" y="2386584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 (Zwilling)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47288" y="2386584"/>
            <a:ext cx="10424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н/д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44568" y="238658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7 220 – 40 140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44768" y="2386584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Традиційні японські серії
під німецьким власником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22208" y="2386584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zwilling.in.ua, lacocotte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85248" y="238658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Найдорожчий бренд у роздрібі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2683764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Kasumi / Sumikama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212848" y="2683764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Секі, Японія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447288" y="2683764"/>
            <a:ext cx="10424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18 – 21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44568" y="268376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1 180 – 10 870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44768" y="2683764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Damascus 32 шари VG-10 61 HRC,
Kuro 32 шари, Tora AUS-6A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22208" y="2683764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Volod, japan-knife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985248" y="268376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Дамаск за доступною ціною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93776" y="2939796"/>
            <a:ext cx="11164824" cy="25603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66928" y="2980944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Suncraft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212848" y="2980944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447288" y="2980944"/>
            <a:ext cx="10424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79 – 97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44568" y="298094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3 299 – 18 999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44768" y="2980944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Elegancia, Senzo Black / Classic /
Professional / Clad / Retro, MU Bamboo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22208" y="2980944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ProfiMax, Епіцентр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85248" y="298094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Єдиний преміум у великому форматі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6928" y="3278124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Kanetsugu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212848" y="3278124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447288" y="3278124"/>
            <a:ext cx="10424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44568" y="327812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1 290 – 8 890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144768" y="3278124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Saiun, Pro-M, Miyabi Isshin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22208" y="3278124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ROKS, ProfiMax, РіЗ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985248" y="327812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Недооцінений. Saiun 8 290 – 8 890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93776" y="3534156"/>
            <a:ext cx="11164824" cy="25603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66928" y="3575304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Global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212848" y="3575304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 (Yoshikin)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447288" y="3575304"/>
            <a:ext cx="10424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н/д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544568" y="357530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2 618 – 13 195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144768" y="3575304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Суцільнометалевий корпус,
упізнаваний дизайн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522208" y="3575304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Rozetka, m.ua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985248" y="357530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Іконічний дизайн, слабка присутність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6928" y="3872484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Sakai Takayuki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212848" y="3872484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Сакаї, Японія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47288" y="3872484"/>
            <a:ext cx="10424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544568" y="387248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4 420 +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144768" y="3872484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Ковані односторонні,
вуглецева Yellow Steel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522208" y="3872484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ProfiMax, Hangiri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985248" y="387248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Традиційна ковка. Ніша суші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493776" y="4128516"/>
            <a:ext cx="11164824" cy="25603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66928" y="4169664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Yoshihiro / Takamura / Tosa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212848" y="4169664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Японія, ковалі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47288" y="4169664"/>
            <a:ext cx="10424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15 / 8 / 26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544568" y="416966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до 16 740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144768" y="4169664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Дрібносерійні та ковальські лінії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522208" y="4169664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ROKS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985248" y="416966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Довгий хвіст для колекціонерів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66928" y="4466844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Masahiro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212848" y="4466844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447288" y="4466844"/>
            <a:ext cx="10424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– 16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544568" y="446684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н/д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144768" y="4466844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Проф. лінії, точильні камені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522208" y="4466844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ProfiMax, ROKS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985248" y="446684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Історичний бренд, слабка дистрибуція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6419088" y="4828032"/>
            <a:ext cx="1261872" cy="140817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3" name="Picture 92" descr="p_4b3c700b00dc8c8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4901184"/>
            <a:ext cx="1115568" cy="914400"/>
          </a:xfrm>
          <a:prstGeom prst="rect">
            <a:avLst/>
          </a:prstGeom>
        </p:spPr>
      </p:pic>
      <p:sp>
        <p:nvSpPr>
          <p:cNvPr id="94" name="TextBox 93"/>
          <p:cNvSpPr txBox="1"/>
          <p:nvPr/>
        </p:nvSpPr>
        <p:spPr>
          <a:xfrm>
            <a:off x="6565392" y="5888736"/>
            <a:ext cx="969263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94F7C"/>
                </a:solidFill>
                <a:latin typeface="Segoe UI"/>
              </a:rPr>
              <a:t>Yaxell Super Gou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565392" y="6053328"/>
            <a:ext cx="969263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шеф · 17 746 грн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7735823" y="4828032"/>
            <a:ext cx="1261872" cy="140817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7" name="Picture 96" descr="p_272761f443e37e5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08975" y="4901184"/>
            <a:ext cx="1115568" cy="914400"/>
          </a:xfrm>
          <a:prstGeom prst="rect">
            <a:avLst/>
          </a:prstGeom>
        </p:spPr>
      </p:pic>
      <p:sp>
        <p:nvSpPr>
          <p:cNvPr id="98" name="TextBox 97"/>
          <p:cNvSpPr txBox="1"/>
          <p:nvPr/>
        </p:nvSpPr>
        <p:spPr>
          <a:xfrm>
            <a:off x="7882127" y="5888736"/>
            <a:ext cx="969263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94F7C"/>
                </a:solidFill>
                <a:latin typeface="Segoe UI"/>
              </a:rPr>
              <a:t>Kasumi Damascus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882127" y="6053328"/>
            <a:ext cx="969263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сантоку · 7 400 грн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9052559" y="4828032"/>
            <a:ext cx="1261872" cy="140817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1" name="Picture 100" descr="p_58389d55acc8877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25711" y="4901184"/>
            <a:ext cx="1115568" cy="914400"/>
          </a:xfrm>
          <a:prstGeom prst="rect">
            <a:avLst/>
          </a:prstGeom>
        </p:spPr>
      </p:pic>
      <p:sp>
        <p:nvSpPr>
          <p:cNvPr id="102" name="TextBox 101"/>
          <p:cNvSpPr txBox="1"/>
          <p:nvPr/>
        </p:nvSpPr>
        <p:spPr>
          <a:xfrm>
            <a:off x="9198863" y="5888736"/>
            <a:ext cx="969263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Yaxell Ran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198863" y="6053328"/>
            <a:ext cx="969263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сантоку · 7 426 грн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10369295" y="4828032"/>
            <a:ext cx="1261872" cy="140817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5" name="Picture 104" descr="p_dee392611edd8ad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42447" y="4901184"/>
            <a:ext cx="1115568" cy="914400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0515599" y="5888736"/>
            <a:ext cx="969263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Преміум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515599" y="6053328"/>
            <a:ext cx="969263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10–28 тис. грн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566928" y="4828032"/>
            <a:ext cx="5650992" cy="172659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566928" y="4828032"/>
            <a:ext cx="36576" cy="1726590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804672" y="4983480"/>
            <a:ext cx="517550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94F7C"/>
                </a:solidFill>
                <a:latin typeface="Segoe UI"/>
              </a:rPr>
              <a:t>ЩО ЦЕЙ СЕГМЕНТ ГОВОРИТЬ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04672" y="5212080"/>
            <a:ext cx="5175504" cy="11962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Це верхній поверх. Повний перепис (слайди 32–35) дає 55 брендів японського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виробництва на ринок обсягом 16–19 млн грн — щільність, яка давно перевищує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економічну доцільність. Yaxell і Miyabi мають ексклюзивних партнерів; KAI,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Tojiro і Suncraft продаються кількома продавцями паралельно.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Жоден із них не має в Україні сервісу заточення чи відновлення кромки: ніж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за 10–18 тис. грн продається як коробка.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МАТРИЦЯ БРЕНДІВ · 2 З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Справжня Японія, доступна: ₴900 – 7 500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Єдиний сегмент, де японське походження зустрічається з ціною, яку платить масовий покупець. І він майже порожній.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12848" y="1554480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ЗАВОД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30168" y="1554480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61688" y="1554480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ЦІНОВИЙ ДІАПАЗОН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61888" y="1554480"/>
            <a:ext cx="2834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ОПОРНІ ПОЗИЦІЇ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96528" y="155448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ДЕ ПРОДАЄТЬСЯ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51007" y="1554480"/>
            <a:ext cx="1234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ЧОМУ ВАЖЛИВИЙ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3776" y="1732788"/>
            <a:ext cx="11164824" cy="35204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1773936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Satake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12848" y="1773936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Секі, з 1947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30168" y="1773936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64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61688" y="1773936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979 – 16 999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61888" y="1773936"/>
            <a:ext cx="2779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Saku універсальний 979 · Saku накірі 1 249 ·
Satoru сантоку 1 599 · Sakura шеф 2 999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96528" y="177393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ProfiMax, Rezat, Prom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51007" y="1773936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Єдиний справжній японець
у масовій ціні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2167128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Tojiro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12848" y="2167128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3 заводи, з 1953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30168" y="2167128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81 – 86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61688" y="2167128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599 – 16 499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1888" y="2167128"/>
            <a:ext cx="2779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Basic F-318 2 599 · DP F-807 шеф 18 см 5 999 ·
DP Damascus F-659 сантоку 7 499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2167128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ProfiMax, Епіцентр, Europosud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51007" y="2167128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Стандарт «першого
серйозного ножа»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93776" y="2519172"/>
            <a:ext cx="11164824" cy="35204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2560320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Sekiryu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212848" y="2560320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560320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н/д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61688" y="2560320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1 107 – 1 638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61888" y="2560320"/>
            <a:ext cx="2779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SR-400 янагіба 1 107 · SR-240S 24 см 1 638 ·
деба 15 см 1 470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96528" y="2560320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Hangiri, Smart-Kitchen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51007" y="2560320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Найдешевший вхід
у односторонні ножі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2953512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KAI Wasabi Black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212848" y="2953512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30168" y="2953512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61688" y="2953512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2 520 – 3 499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61888" y="2953512"/>
            <a:ext cx="2779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Сантоку 16,5 см 2 730 · шеф 20 см 3 499 ·
янагіба 15,5 см 2 520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796528" y="2953512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ProfiMax, Епіцентр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351007" y="2953512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Найдоступніша лінія
великого бренду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93776" y="3305556"/>
            <a:ext cx="11164824" cy="35204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66928" y="3346704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Kasumi Tora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212848" y="3346704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30168" y="3346704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361688" y="334670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1 180 – 3 000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961888" y="3346704"/>
            <a:ext cx="2779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AUS-6A моносталь, 56–58 HRC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796528" y="3346704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Volod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351007" y="3346704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Вхід у бренд Kasumi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6928" y="3739896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Kaneyoshi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212848" y="3739896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30168" y="3739896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н/д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361688" y="3739896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5 740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961888" y="3739896"/>
            <a:ext cx="2779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Янагіба 210 мм 5 740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796528" y="373989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AL-Group (опт HoReCa)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351007" y="3739896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Єдиний японець
у профканалі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66928" y="4169663"/>
            <a:ext cx="1417320" cy="131673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p_602e9dd50399b5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242816"/>
            <a:ext cx="1271016" cy="82296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713232" y="5138928"/>
            <a:ext cx="1124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Satake Satoru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13232" y="5303520"/>
            <a:ext cx="1124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сантоку · 1 599 грн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039112" y="4169663"/>
            <a:ext cx="1417320" cy="131673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p_826c3391179f4c1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12264" y="4242816"/>
            <a:ext cx="1271016" cy="822960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2185416" y="5138928"/>
            <a:ext cx="1124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Satake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185416" y="5303520"/>
            <a:ext cx="1124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накірі · 1 249 грн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3511296" y="4169663"/>
            <a:ext cx="1417320" cy="131673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p_414672108e13153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84448" y="4242816"/>
            <a:ext cx="1271016" cy="822960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3657600" y="5138928"/>
            <a:ext cx="1124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Satake Sakura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657600" y="5303520"/>
            <a:ext cx="1124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шеф · 2 999 грн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4983480" y="4169663"/>
            <a:ext cx="1417320" cy="131673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p_64897f7ec231073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56632" y="4242816"/>
            <a:ext cx="1271016" cy="822960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5129784" y="5138928"/>
            <a:ext cx="1124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Kasumi Tora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129784" y="5303520"/>
            <a:ext cx="1124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шеф · від 1 180 грн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455664" y="4169663"/>
            <a:ext cx="1417320" cy="131673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p_f470a6d3833e8de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28816" y="4242816"/>
            <a:ext cx="1271016" cy="822960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6601968" y="5138928"/>
            <a:ext cx="1124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Sekiryu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601968" y="5303520"/>
            <a:ext cx="1124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янагіба · 1 107 грн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7936992" y="4169663"/>
            <a:ext cx="1792224" cy="13167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138160" y="4325112"/>
            <a:ext cx="13898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ВХІДНА ЦІНА СПРАВЖНЬОЇ ЯПОНІЇ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38160" y="4535424"/>
            <a:ext cx="138988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F9A50B"/>
                </a:solidFill>
                <a:latin typeface="Segoe UI"/>
              </a:rPr>
              <a:t>979 грн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138160" y="5010912"/>
            <a:ext cx="13898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Satake Saku. Нижче
Японії на ринку немає.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9820656" y="4169663"/>
            <a:ext cx="1792224" cy="13167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021824" y="4325112"/>
            <a:ext cx="13898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ЩО ВИБИРАЄ ПОКУПЕЦЬ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021824" y="4535424"/>
            <a:ext cx="138988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C03B4B"/>
                </a:solidFill>
                <a:latin typeface="Segoe UI"/>
              </a:rPr>
              <a:t>Samura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021824" y="5010912"/>
            <a:ext cx="13898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287 SKU проти 64 у Satake.
Ширина перемагає походження.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566928" y="5614416"/>
            <a:ext cx="11064240" cy="87213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566928" y="5614416"/>
            <a:ext cx="36576" cy="87213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804672" y="5769864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ГОЛОВНИЙ ВИСНОВОК ЦЬОГО СЕГМЕНТА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" y="5998464"/>
            <a:ext cx="10588752" cy="3417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Satake доводить, що справжній японський ніж може коштувати 979 грн і продаватися в Україні. Але Satake один, у нього 64 SKU, і він не має ані маркетингу, ані ексклюзивного партнера.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Це єдина неохоронювана ділянка матриці справжньої Японії — і найтонша за юніт-економікою: при ціні 1 000–3 000 грн націнка не покриває консультації, якої вимагає товар.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ПЕРЕПИС · ЗРОБЛЕНО В ЯПОНІЇ · 1 З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55 брендів, а не десять: промислові марки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Поглиблений обхід 17 продавців у жовтні 2026. Промислові бренди — серійне виробництво, стабільна якість, західні руків'я.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5361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1554480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РЕГІОН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39" y="1554480"/>
            <a:ext cx="4754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ЗАСН.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67327" y="1554480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SKU UA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7" y="1554480"/>
            <a:ext cx="144475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ЦІНА, ГРН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19" y="15544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СТАЛЬ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71231" y="1554480"/>
            <a:ext cx="217627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ДЕ ПРОДАЄТЬСЯ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47504" y="1554480"/>
            <a:ext cx="1828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КОМЕНТАР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3776" y="1714500"/>
            <a:ext cx="11164824" cy="25146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1755648"/>
            <a:ext cx="14813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KAI / Shun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03120" y="1755648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39" y="1755648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1908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67327" y="1755648"/>
            <a:ext cx="493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140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15967" y="1755648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726 – 27 970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60719" y="1755648"/>
            <a:ext cx="17556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VG-10 дамаск, VG-MAX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71231" y="1755648"/>
            <a:ext cx="21214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ProfiMax · Епіцентр · japan-knife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47504" y="1755648"/>
            <a:ext cx="1773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Найвідоміше японське ім'я в Україні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2007107"/>
            <a:ext cx="14813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Yaxell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03120" y="2007107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91839" y="2007107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1932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67327" y="2007107"/>
            <a:ext cx="493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15967" y="2007107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1 199 – 70 102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60719" y="2007107"/>
            <a:ext cx="17556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SG-2, VG-10, 37–193 шари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71231" y="2007107"/>
            <a:ext cx="21214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yaxell.com.ua · ProfiMax · AL-Group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47504" y="2007107"/>
            <a:ext cx="1773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Ексклюзивний імпортер, шоурум у Києві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93776" y="2217420"/>
            <a:ext cx="11164824" cy="25146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6928" y="2258568"/>
            <a:ext cx="14813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Suncraft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03120" y="2258568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91839" y="2258568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1948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67327" y="2258568"/>
            <a:ext cx="493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97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15967" y="2258568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1 199 – 18 999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760719" y="2258568"/>
            <a:ext cx="17556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VG-10, дамаск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571231" y="2258568"/>
            <a:ext cx="21214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Епіцентр · ProfiMax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747504" y="2258568"/>
            <a:ext cx="1773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Єдиний японський преміум у великому форматі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2510027"/>
            <a:ext cx="14813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Tojiro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103120" y="2510027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39" y="2510027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1953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767327" y="2510027"/>
            <a:ext cx="493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81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315967" y="2510027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599 – 16 499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760719" y="2510027"/>
            <a:ext cx="17556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VG-10, Shirogami, FAX-18 HSS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571231" y="2510027"/>
            <a:ext cx="21214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ProfiMax · Епіцентр · WildCat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747504" y="2510027"/>
            <a:ext cx="1773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Найширша присутність по каналах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93776" y="2720339"/>
            <a:ext cx="11164824" cy="25146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66928" y="2761487"/>
            <a:ext cx="14813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Satake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103120" y="2761487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291839" y="2761487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1947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767327" y="2761487"/>
            <a:ext cx="493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64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315967" y="2761487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849 – 16 999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760719" y="2761487"/>
            <a:ext cx="17556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Мо-ванадій, VG-10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571231" y="2761487"/>
            <a:ext cx="21214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ProfiMax · rezat · Prom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747504" y="2761487"/>
            <a:ext cx="1773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Найдоступніша справжня Японія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6928" y="3012947"/>
            <a:ext cx="14813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Kanetsune Seki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103120" y="3012947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291839" y="3012947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1964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767327" y="3012947"/>
            <a:ext cx="493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315967" y="3012947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150 – 16 360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760719" y="3012947"/>
            <a:ext cx="17556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Shirogami, VG-10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571231" y="3012947"/>
            <a:ext cx="21214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ibis.net.ua · x-gear · WildCat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747504" y="3012947"/>
            <a:ext cx="1773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Через збройові магазини, не кухонні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93776" y="3223259"/>
            <a:ext cx="11164824" cy="25146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66928" y="3264407"/>
            <a:ext cx="14813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Miyabi (Zwilling)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103120" y="3264407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291839" y="3264407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2004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767327" y="3264407"/>
            <a:ext cx="493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27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315967" y="3264407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5 900 – 43 020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760719" y="3264407"/>
            <a:ext cx="17556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SG-2, MC63, дамаск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571231" y="3264407"/>
            <a:ext cx="21214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zwilling.in.ua · lacocotte · ROKS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747504" y="3264407"/>
            <a:ext cx="1773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Найдорожчий бренд масового роздрібу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66928" y="3515867"/>
            <a:ext cx="14813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Kasumi / Sumikama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103120" y="3515867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291839" y="3515867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1926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767327" y="3515867"/>
            <a:ext cx="493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315967" y="3515867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1 180 – 15 229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760719" y="3515867"/>
            <a:ext cx="17556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VG-10 + 32 шари, AUS-6A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571231" y="3515867"/>
            <a:ext cx="21214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ProfiMax · Volod · japan-knife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747504" y="3515867"/>
            <a:ext cx="1773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Дамаск за доступною ціною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493776" y="3726179"/>
            <a:ext cx="11164824" cy="25146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66928" y="3767327"/>
            <a:ext cx="14813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Seki Kanetsugu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103120" y="3767327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291839" y="3767327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1899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767327" y="3767327"/>
            <a:ext cx="493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17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315967" y="3767327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990 – 13 900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760719" y="3767327"/>
            <a:ext cx="17556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VG-10, Saiun, Zuiun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571231" y="3767327"/>
            <a:ext cx="21214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ROKS · ProfiMax · WildCat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747504" y="3767327"/>
            <a:ext cx="1773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Недооцінений у профканалі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66928" y="4018787"/>
            <a:ext cx="14813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Masahiro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103120" y="4018787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291839" y="4018787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1950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767327" y="4018787"/>
            <a:ext cx="493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9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315967" y="4018787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2 400 – 4 100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760719" y="4018787"/>
            <a:ext cx="17556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MRS-30, мо-ванадій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571231" y="4018787"/>
            <a:ext cx="21214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ROKS · ProfiMax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47504" y="4018787"/>
            <a:ext cx="1773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Історичний бренд, мала присутність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493776" y="4229100"/>
            <a:ext cx="11164824" cy="25146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566928" y="4270248"/>
            <a:ext cx="14813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Misono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103120" y="4270248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291839" y="4270248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1935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767327" y="4270248"/>
            <a:ext cx="493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315967" y="4270248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1 690 – 4 990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760719" y="4270248"/>
            <a:ext cx="17556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MV, молібден-ванадій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571231" y="4270248"/>
            <a:ext cx="21214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Sekator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747504" y="4270248"/>
            <a:ext cx="1773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Еталон професійної кухні Японії; в Україні 2 позиції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66928" y="4521708"/>
            <a:ext cx="14813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Shimomura Kihan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103120" y="4521708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Цубаме-Сандзьо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291839" y="4521708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1957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767327" y="4521708"/>
            <a:ext cx="493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315967" y="4521708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60719" y="4521708"/>
            <a:ext cx="17556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Мо-ванадій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571231" y="4521708"/>
            <a:ext cx="21214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ProfiMax · WildCat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747504" y="4521708"/>
            <a:ext cx="1773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Одна позиція в каталозі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493776" y="4732020"/>
            <a:ext cx="11164824" cy="25146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566928" y="4773168"/>
            <a:ext cx="14813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Satake Masamune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03120" y="4773168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3291839" y="4773168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н/д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767327" y="4773168"/>
            <a:ext cx="493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315967" y="4773168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760719" y="4773168"/>
            <a:ext cx="17556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н/д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571231" y="4773168"/>
            <a:ext cx="21214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747504" y="4773168"/>
            <a:ext cx="1773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Деба, окрема лінія Satake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66928" y="5024628"/>
            <a:ext cx="14813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KAI Sekimagoroku Imayo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103120" y="5024628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291839" y="5024628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н/д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767327" y="5024628"/>
            <a:ext cx="493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315967" y="5024628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2 700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5760719" y="5024628"/>
            <a:ext cx="17556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DSR1K6, hammered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571231" y="5024628"/>
            <a:ext cx="21214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japan-knife.top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747504" y="5024628"/>
            <a:ext cx="1773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Продавець заявляє ексклюзив на ринку України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493776" y="5234940"/>
            <a:ext cx="11164824" cy="25146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566928" y="5276088"/>
            <a:ext cx="14813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Higonokami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2103120" y="5276088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3291839" y="5276088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1896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767327" y="5276088"/>
            <a:ext cx="493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4315967" y="5276088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2 090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5760719" y="5276088"/>
            <a:ext cx="17556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Aogami, латунь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571231" y="5276088"/>
            <a:ext cx="21214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vodospad.net.ua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747504" y="5276088"/>
            <a:ext cx="1773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Класичний складаний ніж, не кухонний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566928" y="5527548"/>
            <a:ext cx="14813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Global (Yoshikin)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2103120" y="5527548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3291839" y="5527548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1954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767327" y="5527548"/>
            <a:ext cx="493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315967" y="5527548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2 618 – 13 195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5760719" y="5527548"/>
            <a:ext cx="17556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CROMOVA 18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571231" y="5527548"/>
            <a:ext cx="21214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Rozetka · m.ua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747504" y="5527548"/>
            <a:ext cx="1773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Іконічний дизайн, слабка дистрибуція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566928" y="5266944"/>
            <a:ext cx="5413248" cy="8517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566928" y="5266944"/>
            <a:ext cx="36576" cy="85171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804672" y="542239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ЩО ЗМІНИВ ГЛИБШИЙ ОБХІД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04672" y="5650992"/>
            <a:ext cx="49377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Перший зріз давав 10 японських брендів. Повний обхід 17 продавців дав 55: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16 промислових, 6 збірних, 12 родинних кузень і 21 іменного коваля.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6217920" y="5266944"/>
            <a:ext cx="5413248" cy="8517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6217920" y="5266944"/>
            <a:ext cx="36576" cy="851712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6455664" y="542239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E9EA6"/>
                </a:solidFill>
                <a:latin typeface="Segoe UI"/>
              </a:rPr>
              <a:t>ДЕ КОНЦЕНТРАЦІЯ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6455664" y="5650992"/>
            <a:ext cx="49377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13 промислових брендів дають 600 позицій із 691, тобто 87 % асортименту.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П'ять марок — KAI, Yaxell, Suncraft, Tojiro, Satake — це 486 позицій, 70 %.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03504" y="649224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SKU — кількість позицій у публічних каталогах українських продавців, жовтень 2026. «н/д» — бренд присутній, але кількість або ціну з каталогу витягти не вдалося.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ПЕРЕПИС · ЗРОБЛЕНО В ЯПОНІЇ · 2 З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Родинні кузні та збірні бренди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Родинна кузня — виробництво з іменем і спадковістю, але без серії. Збірний бренд — торгова марка, під якою кілька ковалів.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67128" y="155448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РЕГІОН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21608" y="1554480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ТИП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3128" y="1554480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6048" y="1554480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ЦІНА, ГРН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088" y="1554480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СТАЛЬ / КОНСТРУКЦІЯ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30767" y="1554480"/>
            <a:ext cx="1234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ПРОДАВЕЦЬ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65207" y="1554480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ЩО ЦЕ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3776" y="1714500"/>
            <a:ext cx="11164824" cy="22128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1755648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Nigara Hamono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67128" y="1755648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Хіросакі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53128" y="1755648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6048" y="1755648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14 800 – 16 740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9088" y="1755648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SG-2, Anmon дамаск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30767" y="1755648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65207" y="1755648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350 років, 8 поколінь, ковалі клану Цуґару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721608" y="1737360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21608" y="1764792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РОДИНА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1976932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Sakai Takayuki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67128" y="1976932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Сакаї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53128" y="1976932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56048" y="1976932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4 420 – 15 229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19088" y="1976932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Yellow Steel, Shirogami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30767" y="1976932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ProfiMax · Hangiri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65207" y="1976932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Традиційна ковка, ніша суші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721608" y="1958644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721608" y="1986076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РОДИНА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93776" y="2157069"/>
            <a:ext cx="11164824" cy="22128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6928" y="2198217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JCK Natures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67128" y="2198217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53128" y="2198217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956048" y="2198217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12 220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19088" y="2198217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Aogami Super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30767" y="2198217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65207" y="2198217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Збірний бренд японського трейдера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721608" y="2179929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721608" y="2207361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ТРЕЙД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" y="2419502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94F7C"/>
                </a:solidFill>
                <a:latin typeface="Segoe UI"/>
              </a:rPr>
              <a:t>Takamura Hamono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167128" y="2419502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Ечідзен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53128" y="2419502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956048" y="2419502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5 320 – 11 990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19088" y="2419502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R2/SG-2, Chromax, VG-10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430767" y="2419502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ROKS · WildCat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65207" y="2419502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Піонер порошкової сталі, «лазерний» спуск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721608" y="2401214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721608" y="2428646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РОДИНА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93776" y="2599639"/>
            <a:ext cx="11164824" cy="22128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66928" y="2640787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Tosa / Tosauchi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167128" y="2640787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Тоса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453128" y="2640787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956048" y="2640787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2 929 – 10 035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19088" y="2640787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Aogami, Shirogami, куроучі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430767" y="2640787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ROKS · WildCat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665207" y="2640787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Найглибша артизанальна лінія в Україні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3721608" y="2622499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721608" y="2649931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РОДИНА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66928" y="2862072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94F7C"/>
                </a:solidFill>
                <a:latin typeface="Segoe UI"/>
              </a:rPr>
              <a:t>Gyokucho / Kamisaku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167128" y="2862072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Ечідзен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453128" y="2862072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956048" y="2862072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7 300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19088" y="2862072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AUS-8A, 3 шари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430767" y="2862072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japan-knife.top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665207" y="2862072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Tamatori Industry, місто Ечідзен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721608" y="2843784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721608" y="2871216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РОДИНА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493776" y="3042208"/>
            <a:ext cx="11164824" cy="22128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66928" y="3083356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Yoshihiro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167128" y="308335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Сакаї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453128" y="3083356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956048" y="308335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3 609 – 6 747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419088" y="3083356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Дамаск, вуглець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30767" y="3083356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665207" y="3083356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11 позицій, друга за глибиною артизанальна лінія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3721608" y="3065068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721608" y="3092500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РОДИНА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66928" y="3304641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Seto Iseya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167128" y="3304641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453128" y="3304641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956048" y="3304641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5 500 – 6 550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419088" y="3304641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Дамаск, ручна ковка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430767" y="3304641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japan-knife.top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665207" y="3304641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Santoku / Petty / Paring, ковані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3721608" y="3286353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721608" y="3313785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РОДИНА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493776" y="3484778"/>
            <a:ext cx="11164824" cy="22128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66928" y="3525926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Kaneyoshi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167128" y="352592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453128" y="3525926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—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956048" y="352592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5 740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419088" y="3525926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н/д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430767" y="3525926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AL-Group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665207" y="3525926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Єдиний японець в оптовому профканалі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3721608" y="3507638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721608" y="3535070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ТРЕЙД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66928" y="3747211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Yamawaki Hamono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167128" y="3747211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Сакаї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453128" y="3747211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956048" y="3747211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3 528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419088" y="3747211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SK5, мідзу-хоньякі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430767" y="3747211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9665207" y="3747211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Майстер хоньякі, 100 років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3721608" y="3728923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3721608" y="3756355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РОДИНА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493776" y="3927348"/>
            <a:ext cx="11164824" cy="22128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566928" y="3968496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Sakai Ichiji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167128" y="396849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Сакаї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453128" y="3968496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956048" y="396849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1 999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419088" y="3968496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н/д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30767" y="3968496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665207" y="3968496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Одна позиція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3721608" y="3950208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3721608" y="3977640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РОДИНА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566928" y="4189780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Sekiryu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167128" y="4189780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453128" y="4189780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—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956048" y="4189780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1 107 – 1 638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419088" y="4189780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Нержавіюча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30767" y="4189780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Hangiri · Smart-Kitchen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665207" y="4189780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Найдешевший вхід в односторонні ножі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3721608" y="4171492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721608" y="4198924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ТРЕЙД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493776" y="4369917"/>
            <a:ext cx="11164824" cy="22128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566928" y="4411065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94F7C"/>
                </a:solidFill>
                <a:latin typeface="Segoe UI"/>
              </a:rPr>
              <a:t>Anryu Hamono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2167128" y="4411065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Ечідзен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4453128" y="4411065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956048" y="4411065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419088" y="4411065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Shirogami #2 дамаск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8430767" y="4411065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9665207" y="4411065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Майстерня Такефу Найф Вілідж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3721608" y="4392777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3721608" y="4420209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РОДИНА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566928" y="4632350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HONMAMON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2167128" y="4632350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Тоса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453128" y="4632350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—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4956048" y="4632350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419088" y="4632350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Aogami #2, Shirogami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8430767" y="4632350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 · IzzaBugra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665207" y="4632350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Збірний бренд ковалів Тоса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3721608" y="4614062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3721608" y="4641494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ТРЕЙД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493776" y="4812487"/>
            <a:ext cx="11164824" cy="22128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566928" y="4853635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Hokiyama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2167128" y="4853635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Тоса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453128" y="4853635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—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956048" y="4853635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6419088" y="4853635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Tosa-Ichi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430767" y="4853635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665207" y="4853635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Згаданий у каталозі, позицій не знайдено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3721608" y="4835347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3721608" y="4862779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РОДИНА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566928" y="5074920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Inoguchi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2167128" y="5074920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453128" y="5074920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4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4956048" y="5074920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19088" y="5074920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н/д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430767" y="5074920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665207" y="5074920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Чотири позиції, бренд не розкритий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3721608" y="5056632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3721608" y="5084064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ТРЕЙД</a:t>
            </a:r>
          </a:p>
        </p:txBody>
      </p:sp>
      <p:sp>
        <p:nvSpPr>
          <p:cNvPr id="170" name="Rounded Rectangle 169"/>
          <p:cNvSpPr/>
          <p:nvPr/>
        </p:nvSpPr>
        <p:spPr>
          <a:xfrm>
            <a:off x="493776" y="5255056"/>
            <a:ext cx="11164824" cy="22128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66928" y="529620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S.K.K. Cutlery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2167128" y="5296204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453128" y="5296204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956048" y="5296204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6419088" y="5296204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н/д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430767" y="5296204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65207" y="5296204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Сашимі 240 мм</a:t>
            </a:r>
          </a:p>
        </p:txBody>
      </p:sp>
      <p:sp>
        <p:nvSpPr>
          <p:cNvPr id="178" name="Rounded Rectangle 177"/>
          <p:cNvSpPr/>
          <p:nvPr/>
        </p:nvSpPr>
        <p:spPr>
          <a:xfrm>
            <a:off x="3721608" y="5277916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3721608" y="5305348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ТРЕЙД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566928" y="5517489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Suisin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2167128" y="5517489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Сакаї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4453128" y="5517489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—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956048" y="5517489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419088" y="5517489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Хоньякі вуглець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8430767" y="5517489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9665207" y="5517489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Еталон Сакаї серед шефів</a:t>
            </a:r>
          </a:p>
        </p:txBody>
      </p:sp>
      <p:sp>
        <p:nvSpPr>
          <p:cNvPr id="187" name="Rounded Rectangle 186"/>
          <p:cNvSpPr/>
          <p:nvPr/>
        </p:nvSpPr>
        <p:spPr>
          <a:xfrm>
            <a:off x="3721608" y="5499201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3721608" y="5526633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РОДИНА</a:t>
            </a:r>
          </a:p>
        </p:txBody>
      </p:sp>
      <p:sp>
        <p:nvSpPr>
          <p:cNvPr id="189" name="Rounded Rectangle 188"/>
          <p:cNvSpPr/>
          <p:nvPr/>
        </p:nvSpPr>
        <p:spPr>
          <a:xfrm>
            <a:off x="566928" y="5830214"/>
            <a:ext cx="3584448" cy="8517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566928" y="5830214"/>
            <a:ext cx="36576" cy="851712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804672" y="5985662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E9EA6"/>
                </a:solidFill>
                <a:latin typeface="Segoe UI"/>
              </a:rPr>
              <a:t>ЩО ТАКЕ РОДИННА КУЗНЯ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804672" y="6214262"/>
            <a:ext cx="31089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Виробництво на 5–30 людей зі спадковою технологією.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Nigara — 350 років і 8 поколінь, Yamawaki — 100 років.</a:t>
            </a:r>
          </a:p>
        </p:txBody>
      </p:sp>
      <p:sp>
        <p:nvSpPr>
          <p:cNvPr id="193" name="Rounded Rectangle 192"/>
          <p:cNvSpPr/>
          <p:nvPr/>
        </p:nvSpPr>
        <p:spPr>
          <a:xfrm>
            <a:off x="4270248" y="5830214"/>
            <a:ext cx="3584448" cy="8517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4270248" y="5830214"/>
            <a:ext cx="36576" cy="851712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TextBox 194"/>
          <p:cNvSpPr txBox="1"/>
          <p:nvPr/>
        </p:nvSpPr>
        <p:spPr>
          <a:xfrm>
            <a:off x="4507992" y="5985662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717890"/>
                </a:solidFill>
                <a:latin typeface="Segoe UI"/>
              </a:rPr>
              <a:t>ЩО ТАКЕ ЗБІРНИЙ БРЕНД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507992" y="6214262"/>
            <a:ext cx="31089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6 брендів. HONMAMON, JCK Natures — японські трейдери,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що продають вироби різних ковалів під своєю маркою.</a:t>
            </a:r>
          </a:p>
        </p:txBody>
      </p:sp>
      <p:sp>
        <p:nvSpPr>
          <p:cNvPr id="197" name="Rounded Rectangle 196"/>
          <p:cNvSpPr/>
          <p:nvPr/>
        </p:nvSpPr>
        <p:spPr>
          <a:xfrm>
            <a:off x="7973567" y="5830214"/>
            <a:ext cx="3584448" cy="8517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7973567" y="5830214"/>
            <a:ext cx="36576" cy="851712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8211311" y="5985662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ЧОМУ ЦЕ НЕ МАСШТАБУЄТЬСЯ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8211311" y="6214262"/>
            <a:ext cx="31089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Tosa дає 29 позицій, решта — від 1 до 11.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Партію під замовлення тут не зробить ніхто.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ПЕРЕПИС · ЗРОБЛЕНО В ЯПОНІЇ · 3 З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Іменні ковалі: верхня половина за ціною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Ножі, підписані іменем конкретної людини. Це верхній край ринку за ціною і нижній — за обсягом.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67128" y="155448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РЕГІОН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21608" y="1554480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ТИП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3128" y="1554480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6048" y="1554480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ЦІНА, ГРН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088" y="1554480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СТАЛЬ / КОНСТРУКЦІЯ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30767" y="1554480"/>
            <a:ext cx="1234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ПРОДАВЕЦЬ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65207" y="1554480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ЩО ЦЕ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3776" y="1714500"/>
            <a:ext cx="11164824" cy="22128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1755648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Harukaze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67128" y="1755648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53128" y="1755648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6048" y="1755648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19 990 – 26 990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9088" y="1755648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Дамаск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30767" y="1755648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Sekator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65207" y="1755648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Найдорожчі позиції Sekator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721608" y="1737360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21608" y="1764792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МАЙСТЕР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1976932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94F7C"/>
                </a:solidFill>
                <a:latin typeface="Segoe UI"/>
              </a:rPr>
              <a:t>Etsu / Ittetsu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67128" y="1976932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Ечідзен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53128" y="1976932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56048" y="1976932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16 677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19088" y="1976932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R2 дамаск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30767" y="1976932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65207" y="1976932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Найдорожча одинична позиція артизанів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721608" y="1958644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721608" y="1986076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МАЙСТЕР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93776" y="2157069"/>
            <a:ext cx="11164824" cy="22128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6928" y="2198217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Myojin (Naohito)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67128" y="2198217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Сакаї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53128" y="2198217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956048" y="2198217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13 200 – 15 580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19088" y="2198217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Cobalt Special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30767" y="2198217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65207" y="2198217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Іменний коваль, найдорожчий сегмент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721608" y="2179929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721608" y="2207361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МАЙСТЕР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" y="2419502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Hatsukokoro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167128" y="2419502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53128" y="2419502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956048" y="2419502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13 865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19088" y="2419502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ZDP-189, 65–67 HRC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430767" y="2419502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65207" y="2419502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Найтвердіша сталь на ринку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721608" y="2401214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721608" y="2428646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МАЙСТЕР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93776" y="2599639"/>
            <a:ext cx="11164824" cy="22128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66928" y="2640787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Tsukasa (Hinoura)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167128" y="2640787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Цубаме-Сандзьо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453128" y="2640787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956048" y="2640787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9 900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19088" y="2640787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Aogami Super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430767" y="2640787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665207" y="2640787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Третє покоління ковалів Сандзьо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3721608" y="2622499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721608" y="2649931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МАЙСТЕР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66928" y="2862072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Shigehiro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167128" y="2862072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453128" y="2862072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956048" y="2862072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8 490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19088" y="2862072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VG-10 дамаск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430767" y="2862072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Sekator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665207" y="2862072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Special Petty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721608" y="2843784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721608" y="2871216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МАЙСТЕР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493776" y="3042208"/>
            <a:ext cx="11164824" cy="22128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66928" y="3083356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Tadayoshi Tokaji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167128" y="308335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453128" y="3083356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956048" y="308335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8 480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419088" y="3083356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Aogami #2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30767" y="3083356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665207" y="3083356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Сантоку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3721608" y="3065068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721608" y="3092500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МАЙСТЕР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66928" y="3304641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Teruhide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167128" y="3304641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453128" y="3304641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956048" y="3304641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8 000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419088" y="3304641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Hagane, вуглець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430767" y="3304641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japan-knife.top · WildCat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665207" y="3304641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Янагіба 210 мм, одностороння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3721608" y="3286353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721608" y="3313785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МАЙСТЕР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493776" y="3484778"/>
            <a:ext cx="11164824" cy="22128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66928" y="3525926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Sakai Haruhiko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167128" y="352592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Сакаї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453128" y="3525926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956048" y="352592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7 040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419088" y="3525926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Shirogami #2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430767" y="3525926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665207" y="3525926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Янагіба 240 мм, одностороння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3721608" y="3507638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721608" y="3535070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МАЙСТЕР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66928" y="3747211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Tomita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167128" y="3747211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453128" y="3747211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956048" y="3747211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3 215 – 6 600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419088" y="3747211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Aogami #2 / Super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430767" y="3747211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9665207" y="3747211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Деба, сантоку, універсальні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3721608" y="3728923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3721608" y="3756355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МАЙСТЕР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493776" y="3927348"/>
            <a:ext cx="11164824" cy="22128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566928" y="3968496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Tanaka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167128" y="396849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453128" y="3968496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956048" y="396849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5 203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419088" y="3968496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Aogami Super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30767" y="3968496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665207" y="3968496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Усуба камаґата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3721608" y="3950208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3721608" y="3977640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МАЙСТЕР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566928" y="5340096"/>
            <a:ext cx="3584448" cy="8517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566928" y="5340096"/>
            <a:ext cx="36576" cy="85171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804672" y="5495544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5D4B96"/>
                </a:solidFill>
                <a:latin typeface="Segoe UI"/>
              </a:rPr>
              <a:t>ЦЕ НЕ БРЕНДИ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804672" y="5724144"/>
            <a:ext cx="31089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Це імена людей. Myojin Naohito, Tsukasa Hinoura, Tomita —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кожен кує сам, партій не існує.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4270248" y="5340096"/>
            <a:ext cx="3584448" cy="8517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4270248" y="5340096"/>
            <a:ext cx="36576" cy="85171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4507992" y="5495544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ЦІНОВИЙ ДІАПАЗОН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507992" y="5724144"/>
            <a:ext cx="31089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Від 1 980 грн (Takanori Izumi) до 16 677 грн (Etsu).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Hatsukokoro ZDP-189, 65–67 HRC — найтвердіша сталь ринку.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7973567" y="5340096"/>
            <a:ext cx="3584448" cy="8517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7973567" y="5340096"/>
            <a:ext cx="36576" cy="851712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8211311" y="5495544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ХТО ЦЕ КУПУЄ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8211311" y="5724144"/>
            <a:ext cx="31089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Кілька сотень людей на країну. Для постачальника це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не сегмент, а вітрина для репутації.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ПЕРЕПИС · ЗРОБЛЕНО В ЯПОНІЇ · 4 З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Іменні ковалі: нижня половина за ціною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Продовження переліку. Ці майстри доступніші за ціною, але представлені так само поодинокими позиціями.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67128" y="155448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РЕГІОН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21608" y="1554480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ТИП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3128" y="1554480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6048" y="1554480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ЦІНА, ГРН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088" y="1554480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СТАЛЬ / КОНСТРУКЦІЯ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30767" y="1554480"/>
            <a:ext cx="1234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ПРОДАВЕЦЬ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65207" y="1554480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ЩО ЦЕ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3776" y="1714500"/>
            <a:ext cx="11164824" cy="22128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1755648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Fukamizu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67128" y="1755648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Тоса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53128" y="1755648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6048" y="1755648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2 610 – 4 850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9088" y="1755648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Куроучі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30767" y="1755648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65207" y="1755648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П'ять позицій, вхідний артизан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721608" y="1737360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21608" y="1764792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МАЙСТЕР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1976932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Kiyokane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67128" y="1976932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Тоса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53128" y="1976932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56048" y="1976932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4 590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19088" y="1976932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Aogami Super, куроучі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30767" y="1976932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Sekator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65207" y="1976932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Петті куроучі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721608" y="1958644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721608" y="1986076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МАЙСТЕР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93776" y="2157069"/>
            <a:ext cx="11164824" cy="22128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6928" y="2198217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Hisashige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67128" y="2198217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53128" y="2198217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956048" y="2198217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3 520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19088" y="2198217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Хоньякі вуглець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30767" y="2198217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65207" y="2198217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Хоньякі за 3 520 грн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721608" y="2179929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721608" y="2207361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МАЙСТЕР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" y="2419502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Kanetaka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167128" y="2419502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53128" y="2419502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956048" y="2419502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3 520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19088" y="2419502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Yasukihagane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430767" y="2419502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65207" y="2419502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Фунаюкі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721608" y="2401214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721608" y="2428646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МАЙСТЕР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93776" y="2599639"/>
            <a:ext cx="11164824" cy="22128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66928" y="2640787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Takanori Izumi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167128" y="2640787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453128" y="2640787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956048" y="2640787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1 980 – 3 080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19088" y="2640787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AUS-10M дамаск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430767" y="2640787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665207" y="2640787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Найдоступніший артизан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3721608" y="2622499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721608" y="2649931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МАЙСТЕР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66928" y="2862072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Hanakumagawa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167128" y="2862072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453128" y="2862072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956048" y="2862072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2 390 – 2 790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19088" y="2862072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Shirogami #2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430767" y="2862072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665207" y="2862072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Фунаюкі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721608" y="2843784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721608" y="2871216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МАЙСТЕР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493776" y="3042208"/>
            <a:ext cx="11164824" cy="22128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66928" y="3083356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Motokane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167128" y="308335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Тоса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453128" y="3083356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956048" y="308335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2 090 – 2 695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419088" y="3083356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VG-10, Shirogami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30767" y="3083356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Sekator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665207" y="3083356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Продається під маркою Honmamon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3721608" y="3065068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721608" y="3092500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МАЙСТЕР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66928" y="3304641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Kazuhira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167128" y="3304641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453128" y="3304641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956048" y="3304641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419088" y="3304641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Yasukihagane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430767" y="3304641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665207" y="3304641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Універсальний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3721608" y="3286353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721608" y="3313785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МАЙСТЕР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493776" y="3484778"/>
            <a:ext cx="11164824" cy="22128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66928" y="3525926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Mikihisa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167128" y="352592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453128" y="3525926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956048" y="352592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419088" y="3525926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Shirogami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430767" y="3525926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665207" y="3525926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Макірі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3721608" y="3507638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721608" y="3535070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МАЙСТЕР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66928" y="3747211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Teruhide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167128" y="3747211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453128" y="3747211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956048" y="3747211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419088" y="3747211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Вуглецева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430767" y="3747211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9665207" y="3747211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Деба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3721608" y="3728923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3721608" y="3756355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МАЙСТЕР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566928" y="5340096"/>
            <a:ext cx="3584448" cy="8517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566928" y="5340096"/>
            <a:ext cx="36576" cy="851712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804672" y="5495544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E9EA6"/>
                </a:solidFill>
                <a:latin typeface="Segoe UI"/>
              </a:rPr>
              <a:t>ДОСТУПНІ АРТИЗАНИ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04672" y="5724144"/>
            <a:ext cx="31089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Takanori Izumi від 1 980 грн, Motokane від 2 090 грн.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Вуглецева сталь дешевша за дамаск, але вимагає догляду.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4270248" y="5340096"/>
            <a:ext cx="3584448" cy="8517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4270248" y="5340096"/>
            <a:ext cx="36576" cy="85171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07992" y="5495544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ПРОДАЮТЬСЯ ПІД ЧУЖОЮ МАРКОЮ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507992" y="5724144"/>
            <a:ext cx="31089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Motokane, Kiyokane, Shigehiro йдуть на полиці як Honmamon.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Покупець бачить збірний бренд, а не ім'я коваля.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7973567" y="5340096"/>
            <a:ext cx="3584448" cy="8517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7973567" y="5340096"/>
            <a:ext cx="36576" cy="851712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211311" y="5495544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ЩО ЦЕ ЗНАЧИТЬ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211311" y="5724144"/>
            <a:ext cx="31089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Ці імена не формують попит в Україні — їх ніхто не просуває.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Вони є на полиці, але не є брендами для покупця.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СЕГМЕНТАЦІЯ · ВІСЬ 6 · РЕГІОН ВИРОБНИЦТВА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FFFFFF"/>
                </a:solidFill>
                <a:latin typeface="Segoe UI"/>
              </a:rPr>
              <a:t>Шість японських центрів, і лише один із них тримає ринок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Для японського ножа регіон — це не географія, а технологія, ціна й тип покупця. Вісь, якої не було в першій версії дослідження.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54480"/>
            <a:ext cx="3584448" cy="2066543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54480"/>
            <a:ext cx="3584448" cy="4572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" y="1719072"/>
            <a:ext cx="31821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1C2235"/>
                </a:solidFill>
                <a:latin typeface="Segoe UI"/>
              </a:rPr>
              <a:t>Секі, Гіфу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1956816"/>
            <a:ext cx="31821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Промисловий центр. Серійне виробництво, західні руків'я, стабільна якість.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8096" y="2432304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2542032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C4820A"/>
                </a:solidFill>
                <a:latin typeface="Segoe UI"/>
              </a:rPr>
              <a:t>726 – 70 102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16352" y="2596896"/>
            <a:ext cx="113385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10 брендів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2852928"/>
            <a:ext cx="3182112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KAI / Shun · Yaxell · Suncraft · Satake · Miyabi · Kasumi · Seki Kanetsugu · Kanetsune · Global · Masahiro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3346704"/>
            <a:ext cx="31821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700" b="1">
                <a:solidFill>
                  <a:srgbClr val="C4820A"/>
                </a:solidFill>
                <a:latin typeface="Segoe UI"/>
              </a:rPr>
              <a:t>Сюди йде 90 % грошей категорії в Україні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70248" y="1554480"/>
            <a:ext cx="3584448" cy="2066543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270248" y="1554480"/>
            <a:ext cx="3584448" cy="4572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71416" y="1719072"/>
            <a:ext cx="31821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1C2235"/>
                </a:solidFill>
                <a:latin typeface="Segoe UI"/>
              </a:rPr>
              <a:t>Сакаї, Осака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71416" y="1956816"/>
            <a:ext cx="31821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600+ років. Розподіл праці: коваль, точильник, монтажник. Односторонні ножі.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71416" y="2432304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71416" y="2542032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5D4B96"/>
                </a:solidFill>
                <a:latin typeface="Segoe UI"/>
              </a:rPr>
              <a:t>1 999 – 15 580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19672" y="2596896"/>
            <a:ext cx="113385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7 брендів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71416" y="2852928"/>
            <a:ext cx="3182112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Sakai Takayuki · Yamawaki · Suisin · Myojin · Yoshihiro · Sakai Haruhiko · Sakai Ichiji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71416" y="3346704"/>
            <a:ext cx="31821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700" b="1">
                <a:solidFill>
                  <a:srgbClr val="5D4B96"/>
                </a:solidFill>
                <a:latin typeface="Segoe UI"/>
              </a:rPr>
              <a:t>Професійна суші-кухня. В Україні — одиничні позиції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73567" y="1554480"/>
            <a:ext cx="3584448" cy="2066543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973567" y="1554480"/>
            <a:ext cx="3584448" cy="45720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74736" y="1719072"/>
            <a:ext cx="31821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1C2235"/>
                </a:solidFill>
                <a:latin typeface="Segoe UI"/>
              </a:rPr>
              <a:t>Ечідзен, Фукуї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74736" y="1956816"/>
            <a:ext cx="31821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700 років. Takefu Knife Village. Піонери порошкових сталей.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74736" y="2432304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74736" y="2542032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C94F7C"/>
                </a:solidFill>
                <a:latin typeface="Segoe UI"/>
              </a:rPr>
              <a:t>5 320 – 16 677 грн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22992" y="2596896"/>
            <a:ext cx="113385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3 брендів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74736" y="2852928"/>
            <a:ext cx="3182112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Takamura · Anryu · Etsu / Ittetsu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74736" y="3346704"/>
            <a:ext cx="31821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700" b="1">
                <a:solidFill>
                  <a:srgbClr val="C94F7C"/>
                </a:solidFill>
                <a:latin typeface="Segoe UI"/>
              </a:rPr>
              <a:t>Найвища ціна за грам. Купує тільки ентузіаст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6928" y="3767328"/>
            <a:ext cx="3584448" cy="2066543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66928" y="3767328"/>
            <a:ext cx="3584448" cy="4572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68096" y="3931920"/>
            <a:ext cx="31821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1C2235"/>
                </a:solidFill>
                <a:latin typeface="Segoe UI"/>
              </a:rPr>
              <a:t>Тоса, Коті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8096" y="4169664"/>
            <a:ext cx="31821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400+ років. Вільна ковка: один коваль веде ніж від заготовки до кромки.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68096" y="4645152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68096" y="4754880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E9EA6"/>
                </a:solidFill>
                <a:latin typeface="Segoe UI"/>
              </a:rPr>
              <a:t>2 610 – 10 035 грн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816352" y="4809744"/>
            <a:ext cx="113385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4 брендів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68096" y="5065776"/>
            <a:ext cx="3182112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Tosa / Tosauchi · HONMAMON · Fukamizu · Hokiyama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68096" y="5559552"/>
            <a:ext cx="31821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700" b="1">
                <a:solidFill>
                  <a:srgbClr val="1E9EA6"/>
                </a:solidFill>
                <a:latin typeface="Segoe UI"/>
              </a:rPr>
              <a:t>Куроучі-естетика. Найглибша артизанальна лінія в Україні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270248" y="3767328"/>
            <a:ext cx="3584448" cy="2066543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270248" y="3767328"/>
            <a:ext cx="3584448" cy="45720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471416" y="3931920"/>
            <a:ext cx="31821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1C2235"/>
                </a:solidFill>
                <a:latin typeface="Segoe UI"/>
              </a:rPr>
              <a:t>Цубаме-Сандзьо, Ніїґата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71416" y="4169664"/>
            <a:ext cx="31821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700 років, Ніїґата. Ковальські майстерні та інструмент.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471416" y="4645152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471416" y="4754880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37A169"/>
                </a:solidFill>
                <a:latin typeface="Segoe UI"/>
              </a:rPr>
              <a:t>9 900 грн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19672" y="4809744"/>
            <a:ext cx="113385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2 брендів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71416" y="5065776"/>
            <a:ext cx="3182112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Tsukasa (Hinoura) · Shimomura Kihan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471416" y="5559552"/>
            <a:ext cx="31821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700" b="1">
                <a:solidFill>
                  <a:srgbClr val="37A169"/>
                </a:solidFill>
                <a:latin typeface="Segoe UI"/>
              </a:rPr>
              <a:t>Дві позиції на всю країну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973567" y="3767328"/>
            <a:ext cx="3584448" cy="2066543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973567" y="3767328"/>
            <a:ext cx="3584448" cy="4572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174736" y="3931920"/>
            <a:ext cx="31821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1C2235"/>
                </a:solidFill>
                <a:latin typeface="Segoe UI"/>
              </a:rPr>
              <a:t>Хіросакі, Аоморі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174736" y="4169664"/>
            <a:ext cx="31821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Nigara Hamono: 350 років, ковалі клану Цуґару, 8 поколінь.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174736" y="4645152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174736" y="4754880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C03B4B"/>
                </a:solidFill>
                <a:latin typeface="Segoe UI"/>
              </a:rPr>
              <a:t>14 800 – 16 740 грн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222992" y="4809744"/>
            <a:ext cx="113385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1 брендів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174736" y="5065776"/>
            <a:ext cx="3182112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Nigara Hamono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174736" y="5559552"/>
            <a:ext cx="31821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700" b="1">
                <a:solidFill>
                  <a:srgbClr val="C03B4B"/>
                </a:solidFill>
                <a:latin typeface="Segoe UI"/>
              </a:rPr>
              <a:t>Два ножі на всю країну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66928" y="6035040"/>
            <a:ext cx="5413248" cy="69103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66928" y="6035040"/>
            <a:ext cx="36576" cy="69103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04672" y="6190488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ЧОМУ ЦЕ ВАЖЛИВО ДЛЯ ЗАКУПІВЛІ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04672" y="6419088"/>
            <a:ext cx="4937760" cy="160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Секі продасть вам контейнер. Сакаї, Тоса й Аоморі — ні: там кують поштучно.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217920" y="6035040"/>
            <a:ext cx="5413248" cy="69103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217920" y="6035040"/>
            <a:ext cx="36576" cy="691032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455664" y="6190488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НАСЛІДОК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455664" y="6419088"/>
            <a:ext cx="4937760" cy="160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Масштабований постачальник в Україні може бути тільки з Секі. Решта — вітрина.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ХТО ЦЕ ПРОДАЄ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Сімнадцять продавців, два з них тримають нішу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37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Повний перелік каналів, де в Україні можна купити ніж японського виробництва, із глибиною й цінами жовтня 2026.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2331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ПРОДАВЕЦЬ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98648" y="155448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ТИП КАНАЛУ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53128" y="1554480"/>
            <a:ext cx="11430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ЯПОН. БРЕНДІВ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1554480"/>
            <a:ext cx="960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ЯПОН. SKU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6248" y="1554480"/>
            <a:ext cx="1965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ЦІНОВИЙ ДІАПАЗОН, ГРН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22208" y="1554480"/>
            <a:ext cx="3063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ЩО ЦЕ ЗА КАНАЛ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3776" y="1732788"/>
            <a:ext cx="11164824" cy="2304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1773936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Sekator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98648" y="177393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Спеціаліст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96128" y="1773936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6248" y="1773936"/>
            <a:ext cx="19110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1 650 – 26 990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22208" y="1773936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Honmamon, Misono, Hanakumagawa, Mikihisa, Kasumi. Усі позиції марковані «(Японія)»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53128" y="1815084"/>
            <a:ext cx="168510" cy="7772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93792" y="1773936"/>
            <a:ext cx="3291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2013508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japan-knife.top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98648" y="2013508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Спеціаліст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96128" y="2013508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56248" y="2013508"/>
            <a:ext cx="19110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1 700 – 8 600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22208" y="2013508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KAI Sekimagoroku, Satake, Sekiryu, Shimomura, Teruhide, Gyokucho, Seto Iseya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453128" y="2054656"/>
            <a:ext cx="192024" cy="7772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193792" y="2013508"/>
            <a:ext cx="3291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7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93776" y="2211933"/>
            <a:ext cx="11164824" cy="2304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2253081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vodospad.net.ua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98648" y="2253081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Садовий + кухня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96128" y="2253081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56248" y="2253081"/>
            <a:ext cx="19110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2 090 – 2 390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22208" y="2253081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Honmamon, Hanakumagawa, Higonokami. Японія в непрофільному магазині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453128" y="2294229"/>
            <a:ext cx="97971" cy="7772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193792" y="2253081"/>
            <a:ext cx="3291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928" y="2492654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WildCat / IzzaBugra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898648" y="2492654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Спеціаліст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96128" y="2492654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≈ 100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56248" y="2492654"/>
            <a:ext cx="19110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970 – 16 677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22208" y="2492654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Найширша артизанальна добірка країни. Прямий закуп у Японії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53128" y="2533802"/>
            <a:ext cx="685800" cy="7772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193792" y="2492654"/>
            <a:ext cx="3291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28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93776" y="2691079"/>
            <a:ext cx="11164824" cy="2304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66928" y="2732227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ROKS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898648" y="2732227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Спеціаліст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596128" y="2732227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≈ 83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56248" y="2732227"/>
            <a:ext cx="19110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990 – 16 740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522208" y="2732227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Єдиний із Nigara і Myojin. Дилерства не заявляє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453128" y="2773375"/>
            <a:ext cx="215537" cy="7772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193792" y="2732227"/>
            <a:ext cx="3291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6928" y="2971800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ProfiMax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898648" y="2971800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Спеціаліст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596128" y="2971800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500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556248" y="2971800"/>
            <a:ext cx="19110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726 – 38 640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22208" y="2971800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Найширший промисловий асортимент. Країну маркує сам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453128" y="3012948"/>
            <a:ext cx="286076" cy="7772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193792" y="2971800"/>
            <a:ext cx="3291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11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93776" y="3170224"/>
            <a:ext cx="11164824" cy="2304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66928" y="3211372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Епіцентр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898648" y="3211372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Великий формат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596128" y="3211372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133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556248" y="3211372"/>
            <a:ext cx="19110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2 787 – 11 271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22208" y="3211372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Suncraft 97, Tojiro 30, KAI 6. Єдиний офлайн-масштаб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453128" y="3252520"/>
            <a:ext cx="97971" cy="7772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193792" y="3211372"/>
            <a:ext cx="3291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66928" y="3450945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yaxell.com.ua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898648" y="3450945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Монобренд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596128" y="3450945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100+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556248" y="3450945"/>
            <a:ext cx="19110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2 145 – 70 102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522208" y="3450945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Ексклюзивний імпортер Yaxell, шоурум Київ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53128" y="3492093"/>
            <a:ext cx="50945" cy="77724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193792" y="3450945"/>
            <a:ext cx="3291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493776" y="3649370"/>
            <a:ext cx="11164824" cy="2304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66928" y="3690518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zwilling.in.ua / LaCocotte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898648" y="3690518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Монобренд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596128" y="3690518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556248" y="3690518"/>
            <a:ext cx="19110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5 900 – 43 020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522208" y="3690518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Miyabi через представництво Zwilling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453128" y="3731666"/>
            <a:ext cx="50945" cy="77724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193792" y="3690518"/>
            <a:ext cx="3291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" y="3930091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rezat.com.ua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898648" y="3930091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Спеціаліст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596128" y="3930091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300+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556248" y="3930091"/>
            <a:ext cx="19110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217 – 3 757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522208" y="3930091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Найнижчі ціни на справжню Японію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453128" y="3971239"/>
            <a:ext cx="144997" cy="7772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193792" y="3930091"/>
            <a:ext cx="3291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5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493776" y="4128516"/>
            <a:ext cx="11164824" cy="2304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66928" y="4169664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volod.in.ua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898648" y="4169664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Спеціаліст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596128" y="4169664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≈ 40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556248" y="4169664"/>
            <a:ext cx="19110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1 180 – 24 038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22208" y="4169664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Глибина по Kasumi, традиційні ножі</a:t>
            </a:r>
          </a:p>
        </p:txBody>
      </p:sp>
      <p:sp>
        <p:nvSpPr>
          <p:cNvPr id="97" name="Rectangle 96"/>
          <p:cNvSpPr/>
          <p:nvPr/>
        </p:nvSpPr>
        <p:spPr>
          <a:xfrm>
            <a:off x="4453128" y="4210812"/>
            <a:ext cx="74458" cy="77724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193792" y="4169664"/>
            <a:ext cx="3291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66928" y="4409236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japan-knife.com.ua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898648" y="440923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Спеціаліст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596128" y="4409236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≈ 60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556248" y="4409236"/>
            <a:ext cx="19110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399 – 9 999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522208" y="4409236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Ножі + водні камені в одному місці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453128" y="4450384"/>
            <a:ext cx="192024" cy="7772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5193792" y="4409236"/>
            <a:ext cx="3291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7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493776" y="4607661"/>
            <a:ext cx="11164824" cy="2304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66928" y="4648809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Hangiri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898648" y="4648809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Суші-спеціаліст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596128" y="4648809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556248" y="4648809"/>
            <a:ext cx="19110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1 107 – 4 420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522208" y="4648809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Sekiryu, Sakai Takayuki, KAI. Односторонні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4453128" y="4689957"/>
            <a:ext cx="97971" cy="7772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193792" y="4648809"/>
            <a:ext cx="3291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566928" y="4888382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ibis.net.ua / x-gear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898648" y="4888382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Збройовий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596128" y="4888382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556248" y="4888382"/>
            <a:ext cx="19110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150 – 16 360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22208" y="4888382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Kanetsune через збройовий канал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4453128" y="4929530"/>
            <a:ext cx="50945" cy="77724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5193792" y="4888382"/>
            <a:ext cx="3291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493776" y="5086807"/>
            <a:ext cx="11164824" cy="2304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566928" y="5127955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Kagura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98648" y="5127955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Опт + роздріб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5596128" y="5127955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6556248" y="5127955"/>
            <a:ext cx="19110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8522208" y="5127955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Заявляє опт — єдиний такий канал у японській ніші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4453128" y="5169103"/>
            <a:ext cx="50945" cy="77724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5193792" y="5127955"/>
            <a:ext cx="3291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66928" y="5367528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Rozetka / m.ua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898648" y="5367528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Маркетплейс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596128" y="5367528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556248" y="5367528"/>
            <a:ext cx="19110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2 618 – 13 195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8522208" y="5367528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Global і фільтр «країна: Японія»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53128" y="5408676"/>
            <a:ext cx="74458" cy="77724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5193792" y="5367528"/>
            <a:ext cx="3291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493776" y="5565952"/>
            <a:ext cx="11164824" cy="2304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66928" y="5607100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AL-Group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2898648" y="5607100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Опт HoReCa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596128" y="5607100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6556248" y="5607100"/>
            <a:ext cx="19110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5 740 – 13 290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522208" y="5607100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Yaxell і Kaneyoshi серед 523 проф. ножів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4453128" y="5648248"/>
            <a:ext cx="74458" cy="77724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193792" y="5607100"/>
            <a:ext cx="3291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566928" y="5870448"/>
            <a:ext cx="3584448" cy="8517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566928" y="5870448"/>
            <a:ext cx="36576" cy="851712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804672" y="6025896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КОНЦЕНТРАЦІЯ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804672" y="6254496"/>
            <a:ext cx="31089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WildCat, ROKS і Sekator — 42 бренди з 55.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Без них ніша складається з п'яти марок.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4297680" y="5870448"/>
            <a:ext cx="3584448" cy="8517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4297680" y="5870448"/>
            <a:ext cx="36576" cy="85171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4535424" y="6025896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ЦІНОВИЙ РОЗКИД НА ТОЙ САМИЙ БРЕНД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535424" y="6254496"/>
            <a:ext cx="31089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Tojiro: 599 грн у ProfiMax проти 13 799 грн у WildCat.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Різні лінійки, один бренд.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8046720" y="5870448"/>
            <a:ext cx="3584448" cy="8517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8046720" y="5870448"/>
            <a:ext cx="36576" cy="851712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8284464" y="6025896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E9EA6"/>
                </a:solidFill>
                <a:latin typeface="Segoe UI"/>
              </a:rPr>
              <a:t>ЄДИНИЙ ОПТ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284464" y="6254496"/>
            <a:ext cx="31089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Kagura заявляє гуртові умови. Це єдиний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оптовий канал у японській ніші.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603504" y="6565392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«Японських брендів» — кількість марок японського виробництва в каталозі продавця. SKU — сумарна кількість японських позицій, оцінка за публічним каталогом.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ШИРИНА ПРОТИ ГЛИБИНИ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П'ятдесят п'ять брендів, але полиці немає у жодного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38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Кожен бренд — точка: горизонталь — скільки позицій у країні, вертикаль — медіанна ціна. Логарифмічна шкала по обох осях.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234440" y="1700784"/>
            <a:ext cx="6675120" cy="3749039"/>
          </a:xfrm>
          <a:prstGeom prst="rect">
            <a:avLst/>
          </a:prstGeom>
          <a:solidFill>
            <a:srgbClr val="F7F8FB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234440" y="1700784"/>
            <a:ext cx="7315" cy="3749039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3272" y="5504688"/>
            <a:ext cx="40233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98000" y="1700784"/>
            <a:ext cx="7315" cy="3749039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96832" y="5504688"/>
            <a:ext cx="40233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01921" y="1700784"/>
            <a:ext cx="7315" cy="3749039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00753" y="5504688"/>
            <a:ext cx="40233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65482" y="1700784"/>
            <a:ext cx="7315" cy="3749039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64314" y="5504688"/>
            <a:ext cx="40233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30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69403" y="1700784"/>
            <a:ext cx="7315" cy="3749039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68235" y="5504688"/>
            <a:ext cx="40233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100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34440" y="5242227"/>
            <a:ext cx="6675120" cy="7315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1208" y="5178219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1k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234440" y="4220157"/>
            <a:ext cx="6675120" cy="7315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208" y="4156149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3k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34440" y="3100068"/>
            <a:ext cx="6675120" cy="7315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1208" y="3036060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10k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234440" y="2077999"/>
            <a:ext cx="6675120" cy="7315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1208" y="2013991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30k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34440" y="5687568"/>
            <a:ext cx="6675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717890"/>
                </a:solidFill>
                <a:latin typeface="Segoe UI"/>
              </a:rPr>
              <a:t>ПОЗИЦІЙ У КАТАЛОГАХ УКРАЇНИ, ШТ (лог)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1499616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717890"/>
                </a:solidFill>
                <a:latin typeface="Segoe UI"/>
              </a:rPr>
              <a:t>МЕДІАННА ЦІНА, ГРН (лог)</a:t>
            </a:r>
          </a:p>
        </p:txBody>
      </p:sp>
      <p:sp>
        <p:nvSpPr>
          <p:cNvPr id="31" name="Oval 30"/>
          <p:cNvSpPr/>
          <p:nvPr/>
        </p:nvSpPr>
        <p:spPr>
          <a:xfrm>
            <a:off x="7739924" y="2686472"/>
            <a:ext cx="155448" cy="155448"/>
          </a:xfrm>
          <a:prstGeom prst="ellipse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343928" y="1839732"/>
            <a:ext cx="155448" cy="155448"/>
          </a:xfrm>
          <a:prstGeom prst="ellipse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010958" y="3168192"/>
            <a:ext cx="155448" cy="155448"/>
          </a:xfrm>
          <a:prstGeom prst="ellipse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251101" y="3013179"/>
            <a:ext cx="155448" cy="155448"/>
          </a:xfrm>
          <a:prstGeom prst="ellipse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697139" y="3128254"/>
            <a:ext cx="155448" cy="155448"/>
          </a:xfrm>
          <a:prstGeom prst="ellipse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5547398" y="2190209"/>
            <a:ext cx="155448" cy="155448"/>
          </a:xfrm>
          <a:prstGeom prst="ellipse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5212599" y="3206458"/>
            <a:ext cx="155448" cy="155448"/>
          </a:xfrm>
          <a:prstGeom prst="ellipse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931095" y="3296830"/>
            <a:ext cx="155448" cy="155448"/>
          </a:xfrm>
          <a:prstGeom prst="ellipse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002673" y="3200750"/>
            <a:ext cx="155448" cy="155448"/>
          </a:xfrm>
          <a:prstGeom prst="ellipse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4083837" y="4067968"/>
            <a:ext cx="155448" cy="155448"/>
          </a:xfrm>
          <a:prstGeom prst="ellipse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2080119" y="3038817"/>
            <a:ext cx="155448" cy="155448"/>
          </a:xfrm>
          <a:prstGeom prst="ellipse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156716" y="4520114"/>
            <a:ext cx="155448" cy="155448"/>
          </a:xfrm>
          <a:prstGeom prst="ellipse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184148" y="3376300"/>
            <a:ext cx="100584" cy="100584"/>
          </a:xfrm>
          <a:prstGeom prst="ellipse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156716" y="3991610"/>
            <a:ext cx="155448" cy="155448"/>
          </a:xfrm>
          <a:prstGeom prst="ellipse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107551" y="2711185"/>
            <a:ext cx="100584" cy="100584"/>
          </a:xfrm>
          <a:prstGeom prst="ellipse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351168" y="3634655"/>
            <a:ext cx="155448" cy="155448"/>
          </a:xfrm>
          <a:prstGeom prst="ellipse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926927" y="3156728"/>
            <a:ext cx="155448" cy="155448"/>
          </a:xfrm>
          <a:prstGeom prst="ellipse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184148" y="2573964"/>
            <a:ext cx="100584" cy="100584"/>
          </a:xfrm>
          <a:prstGeom prst="ellipse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5642595" y="3425693"/>
            <a:ext cx="155448" cy="155448"/>
          </a:xfrm>
          <a:prstGeom prst="ellipse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3328225" y="3967244"/>
            <a:ext cx="100584" cy="100584"/>
          </a:xfrm>
          <a:prstGeom prst="ellipse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184148" y="3059126"/>
            <a:ext cx="100584" cy="100584"/>
          </a:xfrm>
          <a:prstGeom prst="ellipse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2080119" y="2598557"/>
            <a:ext cx="155448" cy="155448"/>
          </a:xfrm>
          <a:prstGeom prst="ellipse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3328225" y="4328387"/>
            <a:ext cx="100584" cy="100584"/>
          </a:xfrm>
          <a:prstGeom prst="ellipse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3328225" y="3712003"/>
            <a:ext cx="100584" cy="100584"/>
          </a:xfrm>
          <a:prstGeom prst="ellipse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184148" y="2745761"/>
            <a:ext cx="100584" cy="100584"/>
          </a:xfrm>
          <a:prstGeom prst="ellipse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184148" y="2863256"/>
            <a:ext cx="100584" cy="100584"/>
          </a:xfrm>
          <a:prstGeom prst="ellipse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184148" y="3657606"/>
            <a:ext cx="100584" cy="100584"/>
          </a:xfrm>
          <a:prstGeom prst="ellipse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184148" y="3203164"/>
            <a:ext cx="100584" cy="100584"/>
          </a:xfrm>
          <a:prstGeom prst="ellipse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2107551" y="4306581"/>
            <a:ext cx="100584" cy="100584"/>
          </a:xfrm>
          <a:prstGeom prst="ellipse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184148" y="4021154"/>
            <a:ext cx="100584" cy="100584"/>
          </a:xfrm>
          <a:prstGeom prst="ellipse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184148" y="4021154"/>
            <a:ext cx="100584" cy="100584"/>
          </a:xfrm>
          <a:prstGeom prst="ellipse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2080119" y="4042555"/>
            <a:ext cx="155448" cy="155448"/>
          </a:xfrm>
          <a:prstGeom prst="ellipse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156716" y="3315128"/>
            <a:ext cx="155448" cy="155448"/>
          </a:xfrm>
          <a:prstGeom prst="ellipse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2620276" y="3493711"/>
            <a:ext cx="155448" cy="155448"/>
          </a:xfrm>
          <a:prstGeom prst="ellipse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1156716" y="4240453"/>
            <a:ext cx="155448" cy="155448"/>
          </a:xfrm>
          <a:prstGeom prst="ellipse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2107551" y="3257373"/>
            <a:ext cx="100584" cy="100584"/>
          </a:xfrm>
          <a:prstGeom prst="ellipse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2647708" y="4380374"/>
            <a:ext cx="100584" cy="100584"/>
          </a:xfrm>
          <a:prstGeom prst="ellipse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1184148" y="3774227"/>
            <a:ext cx="100584" cy="100584"/>
          </a:xfrm>
          <a:prstGeom prst="ellipse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1184148" y="3202067"/>
            <a:ext cx="100584" cy="100584"/>
          </a:xfrm>
          <a:prstGeom prst="ellipse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2107551" y="2255286"/>
            <a:ext cx="100584" cy="100584"/>
          </a:xfrm>
          <a:prstGeom prst="ellipse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1156716" y="4478699"/>
            <a:ext cx="155448" cy="155448"/>
          </a:xfrm>
          <a:prstGeom prst="ellipse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464336" y="2691044"/>
            <a:ext cx="12984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C4820A"/>
                </a:solidFill>
                <a:latin typeface="Segoe UI"/>
              </a:rPr>
              <a:t>KAI / Shun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068340" y="1844304"/>
            <a:ext cx="12984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C4820A"/>
                </a:solidFill>
                <a:latin typeface="Segoe UI"/>
              </a:rPr>
              <a:t>Yaxell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975513" y="3017751"/>
            <a:ext cx="12984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C4820A"/>
                </a:solidFill>
                <a:latin typeface="Segoe UI"/>
              </a:rPr>
              <a:t>Suncraft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735370" y="3172764"/>
            <a:ext cx="12984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717890"/>
                </a:solidFill>
                <a:latin typeface="Segoe UI"/>
              </a:rPr>
              <a:t>Tojiro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421551" y="2821930"/>
            <a:ext cx="12984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C4820A"/>
                </a:solidFill>
                <a:latin typeface="Segoe UI"/>
              </a:rPr>
              <a:t>Satake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199269" y="3360770"/>
            <a:ext cx="12984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C4820A"/>
                </a:solidFill>
                <a:latin typeface="Segoe UI"/>
              </a:rPr>
              <a:t>Kanetsune Seki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839191" y="3585713"/>
            <a:ext cx="12984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1E9EA6"/>
                </a:solidFill>
                <a:latin typeface="Segoe UI"/>
              </a:rPr>
              <a:t>Tosa / Tosauchi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743994" y="2194781"/>
            <a:ext cx="12984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C4820A"/>
                </a:solidFill>
                <a:latin typeface="Segoe UI"/>
              </a:rPr>
              <a:t>Miyabi (Zwilling)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409195" y="3211030"/>
            <a:ext cx="12984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C4820A"/>
                </a:solidFill>
                <a:latin typeface="Segoe UI"/>
              </a:rPr>
              <a:t>Kasumi / Sumikama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127691" y="3301402"/>
            <a:ext cx="12984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C4820A"/>
                </a:solidFill>
                <a:latin typeface="Segoe UI"/>
              </a:rPr>
              <a:t>Seki Kanetsugu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123523" y="3161300"/>
            <a:ext cx="12984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C94F7C"/>
                </a:solidFill>
                <a:latin typeface="Segoe UI"/>
              </a:rPr>
              <a:t>Takamura Hamono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276715" y="2688325"/>
            <a:ext cx="12984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5D4B96"/>
                </a:solidFill>
                <a:latin typeface="Segoe UI"/>
              </a:rPr>
              <a:t>Myojin (Naohito)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276715" y="2447681"/>
            <a:ext cx="12984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C03B4B"/>
                </a:solidFill>
                <a:latin typeface="Segoe UI"/>
              </a:rPr>
              <a:t>Nigara Hamono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276715" y="2232426"/>
            <a:ext cx="12984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717890"/>
                </a:solidFill>
                <a:latin typeface="Segoe UI"/>
              </a:rPr>
              <a:t>Harukaze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353312" y="2862000"/>
            <a:ext cx="12984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C94F7C"/>
                </a:solidFill>
                <a:latin typeface="Segoe UI"/>
              </a:rPr>
              <a:t>Etsu / Ittetsu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353312" y="3033797"/>
            <a:ext cx="12984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717890"/>
                </a:solidFill>
                <a:latin typeface="Segoe UI"/>
              </a:rPr>
              <a:t>Hatsukokoro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353312" y="2840396"/>
            <a:ext cx="12984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717890"/>
                </a:solidFill>
                <a:latin typeface="Segoe UI"/>
              </a:rPr>
              <a:t>JCK Natures</a:t>
            </a:r>
          </a:p>
        </p:txBody>
      </p:sp>
      <p:sp>
        <p:nvSpPr>
          <p:cNvPr id="89" name="Oval 88"/>
          <p:cNvSpPr/>
          <p:nvPr/>
        </p:nvSpPr>
        <p:spPr>
          <a:xfrm>
            <a:off x="1234440" y="5852160"/>
            <a:ext cx="100584" cy="100584"/>
          </a:xfrm>
          <a:prstGeom prst="ellipse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389888" y="5833872"/>
            <a:ext cx="786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Секі</a:t>
            </a:r>
          </a:p>
        </p:txBody>
      </p:sp>
      <p:sp>
        <p:nvSpPr>
          <p:cNvPr id="91" name="Oval 90"/>
          <p:cNvSpPr/>
          <p:nvPr/>
        </p:nvSpPr>
        <p:spPr>
          <a:xfrm>
            <a:off x="2203704" y="5852160"/>
            <a:ext cx="100584" cy="100584"/>
          </a:xfrm>
          <a:prstGeom prst="ellipse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359152" y="5833872"/>
            <a:ext cx="786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Сакаї</a:t>
            </a:r>
          </a:p>
        </p:txBody>
      </p:sp>
      <p:sp>
        <p:nvSpPr>
          <p:cNvPr id="93" name="Oval 92"/>
          <p:cNvSpPr/>
          <p:nvPr/>
        </p:nvSpPr>
        <p:spPr>
          <a:xfrm>
            <a:off x="3172968" y="5852160"/>
            <a:ext cx="100584" cy="100584"/>
          </a:xfrm>
          <a:prstGeom prst="ellipse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328416" y="5833872"/>
            <a:ext cx="786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Ечідзен</a:t>
            </a:r>
          </a:p>
        </p:txBody>
      </p:sp>
      <p:sp>
        <p:nvSpPr>
          <p:cNvPr id="95" name="Oval 94"/>
          <p:cNvSpPr/>
          <p:nvPr/>
        </p:nvSpPr>
        <p:spPr>
          <a:xfrm>
            <a:off x="4142232" y="5852160"/>
            <a:ext cx="100584" cy="100584"/>
          </a:xfrm>
          <a:prstGeom prst="ellipse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297680" y="5833872"/>
            <a:ext cx="786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Тоса</a:t>
            </a:r>
          </a:p>
        </p:txBody>
      </p:sp>
      <p:sp>
        <p:nvSpPr>
          <p:cNvPr id="97" name="Oval 96"/>
          <p:cNvSpPr/>
          <p:nvPr/>
        </p:nvSpPr>
        <p:spPr>
          <a:xfrm>
            <a:off x="5111496" y="5852160"/>
            <a:ext cx="100584" cy="100584"/>
          </a:xfrm>
          <a:prstGeom prst="ellipse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266944" y="5833872"/>
            <a:ext cx="786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Сандзьо</a:t>
            </a:r>
          </a:p>
        </p:txBody>
      </p:sp>
      <p:sp>
        <p:nvSpPr>
          <p:cNvPr id="99" name="Oval 98"/>
          <p:cNvSpPr/>
          <p:nvPr/>
        </p:nvSpPr>
        <p:spPr>
          <a:xfrm>
            <a:off x="6080760" y="5852160"/>
            <a:ext cx="100584" cy="100584"/>
          </a:xfrm>
          <a:prstGeom prst="ellipse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236208" y="5833872"/>
            <a:ext cx="786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Аоморі</a:t>
            </a:r>
          </a:p>
        </p:txBody>
      </p:sp>
      <p:sp>
        <p:nvSpPr>
          <p:cNvPr id="101" name="Oval 100"/>
          <p:cNvSpPr/>
          <p:nvPr/>
        </p:nvSpPr>
        <p:spPr>
          <a:xfrm>
            <a:off x="7050024" y="5852160"/>
            <a:ext cx="100584" cy="100584"/>
          </a:xfrm>
          <a:prstGeom prst="ellipse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205472" y="5833872"/>
            <a:ext cx="786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регіон н/д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8138160" y="1700784"/>
            <a:ext cx="3493008" cy="173736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8138160" y="1700784"/>
            <a:ext cx="36576" cy="173736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375904" y="1856232"/>
            <a:ext cx="30175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ЩО ПОКАЗУЄ ЦЕЙ ГРАФІК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375904" y="2084832"/>
            <a:ext cx="3017520" cy="12070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Правий нижній кут — промисловість: багато позицій, доступна ціна.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Там п'ять марок, і вони тримають ринок.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Увесь лівий край — по одній-дві позиції на бренд.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Це не асортимент, це вітрина для ентузіаста.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8138160" y="3621024"/>
            <a:ext cx="3493008" cy="173736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8138160" y="3621024"/>
            <a:ext cx="36576" cy="173736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8375904" y="3776472"/>
            <a:ext cx="30175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ПОРОЖНІЙ КВАДРАНТ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375904" y="4005072"/>
            <a:ext cx="3017520" cy="12070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Правий верхній кут — багато позицій за високою ціною — порожній.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Жоден преміальний японський бренд не має в Україні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ані глибини лінійки, ані полиці.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Це і є відповідь, чому ніша не росте.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03504" y="6163056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На графіку — 24 бренди, для яких вдалося встановити і кількість позицій, і ціну. Медіанна ціна = середина спостереженого діапазону, а не зважена медіана продажів.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МАТРИЦЯ БРЕНДІВ · 3 З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«Японські» бренди, зроблені не в Японії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39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Найбільший за грошима сегмент під вивіскою японського ножа. Формально це не підробка — це маркетингова конструкція.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12848" y="1554480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ВЛАСНИК / ПОХОДЖЕННЯ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07408" y="1554480"/>
            <a:ext cx="1234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ВИРОБНИЦТВО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41848" y="155448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SKU В УКРАЇНІ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96328" y="1554480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ЦІНОВИЙ ДІАПАЗОН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59368" y="1554480"/>
            <a:ext cx="2788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ЯК ПОДАЄТЬСЯ В УКРАЇНІ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3776" y="1732788"/>
            <a:ext cx="11164824" cy="379476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1773936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Samura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12848" y="1773936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Засновано 2003, Алєксєй Яковлєв;
бренд будувався для ринку РФ; HQ Дубай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07408" y="1773936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Переважно Китай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41848" y="177393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287 Епіцентр · 218 Rozetka
· 206 ProfiMax · 8 ROKS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96328" y="177393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679 – 14 299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59368" y="1773936"/>
            <a:ext cx="2734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«Японська сталь AUS-8», «японські кухонні ножі».
Країна виробництва в картках не вказується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2194560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Sekiryu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12848" y="2194560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Японський бренд бюджетної лінії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07408" y="2194560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Японія / Азія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41848" y="2194560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н/д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96328" y="2194560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1 107 – 1 638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59368" y="2194560"/>
            <a:ext cx="2734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Ножі для суші та сашимі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93776" y="2574036"/>
            <a:ext cx="11164824" cy="379476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2615184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Satori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12848" y="2615184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Бренд маркетплейсу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07408" y="2615184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Китай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41848" y="2615184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десятки пропозицій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96328" y="2615184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≈ 1 200 – 2 500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59368" y="2615184"/>
            <a:ext cx="2734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«Ручна робота», «японський стиль»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3035808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Takagi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212848" y="3035808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Бренд маркетплейсу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07408" y="3035808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Китай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41848" y="3035808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десятки пропозицій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96328" y="3035808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≈ 1 000 – 2 500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59368" y="3035808"/>
            <a:ext cx="2734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«Kanesada деба», японська номенклатура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93776" y="3415284"/>
            <a:ext cx="11164824" cy="379476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3456432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TURWHO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212848" y="3456432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Китайський бренд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07408" y="3456432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Китай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41848" y="3456432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на Prom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196328" y="3456432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≈ 2 870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59368" y="3456432"/>
            <a:ext cx="2734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«Професійний японський шеф-ніж, дамаск VG-10»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928" y="3877056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Ketu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212848" y="3877056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Лінія Yaxell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407408" y="3877056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Японія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41848" y="387705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н/д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196328" y="387705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до 13 290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659368" y="3877056"/>
            <a:ext cx="2734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Продається в опті HoReCa як окремий бренд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93776" y="4256532"/>
            <a:ext cx="11164824" cy="379476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66928" y="4297680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Без бренду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212848" y="4297680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Продавці Prom, Shafa, OLX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407408" y="4297680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Китай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41848" y="4297680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3 000+ пропозицій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196328" y="4297680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399 – 6 200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59368" y="4297680"/>
            <a:ext cx="2734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«Японський», «кіріцуке», «янагіба» без походження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66928" y="4626864"/>
            <a:ext cx="1170432" cy="914400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p_97309d76fc9b158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700016"/>
            <a:ext cx="1024128" cy="768096"/>
          </a:xfrm>
          <a:prstGeom prst="rect">
            <a:avLst/>
          </a:prstGeom>
        </p:spPr>
      </p:pic>
      <p:sp>
        <p:nvSpPr>
          <p:cNvPr id="64" name="Rounded Rectangle 63"/>
          <p:cNvSpPr/>
          <p:nvPr/>
        </p:nvSpPr>
        <p:spPr>
          <a:xfrm>
            <a:off x="1792224" y="4626864"/>
            <a:ext cx="1170432" cy="914400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5" name="Picture 64" descr="p_29fb8195e456698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65376" y="4700016"/>
            <a:ext cx="1024128" cy="768096"/>
          </a:xfrm>
          <a:prstGeom prst="rect">
            <a:avLst/>
          </a:prstGeom>
        </p:spPr>
      </p:pic>
      <p:sp>
        <p:nvSpPr>
          <p:cNvPr id="66" name="Rounded Rectangle 65"/>
          <p:cNvSpPr/>
          <p:nvPr/>
        </p:nvSpPr>
        <p:spPr>
          <a:xfrm>
            <a:off x="3017520" y="4626864"/>
            <a:ext cx="1170432" cy="914400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p_3d7587c34c502c1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90672" y="4700016"/>
            <a:ext cx="1024128" cy="768096"/>
          </a:xfrm>
          <a:prstGeom prst="rect">
            <a:avLst/>
          </a:prstGeom>
        </p:spPr>
      </p:pic>
      <p:sp>
        <p:nvSpPr>
          <p:cNvPr id="68" name="Rounded Rectangle 67"/>
          <p:cNvSpPr/>
          <p:nvPr/>
        </p:nvSpPr>
        <p:spPr>
          <a:xfrm>
            <a:off x="4242816" y="4626864"/>
            <a:ext cx="1170432" cy="914400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p_269ae8787e24ca6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15968" y="4700016"/>
            <a:ext cx="1024128" cy="768096"/>
          </a:xfrm>
          <a:prstGeom prst="rect">
            <a:avLst/>
          </a:prstGeom>
        </p:spPr>
      </p:pic>
      <p:sp>
        <p:nvSpPr>
          <p:cNvPr id="70" name="Rounded Rectangle 69"/>
          <p:cNvSpPr/>
          <p:nvPr/>
        </p:nvSpPr>
        <p:spPr>
          <a:xfrm>
            <a:off x="5468112" y="4626864"/>
            <a:ext cx="1170432" cy="914400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p_1bcfb57b5e40e69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41264" y="4700016"/>
            <a:ext cx="1024128" cy="768096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6784848" y="4700016"/>
            <a:ext cx="4846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C03B4B"/>
                </a:solidFill>
                <a:latin typeface="Segoe UI"/>
              </a:rPr>
              <a:t>SAMURA НА УКРАЇНСЬКІЙ ПОЛИЦІ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784848" y="4919472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Лінійка Harakiri: 679–1 499 грн, найширше представлена серія бренду в Україні.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У картках товару зазначено «японська сталь AUS-8»; країна виробництва —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зазвичай ні. Це не порушення: японська сталь і японська назва серії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не потребують японського заводу.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566928" y="5541264"/>
            <a:ext cx="3584448" cy="8517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566928" y="5541264"/>
            <a:ext cx="36576" cy="85171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04672" y="5696712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ЧОМУ ЦЕ НЕ ПІДРОБКА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04672" y="5925312"/>
            <a:ext cx="31089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Японська номенклатура — сантоку, накірі, дамаск, AUS-8 — не є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ані торговою маркою, ані захищеним найменуванням.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4297680" y="5541264"/>
            <a:ext cx="3584448" cy="8517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4297680" y="5541264"/>
            <a:ext cx="36576" cy="851712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535424" y="5696712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ЧОМУ ЦЕ ПРАЦЮЄ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535424" y="5925312"/>
            <a:ext cx="31089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Покупець не може перевірити походження на полиці. Ширина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асортименту читається як авторитет: 287 SKU перемагають 64.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8046720" y="5541264"/>
            <a:ext cx="3584448" cy="8517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8046720" y="5541264"/>
            <a:ext cx="36576" cy="851712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284464" y="5696712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E9EA6"/>
                </a:solidFill>
                <a:latin typeface="Segoe UI"/>
              </a:rPr>
              <a:t>ЧОМУ ЦЕ ВАЖЛИВО ДЛЯ ВХОДУ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284464" y="5925312"/>
            <a:ext cx="31089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Японське походження не є умовою продажу японського ножа.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Це здешевлює вхід — і знижує захищеність позиції.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КЕЙС · SAMURA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Найбільший «японський» бренд України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40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Окремий слайд, бо це водночас головний конкурент, головний ризик категорії та головна можливість.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54480"/>
            <a:ext cx="2615184" cy="111556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709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SKU В ЕПІЦЕНТРІ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1920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C03B4B"/>
                </a:solidFill>
                <a:latin typeface="Segoe UI"/>
              </a:rPr>
              <a:t>287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395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3-й бренд мережі за шириною.
Більше, ніж уся справжня Японія ×2,2.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83280" y="1554480"/>
            <a:ext cx="2615184" cy="111556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84448" y="1709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SKU НА ROZETKA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4448" y="1920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C03B4B"/>
                </a:solidFill>
                <a:latin typeface="Segoe UI"/>
              </a:rPr>
              <a:t>218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84448" y="2395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Найширший «японський»
асортимент маркетплейсу.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9632" y="1554480"/>
            <a:ext cx="2615184" cy="111556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1709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ЦІНОВИЙ ДІАПАЗОН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1920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C4820A"/>
                </a:solidFill>
                <a:latin typeface="Segoe UI"/>
              </a:rPr>
              <a:t>679–14 299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395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грн. Перекриває 5 із 6
цінових діапазонів ринку.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15984" y="1554480"/>
            <a:ext cx="2615184" cy="111556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17152" y="1709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СЕРІЙ У ЛІНІЙЦІ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17152" y="1920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5D4B96"/>
                </a:solidFill>
                <a:latin typeface="Segoe UI"/>
              </a:rPr>
              <a:t>18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17152" y="2395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Harakiri, Mo-V, 67 Damascus,
Kaiju, Super 5, Bamboo, Inca…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2834640"/>
            <a:ext cx="1298448" cy="969264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p_73cbbb4df9c094b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907792"/>
            <a:ext cx="1152144" cy="822960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1920240" y="2834640"/>
            <a:ext cx="1298448" cy="969264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p_ed8f99c81037f53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93392" y="2907792"/>
            <a:ext cx="1152144" cy="822960"/>
          </a:xfrm>
          <a:prstGeom prst="rect">
            <a:avLst/>
          </a:prstGeom>
        </p:spPr>
      </p:pic>
      <p:sp>
        <p:nvSpPr>
          <p:cNvPr id="30" name="Rounded Rectangle 29"/>
          <p:cNvSpPr/>
          <p:nvPr/>
        </p:nvSpPr>
        <p:spPr>
          <a:xfrm>
            <a:off x="3273552" y="2834640"/>
            <a:ext cx="1298448" cy="969264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p_2b74db21b9806d8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46704" y="2907792"/>
            <a:ext cx="1152144" cy="822960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4626864" y="2834640"/>
            <a:ext cx="1298448" cy="969264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p_bbf26e090cbe975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00016" y="2907792"/>
            <a:ext cx="1152144" cy="82296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016752" y="2871216"/>
            <a:ext cx="56144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ЩО ВІДОМО ПРО БРЕНД ІЗ ПУБЛІЧНИХ ДЖЕРЕЛ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0" y="3044952"/>
            <a:ext cx="5687568" cy="42062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16752" y="3090672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Заснування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70064" y="3072384"/>
            <a:ext cx="422452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2003 рік. Засновник — Алєксєй Яковлєв, дизайнер та інженер.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16752" y="3566160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Цільовий ринок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70064" y="3547872"/>
            <a:ext cx="422452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660" b="0">
                <a:solidFill>
                  <a:srgbClr val="C03B4B"/>
                </a:solidFill>
                <a:latin typeface="Segoe UI"/>
              </a:rPr>
              <a:t>Бренд будувався як «японська якість, адаптована для російського ринку»;
офіційний магазин samura.ru, профіль компанії на Forbes.ru, понад 1 000 точок продажу в РФ.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0" y="3995928"/>
            <a:ext cx="5687568" cy="42062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16752" y="4041648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Штаб-квартира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70064" y="4023360"/>
            <a:ext cx="422452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Дубай, ОАЕ.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16752" y="4517136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Виробництво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70064" y="4498848"/>
            <a:ext cx="422452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660" b="0">
                <a:solidFill>
                  <a:srgbClr val="C03B4B"/>
                </a:solidFill>
                <a:latin typeface="Segoe UI"/>
              </a:rPr>
              <a:t>Переважно Китай під контролем бренду. Перші партії (2003) — кооперація з Mcusta і MAC.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943600" y="4946903"/>
            <a:ext cx="5687568" cy="42062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16752" y="4992623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Подання в Україні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70064" y="4974336"/>
            <a:ext cx="422452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660" b="0">
                <a:solidFill>
                  <a:srgbClr val="C03B4B"/>
                </a:solidFill>
                <a:latin typeface="Segoe UI"/>
              </a:rPr>
              <a:t>«Японські кухонні ножі», «японська корозійностійка сталь AUS-8».
Країна виробництва в картках товару зазвичай не вказується.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66928" y="3968496"/>
            <a:ext cx="5212080" cy="100218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66928" y="3968496"/>
            <a:ext cx="36576" cy="1002182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04672" y="4123944"/>
            <a:ext cx="47365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РИЗИК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4672" y="4352544"/>
            <a:ext cx="4736592" cy="4718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Найбільший «японський» асортимент країни належить бренду,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створеному для російського ринку. Це репутаційна експозиція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для будь-якого рітейлера і будь-якого партнера.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66928" y="4937760"/>
            <a:ext cx="5212080" cy="100218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66928" y="4937760"/>
            <a:ext cx="36576" cy="1002182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04672" y="5093208"/>
            <a:ext cx="47365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37A169"/>
                </a:solidFill>
                <a:latin typeface="Segoe UI"/>
              </a:rPr>
              <a:t>МОЖЛИВІСТЬ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04672" y="5321808"/>
            <a:ext cx="4736592" cy="4718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Якщо позиція Samura похитнеться, звільниться оцінно 85–140 млн грн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полиці. Це найбільша окрема можливість у категорії — і вона не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потребує японського постачальника.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943600" y="5504688"/>
            <a:ext cx="5687568" cy="844905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943600" y="5504688"/>
            <a:ext cx="36576" cy="844905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181344" y="5660136"/>
            <a:ext cx="521207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ЩО ТРЕБА ПЕРЕВІРИТИ ДО РІШЕННЯ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181344" y="5888736"/>
            <a:ext cx="5212079" cy="314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Маркування країни походження на фізичному товарі в мережі,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ранг і швидкість обігу Samura в Епіцентрі та на Rozetka.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03504" y="6437376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Джерела: samura.ru, профіль компанії на Forbes.ru, каталоги epicentrk.ua, rozetka.com.ua, profimax.com.ua, roks.in.ua (вересень 2026). Твердження про виробництво і власність потребують незалежного підтвердження.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МАТРИЦЯ БРЕНДІВ · 4 З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Японська форма, європейський або китайський бренд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41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Найбільший сегмент у штуках. Тут «японський ніж» — це рядок у характеристиках товару, і нічого більше.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67128" y="1554480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ПОХОДЖЕННЯ БРЕНДУ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04487" y="1554480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67527" y="155448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ЦІНОВИЙ ДІАПАЗОН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22007" y="1554480"/>
            <a:ext cx="3017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ПРИКЛАДИ ПОЗИЦІЙ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39528" y="1554480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КАНАЛ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3776" y="1732788"/>
            <a:ext cx="11164824" cy="32461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1773936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Fissman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67128" y="1773936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Латвія / Китай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04487" y="177393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239 Епіцентр
61 сантоку Rozetka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7527" y="177393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436 – 1 099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22007" y="1773936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Elegance 13 см 436 · Kojiro 18 см · Bremen ·
Frankfurt · Linz · Bergen · Mainz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39528" y="177393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Rozetka, Епіцентр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2139696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Krauff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67128" y="2139696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Німеччина / Китай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04487" y="213969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102 Епіцентр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67527" y="213969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310 – 720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22007" y="2139696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Luxus сантоку 17,7 см 720 → 540 ·
29-305-168 17,9 см 710 → 310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39528" y="213969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Rozetka, Епіцентр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93776" y="2464308"/>
            <a:ext cx="11164824" cy="32461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2505456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Ardesto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67128" y="2505456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 / Китай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04487" y="250545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н/д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67527" y="250545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від 175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22007" y="2505456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Fresh керамічні універсальні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39528" y="250545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Rozetka, Епіцентр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2871215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Vinzer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67128" y="2871215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 / Китай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04487" y="2871215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110 Епіцентр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67527" y="2871215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н/д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22007" y="2871215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Natura Line сантоку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939528" y="2871215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Rozetka, Епіцентр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93776" y="3195827"/>
            <a:ext cx="11164824" cy="32461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3236975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Maestro / Kamille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67128" y="3236975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 / Китай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904487" y="3236975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120 / 89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367527" y="3236975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вхідний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22007" y="3236975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Масові набори й окремі ножі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939528" y="3236975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Епіцентр, маркетплейс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928" y="3602735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Tescoma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167128" y="3602735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Чехія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904487" y="3602735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113 Епіцентр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67527" y="3602735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середній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922007" y="3602735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Європейська геометрія + сантоку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39528" y="3602735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Епіцентр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93776" y="3927348"/>
            <a:ext cx="11164824" cy="32461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66928" y="3968496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DICK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167128" y="3968496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Німеччина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904487" y="396849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13 у LFood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67527" y="396849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1 274 – 5 907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922007" y="3968496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«Японські ножі» в профкаталозі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939528" y="396849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Опт HoReCa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6928" y="4334256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ICEL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167128" y="4334256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Португалія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904487" y="433425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8 у LFood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367527" y="433425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1 274 – 5 907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22007" y="4334256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Сантоку для профкухні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939528" y="433425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Опт HoReCa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93776" y="4658868"/>
            <a:ext cx="11164824" cy="32461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66928" y="4700016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Hendi / Stalgast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167128" y="4700016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Нідерланди / Польща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904487" y="470001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6 / 1 у LFood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67527" y="470001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проф. рівень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922007" y="4700016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Сантоку в лінійці обладнання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939528" y="470001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Опт HoReCa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566928" y="4974336"/>
            <a:ext cx="1883664" cy="12984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p_08287fab39ec9ab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5047488"/>
            <a:ext cx="1737360" cy="804672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713232" y="5925312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Arcos Natura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13232" y="6089904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«японський» сантоку, Іспанія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2523744" y="4974336"/>
            <a:ext cx="1883664" cy="12984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0" name="Picture 79" descr="p_67543a3f9dff80a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96896" y="5047488"/>
            <a:ext cx="1737360" cy="804672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2670048" y="5925312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Arcos Universal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670048" y="6089904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«янагіба» 240 мм, Іспанія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4480560" y="4974336"/>
            <a:ext cx="1883664" cy="12984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p_ccf4816ce5209d4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53712" y="5047488"/>
            <a:ext cx="1737360" cy="804672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4626864" y="5925312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Arcos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626864" y="6089904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європейська сталь, японська форма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437376" y="4974336"/>
            <a:ext cx="1883664" cy="12984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8" name="Picture 87" descr="p_919b10f30dc4739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10528" y="5047488"/>
            <a:ext cx="1737360" cy="804672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6583680" y="5925312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Arcos Manhattan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583680" y="6089904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«кіріцуке» 190 мм, Іспанія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8394192" y="4974336"/>
            <a:ext cx="3236976" cy="165511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8394192" y="4974336"/>
            <a:ext cx="36576" cy="1655114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631936" y="5129784"/>
            <a:ext cx="27614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ЩО ЦЕ ЗНАЧИТЬ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631936" y="5358384"/>
            <a:ext cx="2761488" cy="11247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Krauff продає сантоку 17,9 см за 310 грн —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ця цифра формує уявлення про те, скільки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коштує «японський ніж».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Іспанський Arcos продає янагібу й кіріцуке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під японськими назвами і тримає 311 SKU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проти 64 у Satake.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03504" y="6455664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Фото: arcos.com.ua — офіційний каталог Arcos в Україні, розділ «японські ножі». Усі показані ножі виготовлені в Іспанії.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ХТО РЕАЛЬНО ТРИМАЄ ПОЛИЦЮ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П'ять європейських брендів проти всієї Японії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42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Порівняння ширини асортименту в українських каталогах. Це не частка ринку, але це те, що бачить покупець.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ШИРИНА АСОРТИМЕНТУ В УКРАЇНСЬКИХ КАТАЛОГАХ, SKU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810512"/>
            <a:ext cx="1463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Victorinox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66543" y="1810512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Швейцарія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67328" y="1851660"/>
            <a:ext cx="3246577" cy="82296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50608" y="1810512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717890"/>
                </a:solidFill>
                <a:latin typeface="Segoe UI"/>
              </a:rPr>
              <a:t>789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1810512"/>
            <a:ext cx="1691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Епіцентр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1810512"/>
            <a:ext cx="202996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Універсальний стандарт. Проф. і масовий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2080260"/>
            <a:ext cx="1463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Tramontina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66543" y="2080260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Бразилія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767328" y="2121408"/>
            <a:ext cx="2600553" cy="82296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50608" y="2080260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717890"/>
                </a:solidFill>
                <a:latin typeface="Segoe UI"/>
              </a:rPr>
              <a:t>632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0" y="2080260"/>
            <a:ext cx="1691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Епіцентр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2080260"/>
            <a:ext cx="202996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Ціна заміни. Домінує в HoReCa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2350008"/>
            <a:ext cx="1463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Arcos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66543" y="2350008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Іспанія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767328" y="2391156"/>
            <a:ext cx="1279702" cy="82296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50608" y="2350008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717890"/>
                </a:solidFill>
                <a:latin typeface="Segoe UI"/>
              </a:rPr>
              <a:t>311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0" y="2350008"/>
            <a:ext cx="1691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0" y="2350008"/>
            <a:ext cx="202996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Проф. стандарт ресторанів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2619756"/>
            <a:ext cx="1463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Samura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66543" y="2619756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«Японія» / Китай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767328" y="2660903"/>
            <a:ext cx="1180947" cy="82296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50608" y="2619756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C03B4B"/>
                </a:solidFill>
                <a:latin typeface="Segoe UI"/>
              </a:rPr>
              <a:t>287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63840" y="2619756"/>
            <a:ext cx="1691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Епіцентр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0" y="2619756"/>
            <a:ext cx="202996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Найширша «японська» лінійка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2889503"/>
            <a:ext cx="1463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Fissman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66543" y="2889503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Латвія / Китай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767328" y="2930651"/>
            <a:ext cx="983437" cy="822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150608" y="2889503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C4820A"/>
                </a:solidFill>
                <a:latin typeface="Segoe UI"/>
              </a:rPr>
              <a:t>239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0" y="2889503"/>
            <a:ext cx="1691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Епіцентр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01200" y="2889503"/>
            <a:ext cx="202996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Масовий сантоку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" y="3159251"/>
            <a:ext cx="1463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KAI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066543" y="3159251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767328" y="3200399"/>
            <a:ext cx="576072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150608" y="3159251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E9EA6"/>
                </a:solidFill>
                <a:latin typeface="Segoe UI"/>
              </a:rPr>
              <a:t>140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63840" y="3159251"/>
            <a:ext cx="1691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01200" y="3159251"/>
            <a:ext cx="202996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Найширший справжній японець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" y="3428999"/>
            <a:ext cx="1463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Yaxell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066543" y="3428999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767328" y="3470147"/>
            <a:ext cx="423824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150608" y="3428999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E9EA6"/>
                </a:solidFill>
                <a:latin typeface="Segoe UI"/>
              </a:rPr>
              <a:t>103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863840" y="3428999"/>
            <a:ext cx="1691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01200" y="3428999"/>
            <a:ext cx="202996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Преміум SG-2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6928" y="3698748"/>
            <a:ext cx="1463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Suncraft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066543" y="3698748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767328" y="3739896"/>
            <a:ext cx="399135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150608" y="3698748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E9EA6"/>
                </a:solidFill>
                <a:latin typeface="Segoe UI"/>
              </a:rPr>
              <a:t>97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863840" y="3698748"/>
            <a:ext cx="1691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ProfiMax / Епіцентр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601200" y="3698748"/>
            <a:ext cx="202996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Єдиний японець у великому форматі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6928" y="3968496"/>
            <a:ext cx="1463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Tojiro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066543" y="3968496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767328" y="4009644"/>
            <a:ext cx="353872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150608" y="3968496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E9EA6"/>
                </a:solidFill>
                <a:latin typeface="Segoe UI"/>
              </a:rPr>
              <a:t>86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863840" y="3968496"/>
            <a:ext cx="1691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601200" y="3968496"/>
            <a:ext cx="202996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Робочий преміум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66928" y="4238244"/>
            <a:ext cx="1463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Satake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066543" y="4238244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767328" y="4279392"/>
            <a:ext cx="263347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150608" y="4238244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E9EA6"/>
                </a:solidFill>
                <a:latin typeface="Segoe UI"/>
              </a:rPr>
              <a:t>64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863840" y="4238244"/>
            <a:ext cx="1691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601200" y="4238244"/>
            <a:ext cx="202996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Доступна Японія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66928" y="4507992"/>
            <a:ext cx="1463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Kasumi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066543" y="4507992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767328" y="4549140"/>
            <a:ext cx="86410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150608" y="4507992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E9EA6"/>
                </a:solidFill>
                <a:latin typeface="Segoe UI"/>
              </a:rPr>
              <a:t>21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863840" y="4507992"/>
            <a:ext cx="1691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601200" y="4507992"/>
            <a:ext cx="202996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Дамаск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566928" y="4901184"/>
            <a:ext cx="5413248" cy="96926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86384" y="5065776"/>
            <a:ext cx="4974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717890"/>
                </a:solidFill>
                <a:latin typeface="Segoe UI"/>
              </a:rPr>
              <a:t>УСЯ СПРАВЖНЯ ЯПОНІЯ В ОДНОМУ КАТАЛОЗІ (PROFIMAX)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86384" y="5285232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E9EA6"/>
                </a:solidFill>
                <a:latin typeface="Segoe UI"/>
              </a:rPr>
              <a:t>≈ 500 SKU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0" y="5285232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проти 311 SKU одного
іспанського бренду Arcos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217920" y="4901184"/>
            <a:ext cx="5413248" cy="133502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6217920" y="4901184"/>
            <a:ext cx="36576" cy="133502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455664" y="505663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ЯК ЧИТАТИ ЦЮ КАРТИНУ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455664" y="5285232"/>
            <a:ext cx="4937760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Ширина асортименту — це ставка дистриб'ютора, а не попит покупця.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789 SKU Victorinox в Епіцентрі означають, що мережа впевнена в обороті.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140 SKU KAI у спеціалізованому магазині означають, що власник готовий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тримати капітал у складі заради статусу категорійного експерта.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03504" y="6345936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Дані з різних каталогів не є прямо порівнюваними: Епіцентр — мережевий рітейл, ProfiMax — спеціалізований онлайн. Порівняння показує доступність бренду покупцю, а не обсяг продажів.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ЦІНОВІ СХОДИ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Від 175 до 40 140 грн: уся категорія на одній шкалі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43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Спостережені роздрібні ціни за один ніж, вересень 2026. Набори виключені. Шкала логарифмічна за змістом, не за побудовою.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2064" y="1527048"/>
            <a:ext cx="3639312" cy="27432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57276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717890"/>
                </a:solidFill>
                <a:latin typeface="Segoe UI"/>
              </a:rPr>
              <a:t>175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1581912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Ardesto Fresh, кераміка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86994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C4820A"/>
                </a:solidFill>
                <a:latin typeface="Segoe UI"/>
              </a:rPr>
              <a:t>310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7048" y="1879091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Krauff 29-305-168, сантоку 17,9 см (промо)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2064" y="2121408"/>
            <a:ext cx="3639312" cy="27432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216712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C4820A"/>
                </a:solidFill>
                <a:latin typeface="Segoe UI"/>
              </a:rPr>
              <a:t>436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7048" y="2176272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Fissman Elegance, сантоку 13 см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246430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C4820A"/>
                </a:solidFill>
                <a:latin typeface="Segoe UI"/>
              </a:rPr>
              <a:t>540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27048" y="2473452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Krauff Luxus, сантоку 17,7 см (промо)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12064" y="2715768"/>
            <a:ext cx="3639312" cy="27432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276148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C03B4B"/>
                </a:solidFill>
                <a:latin typeface="Segoe UI"/>
              </a:rPr>
              <a:t>679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7048" y="2770632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Samura, нижня межа лінійки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305866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37A169"/>
                </a:solidFill>
                <a:latin typeface="Segoe UI"/>
              </a:rPr>
              <a:t>979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7048" y="3067811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Satake Saku, універсальний — вхід у справжню Японію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12064" y="3310128"/>
            <a:ext cx="3639312" cy="27432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335584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C03B4B"/>
                </a:solidFill>
                <a:latin typeface="Segoe UI"/>
              </a:rPr>
              <a:t>1 199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7048" y="3364991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Samura Harakiri SHR-0185B, шеф 18 см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365302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37A169"/>
                </a:solidFill>
                <a:latin typeface="Segoe UI"/>
              </a:rPr>
              <a:t>1 249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27048" y="3662172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Satake Saku, накірі 170 мм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12064" y="3904488"/>
            <a:ext cx="3639312" cy="27432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395020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37A169"/>
                </a:solidFill>
                <a:latin typeface="Segoe UI"/>
              </a:rPr>
              <a:t>1 599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7048" y="3959352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Satake Satoru, сантоку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97680" y="157276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1E9EA6"/>
                </a:solidFill>
                <a:latin typeface="Segoe UI"/>
              </a:rPr>
              <a:t>2 599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57800" y="1581912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Tojiro Basic F-318 · Samura Mo-V SM-0085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42816" y="1824228"/>
            <a:ext cx="3639312" cy="27432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297680" y="186994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1E9EA6"/>
                </a:solidFill>
                <a:latin typeface="Segoe UI"/>
              </a:rPr>
              <a:t>2 730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57800" y="1879091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KAI Wasabi Black, сантоку 16,5 см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80" y="216712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5D4B96"/>
                </a:solidFill>
                <a:latin typeface="Segoe UI"/>
              </a:rPr>
              <a:t>2 895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57800" y="2176272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Yaxell Blue Breeze 34602, овочевий 12 см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242816" y="2418588"/>
            <a:ext cx="3639312" cy="27432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97680" y="246430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37A169"/>
                </a:solidFill>
                <a:latin typeface="Segoe UI"/>
              </a:rPr>
              <a:t>2 999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57800" y="2473452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Satake Sakura, шеф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97680" y="276148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5D4B96"/>
                </a:solidFill>
                <a:latin typeface="Segoe UI"/>
              </a:rPr>
              <a:t>4 190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257800" y="2770632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Kanetsugu Pro-M 7003, сантоку 17 см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242816" y="3012948"/>
            <a:ext cx="3639312" cy="27432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297680" y="305866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C94F7C"/>
                </a:solidFill>
                <a:latin typeface="Segoe UI"/>
              </a:rPr>
              <a:t>4 420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257800" y="3067811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Sakai Takayuki 07003, янагіба 24 см, вуглець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97680" y="335584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1E9EA6"/>
                </a:solidFill>
                <a:latin typeface="Segoe UI"/>
              </a:rPr>
              <a:t>5 999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57800" y="3364991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Tojiro DP F-807, шеф 18 см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242816" y="3607308"/>
            <a:ext cx="3639312" cy="27432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97680" y="365302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5D4B96"/>
                </a:solidFill>
                <a:latin typeface="Segoe UI"/>
              </a:rPr>
              <a:t>7 426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257800" y="3662172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Yaxell Ran 36001, сантоку 165 мм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97680" y="395020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1E9EA6"/>
                </a:solidFill>
                <a:latin typeface="Segoe UI"/>
              </a:rPr>
              <a:t>7 499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257800" y="3959352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Tojiro DP Damascus F-659, сантоку 17 см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973567" y="1527048"/>
            <a:ext cx="3639312" cy="27432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028431" y="157276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5D4B96"/>
                </a:solidFill>
                <a:latin typeface="Segoe UI"/>
              </a:rPr>
              <a:t>8 290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988552" y="1581912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Kanetsugu Saiun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028431" y="186994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5D4B96"/>
                </a:solidFill>
                <a:latin typeface="Segoe UI"/>
              </a:rPr>
              <a:t>9 999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988552" y="1879091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Suncraft Elegancia KSK-01, шеф 20 см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973567" y="2121408"/>
            <a:ext cx="3639312" cy="27432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028431" y="216712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C94F7C"/>
                </a:solidFill>
                <a:latin typeface="Segoe UI"/>
              </a:rPr>
              <a:t>10 710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988552" y="2176272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KAI Shun Classic DM-0706, шеф 20 см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028431" y="246430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C94F7C"/>
                </a:solidFill>
                <a:latin typeface="Segoe UI"/>
              </a:rPr>
              <a:t>13 290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988552" y="2473452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Ketu, накірі 165 мм (опт HoReCa)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7973567" y="2715768"/>
            <a:ext cx="3639312" cy="27432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028431" y="276148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C94F7C"/>
                </a:solidFill>
                <a:latin typeface="Segoe UI"/>
              </a:rPr>
              <a:t>16 499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988552" y="2770632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Tojiro Flash FF-CH240, шеф 24 см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028431" y="305866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C94F7C"/>
                </a:solidFill>
                <a:latin typeface="Segoe UI"/>
              </a:rPr>
              <a:t>17 746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988552" y="3067811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Yaxell Super Gou 37100, шеф 20 см, SG-2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973567" y="3310128"/>
            <a:ext cx="3639312" cy="27432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028431" y="335584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C03B4B"/>
                </a:solidFill>
                <a:latin typeface="Segoe UI"/>
              </a:rPr>
              <a:t>40 140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988552" y="3364991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Miyabi, верхня межа роздрібу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566928" y="4626864"/>
            <a:ext cx="5413248" cy="16093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566928" y="4626864"/>
            <a:ext cx="36576" cy="160934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04672" y="478231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ЩО ВИДНО НА ЦІЙ ШКАЛІ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04672" y="5010912"/>
            <a:ext cx="4937760" cy="1078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1. Розрив у 229 разів усередині однієї товарної категорії.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2. Справжня Японія починається з 979 грн (Satake) — не з 3 000, як прийнято вважати.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3. Зона 1 000–3 000 грн — єдина, де справжня Японія і Samura стоять поруч.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4. Вище 5 000 грн китайських брендів немає: там тільки Японія і Німеччина.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5. Вище 15 000 грн ринок — це 2–3 бренди й кілька тисяч покупців.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217920" y="4626864"/>
            <a:ext cx="5413248" cy="16093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217920" y="4626864"/>
            <a:ext cx="36576" cy="160934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455664" y="478231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E9EA6"/>
                </a:solidFill>
                <a:latin typeface="Segoe UI"/>
              </a:rPr>
              <a:t>ДЕ БИ СТАВ НОВИЙ ГРАВЕЦЬ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455664" y="5010912"/>
            <a:ext cx="4937760" cy="1078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Вільних цінових точок у справжній Японії фактично дві: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· 1 500–2 500 грн — між Satake Satoru і Tojiro Basic, тут немає нікого;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· 3 000–4 000 грн — між Sakura і Kanetsugu Pro-M, теж порожньо.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Обидві точки вимагають японського заводу, готового на OEM, і 10 % мита зверху.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ЦІНОВІ СХОДИ У ФОТО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Що саме отримує покупець на кожному щаблі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Один і той самий сантоку в шести цінових діапазонах. Різниця, яку покупець бачить на полиці, і різниця, яку він не бачить.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54480"/>
            <a:ext cx="1792224" cy="331012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54480"/>
            <a:ext cx="1792224" cy="45720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13232" y="1719072"/>
            <a:ext cx="1499616" cy="201168"/>
          </a:xfrm>
          <a:prstGeom prst="roundRect">
            <a:avLst>
              <a:gd name="adj" fmla="val 35000"/>
            </a:avLst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1760219"/>
            <a:ext cx="149961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ВХІДНИЙ</a:t>
            </a:r>
          </a:p>
        </p:txBody>
      </p:sp>
      <p:pic>
        <p:nvPicPr>
          <p:cNvPr id="14" name="Picture 13" descr="p_60b689fae2f196c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2011680"/>
            <a:ext cx="1536192" cy="122529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13232" y="3346704"/>
            <a:ext cx="14996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717890"/>
                </a:solidFill>
                <a:latin typeface="Segoe UI"/>
              </a:rPr>
              <a:t>175 – 699 грн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3232" y="3602736"/>
            <a:ext cx="149961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" y="3712463"/>
            <a:ext cx="149961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Кераміка, штампована
моносталь. Ardesto, Kamille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4224528"/>
            <a:ext cx="149961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3232" y="4334256"/>
            <a:ext cx="149961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40" b="1">
                <a:solidFill>
                  <a:srgbClr val="717890"/>
                </a:solidFill>
                <a:latin typeface="Segoe UI"/>
              </a:rPr>
              <a:t>50 % штук
12 % грошей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414016" y="1554480"/>
            <a:ext cx="1792224" cy="331012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414016" y="1554480"/>
            <a:ext cx="1792224" cy="4572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560320" y="1719072"/>
            <a:ext cx="1499616" cy="201168"/>
          </a:xfrm>
          <a:prstGeom prst="roundRect">
            <a:avLst>
              <a:gd name="adj" fmla="val 3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560320" y="1760219"/>
            <a:ext cx="149961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ЦІННІСТЬ</a:t>
            </a:r>
          </a:p>
        </p:txBody>
      </p:sp>
      <p:pic>
        <p:nvPicPr>
          <p:cNvPr id="24" name="Picture 23" descr="p_1ae18a395d9508d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42032" y="2011680"/>
            <a:ext cx="1536192" cy="122529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560320" y="3346704"/>
            <a:ext cx="14996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C4820A"/>
                </a:solidFill>
                <a:latin typeface="Segoe UI"/>
              </a:rPr>
              <a:t>700 – 1 499 грн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60320" y="3602736"/>
            <a:ext cx="149961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560320" y="3712463"/>
            <a:ext cx="149961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AUS-8 / 8Cr13MoV, 56–58 HRC.
Samura Harakiri, Krauff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60320" y="4224528"/>
            <a:ext cx="149961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560320" y="4334256"/>
            <a:ext cx="149961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40" b="1">
                <a:solidFill>
                  <a:srgbClr val="717890"/>
                </a:solidFill>
                <a:latin typeface="Segoe UI"/>
              </a:rPr>
              <a:t>27 % штук
20 % грошей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261104" y="1554480"/>
            <a:ext cx="1792224" cy="331012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261104" y="1554480"/>
            <a:ext cx="1792224" cy="4572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407408" y="1719072"/>
            <a:ext cx="1499616" cy="201168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07408" y="1760219"/>
            <a:ext cx="149961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СЕРЕДНІЙ</a:t>
            </a:r>
          </a:p>
        </p:txBody>
      </p:sp>
      <p:pic>
        <p:nvPicPr>
          <p:cNvPr id="34" name="Picture 33" descr="p_a47176f78a99832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9120" y="2011680"/>
            <a:ext cx="1536192" cy="122529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4407408" y="3346704"/>
            <a:ext cx="14996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1E9EA6"/>
                </a:solidFill>
                <a:latin typeface="Segoe UI"/>
              </a:rPr>
              <a:t>1 500 – 3 499 грн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407408" y="3602736"/>
            <a:ext cx="149961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407408" y="3712463"/>
            <a:ext cx="149961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Справжня Японія починається тут.
Satake Satoru, KAI Wasabi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07408" y="4224528"/>
            <a:ext cx="149961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07408" y="4334256"/>
            <a:ext cx="149961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40" b="1">
                <a:solidFill>
                  <a:srgbClr val="717890"/>
                </a:solidFill>
                <a:latin typeface="Segoe UI"/>
              </a:rPr>
              <a:t>13 % штук
22 % грошей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08192" y="1554480"/>
            <a:ext cx="1792224" cy="331012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108192" y="1554480"/>
            <a:ext cx="1792224" cy="4572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254496" y="1719072"/>
            <a:ext cx="1499616" cy="201168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54496" y="1760219"/>
            <a:ext cx="149961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ВЕРХНІЙ СЕРЕДНІЙ</a:t>
            </a:r>
          </a:p>
        </p:txBody>
      </p:sp>
      <p:pic>
        <p:nvPicPr>
          <p:cNvPr id="44" name="Picture 43" descr="p_d3665f6f12666c5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36207" y="2011680"/>
            <a:ext cx="1536192" cy="1225296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6254496" y="3346704"/>
            <a:ext cx="14996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5D4B96"/>
                </a:solidFill>
                <a:latin typeface="Segoe UI"/>
              </a:rPr>
              <a:t>3 500 – 7 499 грн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54496" y="3602736"/>
            <a:ext cx="149961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254496" y="3712463"/>
            <a:ext cx="149961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VG-10, 60–61 HRC.
Tojiro DP, Suncraft Senzo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54496" y="4224528"/>
            <a:ext cx="149961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54496" y="4334256"/>
            <a:ext cx="149961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40" b="1">
                <a:solidFill>
                  <a:srgbClr val="717890"/>
                </a:solidFill>
                <a:latin typeface="Segoe UI"/>
              </a:rPr>
              <a:t>6 % штук
22 % грошей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955279" y="1554480"/>
            <a:ext cx="1792224" cy="331012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955279" y="1554480"/>
            <a:ext cx="1792224" cy="45720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8101583" y="1719072"/>
            <a:ext cx="1499616" cy="201168"/>
          </a:xfrm>
          <a:prstGeom prst="roundRect">
            <a:avLst>
              <a:gd name="adj" fmla="val 35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101583" y="1760219"/>
            <a:ext cx="149961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ПРЕМІУМ</a:t>
            </a:r>
          </a:p>
        </p:txBody>
      </p:sp>
      <p:pic>
        <p:nvPicPr>
          <p:cNvPr id="54" name="Picture 53" descr="p_10542f6757891aa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83296" y="2011680"/>
            <a:ext cx="1536192" cy="1225296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8101583" y="3346704"/>
            <a:ext cx="14996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C94F7C"/>
                </a:solidFill>
                <a:latin typeface="Segoe UI"/>
              </a:rPr>
              <a:t>7 500 – 14 999 грн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101583" y="3602736"/>
            <a:ext cx="149961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101583" y="3712463"/>
            <a:ext cx="149961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VG-10 + дамаск 32–69 шарів.
Kasumi, Yaxell Ran, KAI Shun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101583" y="4224528"/>
            <a:ext cx="149961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101583" y="4334256"/>
            <a:ext cx="149961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40" b="1">
                <a:solidFill>
                  <a:srgbClr val="717890"/>
                </a:solidFill>
                <a:latin typeface="Segoe UI"/>
              </a:rPr>
              <a:t>3 % штук
15 % грошей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802367" y="1554480"/>
            <a:ext cx="1792224" cy="331012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9802367" y="1554480"/>
            <a:ext cx="1792224" cy="4572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9948672" y="1719072"/>
            <a:ext cx="1499616" cy="201168"/>
          </a:xfrm>
          <a:prstGeom prst="roundRect">
            <a:avLst>
              <a:gd name="adj" fmla="val 35000"/>
            </a:avLst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948672" y="1760219"/>
            <a:ext cx="149961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УЛЬТРА</a:t>
            </a:r>
          </a:p>
        </p:txBody>
      </p:sp>
      <p:pic>
        <p:nvPicPr>
          <p:cNvPr id="64" name="Picture 63" descr="p_49025ad881696fe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30384" y="2011680"/>
            <a:ext cx="1536192" cy="1225296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9948672" y="3346704"/>
            <a:ext cx="14996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C03B4B"/>
                </a:solidFill>
                <a:latin typeface="Segoe UI"/>
              </a:rPr>
              <a:t>15 000 – 40 140 грн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948672" y="3602736"/>
            <a:ext cx="149961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948672" y="3712463"/>
            <a:ext cx="149961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Порошкова SG-2, 101–193 шари.
Yaxell Super Gou, Miyabi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948672" y="4224528"/>
            <a:ext cx="149961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948672" y="4334256"/>
            <a:ext cx="149961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40" b="1">
                <a:solidFill>
                  <a:srgbClr val="717890"/>
                </a:solidFill>
                <a:latin typeface="Segoe UI"/>
              </a:rPr>
              <a:t>1 % штук
9 % грошей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566928" y="5010912"/>
            <a:ext cx="5413248" cy="13167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66928" y="5010912"/>
            <a:ext cx="36576" cy="131673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04672" y="5166360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ЩО ПОКУПЕЦЬ БАЧИТЬ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04672" y="5394960"/>
            <a:ext cx="493776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Різницю між 700 і 7 500 грн видно: дамаск, товщина обуха, якість руків'я.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Різницю між 7 500 і 40 000 грн на фото не видно — там платять за марку сталі,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кількість шарів і твердість, які неможливо перевірити на полиці.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Це визначає, скільки коштує комунікація в кожному діапазоні.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217920" y="5010912"/>
            <a:ext cx="5413248" cy="13167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217920" y="5010912"/>
            <a:ext cx="36576" cy="1316736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55664" y="5166360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ЧОМУ ЦЕ ВАЖЛИВО ДЛЯ ВХОДУ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455664" y="5394960"/>
            <a:ext cx="493776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Саме тому Samura з китайського заводу успішно продається поруч із Satake із Секі: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візуально в діапазоні 1 000–3 000 грн вони нерозрізнювані. Конкуренція тут іде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не за якістю продукту, а за шириною лінійки і місцем на полиці.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Новому гравцю це одночасно вхідний квиток і головна пастка.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3504" y="6547104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Фото — картки товарів українських магазинів (volod.in.ua, rezat.com.ua, yaxell.com.ua, arcos.com.ua). Наведені як ілюстрація цінових діапазонів; конкретні моделі можуть відрізнятись від типових для діапазону.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HORECA · РОЗМІР І МОДЕЛЬ ПОПИТУ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180–220 тисяч професійних ножів на рік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45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Прямої статистики закупівель ножів у HoReCa не існує. Нижче — модель із трьох параметрів; кожен із них оцінка.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54480"/>
            <a:ext cx="2615184" cy="111556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709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ВИРУЧКА РЕСТОРАННОГО РИНКУ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1920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E9EA6"/>
                </a:solidFill>
                <a:latin typeface="Segoe UI"/>
              </a:rPr>
              <a:t>246,7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395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млрд грн, +21,7 % р/р.
Ресторани +26,9 %, кафе +20,5 %.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83280" y="1554480"/>
            <a:ext cx="2615184" cy="111556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84448" y="1709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ЧИСТИЙ ПРИРІСТ ФОП У ХАРЧУВАННІ 2025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4448" y="1920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37A169"/>
                </a:solidFill>
                <a:latin typeface="Segoe UI"/>
              </a:rPr>
              <a:t>+2 728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84448" y="2395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13 373 відкрилось,
10 645 закрилось.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9632" y="1554480"/>
            <a:ext cx="2615184" cy="111556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1709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ЗАКЛАДІВ ІЗ ГАРЯЧОЮ КУХНЕЮ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1920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C4820A"/>
                </a:solidFill>
                <a:latin typeface="Segoe UI"/>
              </a:rPr>
              <a:t>25–30 тис.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395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Оцінка. Без кав'ярень
і барів без кухні.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15984" y="1554480"/>
            <a:ext cx="2615184" cy="111556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17152" y="1709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ЯПОНСЬКА КУХНЯ, КИЇВ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17152" y="1920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5D4B96"/>
                </a:solidFill>
                <a:latin typeface="Segoe UI"/>
              </a:rPr>
              <a:t>130–200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17152" y="2395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закладів, менш як 10 % міста.
Було ≈15 % у 2015 році.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2852928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МОДЕЛЬ ПОПИТУ НА ПРОФЕСІЙНІ НОЖІ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3072384"/>
            <a:ext cx="2651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ПАРАМЕТР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18688" y="3072384"/>
            <a:ext cx="187451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ЗНАЧЕННЯ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93208" y="3072384"/>
            <a:ext cx="2423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ОБҐРУНТУВАННЯ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93776" y="3232404"/>
            <a:ext cx="709574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3273552"/>
            <a:ext cx="2596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Закладів із гарячою кухнею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18688" y="3273552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25 000 – 30 000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93208" y="3273552"/>
            <a:ext cx="23682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Оцінка на базі динаміки ФОП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3547872"/>
            <a:ext cx="2596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Ножів в активній ротації на кухню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18688" y="3547872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8 – 14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93208" y="3547872"/>
            <a:ext cx="23682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Шеф, лінія, заготівля, м'ясо, риба, хліб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93776" y="3781044"/>
            <a:ext cx="709574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6928" y="3822191"/>
            <a:ext cx="2596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Цикл заміни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18688" y="3822191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12 – 24 місяці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93208" y="3822191"/>
            <a:ext cx="23682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Викришування, втрати, знос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" y="4096511"/>
            <a:ext cx="2596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Річний попит, штук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18688" y="4096511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180 000 – 220 000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93208" y="4096511"/>
            <a:ext cx="23682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25 000 × 11 ÷ 1,5 року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93776" y="4329683"/>
            <a:ext cx="709574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66928" y="4370831"/>
            <a:ext cx="2596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Середня ціна закупівлі, грн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18688" y="4370831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≈ 550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93208" y="4370831"/>
            <a:ext cx="23682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Рівень Arcos / Tramontina / Pirge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4645151"/>
            <a:ext cx="2596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Обсяг каналу, грн на рік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218688" y="4645151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100 – 120 млн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93208" y="4645151"/>
            <a:ext cx="23682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= 2,2 – 2,7 млн $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93776" y="4878323"/>
            <a:ext cx="709574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66928" y="4919471"/>
            <a:ext cx="2596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З них японських, оцінка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218688" y="4919471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&lt; 3 %   ≈ 3 – 4 млн грн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093208" y="4919471"/>
            <a:ext cx="23682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За часткою позицій у профкаталогах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790688" y="2852928"/>
            <a:ext cx="3840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5D4B96"/>
                </a:solidFill>
                <a:latin typeface="Segoe UI"/>
              </a:rPr>
              <a:t>ВУЗЬКИЙ СЕГМЕНТ: НОЖІ ДЛЯ СУШІ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790688" y="3072384"/>
            <a:ext cx="2377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ПАРАМЕТР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168128" y="3072384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ЗНАЧЕННЯ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717536" y="3232404"/>
            <a:ext cx="398678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790688" y="3273552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Закладів японської кухні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168128" y="3273552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600 – 900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790688" y="3547872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Янагіба / деба на кухню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168128" y="3547872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2 – 3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717536" y="3781044"/>
            <a:ext cx="398678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790688" y="3822191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Цикл заміни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168128" y="3822191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3 роки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790688" y="4096511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Річний попит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168128" y="4096511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500 – 900 ножів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7717536" y="4329683"/>
            <a:ext cx="398678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790688" y="4370831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Обсяг, грн на рік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168128" y="4370831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1,0 – 3,5 млн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7790688" y="4754880"/>
            <a:ext cx="3840480" cy="148132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790688" y="4754880"/>
            <a:ext cx="36576" cy="1481328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028431" y="4910328"/>
            <a:ext cx="33649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ЧОМУ ЦЕ ВБИВЧА ЦИФРА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028431" y="5138928"/>
            <a:ext cx="3364992" cy="9509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500–900 ножів на рік — це один піддон.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Жоден японський завод не відкриє рахунок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під такий обсяг, і жоден дистриб'ютор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не окупить під нього окремий канал.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566928" y="5230368"/>
            <a:ext cx="6949440" cy="1012393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566928" y="5230368"/>
            <a:ext cx="36576" cy="1012393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04672" y="5385816"/>
            <a:ext cx="64739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ЩО ЦЯ МОДЕЛЬ ГОВОРИТЬ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04672" y="5614416"/>
            <a:ext cx="6473952" cy="4820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Канал HoReCa у грошах у 7 разів менший за роздріб, а японська частка в ньому ще нижча.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Навіть якщо подвоїти японську частку з 3 % до 6 %, приріст становитиме 3–4 млн грн на рік —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менше за вартість побудови окремого каналу продажу.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03504" y="6547104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Джерела фактів: Держстат / профільні огляди ресторанного ринку 2025, дані про реєстрацію ФОП у сфері харчування, LunchPoint (заклади японської кухні в Києві). Модель попиту — авторський розрахунок.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HORECA · ДІАГНОЗ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Шість причин, чому професійна кухня не купує Японію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46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Це не питання обізнаності чи маркетингу. Це операційна економіка кухні, і вона не змінюється від зміни постачальника.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72768"/>
            <a:ext cx="5413248" cy="11887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72768"/>
            <a:ext cx="36576" cy="118872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86384" y="1737360"/>
            <a:ext cx="310896" cy="219456"/>
          </a:xfrm>
          <a:prstGeom prst="roundRect">
            <a:avLst>
              <a:gd name="adj" fmla="val 35000"/>
            </a:avLst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" y="1787651"/>
            <a:ext cx="3108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1773936"/>
            <a:ext cx="4480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C03B4B"/>
                </a:solidFill>
                <a:latin typeface="Segoe UI"/>
              </a:rPr>
              <a:t>ЕКОНОМІКА ВТРАТ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2084832"/>
            <a:ext cx="4974336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Ніж на професійній кухні губиться, ламається, йде з кухарем.
При плинності персоналу 40–60 % на рік списувати 8 000 грн так само легко,
як 500 грн, неможливо.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572768"/>
            <a:ext cx="5413248" cy="11887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7920" y="1572768"/>
            <a:ext cx="36576" cy="118872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37376" y="1737360"/>
            <a:ext cx="310896" cy="219456"/>
          </a:xfrm>
          <a:prstGeom prst="roundRect">
            <a:avLst>
              <a:gd name="adj" fmla="val 35000"/>
            </a:avLst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37376" y="1787651"/>
            <a:ext cx="3108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39712" y="1773936"/>
            <a:ext cx="4480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C03B4B"/>
                </a:solidFill>
                <a:latin typeface="Segoe UI"/>
              </a:rPr>
              <a:t>ГЕОМЕТРІЯ ПРОТИ ПРОДУКТУ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37376" y="2084832"/>
            <a:ext cx="4974336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Твердість 60–64 HRC і тонке зведення викришуються на кістці,
замороженому продукті й скляній дошці. Європейський ніж 56 HRC
гнеться там, де японський ламається.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889504"/>
            <a:ext cx="5413248" cy="11887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889504"/>
            <a:ext cx="36576" cy="118872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86384" y="3054096"/>
            <a:ext cx="310896" cy="219456"/>
          </a:xfrm>
          <a:prstGeom prst="roundRect">
            <a:avLst>
              <a:gd name="adj" fmla="val 35000"/>
            </a:avLst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6384" y="3104388"/>
            <a:ext cx="3108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3090672"/>
            <a:ext cx="4480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C03B4B"/>
                </a:solidFill>
                <a:latin typeface="Segoe UI"/>
              </a:rPr>
              <a:t>НЕМАЄ СЕРВІСУ ЗАТОЧЕННЯ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" y="3401568"/>
            <a:ext cx="4974336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Японський ніж треба правити на водних каменях кожні 2–3 дні.
В Україні немає організованого ринку професійного заточення —
ані сервісу при дистриб'юторі, ані навчання.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0" y="2889504"/>
            <a:ext cx="5413248" cy="11887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17920" y="2889504"/>
            <a:ext cx="36576" cy="118872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437376" y="3054096"/>
            <a:ext cx="310896" cy="219456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37376" y="3104388"/>
            <a:ext cx="3108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FFFFFF"/>
                </a:solidFill>
                <a:latin typeface="Segoe UI"/>
              </a:rPr>
              <a:t>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3090672"/>
            <a:ext cx="4480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F9A50B"/>
                </a:solidFill>
                <a:latin typeface="Segoe UI"/>
              </a:rPr>
              <a:t>ЛОГІСТИКА ЗАКУПІВЛІ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37376" y="3401568"/>
            <a:ext cx="4974336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Ножі купуються разом із посудом, дошками і формою одним рахунком.
Японський постачальник не може бути рядком у цій накладній —
йому доведеться створювати окремий канал.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6928" y="4206240"/>
            <a:ext cx="5413248" cy="11887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4206240"/>
            <a:ext cx="36576" cy="118872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786384" y="4370831"/>
            <a:ext cx="310896" cy="219456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86384" y="4421124"/>
            <a:ext cx="3108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FFFFFF"/>
                </a:solidFill>
                <a:latin typeface="Segoe UI"/>
              </a:rPr>
              <a:t>05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88720" y="4407407"/>
            <a:ext cx="4480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F9A50B"/>
                </a:solidFill>
                <a:latin typeface="Segoe UI"/>
              </a:rPr>
              <a:t>ОДНОСТОРОННЄ ЗАТОЧЕННЯ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" y="4718304"/>
            <a:ext cx="4974336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Янагіба і деба вимагають окремої навички. Лінійний кухар нею не володіє,
а вчити його ніхто не буде: він піде через пів року.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17920" y="4206240"/>
            <a:ext cx="5413248" cy="11887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17920" y="4206240"/>
            <a:ext cx="36576" cy="118872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437376" y="4370831"/>
            <a:ext cx="310896" cy="219456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37376" y="4421124"/>
            <a:ext cx="3108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FFFFFF"/>
                </a:solidFill>
                <a:latin typeface="Segoe UI"/>
              </a:rPr>
              <a:t>06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407407"/>
            <a:ext cx="4480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F9A50B"/>
                </a:solidFill>
                <a:latin typeface="Segoe UI"/>
              </a:rPr>
              <a:t>ШЕФ КУПУЄ СОБІ САМ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37376" y="4718304"/>
            <a:ext cx="4974336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Єдиний професіонал, який реально хоче японський ніж, купує його
особисто, часто за кордоном, і не через дистриб'ютора закладу.
Він референс, а не канал збуту.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66928" y="5577840"/>
            <a:ext cx="11064240" cy="8585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66928" y="5577840"/>
            <a:ext cx="36576" cy="85852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04672" y="5733288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ЩО З ЦЬОГО ВИПЛИВАЄ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4672" y="5961888"/>
            <a:ext cx="10588752" cy="328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60" b="0">
                <a:solidFill>
                  <a:srgbClr val="303A5D"/>
                </a:solidFill>
                <a:latin typeface="Segoe UI"/>
              </a:rPr>
              <a:t>Жодну з шести причин не можна зняти комерційними засобами постачальника. Дві з них — заточення і навчання — теоретично розв'язні, але вимагають побудови сервісної інфраструктури,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60" b="0">
                <a:solidFill>
                  <a:srgbClr val="303A5D"/>
                </a:solidFill>
                <a:latin typeface="Segoe UI"/>
              </a:rPr>
              <a:t>вартість якої непорівнянна з сегментом на 3–4 млн грн. Висновок однозначний: HoReCa не може бути точкою входу в цю категорію в Україні. Вона може бути тільки джерелом референсів для B2C.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РИЗИКИ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Дев'ять ризиків, три з них блокуючі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47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Оцінка ймовірності та впливу — авторська, за шкалою від низького до високого. Блокуючий = ризик, що ставить під питання саму модель.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3291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РИЗИК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58768" y="1572768"/>
            <a:ext cx="4160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НА ЧОМУ ҐРУНТУЄТЬСЯ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19288" y="1572768"/>
            <a:ext cx="11430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ЙМОВІРНІСТЬ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62288" y="1572768"/>
            <a:ext cx="960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ВПЛИВ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22408" y="1572768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ТИП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3776" y="1751076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1792224"/>
            <a:ext cx="3236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Ринок справжньої Японії не росте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58768" y="1792224"/>
            <a:ext cx="4105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Імпорт 2024 нижчий за 2022 на 13 % при 55 брендах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19288" y="1792224"/>
            <a:ext cx="10881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Висока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62288" y="1792224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Високий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104120" y="1769364"/>
            <a:ext cx="1225296" cy="182880"/>
          </a:xfrm>
          <a:prstGeom prst="roundRect">
            <a:avLst>
              <a:gd name="adj" fmla="val 35000"/>
            </a:avLst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104120" y="1801368"/>
            <a:ext cx="12252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БЛОКУЮЧИЙ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2080260"/>
            <a:ext cx="3236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HoReCa не є доступним каналом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58768" y="2080260"/>
            <a:ext cx="4105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2 японські бренди з 15 в опті; 6 структурних причин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19288" y="2080260"/>
            <a:ext cx="10881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Висока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62288" y="2080260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Високий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104120" y="2057400"/>
            <a:ext cx="1225296" cy="182880"/>
          </a:xfrm>
          <a:prstGeom prst="roundRect">
            <a:avLst>
              <a:gd name="adj" fmla="val 35000"/>
            </a:avLst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104120" y="2089404"/>
            <a:ext cx="12252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БЛОКУЮЧИЙ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3776" y="2327148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2368296"/>
            <a:ext cx="3236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Ніша перенаселена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58768" y="2368296"/>
            <a:ext cx="4105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55 брендів на 16–19 млн грн; Yaxell і Miyabi — ексклюзиви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19288" y="2368296"/>
            <a:ext cx="10881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Висока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368296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Високий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104120" y="2345436"/>
            <a:ext cx="1225296" cy="182880"/>
          </a:xfrm>
          <a:prstGeom prst="roundRect">
            <a:avLst>
              <a:gd name="adj" fmla="val 35000"/>
            </a:avLst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04120" y="2377440"/>
            <a:ext cx="12252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БЛОКУЮЧИЙ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2656332"/>
            <a:ext cx="3236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Мито 10 % проти 0 % у ЄС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58768" y="2656332"/>
            <a:ext cx="4105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Немає FTA Україна–Японія; переговорів про неї немає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19288" y="2656332"/>
            <a:ext cx="10881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Визначений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2656332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Середній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104120" y="2633472"/>
            <a:ext cx="1225296" cy="182880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104120" y="2665476"/>
            <a:ext cx="12252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Структурний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93776" y="2903220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6928" y="2944368"/>
            <a:ext cx="3236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Стеля платоспроможності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858768" y="2944368"/>
            <a:ext cx="4105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Шеф-ніж KAI = 35 % місячної зарплати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19288" y="2944368"/>
            <a:ext cx="10881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Висока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62288" y="2944368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Середній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104120" y="2921508"/>
            <a:ext cx="1225296" cy="182880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104120" y="2953512"/>
            <a:ext cx="12252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Структурний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3232403"/>
            <a:ext cx="3236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Немає інфраструктури заточення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858768" y="3232403"/>
            <a:ext cx="4105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Претензії на викришування в преміумі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19288" y="3232403"/>
            <a:ext cx="10881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Середня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62288" y="3232403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Середній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104120" y="3209544"/>
            <a:ext cx="1225296" cy="182880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104120" y="3241548"/>
            <a:ext cx="12252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Керований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93776" y="3479291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66928" y="3520439"/>
            <a:ext cx="3236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Товарна війна на маркетплейсах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858768" y="3520439"/>
            <a:ext cx="4105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3 000+ пропозицій, Krauff сантоку за 310 грн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019288" y="3520439"/>
            <a:ext cx="10881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Висока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162288" y="3520439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Середній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0104120" y="3497579"/>
            <a:ext cx="1225296" cy="182880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104120" y="3529584"/>
            <a:ext cx="12252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Керований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6928" y="3808476"/>
            <a:ext cx="3236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Репутаційна експозиція через Samura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858768" y="3808476"/>
            <a:ext cx="4105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Якщо категорія «японський ніж» асоціюється з брендом РФ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019288" y="3808476"/>
            <a:ext cx="10881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Середня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162288" y="3808476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Середній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0104120" y="3785615"/>
            <a:ext cx="1225296" cy="18288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104120" y="3817620"/>
            <a:ext cx="12252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Керований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93776" y="4055364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66928" y="4096512"/>
            <a:ext cx="3236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Валютний і логістичний ризик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858768" y="4096512"/>
            <a:ext cx="4105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Гривня 44,86/$ у вересні 2026; морський фрахт з Азії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019288" y="4096512"/>
            <a:ext cx="10881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Середня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162288" y="4096512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Низький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0104120" y="4073652"/>
            <a:ext cx="1225296" cy="18288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104120" y="4105656"/>
            <a:ext cx="12252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Керований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566928" y="4407408"/>
            <a:ext cx="5413248" cy="182880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566928" y="4407408"/>
            <a:ext cx="36576" cy="182880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04672" y="456285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ЩО ОЗНАЧАЮТЬ ТРИ БЛОКУЮЧІ РИЗИКИ РАЗОМ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04672" y="4791456"/>
            <a:ext cx="4937760" cy="1298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Вони не додаються — вони перемножуються. Ніша, що не росте, без доступу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до професійного каналу і без вільних топ-брендів, не залишає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жодної точки опори для нового імпортера справжньої Японії.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Це і є відповідь на питання «чи варто туди йти» у формулюванні,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у якому воно було поставлене.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217920" y="4407408"/>
            <a:ext cx="5413248" cy="182880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217920" y="4407408"/>
            <a:ext cx="36576" cy="182880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455664" y="456285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ЩО ЗМІНИЛО Б ОЦІНКУ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455664" y="4791456"/>
            <a:ext cx="4937760" cy="1298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· Угода про вільну торгівлю Україна–Японія або скасування мита на 8211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· Вихід Samura з ринку або зміна споживчих настроїв щодо бренду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· Партнер із національною мережею заточення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· Пропозиція категорійного капітанства від Епіцентру або Rozetka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· Поява японського заводу, готового на OEM від 5 000 штук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Кожен із цих тригерів окремо не знімає блокування. Два разом — знімають.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ТРИ СЦЕНАРІЇ ВХОДУ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FFFFFF"/>
                </a:solidFill>
                <a:latin typeface="Segoe UI"/>
              </a:rPr>
              <a:t>Рекомендація: не заходити як імпортер японських ножів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48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Три прочитання того самого ринку. Розташовані за спаданням привабливості, а не за звичністю.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54480"/>
            <a:ext cx="3584448" cy="422452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54480"/>
            <a:ext cx="3584448" cy="45720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8096" y="1737360"/>
            <a:ext cx="292608" cy="237744"/>
          </a:xfrm>
          <a:prstGeom prst="roundRect">
            <a:avLst>
              <a:gd name="adj" fmla="val 35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1796795"/>
            <a:ext cx="2926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FFFFFF"/>
                </a:solidFill>
                <a:latin typeface="Segoe UI"/>
              </a:rPr>
              <a:t>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41448" y="1737360"/>
            <a:ext cx="1508760" cy="237744"/>
          </a:xfrm>
          <a:prstGeom prst="roundRect">
            <a:avLst>
              <a:gd name="adj" fmla="val 35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41448" y="1796795"/>
            <a:ext cx="1508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Segoe UI"/>
              </a:rPr>
              <a:t>РЕКОМЕНДОВАНО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210312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40" b="1">
                <a:solidFill>
                  <a:srgbClr val="1C2235"/>
                </a:solidFill>
                <a:latin typeface="Segoe UI"/>
              </a:rPr>
              <a:t>ВЛАСНИЙ БРЕНД У ЦІНОВІЙ ЗОНІ SAMURA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" y="2523744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265176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ДОСТУПНИЙ ОБСЯГ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2816352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37A169"/>
                </a:solidFill>
                <a:latin typeface="Segoe UI"/>
              </a:rPr>
              <a:t>₴150–230 млн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41448" y="2651760"/>
            <a:ext cx="1508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ЦІНОВА ЗОНА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41448" y="2816352"/>
            <a:ext cx="1508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C2235"/>
                </a:solidFill>
                <a:latin typeface="Segoe UI"/>
              </a:rPr>
              <a:t>700 – 2 500 грн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8096" y="3127248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255264"/>
            <a:ext cx="3182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37A169"/>
                </a:solidFill>
                <a:latin typeface="Segoe UI"/>
              </a:rPr>
              <a:t>ЛОГІКА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3438144"/>
            <a:ext cx="318211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Своя ТМ японського типу з чесним походженням і україномовною упаковкою.</a:t>
            </a:r>
          </a:p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Постачальник — ЄС (0 % мита) або Китай за власною специфікацією.</a:t>
            </a:r>
          </a:p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Уразливість конкурента — не продукт, а походження бренду.</a:t>
            </a:r>
          </a:p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Потрібно 40–60 тис. штук на рік для точки беззбитковості.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8096" y="4864608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8096" y="4992624"/>
            <a:ext cx="3182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C03B4B"/>
                </a:solidFill>
                <a:latin typeface="Segoe UI"/>
              </a:rPr>
              <a:t>ЧИМ РИЗИКУЄМО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5175504"/>
            <a:ext cx="318211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15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· Ризик стати дванадцятим me-too брендом</a:t>
            </a:r>
          </a:p>
          <a:p>
            <a:pPr algn="l">
              <a:lnSpc>
                <a:spcPct val="126000"/>
              </a:lnSpc>
              <a:spcAft>
                <a:spcPts val="15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· Fissman і Krauff уже захищають цю ціну</a:t>
            </a:r>
          </a:p>
          <a:p>
            <a:pPr algn="l">
              <a:lnSpc>
                <a:spcPct val="126000"/>
              </a:lnSpc>
              <a:spcAft>
                <a:spcPts val="15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· Побудова бренду коштує дорожче за закупівлю</a:t>
            </a:r>
          </a:p>
        </p:txBody>
      </p:sp>
      <p:pic>
        <p:nvPicPr>
          <p:cNvPr id="28" name="Picture 27" descr="p_407a198e1355c92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06624" y="2048256"/>
            <a:ext cx="1225296" cy="713232"/>
          </a:xfrm>
          <a:prstGeom prst="rect">
            <a:avLst/>
          </a:prstGeom>
        </p:spPr>
      </p:pic>
      <p:sp>
        <p:nvSpPr>
          <p:cNvPr id="29" name="Rounded Rectangle 28"/>
          <p:cNvSpPr/>
          <p:nvPr/>
        </p:nvSpPr>
        <p:spPr>
          <a:xfrm>
            <a:off x="4270248" y="1554480"/>
            <a:ext cx="3584448" cy="422452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270248" y="1554480"/>
            <a:ext cx="3584448" cy="4572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471416" y="1737360"/>
            <a:ext cx="292608" cy="237744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71416" y="1796795"/>
            <a:ext cx="2926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FFFFFF"/>
                </a:solidFill>
                <a:latin typeface="Segoe UI"/>
              </a:rPr>
              <a:t>B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44768" y="1737360"/>
            <a:ext cx="1508760" cy="237744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44768" y="1796795"/>
            <a:ext cx="1508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Segoe UI"/>
              </a:rPr>
              <a:t>УМОВНО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71416" y="210312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40" b="1">
                <a:solidFill>
                  <a:srgbClr val="1C2235"/>
                </a:solidFill>
                <a:latin typeface="Segoe UI"/>
              </a:rPr>
              <a:t>ДОСТУПНА СПРАВЖНЯ ЯПОНІЯ 1 500–4 000 ГРН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471416" y="2523744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471416" y="265176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ДОСТУПНИЙ ОБСЯГ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71416" y="2816352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9A50B"/>
                </a:solidFill>
                <a:latin typeface="Segoe UI"/>
              </a:rPr>
              <a:t>₴8–12 млн сьогодні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44768" y="2651760"/>
            <a:ext cx="1508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ЦІНОВА ЗОНА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44768" y="2816352"/>
            <a:ext cx="1508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C2235"/>
                </a:solidFill>
                <a:latin typeface="Segoe UI"/>
              </a:rPr>
              <a:t>1 500 – 4 000 грн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471416" y="3127248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471416" y="3255264"/>
            <a:ext cx="3182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F9A50B"/>
                </a:solidFill>
                <a:latin typeface="Segoe UI"/>
              </a:rPr>
              <a:t>ЛОГІКА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71416" y="3438144"/>
            <a:ext cx="318211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Єдина неохоронювана ділянка матриці справжньої Японії, де стоїть лише Satake.</a:t>
            </a:r>
          </a:p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Потрібен завод у Секі, готовий на OEM або дилерство.</a:t>
            </a:r>
          </a:p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Захищено автентичністю: історію не скопіювати закупівлею.</a:t>
            </a:r>
          </a:p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Потенціал зростання сегмента до 25–35 млн грн за 3–4 роки.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71416" y="4864608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71416" y="4992624"/>
            <a:ext cx="3182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C03B4B"/>
                </a:solidFill>
                <a:latin typeface="Segoe UI"/>
              </a:rPr>
              <a:t>ЧИМ РИЗИКУЄМО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71416" y="5175504"/>
            <a:ext cx="318211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15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· 10 % мита проти 0 % у європейського конкурента</a:t>
            </a:r>
          </a:p>
          <a:p>
            <a:pPr algn="l">
              <a:lnSpc>
                <a:spcPct val="126000"/>
              </a:lnSpc>
              <a:spcAft>
                <a:spcPts val="15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· Сегмент малий навіть після зростання</a:t>
            </a:r>
          </a:p>
          <a:p>
            <a:pPr algn="l">
              <a:lnSpc>
                <a:spcPct val="126000"/>
              </a:lnSpc>
              <a:spcAft>
                <a:spcPts val="15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· Вимагає контенту і консультації, яких немає в ціні</a:t>
            </a:r>
          </a:p>
        </p:txBody>
      </p:sp>
      <p:pic>
        <p:nvPicPr>
          <p:cNvPr id="47" name="Picture 46" descr="p_cd7e51fe466c5c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2048256"/>
            <a:ext cx="1225296" cy="713232"/>
          </a:xfrm>
          <a:prstGeom prst="rect">
            <a:avLst/>
          </a:prstGeom>
        </p:spPr>
      </p:pic>
      <p:sp>
        <p:nvSpPr>
          <p:cNvPr id="48" name="Rounded Rectangle 47"/>
          <p:cNvSpPr/>
          <p:nvPr/>
        </p:nvSpPr>
        <p:spPr>
          <a:xfrm>
            <a:off x="7973567" y="1554480"/>
            <a:ext cx="3584448" cy="422452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973567" y="1554480"/>
            <a:ext cx="3584448" cy="4572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8174736" y="1737360"/>
            <a:ext cx="292608" cy="237744"/>
          </a:xfrm>
          <a:prstGeom prst="roundRect">
            <a:avLst>
              <a:gd name="adj" fmla="val 35000"/>
            </a:avLst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74736" y="1796795"/>
            <a:ext cx="2926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FFFFFF"/>
                </a:solidFill>
                <a:latin typeface="Segoe UI"/>
              </a:rPr>
              <a:t>C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848088" y="1737360"/>
            <a:ext cx="1508760" cy="237744"/>
          </a:xfrm>
          <a:prstGeom prst="roundRect">
            <a:avLst>
              <a:gd name="adj" fmla="val 35000"/>
            </a:avLst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848088" y="1796795"/>
            <a:ext cx="1508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Segoe UI"/>
              </a:rPr>
              <a:t>НЕ РЕКОМЕНДОВАНО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74736" y="210312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40" b="1">
                <a:solidFill>
                  <a:srgbClr val="1C2235"/>
                </a:solidFill>
                <a:latin typeface="Segoe UI"/>
              </a:rPr>
              <a:t>ІМПОРТ ПРЕМІАЛЬНОЇ ЯПОНІЇ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174736" y="2523744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174736" y="265176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ДОСТУПНИЙ ОБСЯГ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174736" y="2816352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C03B4B"/>
                </a:solidFill>
                <a:latin typeface="Segoe UI"/>
              </a:rPr>
              <a:t>₴16–19 млн, не росте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848088" y="2651760"/>
            <a:ext cx="1508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ЦІНОВА ЗОНА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48088" y="2816352"/>
            <a:ext cx="1508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C2235"/>
                </a:solidFill>
                <a:latin typeface="Segoe UI"/>
              </a:rPr>
              <a:t>7 500 – 40 140 грн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174736" y="3127248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174736" y="3255264"/>
            <a:ext cx="3182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C03B4B"/>
                </a:solidFill>
                <a:latin typeface="Segoe UI"/>
              </a:rPr>
              <a:t>ЛОГІКА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174736" y="3438144"/>
            <a:ext cx="318211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Це сценарій, закладений у первинне формулювання задачі.</a:t>
            </a:r>
          </a:p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Ніша не росте: імпорт 2024 нижчий за 2022.</a:t>
            </a:r>
          </a:p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55 брендів уже присутні, топові слоти зайняті ексклюзивами.</a:t>
            </a:r>
          </a:p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HoReCa як канал зростання недоступна з шести структурних причин.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174736" y="4864608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174736" y="4992624"/>
            <a:ext cx="3182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C03B4B"/>
                </a:solidFill>
                <a:latin typeface="Segoe UI"/>
              </a:rPr>
              <a:t>ЧИМ РИЗИКУЄМО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74736" y="5175504"/>
            <a:ext cx="318211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15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· Три блокуючі ризики одночасно</a:t>
            </a:r>
          </a:p>
          <a:p>
            <a:pPr algn="l">
              <a:lnSpc>
                <a:spcPct val="126000"/>
              </a:lnSpc>
              <a:spcAft>
                <a:spcPts val="15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· Стеля платоспроможності 35–57 % зарплати за ніж</a:t>
            </a:r>
          </a:p>
          <a:p>
            <a:pPr algn="l">
              <a:lnSpc>
                <a:spcPct val="126000"/>
              </a:lnSpc>
              <a:spcAft>
                <a:spcPts val="15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· Немає сервісу, який виправдав би премію</a:t>
            </a:r>
          </a:p>
        </p:txBody>
      </p:sp>
      <p:pic>
        <p:nvPicPr>
          <p:cNvPr id="66" name="Picture 65" descr="p_98d9ac46a8338df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13263" y="2048256"/>
            <a:ext cx="1225296" cy="713232"/>
          </a:xfrm>
          <a:prstGeom prst="rect">
            <a:avLst/>
          </a:prstGeom>
        </p:spPr>
      </p:pic>
      <p:sp>
        <p:nvSpPr>
          <p:cNvPr id="67" name="Rounded Rectangle 66"/>
          <p:cNvSpPr/>
          <p:nvPr/>
        </p:nvSpPr>
        <p:spPr>
          <a:xfrm>
            <a:off x="566928" y="5870448"/>
            <a:ext cx="11064240" cy="8585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566928" y="5870448"/>
            <a:ext cx="36576" cy="85852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04672" y="6025896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ЧЕСНА ВІДПОВІДЬ НА ПОСТАВЛЕНЕ ПИТАННЯ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04672" y="6254496"/>
            <a:ext cx="10588752" cy="328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60" b="0">
                <a:solidFill>
                  <a:srgbClr val="303A5D"/>
                </a:solidFill>
                <a:latin typeface="Segoe UI"/>
              </a:rPr>
              <a:t>У поставленому формулюванні — преміальний японський продукт для професійної та домашньої кухні — ринок становить 16–19 млн грн, не росте і вже обслуговується 55 брендами з 17 каналів.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60" b="0">
                <a:solidFill>
                  <a:srgbClr val="303A5D"/>
                </a:solidFill>
                <a:latin typeface="Segoe UI"/>
              </a:rPr>
              <a:t>Гроші лежать не там, де написано «Японія», а там, де написано «сантоку». Рекомендація: сценарій A; B — лише за наявності заводу в Секі на OEM; C закрити.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