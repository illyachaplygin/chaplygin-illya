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Relationship Id="rId21" Type="http://schemas.openxmlformats.org/officeDocument/2006/relationships/image" Target="../media/image34.png"/><Relationship Id="rId22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45.png"/><Relationship Id="rId13" Type="http://schemas.openxmlformats.org/officeDocument/2006/relationships/image" Target="../media/image46.png"/><Relationship Id="rId14" Type="http://schemas.openxmlformats.org/officeDocument/2006/relationships/image" Target="../media/image47.png"/><Relationship Id="rId15" Type="http://schemas.openxmlformats.org/officeDocument/2006/relationships/image" Target="../media/image48.png"/><Relationship Id="rId16" Type="http://schemas.openxmlformats.org/officeDocument/2006/relationships/image" Target="../media/image49.png"/><Relationship Id="rId17" Type="http://schemas.openxmlformats.org/officeDocument/2006/relationships/image" Target="../media/image50.png"/><Relationship Id="rId18" Type="http://schemas.openxmlformats.org/officeDocument/2006/relationships/image" Target="../media/image51.png"/><Relationship Id="rId19" Type="http://schemas.openxmlformats.org/officeDocument/2006/relationships/image" Target="../media/image52.png"/><Relationship Id="rId20" Type="http://schemas.openxmlformats.org/officeDocument/2006/relationships/image" Target="../media/image5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Relationship Id="rId16" Type="http://schemas.openxmlformats.org/officeDocument/2006/relationships/image" Target="../media/image67.png"/><Relationship Id="rId17" Type="http://schemas.openxmlformats.org/officeDocument/2006/relationships/image" Target="../media/image68.png"/><Relationship Id="rId18" Type="http://schemas.openxmlformats.org/officeDocument/2006/relationships/image" Target="../media/image69.png"/><Relationship Id="rId19" Type="http://schemas.openxmlformats.org/officeDocument/2006/relationships/image" Target="../media/image70.png"/><Relationship Id="rId20" Type="http://schemas.openxmlformats.org/officeDocument/2006/relationships/image" Target="../media/image71.png"/><Relationship Id="rId21" Type="http://schemas.openxmlformats.org/officeDocument/2006/relationships/image" Target="../media/image7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51d1ad7b2afeb1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15 слайдів · 17 продавців · 60 японських брендів · 259 ножів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ЯПОНСЬКЕ ВИРОБНИЦТВО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БРЕНДІВ ЗРОБЛЕНО В ЯПОНІЇ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каталогах продавців.
Сумарно 754 позиції.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726–60 495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1 · ГЕОМЕТРІЯ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2 · СТАЛЬ І РЕГІОН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Tojiro DP, KAI Wasabi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damascus clad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43 020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25 000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63–65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Секі, Гіфу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70 102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Сакаї, Осака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 – 15 580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16 677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Тоса, Коті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10 035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РОБОТИ І РОЗМІР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Під вивіскою «японський ніж» в Україні продають три різні товари. Ця колода рахує лише перший — вироблений у Японії.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6638544" cy="23042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6638544" cy="5486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00784"/>
            <a:ext cx="310896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60220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37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719072"/>
            <a:ext cx="1536192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1769363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ПРЕДМЕТ КОЛОДИ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ШТУК НА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D4B96"/>
                </a:solidFill>
                <a:latin typeface="Segoe UI"/>
              </a:rPr>
              <a:t>≈ 3 700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ЧАСТКА РИНКУ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4820A"/>
                </a:solidFill>
                <a:latin typeface="Segoe UI"/>
              </a:rPr>
              <a:t>2 % у грошах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50992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0992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94F7C"/>
                </a:solidFill>
                <a:latin typeface="Segoe UI"/>
              </a:rPr>
              <a:t>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2615184"/>
            <a:ext cx="6236208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2724912"/>
            <a:ext cx="6236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Критерій: країна виробництва — Японія, підтверджена митним кодом або карткою товару продавця.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KAI / Shun, Yaxell, Suncraft, Tojiro, Satake, Kasumi, Miyabi, Seki Kanetsugu, Tosa, Takamura,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Mcusta Zanmai, Sakai Takayuki, Takeshi Saji, Tamahagane і ще 46 марок — усі в переписі на слайді 9.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216" y="1517904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43216" y="1517904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26096" y="1664207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6096" y="1705355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166420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ЯПОНСЬКИЙ БРЕНД, АЗІЙСЬКИЙ ЗАВОД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95681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FA9C4"/>
                </a:solidFill>
                <a:latin typeface="Segoe UI"/>
              </a:rPr>
              <a:t>₴150–230 млн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76688" y="1993391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6688" y="20345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6096" y="2249424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Назва японська, виробництво — ні. Видалено з усіх цифр колоди.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3216" y="2724912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43216" y="2724912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26096" y="2871216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26096" y="291236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2871216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ЯПОНСЬКА ФОРМА БУДЬ-ЯКОГО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6096" y="31638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FA9C4"/>
                </a:solidFill>
                <a:latin typeface="Segoe UI"/>
              </a:rPr>
              <a:t>₴140–260 млн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76688" y="3200400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76688" y="324154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3456432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європейських марок. Японського постачальника тут немає в принципі.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МИТНА БАЗА КАТЕГОРІЇ, ІМПОРТ 2024, ТИС. $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2062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21408" y="42062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50408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1928" y="420624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 НИХ ЯПОНІЯ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38454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425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21408" y="44256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15968" y="44256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50408" y="44256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81928" y="442569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не виділена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21408" y="470001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5968" y="47000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70001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81928" y="470001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14,3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493318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49743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21408" y="49743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8" y="49743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0408" y="49743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81928" y="497433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103,3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266943"/>
            <a:ext cx="704088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37667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21408" y="5376671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537667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50408" y="5376671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1928" y="5376671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117,5 = 1,3 %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3968496"/>
            <a:ext cx="3767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8211 92, ТИС. $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24281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30767" y="4283964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30767" y="4283964"/>
            <a:ext cx="2012242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716767" y="424281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0" y="453542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30767" y="4576572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30767" y="4576572"/>
            <a:ext cx="1338681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16767" y="45354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482803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30767" y="4869180"/>
            <a:ext cx="219456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430767" y="4869180"/>
            <a:ext cx="1743831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16767" y="482803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632704"/>
            <a:ext cx="7040880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788152"/>
            <a:ext cx="6565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ЦЕЙ СЛАЙД — ГОЛОВНИЙ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6016752"/>
            <a:ext cx="656539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розмежування A / B / C цифру ₴16–19 млн легко сплутати з розміром усієї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категорії кухонних ножів — а це ₴691–924 млн, у 40 разів більше.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863840" y="5193792"/>
            <a:ext cx="376732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63840" y="5193792"/>
            <a:ext cx="36576" cy="1316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01583" y="5349240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ДИНАМІКА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01583" y="5577840"/>
            <a:ext cx="3291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Імпорт 2024 на 13 % нижчий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 2022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Стрибок 2023→2024 —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відновлення після провалу,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 не тренд зростання.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митних даних: World Bank WITS / UN Comtrade, імпорт України 2022–2024. Оцінки B і C — власний розрахунок за SKU-аудитом.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СЕГМЕНТАЦІЯ ЗА ЦІНОЮ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Каталог із 259 ножів японського виробництва, зібраний із карток товарів 17 продавців. На кожному щаблі — п'ять позицій, рівномірно розподілених за ціною.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45720" cy="89611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До 2 500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3392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1 790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Seki Kanetsugu 8 · Satake 4 · HONMAMON 4</a:t>
            </a:r>
          </a:p>
        </p:txBody>
      </p:sp>
      <p:pic>
        <p:nvPicPr>
          <p:cNvPr id="23" name="Picture 22" descr="p_94f49bdd99d60c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627632"/>
            <a:ext cx="1514246" cy="43891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310128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128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1 140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0128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27" name="Picture 26" descr="p_ec239970f314e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1627632"/>
            <a:ext cx="1514246" cy="43891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934102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4102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1 650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4102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31" name="Picture 30" descr="p_47e36ce71044c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8076" y="1627632"/>
            <a:ext cx="1514246" cy="43891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58076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Takanori Izumi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8076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1 980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8076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35" name="Picture 34" descr="p_462c6d754ce0aa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2051" y="1627632"/>
            <a:ext cx="1514246" cy="43891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82051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2051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2 184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2051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39" name="Picture 38" descr="p_2ef97b201bc8cf2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6025" y="1627632"/>
            <a:ext cx="1514246" cy="43891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06025" y="2103120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6025" y="2231136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06025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2560320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2560320"/>
            <a:ext cx="45720" cy="89611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26060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2 500 – 5 000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" y="27980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80744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26 %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80744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93392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3 539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93392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06040" y="31638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" y="30266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Tosa 10 · Masahiro 8 · Tojiro 7</a:t>
            </a:r>
          </a:p>
        </p:txBody>
      </p:sp>
      <p:pic>
        <p:nvPicPr>
          <p:cNvPr id="56" name="Picture 55" descr="p_e3d54c83d65142d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0128" y="2633472"/>
            <a:ext cx="1514246" cy="43891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3310128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0128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2 833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10128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60" name="Picture 59" descr="p_23ead9acd0d4ae8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4102" y="2633472"/>
            <a:ext cx="1514246" cy="43891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4934102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4102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3 231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4102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64" name="Picture 63" descr="p_403ad1c9ffd8e37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8076" y="2633472"/>
            <a:ext cx="1514246" cy="438911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558076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Tomita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58076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3 539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58076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68" name="Picture 67" descr="p_73480f37f39f17a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82051" y="2633472"/>
            <a:ext cx="1514246" cy="43891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182051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Seki Kanetsugu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2051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4 450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2051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72" name="Picture 71" descr="p_7a0ba7a86bed265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06025" y="2633472"/>
            <a:ext cx="1514246" cy="43891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806025" y="310895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6025" y="323697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06025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3566159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3566159"/>
            <a:ext cx="45720" cy="896111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" y="361187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5 000 – 10 000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" y="380390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096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80744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45 %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80744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93392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7 290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93392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06040" y="416966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06040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8096" y="403250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Tojiro 24 · Yaxell 23 · KAI 15</a:t>
            </a:r>
          </a:p>
        </p:txBody>
      </p:sp>
      <p:pic>
        <p:nvPicPr>
          <p:cNvPr id="89" name="Picture 88" descr="p_835994bb5a94d0c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10128" y="3639311"/>
            <a:ext cx="1514246" cy="438911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3310128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10128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10128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93" name="Picture 92" descr="p_4ab436256b1923c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34102" y="3639311"/>
            <a:ext cx="1514246" cy="438911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4934102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34102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6 401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34102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97" name="Picture 96" descr="p_db9f4add72913e5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8076" y="3639311"/>
            <a:ext cx="1514246" cy="43891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6558076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8076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7 290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58076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101" name="Picture 100" descr="p_d828cc662fb91c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82051" y="3639311"/>
            <a:ext cx="1514246" cy="438911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182051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82051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8 050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182051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05" name="Picture 104" descr="p_bd68987c0b443e4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06025" y="3639311"/>
            <a:ext cx="1514246" cy="438911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9806025" y="411479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06025" y="424281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9 470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06025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66928" y="4571999"/>
            <a:ext cx="11064240" cy="896111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66928" y="4571999"/>
            <a:ext cx="45720" cy="896111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8096" y="46177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8096" y="480974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096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096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80744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80744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93392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13 500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93392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06040" y="5175503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606040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68096" y="503834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KAI 15 · Yaxell 10 · Tojiro 8</a:t>
            </a:r>
          </a:p>
        </p:txBody>
      </p:sp>
      <p:pic>
        <p:nvPicPr>
          <p:cNvPr id="122" name="Picture 121" descr="p_36e32f36e7146691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10128" y="4645151"/>
            <a:ext cx="1514246" cy="438911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3310128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10128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10 220 грн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10128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26" name="Picture 125" descr="p_afd633ee725b6d4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34102" y="4645151"/>
            <a:ext cx="1514246" cy="438911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4934102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Takamura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934102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11 990 грн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934102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30" name="Picture 129" descr="p_e87b83e3d3fdd66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58076" y="4645151"/>
            <a:ext cx="1514246" cy="438911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6558076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Hatsukokoro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58076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13 865 грн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58076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34" name="Picture 133" descr="p_077042a75de1c23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82051" y="4645151"/>
            <a:ext cx="1514246" cy="438911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8182051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182051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16 677 грн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82051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138" name="Picture 137" descr="p_7ca3a50e75e0b8a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06025" y="4645151"/>
            <a:ext cx="1514246" cy="438911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9806025" y="5120639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806025" y="5248655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27 822 грн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06025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Аналітика рахована по всіх позиціях діапазону, фото — п'ять із них. Джерело: картки товарів ProfiMax, ROKS, WildCat, Sekator, жовтень 2026. Ціна за один ніж, роздріб.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СЕГМЕНТАЦІЯ ЗА ТИПОМ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Той самий каталог у розрізі геометрії. Тип не визначає ціну — її визначає сталь, і розкид усередині кожного типу це показує.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45720" cy="12313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Шеф і гюто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19 %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3392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15798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Tojiro 14 · HONMAMON 7 · Yaxell 5</a:t>
            </a:r>
          </a:p>
        </p:txBody>
      </p:sp>
      <p:pic>
        <p:nvPicPr>
          <p:cNvPr id="23" name="Picture 22" descr="p_0de2d5e262e947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627632"/>
            <a:ext cx="1243584" cy="7741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310128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128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2 099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012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27" name="Picture 26" descr="p_2633fda7c2461e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627632"/>
            <a:ext cx="1243584" cy="77419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63440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4 976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pic>
        <p:nvPicPr>
          <p:cNvPr id="31" name="Picture 30" descr="p_ba6a3e3f6095b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1627632"/>
            <a:ext cx="1243584" cy="77419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16752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6752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6752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35" name="Picture 34" descr="p_e14f2209a0827da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3" y="1627632"/>
            <a:ext cx="1243584" cy="77419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70063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0063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9 520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0063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39" name="Picture 38" descr="p_d920f645d31f988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3376" y="1627632"/>
            <a:ext cx="1243584" cy="77419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723376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Takamura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10 200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43" name="Picture 42" descr="p_2af9b201d857b23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6688" y="1627632"/>
            <a:ext cx="1243584" cy="774191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076688" y="243840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76688" y="2566416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23 990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7668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289560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2895600"/>
            <a:ext cx="45720" cy="12313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29413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313334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80744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30 %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80744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93392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6 671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93392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06040" y="349910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" y="336194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Yaxell 12 · Tojiro 10 · HONMAMON 9</a:t>
            </a:r>
          </a:p>
        </p:txBody>
      </p:sp>
      <p:pic>
        <p:nvPicPr>
          <p:cNvPr id="60" name="Picture 59" descr="p_f24ec9d36cb64bb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8" y="2968752"/>
            <a:ext cx="1243584" cy="77419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310128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0128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1012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64" name="Picture 63" descr="p_ef75062df950609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2968752"/>
            <a:ext cx="1243584" cy="774191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663440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68" name="Picture 67" descr="p_0101cd1ded1a063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6752" y="2968752"/>
            <a:ext cx="1243584" cy="77419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016752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16752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5 538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16752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72" name="Picture 71" descr="p_9c2aaec32dc6d13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70063" y="2968752"/>
            <a:ext cx="1243584" cy="77419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3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Motokane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3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7 290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70063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76" name="Picture 75" descr="p_df97c02d864bd12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23376" y="2968752"/>
            <a:ext cx="1243584" cy="77419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723376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KAI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23376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8 610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23376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80" name="Picture 79" descr="p_957906e03cad2c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76688" y="2968752"/>
            <a:ext cx="1243584" cy="774191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0076688" y="3779519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76688" y="390753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11 790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7668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4236720"/>
            <a:ext cx="11064240" cy="123139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4236720"/>
            <a:ext cx="45720" cy="12313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8096" y="42824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8096" y="44744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8096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8096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80744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80744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каталогу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93392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4 550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3392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06040" y="484022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" b="1">
                <a:solidFill>
                  <a:srgbClr val="1C2235"/>
                </a:solidFill>
                <a:latin typeface="Segoe UI"/>
              </a:rP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06040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8096" y="47030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FA9C4"/>
                </a:solidFill>
                <a:latin typeface="Segoe UI"/>
              </a:rPr>
              <a:t>Tosa 11 · KAI 8 · HONMAMON 3</a:t>
            </a:r>
          </a:p>
        </p:txBody>
      </p:sp>
      <p:pic>
        <p:nvPicPr>
          <p:cNvPr id="97" name="Picture 96" descr="p_60662ad9f02f39e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10128" y="4309872"/>
            <a:ext cx="1243584" cy="77419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3310128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10128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2 660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1012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pic>
        <p:nvPicPr>
          <p:cNvPr id="101" name="Picture 100" descr="p_ef5b811819ea9ce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3440" y="4309872"/>
            <a:ext cx="1243584" cy="774191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4663440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63440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663440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05" name="Picture 104" descr="p_c9db2995f67c68f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16752" y="4309872"/>
            <a:ext cx="1243584" cy="774191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6016752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16752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4 451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16752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09" name="Picture 108" descr="p_a146f87fe576c8f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70063" y="4309872"/>
            <a:ext cx="1243584" cy="774191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7370063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70063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70063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pic>
        <p:nvPicPr>
          <p:cNvPr id="113" name="Picture 112" descr="p_1a9ca90c0351b5d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23376" y="4309872"/>
            <a:ext cx="1243584" cy="774191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8723376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23376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723376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pic>
        <p:nvPicPr>
          <p:cNvPr id="117" name="Picture 116" descr="p_06a999719c231f7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076688" y="4309872"/>
            <a:ext cx="1243584" cy="774191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0076688" y="5120640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076688" y="5248655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7 460 грн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7668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Позиції, які не потрапили в жодну з трьох груп (слайсери, хлібні, бунка, фунаюкі, набори), становлять решту каталогу. Джерело: картки товарів українських магазинів,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ЦІНОВИЙ КОРИДОР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2 500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5 000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10 000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20 000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40 000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990 – 13 900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1 149 – 3 099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1 980 – 3 080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2 200 – 7 290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2 390 – 2 870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2 400 – 6 512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3 215 – 6 600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3 463 – 4 850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Misono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1 690 – 4 990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3 231 – 10 035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1 650 – 23 990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3 119 – 16 499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1 991 – 8 999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7 460 – 7 640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4 657 – 38 640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n=9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5 320 – 11 990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726 – 27 970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Harukaze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19 990 – 26 990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Шістдесят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марок японського виробництва, знайдених у каталогах українських продавців і вітрин Prom. Відсортовано за кількістю позицій у 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2377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36192"/>
            <a:ext cx="14264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536192"/>
            <a:ext cx="676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2656" y="1536192"/>
            <a:ext cx="384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1536192"/>
            <a:ext cx="7680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3736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173736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7792" y="173736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173736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726 – 27 970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91841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91841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191841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191841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1 199 – 70 102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099462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099462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2099462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2099462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1 199 – 18 999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280513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2280513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07792" y="2280513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2280513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599 – 16 499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246156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246156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7792" y="246156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246156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849 – 16 999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642615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642615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Kanetsune Seki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7792" y="2642615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83280" y="2642615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150 – 16 360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2823667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2823667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Tosa / Tosauchi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7792" y="2823667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2823667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2 929 – 10 035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004718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04718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Miyabi (Zwilling)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8600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07792" y="3004718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80" y="3004718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5 900 – 43 020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185769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185769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07792" y="3185769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0" y="3185769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1 180 – 15 229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36682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" y="336682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Mcusta Zanmai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8600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7792" y="336682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83280" y="336682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7 960 – 24 767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354787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" y="354787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Seki Kanetsugu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7792" y="354787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83280" y="354787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990 – 13 900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3728923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" y="3728923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Yoshihiro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8600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07792" y="3728923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3280" y="3728923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3 609 – 6 747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390997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" y="390997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Takeshi Saji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07792" y="390997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83280" y="390997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21 684 – 60 125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091025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" y="4091025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Masahiro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600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07792" y="4091025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83280" y="4091025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2 400 – 4 100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6928" y="4272076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2960" y="4272076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Kyocera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8600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907792" y="4272076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83280" y="4272076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4 166 – 11 880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4453128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22960" y="4453128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Takamura Hamono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07792" y="4453128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83280" y="4453128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5 320 – 11 990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4634179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4634179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Tamahagane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2" y="4634179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383280" y="4634179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7 242 – 15 873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481523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22960" y="481523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Fukamizu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28600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07792" y="481523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83280" y="481523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2 610 – 4 850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66928" y="499628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" y="499628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Takanori Izumi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28600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2" y="499628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383280" y="499628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1 980 – 3 080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6928" y="5177332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" y="5177332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Tomita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8600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907792" y="5177332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83280" y="5177332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3 215 – 6 600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535838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" y="535838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Inoguchi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8600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07792" y="535838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83280" y="535838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306824" y="1536192"/>
            <a:ext cx="2377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62856" y="1536192"/>
            <a:ext cx="14264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025896" y="1536192"/>
            <a:ext cx="676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702552" y="1536192"/>
            <a:ext cx="384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141464" y="1536192"/>
            <a:ext cx="7680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306824" y="173736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62856" y="173736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Shigeki Tanaka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2589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47688" y="173736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23176" y="173736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5 203 – 19 990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06824" y="191841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562856" y="191841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Motokane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02589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647688" y="191841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23176" y="191841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2 090 – 2 695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306824" y="2099462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62856" y="2099462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Seto Iseya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02589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47688" y="2099462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123176" y="2099462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5 500 – 6 550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306824" y="2280513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62856" y="2280513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Hanakumagawa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02589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647688" y="2280513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23176" y="2280513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2 390 – 2 790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306824" y="246156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62856" y="246156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Harukaze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02589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647688" y="246156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23176" y="246156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19 990 – 26 990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06824" y="2642615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27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62856" y="2642615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Misono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2589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647688" y="2642615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123176" y="2642615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1 690 – 4 990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306824" y="2823667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62856" y="2823667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02589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647688" y="2823667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123176" y="2823667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13 200 – 15 580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6824" y="3004718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29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62856" y="3004718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Nigara Hamono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02589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03B4B"/>
                </a:solidFill>
                <a:latin typeface="Segoe UI"/>
              </a:rPr>
              <a:t>Хіросакі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647688" y="3004718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123176" y="3004718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14 800 – 16 740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306824" y="3185769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C03B4B"/>
                </a:solidFill>
                <a:latin typeface="Segoe UI"/>
              </a:rP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562856" y="3185769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C03B4B"/>
                </a:solidFill>
                <a:latin typeface="Segoe UI"/>
              </a:rPr>
              <a:t>Sakai Takayuki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02589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47688" y="3185769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C03B4B"/>
                </a:solidFill>
                <a:latin typeface="Segoe UI"/>
              </a:rPr>
              <a:t>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123176" y="3185769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7 460 – 7 640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306824" y="336682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62856" y="336682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Shimomura Kihan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02589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647688" y="336682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123176" y="336682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6 140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306824" y="354787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62856" y="354787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Teruhide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02589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647688" y="354787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7123176" y="354787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8 000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306824" y="3728923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562856" y="3728923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Anryu Hamono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02589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647688" y="3728923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123176" y="3728923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306824" y="390997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34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562856" y="390997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Etsu / Ittetsu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02589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647688" y="390997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123176" y="390997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16 677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306824" y="4091025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562856" y="4091025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Fuji Cutlery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02589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647688" y="4091025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7123176" y="4091025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1 950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4306824" y="4272076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36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562856" y="4272076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Gyokucho / Kamisaku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02589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94F7C"/>
                </a:solidFill>
                <a:latin typeface="Segoe UI"/>
              </a:rPr>
              <a:t>Ечідзен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6647688" y="4272076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123176" y="4272076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7 300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306824" y="4453128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37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562856" y="4453128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Hatsukokoro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02589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647688" y="4453128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23176" y="4453128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13 865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306824" y="4634179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38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562856" y="4634179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Higonokami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647688" y="4634179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123176" y="4634179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2 090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06824" y="481523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39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62856" y="481523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Hisashige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02589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647688" y="481523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7123176" y="481523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3 520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4306824" y="499628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62856" y="499628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JCK Natures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602589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647688" y="499628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123176" y="499628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12 220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306824" y="5177332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562856" y="5177332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Jikko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602589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6647688" y="5177332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123176" y="5177332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9 267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4306824" y="535838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42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562856" y="535838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KAI Sekimagoroku Imayo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02589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647688" y="535838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123176" y="535838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2 700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8046719" y="1536192"/>
            <a:ext cx="2377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302751" y="1536192"/>
            <a:ext cx="14264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9765792" y="1536192"/>
            <a:ext cx="6766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0442447" y="1536192"/>
            <a:ext cx="384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0881359" y="1536192"/>
            <a:ext cx="7680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8046719" y="173736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43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02751" y="173736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Kanetaka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9765792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0387584" y="173736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0863072" y="173736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3 520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8046719" y="191841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44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8302751" y="191841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Kazuhira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9765792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0387584" y="191841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863072" y="191841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8046719" y="2099462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45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8302751" y="2099462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Kiyokane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9765792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387584" y="2099462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863072" y="2099462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4 590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8046719" y="2280513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46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8302751" y="2280513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Mikihisa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9765792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10387584" y="2280513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0863072" y="2280513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8046719" y="246156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47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8302751" y="246156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S.K.K. Cutlery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9765792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387584" y="246156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0863072" y="246156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046719" y="2642615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48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8302751" y="2642615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Sakai Haruhiko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9765792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0387584" y="2642615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0863072" y="2642615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7 040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046719" y="2823667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49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8302751" y="2823667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Sakai Ichiji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9765792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387584" y="2823667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863072" y="2823667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1 999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8046719" y="3004718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8302751" y="3004718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Satake Masamune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9765792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0387584" y="3004718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0863072" y="3004718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8046719" y="3185769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51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02751" y="3185769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Shigehiro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765792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0387584" y="3185769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10863072" y="3185769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8 490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046719" y="336682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52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8302751" y="336682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Tadafusa / Ohishi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9765792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387584" y="336682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863072" y="336682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5 891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046719" y="3547871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53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302751" y="3547871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Tsukasa (Hinoura)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9765792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7A169"/>
                </a:solidFill>
                <a:latin typeface="Segoe UI"/>
              </a:rPr>
              <a:t>Цубаме-Са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10387584" y="3547871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863072" y="354787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9 900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046719" y="3728923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54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8302751" y="3728923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Yamawaki Hamono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765792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0387584" y="3728923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0863072" y="3728923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3 528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8046719" y="3909974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55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8302751" y="3909974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Global (Yoshikin)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9765792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C4820A"/>
                </a:solidFill>
                <a:latin typeface="Segoe UI"/>
              </a:rPr>
              <a:t>Секі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10387584" y="3909974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10863072" y="390997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2 618 – 13 195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8046719" y="4091025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56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8302751" y="4091025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HONMAMON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765792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387584" y="4091025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863072" y="4091025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7991855" y="4251960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8046719" y="4272076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57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8302751" y="4272076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Hokiyama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9765792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1E9EA6"/>
                </a:solidFill>
                <a:latin typeface="Segoe UI"/>
              </a:rPr>
              <a:t>Тоса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10387584" y="4272076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10863072" y="4272076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8046719" y="4453128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58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302751" y="4453128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Kaneyoshi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9765792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10387584" y="4453128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863072" y="4453128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5 740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991855" y="4614062"/>
            <a:ext cx="3712463" cy="1755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046719" y="4634179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59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302751" y="4634179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Sekiryu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765792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0387584" y="4634179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863072" y="4634179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1 107 – 1 638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046719" y="4815230"/>
            <a:ext cx="2377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FA9C4"/>
                </a:solidFill>
                <a:latin typeface="Segoe UI"/>
              </a:rPr>
              <a:t>60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302751" y="4815230"/>
            <a:ext cx="14447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C2235"/>
                </a:solidFill>
                <a:latin typeface="Segoe UI"/>
              </a:rPr>
              <a:t>Suisin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9765792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D4B96"/>
                </a:solidFill>
                <a:latin typeface="Segoe UI"/>
              </a:rPr>
              <a:t>Сакаї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387584" y="4815230"/>
            <a:ext cx="4389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863072" y="4815230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566928" y="5614416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768096" y="5769864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768096" y="598017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60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768096" y="6455664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17+ продавців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3419856" y="5614416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621024" y="5769864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СУМАРНО ПОЗИЦІЙ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3621024" y="598017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754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3621024" y="6455664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японських SKU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6272784" y="5614416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473952" y="5769864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ПЕРША СІМКА ТРИМАЄ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473952" y="598017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73 %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6473952" y="6455664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553 позиції з 754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9125711" y="5614416"/>
            <a:ext cx="2706624" cy="7863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9326880" y="5769864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МАЮТЬ 1–2 ПОЗИЦІЇ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9326880" y="5980176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30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9326880" y="6455664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— вітрина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витягти не вдалося. Колір регіону — за слайдом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ЗБУТУ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ЦЕ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F9A50B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≈ 1 000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217 – 38 640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E9EA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133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≈ 130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03B4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н/д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03B4B"/>
                </a:solidFill>
                <a:latin typeface="Segoe UI"/>
              </a:rPr>
              <a:t>Опт HoReCa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2 бренди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303A5D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ЗАСНОВАНО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Сакаї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D4B96"/>
                </a:solidFill>
                <a:latin typeface="Segoe UI"/>
              </a:rPr>
              <a:t>50+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ЕКСПОРТ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94F7C"/>
                </a:solidFill>
                <a:latin typeface="Segoe UI"/>
              </a:rPr>
              <a:t>100+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ГРУПА СТАЛІ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КОНКРЕТНО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ЦЕ В ЦІНІ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7 000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і дамаск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Ginsan / Silver #3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9 000 – 20 000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Вуглецева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25 000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SPG2 / R2, ZA-18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Суцільний обхід 17 продавців, Prom, Rozetka й Епіцентру станом на 1 жовтня 2026. Кожен рядок перевірено на картці товару, а не в пошуковій видачі.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ЗНАЙДЕНО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C4820A"/>
                </a:solidFill>
                <a:latin typeface="Segoe UI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РЕАЛЬНО НА СКЛАДІ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ДРОПШИП-ЛІСТИНГИ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C4820A"/>
                </a:solidFill>
                <a:latin typeface="Segoe UI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463040"/>
            <a:ext cx="270662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18488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ФАХОВИХ ПРОДАВЦІВ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28800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04288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12 550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15 266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18 415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20 572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Livico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61 891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66928" y="5870448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66928" y="5870448"/>
            <a:ext cx="36576" cy="68422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04672" y="60258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04672" y="6254496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Чотири моделі у двох вітрин — однакова ціна. Це спільний фід, не склад.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297680" y="5870448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297680" y="5870448"/>
            <a:ext cx="36576" cy="6842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535424" y="60258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35424" y="6254496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Вітрина на Prom показує дві позиції, власний сайт roks.com.ua — жодної.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046720" y="5870448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046720" y="5870448"/>
            <a:ext cx="36576" cy="684225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84464" y="60258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84464" y="6254496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Rozetka (API: 0), Епіцентр, Sekator, WildCat, rezat, volod, Kagura, AL-Group.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0685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01291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81897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2502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12 550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3108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15 266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23714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20685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01291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81897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17 387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89" name="Rounded Rectangle 88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62502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18 415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543108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20 572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Techdom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3" name="Rounded Rectangle 102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123714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0" name="Rounded Rectangle 109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0080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17" name="Rounded Rectangle 116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20685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801291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1" name="Rounded Rectangle 130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381897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38" name="Rounded Rectangle 137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62502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303A5D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717890"/>
                </a:solidFill>
                <a:latin typeface="Segoe UI"/>
              </a:rPr>
              <a:t>Livico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66928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04672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04672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217920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217920" y="5870448"/>
            <a:ext cx="36576" cy="68762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455664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55664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Асортимент зібрано не дистрибʼютором, а дропшиперами. Брендом у країні ніхто не керує.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Куди став би цей бренд і проти кого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Позиція Sakai Takayuki на тій самій шкалі, що й решта каталогу. Зіставлення з брендами, які вже мають в Україні полицю і глибину лінійки.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99616"/>
            <a:ext cx="722376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40763"/>
            <a:ext cx="39730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ЦІЛЬОВА ЗОНА 7 000 – 20 000 ГРН: ХТО ЇЇ ВЖЕ ТРИМАЄ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19" y="1828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98548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/ Shun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139696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39" y="2139696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0985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368296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2409444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39" y="2409444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23682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38044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267919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39" y="2679191"/>
            <a:ext cx="180267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26380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907791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39" y="2948939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77439" y="2948939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19" y="290779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177539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(кузні)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3218687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39" y="3218687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19" y="317753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47287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39" y="3488435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39" y="3488435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19" y="3447287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17035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3758183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77439" y="3758183"/>
            <a:ext cx="801188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19" y="371703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986783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402793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77439" y="4027931"/>
            <a:ext cx="40059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19" y="398678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4315968"/>
            <a:ext cx="7077456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43159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" y="4471416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ЧИТАННЯ ЦІЄЇ ШКАЛИ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" y="4700016"/>
            <a:ext cx="6601968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105 позицій каталогу, тобто 41 % усього японського виробництва в країні,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лежать у зоні 7 000 – 20 000 грн. Зона не порожня — вона зайнята.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тримає в ній 2 позиції з 105, тобто менше 2 %.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0144" y="1499616"/>
            <a:ext cx="3621024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6448" y="1540763"/>
            <a:ext cx="19915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ДЕ ЗОНА СПРАВДІ ПОРОЖНЯ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10144" y="1828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10144" y="1828800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05740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10144" y="2505456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10144" y="2505456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257860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Ginsan / Silver #3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2734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0144" y="3182112"/>
            <a:ext cx="3621024" cy="804672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10144" y="3182112"/>
            <a:ext cx="41148" cy="8046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325526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Односторонні понад
10 000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356616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Немає. Стеля янагіби —
7 640 грн, і це
Sakai Takayuki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10144" y="4114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10144" y="4114800"/>
            <a:ext cx="41148" cy="5486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74736" y="4187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Wa-руків'я в
профканалі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74736" y="44988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0 із 523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" y="5376672"/>
            <a:ext cx="7077456" cy="117307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0080" y="5376672"/>
            <a:ext cx="36576" cy="117307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7824" y="5532120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7824" y="5760720"/>
            <a:ext cx="6601968" cy="642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не має в Україні ані дистриб'ютора, ані полиці, ані жодного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великому форматі й в опті HoReCa. Це означає вільну територію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водночас нульовий упізнаваний попит: 2 позиції за всю історію каналу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створили впізнаваності, на яку можна спертися в першій партії.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виробництва, зібраним у цій роботі. Це не обсяг продажів, а ширина присутності на полиці.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Рекомендація: вузький вхід, а не дистрибуція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 за умови, що розглядається лише японське виробництво. Розташовані за спаданням привабливості.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ВУЗЬКИЙ ВХІД У ПОРОЖНІ ЗОНИ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60–90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7 000 – 45 000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Тільки те, чого в країні немає: honyaki, Ginsan / Silver #3,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односторонні дорожчі за 10 000 грн, wa-руків'я у профканалі.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Sakai Takayuki закриває всі чотири зони однією лінійкою.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Мала партія, висока маржа, немає прямого конкурента на полиці.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малий: сотні ножів на рік, не тисячі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Окупність повільна: оборотність 2–4 рази на рік</a:t>
            </a:r>
          </a:p>
        </p:txBody>
      </p:sp>
      <p:pic>
        <p:nvPicPr>
          <p:cNvPr id="28" name="Picture 27" descr="p_dab1718fad393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ДИСТРИБУЦІЯ ПОВНОЇ ЛІНІЙКИ SAKAI TAKAYUKI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₴16–19 млн ніша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3 000 – 20 000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Ексклюзив по території з виробником, що експортує у 100+ країн.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Бренд у країні фактично відсутній: 2 позиції на складі.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Але цільова зона 7 000 – 20 000 грн тримає 105 позицій каталогу: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там уже стоять Yaxell, KAI, Tojiro і Kasumi з полицею і глибиною.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Вхід у найгустішу частину шкали без упізнаваності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Ексклюзив вимагає мінімальної партії й цінової дисципліни</a:t>
            </a:r>
          </a:p>
        </p:txBody>
      </p:sp>
      <p:pic>
        <p:nvPicPr>
          <p:cNvPr id="47" name="Picture 46" descr="p_f1288f001cdba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ШИРОКИЙ 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7 500 – 60 495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 на 13 %.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60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66928" y="537667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ТРИ БЛОКУЮЧІ РИЗИКИ, СПІЛЬНІ ДЛЯ ВСІХ СЦЕНАРІЇВ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980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Японський сегмент не росте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Імпорт 2024 нижчий за 2022 на 13 % при 60 присутніх брендах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7024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7024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5312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Професійна кухня Японію не купує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5312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2 японські бренди з 15, 523 проф. ножі в каталозі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973567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973567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56447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Структурний програш 10 пунктів мита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56447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10 % на Японію проти 0 % на ЄС, плюс 20 % ПДВ на обидва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6928" y="614476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3232" y="618591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6400800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Ринок японського виробництва — 16–19 млн грн, не росте, 60 брендів у 17 каналах. Sakai Takayuki у ньому майже відсутній: дві позиції на складі з 19 лістингів.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556248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Це одночасно вільна територія і попередження — нульова впізнаваність. Рекомендація: сценарій A; B — лише після перевірки умов виробника; C закрити.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