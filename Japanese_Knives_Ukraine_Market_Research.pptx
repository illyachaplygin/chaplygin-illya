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image" Target="../media/image14.png"/><Relationship Id="rId12" Type="http://schemas.openxmlformats.org/officeDocument/2006/relationships/image" Target="../media/image1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Relationship Id="rId11" Type="http://schemas.openxmlformats.org/officeDocument/2006/relationships/image" Target="../media/image29.png"/><Relationship Id="rId12" Type="http://schemas.openxmlformats.org/officeDocument/2006/relationships/image" Target="../media/image30.png"/><Relationship Id="rId13" Type="http://schemas.openxmlformats.org/officeDocument/2006/relationships/image" Target="../media/image31.png"/><Relationship Id="rId14" Type="http://schemas.openxmlformats.org/officeDocument/2006/relationships/image" Target="../media/image3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37.png"/><Relationship Id="rId8" Type="http://schemas.openxmlformats.org/officeDocument/2006/relationships/image" Target="../media/image38.png"/><Relationship Id="rId9" Type="http://schemas.openxmlformats.org/officeDocument/2006/relationships/image" Target="../media/image39.png"/><Relationship Id="rId10" Type="http://schemas.openxmlformats.org/officeDocument/2006/relationships/image" Target="../media/image40.png"/><Relationship Id="rId11" Type="http://schemas.openxmlformats.org/officeDocument/2006/relationships/image" Target="../media/image41.png"/><Relationship Id="rId12" Type="http://schemas.openxmlformats.org/officeDocument/2006/relationships/image" Target="../media/image42.png"/><Relationship Id="rId13" Type="http://schemas.openxmlformats.org/officeDocument/2006/relationships/image" Target="../media/image43.png"/><Relationship Id="rId14" Type="http://schemas.openxmlformats.org/officeDocument/2006/relationships/image" Target="../media/image4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Relationship Id="rId8" Type="http://schemas.openxmlformats.org/officeDocument/2006/relationships/image" Target="../media/image50.png"/><Relationship Id="rId9" Type="http://schemas.openxmlformats.org/officeDocument/2006/relationships/image" Target="../media/image51.png"/><Relationship Id="rId10" Type="http://schemas.openxmlformats.org/officeDocument/2006/relationships/image" Target="../media/image52.png"/><Relationship Id="rId11" Type="http://schemas.openxmlformats.org/officeDocument/2006/relationships/image" Target="../media/image53.png"/><Relationship Id="rId12" Type="http://schemas.openxmlformats.org/officeDocument/2006/relationships/image" Target="../media/image54.png"/><Relationship Id="rId13" Type="http://schemas.openxmlformats.org/officeDocument/2006/relationships/image" Target="../media/image55.png"/><Relationship Id="rId14" Type="http://schemas.openxmlformats.org/officeDocument/2006/relationships/image" Target="../media/image5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63.png"/><Relationship Id="rId10" Type="http://schemas.openxmlformats.org/officeDocument/2006/relationships/image" Target="../media/image64.png"/><Relationship Id="rId11" Type="http://schemas.openxmlformats.org/officeDocument/2006/relationships/image" Target="../media/image65.png"/><Relationship Id="rId12" Type="http://schemas.openxmlformats.org/officeDocument/2006/relationships/image" Target="../media/image66.png"/><Relationship Id="rId13" Type="http://schemas.openxmlformats.org/officeDocument/2006/relationships/image" Target="../media/image67.png"/><Relationship Id="rId14" Type="http://schemas.openxmlformats.org/officeDocument/2006/relationships/image" Target="../media/image6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Relationship Id="rId4" Type="http://schemas.openxmlformats.org/officeDocument/2006/relationships/image" Target="../media/image69.png"/><Relationship Id="rId5" Type="http://schemas.openxmlformats.org/officeDocument/2006/relationships/image" Target="../media/image35.png"/><Relationship Id="rId6" Type="http://schemas.openxmlformats.org/officeDocument/2006/relationships/image" Target="../media/image70.png"/><Relationship Id="rId7" Type="http://schemas.openxmlformats.org/officeDocument/2006/relationships/image" Target="../media/image71.png"/><Relationship Id="rId8" Type="http://schemas.openxmlformats.org/officeDocument/2006/relationships/image" Target="../media/image72.png"/><Relationship Id="rId9" Type="http://schemas.openxmlformats.org/officeDocument/2006/relationships/image" Target="../media/image73.png"/><Relationship Id="rId10" Type="http://schemas.openxmlformats.org/officeDocument/2006/relationships/image" Target="../media/image74.png"/><Relationship Id="rId11" Type="http://schemas.openxmlformats.org/officeDocument/2006/relationships/image" Target="../media/image75.png"/><Relationship Id="rId12" Type="http://schemas.openxmlformats.org/officeDocument/2006/relationships/image" Target="../media/image76.png"/><Relationship Id="rId13" Type="http://schemas.openxmlformats.org/officeDocument/2006/relationships/image" Target="../media/image77.png"/><Relationship Id="rId14" Type="http://schemas.openxmlformats.org/officeDocument/2006/relationships/image" Target="../media/image6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8.png"/><Relationship Id="rId4" Type="http://schemas.openxmlformats.org/officeDocument/2006/relationships/image" Target="../media/image79.png"/><Relationship Id="rId5" Type="http://schemas.openxmlformats.org/officeDocument/2006/relationships/image" Target="../media/image80.png"/><Relationship Id="rId6" Type="http://schemas.openxmlformats.org/officeDocument/2006/relationships/image" Target="../media/image4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Relationship Id="rId9" Type="http://schemas.openxmlformats.org/officeDocument/2006/relationships/image" Target="../media/image83.png"/><Relationship Id="rId10" Type="http://schemas.openxmlformats.org/officeDocument/2006/relationships/image" Target="../media/image84.png"/><Relationship Id="rId11" Type="http://schemas.openxmlformats.org/officeDocument/2006/relationships/image" Target="../media/image85.png"/><Relationship Id="rId12" Type="http://schemas.openxmlformats.org/officeDocument/2006/relationships/image" Target="../media/image86.png"/><Relationship Id="rId13" Type="http://schemas.openxmlformats.org/officeDocument/2006/relationships/image" Target="../media/image87.png"/><Relationship Id="rId14" Type="http://schemas.openxmlformats.org/officeDocument/2006/relationships/image" Target="../media/image8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38.png"/><Relationship Id="rId7" Type="http://schemas.openxmlformats.org/officeDocument/2006/relationships/image" Target="../media/image91.png"/><Relationship Id="rId8" Type="http://schemas.openxmlformats.org/officeDocument/2006/relationships/image" Target="../media/image92.png"/><Relationship Id="rId9" Type="http://schemas.openxmlformats.org/officeDocument/2006/relationships/image" Target="../media/image93.png"/><Relationship Id="rId10" Type="http://schemas.openxmlformats.org/officeDocument/2006/relationships/image" Target="../media/image94.png"/><Relationship Id="rId11" Type="http://schemas.openxmlformats.org/officeDocument/2006/relationships/image" Target="../media/image95.png"/><Relationship Id="rId12" Type="http://schemas.openxmlformats.org/officeDocument/2006/relationships/image" Target="../media/image96.png"/><Relationship Id="rId13" Type="http://schemas.openxmlformats.org/officeDocument/2006/relationships/image" Target="../media/image97.png"/><Relationship Id="rId14" Type="http://schemas.openxmlformats.org/officeDocument/2006/relationships/image" Target="../media/image9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9.png"/><Relationship Id="rId4" Type="http://schemas.openxmlformats.org/officeDocument/2006/relationships/image" Target="../media/image100.png"/><Relationship Id="rId5" Type="http://schemas.openxmlformats.org/officeDocument/2006/relationships/image" Target="../media/image101.png"/><Relationship Id="rId6" Type="http://schemas.openxmlformats.org/officeDocument/2006/relationships/image" Target="../media/image102.png"/><Relationship Id="rId7" Type="http://schemas.openxmlformats.org/officeDocument/2006/relationships/image" Target="../media/image103.png"/><Relationship Id="rId8" Type="http://schemas.openxmlformats.org/officeDocument/2006/relationships/image" Target="../media/image104.png"/><Relationship Id="rId9" Type="http://schemas.openxmlformats.org/officeDocument/2006/relationships/image" Target="../media/image105.png"/><Relationship Id="rId10" Type="http://schemas.openxmlformats.org/officeDocument/2006/relationships/image" Target="../media/image106.png"/><Relationship Id="rId11" Type="http://schemas.openxmlformats.org/officeDocument/2006/relationships/image" Target="../media/image107.png"/><Relationship Id="rId12" Type="http://schemas.openxmlformats.org/officeDocument/2006/relationships/image" Target="../media/image108.png"/><Relationship Id="rId13" Type="http://schemas.openxmlformats.org/officeDocument/2006/relationships/image" Target="../media/image109.png"/><Relationship Id="rId14" Type="http://schemas.openxmlformats.org/officeDocument/2006/relationships/image" Target="../media/image110.png"/><Relationship Id="rId15" Type="http://schemas.openxmlformats.org/officeDocument/2006/relationships/image" Target="../media/image1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2.png"/><Relationship Id="rId4" Type="http://schemas.openxmlformats.org/officeDocument/2006/relationships/image" Target="../media/image1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4.png"/><Relationship Id="rId4" Type="http://schemas.openxmlformats.org/officeDocument/2006/relationships/image" Target="../media/image115.png"/><Relationship Id="rId5" Type="http://schemas.openxmlformats.org/officeDocument/2006/relationships/image" Target="../media/image1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262E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223760" y="0"/>
            <a:ext cx="32004" cy="6858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475488"/>
            <a:ext cx="1773936" cy="766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" y="1847088"/>
            <a:ext cx="493776" cy="822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" y="213969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C95C"/>
                </a:solidFill>
                <a:latin typeface="Segoe UI"/>
              </a:rPr>
              <a:t>ДОСЛІДЖЕННЯ РИНКУ ТА ОЦІНКА ДОЦІЛЬНОСТІ ВХОДУ · ВЕРЕСЕНЬ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542032"/>
            <a:ext cx="69494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Японські ножі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для професійної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Segoe UI"/>
              </a:rPr>
              <a:t>та домашньої кухні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" y="4773168"/>
            <a:ext cx="5394960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3504" y="5010912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Україна · роздріб, маркетплейси, HoReCa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Попередня робота до пошуку постачальника: хто вже на ринку,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950" b="0">
                <a:solidFill>
                  <a:srgbClr val="9FA9C4"/>
                </a:solidFill>
                <a:latin typeface="Segoe UI"/>
              </a:rPr>
              <a:t>скільки він коштує в грошах і штуках, і чи є туди сенс іти</a:t>
            </a:r>
          </a:p>
        </p:txBody>
      </p:sp>
      <p:pic>
        <p:nvPicPr>
          <p:cNvPr id="11" name="Picture 10" descr="p_591b78bcdd90d95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2944" y="566928"/>
            <a:ext cx="4069080" cy="2304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552944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_95ce8b7c022e05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6952" y="3044952"/>
            <a:ext cx="1152144" cy="9326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915400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_0a79080f794a1d6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3044952"/>
            <a:ext cx="1152144" cy="9326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10277856" y="2980944"/>
            <a:ext cx="1280160" cy="106070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_51d1ad7b2afeb1f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41864" y="3044952"/>
            <a:ext cx="1152144" cy="9326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7552944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₴691–924 млн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99248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роздріб кухонних ножів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4224528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65792" y="4352544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₴16–19 млн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65792" y="4645152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2944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9248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103 тис. $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99248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імпорт із Японії, 2024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5065776"/>
            <a:ext cx="2002536" cy="731520"/>
          </a:xfrm>
          <a:prstGeom prst="roundRect">
            <a:avLst>
              <a:gd name="adj" fmla="val 10000"/>
            </a:avLst>
          </a:prstGeom>
          <a:solidFill>
            <a:srgbClr val="3C47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65792" y="5193792"/>
            <a:ext cx="1719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FC95C"/>
                </a:solidFill>
                <a:latin typeface="Segoe UI"/>
              </a:rPr>
              <a:t>1,3 %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65792" y="5486400"/>
            <a:ext cx="17190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60" b="0">
                <a:solidFill>
                  <a:srgbClr val="9FA9C4"/>
                </a:solidFill>
                <a:latin typeface="Segoe UI"/>
              </a:rPr>
              <a:t>частка Японії в митній базі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52944" y="6144768"/>
            <a:ext cx="4453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ЗМІСТ РОБОТИ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52944" y="6345936"/>
            <a:ext cx="44531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34 слайди · 17 продавців · 55 японських брендів · 259 ножів у каталозі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700" b="0">
                <a:solidFill>
                  <a:srgbClr val="9FA9C4"/>
                </a:solidFill>
                <a:latin typeface="Segoe UI"/>
              </a:rPr>
              <a:t>4 роки митної статистики · модель попиту HoReCa · 3 сценарії входу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Усі ціни в колоді — роздрібні, за один ніж, станом на вересень 2026. Курс НБУ 44,86 грн/$ (30.09.2026).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МИТНА БАЗА КАТЕГОРІЇ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4820A"/>
                </a:solidFill>
                <a:latin typeface="Segoe UI"/>
              </a:rPr>
              <a:t>9,02 млн $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Кухонні + столові ножі та
набори, CIF. Останній повний рік.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РОЗДРІБ, ОЦІНКА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1E9EA6"/>
                </a:solidFill>
                <a:latin typeface="Segoe UI"/>
              </a:rPr>
              <a:t>691–924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Розрахунок
через імпорт × 2,34–3,12.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ІМПОРТ ІЗ ЯПОНІЇ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5D4B96"/>
                </a:solidFill>
                <a:latin typeface="Segoe UI"/>
              </a:rPr>
              <a:t>103 тис. $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CIF 2024, код 8211 92.
Нижче за рівень 2022 року.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ЯПОНСЬКЕ ВИРОБНИЦТВО В РОЗДРІБІ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94F7C"/>
                </a:solidFill>
                <a:latin typeface="Segoe UI"/>
              </a:rPr>
              <a:t>16–19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млн грн на рік. Це 2 % ринку
в грошах і 0,15 % у штуках.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БРЕНДІВ ЗРОБЛЕНО В ЯПОНІЇ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C03B4B"/>
                </a:solidFill>
                <a:latin typeface="Segoe UI"/>
              </a:rPr>
              <a:t>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у каталогах 17 продавців.
Сумарно 708 позицій.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448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ЯПОНЦІ В ПРОФ. ОПТІ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84448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7A169"/>
                </a:solidFill>
                <a:latin typeface="Segoe UI"/>
              </a:rPr>
              <a:t>2 з 15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84448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брендів у каталозі опту HoReCa.
523 ножі, японських — одиниці.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9632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МИТО НА ЯПОНІЮ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9A50B"/>
                </a:solidFill>
                <a:latin typeface="Segoe UI"/>
              </a:rPr>
              <a:t>10 %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+20 % ПДВ. З ЄС — 0 % мита.
Структурний програш 10 пунктів.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15984" y="2798064"/>
            <a:ext cx="2615184" cy="115214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17152" y="2953512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ЦІНОВИЙ РОЗМАХ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7152" y="31638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303A5D"/>
                </a:solidFill>
                <a:latin typeface="Segoe UI"/>
              </a:rPr>
              <a:t>726–60 495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7152" y="3639312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 за один японський ніж.
Розрив у 83 рази.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66928" y="4169663"/>
            <a:ext cx="36576" cy="157276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РІШЕННЯ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Ринок кухонних ножів в Україні великий — але «японського» в ньому майже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Японське виробництво — це нішa на 16–19 млн грн, яка за три роки не виросла.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Японія — 1,3 % митної бази категорії. Вивіска «японський ніж» до Японії не веде.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Професійна кухня японські ножі не купує — і структурних причин для зміни немає.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Жоден японський бренд не має в країні ані дистриб'ютора, ані глибини лінійки.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17920" y="4169663"/>
            <a:ext cx="5413248" cy="15727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4169663"/>
            <a:ext cx="36576" cy="15727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432511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9FA9C4"/>
                </a:solidFill>
                <a:latin typeface="Segoe UI"/>
              </a:rPr>
              <a:t>ЧОГО В ЦІЙ КОЛОДІ НЕМАЄ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553712"/>
            <a:ext cx="4937760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1. Немає даних продажів: в Україні для цієї категорії немає панелі Nielsen/GfK.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2. Немає митної статистики за 2025 рік — вона ще не опублікована в Comtrade.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3. Немає оптових цін: їх не отримати без акаунта постачальника.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4. Немає точної частки кухонних ножів у коді 8211 92 — це припущення 55–70 %.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5. Немає прямої оцінки сірого імпорту до 150 € — він для митниці невидимий.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925312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5966460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ГОЛОВНЕ ПРО КАНДИДАТА У ПОСТАЧАЛЬНИКИ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6928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6199632"/>
            <a:ext cx="36576" cy="47548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99616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Sakai Takayuki знайдено в усій країні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383280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383280" y="6199632"/>
            <a:ext cx="36576" cy="47548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66160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15968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із них реально на складі — обидві янагіба 24 см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99632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199632" y="6199632"/>
            <a:ext cx="36576" cy="47548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82512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C03B4B"/>
                </a:solidFill>
                <a:latin typeface="Segoe UI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132320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дистриб'юторів, монобрендів і позицій в опті HoReCa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015984" y="6199632"/>
            <a:ext cx="2724912" cy="475488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015984" y="6199632"/>
            <a:ext cx="36576" cy="47548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98863" y="6254496"/>
            <a:ext cx="731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5D4B96"/>
                </a:solidFill>
                <a:latin typeface="Segoe UI"/>
              </a:rPr>
              <a:t>105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48672" y="6291072"/>
            <a:ext cx="168249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позицій каталогу вже стоять у його ціновій зоні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1 · ГЕОМЕТРІЯ ЛЕЗА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Вісім типів леза, з яких ринок купує три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Профілі накреслені в один масштаб за реальними довжинами клинка. Рукав'я умовне: чорне клепане — західне (yo), дерев'яне — японське (wa).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36192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ПРОФІЛІ КЛИНКА В ЄДИНОМУ МАСШТАБІ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46504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1965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98424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4884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Робочий ніж кухні</a:t>
            </a:r>
          </a:p>
        </p:txBody>
      </p:sp>
      <p:pic>
        <p:nvPicPr>
          <p:cNvPr id="15" name="Picture 14" descr="gy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1778507"/>
            <a:ext cx="2740152" cy="5852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2468879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63347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27980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Універсал, драйвер обсягу</a:t>
            </a:r>
          </a:p>
        </p:txBody>
      </p:sp>
      <p:pic>
        <p:nvPicPr>
          <p:cNvPr id="19" name="Picture 18" descr="santok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435352"/>
            <a:ext cx="2423160" cy="569976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493776" y="3044952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3118103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28269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165–180 мм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344728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Овочі, шаткування</a:t>
            </a:r>
          </a:p>
        </p:txBody>
      </p:sp>
      <p:pic>
        <p:nvPicPr>
          <p:cNvPr id="24" name="Picture 23" descr="nakir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069336"/>
            <a:ext cx="2383536" cy="60045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376732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Кіріцуке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93192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180–240 мм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409651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Гібрид, статусний</a:t>
            </a:r>
          </a:p>
        </p:txBody>
      </p:sp>
      <p:pic>
        <p:nvPicPr>
          <p:cNvPr id="28" name="Picture 27" descr="kiritsu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733800"/>
            <a:ext cx="2740152" cy="569976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93776" y="4343400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44165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58114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210–300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7457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Сашимі, одностороннє</a:t>
            </a:r>
          </a:p>
        </p:txBody>
      </p:sp>
      <p:pic>
        <p:nvPicPr>
          <p:cNvPr id="33" name="Picture 32" descr="yanagib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439412"/>
            <a:ext cx="3215640" cy="4572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" y="50657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2303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150–180 мм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5394960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Розбирання риби</a:t>
            </a:r>
          </a:p>
        </p:txBody>
      </p:sp>
      <p:pic>
        <p:nvPicPr>
          <p:cNvPr id="37" name="Picture 36" descr="deb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27632" y="5024628"/>
            <a:ext cx="2383536" cy="585216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93776" y="5641848"/>
            <a:ext cx="5779008" cy="612647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928" y="571500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Петті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5879592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0">
                <a:solidFill>
                  <a:srgbClr val="717890"/>
                </a:solidFill>
                <a:latin typeface="Segoe UI"/>
              </a:rPr>
              <a:t>90–150 мм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04418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0">
                <a:solidFill>
                  <a:srgbClr val="303A5D"/>
                </a:solidFill>
                <a:latin typeface="Segoe UI"/>
              </a:rPr>
              <a:t>Дрібна робота</a:t>
            </a:r>
          </a:p>
        </p:txBody>
      </p:sp>
      <p:pic>
        <p:nvPicPr>
          <p:cNvPr id="42" name="Picture 41" descr="pett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5760720"/>
            <a:ext cx="2026920" cy="41148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19088" y="1536192"/>
            <a:ext cx="12070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26096" y="1536192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96528" y="15361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9840" y="1536192"/>
            <a:ext cx="1481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 У КАТЕГОРІЇ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45936" y="1714500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19088" y="1755648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9A50B"/>
                </a:solidFill>
                <a:latin typeface="Segoe UI"/>
              </a:rPr>
              <a:t>Сантоку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26096" y="1755648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12 000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96528" y="1755648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49840" y="1755648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обсягу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19088" y="20299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Гюто / шеф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26096" y="20299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500 – 27 970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796528" y="20299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149840" y="20299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Драйвер ціни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45936" y="226313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9088" y="23042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Петті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26096" y="23042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175 – 5 000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96528" y="23042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49840" y="23042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Часта купівля, малий чек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57860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26096" y="257860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1 249 – 13 290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96528" y="257860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Спеціаліст, Епіцентр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257860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Зростає вдома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345936" y="281177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19088" y="285292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26096" y="285292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1 107 – 13 971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96528" y="285292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285292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312724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Деба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26096" y="312724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1 470 – 9 000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96528" y="312724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Суші-спеціалізація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49840" y="312724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Вузький HoReCa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45936" y="3360419"/>
            <a:ext cx="5285232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19088" y="340156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9FA9C4"/>
                </a:solidFill>
                <a:latin typeface="Segoe UI"/>
              </a:rPr>
              <a:t>Кіріцуке, бунка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26096" y="340156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3 000 – 20 000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96528" y="340156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Тільки спеціаліст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149840" y="340156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Довгий хвіст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19088" y="3675887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Набори 2–5 шт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3675887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2 500 – 27 970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96528" y="3675887"/>
            <a:ext cx="12984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Усюди, пік у грудні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149840" y="3675887"/>
            <a:ext cx="1426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19088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p_4d367364e4ca0e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92240" y="4114800"/>
            <a:ext cx="1499616" cy="932688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6565392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Накірі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565392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Росте вдома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174736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d55507e899775b1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7888" y="4114800"/>
            <a:ext cx="1499616" cy="932688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8321040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Янагіба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21040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500–900 шт/рік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9930384" y="4041648"/>
            <a:ext cx="1645920" cy="1408176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p_a5500e2d77c6055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03536" y="4114800"/>
            <a:ext cx="1499616" cy="93268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0076688" y="5120640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Набір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076688" y="5285232"/>
            <a:ext cx="13533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26 % митної бази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419088" y="5541264"/>
            <a:ext cx="5212080" cy="991971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419088" y="5541264"/>
            <a:ext cx="36576" cy="991971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656831" y="5696712"/>
            <a:ext cx="47365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КУПУЮТЬ НАСПРАВДІ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656831" y="5925312"/>
            <a:ext cx="4736592" cy="4616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Сантоку в Україні перестав бути японським ножем і став формою леза: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74 позиції каталогу — сантоку, петті й накірі. Покупець купує геометрію,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походження він не перевіряє.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Профілі — схематичні креслення за типовими пропорціями, а не зображення конкретних моделей. Фото — картки товарів українських магазинів, вересень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2 · СТАЛЬ І КОНСТРУКЦІЯ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Справжні цінові сходи — не бренд, а сталь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Ціна японського ножа на 70 % визначається маркою сталі й кількістю шарів. Це єдина вісь, яку можна перевірити лабораторно.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КОНСТРУКЦІЯ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27248" y="1572768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47488" y="1572768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ТВЕРДІСТЬ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16168" y="1572768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РОЗДРІБ,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15727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" y="1751076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179222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Мо-ванадієва моносталь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8" y="179222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AUS-6A, AUS-8, 8Cr13MoV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7488" y="1792224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56–58 HRC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1792224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700 – 2 500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3488" y="1792224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 Saku, Kasumi Tora, Seki Kanetsugu базові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881360" y="1833372"/>
            <a:ext cx="164957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06654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моно або 3 шари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7248" y="206654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clad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7488" y="206654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16168" y="206654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6 000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206654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DP, Satake Sakura, KAI Wasabi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881360" y="2107691"/>
            <a:ext cx="28492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93776" y="229971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234086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VG-10 + дамаск 32–69 шарів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27248" y="234086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VG-10 core, damascus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47488" y="234086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60–61 HRC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16168" y="234086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12 000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3488" y="234086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Damascus, Yaxell Zen/Ran, KAI Shun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881360" y="2382011"/>
            <a:ext cx="434888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518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 SG-2 / R2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27248" y="261518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101–193 шари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47488" y="261518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62–64 HRC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261518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12 000 – 40 140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33488" y="261518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Yaxell Gou / Super Gou / Ypsilon, Miyabi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81360" y="2656331"/>
            <a:ext cx="749808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93776" y="2848355"/>
            <a:ext cx="103875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288950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Вуглецева Сіроґамі / Аоґамі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27248" y="288950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47488" y="288950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62–65 HRC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16168" y="288950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15 000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33488" y="288950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Takayuki, Kaneyoshi, Yoshihiro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881360" y="2930651"/>
            <a:ext cx="337413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66928" y="3163823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Швидкорізальна / спец.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27248" y="3163823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FAX-18 HSS, Chromax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47488" y="3163823"/>
            <a:ext cx="81381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61–64 HRC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16168" y="3163823"/>
            <a:ext cx="1362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20 000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3488" y="3163823"/>
            <a:ext cx="3054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Tojiro FAX-18, Takamura Chromax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881360" y="3204971"/>
            <a:ext cx="389900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81360" y="1572768"/>
            <a:ext cx="7498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ВІДН. ЦІНА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66928" y="3584448"/>
            <a:ext cx="2340864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p_6724b2936515eb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194560" cy="1024127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713232" y="4754880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Дамаск, 32–69 шарів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3232" y="4919472"/>
            <a:ext cx="2048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VG-10 у серцевині, 60–61 HRC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072384" y="358444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РУКІВ'Я — ЩО ВОНО ГОВОРИТЬ ПРО КАНАЛ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072384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175504" y="3822191"/>
            <a:ext cx="2240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МАТЕРІАЛ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5783" y="3822191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ЗУСТРІЧАЄТЬСЯ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99232" y="3982212"/>
            <a:ext cx="6272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384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Wa — японське восьмигранне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75504" y="402336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магнолія, пакка, стабілізоване дерево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15783" y="402336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Тільки спеціалізовані магазини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072384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Yo — західне клепане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75504" y="4297680"/>
            <a:ext cx="21854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мікарта, POM, ламінат, сталь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15783" y="429768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Усе, що доходить до полиці та HoReCa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473184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p_925db2918203bf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6336" y="3657600"/>
            <a:ext cx="896111" cy="1371600"/>
          </a:xfrm>
          <a:prstGeom prst="rect">
            <a:avLst/>
          </a:prstGeom>
        </p:spPr>
      </p:pic>
      <p:sp>
        <p:nvSpPr>
          <p:cNvPr id="72" name="Rounded Rectangle 71"/>
          <p:cNvSpPr/>
          <p:nvPr/>
        </p:nvSpPr>
        <p:spPr>
          <a:xfrm>
            <a:off x="10588752" y="3584448"/>
            <a:ext cx="1042415" cy="1517904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p_6627fa7684885df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3657600"/>
            <a:ext cx="896111" cy="13716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473184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wa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88752" y="5157216"/>
            <a:ext cx="1042415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yo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358384"/>
            <a:ext cx="36576" cy="104302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ЦЯ ВІСЬ ВАЖЛИВІША ЗА 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можна перевірити: твердомір, XRF-аналізатор, різ по канату. Бренд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 можна. У категорії, де 3 000+ пропозицій на Prom підписані «японська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сталь AUS-8», сталь — єдина основа для порівняння.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358384"/>
            <a:ext cx="5413248" cy="104302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358384"/>
            <a:ext cx="36576" cy="104302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51383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РИЗИК ТВЕРДОСТІ ПОНАД 60 HRC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742432"/>
            <a:ext cx="4937760" cy="51267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Чим вища твердість, тим довше тримає кромку — і тим легше вона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викришується на кістці й замороженому продукті. Ножі 62–64 HRC вимагають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водних каменів і навички, а сервісу заточення в Україні немає.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ЩО БУВАЄ · 3 · РЕГІОН ВИРОБНИЦТВА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Шість японських центрів, і лише один із них тримає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Для японського ножа регіон — це не географія, а технологія, ціна й тип покупця. Шість центрів, кожен зі своїм почерком.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Секі, Гіфу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Промисловий центр. Серійне виробництво, західні руків'я, стабільна якість.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809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4820A"/>
                </a:solidFill>
                <a:latin typeface="Segoe UI"/>
              </a:rPr>
              <a:t>726 – 70 102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10 брендів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 / Shun · Yaxell · Suncraft · Satake · Miyabi · Kasumi · Seki Kanetsugu · Kanetsune · Global · Masahiro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4820A"/>
                </a:solidFill>
                <a:latin typeface="Segoe UI"/>
              </a:rPr>
              <a:t>Сюди йде 90 % грошей категорії в Україні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70248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7141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Сакаї, Осака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7141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600+ років. Розподіл праці: коваль, точильник, монтажник. Односторонні ножі.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7141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7141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5D4B96"/>
                </a:solidFill>
                <a:latin typeface="Segoe UI"/>
              </a:rPr>
              <a:t>1 999 – 15 580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1967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брендів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141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Sakai Takayuki · Yamawaki · Suisin · Myojin · Yoshihiro · Sakai Haruhiko · Sakai Ichiji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141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5D4B96"/>
                </a:solidFill>
                <a:latin typeface="Segoe UI"/>
              </a:rPr>
              <a:t>Професійна суші-кухня. В Україні — одиничні позиції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73567" y="1554480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74736" y="1719072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Ечідзен, Фукуї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1956816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років. Takefu Knife Village. Піонери порошкових сталей.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74736" y="243230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74736" y="25420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94F7C"/>
                </a:solidFill>
                <a:latin typeface="Segoe UI"/>
              </a:rPr>
              <a:t>5 320 – 16 677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22992" y="2596896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брендів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74736" y="2852928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 · Anryu · Etsu / Ittetsu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74736" y="334670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94F7C"/>
                </a:solidFill>
                <a:latin typeface="Segoe UI"/>
              </a:rPr>
              <a:t>Найвища ціна за грам. Купує тільки ентузіаст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66928" y="3767328"/>
            <a:ext cx="3584448" cy="457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Тоса, Коті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400+ років. Вільна ковка: один коваль веде ніж від заготовки до кромки.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6809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809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2 610 – 10 035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1635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4 брендів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 / Tosauchi · HONMAMON · Fukamizu · Hokiyama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1E9EA6"/>
                </a:solidFill>
                <a:latin typeface="Segoe UI"/>
              </a:rPr>
              <a:t>Куроучі-естетика. Найглибша артизанальна лінія в Україні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70248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70248" y="3767328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7141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Цубаме-Сандзьо, Ніїґата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7141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700 років, Ніїґата. Ковальські майстерні та інструмент.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7141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7141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37A169"/>
                </a:solidFill>
                <a:latin typeface="Segoe UI"/>
              </a:rPr>
              <a:t>9 900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967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 брендів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7141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Tsukasa (Hinoura) · Shimomura Kihan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141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37A169"/>
                </a:solidFill>
                <a:latin typeface="Segoe UI"/>
              </a:rPr>
              <a:t>Дві позиції на всю країну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73567" y="3767328"/>
            <a:ext cx="3584448" cy="206654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973567" y="3767328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93192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19" b="1">
                <a:solidFill>
                  <a:srgbClr val="1C2235"/>
                </a:solidFill>
                <a:latin typeface="Segoe UI"/>
              </a:rPr>
              <a:t>Хіросакі, Аоморі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4169664"/>
            <a:ext cx="3182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Nigara Hamono: 350 років, ковалі клану Цуґару, 8 поколінь.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74736" y="4645152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7548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C03B4B"/>
                </a:solidFill>
                <a:latin typeface="Segoe UI"/>
              </a:rPr>
              <a:t>14 800 – 16 740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4809744"/>
            <a:ext cx="1133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брендів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5065776"/>
            <a:ext cx="3182112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Nigara Hamono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74736" y="5559552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700" b="1">
                <a:solidFill>
                  <a:srgbClr val="C03B4B"/>
                </a:solidFill>
                <a:latin typeface="Segoe UI"/>
              </a:rPr>
              <a:t>Два ножі на всю країну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66928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6928" y="6035040"/>
            <a:ext cx="36576" cy="69103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2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 ВАЖЛИВО ДЛЯ ЗАКУПІВЛІ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4672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Секі продасть вам контейнер. Сакаї, Тоса й Аоморі — ні: там кують поштучно.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17920" y="6035040"/>
            <a:ext cx="5413248" cy="69103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217920" y="6035040"/>
            <a:ext cx="36576" cy="69103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55664" y="619048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НАСЛІДОК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55664" y="6419088"/>
            <a:ext cx="4937760" cy="160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Масштабований постачальник в Україні може бути тільки з Секі. Решта — вітрина.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ЦІЄЇ РОБОТИ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Що ми рахуємо і що свідомо не рахуємо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Під вивіскою «японський ніж» в Україні продають три різні товари. Ця колода рахує тільки перший — зроблений у Японії.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6638544" cy="365760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17904"/>
            <a:ext cx="6638544" cy="5486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19072"/>
            <a:ext cx="310896" cy="256032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55648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1C2235"/>
                </a:solidFill>
                <a:latin typeface="Segoe UI"/>
              </a:rPr>
              <a:t>ЗРОБЛЕНО В ЯПОНІЇ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1737360"/>
            <a:ext cx="1536192" cy="21945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1787651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ПРЕДМЕТ КОЛОДИ</a:t>
            </a:r>
          </a:p>
        </p:txBody>
      </p:sp>
      <p:pic>
        <p:nvPicPr>
          <p:cNvPr id="17" name="Picture 16" descr="p_4940c2a920fdd4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2103120"/>
            <a:ext cx="3108960" cy="1005840"/>
          </a:xfrm>
          <a:prstGeom prst="rect">
            <a:avLst/>
          </a:prstGeom>
        </p:spPr>
      </p:pic>
      <p:pic>
        <p:nvPicPr>
          <p:cNvPr id="18" name="Picture 17" descr="p_e0b7ca9760c1a7a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208" y="2103120"/>
            <a:ext cx="3054096" cy="1005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8096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1E9EA6"/>
                </a:solidFill>
                <a:latin typeface="Segoe UI"/>
              </a:rPr>
              <a:t>₴16–19 млн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95728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ШТУК НА РІК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5728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5D4B96"/>
                </a:solidFill>
                <a:latin typeface="Segoe UI"/>
              </a:rPr>
              <a:t>≈ 3 700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23360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ЧАСТКА РИНКУ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23360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4820A"/>
                </a:solidFill>
                <a:latin typeface="Segoe UI"/>
              </a:rPr>
              <a:t>2 % у грошах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50992" y="3255264"/>
            <a:ext cx="1554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717890"/>
                </a:solidFill>
                <a:latin typeface="Segoe UI"/>
              </a:rPr>
              <a:t>БРЕНДІВ У КРАЇНІ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50992" y="3401568"/>
            <a:ext cx="15544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>
                <a:solidFill>
                  <a:srgbClr val="C94F7C"/>
                </a:solidFill>
                <a:latin typeface="Segoe UI"/>
              </a:rPr>
              <a:t>55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" y="3785615"/>
            <a:ext cx="6236208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3895344"/>
            <a:ext cx="6236208" cy="11521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Критерій: країна виробництва — Японія, підтверджена митним кодом або карткою товару продавця.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KAI / Shun, Yaxell, Suncraft, Tojiro, Satake, Kasumi, Miyabi, Seki Kanetsugu, Tosa, Takamura,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Sakai Takayuki, Misono, Masahiro, HONMAMON і ще 41 марка — усі в переписі далі.</a:t>
            </a:r>
          </a:p>
          <a:p>
            <a:pPr algn="l">
              <a:lnSpc>
                <a:spcPct val="134000"/>
              </a:lnSpc>
              <a:spcAft>
                <a:spcPts val="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Джерело розміру: митна статистика коду 8211 92, напрям Японія, 2024 рік.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43216" y="1517904"/>
            <a:ext cx="4187952" cy="1773936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43216" y="1517904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26096" y="1682495"/>
            <a:ext cx="274320" cy="219456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6096" y="1732787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91856" y="170078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ЯПОНСЬКИЙ БРЕНД, АЗІЙСЬКИЙ ЗАВОД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6096" y="2048255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9FA9C4"/>
                </a:solidFill>
                <a:latin typeface="Segoe UI"/>
              </a:rPr>
              <a:t>₴150–230 млн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2084831"/>
            <a:ext cx="1389888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0" y="2125980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26096" y="2359152"/>
            <a:ext cx="38221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Назва й номенклатура японські, виробництво — ні.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Інший товар, інша маржа, інший постачальник.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 каталогу, графіків і переписів цієї колоди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видалено повністю.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43216" y="3456432"/>
            <a:ext cx="4187952" cy="1773936"/>
          </a:xfrm>
          <a:prstGeom prst="roundRect">
            <a:avLst>
              <a:gd name="adj" fmla="val 10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43216" y="3456432"/>
            <a:ext cx="4187952" cy="45720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7626096" y="3621024"/>
            <a:ext cx="274320" cy="219456"/>
          </a:xfrm>
          <a:prstGeom prst="roundRect">
            <a:avLst>
              <a:gd name="adj" fmla="val 35000"/>
            </a:avLst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26096" y="3671316"/>
            <a:ext cx="274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36393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1">
                <a:solidFill>
                  <a:srgbClr val="717890"/>
                </a:solidFill>
                <a:latin typeface="Segoe UI"/>
              </a:rPr>
              <a:t>ЯПОНСЬКА ФОРМА БУДЬ-ЯКОГО ПОХОДЖЕННЯ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6096" y="3986784"/>
            <a:ext cx="2194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9FA9C4"/>
                </a:solidFill>
                <a:latin typeface="Segoe UI"/>
              </a:rPr>
              <a:t>₴140–260 млн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58400" y="4023360"/>
            <a:ext cx="1389888" cy="201168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0" y="4064508"/>
            <a:ext cx="13898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" b="1">
                <a:solidFill>
                  <a:srgbClr val="FFFFFF"/>
                </a:solidFill>
                <a:latin typeface="Segoe UI"/>
              </a:rPr>
              <a:t>ПОЗА ОБСЯГОМ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6096" y="4297680"/>
            <a:ext cx="3822191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й накірі європейських і турецьких марок.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Конкурує за ту саму полицю, але це не наша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категорія: тут немає японського постачальника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в принципі.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6928" y="530352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03520"/>
            <a:ext cx="36576" cy="8585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4672" y="545896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ЧОМУ ЦЕЙ СЛАЙД ЗАЛИШЕНО В КОЛОДІ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" y="568756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Без нього цифру ₴16–19 млн легко переплутати з розміром усієї категорії кухонних ножів — а це ₴691–924 млн, у 40 разів більше.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B і C названо один раз саме для того, щоб далі жодна цифра колоди їх не містила: каталог, цінові графіки, перепис брендів і сегменти рахують тільки A.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Оцінки B і C — власний розрахунок за SKU-аудитом; вони наведені лише як межа, від якої відмежовано предмет роботи, і далі ніде не використовуються. Оцінка A спирається на митну статистику.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ОБСЯГ РИНКУ · МИТНА БАЗА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9,02 млн $ імпорту — і 1,3 % із них із Японії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Останній повний рік у Comtrade — 2024. Дані за 2025 рік ще не опубліковані, тому вся митна частина колоди — це 2024.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МИТНІ КОДИ КАТЕГОРІЇ, ІМПОРТ 2024, ТИС. $ CIF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КОД УКТЗЕД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НАЗВА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7" y="1810512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ІМПОРТ, ТИС.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6167" y="181051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7687" y="1810512"/>
            <a:ext cx="2057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ГОЛОВНЕ ДЖЕРЕЛО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1810512"/>
            <a:ext cx="2926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198882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2996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8211 10 00 00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299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Набори ножів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81727" y="202996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2 339,2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16167" y="202996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7687" y="202996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2 021,3 (86 %)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05088" y="202996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Подарунковий сегмент. Майже повністю Китай.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30428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8211 91 00 00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50008" y="230428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столові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81727" y="230428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1 093,4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16167" y="230428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47687" y="230428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969,6 (89 %)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05088" y="230428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Столові набори, HoReCa-сервіровка.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2537460"/>
            <a:ext cx="112105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2578608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8211 92 00 00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50008" y="257860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 з фіксованим лезом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1727" y="257860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5 587,3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16167" y="2578608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62 %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7687" y="2578608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Китай 3 555,9 (64 %)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2578608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Тут і кухонні, і мисливські, і польові.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2871215"/>
            <a:ext cx="1106424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980944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РАЗОМ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50008" y="298094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Митна база категорії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81727" y="298094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9 019,8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916167" y="2980944"/>
            <a:ext cx="676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47687" y="2980944"/>
            <a:ext cx="20025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Китай 6 546,7 (73 %)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05088" y="2980944"/>
            <a:ext cx="2871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Японія — 117,5 тис. $, або 1,3 %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ІМПОРТ ІЗ ЯПОНІЇ, КОД 8211 92, ТИС. $ CIF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3493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207007" y="3534156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207007" y="3534156"/>
            <a:ext cx="2766833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15967" y="3493008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119,2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80390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2023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07007" y="3845052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207007" y="3845052"/>
            <a:ext cx="184068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15967" y="3803904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79,3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114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207007" y="4155948"/>
            <a:ext cx="301752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07007" y="4155948"/>
            <a:ext cx="2397767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7" y="4114800"/>
            <a:ext cx="7315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103,3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4517136"/>
            <a:ext cx="5413248" cy="170078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4517136"/>
            <a:ext cx="36576" cy="170078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467258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ГОВОРИТЬ ЦЯ ДИНАМІКА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4901184"/>
            <a:ext cx="4937760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імпорт у 2024 році на 13 % нижчий за 2022 рік у номінальних доларах.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урахуванням доларової інфляції падіння реальне і суттєвіше.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Стрибок 2023→2024 (+30 %) — це відновлення після провалу, а не тренд зростання.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Висновок: у цій ніші немає імпортної хвилі, на яку можна сісти.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321868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ТОП-10 КРАЇН-ПОСТАЧАЛЬНИКІВ, 8211 92, 2024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17920" y="347472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23760" y="3515868"/>
            <a:ext cx="3070875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424160" y="347472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3 556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373075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223760" y="3771900"/>
            <a:ext cx="37376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424160" y="373075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433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98678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Іспанія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23760" y="4027932"/>
            <a:ext cx="290515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424160" y="398678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336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424281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Бразилія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223760" y="4283964"/>
            <a:ext cx="229976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424160" y="424281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266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449884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223760" y="4539996"/>
            <a:ext cx="17220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424160" y="44988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7920" y="4754880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Швеція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223760" y="4796028"/>
            <a:ext cx="12384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24160" y="47548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17920" y="5010912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Японія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223760" y="5052060"/>
            <a:ext cx="89209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424160" y="50109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103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17920" y="5266944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223760" y="5308092"/>
            <a:ext cx="74183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424160" y="52669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217920" y="5522976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Франція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223760" y="5564124"/>
            <a:ext cx="60711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424160" y="552297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70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17920" y="5779008"/>
            <a:ext cx="1005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Швейцарія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223760" y="5820156"/>
            <a:ext cx="54320" cy="82296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424160" y="577900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63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World Bank WITS / UN Comtrade, імпорт України, 2022–2024, коди 8211 10, 8211 91, 8211 92. Сума по Японії: 103,3 (8211 92) + 14,3 (8211 91) = 117,5 тис. $; у наборах 8211 10 Японія не потрапила в опубліковані рядки.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До 2 500 грн: японське виробництво сюди майже не дістає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Нижній діапазон каталогу. Саме тут лежить обсяг ринку — і саме тут японське виробництво представлене найгірше.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f69a98636c839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овочевий з ножнами KAI DG · 3002, 95мм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726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433f6d1871e588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582ad999d3a9f85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Satake Saku 802 · 369 Air Holes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1 349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b079718c0d53bcb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Mikihisa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MAKIRI MIKIHISA / Макірі Мікіхіса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1 650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f4d942a4a9cd0d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Misono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Misono, 105 мм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1 690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53414e49f21fc66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Nakiri 2007 165мм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1 760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8dc075f7679255b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Paring, 120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1 905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a83efe47d2cae4e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f14dcecf95a3c07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6716N Накірі, 16.5см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2 184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88c590c35d78bdb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KASUMI / Касумі Titanium K · 22008GR,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2 280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d28c3cac44967ae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Hanakumagawa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Funayuki ніж Shirogami 2 Steel 165 mm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8149c7d4b6c85963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Petty MRS · 30 10696 120мм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2 400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11 %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1 790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726–2 400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20700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20700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9098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9098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 або базова VG-10, штамповка, західне руків'я. Японія сюди дістає лише Satake, Seki Kanetsugu і бюджетними лініями KAI Wasabi.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Увесь каталог цієї колоди — лише ножі японського виробництва. Бренди з японською назвою й азійським заводом не рахуються ніде: ані у фото, ані в цифрах сегментів.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29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2 500 – 5 000 грн: вхід у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Перший діапазон, де японське виробництво стає нормою, а не винятком. 70 позицій каталогу, 27 %.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99151621e4ae43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Takanori Izumi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AUS · 10M damascus сантоку ніж 170 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2 640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dc5106792e19d0c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Kasumi TORA 36842, 18см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2 833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d879a2bc9ad8a3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Takanori Izumi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AUS · 10M damascus шеф ніж 210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3 080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0c24a26e64ffdeb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Tomita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Deba ніж Blue Steel #2 110 mm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3 215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c77b1a474cf8d8f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для овочів Tojiro DP F · 800, 9cм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3 499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3879c817dcc35f7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e1047b602e0209e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MC · 700 10371 165мм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3 850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720a5b5df86d532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Sakai Ichiji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Santoku,Sakai Ich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4 290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89749cffece9fb4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Funayuki, 165 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4 490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404f2fe2baba686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Yaxell RAN 36002, 120мм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4 657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6009bff72b211de9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Tosa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Kurouchi Inasa Bocho 165мм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4 881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6339a60440c5d0a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Yaxell ZEN 35502, 120мм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4 996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67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26 %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3 539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2 640–4 996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15 %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Masahiro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920240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682495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1682495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1444752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VG-10 у три шари, перші куроучі з Тоса, артизанальні ножі з вуглецевої сталі. Тут з'являються імена кузень, а не лише бренди.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найцікавіший діапазон для входу з японським постачальником: покупець уже готовий платити за походження, але ще не вимагає дамаску й порошкової сталі.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67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5 000 – 10 000 грн: ядро асортименту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Найгустіший діапазон каталогу — 110 позицій, 42 %. Сюди цілиться більшість спеціалізованих продавців.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e6e2976fb0ba73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W2 240мм японський кух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5 060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3ea1e34b0d04279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Damascus Ajikiri 120мм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5 467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bdd88f0407e2c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овочевий Tojiro Shippu Black FD · 1591, 9см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5 699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6f1bcac45cd5a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0716 універсальний, 10см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6 160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9d3bc7ffbefea6f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Yaxell ZEN 35501, 165мм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6 671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cb65c59ca0dc971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Kasumi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Kasumi Damascus 84013, 130мм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7 199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386718d2c048b77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Сантоку Yaxell RAN 36001, 165мм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7 426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17e21fd06fe7eb3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RAN 36000, 200мм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7 804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ccd649852536bf2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RAN 36000G з рифленням 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8 307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234b0216a0ba930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Накірі Tojiro DP Damascus F · 660, 16.5см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8 899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3a62cde64ac0720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0723 Кухарський Шеф, 15см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9 520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adef0362c3a8d00a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Tojiro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обвалочний Tojiro Flash FF · BO150, 15см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9 999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116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45 %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7 290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5 060–9 999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21 %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229666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20 %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50418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110794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 32–69 шарів поверх VG-10, куроучі Тоса, Takamura Chromax, Tojiro DP Damascus. Твердість 60–61 HRC.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Тут найбільша щільність позицій — і найбільша конкуренція між продавцями за одного покупця. Новий бренд без історії тут не має аргументу.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116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ЦІНИ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Понад 10 000 грн: порошкова сталь і іменні ковалі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Верхній діапазон — 44 позиції, 17 % каталогу. Тут платять за сталь, кількість шарів і підпис майстра.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03beca3eae9669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Chief Damascus TADAYOSHI Tosa 240мм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10 035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25231c3c364e208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0702 Сантоку, 180мм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10 220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30131eded8c95f0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Shippu Black FD · 1594,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10 799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cc19c7b6f35c211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0705 хлібний, 23см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11 200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c07aa14169ef91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JCK Natures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Aogami Super Series SAKURA · 2 Шеф 180mm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12 220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068f5ff3e079552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Tojiro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Flash FF · CH180, 18см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12 999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a20d9f5d9d6f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Seki Kanetsugu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Kiritsuke Zuiun 9305 210мм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13 900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7317c29c260df1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0712 Сокирка цайдао, 18см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15 120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7b88a0fa2cabf692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2 · х ножів KAI SHUN CLASSIC DMS · 220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17 010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e704c2ed970bb29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KAI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ножів KAI Shun Premier Tim Malzer TDMS ·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20 300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215a7b3e8b8fe864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Harukaze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26 990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fc0b454179225fc8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94F7C"/>
                </a:solidFill>
                <a:latin typeface="Segoe UI"/>
              </a:rPr>
              <a:t>Yaxell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Набір з 3 · х ножів Yaxell Super Gou 37101 · 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38 640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94F7C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94F7C"/>
                </a:solidFill>
                <a:latin typeface="Segoe UI"/>
              </a:rP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18 %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13 500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10 035–38 640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32 %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603248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21 %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28625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17 %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493776" cy="77724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94F7C"/>
                </a:solidFill>
                <a:latin typeface="Segoe UI"/>
              </a:rP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94F7C"/>
                </a:solidFill>
                <a:latin typeface="Segoe UI"/>
              </a:rPr>
              <a:t>ЩО ВИЗНАЧАЄ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SG-2 і R2 порошкові сталі, 101–193 шари, ZDP-189 при 65–67 HRC, honyaki. Yaxell Super Gou, Nigara, Myojin, Hatsukokoro.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Покупців на всю країну — кілька тисяч. Ніж за 17 746 грн це 57 % середньої місячної зарплати: сегмент обмежений не смаком, а доходом.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47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1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Шеф і гюто: 55 позицій, найбільший тип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Робочий ніж кухні, 180–240 мм. Найширше представлений тип у каталозі й головний драйвер середнього чека.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d433f6d1871e58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малий Satake Swordsmith 803 · 274, 135мм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1 149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cc03667accb2a2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Satake Swordsmith Black 805 · 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2 099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d879a2bc9ad8a3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Takanori Izumi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AUS · 10M damascus шеф ніж 210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3 080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76bc5225073e1f9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Basic Damascus F · 332,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5 499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3d382306b23fc8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Шеф · Ніж TOJIRO DP F · 810, 27см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6 199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0ace7999a552cc4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Takamura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Gyuto Migaki VG10 210мм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7 950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837a29c02e099f1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DP Damascus F · 654, 18с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8 845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a695ef50d687769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Gyuto/Petty серії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9 950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3007a37f0cfa1911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Yaxell KETU 34900, 200мм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10 572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d3b10b8f13d3a903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SHUN CLASSIC DM · 0719 Кухарський Шеф, 20см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10 920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5bf6da9881aca6a7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Кухарський Шеф Tojiro Flash FF · CH210, 21см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14 499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215a7b3e8b8fe864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C4820A"/>
                </a:solidFill>
                <a:latin typeface="Segoe UI"/>
              </a:rPr>
              <a:t>Harukaze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Gyuto 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26 990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4820A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C4820A"/>
                </a:solidFill>
                <a:latin typeface="Segoe UI"/>
              </a:rPr>
              <a:t>49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19 %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1 149–26 990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29 %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207008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7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14 %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867373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Satake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6975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697556" cy="777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8 %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Універсальний робочий ніж: м'ясо, овочі, риба. Купують і домашній просьюмер, і шеф-кухар для себе.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Саме в цьому типі найширший ціновий розкид — від 1 199 до 38 640 грн, тобто у 32 рази. Тип не визначає ціну; її визначає сталь.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49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2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Сантоку, петті, накірі: домашня трійця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74 позиції разом. Три типи, які купує домашня кухня, і які формують уявлення про «японський ніж» у масовому покупця.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8a8cc9dc2a242a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Seki Kanetsugu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Kanetsugu Miyabi Isshin Petty 2001 120мм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1 140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035791ace92f3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Kasumi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універсальний Kasumi TORA 36845, 15см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2 390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c385448d820bc3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Shirogami Kasumi Петті ніж 120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3 119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720a5b5df86d53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Sakai Ichiji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Santoku,Sakai Ich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4 290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1b00785cfaf3ec3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ніж Tojiro DP F · 502 Накірі, 16.5см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5 299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fd6f758a85c2afa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Tojiro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Сантоку Tojiro DP F · 503, 17см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5 899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4f3caf9f4f7ac4a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Yaxell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Накірі Yaxell ZEN 35504, 180мм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6 999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7e225017400bcd8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Santoku , HSS R2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7 490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7d3f633cc134593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Tadayoshi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Tokaji Santoku · Blue Steel 185mm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8 480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13364d8119f9efc8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Tsuchime VG10 Petty 150 мм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9 275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11823a8fb3d9b603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Santoku Migaki SG2 170мм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10 200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d160ceedb3911759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1E9EA6"/>
                </a:solidFill>
                <a:latin typeface="Segoe UI"/>
              </a:rPr>
              <a:t>Harukaze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"HARUKAZE" Petty 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19 990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1E9EA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E9EA6"/>
                </a:solidFill>
                <a:latin typeface="Segoe UI"/>
              </a:rPr>
              <a:t>78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30 %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6 671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1 140–19 990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15 %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99948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10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13 %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180136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12 %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160324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10 %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1405128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— другий ніж у домі після шефа. Петті — найчастіша купівля з найнижчим чеком. Накірі зростає разом із модою на овочі.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Це єдина група, де японська геометрія вже стала масовою — і саме тому тут найважче продати походження: покупець бачить форму, а не країну.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78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СЕГМЕНТ ТИПУ · 3 З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Односторонні: янагіба, деба, сашимі, усуба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33 позиції, 13 % каталогу. Єдина геометрія, де японське виробництво не має європейського замінника.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83efe47d2cae4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572768"/>
            <a:ext cx="1624584" cy="731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623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23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Wasabi Black 6715Y Янагіба, 15см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2 016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8061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1096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_b65f5ff7e2be7d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4976" y="1572768"/>
            <a:ext cx="1624584" cy="731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52984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70636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636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984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Sashimi Hocho, 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984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2 695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2465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5500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p_055af49fce48919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9016" y="1572768"/>
            <a:ext cx="1624584" cy="7315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37388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55040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5040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7388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Black 210мм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7388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3 463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869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099048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p_3879c817dcc35f7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63056" y="1572768"/>
            <a:ext cx="1624584" cy="7315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21792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9444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9444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1792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W2 210мм японський кух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3 500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1273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94308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p_3a1fda044edb818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7095" y="1572768"/>
            <a:ext cx="1624584" cy="7315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8061960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KAI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23848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848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61960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Seki Magoroku Kinju AK · 1106 Янагіба, 24см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1960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3 999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56776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7127" y="1517904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p_52f5ff0adc7c279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51135" y="1572768"/>
            <a:ext cx="1624584" cy="7315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9905999" y="2359152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082528" y="2340864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082528" y="23500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05999" y="2496312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Sashimi · bocho 240мм (двосторонній)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905999" y="2734056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4 400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100815" y="2752344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6692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p_97020e8401add6b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3054096"/>
            <a:ext cx="1624584" cy="7315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68580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8623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623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Deba 165мм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8580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4 643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88061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1096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325062d75bbf229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74976" y="3054096"/>
            <a:ext cx="1624584" cy="7315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2984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70636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70636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984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Migaki Yanagiba HC305 · W2 270мм японський кух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2984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4 900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465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25500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p_e0616acb93cc826b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19016" y="3054096"/>
            <a:ext cx="1624584" cy="73152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37388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HONMAMON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55040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55040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37388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кухонний Honmamon / Хонмамон Sashimi Hocho, 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37388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5 225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6869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099048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p_cdad4d2f286701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63056" y="3054096"/>
            <a:ext cx="1624584" cy="731520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621792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Masahiro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9444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39444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21792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Masahiro 16220 Yanagiba, 27см сталь Ki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1792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6 512 грн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41273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94308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p_46f7ff8401b6b421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07095" y="3054096"/>
            <a:ext cx="1624584" cy="73152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8061960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Tosa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23848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23848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61960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ніж Tosauchi White 2 Deba 185 мм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61960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7 360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56776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9787127" y="2999232"/>
            <a:ext cx="1752599" cy="1389888"/>
          </a:xfrm>
          <a:prstGeom prst="roundRect">
            <a:avLst>
              <a:gd name="adj" fmla="val 7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p_97bfc2a3a6a5b42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851135" y="3054096"/>
            <a:ext cx="1624584" cy="731520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9905999" y="3840480"/>
            <a:ext cx="127711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1082528" y="3822192"/>
            <a:ext cx="420624" cy="137160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1082528" y="3831336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" b="1">
                <a:solidFill>
                  <a:srgbClr val="FFFFFF"/>
                </a:solidFill>
                <a:latin typeface="Segoe UI"/>
              </a:rPr>
              <a:t>Японія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905999" y="3977640"/>
            <a:ext cx="158800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70" b="0">
                <a:solidFill>
                  <a:srgbClr val="303A5D"/>
                </a:solidFill>
                <a:latin typeface="Segoe UI"/>
              </a:rPr>
              <a:t>Янагіба SAKAI TAKAYUKI Yasugi для лівші, 24см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905999" y="4215384"/>
            <a:ext cx="1331976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7 640 грн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1100815" y="4233672"/>
            <a:ext cx="40233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535424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АНАЛІТИКА СЕГМЕНТА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66928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94944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ПОЗИЦІЙ У СЕГМЕНТІ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5D4B96"/>
                </a:solidFill>
                <a:latin typeface="Segoe UI"/>
              </a:rPr>
              <a:t>35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14 % каталогу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956816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084832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МЕДІАННА ЦІНА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84832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1C2235"/>
                </a:solidFill>
                <a:latin typeface="Segoe UI"/>
              </a:rPr>
              <a:t>4 550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84832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 за один ніж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3346704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3474720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474720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717890"/>
                </a:solidFill>
                <a:latin typeface="Segoe UI"/>
              </a:rPr>
              <a:t>2 016–7 640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474720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грн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4736592" y="4754880"/>
            <a:ext cx="1335024" cy="859536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4864607" y="4864608"/>
            <a:ext cx="10972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570" b="1">
                <a:solidFill>
                  <a:srgbClr val="717890"/>
                </a:solidFill>
                <a:latin typeface="Segoe UI"/>
              </a:rPr>
              <a:t>БРЕНДІВ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64607" y="5029200"/>
            <a:ext cx="113385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864607" y="5340096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00" b="0">
                <a:solidFill>
                  <a:srgbClr val="717890"/>
                </a:solidFill>
                <a:latin typeface="Segoe UI"/>
              </a:rPr>
              <a:t>у сегменті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6217920" y="4754880"/>
            <a:ext cx="54132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717890"/>
                </a:solidFill>
                <a:latin typeface="Segoe UI"/>
              </a:rPr>
              <a:t>ХТО ЗАЙМАЄ СЕГМЕНТ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217920" y="4937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7827264" y="4974336"/>
            <a:ext cx="2395728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0296144" y="493776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735056" y="493776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31 %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17920" y="51206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KAI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7827264" y="5157216"/>
            <a:ext cx="1747335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0296144" y="51206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35056" y="512064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23 %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217920" y="530352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27264" y="5340096"/>
            <a:ext cx="666680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0296144" y="530352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0735056" y="530352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48640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Tomita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7827264" y="552297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296144" y="548640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735056" y="548640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217920" y="56692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Fukamizu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827264" y="5705856"/>
            <a:ext cx="450549" cy="777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0296144" y="566928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5D4B96"/>
                </a:solidFill>
                <a:latin typeface="Segoe UI"/>
              </a:rP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735056" y="5669280"/>
            <a:ext cx="896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87568"/>
            <a:ext cx="11064240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430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ЩО ЦЕ ЗА СЕГМЕНТ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71616"/>
            <a:ext cx="10588752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Одностороннє заточення під праву руку, вуглецева або високовуглецева сталь, традиційне руків'я wa. Вимагає водних каменів і навички.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Професійний інструмент суші-кухні. Попит на всю країну — 500–900 ножів на рік: канал реальний, ринок за обсягом — ні.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03504" y="658368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Показано 12 позицій, рівномірно розподілених за ціною; аналітика рахована по всіх 35 позиціях сегмента. Джерело: картки товарів ProfiMax, ROKS, WildCat, жовтень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ЦІНОВИЙ КОРИДОР БРЕНДІВ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 кожен бренд стоїть на ціновій шкалі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Смуга — спостережений діапазон цін бренду, крапка — медіана. Лише ножі японського виробництва. У вибірці — бренди, де зібрано не менше двох позицій.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386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639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1 000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90705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43233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2 500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4059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96587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5 000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97412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9940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10 000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50766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294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20 000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04120" y="1755648"/>
            <a:ext cx="5486" cy="407822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56648" y="1572768"/>
            <a:ext cx="69494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40 000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783080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7984" y="1783080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15689" y="1842516"/>
            <a:ext cx="4777173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50052" y="1796796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1783080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990 – 13 900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91563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Satake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7984" y="1991563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85007" y="2050999"/>
            <a:ext cx="1794080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38001" y="2005279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41280" y="1991563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1 149 – 3 099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20004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Takanori Izumi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7984" y="220004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669042" y="2259482"/>
            <a:ext cx="79892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52655" y="221376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280" y="220004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1 980 – 3 080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40852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Motokane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57984" y="240852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9556" y="2467965"/>
            <a:ext cx="216631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89939" y="242224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41280" y="240852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2 200 – 7 290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26170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Hanakumagawa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57984" y="26170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09340" y="2676448"/>
            <a:ext cx="330935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252581" y="26307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241280" y="26170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2 390 – 2 870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25496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Masahiro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157984" y="2825496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16890" y="2884932"/>
            <a:ext cx="1804912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62540" y="2839212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241280" y="2825496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2 400 – 6 512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" y="3033979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Tomita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57984" y="3033979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545535" y="3093415"/>
            <a:ext cx="1300538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060649" y="3047695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41280" y="3033979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3 215 – 6 600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324246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Fukamizu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7984" y="324246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79899" y="3301898"/>
            <a:ext cx="609082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97172" y="325617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41280" y="324246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3 463 – 4 850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345094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Misono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57984" y="345094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382679" y="3510381"/>
            <a:ext cx="1957759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303863" y="346466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241280" y="345094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1 690 – 4 990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594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Tosa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57984" y="36594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n=22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554512" y="3718864"/>
            <a:ext cx="204921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21354" y="36731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241280" y="36594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3 231 – 10 035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867912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HONMAMON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157984" y="3867912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n=24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339367" y="3927348"/>
            <a:ext cx="4840320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634142" y="3881628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241280" y="3867912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1 650 – 23 990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076395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Tojiro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57984" y="4076395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n=39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490720" y="4135831"/>
            <a:ext cx="3012088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725093" y="4090111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241280" y="4076395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3 119 – 16 499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28487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Kasumi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57984" y="428487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n=19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679060" y="4344314"/>
            <a:ext cx="2727637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889614" y="429859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241280" y="428487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1 991 – 8 999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49336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157984" y="449336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7067554" y="4552797"/>
            <a:ext cx="45720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7074090" y="450707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0241280" y="449336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7 460 – 7 640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66928" y="470184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157984" y="470184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n=37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215556" y="4761280"/>
            <a:ext cx="3826015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112494" y="471556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241280" y="470184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4 657 – 38 640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910328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E9EA6"/>
                </a:solidFill>
                <a:latin typeface="Segoe UI"/>
              </a:rPr>
              <a:t>Takamura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57984" y="4910328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n=9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6456231" y="4969764"/>
            <a:ext cx="1469348" cy="502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7245569" y="4924044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0241280" y="4910328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5 320 – 11 990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5118811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KAI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2157984" y="5118811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n=40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854864" y="5178247"/>
            <a:ext cx="6602374" cy="5029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290219" y="5132527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0241280" y="5118811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726 – 27 970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66928" y="5327294"/>
            <a:ext cx="15544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5D4B96"/>
                </a:solidFill>
                <a:latin typeface="Segoe UI"/>
              </a:rPr>
              <a:t>Harukaze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157984" y="5327294"/>
            <a:ext cx="5669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n=2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8849862" y="5386730"/>
            <a:ext cx="542885" cy="5029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9356171" y="5341010"/>
            <a:ext cx="73152" cy="141732"/>
          </a:xfrm>
          <a:prstGeom prst="rect">
            <a:avLst/>
          </a:prstGeom>
          <a:solidFill>
            <a:srgbClr val="1C22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41280" y="5327294"/>
            <a:ext cx="138988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640" b="0">
                <a:solidFill>
                  <a:srgbClr val="303A5D"/>
                </a:solidFill>
                <a:latin typeface="Segoe UI"/>
              </a:rPr>
              <a:t>19 990 – 26 990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66928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66928" y="5907024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804672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ХТО ДЕ СТОЇТЬ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04672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 японського виробництва медіану нижче 2 500 грн мають лише Seki Kanetsugu,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Satake, Takanori Izumi і Hanakumagawa. Найвищі медіани: KAI, Takamura, Yaxell.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17920" y="5907024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6217920" y="5907024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6455664" y="606247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КОРИДОРИ ПЕРЕТИНАЮТЬСЯ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55664" y="6291072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 зоні 5 000 – 12 000 грн лежать коридори щонайменше восьми брендів одразу.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Новий бренд заходить не в порожнечу, а в найгустішу частину шкали.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ДЕ КОНЦЕНТРУЄТЬСЯ АСОРТИМЕНТ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Матриця: тип леза проти ціни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Кожна клітинка — скільки позицій у каталогах припадає на цей тип у цьому ціновому діапазоні. Темніше — густіше.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до 1 000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1 000–
2 499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14416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2 500–
4 999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04304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5 000–
9 999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10 000–
19 999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1700784"/>
            <a:ext cx="138988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20 000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122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Шеф / гюто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71216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24528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50992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14416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0880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04304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0767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697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94192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0655" y="20391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1122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10544" y="21122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49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4780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Петті / універсальний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71216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261104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0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8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50992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14416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040880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737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04304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430767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24780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820655" y="24048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210544" y="24780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8437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71216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261104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24528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650992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AA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14416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040880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3943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004304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430767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0C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94192" y="28437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820655" y="27706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10544" y="28437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34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2095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Набір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871216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261104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650992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14416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040880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004304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30767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394192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20655" y="31363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84080" y="32095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10544" y="32095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35753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Янагіба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871216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4261104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224528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650992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AA0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14416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040880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4304" y="35753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430767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9820655" y="35021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210544" y="35753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94106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Накірі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871216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261104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24528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650992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614416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040880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3A9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004304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430767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394192" y="394106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820655" y="386791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1210544" y="394106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66928" y="430682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Овочевий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871216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2834640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61104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224528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650992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614416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040880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B7BC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004304" y="430682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6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430767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9820655" y="423367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1210544" y="430682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467258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Слайсер / нарізка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2871216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261104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24528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5650992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14416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7040880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909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004304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430767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94192" y="467258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820655" y="459943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1210544" y="467258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503834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Кіріцуке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2871216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4261104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5650992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7040880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ADB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7004304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7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8430767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DE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394192" y="503834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9820655" y="496519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1210544" y="503834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9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66928" y="5404104"/>
            <a:ext cx="2157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871216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4261104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E7E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224528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650992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CAC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614416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7040880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D4D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7004304" y="5404104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8430767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9820655" y="5330952"/>
            <a:ext cx="1316736" cy="301752"/>
          </a:xfrm>
          <a:prstGeom prst="roundRect">
            <a:avLst>
              <a:gd name="adj" fmla="val 12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1210544" y="5404104"/>
            <a:ext cx="4206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1210544" y="1810512"/>
            <a:ext cx="4206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00" b="1">
                <a:solidFill>
                  <a:srgbClr val="717890"/>
                </a:solidFill>
                <a:latin typeface="Segoe UI"/>
              </a:rPr>
              <a:t>УСЬОГО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66928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566928" y="5852160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4672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ГУСТО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672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Шеф-ніж за 5 000 – 10 000 грн — найщільніша клітинка ринку.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й петті концентруються там само.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17920" y="5852160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6217920" y="5852160"/>
            <a:ext cx="36576" cy="844905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455664" y="6007608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ДЕ ПОРОЖНЬО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455664" y="6236208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Уся ліва колонка: до 1 000 грн японського виробництва немає взагалі.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не опускаються нижче 2 500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Sakai Takayuki: хто це і чому це інший клас задачі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Профіль кандидата у постачальники за даними виробника й незалежних каталогів. Усе, що нижче, — публічна інформація, не комерційна пропозиція.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ЗАСНОВАНО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Майстерня Aokі Hamono,
родина Аокі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Сакаї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Осака. 600 років
ковальської традиції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СЕРІЙ У ЛІНІЙЦІ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5D4B96"/>
                </a:solidFill>
                <a:latin typeface="Segoe UI"/>
              </a:rPr>
              <a:t>50+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 власним каталогом
виробника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517904"/>
            <a:ext cx="270662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ЕКСПОРТ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94F7C"/>
                </a:solidFill>
                <a:latin typeface="Segoe UI"/>
              </a:rPr>
              <a:t>100+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країн збуту
за заявою виробника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276148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280263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ЩО САМЕ ВИРОБЛЯЄ SAKAI TAKAYUKI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3054096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ГРУПА СТАЛІ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305409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КОНКРЕТНО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7568" y="305409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ЦЕ В ЦІНІ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82127" y="3054096"/>
            <a:ext cx="3657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ВЖЕ ТРИМАЄ ЦЮ ЗОНУ В УКРАЇНІ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3776" y="3232404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327355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Нержавіюча базова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327355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Hakugin INOX, молібден-ванадій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87568" y="327355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3 000 – 7 000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2127" y="327355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Satake, Seki Kanetsugu, Tojiro Basic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43300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VG-10 і дамаск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70048" y="3543300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17 / 33 / 45 шарів, Grand Chef SP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87568" y="3543300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7 000 – 16 000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2127" y="3543300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Tojiro DP, Kasumi, KAI Shun, Yaxell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771900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6928" y="3813048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Ginsan / Silver #3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70048" y="3813048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моносталь, Ginsan Warikomi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87568" y="3813048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9 000 – 20 000 грн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82127" y="3813048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Практично ніхто: 1–2 позиції в країні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082796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Вуглецева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70048" y="4082796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Aogami #2, Shirogami, Aoniko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87568" y="4082796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6 000 – 25 000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82127" y="4082796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Tosa, HONMAMON, Takamura — артизанальний край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3776" y="4311396"/>
            <a:ext cx="11210544" cy="260603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4352544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Порошкова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70048" y="4352544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SPG2 / R2, ZA-18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87568" y="4352544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16 000 – 45 000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82127" y="4352544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Yaxell Super Gou, Nigara, Hatsukokoro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4622292"/>
            <a:ext cx="20482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70048" y="4622292"/>
            <a:ext cx="29626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Ginsan моносталь, Shoryu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87568" y="4622292"/>
            <a:ext cx="21396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35 000 – 70 000 грн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82127" y="4622292"/>
            <a:ext cx="3602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717890"/>
                </a:solidFill>
                <a:latin typeface="Segoe UI"/>
              </a:rPr>
              <a:t>Порожньо. У країні немає жодного honyaki на складі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66928" y="5047488"/>
            <a:ext cx="36576" cy="101239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ЦЕЙ ПОСТАЧАЛЬНИК НЕ «ЩЕ ОДИН БРЕНД»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закриває весь діапазон від 3 000 до 70 000 грн однією лінійкою.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із присутніх в Україні японських брендів цього не робить: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і Yaxell сильні зверху, Satake і Seki Kanetsugu — знизу.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17920" y="5047488"/>
            <a:ext cx="5413248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17920" y="504748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55664" y="5431536"/>
            <a:ext cx="4937760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Виробник із 50+ серіями і експортом у 100+ країн має готову дилерську схему,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а отже й готові вимоги: мінімальна партія, ексклюзив по території, цінова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дисципліна. Це переговори про дистрибуцію, а не разова закупівля.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 профілю: офіційний каталог виробника (sakaitakayukiknives.com), жовтень 2026. Цінові зони — перерахунок спостережених роздрібних цін в Україні на відповідні типи сталі, не прайс виробника.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Тринадцять позицій на всю країну — і лише дві справжні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Суцільний обхід 17 продавців, Prom, Rozetka й Епіцентру станом на 1 жовтня 2026. Кожен рядок перевірено на картці товару, а не в пошуковій видачі.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ЗНАЙДЕНО ПОЗИЦІЙ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 усіх каналах
країни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19856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21024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РЕАЛЬНО НА СКЛАДІ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1E9EA6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ProfiMax, обидві —
янагіба 24 см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ДРОПШИП-ЛІСТИНГИ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4820A"/>
                </a:solidFill>
                <a:latin typeface="Segoe U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«поставка зі складу
5–10 днів»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25711" y="1517904"/>
            <a:ext cx="2706624" cy="107899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673351"/>
            <a:ext cx="23042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ПРОДАВЦІВ З БРЕНДОМ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883664"/>
            <a:ext cx="230428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C03B4B"/>
                </a:solidFill>
                <a:latin typeface="Segoe UI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359152"/>
            <a:ext cx="2304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фаховий магазин,
що тримає склад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724912"/>
            <a:ext cx="3931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27249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36208" y="272491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4928" y="27249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СТАТУС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724912"/>
            <a:ext cx="2560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903220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94436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з ножнами (07003)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98848" y="29443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6208" y="29443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8" y="294436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79408" y="294436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Картка продавця, походження: Japan (Sakai, Osaka)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15468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Yanagiba Yasugi 24 см, для лівші (07005)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98848" y="315468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36208" y="31546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24928" y="31546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1E9EA6"/>
                </a:solidFill>
                <a:latin typeface="Segoe UI"/>
              </a:rPr>
              <a:t>СКЛАД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79408" y="315468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3323844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336499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210 мм, вінтажна серія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98848" y="336499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6208" y="336499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3649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979408" y="336499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На власному сайті продавця товару немає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357530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Chief 240 мм, вінтажна серія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98848" y="357530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ROKS·Prom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8" y="357530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24928" y="35753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03B4B"/>
                </a:solidFill>
                <a:latin typeface="Segoe UI"/>
              </a:rPr>
              <a:t>РОЗБІЖНІСТЬ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979408" y="357530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93776" y="3744468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378561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Saiu Santoku 17 см, VG-10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98848" y="378561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236208" y="378561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24928" y="378561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979408" y="378561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Термін постачання 5–10 днів, складу немає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99592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Sairen Kengata 16 см, VG-10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98848" y="39959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36208" y="39959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24928" y="399592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79408" y="399592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93776" y="4165092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420624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Urushi Saiseki Kengata (7966), VG-10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498848" y="420624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36208" y="420624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424928" y="420624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79408" y="420624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6928" y="441655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Nanairo Santoku Green (14576), VG-10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498848" y="441655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36208" y="441655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24928" y="441655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979408" y="441655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4585716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626864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Kasumi Shirogami #3, 24 см (6083)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98848" y="4626864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462686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24928" y="462686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979408" y="4626864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837176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Silver #3 Yanagiba 27 см (4231)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498848" y="4837176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236208" y="483717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424928" y="48371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979408" y="4837176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5006340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047488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Byakko Shirogami Kiritsuke Yanagiba 27 см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498848" y="504748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36208" y="504748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424928" y="504748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79408" y="5047488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" y="5257800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Kengata Yanagiba 30 см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498848" y="5257800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36208" y="525780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424928" y="525780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979408" y="5257800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93776" y="5426964"/>
            <a:ext cx="11210544" cy="202996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66928" y="5468112"/>
            <a:ext cx="3877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303A5D"/>
                </a:solidFill>
                <a:latin typeface="Segoe UI"/>
              </a:rPr>
              <a:t>Shoryu Honyaki VG-10 Sakimaru 30 см (0204)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498848" y="5468112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36208" y="54681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424928" y="54681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C4820A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979408" y="5468112"/>
            <a:ext cx="25054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566928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66928" y="5724144"/>
            <a:ext cx="36576" cy="83809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4672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ЧОМУ 15 326 ГРН ЧОТИРИ РАЗИ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04672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Чотири різні моделі у двох продавців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однакова ціна. Це спільний фід, не склад.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297680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4297680" y="5724144"/>
            <a:ext cx="36576" cy="83809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4535424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РОЗБІЖНІСТЬ ПО ROKS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35424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Вітрина на Prom показує дві позиції.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Власний сайт roks.com.ua — жодної.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046720" y="5724144"/>
            <a:ext cx="3584448" cy="83809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8046720" y="5724144"/>
            <a:ext cx="36576" cy="838098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8284464" y="587959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ДЕ БРЕНДУ НЕМАЄ ВЗАГАЛІ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284464" y="6108192"/>
            <a:ext cx="3108960" cy="3077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Rozetka (API: 0), Епіцентр, Sekator, WildCat,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rezat, volod, Kagura, AL-Group.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Перевірено 1 жовтня 2026. «Склад» — картка продавця з прямою наявністю і зазначеним походженням. «Під замовлення» — лістинг Prom із терміном постачання 5–10 днів. Hangiri перевірити не вдалося: сайт закритий Cloudflare.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Усі тринадцять позицій бренду в країні — на одній сторінці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Фотографії з карток продавців. Зелена позначка — склад із підтвердженим походженням, жовта — лістинг під замовлення, червона — розбіжність із власним сайтом продавця.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_aea85c40997a95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1682496"/>
            <a:ext cx="1361149" cy="10789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Yanagiba Yasugi 24 см, з ножнами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7 460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9343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47533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_8708ea90b3918c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11541" y="1682496"/>
            <a:ext cx="1361149" cy="1078992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2220685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0685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СКЛАД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20685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Yanagiba Yasugi 24 см, для лівші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20685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7 640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89949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728139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_abdd23921eef82c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2147" y="1682496"/>
            <a:ext cx="1361149" cy="1078992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3801291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01291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01291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Кухонний ніж Chief 210мм (вінтажний)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01291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3 520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70555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08745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p_cd48159923409f7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2753" y="1682496"/>
            <a:ext cx="1361149" cy="1078992"/>
          </a:xfrm>
          <a:prstGeom prst="rect">
            <a:avLst/>
          </a:prstGeom>
        </p:spPr>
      </p:pic>
      <p:sp>
        <p:nvSpPr>
          <p:cNvPr id="33" name="Rounded Rectangle 32"/>
          <p:cNvSpPr/>
          <p:nvPr/>
        </p:nvSpPr>
        <p:spPr>
          <a:xfrm>
            <a:off x="5381897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81897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РОЗБІЖНІСТЬ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81897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Кухонний ніж Chief 240мм (вінтажний)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81897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4 070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1161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89350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p_876eaee64959156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358" y="1682496"/>
            <a:ext cx="1361149" cy="1078992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962502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62502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62502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Saiu Santoku 17см (VG-10)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62502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31766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469956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p_4c9e84967203c789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3964" y="1682496"/>
            <a:ext cx="1361149" cy="1078992"/>
          </a:xfrm>
          <a:prstGeom prst="rect">
            <a:avLst/>
          </a:prstGeom>
        </p:spPr>
      </p:pic>
      <p:sp>
        <p:nvSpPr>
          <p:cNvPr id="47" name="Rounded Rectangle 46"/>
          <p:cNvSpPr/>
          <p:nvPr/>
        </p:nvSpPr>
        <p:spPr>
          <a:xfrm>
            <a:off x="8543108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543108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43108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Sairen Kengata 16см (VG-10)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43108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512372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050562" y="1627632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p_7f0dd6bfec2c98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14570" y="1682496"/>
            <a:ext cx="1361149" cy="1078992"/>
          </a:xfrm>
          <a:prstGeom prst="rect">
            <a:avLst/>
          </a:prstGeom>
        </p:spPr>
      </p:pic>
      <p:sp>
        <p:nvSpPr>
          <p:cNvPr id="54" name="Rounded Rectangle 53"/>
          <p:cNvSpPr/>
          <p:nvPr/>
        </p:nvSpPr>
        <p:spPr>
          <a:xfrm>
            <a:off x="10123714" y="2816352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123714" y="2830068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123714" y="3017520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Urushi Vg-10 Saiseki Kengata (7966)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23714" y="3419856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92978" y="3447288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66928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p_cdb7790b52ecea0b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0936" y="3822191"/>
            <a:ext cx="1361149" cy="1078992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40080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Nanairo Vg 10 Green (14576)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0080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15 326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609343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147533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p_7fd7b56a995a7217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11541" y="3822191"/>
            <a:ext cx="1361149" cy="1078992"/>
          </a:xfrm>
          <a:prstGeom prst="rect">
            <a:avLst/>
          </a:prstGeom>
        </p:spPr>
      </p:pic>
      <p:sp>
        <p:nvSpPr>
          <p:cNvPr id="68" name="Rounded Rectangle 67"/>
          <p:cNvSpPr/>
          <p:nvPr/>
        </p:nvSpPr>
        <p:spPr>
          <a:xfrm>
            <a:off x="2220685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20685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20685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Kasumi Shirogami 3 24см (6083)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20685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20 750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189949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8139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p_076154df88149537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92147" y="3822191"/>
            <a:ext cx="1361149" cy="1078992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3801291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01291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01291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Silver#3 Yanagiba 27см (4231)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01291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34 857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770555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308745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p_bfa9688130eb9c8b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72753" y="3822191"/>
            <a:ext cx="1361149" cy="1078992"/>
          </a:xfrm>
          <a:prstGeom prst="rect">
            <a:avLst/>
          </a:prstGeom>
        </p:spPr>
      </p:pic>
      <p:sp>
        <p:nvSpPr>
          <p:cNvPr id="82" name="Rounded Rectangle 81"/>
          <p:cNvSpPr/>
          <p:nvPr/>
        </p:nvSpPr>
        <p:spPr>
          <a:xfrm>
            <a:off x="5381897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381897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381897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Byakko Shirogami Kiritsuke Yanagiba 27см (2204)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81897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44 169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51161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tech.dp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89350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p_a2e34c432a6c0757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53358" y="3822191"/>
            <a:ext cx="1361149" cy="1078992"/>
          </a:xfrm>
          <a:prstGeom prst="rect">
            <a:avLst/>
          </a:prstGeom>
        </p:spPr>
      </p:pic>
      <p:sp>
        <p:nvSpPr>
          <p:cNvPr id="89" name="Rounded Rectangle 88"/>
          <p:cNvSpPr/>
          <p:nvPr/>
        </p:nvSpPr>
        <p:spPr>
          <a:xfrm>
            <a:off x="6962502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962502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62502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Shoryu Honyaki Vg 10 Kengata Yanagiba 30см (203)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62502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57 903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31766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469956" y="3767328"/>
            <a:ext cx="1489165" cy="2029968"/>
          </a:xfrm>
          <a:prstGeom prst="roundRect">
            <a:avLst>
              <a:gd name="adj" fmla="val 6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p_81389a13d1c80193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33964" y="3822191"/>
            <a:ext cx="1361149" cy="1078992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8543108" y="4956048"/>
            <a:ext cx="1005840" cy="146304"/>
          </a:xfrm>
          <a:prstGeom prst="roundRect">
            <a:avLst>
              <a:gd name="adj" fmla="val 35000"/>
            </a:avLst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543108" y="4969764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80" b="1">
                <a:solidFill>
                  <a:srgbClr val="FFFFFF"/>
                </a:solidFill>
                <a:latin typeface="Segoe UI"/>
              </a:rPr>
              <a:t>ПІД ЗАМОВЛЕННЯ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543108" y="5157216"/>
            <a:ext cx="134286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580" b="0">
                <a:solidFill>
                  <a:srgbClr val="303A5D"/>
                </a:solidFill>
                <a:latin typeface="Segoe UI"/>
              </a:rPr>
              <a:t>Shoryu Honyaki VG-10 Sakimaru 30см (0204)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543108" y="5559552"/>
            <a:ext cx="1005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4820A"/>
                </a:solidFill>
                <a:latin typeface="Segoe UI"/>
              </a:rPr>
              <a:t>60 495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12372" y="5586984"/>
            <a:ext cx="42846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54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566928" y="5687568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6928" y="5687568"/>
            <a:ext cx="36576" cy="844905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04672" y="58430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ВИДНО НА ЦІЙ СТОРІНЦІ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4672" y="6071616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Дві позиції зі складу — обидві янагіба 24 см. Жодного гюто,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чи петті бренду в Україні купити сьогодні неможливо.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217920" y="5687568"/>
            <a:ext cx="5413248" cy="844905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217920" y="5687568"/>
            <a:ext cx="36576" cy="844905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455664" y="584301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ЦЕ ЧИТАТИ ПЕРЕД ПЕРЕГОВОРАМИ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55664" y="6071616"/>
            <a:ext cx="4937760" cy="31455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Асортимент, який бачить український покупець, зібрано не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дистриб'ютором, а дропшиперами. Брендом у країні ніхто не керує.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Фотографії — з публічних карток товару ProfiMax і вітрин prom.ua, жовтень 2026. Наведено для ідентифікації позицій; права на зображення належать продавцям і виробнику.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ПОТЕНЦІЙНИЙ ПОСТАЧАЛЬНИК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Куди став би цей бренд і проти кого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Позиція Sakai Takayuki на тій самій шкалі, що й решта каталогу. Зіставлення з брендами, які вже мають в Україні полицю і глибину лінійки.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499616"/>
            <a:ext cx="722376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40763"/>
            <a:ext cx="39730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ЦІЛЬОВА ЗОНА 7 000 – 20 000 ГРН: ХТО ЇЇ ВЖЕ ТРИМАЄ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28800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Yaxell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77439" y="1869948"/>
            <a:ext cx="4206240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19" y="182880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098548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KAI / Shun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139696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77439" y="2139696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19" y="209854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368296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39" y="2409444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77439" y="2409444"/>
            <a:ext cx="3605348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23682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2638044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Kasumi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267919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377439" y="2679191"/>
            <a:ext cx="180267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19" y="2638044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2907791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Takamura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377439" y="2948939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77439" y="2948939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5119" y="2907791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177539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(кузні)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3218687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377439" y="3218687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19" y="317753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3447287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HONMAMON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377439" y="3488435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377439" y="3488435"/>
            <a:ext cx="1602377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19" y="3447287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3717035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Seki Kanetsugu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3758183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377439" y="3758183"/>
            <a:ext cx="801188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19" y="371703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3986783"/>
            <a:ext cx="17373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39" y="4027931"/>
            <a:ext cx="4206240" cy="8229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377439" y="4027931"/>
            <a:ext cx="400594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19" y="398678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40080" y="4315968"/>
            <a:ext cx="7077456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43159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24" y="4471416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ЧИТАННЯ ЦІЄЇ ШКАЛИ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" y="4700016"/>
            <a:ext cx="6601968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105 позицій каталогу, тобто 41 % усього японського виробництва в країні,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лежать у зоні 7 000 – 20 000 грн. Зона не порожня — вона зайнята.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Sakai Takayuki тримає в ній 2 позиції з 105, тобто менше 2 %.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10144" y="1499616"/>
            <a:ext cx="3621024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56448" y="1540763"/>
            <a:ext cx="199156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ДЕ ЗОНА СПРАВДІ ПОРОЖНЯ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010144" y="1828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10144" y="1828800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1901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Honyaki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057400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Жодної позиції в країні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10144" y="2505456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010144" y="2505456"/>
            <a:ext cx="41148" cy="5486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2578608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Ginsan / Silver #3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2734056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 позиція, і та дропшип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010144" y="3182112"/>
            <a:ext cx="3621024" cy="804672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10144" y="3182112"/>
            <a:ext cx="41148" cy="804672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3255264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Односторонні понад
10 000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3566160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Немає. Стеля янагіби —
7 640 грн, і це
Sakai Takayuki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010144" y="4114800"/>
            <a:ext cx="3621024" cy="548640"/>
          </a:xfrm>
          <a:prstGeom prst="roundRect">
            <a:avLst>
              <a:gd name="adj" fmla="val 7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10144" y="4114800"/>
            <a:ext cx="41148" cy="54864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74736" y="4187952"/>
            <a:ext cx="3291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40" b="1">
                <a:solidFill>
                  <a:srgbClr val="C4820A"/>
                </a:solidFill>
                <a:latin typeface="Segoe UI"/>
              </a:rPr>
              <a:t>Wa-руків'я в
профканалі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74736" y="4498848"/>
            <a:ext cx="3291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0 із 523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40080" y="5376672"/>
            <a:ext cx="7077456" cy="117307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40080" y="5376672"/>
            <a:ext cx="36576" cy="1173073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7824" y="5532120"/>
            <a:ext cx="66019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З ЦЬОГО ВИПЛИВАЄ ДЛЯ РІШЕННЯ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77824" y="5760720"/>
            <a:ext cx="6601968" cy="6427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Бренд не має в Україні ані дистриб'ютора, ані полиці, ані жодного SKU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у великому форматі й в опті HoReCa. Це означає вільну територію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і водночас нульовий упізнаваний попит: 2 позиції за всю історію каналу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створили впізнаваності, на яку можна спертися в першій партії.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03504" y="65745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Кількість позицій у зоні 7 000 – 20 000 грн порахована за каталогом із 259 ножів японського виробництва, зібраним у цій роботі. Це не обсяг продажів, а ширина присутності на полиці.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ЦІНОВІ ДІАПАЗОНИ · ДЕ ПОЗИЦІЇ, А ДЕ ГРОШІ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45 % полиці і 45 % грошей лежать в одному діапазоні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Розподіл порахований за каталогом із 259 ножів японського виробництва, зібраним у цій роботі. Частка в грошах — за сумою цін позицій, не за продажами.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ЧАСТКА ПОЗИЦІЙ НА ПОЛИЦІ · ЧАСТКА У ВАРТОСТІ КАТАЛОГУ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783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50008" y="181051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ГРН ЗА НІЖ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18105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67528" y="18105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8" y="181051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1810512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ХТО ТУТ СТОЇТЬ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00710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048256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Вхідний у Японію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50008" y="204825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до 2 499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204825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1 790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36408" y="204825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Satake Saku, Seki Kanetsugu базові, KAI Wasabi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13048" y="2089404"/>
            <a:ext cx="268224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336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11 %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58968" y="2089404"/>
            <a:ext cx="73152" cy="82296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0256" y="204825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3 %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322576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Робочий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50008" y="232257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2 500 – 4 999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232257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3 539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36408" y="232257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Tojiro DP, Satake Sakura, Tosa куроучі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813048" y="2363724"/>
            <a:ext cx="633983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74336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26 %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58968" y="2363724"/>
            <a:ext cx="316991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0256" y="232257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13 %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3776" y="255574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596896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Ядро асортименту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50008" y="259689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5 000 – 9 999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13448" y="2596896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7 290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36408" y="2596896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Kasumi Damascus, Yaxell Ran, KAI Shun, Takamura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13048" y="2638044"/>
            <a:ext cx="109728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74336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45 %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58968" y="2638044"/>
            <a:ext cx="109728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20256" y="2596896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45 %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Преміум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50008" y="2871215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10 000 – 19 999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13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12 499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36408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Yaxell Gou, Miyabi, Myojin, Seki Kanetsugu Saiun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13048" y="2912363"/>
            <a:ext cx="341376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74336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58968" y="2912363"/>
            <a:ext cx="609600" cy="82296"/>
          </a:xfrm>
          <a:prstGeom prst="rect">
            <a:avLst/>
          </a:prstGeom>
          <a:solidFill>
            <a:srgbClr val="C94F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20256" y="287121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25 %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3104387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3145535"/>
            <a:ext cx="17282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Ультра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50008" y="3145535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20 000 і вище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13448" y="314553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26 990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36408" y="314553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Yaxell Super Gou / Ypsilon, Nigara, Harukaze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13048" y="3186683"/>
            <a:ext cx="97536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974336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4 %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58968" y="3186683"/>
            <a:ext cx="341376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620256" y="3145535"/>
            <a:ext cx="4572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1C2235"/>
                </a:solidFill>
                <a:latin typeface="Segoe UI"/>
              </a:rPr>
              <a:t>14 %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66928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68096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ЦІНА ПОЗИЦІЇ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7 351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8096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По 259 ножах японського
виробництва в каталозі.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383280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584448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СЕРЕДНЯ ЗАРПЛАТА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584448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30 926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84448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Держстат, грудень 2025.
Повна зайнятість.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199632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ШЕФ-НІЖ KAI SHUN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00800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94F7C"/>
                </a:solidFill>
                <a:latin typeface="Segoe UI"/>
              </a:rPr>
              <a:t>35 %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00800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10 710 грн за один ніж.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9015984" y="3749039"/>
            <a:ext cx="261518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217152" y="3904487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YAXELL SUPER GOU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217152" y="411480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03B4B"/>
                </a:solidFill>
                <a:latin typeface="Segoe UI"/>
              </a:rPr>
              <a:t>57 %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17152" y="459028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від місячної зарплати.
17 746 грн за один ніж.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504748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5047488"/>
            <a:ext cx="36576" cy="109728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СТЕЛЯ ДОСТУПНОСТІ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543153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Японський сегмент обмежений не смаком, а доходом. При середній зарплаті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30,9 тис. грн ніж за 10–18 тис. грн — це покупка рівня побутової техніки,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яку роблять раз на кілька років і переважно як подарунок.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5047488"/>
            <a:ext cx="5413248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217920" y="5047488"/>
            <a:ext cx="36576" cy="10972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55664" y="520293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455664" y="5431536"/>
            <a:ext cx="4937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Діапазон 5 000 – 10 000 грн дає 45 % позицій і 45 % вартості каталогу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єдина зона, де продавець може зібрати повну лінійку. Нижче 2 500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японське виробництво майже відсутнє: 11 % позицій і 3 % вартості.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«Частка у вартості» — сума роздрібних цін позицій діапазону, поділена на суму цін усього каталогу. Це міра того, де сконцентрована пропозиція, а не виміряні продажі: даних sell-through по категорії в Україні немає.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1 · СПЕЦІАЛІЗОВАНИЙ ОНЛАЙН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Дев'ять магазинів тримають усе японське виробництво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вся категорія «зроблено в Японії» в Україні. Разом — близько 1 000 японських SKU і оцінно 16–19 млн грн роздрібу на рік.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МАГАЗИН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41448" y="15727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ГЕО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1572768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АСОРТИМЕНТ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7" y="15727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ЦІНИ, ГРН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7767" y="1572768"/>
            <a:ext cx="374903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КЛЮЧОВІ БРЕНДИ І 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36807" y="15727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51076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92224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profimax.com.ua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448" y="1792224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64408" y="179222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12 япон. брендів, ~700 япон.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7" y="1792224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1 041 – 38 640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7767" y="1792224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 103, KAI 140, Tojiro 86, Suncraft 79, Satake 64, Kasumi 21, Sakai Takayuki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78440" y="1792224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каталог країни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roks.in.ua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41448" y="2061972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64408" y="206197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24 япон. бренди, 137 SKU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7" y="2061972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80 – 16 740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7767" y="2061972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Tosa 26, Kanetsugu 17, Masahiro 16, Yoshihiro 15, Takamura 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78440" y="2061972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Найрідкісніші ковалі. Дилерства не заявляє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2290572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66928" y="2331720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1448" y="2331720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Київ, Prom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64408" y="23317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6 брендів + камені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96127" y="2331720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899 – 9 999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7767" y="2331720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Yaxell, KAI, Kasumi, Tojiro, Suncraft + камені Shapton, Naniwa, 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78440" y="2331720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Ніж + заточення в одному місці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2601468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volod.in.ua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41448" y="2601468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64408" y="260146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Kasumi 18 SKU, японська секція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96127" y="2601468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10 870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7" y="2601468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Kasumi Damascus 13, Tora 10, Kuro 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78440" y="2601468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одному бренду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3776" y="2830068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" y="2871215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rezat.com.ua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41448" y="2871215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64408" y="287121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300+ позицій япон. категорії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96127" y="2871215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570 – 1 150 (масова полиця)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87767" y="2871215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KAI, Satake, Kanetsugu, Tojiro, Masahiro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78440" y="2871215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Найдоступніший вхід у категорію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3140963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hangiri.com.ua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3140963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64408" y="31409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Односторонні ножі для суші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96127" y="3140963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287767" y="3140963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Sekiryu, Sakai Takayuki, KAI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78440" y="3140963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профільний суші-магазин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93776" y="3369563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6928" y="34107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smart-kitchen.com.ua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441448" y="3410711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Київ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64408" y="341071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«для суші»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96127" y="3410711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7767" y="3410711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Sekiryu та ін.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3410711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Кухонна спеціалізація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80459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nojaro.com.ua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441448" y="3680459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64408" y="368045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Секція сантоку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596127" y="3680459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287767" y="3680459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Змішаний асортимент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378440" y="3680459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Нішевий агрегатор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93776" y="3909059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66928" y="3950207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europosud.ua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441448" y="3950207"/>
            <a:ext cx="7680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Україна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264408" y="39502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Серія «японські ножі»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96127" y="3950207"/>
            <a:ext cx="1636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87767" y="3950207"/>
            <a:ext cx="3694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Tojiro, Satake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378440" y="3950207"/>
            <a:ext cx="12527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Посуд + ножі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378440" y="1572768"/>
            <a:ext cx="1252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РОЛЬ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66928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566928" y="4315968"/>
            <a:ext cx="36576" cy="192024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ЦЕЙ КАНАЛ НЕ МАСШТАБУЄТЬСЯ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Дев'ять магазинів на 33 млн населення — це не недорозвиненість,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а рівновага. Ринок, який вони обслуговують, замалий для десятого.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Жоден із них не має офлайн-мережі: усе працює через Нову пошту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 одного київського складу.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29768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97680" y="4315968"/>
            <a:ext cx="36576" cy="192024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542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ЦЕЙ КАНАЛ РОБИТЬ ДОБРЕ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3542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Продає складний товар складному покупцю: описи сталі, HRC,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кількість шарів, походження заводу.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Це єдиний канал, де маржа виправдовує консультацію.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Тут можна запустити новий бренд — але не можна заробити обсяг.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046720" y="4315968"/>
            <a:ext cx="3584448" cy="192024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046720" y="4315968"/>
            <a:ext cx="36576" cy="1920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84464" y="4471416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ЗАУВАЖЕННЯ ПРО ДОСТОВІРНІСТЬ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84464" y="4700016"/>
            <a:ext cx="3108960" cy="1389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ROKS прямо не заявляє статусу офіційного дилера, хоча продає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24 японські бренди. japan-knife працює через Prom.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покупця це означає, що гарантія і походження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тримаються на слові продавця, а не на дилерському договорі.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2 · ВЕЛИКИЙ ФОРМАТ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Епіцентр: 133 японські ножі з 4 950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Найбільша офлайн-полиця кухонних ножів в Україні — і єдине місце, де японське виробництво стоїть у масштабі, а не поштучно.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ЯПОНСЬКЕ ВИРОБНИЦТВО НА ПОЛИЦІ ЄПІЦЕНТРУ · SKU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93776" y="1700784"/>
            <a:ext cx="8284464" cy="512064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57984" y="1851660"/>
            <a:ext cx="3017520" cy="1005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85232" y="1810512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10512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50608" y="1810512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Senzo Classic, Twisted Octagon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3776" y="2304288"/>
            <a:ext cx="8284464" cy="512064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414016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57984" y="2455164"/>
            <a:ext cx="933253" cy="1005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85232" y="241401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E9EA6"/>
                </a:solidFill>
                <a:latin typeface="Segoe UI"/>
              </a:rPr>
              <a:t>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25312" y="2414016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50608" y="2414016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DP, Basic, Shippu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3776" y="2907792"/>
            <a:ext cx="8284464" cy="512064"/>
          </a:xfrm>
          <a:prstGeom prst="roundRect">
            <a:avLst>
              <a:gd name="adj" fmla="val 14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17520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57984" y="3058668"/>
            <a:ext cx="186650" cy="10058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85232" y="301752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25312" y="3017520"/>
            <a:ext cx="1188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301752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Wasabi, Shun Classic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657600"/>
            <a:ext cx="8138160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822192"/>
            <a:ext cx="1463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717890"/>
                </a:solidFill>
                <a:latin typeface="Segoe UI"/>
              </a:rPr>
              <a:t>Решта полиці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57984" y="3863340"/>
            <a:ext cx="3017520" cy="100584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85232" y="3822192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>
                <a:solidFill>
                  <a:srgbClr val="717890"/>
                </a:solidFill>
                <a:latin typeface="Segoe UI"/>
              </a:rPr>
              <a:t>4 817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25312" y="3822192"/>
            <a:ext cx="2788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0">
                <a:solidFill>
                  <a:srgbClr val="717890"/>
                </a:solidFill>
                <a:latin typeface="Segoe UI"/>
              </a:rPr>
              <a:t>Поза обсягом цієї роботи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33104" y="1810512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34272" y="1965960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УСЬОГО SKU В КАТЕГОРІЇ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2176272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4820A"/>
                </a:solidFill>
                <a:latin typeface="Segoe UI"/>
              </a:rPr>
              <a:t>4 950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34272" y="26517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Ножі кухонні, Епіцентр,
вересень 2026.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833104" y="2980944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34272" y="3136391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ЯПОНСЬКЕ ВИРОБНИЦТВО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34272" y="334670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1E9EA6"/>
                </a:solidFill>
                <a:latin typeface="Segoe UI"/>
              </a:rPr>
              <a:t>133 SKU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34272" y="3822191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Suncraft 97 + Tojiro 30 + KAI 6.
2,7 % полиці.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833104" y="4151376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34272" y="4306824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ЦІНИ ЯПОНСЬКОЇ ПОЛИЦІ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34272" y="4517136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5D4B96"/>
                </a:solidFill>
                <a:latin typeface="Segoe UI"/>
              </a:rPr>
              <a:t>2 787 – 11 271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34272" y="4992624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грн. Увесь японський
асортимент мережі.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833104" y="5321808"/>
            <a:ext cx="2798064" cy="109728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34272" y="5477256"/>
            <a:ext cx="23957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ЯПОНСЬКИХ БРЕНДІВ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34272" y="5687568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C03B4B"/>
                </a:solidFill>
                <a:latin typeface="Segoe UI"/>
              </a:rPr>
              <a:t>3 з 55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34272" y="6163056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що присутні в країні.
Решта 52 полиці не мають.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6928" y="4370832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66928" y="4370832"/>
            <a:ext cx="36576" cy="12070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04672" y="4526280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ДОВОДИТЬ SUNCRAFT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4672" y="4754880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97 SKU однієї японської марки в мережі — це не тест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 не подарункова вітрина, а повноцінна лінійка.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Отже бар'єр не в мережі й не в покупцеві.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18304" y="4370832"/>
            <a:ext cx="4005072" cy="120700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718304" y="4370832"/>
            <a:ext cx="36576" cy="1207008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56048" y="4526280"/>
            <a:ext cx="3529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37A169"/>
                </a:solidFill>
                <a:latin typeface="Segoe UI"/>
              </a:rPr>
              <a:t>ЩО ЦЕ ВІДКРИВАЄ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56048" y="4754880"/>
            <a:ext cx="3529584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Решта 52 японські бренди в цю мережу не зайшли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жодною позицією. Великий формат — єдиний канал,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де японський асортимент може отримати обіг.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Джерело: публічний каталог epicentrk.ua, фільтр «Кухонні ножі», вересень 2026. Кількість SKU відображає ширину асортименту, а не продажі. Асортимент неяпонського походження показано одним агрегованим рядком і далі в колоді не розглядається.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3 · МАРКЕТПЛЕЙСИ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Полиця без складу: японські позиції є, товару немає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Перевірка механіки каналу на конкретному бренді. Висновок переноситься на всі японські марки: маркетплейс показує каталог постачальника, а не залишок.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23408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1755648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50" b="1">
                <a:solidFill>
                  <a:srgbClr val="1C2235"/>
                </a:solidFill>
                <a:latin typeface="Segoe UI"/>
              </a:rPr>
              <a:t>ROZETKA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157984"/>
            <a:ext cx="31455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Пошук за брендом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232257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03B4B"/>
                </a:solidFill>
                <a:latin typeface="Segoe U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1408" y="243230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303A5D"/>
                </a:solidFill>
                <a:latin typeface="Segoe UI"/>
              </a:rPr>
              <a:t>Sakai Takayuki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" y="274320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871216"/>
            <a:ext cx="3145536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API пошуку Rozetka на запит «Sakai Takayuki» повертає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goods_quantity_found = 0. Жодної позиції бренду в країні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на найбільшому майданчику роздрібу.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0248" y="1554480"/>
            <a:ext cx="3584448" cy="23408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9704" y="1755648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50" b="1">
                <a:solidFill>
                  <a:srgbClr val="1C2235"/>
                </a:solidFill>
                <a:latin typeface="Segoe UI"/>
              </a:rPr>
              <a:t>PROM.UA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2157984"/>
            <a:ext cx="31455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Знайдено лістингів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9704" y="232257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4820A"/>
                </a:solidFill>
                <a:latin typeface="Segoe UI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4728" y="243230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303A5D"/>
                </a:solidFill>
                <a:latin typeface="Segoe UI"/>
              </a:rPr>
              <a:t>у трьох вітрин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9704" y="274320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9704" y="2871216"/>
            <a:ext cx="3145536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Усі 11 — із терміном «поставка зі складу 5–10 днів».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Чотири різні моделі у двох різних продавців мають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однакову ціну 15 326 грн.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7" y="1554480"/>
            <a:ext cx="3584448" cy="23408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93023" y="1755648"/>
            <a:ext cx="31455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950" b="1">
                <a:solidFill>
                  <a:srgbClr val="1C2235"/>
                </a:solidFill>
                <a:latin typeface="Segoe UI"/>
              </a:rPr>
              <a:t>ВЛАСНІ САЙТИ ТИХ САМИХ ПРОДАВЦІВ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93023" y="2157984"/>
            <a:ext cx="314553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Підтверджено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93023" y="2322576"/>
            <a:ext cx="1280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rgbClr val="C03B4B"/>
                </a:solidFill>
                <a:latin typeface="Segoe UI"/>
              </a:rPr>
              <a:t>0 з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28047" y="2432304"/>
            <a:ext cx="181051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303A5D"/>
                </a:solidFill>
                <a:latin typeface="Segoe UI"/>
              </a:rPr>
              <a:t>вітрин ROKS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93023" y="2743200"/>
            <a:ext cx="3145536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93023" y="2871216"/>
            <a:ext cx="3145536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Вітрина ROKS на Prom показує дві позиції бренду.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Власний сайт roks.com.ua за тими самими запитами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не знаходить жодної.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4059936"/>
            <a:ext cx="6400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ОДИН ФІД, ЧОТИРИ РІЗНІ НОЖІ, ОДНА ЦІНА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4297680"/>
            <a:ext cx="4572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38928" y="42976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ВІТРИНА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93408" y="4297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8" y="4297680"/>
            <a:ext cx="3566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3776" y="4457700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4498848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Urushi Saiu Santoku 17 см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38928" y="44988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93408" y="44988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82128" y="4498848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Ціна з формули, не із залишку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4754880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Urushi Sairen Kengata 16 см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38928" y="47548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93408" y="47548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882128" y="4754880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93776" y="4969764"/>
            <a:ext cx="1116482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5010912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Urushi Saiseki Kengata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38928" y="501091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Shopnica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93408" y="501091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82128" y="5010912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5266944"/>
            <a:ext cx="45171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Sakai Takayuki Nanairo Santoku Green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138928" y="526694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tech.dp.ua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93408" y="5266944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15 326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82128" y="5266944"/>
            <a:ext cx="3511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/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566928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6928" y="563270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04672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ВАЖЛИВО ДЛЯ ВХОДУ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4672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Маркетплейс не дає ані полиці, ані обігу, ані контролю ціни: він транслює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чужий каталог. Для бренду це означає присутність без продажів.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5632704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17920" y="5632704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55664" y="5788152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НАСЛІДОК ДЛЯ ПЕРЕГОВОРІВ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6016752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виробник, який побачить свої моделі на Prom за 15 326 грн,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вважатиме ринок зайнятим. Це треба знімати до першої розмови.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" y="652881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Перевірено 1 жовтня 2026: API пошуку Rozetka, видача prom.ua, картки товарів і власні сайти продавців. Механіка показана на Sakai Takayuki — бренді, для якого вдалося зіставити всі три джерела.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КАНАЛ 4 · ОПТ HORECA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50" b="1">
                <a:solidFill>
                  <a:srgbClr val="FFFFFF"/>
                </a:solidFill>
                <a:latin typeface="Segoe UI"/>
              </a:rPr>
              <a:t>523 професійні ножі — і два японські бренди серед них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головний негативний результат дослідження. Професійний канал в Україні японські ножі не продає.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AL-GROUP · ОПТ ПРОФЕСІЙНИХ НОЖІВ ДЛЯ HORECA · 523 ПОЗИЦІЇ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Arcos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99339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Tramontina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9339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Бразилія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9856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19856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Pirge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19856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Туреччина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46320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Sanelli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4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72784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Hendi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Нідерланди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99248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99248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Stalgast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8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Польща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25712" y="1810512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25712" y="1879092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Paderno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25712" y="2084831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Lacor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93392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93392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Giesser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93392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19856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Forest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19856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Іспанія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846320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46320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WAS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Німеччина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272784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72784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GI.Metall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Італія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2304288"/>
            <a:ext cx="1353312" cy="256032"/>
          </a:xfrm>
          <a:prstGeom prst="roundRect">
            <a:avLst>
              <a:gd name="adj" fmla="val 35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99248" y="237286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90" b="1">
                <a:solidFill>
                  <a:srgbClr val="303A5D"/>
                </a:solidFill>
                <a:latin typeface="Segoe UI"/>
              </a:rPr>
              <a:t>Chef-1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99248" y="2578608"/>
            <a:ext cx="13533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70464" y="1810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ЄВРОПА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70464" y="197510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>
                <a:solidFill>
                  <a:srgbClr val="1E9EA6"/>
                </a:solidFill>
                <a:latin typeface="Segoe UI"/>
              </a:rPr>
              <a:t>13 брендів
із 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928" y="2871216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ЯПОНСЬКІ ПОЗИЦІЇ В ЦЬОМУ КАТАЛОЗІ — ВСЬОГО ТРИ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10896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29968" y="310896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ПОЗИЦІЯ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041648" y="310896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230368" y="31089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ПОХОДЖЕННЯ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93776" y="326898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" y="331012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Yaxell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29968" y="331012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Сантоку 165 мм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41648" y="331012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8 004 грн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30368" y="331012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Японія, Секі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5844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Kaneyoshi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29968" y="35844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210 мм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041648" y="35844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30368" y="358444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93776" y="3817620"/>
            <a:ext cx="654710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66928" y="385876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Ketu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029968" y="385876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Накірі 165 мм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041648" y="385876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13 290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30368" y="3858768"/>
            <a:ext cx="16824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Лінія Yaxell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223760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p_834b41037720a5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6912" y="2926080"/>
            <a:ext cx="1956815" cy="1005840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7370064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Європа на профкухні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0064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Arcos, Tramontina, Pirge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528048" y="2852928"/>
            <a:ext cx="2103120" cy="1481328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p_3f769ecb739067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0" y="2926080"/>
            <a:ext cx="1956815" cy="1005840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9674352" y="4005072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«Японський» в опті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74352" y="4169664"/>
            <a:ext cx="181051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60" b="0">
                <a:solidFill>
                  <a:srgbClr val="717890"/>
                </a:solidFill>
                <a:latin typeface="Segoe UI"/>
              </a:rPr>
              <a:t>= форма леза, не походження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517136"/>
            <a:ext cx="440740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23760" y="4517136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61504" y="4672584"/>
            <a:ext cx="3931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LFOOD.COM.UA · КАТЕГОРІЯ «ЯПОНСЬКІ НОЖІ»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61504" y="4901184"/>
            <a:ext cx="39319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28 позицій, 1 274 – 5 907 грн. Бренди: DICK (Німеччина, 13),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ICEL (Португалія, 8), Hendi (6), Stalgast (1).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Японських брендів — жодного.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«Японський ніж» у профканалі означає форму леза.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041648"/>
            <a:ext cx="321868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6928" y="4041648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04672" y="4197096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ЧОМУ ЄВРОПА ВИГРАЛА ЦЕЙ КАНАЛ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" y="4425696"/>
            <a:ext cx="274320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Ціна заміни. Arcos і Tramontina — 300–900 грн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 ніж, це списується без болю.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Логістика. Ножі приїжджають разом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із каструлями, дошками і формою.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Ніж — рядок у накладній, а не окрема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закупівля.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931920" y="4041648"/>
            <a:ext cx="3035808" cy="173736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931920" y="4041648"/>
            <a:ext cx="36576" cy="173736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69663" y="4197096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 ДЛЯ МОДЕЛІ ВХОДУ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169663" y="4425696"/>
            <a:ext cx="256032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Продати японський ніж у HoReCa через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існуючий опт не вийде: у цих каталогів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немає ні полиці, ні аргументу, ні сервісу.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Єдиний виняток — односторонні ножі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для суші, але це 500–900 штук на рік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800" b="0">
                <a:solidFill>
                  <a:srgbClr val="303A5D"/>
                </a:solidFill>
                <a:latin typeface="Segoe UI"/>
              </a:rPr>
              <a:t>на всю країну.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1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55 брендів, а не десять: промислові марки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Поглиблений обхід 17 продавців у жовтні 2026. Промислові бренди — серійне виробництво, стабільна якість, західні руків'я.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5361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554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39" y="1554480"/>
            <a:ext cx="4754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ЗАСН.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7327" y="155448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 UA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7" y="1554480"/>
            <a:ext cx="144475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19" y="15544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71231" y="1554480"/>
            <a:ext cx="217627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47504" y="1554480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КОМЕНТАР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/ Shun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1755648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39" y="1755648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7327" y="1755648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15967" y="1755648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27 970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19" y="1755648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дамаск, VG-MAX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1" y="1755648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japan-knife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47504" y="1755648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Найвідоміше японське ім'я в Україні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1976932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Yaxell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197693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39" y="1976932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67327" y="1976932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15967" y="1976932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70 102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19" y="1976932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VG-10, 37–193 шари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1976932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yaxell.com.ua · ProfiMax · AL-Group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47504" y="1976932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Ексклюзивний імпортер, шоурум у Києві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93776" y="2157069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19821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Suncraft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219821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39" y="219821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67327" y="219821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15967" y="219821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1 199 – 18 999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719" y="219821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дамаск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71231" y="219821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47504" y="219821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японський преміум у великому форматі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2419502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Tojiro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241950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39" y="2419502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67327" y="2419502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15967" y="2419502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599 – 16 499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60719" y="2419502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Shirogami, FAX-18 HSS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71231" y="2419502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Епіцентр · WildCat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747504" y="2419502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Найширша присутність по каналах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3776" y="2599639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2640787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103120" y="2640787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39" y="2640787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1947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67327" y="2640787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64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15967" y="2640787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849 – 16 999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19" y="2640787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Мо-ванадій, VG-10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2640787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rezat · Prom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747504" y="2640787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Найдоступніша японська марка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2862072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Kanetsune Seki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03120" y="2862072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91839" y="2862072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1964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767327" y="2862072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15967" y="2862072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760719" y="2862072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Shirogami, VG-10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71231" y="2862072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ibis.net.ua · x-gear · WildCat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747504" y="2862072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Через збройові магазини, не кухонні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93776" y="304220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3083356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Miyabi (Zwilling)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03120" y="308335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291839" y="308335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2004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67327" y="3083356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315967" y="3083356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760719" y="3083356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MC63, дамаск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71231" y="3083356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zwilling.in.ua · lacocotte · ROKS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747504" y="3083356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Найдорожчий бренд масового роздрібу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66928" y="3304641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Kasumi / Sumikama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103120" y="330464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91839" y="330464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1926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767327" y="3304641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315967" y="3304641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15 229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760719" y="3304641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+ 32 шари, AUS-6A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71231" y="3304641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Volod · japan-knife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747504" y="3304641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93776" y="348477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525926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Seki Kanetsugu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03120" y="352592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291839" y="352592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1899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767327" y="3525926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15967" y="3525926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13 900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760719" y="3525926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Saiun, Zuiun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71231" y="3525926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 · WildCat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747504" y="3525926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6928" y="3747211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Masahiro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03120" y="3747211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39" y="3747211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1950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767327" y="3747211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315967" y="3747211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2 400 – 4 100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760719" y="3747211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MRS-30, мо-ванадій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571231" y="3747211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47504" y="3747211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Історичний бренд, мала присутність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93776" y="392734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66928" y="3968496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Misono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03120" y="3968496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291839" y="3968496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1935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767327" y="3968496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315967" y="3968496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1 690 – 4 990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760719" y="3968496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MV, молібден-ванадій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571231" y="3968496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747504" y="3968496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професійної кухні Японії; в Україні 2 позиції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4189780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Shimomura Kihan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103120" y="418978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291839" y="418978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767327" y="4189780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15967" y="4189780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60719" y="418978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Мо-ванадій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571231" y="4189780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 · WildCat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747504" y="4189780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 в каталозі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493776" y="436991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66928" y="4411065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Satake Masamune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03120" y="441106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291839" y="4411065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767327" y="4411065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315967" y="4411065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60719" y="4411065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571231" y="4411065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747504" y="4411065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окрема лінія Satake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4632350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KAI Sekimagoroku Imayo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03120" y="463235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291839" y="463235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н/д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767327" y="4632350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315967" y="4632350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2 700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760719" y="463235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DSR1K6, hammered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571231" y="4632350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747504" y="4632350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Продавець заявляє ексклюзив на ринку України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493776" y="481248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566928" y="4853635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Higonokami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103120" y="4853635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3291839" y="4853635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1896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767327" y="4853635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4315967" y="4853635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760719" y="4853635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латунь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571231" y="4853635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vodospad.net.ua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747504" y="4853635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Класичний складаний ніж, не кухонний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566928" y="5074920"/>
            <a:ext cx="14813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Global (Yoshikin)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103120" y="5074920"/>
            <a:ext cx="1133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291839" y="5074920"/>
            <a:ext cx="4206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1954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767327" y="5074920"/>
            <a:ext cx="4937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15967" y="5074920"/>
            <a:ext cx="13898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760719" y="5074920"/>
            <a:ext cx="17556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CROMOVA 18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571231" y="5074920"/>
            <a:ext cx="21214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Rozetka · m.ua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747504" y="5074920"/>
            <a:ext cx="17739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Іконічний дизайн, слабка дистрибуція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66928" y="534009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04672" y="549554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ЗМІНИВ ГЛИБШИЙ ОБХІД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04672" y="572414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Перший зріз давав 10 японських брендів. Повний обхід 17 продавців дав 55: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16 промислових, 6 збірних, 12 родинних кузень і 21 іменного коваля.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217920" y="5340096"/>
            <a:ext cx="54132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6217920" y="5340096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6455664" y="5495544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ДЕ КОНЦЕНТРАЦІЯ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455664" y="5724144"/>
            <a:ext cx="49377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15 промислових брендів дають 604 позиції із 708, тобто 85 % асортименту.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П'ять марок — KAI, Yaxell, Suncraft, Tojiro, Satake — це 486 позицій, 69 %.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03504" y="6492240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SKU — кількість позицій у публічних каталогах українських продавців, жовтень 2026. «н/д» — бренд присутній, але кількість або ціну з каталогу витягти не вдалося.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2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Родинні кузні та збірні бренди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Родинна кузня — виробництво з іменем і спадковістю, але без серії. Збірний бренд — торгова марка, під якою кілька ковалів.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Nigara Hamono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Хіросакі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14 800 – 16 740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SG-2, Anmon 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350 років, 8 поколінь, ковалі клану Цуґару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JCK Natures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12 220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японського трейдера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Takamura Hamono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5 320 – 11 990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R2/SG-2, Chromax, VG-10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Піонер порошкової сталі, «лазерний» спуск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Tosa / Tosauchi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2 929 – 10 035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Aogami, Shirogami, куроучі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Найглибша артизанальна лінія в Україні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Takayuki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7 460 – 7 640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Yasugi, VG-10, Ginsan, Aogami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Кандидат у постачальники. На складі лише 2 янагіби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Gyokucho / Kamisaku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7 300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AUS-8A, 3 шари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Tamatori Industry, місто Ечідзен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Yoshihiro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3 609 – 6 747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вуглець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11 позицій, друга за глибиною артизанальна лінія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Seto Iseya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5 500 – 6 550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Дамаск, ручна ковка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Santoku / Petty / Paring, ковані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Kaneyoshi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Єдиний японець в оптовому профканалі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Yamawaki Hamono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SK5, мідзу-хоньякі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 хоньякі, 100 років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392734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Ichiji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396849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1 999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39684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39684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396849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Одна позиція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395020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397764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66928" y="418978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Sekiryu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167128" y="418978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53128" y="418978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956048" y="418978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1 638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19088" y="418978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Нержавіюча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30767" y="418978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Hangiri · Smart-Kitchen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65207" y="418978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Найдешевший вхід в односторонні ножі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3721608" y="417149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21608" y="419892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493776" y="4369917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928" y="441106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Anryu Hamono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167128" y="441106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4453128" y="4411065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956048" y="441106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419088" y="4411065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 дамаск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430767" y="441106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65207" y="4411065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Майстерня Такефу Найф Вілідж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3721608" y="439277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721608" y="442020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566928" y="463235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HONMAMON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167128" y="463235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453128" y="463235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4956048" y="463235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19088" y="463235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#2, Shirogami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430767" y="463235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 · IzzaBugra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65207" y="463235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Збірний бренд ковалів Тоса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3721608" y="461406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21608" y="464149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93776" y="4812487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566928" y="4853635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Hokiyama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167128" y="485363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453128" y="4853635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4956048" y="4853635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419088" y="4853635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Tosa-Ichi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430767" y="4853635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665207" y="4853635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Згаданий у каталозі, позицій не знайдено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721608" y="4835347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3721608" y="4862779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566928" y="5074920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Inoguchi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167128" y="50749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453128" y="5074920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956048" y="5074920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19088" y="5074920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430767" y="5074920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665207" y="5074920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Чотири позиції, бренд не розкритий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3721608" y="5056632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721608" y="5084064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93776" y="5255056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66928" y="5296204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S.K.K. Cutlery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167128" y="52962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453128" y="5296204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956048" y="5296204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419088" y="5296204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н/д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430767" y="5296204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665207" y="5296204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Сашимі 240 мм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3721608" y="5277916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721608" y="5305348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ТРЕЙД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566928" y="5517489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Suisin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2167128" y="551748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453128" y="5517489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—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956048" y="5517489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6419088" y="5517489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8430767" y="5517489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9665207" y="5517489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Еталон Сакаї серед шефів</a:t>
            </a:r>
          </a:p>
        </p:txBody>
      </p:sp>
      <p:sp>
        <p:nvSpPr>
          <p:cNvPr id="187" name="Rounded Rectangle 186"/>
          <p:cNvSpPr/>
          <p:nvPr/>
        </p:nvSpPr>
        <p:spPr>
          <a:xfrm>
            <a:off x="3721608" y="5499201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3721608" y="5526633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РОДИНА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566928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566928" y="5830214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804672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ЩО ТАКЕ РОДИННА КУЗНЯ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04672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Виробництво на 5–30 людей зі спадковою технологією.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Nigara — 350 років і 8 поколінь, Yamawaki — 100 років.</a:t>
            </a:r>
          </a:p>
        </p:txBody>
      </p:sp>
      <p:sp>
        <p:nvSpPr>
          <p:cNvPr id="193" name="Rounded Rectangle 192"/>
          <p:cNvSpPr/>
          <p:nvPr/>
        </p:nvSpPr>
        <p:spPr>
          <a:xfrm>
            <a:off x="4270248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Rectangle 193"/>
          <p:cNvSpPr/>
          <p:nvPr/>
        </p:nvSpPr>
        <p:spPr>
          <a:xfrm>
            <a:off x="4270248" y="5830214"/>
            <a:ext cx="36576" cy="851712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4507992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717890"/>
                </a:solidFill>
                <a:latin typeface="Segoe UI"/>
              </a:rPr>
              <a:t>ЩО ТАКЕ ЗБІРНИЙ БРЕНД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507992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6 брендів. HONMAMON, JCK Natures — японські трейдери,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що продають вироби різних ковалів під своєю маркою.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7973567" y="5830214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973567" y="5830214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8211311" y="5985662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ЧОМУ ЦЕ НЕ МАСШТАБУЄТЬСЯ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8211311" y="6214262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Tosa дає 29 позицій, решта — від 1 до 11.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Партію під замовлення тут не зробить ніхто.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3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верхня половина за ціною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Ножі, підписані іменем конкретної людини. Це верхній край ринку за ціною і нижній — за обсягом.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Harukaze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19 990 – 26 990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Дамаск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Найдорожчі позиції Sekator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94F7C"/>
                </a:solidFill>
                <a:latin typeface="Segoe UI"/>
              </a:rPr>
              <a:t>Etsu / Ittetsu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Ечідзен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16 677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R2 дамаск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Найдорожча одинична позиція артизанів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Myojin (Naohito)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13 200 – 15 580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Cobalt Special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Іменний коваль, найдорожчий сегмент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Hatsukokoro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13 865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ZDP-189, 65–67 HRC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Найтвердіша сталь на ринку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7A169"/>
                </a:solidFill>
                <a:latin typeface="Segoe UI"/>
              </a:rPr>
              <a:t>Tsukasa (Hinoura)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Цубаме-Сандзьо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Третє покоління ковалів Сандзьо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Shigehiro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 дамаск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Special Petty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Tadayoshi Tokaji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8 480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Сантоку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8 000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Hagane, вуглець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japan-knife.top · 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210 мм, одностороння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Sakai Haruhiko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7 040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Янагіба 240 мм, одностороння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Tomita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3 215 – 6 600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#2 / Super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Деба, сантоку, універсальні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93776" y="392734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Tanaka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167128" y="396849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453128" y="396849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956048" y="396849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5 203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19088" y="396849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30767" y="396849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65207" y="396849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Усуба камаґата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721608" y="395020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721608" y="397764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6692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0467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5D4B96"/>
                </a:solidFill>
                <a:latin typeface="Segoe UI"/>
              </a:rPr>
              <a:t>ЦЕ НЕ БРЕНДИ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0467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Це імена людей. Myojin Naohito, Tsukasa Hinoura, Tomita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кожен кує сам, партій не існує.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27024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427024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450799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ДІАПАЗОН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0799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Від 1 980 грн (Takanori Izumi) до 16 677 грн (Etsu).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Hatsukokoro ZDP-189, 65–67 HRC — найтвердіша сталь ринку.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7973567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7973567" y="5340096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211311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ХТО ЦЕ КУПУЄ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11311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Кілька сотень людей на країну. Для постачальника це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сегмент, а вітрина для репутації.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ПЕРЕПИС · ЗРОБЛЕНО В ЯПОНІЇ · 4 З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Іменні ковалі: нижня половина за ціною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Продовження переліку. Ці майстри доступніші за ціною, але представлені так само поодинокими позиціями.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6712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РЕГІОН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1554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5448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6048" y="155448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ЦІНА,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1554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СТАЛЬ / КОНСТРУКЦІЯ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7" y="1554480"/>
            <a:ext cx="1234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5207" y="1554480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3776" y="1714500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1755648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Fukamizu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67128" y="1755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3128" y="1755648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6048" y="1755648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2 610 – 4 850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9088" y="1755648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Куроучі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30767" y="1755648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65207" y="1755648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П'ять позицій, вхідний артизан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721608" y="1737360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21608" y="1764792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197693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Kiyokane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67128" y="19769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197693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56048" y="197693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4 590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8" y="197693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Aogami Super, куроучі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30767" y="197693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65207" y="197693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Петті куроучі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721608" y="195864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21608" y="198607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215706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219821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Hisashige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67128" y="219821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219821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56048" y="219821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19088" y="219821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вуглець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30767" y="219821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65207" y="219821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Хоньякі за 3 520 грн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721608" y="217992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721608" y="220736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241950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Kanetaka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67128" y="241950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53128" y="241950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56048" y="241950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3 520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19088" y="241950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30767" y="241950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65207" y="241950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721608" y="240121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721608" y="242864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2599639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2640787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Takanori Izumi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67128" y="264078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453128" y="2640787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56048" y="2640787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1 980 – 3 080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19088" y="2640787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AUS-10M дамаск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30767" y="2640787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65207" y="2640787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Найдоступніший артизан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721608" y="2622499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721608" y="2649931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2862072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Hanakumagawa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167128" y="286207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53128" y="2862072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56048" y="28620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2 390 – 2 790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19088" y="2862072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 #2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30767" y="2862072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65207" y="2862072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Фунаюкі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3721608" y="2843784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721608" y="2871216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93776" y="304220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308335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Motokane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167128" y="308335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453128" y="308335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56048" y="308335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 – 2 695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19088" y="308335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VG-10, Shirogami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0767" y="308335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Sekator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65207" y="308335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Продається під маркою Honmamon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3721608" y="306506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721608" y="309250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66928" y="330464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Kazuhira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167128" y="330464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53128" y="330464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956048" y="330464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19088" y="330464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Yasukihagane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430767" y="330464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65207" y="330464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Універсальний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721608" y="328635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721608" y="331378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93776" y="3484778"/>
            <a:ext cx="11164824" cy="221284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66928" y="3525926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Mikihisa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67128" y="352592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453128" y="3525926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956048" y="3525926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19088" y="3525926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Shirogami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430767" y="352592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65207" y="3525926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Макірі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21608" y="3507638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721608" y="3535070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66928" y="3747211"/>
            <a:ext cx="1545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Teruhide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167128" y="374721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453128" y="3747211"/>
            <a:ext cx="4480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956048" y="37472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419088" y="3747211"/>
            <a:ext cx="19568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Вуглецева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430767" y="3747211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WildCat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65207" y="3747211"/>
            <a:ext cx="1865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Деба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721608" y="3728923"/>
            <a:ext cx="621792" cy="173736"/>
          </a:xfrm>
          <a:prstGeom prst="roundRect">
            <a:avLst>
              <a:gd name="adj" fmla="val 35000"/>
            </a:avLst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721608" y="3756355"/>
            <a:ext cx="62179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80" b="1">
                <a:solidFill>
                  <a:srgbClr val="FFFFFF"/>
                </a:solidFill>
                <a:latin typeface="Segoe UI"/>
              </a:rPr>
              <a:t>МАЙСТЕР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56692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340096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ДОСТУПНІ АРТИЗАНИ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Takanori Izumi від 1 980 грн, Motokane від 2 090 грн.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Вуглецева сталь дешевша за дамаск, але вимагає догляду.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270248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270248" y="5340096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07992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ПРОДАЮТЬСЯ ПІД ЧУЖОЮ МАРКОЮ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07992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Motokane, Kiyokane, Shigehiro йдуть на полиці як Honmamon.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Покупець бачить збірний бренд, а не ім'я коваля.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7973567" y="5340096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7973567" y="5340096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11311" y="5495544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ЦЕ ЗНАЧИТЬ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211311" y="5724144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Ці імена не формують попит в Україні — їх ніхто не просуває.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Вони є на полиці, але не є брендами для покупця.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ЦЕ ПРОДАЄ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Сімнадцять продавців, два з них тримають нішу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Повний перелік каналів, де в Україні можна купити ніж японського виробництва, із глибиною й цінами жовтня 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2331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ПРОДАВЕЦЬ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98648" y="155448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ТИП КАНАЛУ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3128" y="1554480"/>
            <a:ext cx="1143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БРЕНДІВ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155448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ЯПОН.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554480"/>
            <a:ext cx="1965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ЦІНОВИЙ ДІАПАЗОН,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22208" y="1554480"/>
            <a:ext cx="3063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ЩО ЦЕ ЗА КАНАЛ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" y="1732788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77393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Sekator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177393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96128" y="177393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177393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1 650 – 26 990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2208" y="177393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Honmamon, Misono, Hanakumagawa, Mikihisa, Kasumi. Усі позиції марковані «(Японія)»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53128" y="1815084"/>
            <a:ext cx="168510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177393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000707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japan-knife.top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98648" y="2000707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96128" y="2000707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6248" y="2000707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1 700 – 8 600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22208" y="2000707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KAI Sekimagoroku, Satake, Sekiryu, Shimomura, Teruhide, Gyokucho, Seto Iseya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53128" y="2041855"/>
            <a:ext cx="192024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93792" y="2000707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93776" y="2186330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222747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vodospad.net.ua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98648" y="222747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Садовий + кухня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96128" y="222747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56248" y="2227478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2 090 – 2 390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22208" y="222747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Honmamon, Hanakumagawa, Higonokami. Японія в непрофільному магазині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453128" y="2268626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93792" y="2227478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6928" y="245424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WildCat / IzzaBugra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98648" y="245424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96128" y="245424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56248" y="245424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970 – 16 677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22208" y="245424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Найширша артизанальна добірка країни. Прямий закуп у Японії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53128" y="2495397"/>
            <a:ext cx="685800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93792" y="245424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28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3776" y="2639872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268102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ROKS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898648" y="268102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96128" y="268102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56248" y="268102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990 – 16 740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22208" y="268102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Єдиний із Nigara і Myojin. Дилерства не заявляє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53128" y="2722168"/>
            <a:ext cx="215537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93792" y="268102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6928" y="290779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ProfiMax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898648" y="290779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96128" y="290779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56248" y="290779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726 – 38 640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22208" y="290779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Найширший промисловий асортимент. Країну маркує сам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453128" y="2948940"/>
            <a:ext cx="286076" cy="777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93792" y="290779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F9A50B"/>
                </a:solidFill>
                <a:latin typeface="Segoe UI"/>
              </a:rPr>
              <a:t>11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3776" y="3093415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134563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Епіцентр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98648" y="3134563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Великий формат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596128" y="3134563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56248" y="3134563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2 787 – 11 271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22208" y="3134563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Suncraft 97, Tojiro 30, KAI 6. Єдиний офлайн-масштаб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53128" y="3175711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93792" y="3134563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6928" y="336133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yaxell.com.ua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98648" y="336133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596128" y="336133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100+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56248" y="336133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2 145 – 70 102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8" y="336133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Ексклюзивний імпортер Yaxell, шоурум Київ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53128" y="3402482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93792" y="336133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93776" y="354695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66928" y="358810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zwilling.in.ua / LaCocotte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898648" y="358810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Монобренд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96128" y="358810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556248" y="358810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5 900 – 43 020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22208" y="358810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Miyabi через представництво Zwilling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453128" y="3629253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93792" y="358810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3814876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rezat.com.ua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898648" y="3814876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96128" y="3814876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300+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556248" y="3814876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217 – 3 757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522208" y="3814876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Найнижчі ціни на японське виробництво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453128" y="3856024"/>
            <a:ext cx="144997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193792" y="3814876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5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93776" y="4000500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6928" y="4041648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volod.in.ua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898648" y="4041648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96128" y="4041648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40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556248" y="4041648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1 180 – 24 038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22208" y="4041648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Глибина по Kasumi, традиційні ножі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453128" y="4082796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93792" y="4041648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4268419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japan-knife.com.ua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898648" y="4268419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Спеціаліст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596128" y="4268419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60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56248" y="4268419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399 – 9 999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22208" y="4268419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Ножі + водні камені в одному місці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53128" y="4309567"/>
            <a:ext cx="192024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193792" y="4268419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7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93776" y="4454042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66928" y="4495190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Hangiri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98648" y="4495190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Суші-спеціаліст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596128" y="4495190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556248" y="4495190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1 107 – 4 420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522208" y="4495190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Sekiryu, Sakai Takayuki, KAI. Односторонні (не верифіковано: Cloudflare)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453128" y="4536338"/>
            <a:ext cx="97971" cy="777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93792" y="4495190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E9EA6"/>
                </a:solidFill>
                <a:latin typeface="Segoe UI"/>
              </a:rP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4721961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ibis.net.ua / x-gear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898648" y="4721961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Збройовий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596128" y="4721961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56248" y="4721961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150 – 16 360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22208" y="4721961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Kanetsune через збройовий канал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453128" y="4763109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193792" y="4721961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493776" y="4907584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566928" y="4948732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Kagura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98648" y="4948732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+ роздріб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5596128" y="4948732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556248" y="4948732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8522208" y="4948732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Заявляє опт — єдиний такий канал у японській ніші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53128" y="4989880"/>
            <a:ext cx="50945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93792" y="4948732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66928" y="5175504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Rozetka / m.ua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98648" y="5175504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Маркетплейс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596128" y="5175504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н/д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556248" y="5175504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2 618 – 13 195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522208" y="5175504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Global і фільтр «країна: Японія»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53128" y="5216652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193792" y="5175504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493776" y="5361127"/>
            <a:ext cx="11164824" cy="217627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66928" y="5402275"/>
            <a:ext cx="2276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AL-Group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898648" y="5402275"/>
            <a:ext cx="149961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Опт HoReCa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596128" y="5402275"/>
            <a:ext cx="9052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556248" y="5402275"/>
            <a:ext cx="191109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5 740 – 13 290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522208" y="5402275"/>
            <a:ext cx="30083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303A5D"/>
                </a:solidFill>
                <a:latin typeface="Segoe UI"/>
              </a:rPr>
              <a:t>Yaxell і Kaneyoshi серед 523 проф. ножів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4453128" y="5443423"/>
            <a:ext cx="74458" cy="77724"/>
          </a:xfrm>
          <a:prstGeom prst="rect">
            <a:avLst/>
          </a:prstGeom>
          <a:solidFill>
            <a:srgbClr val="7178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93792" y="5402275"/>
            <a:ext cx="3291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66928" y="5669280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566928" y="5669280"/>
            <a:ext cx="36576" cy="85171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04672" y="582472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КОНЦЕНТРАЦІЯ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04672" y="6053328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WildCat, ROKS і Sekator — 42 бренди з 55.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Без них ніша складається з п'яти марок.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297680" y="5669280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4297680" y="5669280"/>
            <a:ext cx="36576" cy="85171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4535424" y="582472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ЦІНОВИЙ РОЗКИД НА ТОЙ САМИЙ БРЕНД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535424" y="6053328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Tojiro: 599 грн у ProfiMax проти 13 799 грн у WildCat.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Різні лінійки, один бренд.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8046720" y="5669280"/>
            <a:ext cx="3584448" cy="85171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5669280"/>
            <a:ext cx="36576" cy="85171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284464" y="5824728"/>
            <a:ext cx="3108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1E9EA6"/>
                </a:solidFill>
                <a:latin typeface="Segoe UI"/>
              </a:rPr>
              <a:t>ЄДИНИЙ ОПТ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284464" y="6053328"/>
            <a:ext cx="3108960" cy="321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Kagura заявляє гуртові умови. Це єдиний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оптовий канал у японській ніші.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03504" y="6565392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«Японських брендів» — кількість марок японського виробництва в каталозі продавця. SKU — сумарна кількість японських позицій, оцінка за публічним каталогом.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ХТО РЕАЛЬНО ТРИМАЄ ПОЛИЦЮ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Сім японських брендів тримають 78 % японської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Ширина асортименту японських марок в українських каталогах. Це не частка ринку, але це те, що бачить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7276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ШИРИНА АСОРТИМЕНТУ В УКРАЇНСЬКИХ КАТАЛОГАХ,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105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KAI / Shun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3" y="18105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1851660"/>
            <a:ext cx="3291840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0608" y="18105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18105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Епіцентр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18105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Найширший японець країни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059228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Yaxell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66543" y="2059228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2100376"/>
            <a:ext cx="2445366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0608" y="2059228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104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059228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yaxell.com.ua · ProfiMax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2059228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Преміум SG-2, є імпортер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307945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Suncraft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66543" y="2307945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67328" y="2349093"/>
            <a:ext cx="228077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50608" y="2307945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97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2307945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Епіцентр · ProfiMax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307945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Єдиний японець у великому форматі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55666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Tojiro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66543" y="255666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Японія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67328" y="2597810"/>
            <a:ext cx="1904564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50608" y="255666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81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255666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Епіцентр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255666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Робочий преміум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80537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Satake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66543" y="280537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67328" y="2846527"/>
            <a:ext cx="1504841" cy="8229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50608" y="280537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E9EA6"/>
                </a:solidFill>
                <a:latin typeface="Segoe UI"/>
              </a:rPr>
              <a:t>64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280537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rezat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280537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Доступна Японія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0540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Kanetsune Seki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66543" y="30540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67328" y="3095244"/>
            <a:ext cx="893499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50608" y="30540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38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0540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ibis.net.ua · x-gear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0" y="30540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Через збройовий канал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302812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Tosa / Tosauchi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66543" y="3302812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Тоса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767328" y="3343960"/>
            <a:ext cx="681881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50608" y="3302812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3302812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 · WildCat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30281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Ручні кузні, куроучі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551529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Miyabi (Zwilling)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66543" y="3551529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767328" y="3592677"/>
            <a:ext cx="634854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3551529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63840" y="3551529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zwilling.in.ua · lacocotte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601200" y="3551529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Представництво Zwilling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380024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Kasumi / Sumikama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66543" y="380024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67328" y="3841394"/>
            <a:ext cx="493776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150608" y="380024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863840" y="380024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 · Volod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01200" y="380024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Дамаск за доступною ціною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048963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Seki Kanetsugu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66543" y="4048963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Секі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67328" y="4090111"/>
            <a:ext cx="399723" cy="82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150608" y="4048963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4820A"/>
                </a:solidFill>
                <a:latin typeface="Segoe UI"/>
              </a:rPr>
              <a:t>17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4048963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 · ProfiMax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01200" y="4048963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Недооцінений у профканалі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297680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Yoshihiro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66543" y="4297680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767328" y="4338828"/>
            <a:ext cx="258644" cy="8229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50608" y="4297680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5D4B96"/>
                </a:solidFill>
                <a:latin typeface="Segoe UI"/>
              </a:rPr>
              <a:t>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863840" y="4297680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ROKS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601200" y="4297680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Сакаї, поодинокі позиції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4546396"/>
            <a:ext cx="1463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1C2235"/>
                </a:solidFill>
                <a:latin typeface="Segoe UI"/>
              </a:rPr>
              <a:t>Sakai Takayuki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066543" y="4546396"/>
            <a:ext cx="16459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Сакаї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767328" y="4587544"/>
            <a:ext cx="47026" cy="82296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50608" y="4546396"/>
            <a:ext cx="640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60" b="1">
                <a:solidFill>
                  <a:srgbClr val="C03B4B"/>
                </a:solidFill>
                <a:latin typeface="Segoe UI"/>
              </a:rP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863840" y="4546396"/>
            <a:ext cx="16916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717890"/>
                </a:solidFill>
                <a:latin typeface="Segoe UI"/>
              </a:rPr>
              <a:t>ProfiMax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4546396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Кандидат у постачальники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66928" y="4864608"/>
            <a:ext cx="5413248" cy="96926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86384" y="5029200"/>
            <a:ext cx="49743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717890"/>
                </a:solidFill>
                <a:latin typeface="Segoe UI"/>
              </a:rPr>
              <a:t>СІМ ПЕРШИХ МАРОК ІЗ 55 У ПЕРЕПИСІ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86384" y="5248656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553 із 708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0" y="5212080"/>
            <a:ext cx="223113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позицій японського
виробництва, тобто 78 %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217920" y="4864608"/>
            <a:ext cx="5413248" cy="1335024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217920" y="4864608"/>
            <a:ext cx="36576" cy="133502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55664" y="5020056"/>
            <a:ext cx="4937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ЯК ЧИТАТИ ЦЮ КАРТИНУ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55664" y="5248656"/>
            <a:ext cx="4937760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Ширина асортименту — це ставка дистриб'ютора, а не попит покупця.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140 SKU KAI у спеціалізованому магазині означають, що власник готовий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тримати капітал у складі заради статусу категорійного експерта.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Решта 43 марки мають по 1–9 позицій: це вітрина, а не лінійка.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03504" y="6345936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Дані з різних каталогів не є прямо порівнюваними: Епіцентр — мережевий рітейл, ProfiMax — спеціалізований онлайн. Порівняння показує доступність бренду покупцю, а не обсяг продажів. Показано лише бренди японського виробництва.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РОЗМІР І МОДЕЛЬ ПОПИТУ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180–220 тисяч професійних ножів на рік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Прямої статистики закупівель ножів у HoReCa не існує. Нижче — модель із трьох параметрів; кожен із них оцінка.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ВИРУЧКА РЕСТОРАННОГО РИНКУ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E9EA6"/>
                </a:solidFill>
                <a:latin typeface="Segoe UI"/>
              </a:rPr>
              <a:t>246,7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млрд грн, +21,7 % р/р.
Ресторани +26,9 %, кафе +20,5 %.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83280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ЧИСТИЙ ПРИРІСТ ФОП У ХАРЧУВАННІ 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37A169"/>
                </a:solidFill>
                <a:latin typeface="Segoe UI"/>
              </a:rPr>
              <a:t>+2 728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13 373 відкрилось,
10 645 закрилось.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C4820A"/>
                </a:solidFill>
                <a:latin typeface="Segoe UI"/>
              </a:rPr>
              <a:t>25–30 тис.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Оцінка. Без кав'ярень
і барів без кухні.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15984" y="1554480"/>
            <a:ext cx="2615184" cy="111556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1709928"/>
            <a:ext cx="22128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50" b="1">
                <a:solidFill>
                  <a:srgbClr val="717890"/>
                </a:solidFill>
                <a:latin typeface="Segoe UI"/>
              </a:rPr>
              <a:t>ЯПОНСЬКА КУХНЯ, КИЇВ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1920240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5D4B96"/>
                </a:solidFill>
                <a:latin typeface="Segoe UI"/>
              </a:rPr>
              <a:t>130–200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395728"/>
            <a:ext cx="2212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>
                <a:solidFill>
                  <a:srgbClr val="717890"/>
                </a:solidFill>
                <a:latin typeface="Segoe UI"/>
              </a:rPr>
              <a:t>закладів, менш як 10 % міста.
Було ≈15 % у 2015 році.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2852928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F9A50B"/>
                </a:solidFill>
                <a:latin typeface="Segoe UI"/>
              </a:rPr>
              <a:t>МОДЕЛЬ ПОПИТУ НА ПРОФЕСІЙНІ НОЖІ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3072384"/>
            <a:ext cx="2651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688" y="3072384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93208" y="3072384"/>
            <a:ext cx="2423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ОБҐРУНТУВАННЯ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3776" y="323240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327355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із гарячою кухнею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18688" y="327355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25 000 – 30 000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93208" y="327355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Оцінка на базі динаміки ФОП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547872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Ножів в активній ротації на кухню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18688" y="3547872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8 – 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93208" y="3547872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Шеф, лінія, заготівля, м'ясо, риба, хліб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3776" y="3781044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" y="382219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18688" y="382219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12 – 24 місяці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93208" y="382219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Викришування, втрати, знос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409651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попит, штук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18688" y="409651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180 000 – 220 000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09651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25 000 × 11 ÷ 1,5 року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3776" y="432968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7083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Середня ціна закупівлі,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18688" y="437083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1C2235"/>
                </a:solidFill>
                <a:latin typeface="Segoe UI"/>
              </a:rPr>
              <a:t>≈ 550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93208" y="437083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Рівень Arcos / Tramontina / Pirge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464515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Обсяг каналу, грн на рік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18688" y="464515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100 – 120 млн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93208" y="464515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= 2,2 – 2,7 млн $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93776" y="4878323"/>
            <a:ext cx="709574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" y="4919471"/>
            <a:ext cx="2596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303A5D"/>
                </a:solidFill>
                <a:latin typeface="Segoe UI"/>
              </a:rPr>
              <a:t>З них японських, оцінка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18688" y="4919471"/>
            <a:ext cx="1819655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4820A"/>
                </a:solidFill>
                <a:latin typeface="Segoe UI"/>
              </a:rPr>
              <a:t>&lt; 3 %   ≈ 3 – 4 млн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93208" y="4919471"/>
            <a:ext cx="23682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За часткою позицій у профкаталогах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90688" y="2852928"/>
            <a:ext cx="3840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5D4B96"/>
                </a:solidFill>
                <a:latin typeface="Segoe UI"/>
              </a:rPr>
              <a:t>ВУЗЬКИЙ СЕГМЕНТ: НОЖІ ДЛЯ СУШІ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90688" y="3072384"/>
            <a:ext cx="23774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ПАРАМЕТР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68128" y="307238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ЗНАЧЕННЯ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17536" y="323240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90688" y="327355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Закладів японської кухні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68128" y="327355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600 – 900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90688" y="3547872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Янагіба / деба на кухню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68128" y="3547872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2 – 3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717536" y="3781044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90688" y="382219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Цикл заміни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8128" y="382219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3 роки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0688" y="409651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Річний попит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168128" y="409651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500 – 900 ножів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717536" y="4329683"/>
            <a:ext cx="3986784" cy="224028"/>
          </a:xfrm>
          <a:prstGeom prst="roundRect">
            <a:avLst>
              <a:gd name="adj" fmla="val 2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90688" y="4370831"/>
            <a:ext cx="2322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303A5D"/>
                </a:solidFill>
                <a:latin typeface="Segoe UI"/>
              </a:rPr>
              <a:t>Обсяг, грн на рік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68128" y="4370831"/>
            <a:ext cx="14081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5D4B96"/>
                </a:solidFill>
                <a:latin typeface="Segoe UI"/>
              </a:rPr>
              <a:t>1,0 – 3,5 млн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7790688" y="4754880"/>
            <a:ext cx="3840480" cy="1481328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790688" y="4754880"/>
            <a:ext cx="36576" cy="1481328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028431" y="4910328"/>
            <a:ext cx="33649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1">
                <a:solidFill>
                  <a:srgbClr val="C03B4B"/>
                </a:solidFill>
                <a:latin typeface="Segoe UI"/>
              </a:rPr>
              <a:t>ЧОМУ ЦЕ ВБИВЧА ЦИФРА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028431" y="5138928"/>
            <a:ext cx="3364992" cy="950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500–900 ножів на рік — це один піддон.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/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Жоден японський завод не відкриє рахунок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під такий обсяг, і жоден дистриб'ютор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не окупить під нього окремий канал.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566928" y="5230368"/>
            <a:ext cx="6949440" cy="1012393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66928" y="5230368"/>
            <a:ext cx="36576" cy="1012393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04672" y="5385816"/>
            <a:ext cx="64739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F9A50B"/>
                </a:solidFill>
                <a:latin typeface="Segoe UI"/>
              </a:rPr>
              <a:t>ЩО ЦЯ МОДЕЛЬ ГОВОРИТЬ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04672" y="5614416"/>
            <a:ext cx="6473952" cy="4820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Канал HoReCa у грошах у 7 разів менший за роздріб, а японська частка в ньому ще нижча.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Навіть якщо подвоїти японську частку з 3 % до 6 %, приріст становитиме 3–4 млн грн на рік —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менше за вартість побудови окремого каналу продажу.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03504" y="6547104"/>
            <a:ext cx="10927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20" b="0">
                <a:solidFill>
                  <a:srgbClr val="9FA9C4"/>
                </a:solidFill>
                <a:latin typeface="Segoe UI"/>
              </a:rPr>
              <a:t>Джерела фактів: Держстат / профільні огляди ресторанного ринку 2025, дані про реєстрацію ФОП у сфері харчування, LunchPoint (заклади японської кухні в Києві). Модель попиту — авторський розрахунок.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HORECA · ДІАГНОЗ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Шість причин, чому професійна кухня не купує Японію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Це не питання обізнаності чи маркетингу. Це операційна економіка кухні, і вона не змінюється від зміни постачальника.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86384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ЕКОНОМІКА ВТРАТ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Ніж на професійній кухні губиться, ламається, йде з кухарем.
При плинності персоналу 40–60 % на рік списувати 8 000 грн так само легко,
як 500 грн, неможливо.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72768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572768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37376" y="1737360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7376" y="1787651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1773936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ГЕОМЕТРІЯ ПРОТИ ПРОДУКТУ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7376" y="2084832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Твердість 60–64 HRC і тонке зведення викришуються на кістці,
замороженому продукті й скляній дошці. Європейський ніж 56 HRC
гнеться там, де японський ламається.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2889504"/>
            <a:ext cx="36576" cy="1188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86384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C03B4B"/>
                </a:solidFill>
                <a:latin typeface="Segoe UI"/>
              </a:rPr>
              <a:t>НЕМАЄ СЕРВІСУ ЗАТОЧЕННЯ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Японський ніж треба правити на водних каменях кожні 2–3 дні.
В Україні немає організованого ринку професійного заточення —
ані сервісу при дистриб'юторі, ані навчання.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2889504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2889504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437376" y="3054096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37376" y="3104388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3090672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ЛОГІСТИКА ЗАКУПІВЛІ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7376" y="3401568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Ножі купуються разом із посудом, дошками і формою одним рахунком.
Японський постачальник не може бути рядком у цій накладній —
йому доведеться створювати окремий канал.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86384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ОДНОСТОРОННЄ ЗАТОЧЕННЯ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Янагіба і деба вимагають окремої навички. Лінійний кухар нею не володіє,
а вчити його ніхто не буде: він піде через пів року.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4206240"/>
            <a:ext cx="5413248" cy="11887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17920" y="4206240"/>
            <a:ext cx="36576" cy="1188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437376" y="4370831"/>
            <a:ext cx="310896" cy="219456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37376" y="4421124"/>
            <a:ext cx="31089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407407"/>
            <a:ext cx="44805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>
                <a:solidFill>
                  <a:srgbClr val="F9A50B"/>
                </a:solidFill>
                <a:latin typeface="Segoe UI"/>
              </a:rPr>
              <a:t>ШЕФ КУПУЄ СОБІ САМ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37376" y="4718304"/>
            <a:ext cx="4974336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740" b="0">
                <a:solidFill>
                  <a:srgbClr val="303A5D"/>
                </a:solidFill>
                <a:latin typeface="Segoe UI"/>
              </a:rPr>
              <a:t>Єдиний професіонал, який реально хоче японський ніж, купує його
особисто, часто за кордоном, і не через дистриб'ютора закладу.
Він референс, а не канал збуту.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577840"/>
            <a:ext cx="11064240" cy="858520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6928" y="5577840"/>
            <a:ext cx="36576" cy="8585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4672" y="5733288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C03B4B"/>
                </a:solidFill>
                <a:latin typeface="Segoe UI"/>
              </a:rPr>
              <a:t>ЩО З ЦЬОГО ВИПЛИВАЄ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4672" y="5961888"/>
            <a:ext cx="10588752" cy="328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Жодну з шести причин не можна зняти комерційними засобами постачальника. Дві з них — заточення і навчання — теоретично розв'язні, але вимагають побудови сервісної інфраструктури,</a:t>
            </a:r>
          </a:p>
          <a:p>
            <a:pPr algn="l">
              <a:lnSpc>
                <a:spcPct val="130000"/>
              </a:lnSpc>
              <a:spcAft>
                <a:spcPts val="220"/>
              </a:spcAft>
            </a:pPr>
            <a:r>
              <a:rPr sz="760" b="0">
                <a:solidFill>
                  <a:srgbClr val="303A5D"/>
                </a:solidFill>
                <a:latin typeface="Segoe UI"/>
              </a:rPr>
              <a:t>вартість якої непорівнянна з сегментом на 3–4 млн грн. Висновок однозначний: HoReCa не може бути точкою входу в цю категорію в Україні. Вона може бути тільки джерелом референсів для B2C.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69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969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74320"/>
            <a:ext cx="1389888" cy="6008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FC95C"/>
                </a:solidFill>
                <a:latin typeface="Segoe UI"/>
              </a:rPr>
              <a:t>ТРИ СЦЕНАРІЇ ВХОДУ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Рекомендація: вузький вхід, а не дистрибуція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35640" y="402336"/>
            <a:ext cx="777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700" b="1">
                <a:solidFill>
                  <a:srgbClr val="465382"/>
                </a:solidFill>
                <a:latin typeface="Segoe UI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717890"/>
                </a:solidFill>
                <a:latin typeface="Segoe UI"/>
              </a:rPr>
              <a:t>Три прочитання того самого ринку за умови, що розглядається лише японське виробництво. Розташовані за спаданням привабливості.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584448" cy="45720"/>
          </a:xfrm>
          <a:prstGeom prst="rect">
            <a:avLst/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4144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37A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4144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ВУЗЬКИЙ ВХІД У ПОРОЖНІ ЗОНИ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37A169"/>
                </a:solidFill>
                <a:latin typeface="Segoe UI"/>
              </a:rPr>
              <a:t>60–90 SKU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4144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7 000 – 45 000 грн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37A169"/>
                </a:solidFill>
                <a:latin typeface="Segoe UI"/>
              </a:rPr>
              <a:t>ЛОГІКА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Тільки те, чого в країні немає: honyaki, Ginsan / Silver #3,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односторонні дорожчі за 10 000 грн, wa-руків'я у профканалі.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Sakai Takayuki закриває всі чотири зони однією лінійкою.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Мала партія, висока маржа, немає прямого конкурента на полиці.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Сегмент малий: сотні ножів на рік, не тисячі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Вимагає контенту і консультації, яких немає в ціні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Окупність повільна: оборотність 2–4 рази на рік</a:t>
            </a:r>
          </a:p>
        </p:txBody>
      </p:sp>
      <p:pic>
        <p:nvPicPr>
          <p:cNvPr id="28" name="Picture 27" descr="p_dab1718fad3938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6624" y="2048256"/>
            <a:ext cx="1225296" cy="713232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4270248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70248" y="1554480"/>
            <a:ext cx="3584448" cy="45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47141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4476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4476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УМОВНО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141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ДИСТРИБУЦІЯ ПОВНОЇ ЛІНІЙКИ SAKAI TAKAYUKI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7141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7141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7141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F9A50B"/>
                </a:solidFill>
                <a:latin typeface="Segoe UI"/>
              </a:rPr>
              <a:t>₴16–19 млн ніша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4476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4476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3 000 – 20 000 грн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7141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7141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F9A50B"/>
                </a:solidFill>
                <a:latin typeface="Segoe UI"/>
              </a:rPr>
              <a:t>ЛОГІКА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141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Ексклюзив по території з виробником, що експортує у 100+ країн.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Бренд у країні фактично відсутній: 2 позиції на складі.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Але цільова зона 7 000 – 20 000 грн тримає 105 позицій каталогу: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там уже стоять Yaxell, KAI, Tojiro і Kasumi з полицею і глибиною.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7141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7141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141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Вхід у найгустішу частину шкали без упізнаваності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10 % мита проти 0 % у європейського конкурента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Ексклюзив вимагає мінімальної партії й цінової дисципліни</a:t>
            </a:r>
          </a:p>
        </p:txBody>
      </p:sp>
      <p:pic>
        <p:nvPicPr>
          <p:cNvPr id="47" name="Picture 46" descr="p_f1288f001cdba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2048256"/>
            <a:ext cx="1225296" cy="7132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7973567" y="1554480"/>
            <a:ext cx="3584448" cy="3730752"/>
          </a:xfrm>
          <a:prstGeom prst="roundRect">
            <a:avLst>
              <a:gd name="adj" fmla="val 10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73567" y="1554480"/>
            <a:ext cx="3584448" cy="45720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174736" y="1737360"/>
            <a:ext cx="292608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4736" y="1796795"/>
            <a:ext cx="29260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60" b="1">
                <a:solidFill>
                  <a:srgbClr val="FFFFFF"/>
                </a:solidFill>
                <a:latin typeface="Segoe UI"/>
              </a:rPr>
              <a:t>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48088" y="1737360"/>
            <a:ext cx="1508760" cy="237744"/>
          </a:xfrm>
          <a:prstGeom prst="roundRect">
            <a:avLst>
              <a:gd name="adj" fmla="val 35000"/>
            </a:avLst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48088" y="1796795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20" b="1">
                <a:solidFill>
                  <a:srgbClr val="FFFFFF"/>
                </a:solidFill>
                <a:latin typeface="Segoe UI"/>
              </a:rPr>
              <a:t>НЕ РЕКОМЕНДОВАНО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210312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840" b="1">
                <a:solidFill>
                  <a:srgbClr val="1C2235"/>
                </a:solidFill>
                <a:latin typeface="Segoe UI"/>
              </a:rPr>
              <a:t>ШИРОКИЙ ІМПОРТ ПРЕМІАЛЬНОЇ ЯПОНІЇ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74736" y="252374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265176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МАСШТАБ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281635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C03B4B"/>
                </a:solidFill>
                <a:latin typeface="Segoe UI"/>
              </a:rPr>
              <a:t>₴16–19 млн, не росте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48088" y="2651760"/>
            <a:ext cx="1508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717890"/>
                </a:solidFill>
                <a:latin typeface="Segoe UI"/>
              </a:rPr>
              <a:t>ЦІНОВА ЗОНА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48088" y="2816352"/>
            <a:ext cx="1508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1">
                <a:solidFill>
                  <a:srgbClr val="1C2235"/>
                </a:solidFill>
                <a:latin typeface="Segoe UI"/>
              </a:rPr>
              <a:t>7 500 – 60 495 грн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74736" y="3127248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4736" y="3255264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ЛОГІКА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74736" y="3438144"/>
            <a:ext cx="318211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Це сценарій, закладений у первинне формулювання задачі.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Ніша не росте: імпорт 2024 нижчий за 2022 на 13 %.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55 брендів уже присутні, топові слоти зайняті ексклюзивами.</a:t>
            </a:r>
          </a:p>
          <a:p>
            <a:pPr algn="l">
              <a:lnSpc>
                <a:spcPct val="128000"/>
              </a:lnSpc>
              <a:spcAft>
                <a:spcPts val="200"/>
              </a:spcAft>
            </a:pPr>
            <a:r>
              <a:rPr sz="700" b="0">
                <a:solidFill>
                  <a:srgbClr val="303A5D"/>
                </a:solidFill>
                <a:latin typeface="Segoe UI"/>
              </a:rPr>
              <a:t>HoReCa як канал зростання недоступна з шести структурних причин.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74736" y="4443984"/>
            <a:ext cx="3182112" cy="13716"/>
          </a:xfrm>
          <a:prstGeom prst="rect">
            <a:avLst/>
          </a:prstGeom>
          <a:solidFill>
            <a:srgbClr val="D5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74736" y="4572000"/>
            <a:ext cx="31821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630" b="1">
                <a:solidFill>
                  <a:srgbClr val="C03B4B"/>
                </a:solidFill>
                <a:latin typeface="Segoe UI"/>
              </a:rPr>
              <a:t>ЧИМ РИЗИКУЄМО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74736" y="4754880"/>
            <a:ext cx="31821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Три блокуючі ризики одночасно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Стеля платоспроможності 35–57 % зарплати за ніж</a:t>
            </a:r>
          </a:p>
          <a:p>
            <a:pPr algn="l">
              <a:lnSpc>
                <a:spcPct val="126000"/>
              </a:lnSpc>
              <a:spcAft>
                <a:spcPts val="150"/>
              </a:spcAft>
            </a:pPr>
            <a:r>
              <a:rPr sz="690" b="0">
                <a:solidFill>
                  <a:srgbClr val="717890"/>
                </a:solidFill>
                <a:latin typeface="Segoe UI"/>
              </a:rPr>
              <a:t>· Немає сервісу, який виправдав би премію</a:t>
            </a:r>
          </a:p>
        </p:txBody>
      </p:sp>
      <p:pic>
        <p:nvPicPr>
          <p:cNvPr id="66" name="Picture 65" descr="p_98d9ac46a8338d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13263" y="2048256"/>
            <a:ext cx="1225296" cy="713232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66928" y="5376672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1">
                <a:solidFill>
                  <a:srgbClr val="C03B4B"/>
                </a:solidFill>
                <a:latin typeface="Segoe UI"/>
              </a:rPr>
              <a:t>ТРИ БЛОКУЮЧІ РИЗИКИ, СПІЛЬНІ ДЛЯ ВСІХ СЦЕНАРІЇВ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6692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6692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980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Японський сегмент не росте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980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Імпорт 2024 нижчий за 2022 на 13 % при 55 присутніх брендах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270248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270248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453128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Професійна кухня Японію не купує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453128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AL-Group: 2 японські бренди з 15, 523 проф. ножі в каталозі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973567" y="5577840"/>
            <a:ext cx="3584448" cy="530352"/>
          </a:xfrm>
          <a:prstGeom prst="roundRect">
            <a:avLst>
              <a:gd name="adj" fmla="val 8000"/>
            </a:avLst>
          </a:prstGeom>
          <a:solidFill>
            <a:srgbClr val="F7F8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973567" y="5577840"/>
            <a:ext cx="36576" cy="530352"/>
          </a:xfrm>
          <a:prstGeom prst="rect">
            <a:avLst/>
          </a:prstGeom>
          <a:solidFill>
            <a:srgbClr val="C03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156447" y="5641848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40" b="1">
                <a:solidFill>
                  <a:srgbClr val="C03B4B"/>
                </a:solidFill>
                <a:latin typeface="Segoe UI"/>
              </a:rPr>
              <a:t>Структурний програш 10 пунктів мита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156447" y="5824728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680" b="0">
                <a:solidFill>
                  <a:srgbClr val="303A5D"/>
                </a:solidFill>
                <a:latin typeface="Segoe UI"/>
              </a:rPr>
              <a:t>10 % на Японію проти 0 % на ЄС, плюс 20 % ПДВ на обидва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66928" y="6144768"/>
            <a:ext cx="11064240" cy="21031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13232" y="6185916"/>
            <a:ext cx="60853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1">
                <a:solidFill>
                  <a:srgbClr val="FFFFFF"/>
                </a:solidFill>
                <a:latin typeface="Segoe UI"/>
              </a:rPr>
              <a:t>ЧЕСНА ВІДПОВІДЬ НА ПОСТАВЛЕНЕ ПИТАННЯ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3504" y="6400800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Ринок японського виробництва — 16–19 млн грн, не росте, 55 брендів у 17 каналах. Sakai Takayuki у ньому майже відсутній: дві позиції на складі на всю країну.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3504" y="6556248"/>
            <a:ext cx="1099108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30" b="0">
                <a:solidFill>
                  <a:srgbClr val="303A5D"/>
                </a:solidFill>
                <a:latin typeface="Segoe UI"/>
              </a:rPr>
              <a:t>Це одночасно вільна територія і попередження — нульова впізнаваність. Рекомендація: сценарій A; B — лише після перевірки умов виробника; C закрити.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