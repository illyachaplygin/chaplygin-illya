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26.jpeg" ContentType="image/jpeg"/>
  <Override PartName="/ppt/media/image2.jpeg" ContentType="image/jpeg"/>
  <Override PartName="/ppt/media/image80.jpeg" ContentType="image/jpeg"/>
  <Override PartName="/ppt/media/image124.jpeg" ContentType="image/jpeg"/>
  <Override PartName="/ppt/media/image123.jpeg" ContentType="image/jpeg"/>
  <Override PartName="/ppt/media/image122.jpeg" ContentType="image/jpeg"/>
  <Override PartName="/ppt/media/image121.jpeg" ContentType="image/jpeg"/>
  <Override PartName="/ppt/media/image116.jpeg" ContentType="image/jpeg"/>
  <Override PartName="/ppt/media/image70.jpeg" ContentType="image/jpeg"/>
  <Override PartName="/ppt/media/image10.png" ContentType="image/png"/>
  <Override PartName="/ppt/media/image115.jpeg" ContentType="image/jpeg"/>
  <Override PartName="/ppt/media/image114.jpeg" ContentType="image/jpeg"/>
  <Override PartName="/ppt/media/image113.jpeg" ContentType="image/jpeg"/>
  <Override PartName="/ppt/media/image112.jpeg" ContentType="image/jpeg"/>
  <Override PartName="/ppt/media/image111.jpeg" ContentType="image/jpeg"/>
  <Override PartName="/ppt/media/image106.jpeg" ContentType="image/jpeg"/>
  <Override PartName="/ppt/media/image60.jpeg" ContentType="image/jpeg"/>
  <Override PartName="/ppt/media/image105.jpeg" ContentType="image/jpeg"/>
  <Override PartName="/ppt/media/image104.jpeg" ContentType="image/jpeg"/>
  <Override PartName="/ppt/media/image103.jpeg" ContentType="image/jpeg"/>
  <Override PartName="/ppt/media/image84.jpeg" ContentType="image/jpeg"/>
  <Override PartName="/ppt/media/image16.jpeg" ContentType="image/jpeg"/>
  <Override PartName="/ppt/media/image100.jpeg" ContentType="image/jpeg"/>
  <Override PartName="/ppt/media/image1.png" ContentType="image/png"/>
  <Override PartName="/ppt/media/image69.jpeg" ContentType="image/jpeg"/>
  <Override PartName="/ppt/media/image98.jpeg" ContentType="image/jpeg"/>
  <Override PartName="/ppt/media/image7.png" ContentType="image/png"/>
  <Override PartName="/ppt/media/image43.jpeg" ContentType="image/jpeg"/>
  <Override PartName="/ppt/media/image11.png" ContentType="image/png"/>
  <Override PartName="/ppt/media/image44.jpeg" ContentType="image/jpeg"/>
  <Override PartName="/ppt/media/image9.png" ContentType="image/png"/>
  <Override PartName="/ppt/media/image6.png" ContentType="image/png"/>
  <Override PartName="/ppt/media/image30.jpeg" ContentType="image/jpeg"/>
  <Override PartName="/ppt/media/image144.jpeg" ContentType="image/jpeg"/>
  <Override PartName="/ppt/media/image34.jpeg" ContentType="image/jpeg"/>
  <Override PartName="/ppt/media/image54.jpeg" ContentType="image/jpeg"/>
  <Override PartName="/ppt/media/image143.jpeg" ContentType="image/jpeg"/>
  <Override PartName="/ppt/media/image53.jpeg" ContentType="image/jpeg"/>
  <Override PartName="/ppt/media/image145.jpeg" ContentType="image/jpeg"/>
  <Override PartName="/ppt/media/image31.jpeg" ContentType="image/jpeg"/>
  <Override PartName="/ppt/media/image142.jpeg" ContentType="image/jpeg"/>
  <Override PartName="/ppt/media/image125.jpeg" ContentType="image/jpeg"/>
  <Override PartName="/ppt/media/image8.png" ContentType="image/png"/>
  <Override PartName="/ppt/media/image55.jpeg" ContentType="image/jpeg"/>
  <Override PartName="/ppt/media/image135.jpeg" ContentType="image/jpeg"/>
  <Override PartName="/ppt/media/image21.jpeg" ContentType="image/jpeg"/>
  <Override PartName="/ppt/media/image58.jpeg" ContentType="image/jpeg"/>
  <Override PartName="/ppt/media/image132.jpeg" ContentType="image/jpeg"/>
  <Override PartName="/ppt/media/image59.jpeg" ContentType="image/jpeg"/>
  <Override PartName="/ppt/media/image133.jpeg" ContentType="image/jpeg"/>
  <Override PartName="/ppt/media/image140.jpeg" ContentType="image/jpeg"/>
  <Override PartName="/ppt/media/image51.jpeg" ContentType="image/jpeg"/>
  <Override PartName="/ppt/media/image49.jpeg" ContentType="image/jpeg"/>
  <Override PartName="/ppt/media/image141.jpeg" ContentType="image/jpeg"/>
  <Override PartName="/ppt/media/image52.jpeg" ContentType="image/jpeg"/>
  <Override PartName="/ppt/media/image56.jpeg" ContentType="image/jpeg"/>
  <Override PartName="/ppt/media/image130.jpeg" ContentType="image/jpeg"/>
  <Override PartName="/ppt/media/image99.jpeg" ContentType="image/jpeg"/>
  <Override PartName="/ppt/media/image41.jpeg" ContentType="image/jpeg"/>
  <Override PartName="/ppt/media/image39.jpeg" ContentType="image/jpeg"/>
  <Override PartName="/ppt/media/image134.jpeg" ContentType="image/jpeg"/>
  <Override PartName="/ppt/media/image20.jpeg" ContentType="image/jpeg"/>
  <Override PartName="/ppt/media/image57.jpeg" ContentType="image/jpeg"/>
  <Override PartName="/ppt/media/image131.jpeg" ContentType="image/jpeg"/>
  <Override PartName="/ppt/media/image42.jpeg" ContentType="image/jpeg"/>
  <Override PartName="/ppt/media/image50.jpeg" ContentType="image/jpeg"/>
  <Override PartName="/ppt/media/image48.jpeg" ContentType="image/jpeg"/>
  <Override PartName="/ppt/media/image47.jpeg" ContentType="image/jpeg"/>
  <Override PartName="/ppt/media/image46.jpeg" ContentType="image/jpeg"/>
  <Override PartName="/ppt/media/image45.jpeg" ContentType="image/jpeg"/>
  <Override PartName="/ppt/media/image40.jpeg" ContentType="image/jpeg"/>
  <Override PartName="/ppt/media/image38.jpeg" ContentType="image/jpeg"/>
  <Override PartName="/ppt/media/image37.jpeg" ContentType="image/jpeg"/>
  <Override PartName="/ppt/media/image33.jpeg" ContentType="image/jpeg"/>
  <Override PartName="/ppt/media/image147.jpeg" ContentType="image/jpeg"/>
  <Override PartName="/ppt/media/image36.jpeg" ContentType="image/jpeg"/>
  <Override PartName="/ppt/media/image32.jpeg" ContentType="image/jpeg"/>
  <Override PartName="/ppt/media/image146.jpeg" ContentType="image/jpeg"/>
  <Override PartName="/ppt/media/image35.jpeg" ContentType="image/jpeg"/>
  <Override PartName="/ppt/media/image137.jpeg" ContentType="image/jpeg"/>
  <Override PartName="/ppt/media/image91.jpeg" ContentType="image/jpeg"/>
  <Override PartName="/ppt/media/image23.jpeg" ContentType="image/jpeg"/>
  <Override PartName="/ppt/media/image81.jpeg" ContentType="image/jpeg"/>
  <Override PartName="/ppt/media/image127.jpeg" ContentType="image/jpeg"/>
  <Override PartName="/ppt/media/image13.jpeg" ContentType="image/jpeg"/>
  <Override PartName="/ppt/media/image3.jpeg" ContentType="image/jpeg"/>
  <Override PartName="/ppt/media/image26.jpeg" ContentType="image/jpeg"/>
  <Override PartName="/ppt/media/image94.jpeg" ContentType="image/jpeg"/>
  <Override PartName="/ppt/media/image108.jpeg" ContentType="image/jpeg"/>
  <Override PartName="/ppt/media/image62.jpeg" ContentType="image/jpeg"/>
  <Override PartName="/ppt/media/image139.jpeg" ContentType="image/jpeg"/>
  <Override PartName="/ppt/media/image93.jpeg" ContentType="image/jpeg"/>
  <Override PartName="/ppt/media/image25.jpeg" ContentType="image/jpeg"/>
  <Override PartName="/ppt/media/image90.jpeg" ContentType="image/jpeg"/>
  <Override PartName="/ppt/media/image136.jpeg" ContentType="image/jpeg"/>
  <Override PartName="/ppt/media/image22.jpeg" ContentType="image/jpeg"/>
  <Override PartName="/ppt/media/image128.jpeg" ContentType="image/jpeg"/>
  <Override PartName="/ppt/media/image82.jpeg" ContentType="image/jpeg"/>
  <Override PartName="/ppt/media/image14.jpeg" ContentType="image/jpeg"/>
  <Override PartName="/ppt/media/image4.jpeg" ContentType="image/jpeg"/>
  <Override PartName="/ppt/media/image129.jpeg" ContentType="image/jpeg"/>
  <Override PartName="/ppt/media/image15.jpeg" ContentType="image/jpeg"/>
  <Override PartName="/ppt/media/image83.jpeg" ContentType="image/jpeg"/>
  <Override PartName="/ppt/media/image5.jpeg" ContentType="image/jpeg"/>
  <Override PartName="/ppt/media/image28.jpeg" ContentType="image/jpeg"/>
  <Override PartName="/ppt/media/image96.jpeg" ContentType="image/jpeg"/>
  <Override PartName="/ppt/media/image95.jpeg" ContentType="image/jpeg"/>
  <Override PartName="/ppt/media/image27.jpeg" ContentType="image/jpeg"/>
  <Override PartName="/ppt/media/image107.jpeg" ContentType="image/jpeg"/>
  <Override PartName="/ppt/media/image61.jpeg" ContentType="image/jpeg"/>
  <Override PartName="/ppt/media/image92.jpeg" ContentType="image/jpeg"/>
  <Override PartName="/ppt/media/image138.jpeg" ContentType="image/jpeg"/>
  <Override PartName="/ppt/media/image24.jpeg" ContentType="image/jpeg"/>
  <Override PartName="/ppt/media/image109.jpeg" ContentType="image/jpeg"/>
  <Override PartName="/ppt/media/image63.jpeg" ContentType="image/jpeg"/>
  <Override PartName="/ppt/media/image64.jpeg" ContentType="image/jpeg"/>
  <Override PartName="/ppt/media/image65.jpeg" ContentType="image/jpeg"/>
  <Override PartName="/ppt/media/image66.jpeg" ContentType="image/jpeg"/>
  <Override PartName="/ppt/media/image67.jpeg" ContentType="image/jpeg"/>
  <Override PartName="/ppt/media/image68.jpeg" ContentType="image/jpeg"/>
  <Override PartName="/ppt/media/image117.jpeg" ContentType="image/jpeg"/>
  <Override PartName="/ppt/media/image71.jpeg" ContentType="image/jpeg"/>
  <Override PartName="/ppt/media/image118.jpeg" ContentType="image/jpeg"/>
  <Override PartName="/ppt/media/image72.jpeg" ContentType="image/jpeg"/>
  <Override PartName="/ppt/media/image119.jpeg" ContentType="image/jpeg"/>
  <Override PartName="/ppt/media/image73.jpeg" ContentType="image/jpeg"/>
  <Override PartName="/ppt/media/image74.jpeg" ContentType="image/jpeg"/>
  <Override PartName="/ppt/media/image75.jpeg" ContentType="image/jpeg"/>
  <Override PartName="/ppt/media/image76.jpeg" ContentType="image/jpeg"/>
  <Override PartName="/ppt/media/image12.png" ContentType="image/png"/>
  <Override PartName="/ppt/media/image77.jpeg" ContentType="image/jpeg"/>
  <Override PartName="/ppt/media/image78.jpeg" ContentType="image/jpeg"/>
  <Override PartName="/ppt/media/image79.jpeg" ContentType="image/jpeg"/>
  <Override PartName="/ppt/media/image110.jpeg" ContentType="image/jpeg"/>
  <Override PartName="/ppt/media/image17.jpeg" ContentType="image/jpeg"/>
  <Override PartName="/ppt/media/image85.jpeg" ContentType="image/jpeg"/>
  <Override PartName="/ppt/media/image18.jpeg" ContentType="image/jpeg"/>
  <Override PartName="/ppt/media/image86.jpeg" ContentType="image/jpeg"/>
  <Override PartName="/ppt/media/image19.jpeg" ContentType="image/jpeg"/>
  <Override PartName="/ppt/media/image87.jpeg" ContentType="image/jpeg"/>
  <Override PartName="/ppt/media/image88.jpeg" ContentType="image/jpeg"/>
  <Override PartName="/ppt/media/image89.jpeg" ContentType="image/jpeg"/>
  <Override PartName="/ppt/media/image120.jpeg" ContentType="image/jpeg"/>
  <Override PartName="/ppt/media/image29.jpeg" ContentType="image/jpeg"/>
  <Override PartName="/ppt/media/image97.jpeg" ContentType="image/jpeg"/>
  <Override PartName="/ppt/media/image101.jpeg" ContentType="image/jpeg"/>
  <Override PartName="/ppt/media/image10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91AE71B-BC73-4771-8BED-C234D2B076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C3EAD99-90CE-4507-B653-D1AAAC37BFD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EA877AC-5A05-4058-85BE-B2DBAA4C079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66C2BE1-C15D-4696-B379-A2756774CC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EA187D4-2055-4979-A5CB-41978E649F9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37BB1C1-E7A3-4F26-937A-066E10EB32B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71CC8556-E4A6-4C94-90AD-8D0939DAA8B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2447B030-1AD1-4711-8E1B-57E1F8BD3C9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47DD2125-197B-460B-AB0C-2968B197BCF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056B7FE-9E1C-48CA-9F4A-B17EF333C6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1A6749F7-3B58-4C66-B977-505AFFA569B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C4F390D-DE8C-4B0D-9D3F-F5FFFC99D8B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085AE52-6618-434F-B856-2A4B50AA8F6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EAE26BB-A33E-4FB1-85E1-045286F8560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92DF01B-B636-43E3-98A0-CCBF6BFB988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11366AA-61DA-4254-82D0-48F1E673CB5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336BC0-0F1A-493E-9390-76A47CF213A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5BCF45C-10D9-4CB8-9A75-3F2CDF4B6E0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BDE3C9-D6E4-43FB-9134-AD3FAC4781C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01251CC-08E7-46E4-9AD4-BBDBFDCABE8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4EC0B9A-1BFA-4CBB-815B-1B3B443C08B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A0736A-1E30-4786-939B-295D8B9210E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jpeg"/><Relationship Id="rId10" Type="http://schemas.openxmlformats.org/officeDocument/2006/relationships/image" Target="../media/image14.jpeg"/><Relationship Id="rId11" Type="http://schemas.openxmlformats.org/officeDocument/2006/relationships/image" Target="../media/image15.jpeg"/><Relationship Id="rId1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6.jpeg"/><Relationship Id="rId3" Type="http://schemas.openxmlformats.org/officeDocument/2006/relationships/image" Target="../media/image17.jpeg"/><Relationship Id="rId4" Type="http://schemas.openxmlformats.org/officeDocument/2006/relationships/image" Target="../media/image18.jpeg"/><Relationship Id="rId5" Type="http://schemas.openxmlformats.org/officeDocument/2006/relationships/image" Target="../media/image19.jpeg"/><Relationship Id="rId6" Type="http://schemas.openxmlformats.org/officeDocument/2006/relationships/image" Target="../media/image20.jpeg"/><Relationship Id="rId7" Type="http://schemas.openxmlformats.org/officeDocument/2006/relationships/image" Target="../media/image21.jpeg"/><Relationship Id="rId8" Type="http://schemas.openxmlformats.org/officeDocument/2006/relationships/image" Target="../media/image22.jpeg"/><Relationship Id="rId9" Type="http://schemas.openxmlformats.org/officeDocument/2006/relationships/image" Target="../media/image23.jpeg"/><Relationship Id="rId10" Type="http://schemas.openxmlformats.org/officeDocument/2006/relationships/image" Target="../media/image24.jpeg"/><Relationship Id="rId11" Type="http://schemas.openxmlformats.org/officeDocument/2006/relationships/image" Target="../media/image25.jpeg"/><Relationship Id="rId12" Type="http://schemas.openxmlformats.org/officeDocument/2006/relationships/image" Target="../media/image26.jpeg"/><Relationship Id="rId13" Type="http://schemas.openxmlformats.org/officeDocument/2006/relationships/image" Target="../media/image27.jpeg"/><Relationship Id="rId14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8.jpeg"/><Relationship Id="rId3" Type="http://schemas.openxmlformats.org/officeDocument/2006/relationships/image" Target="../media/image29.jpeg"/><Relationship Id="rId4" Type="http://schemas.openxmlformats.org/officeDocument/2006/relationships/image" Target="../media/image30.jpeg"/><Relationship Id="rId5" Type="http://schemas.openxmlformats.org/officeDocument/2006/relationships/image" Target="../media/image31.jpeg"/><Relationship Id="rId6" Type="http://schemas.openxmlformats.org/officeDocument/2006/relationships/image" Target="../media/image32.jpeg"/><Relationship Id="rId7" Type="http://schemas.openxmlformats.org/officeDocument/2006/relationships/image" Target="../media/image33.jpeg"/><Relationship Id="rId8" Type="http://schemas.openxmlformats.org/officeDocument/2006/relationships/image" Target="../media/image34.jpeg"/><Relationship Id="rId9" Type="http://schemas.openxmlformats.org/officeDocument/2006/relationships/image" Target="../media/image35.jpeg"/><Relationship Id="rId10" Type="http://schemas.openxmlformats.org/officeDocument/2006/relationships/image" Target="../media/image36.jpeg"/><Relationship Id="rId11" Type="http://schemas.openxmlformats.org/officeDocument/2006/relationships/image" Target="../media/image37.jpeg"/><Relationship Id="rId12" Type="http://schemas.openxmlformats.org/officeDocument/2006/relationships/image" Target="../media/image38.jpeg"/><Relationship Id="rId13" Type="http://schemas.openxmlformats.org/officeDocument/2006/relationships/image" Target="../media/image39.jpeg"/><Relationship Id="rId14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0.jpeg"/><Relationship Id="rId3" Type="http://schemas.openxmlformats.org/officeDocument/2006/relationships/image" Target="../media/image41.jpeg"/><Relationship Id="rId4" Type="http://schemas.openxmlformats.org/officeDocument/2006/relationships/image" Target="../media/image42.jpeg"/><Relationship Id="rId5" Type="http://schemas.openxmlformats.org/officeDocument/2006/relationships/image" Target="../media/image43.jpeg"/><Relationship Id="rId6" Type="http://schemas.openxmlformats.org/officeDocument/2006/relationships/image" Target="../media/image44.jpeg"/><Relationship Id="rId7" Type="http://schemas.openxmlformats.org/officeDocument/2006/relationships/image" Target="../media/image45.jpeg"/><Relationship Id="rId8" Type="http://schemas.openxmlformats.org/officeDocument/2006/relationships/image" Target="../media/image46.jpeg"/><Relationship Id="rId9" Type="http://schemas.openxmlformats.org/officeDocument/2006/relationships/image" Target="../media/image47.jpeg"/><Relationship Id="rId10" Type="http://schemas.openxmlformats.org/officeDocument/2006/relationships/image" Target="../media/image48.jpeg"/><Relationship Id="rId11" Type="http://schemas.openxmlformats.org/officeDocument/2006/relationships/image" Target="../media/image49.jpeg"/><Relationship Id="rId12" Type="http://schemas.openxmlformats.org/officeDocument/2006/relationships/image" Target="../media/image50.jpeg"/><Relationship Id="rId13" Type="http://schemas.openxmlformats.org/officeDocument/2006/relationships/image" Target="../media/image51.jpeg"/><Relationship Id="rId14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2.jpeg"/><Relationship Id="rId3" Type="http://schemas.openxmlformats.org/officeDocument/2006/relationships/image" Target="../media/image53.jpeg"/><Relationship Id="rId4" Type="http://schemas.openxmlformats.org/officeDocument/2006/relationships/image" Target="../media/image54.jpeg"/><Relationship Id="rId5" Type="http://schemas.openxmlformats.org/officeDocument/2006/relationships/image" Target="../media/image55.jpeg"/><Relationship Id="rId6" Type="http://schemas.openxmlformats.org/officeDocument/2006/relationships/image" Target="../media/image56.jpeg"/><Relationship Id="rId7" Type="http://schemas.openxmlformats.org/officeDocument/2006/relationships/image" Target="../media/image57.jpeg"/><Relationship Id="rId8" Type="http://schemas.openxmlformats.org/officeDocument/2006/relationships/image" Target="../media/image58.jpeg"/><Relationship Id="rId9" Type="http://schemas.openxmlformats.org/officeDocument/2006/relationships/image" Target="../media/image59.jpeg"/><Relationship Id="rId10" Type="http://schemas.openxmlformats.org/officeDocument/2006/relationships/image" Target="../media/image60.jpeg"/><Relationship Id="rId11" Type="http://schemas.openxmlformats.org/officeDocument/2006/relationships/image" Target="../media/image61.jpeg"/><Relationship Id="rId12" Type="http://schemas.openxmlformats.org/officeDocument/2006/relationships/image" Target="../media/image62.jpeg"/><Relationship Id="rId13" Type="http://schemas.openxmlformats.org/officeDocument/2006/relationships/image" Target="../media/image63.jpeg"/><Relationship Id="rId14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4.jpeg"/><Relationship Id="rId3" Type="http://schemas.openxmlformats.org/officeDocument/2006/relationships/image" Target="../media/image65.jpeg"/><Relationship Id="rId4" Type="http://schemas.openxmlformats.org/officeDocument/2006/relationships/image" Target="../media/image66.jpeg"/><Relationship Id="rId5" Type="http://schemas.openxmlformats.org/officeDocument/2006/relationships/image" Target="../media/image67.jpeg"/><Relationship Id="rId6" Type="http://schemas.openxmlformats.org/officeDocument/2006/relationships/image" Target="../media/image68.jpeg"/><Relationship Id="rId7" Type="http://schemas.openxmlformats.org/officeDocument/2006/relationships/image" Target="../media/image69.jpeg"/><Relationship Id="rId8" Type="http://schemas.openxmlformats.org/officeDocument/2006/relationships/image" Target="../media/image70.jpeg"/><Relationship Id="rId9" Type="http://schemas.openxmlformats.org/officeDocument/2006/relationships/image" Target="../media/image71.jpeg"/><Relationship Id="rId10" Type="http://schemas.openxmlformats.org/officeDocument/2006/relationships/image" Target="../media/image72.jpeg"/><Relationship Id="rId11" Type="http://schemas.openxmlformats.org/officeDocument/2006/relationships/image" Target="../media/image73.jpeg"/><Relationship Id="rId12" Type="http://schemas.openxmlformats.org/officeDocument/2006/relationships/image" Target="../media/image74.jpeg"/><Relationship Id="rId13" Type="http://schemas.openxmlformats.org/officeDocument/2006/relationships/image" Target="../media/image75.jpeg"/><Relationship Id="rId14" Type="http://schemas.openxmlformats.org/officeDocument/2006/relationships/image" Target="../media/image76.jpeg"/><Relationship Id="rId15" Type="http://schemas.openxmlformats.org/officeDocument/2006/relationships/image" Target="../media/image77.jpeg"/><Relationship Id="rId16" Type="http://schemas.openxmlformats.org/officeDocument/2006/relationships/image" Target="../media/image78.jpeg"/><Relationship Id="rId17" Type="http://schemas.openxmlformats.org/officeDocument/2006/relationships/image" Target="../media/image79.jpeg"/><Relationship Id="rId18" Type="http://schemas.openxmlformats.org/officeDocument/2006/relationships/image" Target="../media/image80.jpeg"/><Relationship Id="rId19" Type="http://schemas.openxmlformats.org/officeDocument/2006/relationships/image" Target="../media/image81.jpeg"/><Relationship Id="rId20" Type="http://schemas.openxmlformats.org/officeDocument/2006/relationships/image" Target="../media/image82.jpeg"/><Relationship Id="rId21" Type="http://schemas.openxmlformats.org/officeDocument/2006/relationships/image" Target="../media/image83.jpeg"/><Relationship Id="rId2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4.jpeg"/><Relationship Id="rId3" Type="http://schemas.openxmlformats.org/officeDocument/2006/relationships/image" Target="../media/image85.jpeg"/><Relationship Id="rId4" Type="http://schemas.openxmlformats.org/officeDocument/2006/relationships/image" Target="../media/image86.jpeg"/><Relationship Id="rId5" Type="http://schemas.openxmlformats.org/officeDocument/2006/relationships/image" Target="../media/image42.jpeg"/><Relationship Id="rId6" Type="http://schemas.openxmlformats.org/officeDocument/2006/relationships/image" Target="../media/image87.jpeg"/><Relationship Id="rId7" Type="http://schemas.openxmlformats.org/officeDocument/2006/relationships/image" Target="../media/image88.jpeg"/><Relationship Id="rId8" Type="http://schemas.openxmlformats.org/officeDocument/2006/relationships/image" Target="../media/image89.jpeg"/><Relationship Id="rId9" Type="http://schemas.openxmlformats.org/officeDocument/2006/relationships/image" Target="../media/image90.jpeg"/><Relationship Id="rId10" Type="http://schemas.openxmlformats.org/officeDocument/2006/relationships/image" Target="../media/image91.jpeg"/><Relationship Id="rId11" Type="http://schemas.openxmlformats.org/officeDocument/2006/relationships/image" Target="../media/image92.jpeg"/><Relationship Id="rId12" Type="http://schemas.openxmlformats.org/officeDocument/2006/relationships/image" Target="../media/image56.jpeg"/><Relationship Id="rId13" Type="http://schemas.openxmlformats.org/officeDocument/2006/relationships/image" Target="../media/image93.jpeg"/><Relationship Id="rId14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1.jpeg"/><Relationship Id="rId3" Type="http://schemas.openxmlformats.org/officeDocument/2006/relationships/image" Target="../media/image94.jpeg"/><Relationship Id="rId4" Type="http://schemas.openxmlformats.org/officeDocument/2006/relationships/image" Target="../media/image95.jpeg"/><Relationship Id="rId5" Type="http://schemas.openxmlformats.org/officeDocument/2006/relationships/image" Target="../media/image96.jpeg"/><Relationship Id="rId6" Type="http://schemas.openxmlformats.org/officeDocument/2006/relationships/image" Target="../media/image97.jpeg"/><Relationship Id="rId7" Type="http://schemas.openxmlformats.org/officeDocument/2006/relationships/image" Target="../media/image98.jpeg"/><Relationship Id="rId8" Type="http://schemas.openxmlformats.org/officeDocument/2006/relationships/image" Target="../media/image99.jpeg"/><Relationship Id="rId9" Type="http://schemas.openxmlformats.org/officeDocument/2006/relationships/image" Target="../media/image46.jpeg"/><Relationship Id="rId10" Type="http://schemas.openxmlformats.org/officeDocument/2006/relationships/image" Target="../media/image49.jpeg"/><Relationship Id="rId11" Type="http://schemas.openxmlformats.org/officeDocument/2006/relationships/image" Target="../media/image100.jpeg"/><Relationship Id="rId12" Type="http://schemas.openxmlformats.org/officeDocument/2006/relationships/image" Target="../media/image101.jpeg"/><Relationship Id="rId13" Type="http://schemas.openxmlformats.org/officeDocument/2006/relationships/image" Target="../media/image61.jpeg"/><Relationship Id="rId14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5.jpeg"/><Relationship Id="rId3" Type="http://schemas.openxmlformats.org/officeDocument/2006/relationships/image" Target="../media/image102.jpeg"/><Relationship Id="rId4" Type="http://schemas.openxmlformats.org/officeDocument/2006/relationships/image" Target="../media/image103.jpeg"/><Relationship Id="rId5" Type="http://schemas.openxmlformats.org/officeDocument/2006/relationships/image" Target="../media/image33.jpeg"/><Relationship Id="rId6" Type="http://schemas.openxmlformats.org/officeDocument/2006/relationships/image" Target="../media/image104.jpeg"/><Relationship Id="rId7" Type="http://schemas.openxmlformats.org/officeDocument/2006/relationships/image" Target="../media/image105.jpeg"/><Relationship Id="rId8" Type="http://schemas.openxmlformats.org/officeDocument/2006/relationships/image" Target="../media/image106.jpeg"/><Relationship Id="rId9" Type="http://schemas.openxmlformats.org/officeDocument/2006/relationships/image" Target="../media/image107.jpeg"/><Relationship Id="rId10" Type="http://schemas.openxmlformats.org/officeDocument/2006/relationships/image" Target="../media/image108.jpeg"/><Relationship Id="rId11" Type="http://schemas.openxmlformats.org/officeDocument/2006/relationships/image" Target="../media/image109.jpeg"/><Relationship Id="rId12" Type="http://schemas.openxmlformats.org/officeDocument/2006/relationships/image" Target="../media/image110.jpeg"/><Relationship Id="rId13" Type="http://schemas.openxmlformats.org/officeDocument/2006/relationships/image" Target="../media/image47.jpeg"/><Relationship Id="rId14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11.jpeg"/><Relationship Id="rId3" Type="http://schemas.openxmlformats.org/officeDocument/2006/relationships/image" Target="../media/image112.jpeg"/><Relationship Id="rId4" Type="http://schemas.openxmlformats.org/officeDocument/2006/relationships/image" Target="../media/image113.jpeg"/><Relationship Id="rId5" Type="http://schemas.openxmlformats.org/officeDocument/2006/relationships/image" Target="../media/image114.jpeg"/><Relationship Id="rId6" Type="http://schemas.openxmlformats.org/officeDocument/2006/relationships/image" Target="../media/image115.jpeg"/><Relationship Id="rId7" Type="http://schemas.openxmlformats.org/officeDocument/2006/relationships/image" Target="../media/image116.jpeg"/><Relationship Id="rId8" Type="http://schemas.openxmlformats.org/officeDocument/2006/relationships/image" Target="../media/image117.jpeg"/><Relationship Id="rId9" Type="http://schemas.openxmlformats.org/officeDocument/2006/relationships/image" Target="../media/image118.jpeg"/><Relationship Id="rId10" Type="http://schemas.openxmlformats.org/officeDocument/2006/relationships/image" Target="../media/image119.jpeg"/><Relationship Id="rId11" Type="http://schemas.openxmlformats.org/officeDocument/2006/relationships/image" Target="../media/image120.jpeg"/><Relationship Id="rId12" Type="http://schemas.openxmlformats.org/officeDocument/2006/relationships/image" Target="../media/image121.jpeg"/><Relationship Id="rId13" Type="http://schemas.openxmlformats.org/officeDocument/2006/relationships/image" Target="../media/image122.jpeg"/><Relationship Id="rId14" Type="http://schemas.openxmlformats.org/officeDocument/2006/relationships/image" Target="../media/image123.jpeg"/><Relationship Id="rId15" Type="http://schemas.openxmlformats.org/officeDocument/2006/relationships/image" Target="../media/image124.jpeg"/><Relationship Id="rId16" Type="http://schemas.openxmlformats.org/officeDocument/2006/relationships/image" Target="../media/image125.jpeg"/><Relationship Id="rId17" Type="http://schemas.openxmlformats.org/officeDocument/2006/relationships/image" Target="../media/image126.jpeg"/><Relationship Id="rId18" Type="http://schemas.openxmlformats.org/officeDocument/2006/relationships/image" Target="../media/image127.jpeg"/><Relationship Id="rId19" Type="http://schemas.openxmlformats.org/officeDocument/2006/relationships/image" Target="../media/image128.jpeg"/><Relationship Id="rId20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29.jpeg"/><Relationship Id="rId3" Type="http://schemas.openxmlformats.org/officeDocument/2006/relationships/image" Target="../media/image130.jpeg"/><Relationship Id="rId4" Type="http://schemas.openxmlformats.org/officeDocument/2006/relationships/image" Target="../media/image131.jpeg"/><Relationship Id="rId5" Type="http://schemas.openxmlformats.org/officeDocument/2006/relationships/image" Target="../media/image132.jpeg"/><Relationship Id="rId6" Type="http://schemas.openxmlformats.org/officeDocument/2006/relationships/image" Target="../media/image133.jpeg"/><Relationship Id="rId7" Type="http://schemas.openxmlformats.org/officeDocument/2006/relationships/image" Target="../media/image134.jpeg"/><Relationship Id="rId8" Type="http://schemas.openxmlformats.org/officeDocument/2006/relationships/image" Target="../media/image135.jpeg"/><Relationship Id="rId9" Type="http://schemas.openxmlformats.org/officeDocument/2006/relationships/image" Target="../media/image136.jpeg"/><Relationship Id="rId10" Type="http://schemas.openxmlformats.org/officeDocument/2006/relationships/image" Target="../media/image137.jpeg"/><Relationship Id="rId11" Type="http://schemas.openxmlformats.org/officeDocument/2006/relationships/image" Target="../media/image138.jpeg"/><Relationship Id="rId12" Type="http://schemas.openxmlformats.org/officeDocument/2006/relationships/image" Target="../media/image139.jpeg"/><Relationship Id="rId13" Type="http://schemas.openxmlformats.org/officeDocument/2006/relationships/image" Target="../media/image140.jpeg"/><Relationship Id="rId14" Type="http://schemas.openxmlformats.org/officeDocument/2006/relationships/image" Target="../media/image141.jpeg"/><Relationship Id="rId15" Type="http://schemas.openxmlformats.org/officeDocument/2006/relationships/image" Target="../media/image142.jpeg"/><Relationship Id="rId16" Type="http://schemas.openxmlformats.org/officeDocument/2006/relationships/image" Target="../media/image143.jpeg"/><Relationship Id="rId17" Type="http://schemas.openxmlformats.org/officeDocument/2006/relationships/image" Target="../media/image144.jpeg"/><Relationship Id="rId18" Type="http://schemas.openxmlformats.org/officeDocument/2006/relationships/image" Target="../media/image145.jpeg"/><Relationship Id="rId19" Type="http://schemas.openxmlformats.org/officeDocument/2006/relationships/image" Target="../media/image146.jpeg"/><Relationship Id="rId20" Type="http://schemas.openxmlformats.org/officeDocument/2006/relationships/image" Target="../media/image147.jpeg"/><Relationship Id="rId2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141c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7058880" cy="685764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" name="Rectangle 3"/>
          <p:cNvSpPr/>
          <p:nvPr/>
        </p:nvSpPr>
        <p:spPr>
          <a:xfrm>
            <a:off x="7059240" y="0"/>
            <a:ext cx="16200" cy="68576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0" name="Picture 4" descr="logo.png"/>
          <p:cNvPicPr/>
          <p:nvPr/>
        </p:nvPicPr>
        <p:blipFill>
          <a:blip r:embed="rId1"/>
          <a:stretch/>
        </p:blipFill>
        <p:spPr>
          <a:xfrm>
            <a:off x="603360" y="475560"/>
            <a:ext cx="1682280" cy="726840"/>
          </a:xfrm>
          <a:prstGeom prst="rect">
            <a:avLst/>
          </a:prstGeom>
          <a:ln w="0">
            <a:noFill/>
          </a:ln>
        </p:spPr>
      </p:pic>
      <p:sp>
        <p:nvSpPr>
          <p:cNvPr id="71" name="Rectangle 5"/>
          <p:cNvSpPr/>
          <p:nvPr/>
        </p:nvSpPr>
        <p:spPr>
          <a:xfrm>
            <a:off x="603360" y="1792080"/>
            <a:ext cx="566640" cy="31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2960" bIns="-12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603360" y="2030040"/>
            <a:ext cx="63090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d9b165"/>
                </a:solidFill>
                <a:latin typeface="Segoe UI"/>
              </a:rPr>
              <a:t>Д О С Л І Д Ж Е Н Н Я   Р И Н К У   Т А   О Ц І Н К А   Д О Ц І Л Ь Н О С Т І   В Х О Д У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7"/>
          <p:cNvSpPr/>
          <p:nvPr/>
        </p:nvSpPr>
        <p:spPr>
          <a:xfrm>
            <a:off x="603360" y="2304360"/>
            <a:ext cx="6400440" cy="197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Японські ножі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для професійної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8000"/>
              </a:lnSpc>
            </a:pPr>
            <a:r>
              <a:rPr b="1" lang="en-US" sz="4000" spc="-1" strike="noStrike">
                <a:solidFill>
                  <a:srgbClr val="ffffff"/>
                </a:solidFill>
                <a:latin typeface="Georgia"/>
              </a:rPr>
              <a:t>та домашньої кухні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Rectangle 8"/>
          <p:cNvSpPr/>
          <p:nvPr/>
        </p:nvSpPr>
        <p:spPr>
          <a:xfrm>
            <a:off x="603360" y="4590360"/>
            <a:ext cx="3291480" cy="162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8440" bIns="-28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603360" y="4809600"/>
            <a:ext cx="603468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Україна · роздріб, маркетплейси, HoReCa · вересень 2026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Попередня робота до пошуку постачальника: хто вже на ринку, скільки він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50000"/>
              </a:lnSpc>
            </a:pPr>
            <a:r>
              <a:rPr b="0" lang="en-US" sz="900" spc="-1" strike="noStrike">
                <a:solidFill>
                  <a:srgbClr val="9aa2b4"/>
                </a:solidFill>
                <a:latin typeface="Segoe UI"/>
              </a:rPr>
              <a:t>коштує в грошах і штуках, і чи є туди сенс іти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ounded Rectangle 10"/>
          <p:cNvSpPr/>
          <p:nvPr/>
        </p:nvSpPr>
        <p:spPr>
          <a:xfrm>
            <a:off x="603360" y="5742360"/>
            <a:ext cx="4077720" cy="566640"/>
          </a:xfrm>
          <a:prstGeom prst="roundRect">
            <a:avLst>
              <a:gd name="adj" fmla="val 16000"/>
            </a:avLst>
          </a:prstGeom>
          <a:solidFill>
            <a:srgbClr val="263150"/>
          </a:solidFill>
          <a:ln>
            <a:solidFill>
              <a:srgbClr val="45527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Oval 11"/>
          <p:cNvSpPr/>
          <p:nvPr/>
        </p:nvSpPr>
        <p:spPr>
          <a:xfrm>
            <a:off x="841320" y="5906880"/>
            <a:ext cx="237240" cy="23724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1188720" y="5870520"/>
            <a:ext cx="33829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Georgia"/>
              </a:rPr>
              <a:t>M A D E   I N   J A P A N   O N L 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13"/>
          <p:cNvSpPr/>
          <p:nvPr/>
        </p:nvSpPr>
        <p:spPr>
          <a:xfrm>
            <a:off x="1188720" y="6099120"/>
            <a:ext cx="33829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9aa2b4"/>
                </a:solidFill>
                <a:latin typeface="Segoe UI"/>
              </a:rPr>
              <a:t>56 перевірених брендів · 259 ножів · жодної позиції іншого походження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" name="Picture 14" descr="p_fb4ec7931d518461.jpg"/>
          <p:cNvPicPr/>
          <p:nvPr/>
        </p:nvPicPr>
        <p:blipFill>
          <a:blip r:embed="rId2"/>
          <a:stretch/>
        </p:blipFill>
        <p:spPr>
          <a:xfrm>
            <a:off x="7516440" y="511920"/>
            <a:ext cx="4114440" cy="2669760"/>
          </a:xfrm>
          <a:prstGeom prst="rect">
            <a:avLst/>
          </a:prstGeom>
          <a:ln w="0">
            <a:noFill/>
          </a:ln>
        </p:spPr>
      </p:pic>
      <p:sp>
        <p:nvSpPr>
          <p:cNvPr id="81" name="Rectangle 15"/>
          <p:cNvSpPr/>
          <p:nvPr/>
        </p:nvSpPr>
        <p:spPr>
          <a:xfrm>
            <a:off x="751644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2" name="Picture 16" descr="p_44ba51ea8424ea3f.jpg"/>
          <p:cNvPicPr/>
          <p:nvPr/>
        </p:nvPicPr>
        <p:blipFill>
          <a:blip r:embed="rId3"/>
          <a:stretch/>
        </p:blipFill>
        <p:spPr>
          <a:xfrm>
            <a:off x="758052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3" name="Rectangle 17"/>
          <p:cNvSpPr/>
          <p:nvPr/>
        </p:nvSpPr>
        <p:spPr>
          <a:xfrm>
            <a:off x="890640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4" name="Picture 18" descr="p_a84b4529c2c8fb4e.jpg"/>
          <p:cNvPicPr/>
          <p:nvPr/>
        </p:nvPicPr>
        <p:blipFill>
          <a:blip r:embed="rId4"/>
          <a:stretch/>
        </p:blipFill>
        <p:spPr>
          <a:xfrm>
            <a:off x="897012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5" name="Rectangle 19"/>
          <p:cNvSpPr/>
          <p:nvPr/>
        </p:nvSpPr>
        <p:spPr>
          <a:xfrm>
            <a:off x="10296000" y="3310200"/>
            <a:ext cx="1334520" cy="1042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6" name="Picture 20" descr="p_965f872cd0c1a6dd.jpg"/>
          <p:cNvPicPr/>
          <p:nvPr/>
        </p:nvPicPr>
        <p:blipFill>
          <a:blip r:embed="rId5"/>
          <a:stretch/>
        </p:blipFill>
        <p:spPr>
          <a:xfrm>
            <a:off x="10360080" y="3374280"/>
            <a:ext cx="1206720" cy="914040"/>
          </a:xfrm>
          <a:prstGeom prst="rect">
            <a:avLst/>
          </a:prstGeom>
          <a:ln w="0">
            <a:noFill/>
          </a:ln>
        </p:spPr>
      </p:pic>
      <p:sp>
        <p:nvSpPr>
          <p:cNvPr id="87" name="Rectangle 21"/>
          <p:cNvSpPr/>
          <p:nvPr/>
        </p:nvSpPr>
        <p:spPr>
          <a:xfrm>
            <a:off x="7516440" y="45352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Rectangle 22"/>
          <p:cNvSpPr/>
          <p:nvPr/>
        </p:nvSpPr>
        <p:spPr>
          <a:xfrm>
            <a:off x="7516440" y="45352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" name="TextBox 23"/>
          <p:cNvSpPr/>
          <p:nvPr/>
        </p:nvSpPr>
        <p:spPr>
          <a:xfrm>
            <a:off x="7662600" y="466344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691–924 млн грн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24"/>
          <p:cNvSpPr/>
          <p:nvPr/>
        </p:nvSpPr>
        <p:spPr>
          <a:xfrm>
            <a:off x="7662600" y="495612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роздріб кухонних ножів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25"/>
          <p:cNvSpPr/>
          <p:nvPr/>
        </p:nvSpPr>
        <p:spPr>
          <a:xfrm>
            <a:off x="9619560" y="45352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Rectangle 26"/>
          <p:cNvSpPr/>
          <p:nvPr/>
        </p:nvSpPr>
        <p:spPr>
          <a:xfrm>
            <a:off x="9619560" y="45352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27"/>
          <p:cNvSpPr/>
          <p:nvPr/>
        </p:nvSpPr>
        <p:spPr>
          <a:xfrm>
            <a:off x="9765720" y="466344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16–19 млн грн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28"/>
          <p:cNvSpPr/>
          <p:nvPr/>
        </p:nvSpPr>
        <p:spPr>
          <a:xfrm>
            <a:off x="9765720" y="495612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зроблено в Японії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Rectangle 29"/>
          <p:cNvSpPr/>
          <p:nvPr/>
        </p:nvSpPr>
        <p:spPr>
          <a:xfrm>
            <a:off x="7516440" y="53218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" name="Rectangle 30"/>
          <p:cNvSpPr/>
          <p:nvPr/>
        </p:nvSpPr>
        <p:spPr>
          <a:xfrm>
            <a:off x="7516440" y="53218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" name="TextBox 31"/>
          <p:cNvSpPr/>
          <p:nvPr/>
        </p:nvSpPr>
        <p:spPr>
          <a:xfrm>
            <a:off x="7662600" y="544968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103 тис. $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32"/>
          <p:cNvSpPr/>
          <p:nvPr/>
        </p:nvSpPr>
        <p:spPr>
          <a:xfrm>
            <a:off x="7662600" y="574236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імпорт із Японії, 2024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Rectangle 33"/>
          <p:cNvSpPr/>
          <p:nvPr/>
        </p:nvSpPr>
        <p:spPr>
          <a:xfrm>
            <a:off x="9619560" y="5321880"/>
            <a:ext cx="2011320" cy="676440"/>
          </a:xfrm>
          <a:prstGeom prst="rect">
            <a:avLst/>
          </a:prstGeom>
          <a:solidFill>
            <a:srgbClr val="2631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Rectangle 34"/>
          <p:cNvSpPr/>
          <p:nvPr/>
        </p:nvSpPr>
        <p:spPr>
          <a:xfrm>
            <a:off x="9619560" y="5321880"/>
            <a:ext cx="2011320" cy="198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35"/>
          <p:cNvSpPr/>
          <p:nvPr/>
        </p:nvSpPr>
        <p:spPr>
          <a:xfrm>
            <a:off x="9765720" y="5449680"/>
            <a:ext cx="17370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d9b165"/>
                </a:solidFill>
                <a:latin typeface="Georgia"/>
              </a:rPr>
              <a:t>1,3 %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36"/>
          <p:cNvSpPr/>
          <p:nvPr/>
        </p:nvSpPr>
        <p:spPr>
          <a:xfrm>
            <a:off x="9765720" y="5742360"/>
            <a:ext cx="1737000" cy="11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9aa2b4"/>
                </a:solidFill>
                <a:latin typeface="Segoe UI"/>
              </a:rPr>
              <a:t>частка Японії в митній базі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37"/>
          <p:cNvSpPr/>
          <p:nvPr/>
        </p:nvSpPr>
        <p:spPr>
          <a:xfrm>
            <a:off x="7516440" y="5998320"/>
            <a:ext cx="4114440" cy="10440"/>
          </a:xfrm>
          <a:prstGeom prst="rect">
            <a:avLst/>
          </a:prstGeom>
          <a:solidFill>
            <a:srgbClr val="45527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TextBox 38"/>
          <p:cNvSpPr/>
          <p:nvPr/>
        </p:nvSpPr>
        <p:spPr>
          <a:xfrm>
            <a:off x="7516440" y="6144840"/>
            <a:ext cx="4169160" cy="29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40000"/>
              </a:lnSpc>
            </a:pPr>
            <a:r>
              <a:rPr b="0" lang="en-US" sz="680" spc="-1" strike="noStrike">
                <a:solidFill>
                  <a:srgbClr val="9aa2b4"/>
                </a:solidFill>
                <a:latin typeface="Segoe UI"/>
              </a:rPr>
              <a:t>24 слайди · 25 продавців · 56 перевірених брендів · 259 ножів у каталозі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40000"/>
              </a:lnSpc>
            </a:pPr>
            <a:r>
              <a:rPr b="0" lang="en-US" sz="680" spc="-1" strike="noStrike">
                <a:solidFill>
                  <a:srgbClr val="9aa2b4"/>
                </a:solidFill>
                <a:latin typeface="Segoe UI"/>
              </a:rPr>
              <a:t>4 роки митної статистики · модель попиту HoReCa · 3 сценарії входу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0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Г О Л О В Н Е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Вісім цифр, які описують ринок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" name="Rectangle 13"/>
          <p:cNvSpPr/>
          <p:nvPr/>
        </p:nvSpPr>
        <p:spPr>
          <a:xfrm>
            <a:off x="56700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Rectangle 14"/>
          <p:cNvSpPr/>
          <p:nvPr/>
        </p:nvSpPr>
        <p:spPr>
          <a:xfrm>
            <a:off x="567000" y="1554480"/>
            <a:ext cx="261468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TextBox 15"/>
          <p:cNvSpPr/>
          <p:nvPr/>
        </p:nvSpPr>
        <p:spPr>
          <a:xfrm>
            <a:off x="78624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М И Т Н А   Б А З А   2 0 2 4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Box 16"/>
          <p:cNvSpPr/>
          <p:nvPr/>
        </p:nvSpPr>
        <p:spPr>
          <a:xfrm>
            <a:off x="78624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966e28"/>
                </a:solidFill>
                <a:latin typeface="Georgia"/>
              </a:rPr>
              <a:t>9,02 млн $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17"/>
          <p:cNvSpPr/>
          <p:nvPr/>
        </p:nvSpPr>
        <p:spPr>
          <a:xfrm>
            <a:off x="78624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Кухонні + столові ножі та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набори, CIF. Останній повний рік.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18"/>
          <p:cNvSpPr/>
          <p:nvPr/>
        </p:nvSpPr>
        <p:spPr>
          <a:xfrm>
            <a:off x="338328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Rectangle 19"/>
          <p:cNvSpPr/>
          <p:nvPr/>
        </p:nvSpPr>
        <p:spPr>
          <a:xfrm>
            <a:off x="3383280" y="1554480"/>
            <a:ext cx="261468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20"/>
          <p:cNvSpPr/>
          <p:nvPr/>
        </p:nvSpPr>
        <p:spPr>
          <a:xfrm>
            <a:off x="360288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О З Д Р І Б ,   О Ц І Н К 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21"/>
          <p:cNvSpPr/>
          <p:nvPr/>
        </p:nvSpPr>
        <p:spPr>
          <a:xfrm>
            <a:off x="360288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2a7f86"/>
                </a:solidFill>
                <a:latin typeface="Georgia"/>
              </a:rPr>
              <a:t>691–924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22"/>
          <p:cNvSpPr/>
          <p:nvPr/>
        </p:nvSpPr>
        <p:spPr>
          <a:xfrm>
            <a:off x="360288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млн грн на рік. Розрахунок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через імпорт × 2,34–3,12.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ectangle 23"/>
          <p:cNvSpPr/>
          <p:nvPr/>
        </p:nvSpPr>
        <p:spPr>
          <a:xfrm>
            <a:off x="619956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Rectangle 24"/>
          <p:cNvSpPr/>
          <p:nvPr/>
        </p:nvSpPr>
        <p:spPr>
          <a:xfrm>
            <a:off x="6199560" y="1554480"/>
            <a:ext cx="261468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" name="TextBox 25"/>
          <p:cNvSpPr/>
          <p:nvPr/>
        </p:nvSpPr>
        <p:spPr>
          <a:xfrm>
            <a:off x="641916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І М П О Р Т   І З   Я П О Н І Ї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Box 26"/>
          <p:cNvSpPr/>
          <p:nvPr/>
        </p:nvSpPr>
        <p:spPr>
          <a:xfrm>
            <a:off x="641916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554780"/>
                </a:solidFill>
                <a:latin typeface="Georgia"/>
              </a:rPr>
              <a:t>103 тис. $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27"/>
          <p:cNvSpPr/>
          <p:nvPr/>
        </p:nvSpPr>
        <p:spPr>
          <a:xfrm>
            <a:off x="641916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CIF 2024, код 8211 92.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Нижче за рівень 2022 року.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Rectangle 28"/>
          <p:cNvSpPr/>
          <p:nvPr/>
        </p:nvSpPr>
        <p:spPr>
          <a:xfrm>
            <a:off x="9015840" y="155448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" name="Rectangle 29"/>
          <p:cNvSpPr/>
          <p:nvPr/>
        </p:nvSpPr>
        <p:spPr>
          <a:xfrm>
            <a:off x="9015840" y="1554480"/>
            <a:ext cx="261468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" name="TextBox 30"/>
          <p:cNvSpPr/>
          <p:nvPr/>
        </p:nvSpPr>
        <p:spPr>
          <a:xfrm>
            <a:off x="9235440" y="172836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Я П О Н І Я   В   Р О З Д Р І Б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31"/>
          <p:cNvSpPr/>
          <p:nvPr/>
        </p:nvSpPr>
        <p:spPr>
          <a:xfrm>
            <a:off x="9235440" y="192024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a84a6b"/>
                </a:solidFill>
                <a:latin typeface="Georgia"/>
              </a:rPr>
              <a:t>16–19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32"/>
          <p:cNvSpPr/>
          <p:nvPr/>
        </p:nvSpPr>
        <p:spPr>
          <a:xfrm>
            <a:off x="9235440" y="241416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млн грн на рік. Це 2 % ринку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 грошах і 0,15 % у штуках.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Rectangle 33"/>
          <p:cNvSpPr/>
          <p:nvPr/>
        </p:nvSpPr>
        <p:spPr>
          <a:xfrm>
            <a:off x="56700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Rectangle 34"/>
          <p:cNvSpPr/>
          <p:nvPr/>
        </p:nvSpPr>
        <p:spPr>
          <a:xfrm>
            <a:off x="567000" y="2797920"/>
            <a:ext cx="261468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" name="TextBox 35"/>
          <p:cNvSpPr/>
          <p:nvPr/>
        </p:nvSpPr>
        <p:spPr>
          <a:xfrm>
            <a:off x="78624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Box 36"/>
          <p:cNvSpPr/>
          <p:nvPr/>
        </p:nvSpPr>
        <p:spPr>
          <a:xfrm>
            <a:off x="78624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b42e3a"/>
                </a:solidFill>
                <a:latin typeface="Georgia"/>
              </a:rPr>
              <a:t>56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TextBox 37"/>
          <p:cNvSpPr/>
          <p:nvPr/>
        </p:nvSpPr>
        <p:spPr>
          <a:xfrm>
            <a:off x="78624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каталогах продавців.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Сумарно 759 позицій.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Rectangle 38"/>
          <p:cNvSpPr/>
          <p:nvPr/>
        </p:nvSpPr>
        <p:spPr>
          <a:xfrm>
            <a:off x="338328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Rectangle 39"/>
          <p:cNvSpPr/>
          <p:nvPr/>
        </p:nvSpPr>
        <p:spPr>
          <a:xfrm>
            <a:off x="3383280" y="2797920"/>
            <a:ext cx="2614680" cy="2520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40"/>
          <p:cNvSpPr/>
          <p:nvPr/>
        </p:nvSpPr>
        <p:spPr>
          <a:xfrm>
            <a:off x="360288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Я П О Н Ц І   В   П Р О Ф .   О П Т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41"/>
          <p:cNvSpPr/>
          <p:nvPr/>
        </p:nvSpPr>
        <p:spPr>
          <a:xfrm>
            <a:off x="360288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3a7d5a"/>
                </a:solidFill>
                <a:latin typeface="Georgia"/>
              </a:rPr>
              <a:t>2 з 15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TextBox 42"/>
          <p:cNvSpPr/>
          <p:nvPr/>
        </p:nvSpPr>
        <p:spPr>
          <a:xfrm>
            <a:off x="360288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брендів у каталозі опту HoReCa.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523 ножі, японських — одиниці.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Rectangle 43"/>
          <p:cNvSpPr/>
          <p:nvPr/>
        </p:nvSpPr>
        <p:spPr>
          <a:xfrm>
            <a:off x="619956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Rectangle 44"/>
          <p:cNvSpPr/>
          <p:nvPr/>
        </p:nvSpPr>
        <p:spPr>
          <a:xfrm>
            <a:off x="6199560" y="2797920"/>
            <a:ext cx="2614680" cy="252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" name="TextBox 45"/>
          <p:cNvSpPr/>
          <p:nvPr/>
        </p:nvSpPr>
        <p:spPr>
          <a:xfrm>
            <a:off x="641916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М И Т О   Н А   Я П О Н І Ю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TextBox 46"/>
          <p:cNvSpPr/>
          <p:nvPr/>
        </p:nvSpPr>
        <p:spPr>
          <a:xfrm>
            <a:off x="641916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b88a3d"/>
                </a:solidFill>
                <a:latin typeface="Georgia"/>
              </a:rPr>
              <a:t>10 %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47"/>
          <p:cNvSpPr/>
          <p:nvPr/>
        </p:nvSpPr>
        <p:spPr>
          <a:xfrm>
            <a:off x="641916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+20 % ПДВ. З ЄС — 0 % мита.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Структурний програш 10 пунктів.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Rectangle 48"/>
          <p:cNvSpPr/>
          <p:nvPr/>
        </p:nvSpPr>
        <p:spPr>
          <a:xfrm>
            <a:off x="9015840" y="2797920"/>
            <a:ext cx="2614680" cy="1151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" name="Rectangle 49"/>
          <p:cNvSpPr/>
          <p:nvPr/>
        </p:nvSpPr>
        <p:spPr>
          <a:xfrm>
            <a:off x="9015840" y="2797920"/>
            <a:ext cx="2614680" cy="252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50"/>
          <p:cNvSpPr/>
          <p:nvPr/>
        </p:nvSpPr>
        <p:spPr>
          <a:xfrm>
            <a:off x="9235440" y="2971800"/>
            <a:ext cx="217584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Ц І Н О В И Й   Р О З М А Х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TextBox 51"/>
          <p:cNvSpPr/>
          <p:nvPr/>
        </p:nvSpPr>
        <p:spPr>
          <a:xfrm>
            <a:off x="9235440" y="3163680"/>
            <a:ext cx="21758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50" spc="-1" strike="noStrike">
                <a:solidFill>
                  <a:srgbClr val="1b253f"/>
                </a:solidFill>
                <a:latin typeface="Georgia"/>
              </a:rPr>
              <a:t>726–60 495</a:t>
            </a:r>
            <a:endParaRPr b="0" lang="en-US" sz="1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52"/>
          <p:cNvSpPr/>
          <p:nvPr/>
        </p:nvSpPr>
        <p:spPr>
          <a:xfrm>
            <a:off x="9235440" y="3657600"/>
            <a:ext cx="217584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 за один японський ніж.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Розрив у 83 рази.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Rounded Rectangle 53"/>
          <p:cNvSpPr/>
          <p:nvPr/>
        </p:nvSpPr>
        <p:spPr>
          <a:xfrm>
            <a:off x="567000" y="4169520"/>
            <a:ext cx="5412960" cy="15724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" name="Rectangle 54"/>
          <p:cNvSpPr/>
          <p:nvPr/>
        </p:nvSpPr>
        <p:spPr>
          <a:xfrm>
            <a:off x="567000" y="4169520"/>
            <a:ext cx="36360" cy="15724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" name="TextBox 55"/>
          <p:cNvSpPr/>
          <p:nvPr/>
        </p:nvSpPr>
        <p:spPr>
          <a:xfrm>
            <a:off x="804600" y="432504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ОЗНАЧАЄ ДЛЯ РІШЕННЯ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56"/>
          <p:cNvSpPr/>
          <p:nvPr/>
        </p:nvSpPr>
        <p:spPr>
          <a:xfrm>
            <a:off x="804600" y="4553640"/>
            <a:ext cx="493740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ounded Rectangle 57"/>
          <p:cNvSpPr/>
          <p:nvPr/>
        </p:nvSpPr>
        <p:spPr>
          <a:xfrm>
            <a:off x="6217920" y="4169520"/>
            <a:ext cx="5412960" cy="15724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Rectangle 58"/>
          <p:cNvSpPr/>
          <p:nvPr/>
        </p:nvSpPr>
        <p:spPr>
          <a:xfrm>
            <a:off x="6217920" y="4169520"/>
            <a:ext cx="36360" cy="1572480"/>
          </a:xfrm>
          <a:prstGeom prst="rect">
            <a:avLst/>
          </a:prstGeom>
          <a:solidFill>
            <a:srgbClr val="9aa2b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" name="TextBox 59"/>
          <p:cNvSpPr/>
          <p:nvPr/>
        </p:nvSpPr>
        <p:spPr>
          <a:xfrm>
            <a:off x="6455520" y="432504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aa2b4"/>
                </a:solidFill>
                <a:latin typeface="Segoe UI"/>
              </a:rPr>
              <a:t>ЧОГО В ЦІЙ КОЛОДІ НЕМАЄ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Box 60"/>
          <p:cNvSpPr/>
          <p:nvPr/>
        </p:nvSpPr>
        <p:spPr>
          <a:xfrm>
            <a:off x="6455520" y="4553640"/>
            <a:ext cx="4937400" cy="90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3. Немає оптових цін: їх не отримати без акаунта постачальника.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800" spc="-1" strike="noStrike">
                <a:solidFill>
                  <a:srgbClr val="1b253f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Rectangle 61"/>
          <p:cNvSpPr/>
          <p:nvPr/>
        </p:nvSpPr>
        <p:spPr>
          <a:xfrm>
            <a:off x="567000" y="587052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62"/>
          <p:cNvSpPr/>
          <p:nvPr/>
        </p:nvSpPr>
        <p:spPr>
          <a:xfrm>
            <a:off x="713160" y="591156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Rounded Rectangle 63"/>
          <p:cNvSpPr/>
          <p:nvPr/>
        </p:nvSpPr>
        <p:spPr>
          <a:xfrm>
            <a:off x="56700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" name="Rectangle 64"/>
          <p:cNvSpPr/>
          <p:nvPr/>
        </p:nvSpPr>
        <p:spPr>
          <a:xfrm>
            <a:off x="567000" y="6126480"/>
            <a:ext cx="36360" cy="47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TextBox 65"/>
          <p:cNvSpPr/>
          <p:nvPr/>
        </p:nvSpPr>
        <p:spPr>
          <a:xfrm>
            <a:off x="74988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966e28"/>
                </a:solidFill>
                <a:latin typeface="Segoe UI"/>
              </a:rPr>
              <a:t>19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Box 66"/>
          <p:cNvSpPr/>
          <p:nvPr/>
        </p:nvSpPr>
        <p:spPr>
          <a:xfrm>
            <a:off x="149976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позицій Sakai Takayuki знайдено в усій країні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Rounded Rectangle 67"/>
          <p:cNvSpPr/>
          <p:nvPr/>
        </p:nvSpPr>
        <p:spPr>
          <a:xfrm>
            <a:off x="338328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" name="Rectangle 68"/>
          <p:cNvSpPr/>
          <p:nvPr/>
        </p:nvSpPr>
        <p:spPr>
          <a:xfrm>
            <a:off x="3383280" y="6126480"/>
            <a:ext cx="36360" cy="47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TextBox 69"/>
          <p:cNvSpPr/>
          <p:nvPr/>
        </p:nvSpPr>
        <p:spPr>
          <a:xfrm>
            <a:off x="356616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2a7f86"/>
                </a:solidFill>
                <a:latin typeface="Segoe UI"/>
              </a:rPr>
              <a:t>2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70"/>
          <p:cNvSpPr/>
          <p:nvPr/>
        </p:nvSpPr>
        <p:spPr>
          <a:xfrm>
            <a:off x="431604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із них реально на складі — обидві янагіба 24 см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Rounded Rectangle 71"/>
          <p:cNvSpPr/>
          <p:nvPr/>
        </p:nvSpPr>
        <p:spPr>
          <a:xfrm>
            <a:off x="619956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Rectangle 72"/>
          <p:cNvSpPr/>
          <p:nvPr/>
        </p:nvSpPr>
        <p:spPr>
          <a:xfrm>
            <a:off x="6199560" y="6126480"/>
            <a:ext cx="36360" cy="47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73"/>
          <p:cNvSpPr/>
          <p:nvPr/>
        </p:nvSpPr>
        <p:spPr>
          <a:xfrm>
            <a:off x="638244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b42e3a"/>
                </a:solidFill>
                <a:latin typeface="Segoe UI"/>
              </a:rPr>
              <a:t>0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74"/>
          <p:cNvSpPr/>
          <p:nvPr/>
        </p:nvSpPr>
        <p:spPr>
          <a:xfrm>
            <a:off x="713232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дистриб'юторів, монобрендів і позицій в опті HoReCa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75"/>
          <p:cNvSpPr/>
          <p:nvPr/>
        </p:nvSpPr>
        <p:spPr>
          <a:xfrm>
            <a:off x="9015840" y="6126480"/>
            <a:ext cx="2724480" cy="475200"/>
          </a:xfrm>
          <a:prstGeom prst="roundRect">
            <a:avLst>
              <a:gd name="adj" fmla="val 8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" name="Rectangle 76"/>
          <p:cNvSpPr/>
          <p:nvPr/>
        </p:nvSpPr>
        <p:spPr>
          <a:xfrm>
            <a:off x="9015840" y="6126480"/>
            <a:ext cx="36360" cy="47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TextBox 77"/>
          <p:cNvSpPr/>
          <p:nvPr/>
        </p:nvSpPr>
        <p:spPr>
          <a:xfrm>
            <a:off x="9198720" y="6181200"/>
            <a:ext cx="73116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700" spc="-1" strike="noStrike">
                <a:solidFill>
                  <a:srgbClr val="554780"/>
                </a:solidFill>
                <a:latin typeface="Segoe UI"/>
              </a:rPr>
              <a:t>105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78"/>
          <p:cNvSpPr/>
          <p:nvPr/>
        </p:nvSpPr>
        <p:spPr>
          <a:xfrm>
            <a:off x="9948600" y="6217920"/>
            <a:ext cx="1682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1b253f"/>
                </a:solidFill>
                <a:latin typeface="Segoe UI"/>
              </a:rPr>
              <a:t>позицій каталогу вже стоять у його ціновій зоні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8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Щ О   Б У В А Є   ·   1   ·   Г Е О М Е Т Р І Я   Л Е З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Вісім типів леза, з яких ринок купує три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" name="TextBox 13"/>
          <p:cNvSpPr/>
          <p:nvPr/>
        </p:nvSpPr>
        <p:spPr>
          <a:xfrm>
            <a:off x="567000" y="1536120"/>
            <a:ext cx="512028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ПРОФІЛІ КЛИНКА В ЄДИНОМУ МАСШТАБІ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ounded Rectangle 14"/>
          <p:cNvSpPr/>
          <p:nvPr/>
        </p:nvSpPr>
        <p:spPr>
          <a:xfrm>
            <a:off x="493920" y="174636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TextBox 15"/>
          <p:cNvSpPr/>
          <p:nvPr/>
        </p:nvSpPr>
        <p:spPr>
          <a:xfrm>
            <a:off x="567000" y="18198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Гюто / шеф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16"/>
          <p:cNvSpPr/>
          <p:nvPr/>
        </p:nvSpPr>
        <p:spPr>
          <a:xfrm>
            <a:off x="567000" y="19843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180–240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17"/>
          <p:cNvSpPr/>
          <p:nvPr/>
        </p:nvSpPr>
        <p:spPr>
          <a:xfrm>
            <a:off x="567000" y="21488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Робочий ніж кухні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0" name="Picture 18" descr="gyuto.png"/>
          <p:cNvPicPr/>
          <p:nvPr/>
        </p:nvPicPr>
        <p:blipFill>
          <a:blip r:embed="rId2"/>
          <a:stretch/>
        </p:blipFill>
        <p:spPr>
          <a:xfrm>
            <a:off x="1627560" y="1778400"/>
            <a:ext cx="2739960" cy="585000"/>
          </a:xfrm>
          <a:prstGeom prst="rect">
            <a:avLst/>
          </a:prstGeom>
          <a:ln w="0">
            <a:noFill/>
          </a:ln>
        </p:spPr>
      </p:pic>
      <p:sp>
        <p:nvSpPr>
          <p:cNvPr id="201" name="TextBox 19"/>
          <p:cNvSpPr/>
          <p:nvPr/>
        </p:nvSpPr>
        <p:spPr>
          <a:xfrm>
            <a:off x="567000" y="246888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88a3d"/>
                </a:solidFill>
                <a:latin typeface="Segoe UI"/>
              </a:rPr>
              <a:t>Сантоку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20"/>
          <p:cNvSpPr/>
          <p:nvPr/>
        </p:nvSpPr>
        <p:spPr>
          <a:xfrm>
            <a:off x="567000" y="263340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165–180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Box 21"/>
          <p:cNvSpPr/>
          <p:nvPr/>
        </p:nvSpPr>
        <p:spPr>
          <a:xfrm>
            <a:off x="567000" y="2797920"/>
            <a:ext cx="1005480" cy="19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Універсал, драйвер обсягу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4" name="Picture 22" descr="santoku.png"/>
          <p:cNvPicPr/>
          <p:nvPr/>
        </p:nvPicPr>
        <p:blipFill>
          <a:blip r:embed="rId3"/>
          <a:stretch/>
        </p:blipFill>
        <p:spPr>
          <a:xfrm>
            <a:off x="1627560" y="2435400"/>
            <a:ext cx="2422800" cy="569520"/>
          </a:xfrm>
          <a:prstGeom prst="rect">
            <a:avLst/>
          </a:prstGeom>
          <a:ln w="0">
            <a:noFill/>
          </a:ln>
        </p:spPr>
      </p:pic>
      <p:sp>
        <p:nvSpPr>
          <p:cNvPr id="205" name="Rounded Rectangle 23"/>
          <p:cNvSpPr/>
          <p:nvPr/>
        </p:nvSpPr>
        <p:spPr>
          <a:xfrm>
            <a:off x="493920" y="304488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" name="TextBox 24"/>
          <p:cNvSpPr/>
          <p:nvPr/>
        </p:nvSpPr>
        <p:spPr>
          <a:xfrm>
            <a:off x="567000" y="311796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Box 25"/>
          <p:cNvSpPr/>
          <p:nvPr/>
        </p:nvSpPr>
        <p:spPr>
          <a:xfrm>
            <a:off x="567000" y="328284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165–180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26"/>
          <p:cNvSpPr/>
          <p:nvPr/>
        </p:nvSpPr>
        <p:spPr>
          <a:xfrm>
            <a:off x="567000" y="344736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Овочі, шаткування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9" name="Picture 27" descr="nakiri.png"/>
          <p:cNvPicPr/>
          <p:nvPr/>
        </p:nvPicPr>
        <p:blipFill>
          <a:blip r:embed="rId4"/>
          <a:stretch/>
        </p:blipFill>
        <p:spPr>
          <a:xfrm>
            <a:off x="1627560" y="3069360"/>
            <a:ext cx="2383200" cy="600120"/>
          </a:xfrm>
          <a:prstGeom prst="rect">
            <a:avLst/>
          </a:prstGeom>
          <a:ln w="0">
            <a:noFill/>
          </a:ln>
        </p:spPr>
      </p:pic>
      <p:sp>
        <p:nvSpPr>
          <p:cNvPr id="210" name="TextBox 28"/>
          <p:cNvSpPr/>
          <p:nvPr/>
        </p:nvSpPr>
        <p:spPr>
          <a:xfrm>
            <a:off x="567000" y="37674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Кіріцуке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Box 29"/>
          <p:cNvSpPr/>
          <p:nvPr/>
        </p:nvSpPr>
        <p:spPr>
          <a:xfrm>
            <a:off x="567000" y="39319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180–240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30"/>
          <p:cNvSpPr/>
          <p:nvPr/>
        </p:nvSpPr>
        <p:spPr>
          <a:xfrm>
            <a:off x="567000" y="40964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Гібрид, статусний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Picture 31" descr="kiritsuke.png"/>
          <p:cNvPicPr/>
          <p:nvPr/>
        </p:nvPicPr>
        <p:blipFill>
          <a:blip r:embed="rId5"/>
          <a:stretch/>
        </p:blipFill>
        <p:spPr>
          <a:xfrm>
            <a:off x="1627560" y="3733920"/>
            <a:ext cx="2739960" cy="569520"/>
          </a:xfrm>
          <a:prstGeom prst="rect">
            <a:avLst/>
          </a:prstGeom>
          <a:ln w="0">
            <a:noFill/>
          </a:ln>
        </p:spPr>
      </p:pic>
      <p:sp>
        <p:nvSpPr>
          <p:cNvPr id="214" name="Rounded Rectangle 32"/>
          <p:cNvSpPr/>
          <p:nvPr/>
        </p:nvSpPr>
        <p:spPr>
          <a:xfrm>
            <a:off x="493920" y="434340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TextBox 33"/>
          <p:cNvSpPr/>
          <p:nvPr/>
        </p:nvSpPr>
        <p:spPr>
          <a:xfrm>
            <a:off x="567000" y="441648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34"/>
          <p:cNvSpPr/>
          <p:nvPr/>
        </p:nvSpPr>
        <p:spPr>
          <a:xfrm>
            <a:off x="567000" y="458100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210–300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35"/>
          <p:cNvSpPr/>
          <p:nvPr/>
        </p:nvSpPr>
        <p:spPr>
          <a:xfrm>
            <a:off x="567000" y="474588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Сашимі, одностороннє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8" name="Picture 36" descr="yanagiba.png"/>
          <p:cNvPicPr/>
          <p:nvPr/>
        </p:nvPicPr>
        <p:blipFill>
          <a:blip r:embed="rId6"/>
          <a:stretch/>
        </p:blipFill>
        <p:spPr>
          <a:xfrm>
            <a:off x="1627560" y="4439520"/>
            <a:ext cx="3215160" cy="456840"/>
          </a:xfrm>
          <a:prstGeom prst="rect">
            <a:avLst/>
          </a:prstGeom>
          <a:ln w="0">
            <a:noFill/>
          </a:ln>
        </p:spPr>
      </p:pic>
      <p:sp>
        <p:nvSpPr>
          <p:cNvPr id="219" name="TextBox 37"/>
          <p:cNvSpPr/>
          <p:nvPr/>
        </p:nvSpPr>
        <p:spPr>
          <a:xfrm>
            <a:off x="567000" y="506592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554780"/>
                </a:solidFill>
                <a:latin typeface="Segoe UI"/>
              </a:rPr>
              <a:t>Деба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Box 38"/>
          <p:cNvSpPr/>
          <p:nvPr/>
        </p:nvSpPr>
        <p:spPr>
          <a:xfrm>
            <a:off x="567000" y="523044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150–180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39"/>
          <p:cNvSpPr/>
          <p:nvPr/>
        </p:nvSpPr>
        <p:spPr>
          <a:xfrm>
            <a:off x="567000" y="539496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Розбирання риби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2" name="Picture 40" descr="deba.png"/>
          <p:cNvPicPr/>
          <p:nvPr/>
        </p:nvPicPr>
        <p:blipFill>
          <a:blip r:embed="rId7"/>
          <a:stretch/>
        </p:blipFill>
        <p:spPr>
          <a:xfrm>
            <a:off x="1627560" y="5024520"/>
            <a:ext cx="2383200" cy="585000"/>
          </a:xfrm>
          <a:prstGeom prst="rect">
            <a:avLst/>
          </a:prstGeom>
          <a:ln w="0">
            <a:noFill/>
          </a:ln>
        </p:spPr>
      </p:pic>
      <p:sp>
        <p:nvSpPr>
          <p:cNvPr id="223" name="Rounded Rectangle 41"/>
          <p:cNvSpPr/>
          <p:nvPr/>
        </p:nvSpPr>
        <p:spPr>
          <a:xfrm>
            <a:off x="493920" y="5641920"/>
            <a:ext cx="5778720" cy="612360"/>
          </a:xfrm>
          <a:prstGeom prst="roundRect">
            <a:avLst>
              <a:gd name="adj" fmla="val 12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TextBox 42"/>
          <p:cNvSpPr/>
          <p:nvPr/>
        </p:nvSpPr>
        <p:spPr>
          <a:xfrm>
            <a:off x="567000" y="5715000"/>
            <a:ext cx="100548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6b7282"/>
                </a:solidFill>
                <a:latin typeface="Segoe UI"/>
              </a:rPr>
              <a:t>Петті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43"/>
          <p:cNvSpPr/>
          <p:nvPr/>
        </p:nvSpPr>
        <p:spPr>
          <a:xfrm>
            <a:off x="567000" y="5879520"/>
            <a:ext cx="1005480" cy="9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50" spc="-1" strike="noStrike">
                <a:solidFill>
                  <a:srgbClr val="6b7282"/>
                </a:solidFill>
                <a:latin typeface="Segoe UI"/>
              </a:rPr>
              <a:t>90–150 мм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Box 44"/>
          <p:cNvSpPr/>
          <p:nvPr/>
        </p:nvSpPr>
        <p:spPr>
          <a:xfrm>
            <a:off x="567000" y="6044040"/>
            <a:ext cx="1005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30" spc="-1" strike="noStrike">
                <a:solidFill>
                  <a:srgbClr val="1b253f"/>
                </a:solidFill>
                <a:latin typeface="Segoe UI"/>
              </a:rPr>
              <a:t>Дрібна робота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7" name="Picture 45" descr="petty.png"/>
          <p:cNvPicPr/>
          <p:nvPr/>
        </p:nvPicPr>
        <p:blipFill>
          <a:blip r:embed="rId8"/>
          <a:stretch/>
        </p:blipFill>
        <p:spPr>
          <a:xfrm>
            <a:off x="1627560" y="5760720"/>
            <a:ext cx="2026440" cy="411120"/>
          </a:xfrm>
          <a:prstGeom prst="rect">
            <a:avLst/>
          </a:prstGeom>
          <a:ln w="0">
            <a:noFill/>
          </a:ln>
        </p:spPr>
      </p:pic>
      <p:sp>
        <p:nvSpPr>
          <p:cNvPr id="228" name="TextBox 46"/>
          <p:cNvSpPr/>
          <p:nvPr/>
        </p:nvSpPr>
        <p:spPr>
          <a:xfrm>
            <a:off x="6419160" y="1536120"/>
            <a:ext cx="12067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ТИП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7"/>
          <p:cNvSpPr/>
          <p:nvPr/>
        </p:nvSpPr>
        <p:spPr>
          <a:xfrm>
            <a:off x="7626240" y="1536120"/>
            <a:ext cx="11700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ЦІНА,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48"/>
          <p:cNvSpPr/>
          <p:nvPr/>
        </p:nvSpPr>
        <p:spPr>
          <a:xfrm>
            <a:off x="8796600" y="1536120"/>
            <a:ext cx="1352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ПРОДАЄТЬСЯ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49"/>
          <p:cNvSpPr/>
          <p:nvPr/>
        </p:nvSpPr>
        <p:spPr>
          <a:xfrm>
            <a:off x="10149840" y="1536120"/>
            <a:ext cx="1481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РОЛЬ У КАТЕГОРІЇ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Rounded Rectangle 50"/>
          <p:cNvSpPr/>
          <p:nvPr/>
        </p:nvSpPr>
        <p:spPr>
          <a:xfrm>
            <a:off x="6346080" y="171468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" name="TextBox 51"/>
          <p:cNvSpPr/>
          <p:nvPr/>
        </p:nvSpPr>
        <p:spPr>
          <a:xfrm>
            <a:off x="6419160" y="175572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88a3d"/>
                </a:solidFill>
                <a:latin typeface="Segoe UI"/>
              </a:rPr>
              <a:t>Сантоку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Box 52"/>
          <p:cNvSpPr/>
          <p:nvPr/>
        </p:nvSpPr>
        <p:spPr>
          <a:xfrm>
            <a:off x="7626240" y="175572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175 – 12 000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53"/>
          <p:cNvSpPr/>
          <p:nvPr/>
        </p:nvSpPr>
        <p:spPr>
          <a:xfrm>
            <a:off x="8796600" y="175572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54"/>
          <p:cNvSpPr/>
          <p:nvPr/>
        </p:nvSpPr>
        <p:spPr>
          <a:xfrm>
            <a:off x="10149840" y="175572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Драйвер обсягу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55"/>
          <p:cNvSpPr/>
          <p:nvPr/>
        </p:nvSpPr>
        <p:spPr>
          <a:xfrm>
            <a:off x="6419160" y="203004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Гюто / шеф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Box 56"/>
          <p:cNvSpPr/>
          <p:nvPr/>
        </p:nvSpPr>
        <p:spPr>
          <a:xfrm>
            <a:off x="7626240" y="203004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500 – 27 970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57"/>
          <p:cNvSpPr/>
          <p:nvPr/>
        </p:nvSpPr>
        <p:spPr>
          <a:xfrm>
            <a:off x="8796600" y="20300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58"/>
          <p:cNvSpPr/>
          <p:nvPr/>
        </p:nvSpPr>
        <p:spPr>
          <a:xfrm>
            <a:off x="10149840" y="203004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Драйвер ціни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Rounded Rectangle 59"/>
          <p:cNvSpPr/>
          <p:nvPr/>
        </p:nvSpPr>
        <p:spPr>
          <a:xfrm>
            <a:off x="6346080" y="226296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" name="TextBox 60"/>
          <p:cNvSpPr/>
          <p:nvPr/>
        </p:nvSpPr>
        <p:spPr>
          <a:xfrm>
            <a:off x="6419160" y="230436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Петті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Box 61"/>
          <p:cNvSpPr/>
          <p:nvPr/>
        </p:nvSpPr>
        <p:spPr>
          <a:xfrm>
            <a:off x="7626240" y="230436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175 – 5 000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Box 62"/>
          <p:cNvSpPr/>
          <p:nvPr/>
        </p:nvSpPr>
        <p:spPr>
          <a:xfrm>
            <a:off x="8796600" y="230436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63"/>
          <p:cNvSpPr/>
          <p:nvPr/>
        </p:nvSpPr>
        <p:spPr>
          <a:xfrm>
            <a:off x="10149840" y="230436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Часта купівля, малий чек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Box 64"/>
          <p:cNvSpPr/>
          <p:nvPr/>
        </p:nvSpPr>
        <p:spPr>
          <a:xfrm>
            <a:off x="6419160" y="257868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Box 65"/>
          <p:cNvSpPr/>
          <p:nvPr/>
        </p:nvSpPr>
        <p:spPr>
          <a:xfrm>
            <a:off x="7626240" y="257868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1 249 – 13 290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Box 66"/>
          <p:cNvSpPr/>
          <p:nvPr/>
        </p:nvSpPr>
        <p:spPr>
          <a:xfrm>
            <a:off x="8796600" y="257868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Спеціаліст, Епіцентр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67"/>
          <p:cNvSpPr/>
          <p:nvPr/>
        </p:nvSpPr>
        <p:spPr>
          <a:xfrm>
            <a:off x="10149840" y="257868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Зростає вдома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Rounded Rectangle 68"/>
          <p:cNvSpPr/>
          <p:nvPr/>
        </p:nvSpPr>
        <p:spPr>
          <a:xfrm>
            <a:off x="6346080" y="281160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" name="TextBox 69"/>
          <p:cNvSpPr/>
          <p:nvPr/>
        </p:nvSpPr>
        <p:spPr>
          <a:xfrm>
            <a:off x="6419160" y="285300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Box 70"/>
          <p:cNvSpPr/>
          <p:nvPr/>
        </p:nvSpPr>
        <p:spPr>
          <a:xfrm>
            <a:off x="7626240" y="285300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1 107 – 13 971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71"/>
          <p:cNvSpPr/>
          <p:nvPr/>
        </p:nvSpPr>
        <p:spPr>
          <a:xfrm>
            <a:off x="8796600" y="285300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Суші-спеціалізація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Box 72"/>
          <p:cNvSpPr/>
          <p:nvPr/>
        </p:nvSpPr>
        <p:spPr>
          <a:xfrm>
            <a:off x="10149840" y="285300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Вузький HoReCa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73"/>
          <p:cNvSpPr/>
          <p:nvPr/>
        </p:nvSpPr>
        <p:spPr>
          <a:xfrm>
            <a:off x="6419160" y="312732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Деба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74"/>
          <p:cNvSpPr/>
          <p:nvPr/>
        </p:nvSpPr>
        <p:spPr>
          <a:xfrm>
            <a:off x="7626240" y="312732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1 470 – 9 000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Box 75"/>
          <p:cNvSpPr/>
          <p:nvPr/>
        </p:nvSpPr>
        <p:spPr>
          <a:xfrm>
            <a:off x="8796600" y="312732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Суші-спеціалізація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Box 76"/>
          <p:cNvSpPr/>
          <p:nvPr/>
        </p:nvSpPr>
        <p:spPr>
          <a:xfrm>
            <a:off x="10149840" y="312732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Вузький HoReCa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ounded Rectangle 77"/>
          <p:cNvSpPr/>
          <p:nvPr/>
        </p:nvSpPr>
        <p:spPr>
          <a:xfrm>
            <a:off x="6346080" y="3360240"/>
            <a:ext cx="5284800" cy="2235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" name="TextBox 78"/>
          <p:cNvSpPr/>
          <p:nvPr/>
        </p:nvSpPr>
        <p:spPr>
          <a:xfrm>
            <a:off x="6419160" y="340164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aa2b4"/>
                </a:solidFill>
                <a:latin typeface="Segoe UI"/>
              </a:rPr>
              <a:t>Кіріцуке, бунка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Box 79"/>
          <p:cNvSpPr/>
          <p:nvPr/>
        </p:nvSpPr>
        <p:spPr>
          <a:xfrm>
            <a:off x="7626240" y="340164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3 000 – 20 000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80"/>
          <p:cNvSpPr/>
          <p:nvPr/>
        </p:nvSpPr>
        <p:spPr>
          <a:xfrm>
            <a:off x="8796600" y="34016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Тільки спеціаліст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Box 81"/>
          <p:cNvSpPr/>
          <p:nvPr/>
        </p:nvSpPr>
        <p:spPr>
          <a:xfrm>
            <a:off x="10149840" y="340164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Довгий хвіст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Box 82"/>
          <p:cNvSpPr/>
          <p:nvPr/>
        </p:nvSpPr>
        <p:spPr>
          <a:xfrm>
            <a:off x="6419160" y="3675960"/>
            <a:ext cx="1151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a84a6b"/>
                </a:solidFill>
                <a:latin typeface="Segoe UI"/>
              </a:rPr>
              <a:t>Набори 2–5 шт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83"/>
          <p:cNvSpPr/>
          <p:nvPr/>
        </p:nvSpPr>
        <p:spPr>
          <a:xfrm>
            <a:off x="7626240" y="3675960"/>
            <a:ext cx="11152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51a26"/>
                </a:solidFill>
                <a:latin typeface="Segoe UI"/>
              </a:rPr>
              <a:t>2 500 – 27 970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84"/>
          <p:cNvSpPr/>
          <p:nvPr/>
        </p:nvSpPr>
        <p:spPr>
          <a:xfrm>
            <a:off x="8796600" y="367596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Усюди, пік у грудні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85"/>
          <p:cNvSpPr/>
          <p:nvPr/>
        </p:nvSpPr>
        <p:spPr>
          <a:xfrm>
            <a:off x="10149840" y="3675960"/>
            <a:ext cx="14259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26 % митної бази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86"/>
          <p:cNvSpPr/>
          <p:nvPr/>
        </p:nvSpPr>
        <p:spPr>
          <a:xfrm>
            <a:off x="641916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69" name="Picture 87" descr="p_91ad057c1cdbe7f4.jpg"/>
          <p:cNvPicPr/>
          <p:nvPr/>
        </p:nvPicPr>
        <p:blipFill>
          <a:blip r:embed="rId9"/>
          <a:stretch/>
        </p:blipFill>
        <p:spPr>
          <a:xfrm>
            <a:off x="649224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0" name="TextBox 88"/>
          <p:cNvSpPr/>
          <p:nvPr/>
        </p:nvSpPr>
        <p:spPr>
          <a:xfrm>
            <a:off x="656532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Накірі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Box 89"/>
          <p:cNvSpPr/>
          <p:nvPr/>
        </p:nvSpPr>
        <p:spPr>
          <a:xfrm>
            <a:off x="656532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Росте вдома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Rounded Rectangle 90"/>
          <p:cNvSpPr/>
          <p:nvPr/>
        </p:nvSpPr>
        <p:spPr>
          <a:xfrm>
            <a:off x="817488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3" name="Picture 91" descr="p_cbd544534962eb91.jpg"/>
          <p:cNvPicPr/>
          <p:nvPr/>
        </p:nvPicPr>
        <p:blipFill>
          <a:blip r:embed="rId10"/>
          <a:stretch/>
        </p:blipFill>
        <p:spPr>
          <a:xfrm>
            <a:off x="824796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4" name="TextBox 92"/>
          <p:cNvSpPr/>
          <p:nvPr/>
        </p:nvSpPr>
        <p:spPr>
          <a:xfrm>
            <a:off x="832104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Янагіба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Box 93"/>
          <p:cNvSpPr/>
          <p:nvPr/>
        </p:nvSpPr>
        <p:spPr>
          <a:xfrm>
            <a:off x="832104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500–900 шт/рік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ounded Rectangle 94"/>
          <p:cNvSpPr/>
          <p:nvPr/>
        </p:nvSpPr>
        <p:spPr>
          <a:xfrm>
            <a:off x="9930240" y="4041720"/>
            <a:ext cx="1645560" cy="1407960"/>
          </a:xfrm>
          <a:prstGeom prst="roundRect">
            <a:avLst>
              <a:gd name="adj" fmla="val 8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77" name="Picture 95" descr="p_6fb574fdc4b6efa9.jpg"/>
          <p:cNvPicPr/>
          <p:nvPr/>
        </p:nvPicPr>
        <p:blipFill>
          <a:blip r:embed="rId11"/>
          <a:stretch/>
        </p:blipFill>
        <p:spPr>
          <a:xfrm>
            <a:off x="10003680" y="4114800"/>
            <a:ext cx="1499400" cy="932400"/>
          </a:xfrm>
          <a:prstGeom prst="rect">
            <a:avLst/>
          </a:prstGeom>
          <a:ln w="0">
            <a:noFill/>
          </a:ln>
        </p:spPr>
      </p:pic>
      <p:sp>
        <p:nvSpPr>
          <p:cNvPr id="278" name="TextBox 96"/>
          <p:cNvSpPr/>
          <p:nvPr/>
        </p:nvSpPr>
        <p:spPr>
          <a:xfrm>
            <a:off x="10076760" y="5120640"/>
            <a:ext cx="1352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Набір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97"/>
          <p:cNvSpPr/>
          <p:nvPr/>
        </p:nvSpPr>
        <p:spPr>
          <a:xfrm>
            <a:off x="10076760" y="5285160"/>
            <a:ext cx="13528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26 % митної бази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98"/>
          <p:cNvSpPr/>
          <p:nvPr/>
        </p:nvSpPr>
        <p:spPr>
          <a:xfrm>
            <a:off x="6419160" y="5541120"/>
            <a:ext cx="5211720" cy="9914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" name="Rectangle 99"/>
          <p:cNvSpPr/>
          <p:nvPr/>
        </p:nvSpPr>
        <p:spPr>
          <a:xfrm>
            <a:off x="6419160" y="5541120"/>
            <a:ext cx="36360" cy="9914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" name="TextBox 100"/>
          <p:cNvSpPr/>
          <p:nvPr/>
        </p:nvSpPr>
        <p:spPr>
          <a:xfrm>
            <a:off x="6656760" y="5696640"/>
            <a:ext cx="47361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КУПУЮТЬ НАСПРАВДІ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101"/>
          <p:cNvSpPr/>
          <p:nvPr/>
        </p:nvSpPr>
        <p:spPr>
          <a:xfrm>
            <a:off x="6656760" y="5925240"/>
            <a:ext cx="473616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походження він не перевіряє.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Box 102"/>
          <p:cNvSpPr/>
          <p:nvPr/>
        </p:nvSpPr>
        <p:spPr>
          <a:xfrm>
            <a:off x="603360" y="652896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8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8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Щ О   Б У В А Є   ·   2   ·   С Т А Л Ь   І   Р Е Г І О 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Ціну визначає сталь, а можливість закупівлі — регіон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Дві осі, на яких тримається вся категорія. Марка сталі задає ціновий щабель; регіон кузні задає, чи взагалі можлива серійна поставка.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TextBox 13"/>
          <p:cNvSpPr/>
          <p:nvPr/>
        </p:nvSpPr>
        <p:spPr>
          <a:xfrm>
            <a:off x="567000" y="1536120"/>
            <a:ext cx="54860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ВІСЬ 1 · СТАЛЬ І КОНСТРУКЦІЯ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14"/>
          <p:cNvSpPr/>
          <p:nvPr/>
        </p:nvSpPr>
        <p:spPr>
          <a:xfrm>
            <a:off x="567000" y="1774080"/>
            <a:ext cx="21484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КОНСТРУКЦІЯ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Box 15"/>
          <p:cNvSpPr/>
          <p:nvPr/>
        </p:nvSpPr>
        <p:spPr>
          <a:xfrm>
            <a:off x="2715840" y="1774080"/>
            <a:ext cx="1462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СТАЛЬ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Box 16"/>
          <p:cNvSpPr/>
          <p:nvPr/>
        </p:nvSpPr>
        <p:spPr>
          <a:xfrm>
            <a:off x="4178880" y="1774080"/>
            <a:ext cx="6397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HRC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Box 17"/>
          <p:cNvSpPr/>
          <p:nvPr/>
        </p:nvSpPr>
        <p:spPr>
          <a:xfrm>
            <a:off x="4818960" y="1774080"/>
            <a:ext cx="14169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РОЗДРІБ,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Box 18"/>
          <p:cNvSpPr/>
          <p:nvPr/>
        </p:nvSpPr>
        <p:spPr>
          <a:xfrm>
            <a:off x="6236280" y="1774080"/>
            <a:ext cx="5348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ТУТ СТОЇТЬ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ounded Rectangle 19"/>
          <p:cNvSpPr/>
          <p:nvPr/>
        </p:nvSpPr>
        <p:spPr>
          <a:xfrm>
            <a:off x="493920" y="195228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" name="TextBox 20"/>
          <p:cNvSpPr/>
          <p:nvPr/>
        </p:nvSpPr>
        <p:spPr>
          <a:xfrm>
            <a:off x="567000" y="199332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Мо-ванадієва моносталь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1"/>
          <p:cNvSpPr/>
          <p:nvPr/>
        </p:nvSpPr>
        <p:spPr>
          <a:xfrm>
            <a:off x="2715840" y="19933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AUS-6A, AUS-8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Box 22"/>
          <p:cNvSpPr/>
          <p:nvPr/>
        </p:nvSpPr>
        <p:spPr>
          <a:xfrm>
            <a:off x="4178880" y="199332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56–58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Box 23"/>
          <p:cNvSpPr/>
          <p:nvPr/>
        </p:nvSpPr>
        <p:spPr>
          <a:xfrm>
            <a:off x="4818960" y="19933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700 – 2 500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4"/>
          <p:cNvSpPr/>
          <p:nvPr/>
        </p:nvSpPr>
        <p:spPr>
          <a:xfrm>
            <a:off x="6236280" y="199332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Satake Saku, Seki Kanetsugu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25"/>
          <p:cNvSpPr/>
          <p:nvPr/>
        </p:nvSpPr>
        <p:spPr>
          <a:xfrm>
            <a:off x="567000" y="224208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 моно або 3 шари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TextBox 26"/>
          <p:cNvSpPr/>
          <p:nvPr/>
        </p:nvSpPr>
        <p:spPr>
          <a:xfrm>
            <a:off x="2715840" y="22420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VG-10 core, clad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27"/>
          <p:cNvSpPr/>
          <p:nvPr/>
        </p:nvSpPr>
        <p:spPr>
          <a:xfrm>
            <a:off x="4178880" y="224208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Box 28"/>
          <p:cNvSpPr/>
          <p:nvPr/>
        </p:nvSpPr>
        <p:spPr>
          <a:xfrm>
            <a:off x="4818960" y="224208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2 500 – 6 000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29"/>
          <p:cNvSpPr/>
          <p:nvPr/>
        </p:nvSpPr>
        <p:spPr>
          <a:xfrm>
            <a:off x="6236280" y="224208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Tojiro DP, KAI Wasabi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Rounded Rectangle 30"/>
          <p:cNvSpPr/>
          <p:nvPr/>
        </p:nvSpPr>
        <p:spPr>
          <a:xfrm>
            <a:off x="493920" y="244980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" name="TextBox 31"/>
          <p:cNvSpPr/>
          <p:nvPr/>
        </p:nvSpPr>
        <p:spPr>
          <a:xfrm>
            <a:off x="567000" y="249084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VG-10 + дамаск 32–69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Box 32"/>
          <p:cNvSpPr/>
          <p:nvPr/>
        </p:nvSpPr>
        <p:spPr>
          <a:xfrm>
            <a:off x="2715840" y="249084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damascus clad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Box 33"/>
          <p:cNvSpPr/>
          <p:nvPr/>
        </p:nvSpPr>
        <p:spPr>
          <a:xfrm>
            <a:off x="4178880" y="249084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4818960" y="24908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5 000 – 12 000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6236280" y="249084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Kasumi, Yaxell Ran, KAI Shun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Box 36"/>
          <p:cNvSpPr/>
          <p:nvPr/>
        </p:nvSpPr>
        <p:spPr>
          <a:xfrm>
            <a:off x="567000" y="273960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Порошкова SG-2 / R2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Box 37"/>
          <p:cNvSpPr/>
          <p:nvPr/>
        </p:nvSpPr>
        <p:spPr>
          <a:xfrm>
            <a:off x="2715840" y="273960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101–193 шари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38"/>
          <p:cNvSpPr/>
          <p:nvPr/>
        </p:nvSpPr>
        <p:spPr>
          <a:xfrm>
            <a:off x="4178880" y="273960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Box 39"/>
          <p:cNvSpPr/>
          <p:nvPr/>
        </p:nvSpPr>
        <p:spPr>
          <a:xfrm>
            <a:off x="4818960" y="273960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12 000 – 43 020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TextBox 40"/>
          <p:cNvSpPr/>
          <p:nvPr/>
        </p:nvSpPr>
        <p:spPr>
          <a:xfrm>
            <a:off x="6236280" y="273960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Yaxell Super Gou, Miyabi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Rounded Rectangle 41"/>
          <p:cNvSpPr/>
          <p:nvPr/>
        </p:nvSpPr>
        <p:spPr>
          <a:xfrm>
            <a:off x="493920" y="294696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6" name="TextBox 42"/>
          <p:cNvSpPr/>
          <p:nvPr/>
        </p:nvSpPr>
        <p:spPr>
          <a:xfrm>
            <a:off x="567000" y="298836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Вуглецева Сіроґамі / Аоґамі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Box 43"/>
          <p:cNvSpPr/>
          <p:nvPr/>
        </p:nvSpPr>
        <p:spPr>
          <a:xfrm>
            <a:off x="2715840" y="298836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одностороннє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Box 44"/>
          <p:cNvSpPr/>
          <p:nvPr/>
        </p:nvSpPr>
        <p:spPr>
          <a:xfrm>
            <a:off x="4178880" y="298836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62–65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Box 45"/>
          <p:cNvSpPr/>
          <p:nvPr/>
        </p:nvSpPr>
        <p:spPr>
          <a:xfrm>
            <a:off x="4818960" y="298836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25 000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Box 46"/>
          <p:cNvSpPr/>
          <p:nvPr/>
        </p:nvSpPr>
        <p:spPr>
          <a:xfrm>
            <a:off x="6236280" y="298836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Tosa, HONMAMON, Sakai Takayuki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47"/>
          <p:cNvSpPr/>
          <p:nvPr/>
        </p:nvSpPr>
        <p:spPr>
          <a:xfrm>
            <a:off x="567000" y="3237120"/>
            <a:ext cx="20937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Honyaki, Ginsan моносталь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Box 48"/>
          <p:cNvSpPr/>
          <p:nvPr/>
        </p:nvSpPr>
        <p:spPr>
          <a:xfrm>
            <a:off x="2715840" y="32371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суцільне гартування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49"/>
          <p:cNvSpPr/>
          <p:nvPr/>
        </p:nvSpPr>
        <p:spPr>
          <a:xfrm>
            <a:off x="4178880" y="3237120"/>
            <a:ext cx="585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63–65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50"/>
          <p:cNvSpPr/>
          <p:nvPr/>
        </p:nvSpPr>
        <p:spPr>
          <a:xfrm>
            <a:off x="4818960" y="32371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35 000 – 70 000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51"/>
          <p:cNvSpPr/>
          <p:nvPr/>
        </p:nvSpPr>
        <p:spPr>
          <a:xfrm>
            <a:off x="6236280" y="3237120"/>
            <a:ext cx="5294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У країні немає жодної позиції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Box 52"/>
          <p:cNvSpPr/>
          <p:nvPr/>
        </p:nvSpPr>
        <p:spPr>
          <a:xfrm>
            <a:off x="567000" y="3639240"/>
            <a:ext cx="54860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88a3d"/>
                </a:solidFill>
                <a:latin typeface="Segoe UI"/>
              </a:rPr>
              <a:t>ВІСЬ 2 · РЕГІОН ВИРОБНИЦТВА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Box 53"/>
          <p:cNvSpPr/>
          <p:nvPr/>
        </p:nvSpPr>
        <p:spPr>
          <a:xfrm>
            <a:off x="567000" y="3877200"/>
            <a:ext cx="14169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РЕГІОН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54"/>
          <p:cNvSpPr/>
          <p:nvPr/>
        </p:nvSpPr>
        <p:spPr>
          <a:xfrm>
            <a:off x="1984320" y="3877200"/>
            <a:ext cx="3748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ЦЕ ЗА ВИРОБНИЦТВО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Box 55"/>
          <p:cNvSpPr/>
          <p:nvPr/>
        </p:nvSpPr>
        <p:spPr>
          <a:xfrm>
            <a:off x="5733360" y="3877200"/>
            <a:ext cx="731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БРЕНДІВ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Box 56"/>
          <p:cNvSpPr/>
          <p:nvPr/>
        </p:nvSpPr>
        <p:spPr>
          <a:xfrm>
            <a:off x="6464880" y="3877200"/>
            <a:ext cx="16912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Box 57"/>
          <p:cNvSpPr/>
          <p:nvPr/>
        </p:nvSpPr>
        <p:spPr>
          <a:xfrm>
            <a:off x="8156520" y="3877200"/>
            <a:ext cx="34743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ЧИ МОЖЛИВА СЕРІЙНА ПОСТАВКА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Rounded Rectangle 58"/>
          <p:cNvSpPr/>
          <p:nvPr/>
        </p:nvSpPr>
        <p:spPr>
          <a:xfrm>
            <a:off x="493920" y="405540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3" name="TextBox 59"/>
          <p:cNvSpPr/>
          <p:nvPr/>
        </p:nvSpPr>
        <p:spPr>
          <a:xfrm>
            <a:off x="567000" y="40964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Секі, Гіфу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Box 60"/>
          <p:cNvSpPr/>
          <p:nvPr/>
        </p:nvSpPr>
        <p:spPr>
          <a:xfrm>
            <a:off x="1984320" y="409644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61"/>
          <p:cNvSpPr/>
          <p:nvPr/>
        </p:nvSpPr>
        <p:spPr>
          <a:xfrm>
            <a:off x="5733360" y="409644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62"/>
          <p:cNvSpPr/>
          <p:nvPr/>
        </p:nvSpPr>
        <p:spPr>
          <a:xfrm>
            <a:off x="6464880" y="409644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726 – 70 102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Box 63"/>
          <p:cNvSpPr/>
          <p:nvPr/>
        </p:nvSpPr>
        <p:spPr>
          <a:xfrm>
            <a:off x="8156520" y="409644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3a7d5a"/>
                </a:solidFill>
                <a:latin typeface="Segoe UI"/>
              </a:rPr>
              <a:t>Так — заводи, контейнерні партії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Box 64"/>
          <p:cNvSpPr/>
          <p:nvPr/>
        </p:nvSpPr>
        <p:spPr>
          <a:xfrm>
            <a:off x="567000" y="434520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Сакаї, Осака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Box 65"/>
          <p:cNvSpPr/>
          <p:nvPr/>
        </p:nvSpPr>
        <p:spPr>
          <a:xfrm>
            <a:off x="1984320" y="434520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Box 66"/>
          <p:cNvSpPr/>
          <p:nvPr/>
        </p:nvSpPr>
        <p:spPr>
          <a:xfrm>
            <a:off x="5733360" y="434520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Box 67"/>
          <p:cNvSpPr/>
          <p:nvPr/>
        </p:nvSpPr>
        <p:spPr>
          <a:xfrm>
            <a:off x="6464880" y="434520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1 999 – 15 580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Box 68"/>
          <p:cNvSpPr/>
          <p:nvPr/>
        </p:nvSpPr>
        <p:spPr>
          <a:xfrm>
            <a:off x="8156520" y="434520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88a3d"/>
                </a:solidFill>
                <a:latin typeface="Segoe UI"/>
              </a:rPr>
              <a:t>Частково — великі майстерні з експортом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Rounded Rectangle 69"/>
          <p:cNvSpPr/>
          <p:nvPr/>
        </p:nvSpPr>
        <p:spPr>
          <a:xfrm>
            <a:off x="493920" y="455292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" name="TextBox 70"/>
          <p:cNvSpPr/>
          <p:nvPr/>
        </p:nvSpPr>
        <p:spPr>
          <a:xfrm>
            <a:off x="567000" y="459396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Ечідзен, Фукуї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Box 71"/>
          <p:cNvSpPr/>
          <p:nvPr/>
        </p:nvSpPr>
        <p:spPr>
          <a:xfrm>
            <a:off x="1984320" y="459396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700 років. Takefu Knife Village. Піонери порошкових сталей.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72"/>
          <p:cNvSpPr/>
          <p:nvPr/>
        </p:nvSpPr>
        <p:spPr>
          <a:xfrm>
            <a:off x="5733360" y="459396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73"/>
          <p:cNvSpPr/>
          <p:nvPr/>
        </p:nvSpPr>
        <p:spPr>
          <a:xfrm>
            <a:off x="6464880" y="459396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5 320 – 16 677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74"/>
          <p:cNvSpPr/>
          <p:nvPr/>
        </p:nvSpPr>
        <p:spPr>
          <a:xfrm>
            <a:off x="8156520" y="459396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75"/>
          <p:cNvSpPr/>
          <p:nvPr/>
        </p:nvSpPr>
        <p:spPr>
          <a:xfrm>
            <a:off x="567000" y="484272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Тоса, Коті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76"/>
          <p:cNvSpPr/>
          <p:nvPr/>
        </p:nvSpPr>
        <p:spPr>
          <a:xfrm>
            <a:off x="1984320" y="484272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77"/>
          <p:cNvSpPr/>
          <p:nvPr/>
        </p:nvSpPr>
        <p:spPr>
          <a:xfrm>
            <a:off x="5733360" y="484272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78"/>
          <p:cNvSpPr/>
          <p:nvPr/>
        </p:nvSpPr>
        <p:spPr>
          <a:xfrm>
            <a:off x="6464880" y="484272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2 610 – 10 035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79"/>
          <p:cNvSpPr/>
          <p:nvPr/>
        </p:nvSpPr>
        <p:spPr>
          <a:xfrm>
            <a:off x="8156520" y="484272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Rounded Rectangle 80"/>
          <p:cNvSpPr/>
          <p:nvPr/>
        </p:nvSpPr>
        <p:spPr>
          <a:xfrm>
            <a:off x="493920" y="5050080"/>
            <a:ext cx="11210040" cy="23904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5" name="TextBox 81"/>
          <p:cNvSpPr/>
          <p:nvPr/>
        </p:nvSpPr>
        <p:spPr>
          <a:xfrm>
            <a:off x="567000" y="509148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Цубаме-Сандзьо, Ніїґата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Box 82"/>
          <p:cNvSpPr/>
          <p:nvPr/>
        </p:nvSpPr>
        <p:spPr>
          <a:xfrm>
            <a:off x="1984320" y="509148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700 років, Ніїґата. Ковальські майстерні та інструмент.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83"/>
          <p:cNvSpPr/>
          <p:nvPr/>
        </p:nvSpPr>
        <p:spPr>
          <a:xfrm>
            <a:off x="5733360" y="509148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Box 84"/>
          <p:cNvSpPr/>
          <p:nvPr/>
        </p:nvSpPr>
        <p:spPr>
          <a:xfrm>
            <a:off x="6464880" y="509148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9 900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Box 85"/>
          <p:cNvSpPr/>
          <p:nvPr/>
        </p:nvSpPr>
        <p:spPr>
          <a:xfrm>
            <a:off x="8156520" y="509148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TextBox 86"/>
          <p:cNvSpPr/>
          <p:nvPr/>
        </p:nvSpPr>
        <p:spPr>
          <a:xfrm>
            <a:off x="567000" y="5340240"/>
            <a:ext cx="13622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Хіросакі, Аоморі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87"/>
          <p:cNvSpPr/>
          <p:nvPr/>
        </p:nvSpPr>
        <p:spPr>
          <a:xfrm>
            <a:off x="1984320" y="5340240"/>
            <a:ext cx="369396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6b7282"/>
                </a:solidFill>
                <a:latin typeface="Segoe UI"/>
              </a:rPr>
              <a:t>Nigara Hamono: 350 років, ковалі клану Цуґару, 8 поколінь.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Box 88"/>
          <p:cNvSpPr/>
          <p:nvPr/>
        </p:nvSpPr>
        <p:spPr>
          <a:xfrm>
            <a:off x="5733360" y="5340240"/>
            <a:ext cx="676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Box 89"/>
          <p:cNvSpPr/>
          <p:nvPr/>
        </p:nvSpPr>
        <p:spPr>
          <a:xfrm>
            <a:off x="6464880" y="5340240"/>
            <a:ext cx="1636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14 800 – 16 740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Box 90"/>
          <p:cNvSpPr/>
          <p:nvPr/>
        </p:nvSpPr>
        <p:spPr>
          <a:xfrm>
            <a:off x="8156520" y="5340240"/>
            <a:ext cx="34196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Ні — ручна кузня, поштучно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Rounded Rectangle 91"/>
          <p:cNvSpPr/>
          <p:nvPr/>
        </p:nvSpPr>
        <p:spPr>
          <a:xfrm>
            <a:off x="567000" y="5632560"/>
            <a:ext cx="5412960" cy="8514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6" name="Rectangle 92"/>
          <p:cNvSpPr/>
          <p:nvPr/>
        </p:nvSpPr>
        <p:spPr>
          <a:xfrm>
            <a:off x="567000" y="5632560"/>
            <a:ext cx="36360" cy="85140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7" name="TextBox 93"/>
          <p:cNvSpPr/>
          <p:nvPr/>
        </p:nvSpPr>
        <p:spPr>
          <a:xfrm>
            <a:off x="804600" y="5788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ЧОМУ ЦЕ ВИРІШАЛЬНО ДЛЯ ЗАКУПІВЛІ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TextBox 94"/>
          <p:cNvSpPr/>
          <p:nvPr/>
        </p:nvSpPr>
        <p:spPr>
          <a:xfrm>
            <a:off x="804600" y="6016680"/>
            <a:ext cx="4937400" cy="32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Секі продасть контейнер. Сакаї — партію. Тоса, Ечідзен, Сандзьо й Аоморі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кують поштучно: це вітрина для репутації, а не канал постачання.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Rounded Rectangle 95"/>
          <p:cNvSpPr/>
          <p:nvPr/>
        </p:nvSpPr>
        <p:spPr>
          <a:xfrm>
            <a:off x="6217920" y="5632560"/>
            <a:ext cx="5412960" cy="8514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0" name="Rectangle 96"/>
          <p:cNvSpPr/>
          <p:nvPr/>
        </p:nvSpPr>
        <p:spPr>
          <a:xfrm>
            <a:off x="6217920" y="5632560"/>
            <a:ext cx="36360" cy="851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1" name="TextBox 97"/>
          <p:cNvSpPr/>
          <p:nvPr/>
        </p:nvSpPr>
        <p:spPr>
          <a:xfrm>
            <a:off x="6455520" y="5788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ДЕ В ЦЬОМУ SAKAI TAKAYUKI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TextBox 98"/>
          <p:cNvSpPr/>
          <p:nvPr/>
        </p:nvSpPr>
        <p:spPr>
          <a:xfrm>
            <a:off x="6455520" y="6016680"/>
            <a:ext cx="4937400" cy="32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Сакаї, Осака. Велика майстерня з експортом у 100+ країн — тобто другий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за масштабованістю регіон після Секі, і єдиний із традицією ручної кузні.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99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HRC — твердість клинка за Роквеллом. Ціни — спостережений роздріб в Україні, жовтень 2026. «Серійна поставка» — оцінка на основі структури виробництва регіону, не підтверджена переговорами з виробниками.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5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86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87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388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1   ·   М А Р К А   С Т А Л 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Ніж купують не за брендом, а за сталлю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2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3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Марка сталі визначає три речі: скільки ніж тримає кромку, чи іржавіє і як легко викришується. Руків'я, дизайн та ім'я — вторинні.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96" name="TextBox 13"/>
          <p:cNvSpPr/>
          <p:nvPr/>
        </p:nvSpPr>
        <p:spPr>
          <a:xfrm>
            <a:off x="567000" y="1591200"/>
            <a:ext cx="1481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СТАЛЬ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14"/>
          <p:cNvSpPr/>
          <p:nvPr/>
        </p:nvSpPr>
        <p:spPr>
          <a:xfrm>
            <a:off x="2048400" y="1591200"/>
            <a:ext cx="12250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ТИП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15"/>
          <p:cNvSpPr/>
          <p:nvPr/>
        </p:nvSpPr>
        <p:spPr>
          <a:xfrm>
            <a:off x="3273480" y="1591200"/>
            <a:ext cx="5666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HRC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Box 16"/>
          <p:cNvSpPr/>
          <p:nvPr/>
        </p:nvSpPr>
        <p:spPr>
          <a:xfrm>
            <a:off x="3840480" y="1591200"/>
            <a:ext cx="11883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ТРИМАЄ КРОМКУ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Box 17"/>
          <p:cNvSpPr/>
          <p:nvPr/>
        </p:nvSpPr>
        <p:spPr>
          <a:xfrm>
            <a:off x="5029200" y="1591200"/>
            <a:ext cx="895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ІРЖАВІЄ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Box 18"/>
          <p:cNvSpPr/>
          <p:nvPr/>
        </p:nvSpPr>
        <p:spPr>
          <a:xfrm>
            <a:off x="5925240" y="1591200"/>
            <a:ext cx="10422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РИЗИК СКОЛУ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Box 19"/>
          <p:cNvSpPr/>
          <p:nvPr/>
        </p:nvSpPr>
        <p:spPr>
          <a:xfrm>
            <a:off x="6967800" y="1591200"/>
            <a:ext cx="11516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ЗАТОЧУВАННЯ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20"/>
          <p:cNvSpPr/>
          <p:nvPr/>
        </p:nvSpPr>
        <p:spPr>
          <a:xfrm>
            <a:off x="8119800" y="1591200"/>
            <a:ext cx="1298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РОЗДРІБ,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21"/>
          <p:cNvSpPr/>
          <p:nvPr/>
        </p:nvSpPr>
        <p:spPr>
          <a:xfrm>
            <a:off x="9418320" y="1591200"/>
            <a:ext cx="22125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ЦЕ ДОРЕЧНО НА КУХНІ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Rounded Rectangle 22"/>
          <p:cNvSpPr/>
          <p:nvPr/>
        </p:nvSpPr>
        <p:spPr>
          <a:xfrm>
            <a:off x="493920" y="176940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6" name="TextBox 23"/>
          <p:cNvSpPr/>
          <p:nvPr/>
        </p:nvSpPr>
        <p:spPr>
          <a:xfrm>
            <a:off x="567000" y="181044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6b7282"/>
                </a:solidFill>
                <a:latin typeface="Segoe UI"/>
              </a:rPr>
              <a:t>AUS-8 / AUS-10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Box 24"/>
          <p:cNvSpPr/>
          <p:nvPr/>
        </p:nvSpPr>
        <p:spPr>
          <a:xfrm>
            <a:off x="2048400" y="181044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Box 25"/>
          <p:cNvSpPr/>
          <p:nvPr/>
        </p:nvSpPr>
        <p:spPr>
          <a:xfrm>
            <a:off x="3273480" y="181044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56–58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26"/>
          <p:cNvSpPr/>
          <p:nvPr/>
        </p:nvSpPr>
        <p:spPr>
          <a:xfrm>
            <a:off x="3840480" y="1810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коротко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Box 27"/>
          <p:cNvSpPr/>
          <p:nvPr/>
        </p:nvSpPr>
        <p:spPr>
          <a:xfrm>
            <a:off x="5029200" y="181044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28"/>
          <p:cNvSpPr/>
          <p:nvPr/>
        </p:nvSpPr>
        <p:spPr>
          <a:xfrm>
            <a:off x="5925240" y="181044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низький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29"/>
          <p:cNvSpPr/>
          <p:nvPr/>
        </p:nvSpPr>
        <p:spPr>
          <a:xfrm>
            <a:off x="6967800" y="181044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просте, мусат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30"/>
          <p:cNvSpPr/>
          <p:nvPr/>
        </p:nvSpPr>
        <p:spPr>
          <a:xfrm>
            <a:off x="8119800" y="181044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700 – 2 500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TextBox 31"/>
          <p:cNvSpPr/>
          <p:nvPr/>
        </p:nvSpPr>
        <p:spPr>
          <a:xfrm>
            <a:off x="9418320" y="181044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Лінійна станція, висока плинність персоналу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32"/>
          <p:cNvSpPr/>
          <p:nvPr/>
        </p:nvSpPr>
        <p:spPr>
          <a:xfrm>
            <a:off x="567000" y="211680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6b7282"/>
                </a:solidFill>
                <a:latin typeface="Segoe UI"/>
              </a:rPr>
              <a:t>Мо-ванадієва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33"/>
          <p:cNvSpPr/>
          <p:nvPr/>
        </p:nvSpPr>
        <p:spPr>
          <a:xfrm>
            <a:off x="2048400" y="211680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34"/>
          <p:cNvSpPr/>
          <p:nvPr/>
        </p:nvSpPr>
        <p:spPr>
          <a:xfrm>
            <a:off x="3273480" y="211680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57–59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TextBox 35"/>
          <p:cNvSpPr/>
          <p:nvPr/>
        </p:nvSpPr>
        <p:spPr>
          <a:xfrm>
            <a:off x="3840480" y="211680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коротко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TextBox 36"/>
          <p:cNvSpPr/>
          <p:nvPr/>
        </p:nvSpPr>
        <p:spPr>
          <a:xfrm>
            <a:off x="5029200" y="211680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TextBox 37"/>
          <p:cNvSpPr/>
          <p:nvPr/>
        </p:nvSpPr>
        <p:spPr>
          <a:xfrm>
            <a:off x="5925240" y="211680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низький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38"/>
          <p:cNvSpPr/>
          <p:nvPr/>
        </p:nvSpPr>
        <p:spPr>
          <a:xfrm>
            <a:off x="6967800" y="211680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просте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39"/>
          <p:cNvSpPr/>
          <p:nvPr/>
        </p:nvSpPr>
        <p:spPr>
          <a:xfrm>
            <a:off x="8119800" y="211680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900 – 3 000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0"/>
          <p:cNvSpPr/>
          <p:nvPr/>
        </p:nvSpPr>
        <p:spPr>
          <a:xfrm>
            <a:off x="9418320" y="211680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Заготовка, овочі, робота «на потік»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41"/>
          <p:cNvSpPr/>
          <p:nvPr/>
        </p:nvSpPr>
        <p:spPr>
          <a:xfrm>
            <a:off x="493920" y="238212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TextBox 42"/>
          <p:cNvSpPr/>
          <p:nvPr/>
        </p:nvSpPr>
        <p:spPr>
          <a:xfrm>
            <a:off x="567000" y="24231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43"/>
          <p:cNvSpPr/>
          <p:nvPr/>
        </p:nvSpPr>
        <p:spPr>
          <a:xfrm>
            <a:off x="2048400" y="24231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TextBox 44"/>
          <p:cNvSpPr/>
          <p:nvPr/>
        </p:nvSpPr>
        <p:spPr>
          <a:xfrm>
            <a:off x="3273480" y="24231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60–61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TextBox 45"/>
          <p:cNvSpPr/>
          <p:nvPr/>
        </p:nvSpPr>
        <p:spPr>
          <a:xfrm>
            <a:off x="3840480" y="24231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Box 46"/>
          <p:cNvSpPr/>
          <p:nvPr/>
        </p:nvSpPr>
        <p:spPr>
          <a:xfrm>
            <a:off x="5029200" y="24231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TextBox 47"/>
          <p:cNvSpPr/>
          <p:nvPr/>
        </p:nvSpPr>
        <p:spPr>
          <a:xfrm>
            <a:off x="5925240" y="24231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Box 48"/>
          <p:cNvSpPr/>
          <p:nvPr/>
        </p:nvSpPr>
        <p:spPr>
          <a:xfrm>
            <a:off x="6967800" y="24231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 1000/3000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49"/>
          <p:cNvSpPr/>
          <p:nvPr/>
        </p:nvSpPr>
        <p:spPr>
          <a:xfrm>
            <a:off x="8119800" y="24231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2 500 – 12 000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Box 50"/>
          <p:cNvSpPr/>
          <p:nvPr/>
        </p:nvSpPr>
        <p:spPr>
          <a:xfrm>
            <a:off x="9418320" y="24231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Універсальний вибір шефа: баланс усіх властивостей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Box 51"/>
          <p:cNvSpPr/>
          <p:nvPr/>
        </p:nvSpPr>
        <p:spPr>
          <a:xfrm>
            <a:off x="567000" y="272952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Ginsan / Silver #3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52"/>
          <p:cNvSpPr/>
          <p:nvPr/>
        </p:nvSpPr>
        <p:spPr>
          <a:xfrm>
            <a:off x="2048400" y="272952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нержавійка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TextBox 53"/>
          <p:cNvSpPr/>
          <p:nvPr/>
        </p:nvSpPr>
        <p:spPr>
          <a:xfrm>
            <a:off x="3273480" y="272952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61–62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54"/>
          <p:cNvSpPr/>
          <p:nvPr/>
        </p:nvSpPr>
        <p:spPr>
          <a:xfrm>
            <a:off x="3840480" y="272952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дуже 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55"/>
          <p:cNvSpPr/>
          <p:nvPr/>
        </p:nvSpPr>
        <p:spPr>
          <a:xfrm>
            <a:off x="5029200" y="272952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56"/>
          <p:cNvSpPr/>
          <p:nvPr/>
        </p:nvSpPr>
        <p:spPr>
          <a:xfrm>
            <a:off x="5925240" y="272952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Box 57"/>
          <p:cNvSpPr/>
          <p:nvPr/>
        </p:nvSpPr>
        <p:spPr>
          <a:xfrm>
            <a:off x="6967800" y="272952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Box 58"/>
          <p:cNvSpPr/>
          <p:nvPr/>
        </p:nvSpPr>
        <p:spPr>
          <a:xfrm>
            <a:off x="8119800" y="272952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9 000 – 20 000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59"/>
          <p:cNvSpPr/>
          <p:nvPr/>
        </p:nvSpPr>
        <p:spPr>
          <a:xfrm>
            <a:off x="9418320" y="272952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Коли потрібна гострота вуглецю без догляду за ним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Rounded Rectangle 60"/>
          <p:cNvSpPr/>
          <p:nvPr/>
        </p:nvSpPr>
        <p:spPr>
          <a:xfrm>
            <a:off x="493920" y="299484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TextBox 61"/>
          <p:cNvSpPr/>
          <p:nvPr/>
        </p:nvSpPr>
        <p:spPr>
          <a:xfrm>
            <a:off x="567000" y="303588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SG-2 / R2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TextBox 62"/>
          <p:cNvSpPr/>
          <p:nvPr/>
        </p:nvSpPr>
        <p:spPr>
          <a:xfrm>
            <a:off x="2048400" y="303588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63"/>
          <p:cNvSpPr/>
          <p:nvPr/>
        </p:nvSpPr>
        <p:spPr>
          <a:xfrm>
            <a:off x="3273480" y="303588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Box 64"/>
          <p:cNvSpPr/>
          <p:nvPr/>
        </p:nvSpPr>
        <p:spPr>
          <a:xfrm>
            <a:off x="3840480" y="303588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відмінно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Box 65"/>
          <p:cNvSpPr/>
          <p:nvPr/>
        </p:nvSpPr>
        <p:spPr>
          <a:xfrm>
            <a:off x="5029200" y="303588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66"/>
          <p:cNvSpPr/>
          <p:nvPr/>
        </p:nvSpPr>
        <p:spPr>
          <a:xfrm>
            <a:off x="5925240" y="303588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67"/>
          <p:cNvSpPr/>
          <p:nvPr/>
        </p:nvSpPr>
        <p:spPr>
          <a:xfrm>
            <a:off x="6967800" y="303588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навичка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Box 68"/>
          <p:cNvSpPr/>
          <p:nvPr/>
        </p:nvSpPr>
        <p:spPr>
          <a:xfrm>
            <a:off x="8119800" y="303588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12 000 – 45 000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Box 69"/>
          <p:cNvSpPr/>
          <p:nvPr/>
        </p:nvSpPr>
        <p:spPr>
          <a:xfrm>
            <a:off x="9418320" y="3035880"/>
            <a:ext cx="2157480" cy="1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Фініш, нарізка, презентація. Не для кістки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70"/>
          <p:cNvSpPr/>
          <p:nvPr/>
        </p:nvSpPr>
        <p:spPr>
          <a:xfrm>
            <a:off x="567000" y="334224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ZDP-189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Box 71"/>
          <p:cNvSpPr/>
          <p:nvPr/>
        </p:nvSpPr>
        <p:spPr>
          <a:xfrm>
            <a:off x="2048400" y="334224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Box 72"/>
          <p:cNvSpPr/>
          <p:nvPr/>
        </p:nvSpPr>
        <p:spPr>
          <a:xfrm>
            <a:off x="3273480" y="334224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65–67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Box 73"/>
          <p:cNvSpPr/>
          <p:nvPr/>
        </p:nvSpPr>
        <p:spPr>
          <a:xfrm>
            <a:off x="3840480" y="33422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максимум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Box 74"/>
          <p:cNvSpPr/>
          <p:nvPr/>
        </p:nvSpPr>
        <p:spPr>
          <a:xfrm>
            <a:off x="5029200" y="334224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Box 75"/>
          <p:cNvSpPr/>
          <p:nvPr/>
        </p:nvSpPr>
        <p:spPr>
          <a:xfrm>
            <a:off x="5925240" y="334224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дуже 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Box 76"/>
          <p:cNvSpPr/>
          <p:nvPr/>
        </p:nvSpPr>
        <p:spPr>
          <a:xfrm>
            <a:off x="6967800" y="334224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лише майстер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Box 77"/>
          <p:cNvSpPr/>
          <p:nvPr/>
        </p:nvSpPr>
        <p:spPr>
          <a:xfrm>
            <a:off x="8119800" y="334224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17 000 – 70 000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78"/>
          <p:cNvSpPr/>
          <p:nvPr/>
        </p:nvSpPr>
        <p:spPr>
          <a:xfrm>
            <a:off x="9418320" y="334224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Колекційний рівень. На потоковій кухні зайвий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79"/>
          <p:cNvSpPr/>
          <p:nvPr/>
        </p:nvSpPr>
        <p:spPr>
          <a:xfrm>
            <a:off x="493920" y="360720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TextBox 80"/>
          <p:cNvSpPr/>
          <p:nvPr/>
        </p:nvSpPr>
        <p:spPr>
          <a:xfrm>
            <a:off x="567000" y="364860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Shirogami (біла)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81"/>
          <p:cNvSpPr/>
          <p:nvPr/>
        </p:nvSpPr>
        <p:spPr>
          <a:xfrm>
            <a:off x="2048400" y="364860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вуглець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82"/>
          <p:cNvSpPr/>
          <p:nvPr/>
        </p:nvSpPr>
        <p:spPr>
          <a:xfrm>
            <a:off x="3273480" y="364860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Box 83"/>
          <p:cNvSpPr/>
          <p:nvPr/>
        </p:nvSpPr>
        <p:spPr>
          <a:xfrm>
            <a:off x="3840480" y="364860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відмінно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TextBox 84"/>
          <p:cNvSpPr/>
          <p:nvPr/>
        </p:nvSpPr>
        <p:spPr>
          <a:xfrm>
            <a:off x="5029200" y="364860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так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Box 85"/>
          <p:cNvSpPr/>
          <p:nvPr/>
        </p:nvSpPr>
        <p:spPr>
          <a:xfrm>
            <a:off x="5925240" y="364860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86"/>
          <p:cNvSpPr/>
          <p:nvPr/>
        </p:nvSpPr>
        <p:spPr>
          <a:xfrm>
            <a:off x="6967800" y="364860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часто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Box 87"/>
          <p:cNvSpPr/>
          <p:nvPr/>
        </p:nvSpPr>
        <p:spPr>
          <a:xfrm>
            <a:off x="8119800" y="364860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25 000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TextBox 88"/>
          <p:cNvSpPr/>
          <p:nvPr/>
        </p:nvSpPr>
        <p:spPr>
          <a:xfrm>
            <a:off x="9418320" y="364860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Суші-станція, риба. Витирати після кожного різу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TextBox 89"/>
          <p:cNvSpPr/>
          <p:nvPr/>
        </p:nvSpPr>
        <p:spPr>
          <a:xfrm>
            <a:off x="567000" y="39549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Aogami (синя)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90"/>
          <p:cNvSpPr/>
          <p:nvPr/>
        </p:nvSpPr>
        <p:spPr>
          <a:xfrm>
            <a:off x="2048400" y="39549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вуглець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Box 91"/>
          <p:cNvSpPr/>
          <p:nvPr/>
        </p:nvSpPr>
        <p:spPr>
          <a:xfrm>
            <a:off x="3273480" y="39549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62–65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92"/>
          <p:cNvSpPr/>
          <p:nvPr/>
        </p:nvSpPr>
        <p:spPr>
          <a:xfrm>
            <a:off x="3840480" y="39549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максимум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93"/>
          <p:cNvSpPr/>
          <p:nvPr/>
        </p:nvSpPr>
        <p:spPr>
          <a:xfrm>
            <a:off x="5029200" y="39549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так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TextBox 94"/>
          <p:cNvSpPr/>
          <p:nvPr/>
        </p:nvSpPr>
        <p:spPr>
          <a:xfrm>
            <a:off x="5925240" y="39549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b42e3a"/>
                </a:solidFill>
                <a:latin typeface="Segoe UI"/>
              </a:rPr>
              <a:t>високий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95"/>
          <p:cNvSpPr/>
          <p:nvPr/>
        </p:nvSpPr>
        <p:spPr>
          <a:xfrm>
            <a:off x="6967800" y="39549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камені, часто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Box 96"/>
          <p:cNvSpPr/>
          <p:nvPr/>
        </p:nvSpPr>
        <p:spPr>
          <a:xfrm>
            <a:off x="8119800" y="39549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4 000 – 60 000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Box 97"/>
          <p:cNvSpPr/>
          <p:nvPr/>
        </p:nvSpPr>
        <p:spPr>
          <a:xfrm>
            <a:off x="9418320" y="39549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Та сама задача, але кромка тримається довше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Rounded Rectangle 98"/>
          <p:cNvSpPr/>
          <p:nvPr/>
        </p:nvSpPr>
        <p:spPr>
          <a:xfrm>
            <a:off x="493920" y="4219920"/>
            <a:ext cx="11210040" cy="2970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TextBox 99"/>
          <p:cNvSpPr/>
          <p:nvPr/>
        </p:nvSpPr>
        <p:spPr>
          <a:xfrm>
            <a:off x="567000" y="4260960"/>
            <a:ext cx="1425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SLD / Chromax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TextBox 100"/>
          <p:cNvSpPr/>
          <p:nvPr/>
        </p:nvSpPr>
        <p:spPr>
          <a:xfrm>
            <a:off x="2048400" y="4260960"/>
            <a:ext cx="11700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інструментальна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101"/>
          <p:cNvSpPr/>
          <p:nvPr/>
        </p:nvSpPr>
        <p:spPr>
          <a:xfrm>
            <a:off x="3273480" y="4260960"/>
            <a:ext cx="5115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61–63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Box 102"/>
          <p:cNvSpPr/>
          <p:nvPr/>
        </p:nvSpPr>
        <p:spPr>
          <a:xfrm>
            <a:off x="3840480" y="42609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дуже добре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Box 103"/>
          <p:cNvSpPr/>
          <p:nvPr/>
        </p:nvSpPr>
        <p:spPr>
          <a:xfrm>
            <a:off x="5029200" y="4260960"/>
            <a:ext cx="840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майже 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104"/>
          <p:cNvSpPr/>
          <p:nvPr/>
        </p:nvSpPr>
        <p:spPr>
          <a:xfrm>
            <a:off x="5925240" y="4260960"/>
            <a:ext cx="9871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середній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105"/>
          <p:cNvSpPr/>
          <p:nvPr/>
        </p:nvSpPr>
        <p:spPr>
          <a:xfrm>
            <a:off x="6967800" y="4260960"/>
            <a:ext cx="10969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камені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106"/>
          <p:cNvSpPr/>
          <p:nvPr/>
        </p:nvSpPr>
        <p:spPr>
          <a:xfrm>
            <a:off x="8119800" y="4260960"/>
            <a:ext cx="12430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5 000 – 20 000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107"/>
          <p:cNvSpPr/>
          <p:nvPr/>
        </p:nvSpPr>
        <p:spPr>
          <a:xfrm>
            <a:off x="9418320" y="4260960"/>
            <a:ext cx="21574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Компроміс: ріже як вуглець, доглядається як нержавійка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08"/>
          <p:cNvSpPr/>
          <p:nvPr/>
        </p:nvSpPr>
        <p:spPr>
          <a:xfrm>
            <a:off x="56700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2" name="Rectangle 109"/>
          <p:cNvSpPr/>
          <p:nvPr/>
        </p:nvSpPr>
        <p:spPr>
          <a:xfrm>
            <a:off x="567000" y="4645080"/>
            <a:ext cx="36360" cy="100188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3" name="TextBox 110"/>
          <p:cNvSpPr/>
          <p:nvPr/>
        </p:nvSpPr>
        <p:spPr>
          <a:xfrm>
            <a:off x="80460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HRC — ЩО ЦЕ НАСПРАВДІ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TextBox 111"/>
          <p:cNvSpPr/>
          <p:nvPr/>
        </p:nvSpPr>
        <p:spPr>
          <a:xfrm>
            <a:off x="80460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Твердість за Роквеллом. Кожні +2 HRC 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приблизно вдвічі довша кромка і вдвічі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вищий ризик її виломити. Європа — 56–58.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Rounded Rectangle 112"/>
          <p:cNvSpPr/>
          <p:nvPr/>
        </p:nvSpPr>
        <p:spPr>
          <a:xfrm>
            <a:off x="429768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6" name="Rectangle 113"/>
          <p:cNvSpPr/>
          <p:nvPr/>
        </p:nvSpPr>
        <p:spPr>
          <a:xfrm>
            <a:off x="4297680" y="4645080"/>
            <a:ext cx="36360" cy="100188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7" name="TextBox 114"/>
          <p:cNvSpPr/>
          <p:nvPr/>
        </p:nvSpPr>
        <p:spPr>
          <a:xfrm>
            <a:off x="453528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66e28"/>
                </a:solidFill>
                <a:latin typeface="Segoe UI"/>
              </a:rPr>
              <a:t>ВУГЛЕЦЬ ПРОТИ НЕРЖАВІЙКИ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TextBox 115"/>
          <p:cNvSpPr/>
          <p:nvPr/>
        </p:nvSpPr>
        <p:spPr>
          <a:xfrm>
            <a:off x="453528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Вуглець гостріший і довше тримає кромку,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але вкривається патиною за годину роботи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й ржавіє. Режим простий: витер — поклав.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Rounded Rectangle 116"/>
          <p:cNvSpPr/>
          <p:nvPr/>
        </p:nvSpPr>
        <p:spPr>
          <a:xfrm>
            <a:off x="8046720" y="4645080"/>
            <a:ext cx="3584160" cy="10018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0" name="Rectangle 117"/>
          <p:cNvSpPr/>
          <p:nvPr/>
        </p:nvSpPr>
        <p:spPr>
          <a:xfrm>
            <a:off x="8046720" y="4645080"/>
            <a:ext cx="36360" cy="10018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TextBox 118"/>
          <p:cNvSpPr/>
          <p:nvPr/>
        </p:nvSpPr>
        <p:spPr>
          <a:xfrm>
            <a:off x="8284320" y="480060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554780"/>
                </a:solidFill>
                <a:latin typeface="Segoe UI"/>
              </a:rPr>
              <a:t>ПОРОШКОВА СТАЛЬ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Box 119"/>
          <p:cNvSpPr/>
          <p:nvPr/>
        </p:nvSpPr>
        <p:spPr>
          <a:xfrm>
            <a:off x="8284320" y="5029200"/>
            <a:ext cx="3108600" cy="48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Зерно дрібніше — звідси і гострота, і ціна.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Але чим твердіше, тим крихкіше: SG-2 при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64 HRC ламається там, де VG-10 загнеться.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Rectangle 120"/>
          <p:cNvSpPr/>
          <p:nvPr/>
        </p:nvSpPr>
        <p:spPr>
          <a:xfrm>
            <a:off x="567000" y="565092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4" name="TextBox 121"/>
          <p:cNvSpPr/>
          <p:nvPr/>
        </p:nvSpPr>
        <p:spPr>
          <a:xfrm>
            <a:off x="713160" y="569232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ЯК ЦЕ ЧИТАТИ ПРИ ВИБОРІ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Rectangle 122"/>
          <p:cNvSpPr/>
          <p:nvPr/>
        </p:nvSpPr>
        <p:spPr>
          <a:xfrm>
            <a:off x="56700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6" name="Rectangle 123"/>
          <p:cNvSpPr/>
          <p:nvPr/>
        </p:nvSpPr>
        <p:spPr>
          <a:xfrm>
            <a:off x="567000" y="5961960"/>
            <a:ext cx="31680" cy="54828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7" name="TextBox 124"/>
          <p:cNvSpPr/>
          <p:nvPr/>
        </p:nvSpPr>
        <p:spPr>
          <a:xfrm>
            <a:off x="74988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Потік, велика бригада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Box 125"/>
          <p:cNvSpPr/>
          <p:nvPr/>
        </p:nvSpPr>
        <p:spPr>
          <a:xfrm>
            <a:off x="74988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VG-10 або мо-ванадій, 58–61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Rectangle 126"/>
          <p:cNvSpPr/>
          <p:nvPr/>
        </p:nvSpPr>
        <p:spPr>
          <a:xfrm>
            <a:off x="342000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0" name="Rectangle 127"/>
          <p:cNvSpPr/>
          <p:nvPr/>
        </p:nvSpPr>
        <p:spPr>
          <a:xfrm>
            <a:off x="3420000" y="5961960"/>
            <a:ext cx="31680" cy="5482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1" name="TextBox 128"/>
          <p:cNvSpPr/>
          <p:nvPr/>
        </p:nvSpPr>
        <p:spPr>
          <a:xfrm>
            <a:off x="360288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554780"/>
                </a:solidFill>
                <a:latin typeface="Segoe UI"/>
              </a:rPr>
              <a:t>Шеф для себе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Box 129"/>
          <p:cNvSpPr/>
          <p:nvPr/>
        </p:nvSpPr>
        <p:spPr>
          <a:xfrm>
            <a:off x="360288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VG-10 дамаск або SLD, 60–62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Rectangle 130"/>
          <p:cNvSpPr/>
          <p:nvPr/>
        </p:nvSpPr>
        <p:spPr>
          <a:xfrm>
            <a:off x="627264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4" name="Rectangle 131"/>
          <p:cNvSpPr/>
          <p:nvPr/>
        </p:nvSpPr>
        <p:spPr>
          <a:xfrm>
            <a:off x="6272640" y="5961960"/>
            <a:ext cx="31680" cy="54828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5" name="TextBox 132"/>
          <p:cNvSpPr/>
          <p:nvPr/>
        </p:nvSpPr>
        <p:spPr>
          <a:xfrm>
            <a:off x="645552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Суші й риба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133"/>
          <p:cNvSpPr/>
          <p:nvPr/>
        </p:nvSpPr>
        <p:spPr>
          <a:xfrm>
            <a:off x="645552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Shirogami чи Aogami, одностороннє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ectangle 134"/>
          <p:cNvSpPr/>
          <p:nvPr/>
        </p:nvSpPr>
        <p:spPr>
          <a:xfrm>
            <a:off x="9125640" y="5961960"/>
            <a:ext cx="2706120" cy="54828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8" name="Rectangle 135"/>
          <p:cNvSpPr/>
          <p:nvPr/>
        </p:nvSpPr>
        <p:spPr>
          <a:xfrm>
            <a:off x="9125640" y="5961960"/>
            <a:ext cx="31680" cy="54828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TextBox 136"/>
          <p:cNvSpPr/>
          <p:nvPr/>
        </p:nvSpPr>
        <p:spPr>
          <a:xfrm>
            <a:off x="9308520" y="6035040"/>
            <a:ext cx="23770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a84a6b"/>
                </a:solidFill>
                <a:latin typeface="Segoe UI"/>
              </a:rPr>
              <a:t>Презентація, фініш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Box 137"/>
          <p:cNvSpPr/>
          <p:nvPr/>
        </p:nvSpPr>
        <p:spPr>
          <a:xfrm>
            <a:off x="9308520" y="6217920"/>
            <a:ext cx="2413800" cy="13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SG-2 / R2, 62–64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138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Діапазони HRC — за специфікаціями виробників. Ціни — спостережений роздріб в Україні, жовтень 2026. «Тримає кромку» і «ризик сколу» — відносні оцінки в межах цієї таблиці, не лабораторні виміри.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4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25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526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2   ·   К О Н С Т Р У К Ц І Я   К Л И Н К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Чому два ножі з однієї сталі коштують по-різному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0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1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Сталь — лише серцевина. Те, як її обгорнули й загартували, змінює ціну в кілька разів і визначає, як ніж поводиться в роботі.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4" name="Rectangle 13"/>
          <p:cNvSpPr/>
          <p:nvPr/>
        </p:nvSpPr>
        <p:spPr>
          <a:xfrm>
            <a:off x="567000" y="1554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5" name="Rectangle 14"/>
          <p:cNvSpPr/>
          <p:nvPr/>
        </p:nvSpPr>
        <p:spPr>
          <a:xfrm>
            <a:off x="567000" y="1554480"/>
            <a:ext cx="40680" cy="80424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6" name="TextBox 15"/>
          <p:cNvSpPr/>
          <p:nvPr/>
        </p:nvSpPr>
        <p:spPr>
          <a:xfrm>
            <a:off x="786240" y="1664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Моносталь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Box 16"/>
          <p:cNvSpPr/>
          <p:nvPr/>
        </p:nvSpPr>
        <p:spPr>
          <a:xfrm>
            <a:off x="786240" y="1938600"/>
            <a:ext cx="1919880" cy="13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Увесь клинок — одна сталь.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TextBox 17"/>
          <p:cNvSpPr/>
          <p:nvPr/>
        </p:nvSpPr>
        <p:spPr>
          <a:xfrm>
            <a:off x="2834640" y="1682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Найпростіше у виробництві й найдешевше.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Весь клинок однаково твердий: якщо сталь м'яка —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кромка швидко сідає; якщо тверда — ніж крихкий цілком.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18"/>
          <p:cNvSpPr/>
          <p:nvPr/>
        </p:nvSpPr>
        <p:spPr>
          <a:xfrm>
            <a:off x="7973640" y="1682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Box 19"/>
          <p:cNvSpPr/>
          <p:nvPr/>
        </p:nvSpPr>
        <p:spPr>
          <a:xfrm>
            <a:off x="7973640" y="185616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6b7282"/>
                </a:solidFill>
                <a:latin typeface="Georgia"/>
              </a:rPr>
              <a:t>700 – 3 000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Box 20"/>
          <p:cNvSpPr/>
          <p:nvPr/>
        </p:nvSpPr>
        <p:spPr>
          <a:xfrm>
            <a:off x="9820800" y="1682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21"/>
          <p:cNvSpPr/>
          <p:nvPr/>
        </p:nvSpPr>
        <p:spPr>
          <a:xfrm>
            <a:off x="9820800" y="185616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Satake Saku, базові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ectangle 22"/>
          <p:cNvSpPr/>
          <p:nvPr/>
        </p:nvSpPr>
        <p:spPr>
          <a:xfrm>
            <a:off x="567000" y="241416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4" name="Rectangle 23"/>
          <p:cNvSpPr/>
          <p:nvPr/>
        </p:nvSpPr>
        <p:spPr>
          <a:xfrm>
            <a:off x="567000" y="2414160"/>
            <a:ext cx="40680" cy="804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5" name="TextBox 24"/>
          <p:cNvSpPr/>
          <p:nvPr/>
        </p:nvSpPr>
        <p:spPr>
          <a:xfrm>
            <a:off x="786240" y="252360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Сан-май / касумі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TextBox 25"/>
          <p:cNvSpPr/>
          <p:nvPr/>
        </p:nvSpPr>
        <p:spPr>
          <a:xfrm>
            <a:off x="786240" y="279792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Тверда серцевина між двома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м'якшими шарами.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TextBox 26"/>
          <p:cNvSpPr/>
          <p:nvPr/>
        </p:nvSpPr>
        <p:spPr>
          <a:xfrm>
            <a:off x="2834640" y="254196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Кромка тверда, а боки в'язкі — ніж тримає гостроту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й не ламається від бокового навантаження.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Це стандарт більшості японських ножів.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Box 27"/>
          <p:cNvSpPr/>
          <p:nvPr/>
        </p:nvSpPr>
        <p:spPr>
          <a:xfrm>
            <a:off x="7973640" y="254196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Box 28"/>
          <p:cNvSpPr/>
          <p:nvPr/>
        </p:nvSpPr>
        <p:spPr>
          <a:xfrm>
            <a:off x="7973640" y="271584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2a7f86"/>
                </a:solidFill>
                <a:latin typeface="Georgia"/>
              </a:rPr>
              <a:t>2 500 – 12 000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TextBox 29"/>
          <p:cNvSpPr/>
          <p:nvPr/>
        </p:nvSpPr>
        <p:spPr>
          <a:xfrm>
            <a:off x="9820800" y="254196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Box 30"/>
          <p:cNvSpPr/>
          <p:nvPr/>
        </p:nvSpPr>
        <p:spPr>
          <a:xfrm>
            <a:off x="9820800" y="271584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 DP, KAI Shun,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Suncraft Senzo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Rectangle 31"/>
          <p:cNvSpPr/>
          <p:nvPr/>
        </p:nvSpPr>
        <p:spPr>
          <a:xfrm>
            <a:off x="567000" y="3273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3" name="Rectangle 32"/>
          <p:cNvSpPr/>
          <p:nvPr/>
        </p:nvSpPr>
        <p:spPr>
          <a:xfrm>
            <a:off x="567000" y="3273480"/>
            <a:ext cx="40680" cy="8042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4" name="TextBox 33"/>
          <p:cNvSpPr/>
          <p:nvPr/>
        </p:nvSpPr>
        <p:spPr>
          <a:xfrm>
            <a:off x="786240" y="3383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Дамаск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TextBox 34"/>
          <p:cNvSpPr/>
          <p:nvPr/>
        </p:nvSpPr>
        <p:spPr>
          <a:xfrm>
            <a:off x="786240" y="365760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Той самий сан-май, але шарів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17 – 193.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TextBox 35"/>
          <p:cNvSpPr/>
          <p:nvPr/>
        </p:nvSpPr>
        <p:spPr>
          <a:xfrm>
            <a:off x="2834640" y="3401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Шари — здебільшого естетика: ріже серцевина, не малюнок.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Проте багатошарова обкладка краще гасить вібрацію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і трохи легше відпускає продукт від клинка.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Box 36"/>
          <p:cNvSpPr/>
          <p:nvPr/>
        </p:nvSpPr>
        <p:spPr>
          <a:xfrm>
            <a:off x="7973640" y="3401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TextBox 37"/>
          <p:cNvSpPr/>
          <p:nvPr/>
        </p:nvSpPr>
        <p:spPr>
          <a:xfrm>
            <a:off x="7973640" y="357516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554780"/>
                </a:solidFill>
                <a:latin typeface="Georgia"/>
              </a:rPr>
              <a:t>5 000 – 40 000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Box 38"/>
          <p:cNvSpPr/>
          <p:nvPr/>
        </p:nvSpPr>
        <p:spPr>
          <a:xfrm>
            <a:off x="9820800" y="3401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Box 39"/>
          <p:cNvSpPr/>
          <p:nvPr/>
        </p:nvSpPr>
        <p:spPr>
          <a:xfrm>
            <a:off x="9820800" y="357516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 Damascus,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 Ran, Mcusta Zanmai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Rectangle 40"/>
          <p:cNvSpPr/>
          <p:nvPr/>
        </p:nvSpPr>
        <p:spPr>
          <a:xfrm>
            <a:off x="567000" y="413316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2" name="Rectangle 41"/>
          <p:cNvSpPr/>
          <p:nvPr/>
        </p:nvSpPr>
        <p:spPr>
          <a:xfrm>
            <a:off x="567000" y="4133160"/>
            <a:ext cx="40680" cy="80424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3" name="TextBox 42"/>
          <p:cNvSpPr/>
          <p:nvPr/>
        </p:nvSpPr>
        <p:spPr>
          <a:xfrm>
            <a:off x="786240" y="424296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b42e3a"/>
                </a:solidFill>
                <a:latin typeface="Georgia"/>
              </a:rPr>
              <a:t>Хоньякі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Box 43"/>
          <p:cNvSpPr/>
          <p:nvPr/>
        </p:nvSpPr>
        <p:spPr>
          <a:xfrm>
            <a:off x="786240" y="451728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Один шматок сталі, зонне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гартування як у катани.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44"/>
          <p:cNvSpPr/>
          <p:nvPr/>
        </p:nvSpPr>
        <p:spPr>
          <a:xfrm>
            <a:off x="2834640" y="426096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Найскладніша технологія: кромка тверда, обух м'який,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між ними видима лінія гартування хамон.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Найдорожче і найкрихкіше. Правиться лише майстром.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TextBox 45"/>
          <p:cNvSpPr/>
          <p:nvPr/>
        </p:nvSpPr>
        <p:spPr>
          <a:xfrm>
            <a:off x="7973640" y="426096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Box 46"/>
          <p:cNvSpPr/>
          <p:nvPr/>
        </p:nvSpPr>
        <p:spPr>
          <a:xfrm>
            <a:off x="7973640" y="443484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b42e3a"/>
                </a:solidFill>
                <a:latin typeface="Georgia"/>
              </a:rPr>
              <a:t>35 000 – 70 000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47"/>
          <p:cNvSpPr/>
          <p:nvPr/>
        </p:nvSpPr>
        <p:spPr>
          <a:xfrm>
            <a:off x="9820800" y="426096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48"/>
          <p:cNvSpPr/>
          <p:nvPr/>
        </p:nvSpPr>
        <p:spPr>
          <a:xfrm>
            <a:off x="9820800" y="443484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Sakai Takayuki Shoryu 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в Україні не представлена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Rectangle 49"/>
          <p:cNvSpPr/>
          <p:nvPr/>
        </p:nvSpPr>
        <p:spPr>
          <a:xfrm>
            <a:off x="567000" y="4992480"/>
            <a:ext cx="1106388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1" name="Rectangle 50"/>
          <p:cNvSpPr/>
          <p:nvPr/>
        </p:nvSpPr>
        <p:spPr>
          <a:xfrm>
            <a:off x="567000" y="4992480"/>
            <a:ext cx="40680" cy="8042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2" name="TextBox 51"/>
          <p:cNvSpPr/>
          <p:nvPr/>
        </p:nvSpPr>
        <p:spPr>
          <a:xfrm>
            <a:off x="786240" y="5102280"/>
            <a:ext cx="18284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Куроучі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Box 52"/>
          <p:cNvSpPr/>
          <p:nvPr/>
        </p:nvSpPr>
        <p:spPr>
          <a:xfrm>
            <a:off x="786240" y="5376600"/>
            <a:ext cx="191988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Чорна ковальська окалина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залишена на клинку.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TextBox 53"/>
          <p:cNvSpPr/>
          <p:nvPr/>
        </p:nvSpPr>
        <p:spPr>
          <a:xfrm>
            <a:off x="2834640" y="5120640"/>
            <a:ext cx="4937400" cy="44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Не оздоблення, а захист: окалина сповільнює корозію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вуглецевої сталі й знижує прилипання продукту.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Ознака ручної кузні, а не заводської лінії.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Box 54"/>
          <p:cNvSpPr/>
          <p:nvPr/>
        </p:nvSpPr>
        <p:spPr>
          <a:xfrm>
            <a:off x="7973640" y="5120640"/>
            <a:ext cx="173700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ТИПОВА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Box 55"/>
          <p:cNvSpPr/>
          <p:nvPr/>
        </p:nvSpPr>
        <p:spPr>
          <a:xfrm>
            <a:off x="7973640" y="5294520"/>
            <a:ext cx="18284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966e28"/>
                </a:solidFill>
                <a:latin typeface="Georgia"/>
              </a:rPr>
              <a:t>3 000 – 15 000 грн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Box 56"/>
          <p:cNvSpPr/>
          <p:nvPr/>
        </p:nvSpPr>
        <p:spPr>
          <a:xfrm>
            <a:off x="9820800" y="5120640"/>
            <a:ext cx="1700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ПРИКЛАДИ В УКРАЇНІ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TextBox 57"/>
          <p:cNvSpPr/>
          <p:nvPr/>
        </p:nvSpPr>
        <p:spPr>
          <a:xfrm>
            <a:off x="9820800" y="5294520"/>
            <a:ext cx="175536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Tosa Kurouchi,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HONMAMON, Motokane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Rounded Rectangle 58"/>
          <p:cNvSpPr/>
          <p:nvPr/>
        </p:nvSpPr>
        <p:spPr>
          <a:xfrm>
            <a:off x="567000" y="5925240"/>
            <a:ext cx="11063880" cy="69408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0" name="Rectangle 59"/>
          <p:cNvSpPr/>
          <p:nvPr/>
        </p:nvSpPr>
        <p:spPr>
          <a:xfrm>
            <a:off x="567000" y="5925240"/>
            <a:ext cx="36360" cy="6940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1" name="TextBox 60"/>
          <p:cNvSpPr/>
          <p:nvPr/>
        </p:nvSpPr>
        <p:spPr>
          <a:xfrm>
            <a:off x="804600" y="608076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ГОЛОВНЕ ПРО КОНСТРУКЦІЮ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Box 61"/>
          <p:cNvSpPr/>
          <p:nvPr/>
        </p:nvSpPr>
        <p:spPr>
          <a:xfrm>
            <a:off x="804600" y="6309360"/>
            <a:ext cx="10588320" cy="15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Шари дамаску не ріжуть — ріже серцевина. Переплачувати за малюнок має сенс лише тоді, коли серцевина й гартування того варті.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8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58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Я К І С Т Ь   ·   3   ·   Щ О   Ц Е   З Н А Ч И Т Ь   Н А   К У Х Н 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Японський ніж не кращий — він інший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07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Те, що в каталозі виглядає перевагою, на лінії може стати проблемою. Чесне зіставлення двох шкіл для того, хто щодня стоїть на станції.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95" name="TextBox 13"/>
          <p:cNvSpPr/>
          <p:nvPr/>
        </p:nvSpPr>
        <p:spPr>
          <a:xfrm>
            <a:off x="567000" y="1609200"/>
            <a:ext cx="21027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ПАРАМЕТР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TextBox 14"/>
          <p:cNvSpPr/>
          <p:nvPr/>
        </p:nvSpPr>
        <p:spPr>
          <a:xfrm>
            <a:off x="2670120" y="1609200"/>
            <a:ext cx="31086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ЄВРОПЕЙСЬКА ШКОЛА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Box 15"/>
          <p:cNvSpPr/>
          <p:nvPr/>
        </p:nvSpPr>
        <p:spPr>
          <a:xfrm>
            <a:off x="5779080" y="1609200"/>
            <a:ext cx="31086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ЯПОНСЬКА ШКОЛА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TextBox 16"/>
          <p:cNvSpPr/>
          <p:nvPr/>
        </p:nvSpPr>
        <p:spPr>
          <a:xfrm>
            <a:off x="8888040" y="1609200"/>
            <a:ext cx="26514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З ЦЬОГО ВИПЛИВАЄ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Rounded Rectangle 17"/>
          <p:cNvSpPr/>
          <p:nvPr/>
        </p:nvSpPr>
        <p:spPr>
          <a:xfrm>
            <a:off x="493920" y="178776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0" name="TextBox 18"/>
          <p:cNvSpPr/>
          <p:nvPr/>
        </p:nvSpPr>
        <p:spPr>
          <a:xfrm>
            <a:off x="567000" y="18288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Твердість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TextBox 19"/>
          <p:cNvSpPr/>
          <p:nvPr/>
        </p:nvSpPr>
        <p:spPr>
          <a:xfrm>
            <a:off x="2670120" y="18288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56–58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Box 20"/>
          <p:cNvSpPr/>
          <p:nvPr/>
        </p:nvSpPr>
        <p:spPr>
          <a:xfrm>
            <a:off x="5779080" y="18288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60–65 HRC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Box 21"/>
          <p:cNvSpPr/>
          <p:nvPr/>
        </p:nvSpPr>
        <p:spPr>
          <a:xfrm>
            <a:off x="8888040" y="182880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Японський довше ріже, легше виломлюється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Box 22"/>
          <p:cNvSpPr/>
          <p:nvPr/>
        </p:nvSpPr>
        <p:spPr>
          <a:xfrm>
            <a:off x="567000" y="21625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Кут заточування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23"/>
          <p:cNvSpPr/>
          <p:nvPr/>
        </p:nvSpPr>
        <p:spPr>
          <a:xfrm>
            <a:off x="2670120" y="216252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20–22° на сторону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24"/>
          <p:cNvSpPr/>
          <p:nvPr/>
        </p:nvSpPr>
        <p:spPr>
          <a:xfrm>
            <a:off x="5779080" y="216252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12–15° на сторону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TextBox 25"/>
          <p:cNvSpPr/>
          <p:nvPr/>
        </p:nvSpPr>
        <p:spPr>
          <a:xfrm>
            <a:off x="8888040" y="216252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Тонша кромка — чистіший зріз, вища вразливість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Rounded Rectangle 26"/>
          <p:cNvSpPr/>
          <p:nvPr/>
        </p:nvSpPr>
        <p:spPr>
          <a:xfrm>
            <a:off x="493920" y="245520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9" name="TextBox 27"/>
          <p:cNvSpPr/>
          <p:nvPr/>
        </p:nvSpPr>
        <p:spPr>
          <a:xfrm>
            <a:off x="567000" y="249624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Як правлять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Box 28"/>
          <p:cNvSpPr/>
          <p:nvPr/>
        </p:nvSpPr>
        <p:spPr>
          <a:xfrm>
            <a:off x="2670120" y="249624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мусат, щодня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TextBox 29"/>
          <p:cNvSpPr/>
          <p:nvPr/>
        </p:nvSpPr>
        <p:spPr>
          <a:xfrm>
            <a:off x="5779080" y="249624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водні камені, раз на 1–3 тижні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TextBox 30"/>
          <p:cNvSpPr/>
          <p:nvPr/>
        </p:nvSpPr>
        <p:spPr>
          <a:xfrm>
            <a:off x="8888040" y="249624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Потрібна навичка і 20–40 хв часу, а не 30 секунд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31"/>
          <p:cNvSpPr/>
          <p:nvPr/>
        </p:nvSpPr>
        <p:spPr>
          <a:xfrm>
            <a:off x="567000" y="28299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Поведінка на кістці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Box 32"/>
          <p:cNvSpPr/>
          <p:nvPr/>
        </p:nvSpPr>
        <p:spPr>
          <a:xfrm>
            <a:off x="2670120" y="28299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загинається, правиться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Box 33"/>
          <p:cNvSpPr/>
          <p:nvPr/>
        </p:nvSpPr>
        <p:spPr>
          <a:xfrm>
            <a:off x="5779080" y="28299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викришується назавжди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Box 34"/>
          <p:cNvSpPr/>
          <p:nvPr/>
        </p:nvSpPr>
        <p:spPr>
          <a:xfrm>
            <a:off x="8888040" y="282996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Японський ніж — не для рубки й замороженого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Rounded Rectangle 35"/>
          <p:cNvSpPr/>
          <p:nvPr/>
        </p:nvSpPr>
        <p:spPr>
          <a:xfrm>
            <a:off x="493920" y="312264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8" name="TextBox 36"/>
          <p:cNvSpPr/>
          <p:nvPr/>
        </p:nvSpPr>
        <p:spPr>
          <a:xfrm>
            <a:off x="567000" y="31636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Дошка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Box 37"/>
          <p:cNvSpPr/>
          <p:nvPr/>
        </p:nvSpPr>
        <p:spPr>
          <a:xfrm>
            <a:off x="2670120" y="31636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будь-яка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38"/>
          <p:cNvSpPr/>
          <p:nvPr/>
        </p:nvSpPr>
        <p:spPr>
          <a:xfrm>
            <a:off x="5779080" y="31636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дерево або м'який пластик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Box 39"/>
          <p:cNvSpPr/>
          <p:nvPr/>
        </p:nvSpPr>
        <p:spPr>
          <a:xfrm>
            <a:off x="8888040" y="316368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Скло і камінь убивають кромку за один сервіс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Box 40"/>
          <p:cNvSpPr/>
          <p:nvPr/>
        </p:nvSpPr>
        <p:spPr>
          <a:xfrm>
            <a:off x="567000" y="3497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Посудомийка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TextBox 41"/>
          <p:cNvSpPr/>
          <p:nvPr/>
        </p:nvSpPr>
        <p:spPr>
          <a:xfrm>
            <a:off x="2670120" y="34977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витримує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42"/>
          <p:cNvSpPr/>
          <p:nvPr/>
        </p:nvSpPr>
        <p:spPr>
          <a:xfrm>
            <a:off x="5779080" y="349776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деформує руків'я, тупить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TextBox 43"/>
          <p:cNvSpPr/>
          <p:nvPr/>
        </p:nvSpPr>
        <p:spPr>
          <a:xfrm>
            <a:off x="8888040" y="349776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Тільки ручне миття і насухо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Rounded Rectangle 44"/>
          <p:cNvSpPr/>
          <p:nvPr/>
        </p:nvSpPr>
        <p:spPr>
          <a:xfrm>
            <a:off x="493920" y="3790080"/>
            <a:ext cx="11210040" cy="3243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7" name="TextBox 45"/>
          <p:cNvSpPr/>
          <p:nvPr/>
        </p:nvSpPr>
        <p:spPr>
          <a:xfrm>
            <a:off x="567000" y="3831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Втрата ножа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Box 46"/>
          <p:cNvSpPr/>
          <p:nvPr/>
        </p:nvSpPr>
        <p:spPr>
          <a:xfrm>
            <a:off x="2670120" y="38314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300 – 900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Box 47"/>
          <p:cNvSpPr/>
          <p:nvPr/>
        </p:nvSpPr>
        <p:spPr>
          <a:xfrm>
            <a:off x="5779080" y="383148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5 000 – 20 000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Box 48"/>
          <p:cNvSpPr/>
          <p:nvPr/>
        </p:nvSpPr>
        <p:spPr>
          <a:xfrm>
            <a:off x="8888040" y="383148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При плинності 40–60 % на рік це інша економіка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49"/>
          <p:cNvSpPr/>
          <p:nvPr/>
        </p:nvSpPr>
        <p:spPr>
          <a:xfrm>
            <a:off x="567000" y="41652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Хто реально виграє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Box 50"/>
          <p:cNvSpPr/>
          <p:nvPr/>
        </p:nvSpPr>
        <p:spPr>
          <a:xfrm>
            <a:off x="2670120" y="41652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лінійний кухар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Box 51"/>
          <p:cNvSpPr/>
          <p:nvPr/>
        </p:nvSpPr>
        <p:spPr>
          <a:xfrm>
            <a:off x="5779080" y="4165200"/>
            <a:ext cx="30538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шеф, су-шеф, суші-майстер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Box 52"/>
          <p:cNvSpPr/>
          <p:nvPr/>
        </p:nvSpPr>
        <p:spPr>
          <a:xfrm>
            <a:off x="8888040" y="4165200"/>
            <a:ext cx="2596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Інструмент для того, хто ним володіє, а не для всіх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Rectangle 53"/>
          <p:cNvSpPr/>
          <p:nvPr/>
        </p:nvSpPr>
        <p:spPr>
          <a:xfrm>
            <a:off x="567000" y="4645080"/>
            <a:ext cx="55774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6" name="TextBox 54"/>
          <p:cNvSpPr/>
          <p:nvPr/>
        </p:nvSpPr>
        <p:spPr>
          <a:xfrm>
            <a:off x="713160" y="4686480"/>
            <a:ext cx="30675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ПИТАТИ В ПОСТАЧАЛЬНИКА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TextBox 55"/>
          <p:cNvSpPr/>
          <p:nvPr/>
        </p:nvSpPr>
        <p:spPr>
          <a:xfrm>
            <a:off x="640080" y="49744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1.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Box 56"/>
          <p:cNvSpPr/>
          <p:nvPr/>
        </p:nvSpPr>
        <p:spPr>
          <a:xfrm>
            <a:off x="896040" y="49744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Марка сталі й твердість у HRC — цифрою, не словом «японська сталь»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TextBox 57"/>
          <p:cNvSpPr/>
          <p:nvPr/>
        </p:nvSpPr>
        <p:spPr>
          <a:xfrm>
            <a:off x="640080" y="52120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2.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Box 58"/>
          <p:cNvSpPr/>
          <p:nvPr/>
        </p:nvSpPr>
        <p:spPr>
          <a:xfrm>
            <a:off x="896040" y="52120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Конструкція: моносталь, сан-май чи дамаск, скільки шарів і що в серцевині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Box 59"/>
          <p:cNvSpPr/>
          <p:nvPr/>
        </p:nvSpPr>
        <p:spPr>
          <a:xfrm>
            <a:off x="640080" y="544968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3.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TextBox 60"/>
          <p:cNvSpPr/>
          <p:nvPr/>
        </p:nvSpPr>
        <p:spPr>
          <a:xfrm>
            <a:off x="896040" y="544968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Кут заточування з заводу і чи симетричний він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1"/>
          <p:cNvSpPr/>
          <p:nvPr/>
        </p:nvSpPr>
        <p:spPr>
          <a:xfrm>
            <a:off x="640080" y="568764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4.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62"/>
          <p:cNvSpPr/>
          <p:nvPr/>
        </p:nvSpPr>
        <p:spPr>
          <a:xfrm>
            <a:off x="896040" y="568764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Регіон і назва кузні, а не лише торгова марка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Box 63"/>
          <p:cNvSpPr/>
          <p:nvPr/>
        </p:nvSpPr>
        <p:spPr>
          <a:xfrm>
            <a:off x="640080" y="5925240"/>
            <a:ext cx="23724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88a3d"/>
                </a:solidFill>
                <a:latin typeface="Segoe UI"/>
              </a:rPr>
              <a:t>5.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4"/>
          <p:cNvSpPr/>
          <p:nvPr/>
        </p:nvSpPr>
        <p:spPr>
          <a:xfrm>
            <a:off x="896040" y="5925240"/>
            <a:ext cx="51933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Чи є сервіс заточування й гарантія на кромку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ectangle 65"/>
          <p:cNvSpPr/>
          <p:nvPr/>
        </p:nvSpPr>
        <p:spPr>
          <a:xfrm>
            <a:off x="6419160" y="4645080"/>
            <a:ext cx="52117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8" name="TextBox 66"/>
          <p:cNvSpPr/>
          <p:nvPr/>
        </p:nvSpPr>
        <p:spPr>
          <a:xfrm>
            <a:off x="6565320" y="4686480"/>
            <a:ext cx="2866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ОЗНАКИ, ЩО ПЕРЕД ВАМИ НЕ ЯПОНІЯ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Oval 67"/>
          <p:cNvSpPr/>
          <p:nvPr/>
        </p:nvSpPr>
        <p:spPr>
          <a:xfrm>
            <a:off x="6492240" y="501552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0" name="TextBox 68"/>
          <p:cNvSpPr/>
          <p:nvPr/>
        </p:nvSpPr>
        <p:spPr>
          <a:xfrm>
            <a:off x="6693480" y="49744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У картці немає країни виробництва, лише «японський стиль»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Oval 69"/>
          <p:cNvSpPr/>
          <p:nvPr/>
        </p:nvSpPr>
        <p:spPr>
          <a:xfrm>
            <a:off x="6492240" y="525312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2" name="TextBox 70"/>
          <p:cNvSpPr/>
          <p:nvPr/>
        </p:nvSpPr>
        <p:spPr>
          <a:xfrm>
            <a:off x="6693480" y="52120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Сталь названа як «дамаск VG-10» без вказання виробника сталі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Oval 71"/>
          <p:cNvSpPr/>
          <p:nvPr/>
        </p:nvSpPr>
        <p:spPr>
          <a:xfrm>
            <a:off x="6492240" y="54910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4" name="TextBox 72"/>
          <p:cNvSpPr/>
          <p:nvPr/>
        </p:nvSpPr>
        <p:spPr>
          <a:xfrm>
            <a:off x="6693480" y="544968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Янагіба або деба дешевше за 2 000 грн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Oval 73"/>
          <p:cNvSpPr/>
          <p:nvPr/>
        </p:nvSpPr>
        <p:spPr>
          <a:xfrm>
            <a:off x="6492240" y="57286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6" name="TextBox 74"/>
          <p:cNvSpPr/>
          <p:nvPr/>
        </p:nvSpPr>
        <p:spPr>
          <a:xfrm>
            <a:off x="6693480" y="568764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Бренд із японською назвою, але без жодної кузні за ним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Oval 75"/>
          <p:cNvSpPr/>
          <p:nvPr/>
        </p:nvSpPr>
        <p:spPr>
          <a:xfrm>
            <a:off x="6492240" y="5966280"/>
            <a:ext cx="68400" cy="6840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960" bIns="3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8" name="TextBox 76"/>
          <p:cNvSpPr/>
          <p:nvPr/>
        </p:nvSpPr>
        <p:spPr>
          <a:xfrm>
            <a:off x="6693480" y="5925240"/>
            <a:ext cx="493740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Однакова ціна на різні моделі — ознака дропшип-фіда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Box 77"/>
          <p:cNvSpPr/>
          <p:nvPr/>
        </p:nvSpPr>
        <p:spPr>
          <a:xfrm>
            <a:off x="603360" y="64555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Кути й твердість — типові заводські значення, конкретна модель може відрізнятися. «Втрата ножа» — середня роздрібна ціна відповідного сегмента в Україні, жовтень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6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66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О Б С Я Г   Р О Б О Т И   І   Р О З М І Р   Р И Н К 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Рахуємо тільки Японію: 16–19 млн грн із 9,02 млн $ категорії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Критерій відбору — країна виробництва Японія, підтверджена митним кодом або карткою товару продавця. Усе інше в цій роботі не рахується.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2" name="Rectangle 13"/>
          <p:cNvSpPr/>
          <p:nvPr/>
        </p:nvSpPr>
        <p:spPr>
          <a:xfrm>
            <a:off x="56700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3" name="Rectangle 14"/>
          <p:cNvSpPr/>
          <p:nvPr/>
        </p:nvSpPr>
        <p:spPr>
          <a:xfrm>
            <a:off x="567000" y="15728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4" name="TextBox 15"/>
          <p:cNvSpPr/>
          <p:nvPr/>
        </p:nvSpPr>
        <p:spPr>
          <a:xfrm>
            <a:off x="786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О З Д Р І Б   Н А   Р І К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TextBox 16"/>
          <p:cNvSpPr/>
          <p:nvPr/>
        </p:nvSpPr>
        <p:spPr>
          <a:xfrm>
            <a:off x="786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2a7f86"/>
                </a:solidFill>
                <a:latin typeface="Georgia"/>
              </a:rPr>
              <a:t>16–19 млн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TextBox 17"/>
          <p:cNvSpPr/>
          <p:nvPr/>
        </p:nvSpPr>
        <p:spPr>
          <a:xfrm>
            <a:off x="786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грн. Японське виробництво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роздрібі України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Rectangle 18"/>
          <p:cNvSpPr/>
          <p:nvPr/>
        </p:nvSpPr>
        <p:spPr>
          <a:xfrm>
            <a:off x="342000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8" name="Rectangle 19"/>
          <p:cNvSpPr/>
          <p:nvPr/>
        </p:nvSpPr>
        <p:spPr>
          <a:xfrm>
            <a:off x="3420000" y="157284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79" name="TextBox 20"/>
          <p:cNvSpPr/>
          <p:nvPr/>
        </p:nvSpPr>
        <p:spPr>
          <a:xfrm>
            <a:off x="3639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Ш Т У К   Н А   Р І К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Box 21"/>
          <p:cNvSpPr/>
          <p:nvPr/>
        </p:nvSpPr>
        <p:spPr>
          <a:xfrm>
            <a:off x="3639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554780"/>
                </a:solidFill>
                <a:latin typeface="Georgia"/>
              </a:rPr>
              <a:t>≈ </a:t>
            </a:r>
            <a:r>
              <a:rPr b="1" lang="en-US" sz="2400" spc="-1" strike="noStrike">
                <a:solidFill>
                  <a:srgbClr val="554780"/>
                </a:solidFill>
                <a:latin typeface="Georgia"/>
              </a:rPr>
              <a:t>3 700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TextBox 22"/>
          <p:cNvSpPr/>
          <p:nvPr/>
        </p:nvSpPr>
        <p:spPr>
          <a:xfrm>
            <a:off x="3639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ножів японського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виробництва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Rectangle 23"/>
          <p:cNvSpPr/>
          <p:nvPr/>
        </p:nvSpPr>
        <p:spPr>
          <a:xfrm>
            <a:off x="627264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3" name="Rectangle 24"/>
          <p:cNvSpPr/>
          <p:nvPr/>
        </p:nvSpPr>
        <p:spPr>
          <a:xfrm>
            <a:off x="6272640" y="15728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4" name="TextBox 25"/>
          <p:cNvSpPr/>
          <p:nvPr/>
        </p:nvSpPr>
        <p:spPr>
          <a:xfrm>
            <a:off x="6492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Ч А С Т К А   Р И Н К У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Box 26"/>
          <p:cNvSpPr/>
          <p:nvPr/>
        </p:nvSpPr>
        <p:spPr>
          <a:xfrm>
            <a:off x="6492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966e28"/>
                </a:solidFill>
                <a:latin typeface="Georgia"/>
              </a:rPr>
              <a:t>2 %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27"/>
          <p:cNvSpPr/>
          <p:nvPr/>
        </p:nvSpPr>
        <p:spPr>
          <a:xfrm>
            <a:off x="6492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грошах і 0,15 %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штуках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Rectangle 28"/>
          <p:cNvSpPr/>
          <p:nvPr/>
        </p:nvSpPr>
        <p:spPr>
          <a:xfrm>
            <a:off x="9125640" y="1572840"/>
            <a:ext cx="2706120" cy="11336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8" name="Rectangle 29"/>
          <p:cNvSpPr/>
          <p:nvPr/>
        </p:nvSpPr>
        <p:spPr>
          <a:xfrm>
            <a:off x="9125640" y="1572840"/>
            <a:ext cx="270612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9" name="TextBox 30"/>
          <p:cNvSpPr/>
          <p:nvPr/>
        </p:nvSpPr>
        <p:spPr>
          <a:xfrm>
            <a:off x="9345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Е Р Е В І Р Е Н И Х   Б Р Е Н Д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Box 31"/>
          <p:cNvSpPr/>
          <p:nvPr/>
        </p:nvSpPr>
        <p:spPr>
          <a:xfrm>
            <a:off x="9345240" y="1938600"/>
            <a:ext cx="226728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a84a6b"/>
                </a:solidFill>
                <a:latin typeface="Georgia"/>
              </a:rPr>
              <a:t>56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Box 32"/>
          <p:cNvSpPr/>
          <p:nvPr/>
        </p:nvSpPr>
        <p:spPr>
          <a:xfrm>
            <a:off x="9345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25 продавців,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759 позицій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Rectangle 33"/>
          <p:cNvSpPr/>
          <p:nvPr/>
        </p:nvSpPr>
        <p:spPr>
          <a:xfrm>
            <a:off x="567000" y="2907720"/>
            <a:ext cx="70405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3" name="TextBox 34"/>
          <p:cNvSpPr/>
          <p:nvPr/>
        </p:nvSpPr>
        <p:spPr>
          <a:xfrm>
            <a:off x="713160" y="2949120"/>
            <a:ext cx="3872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МИТНА БАЗА КАТЕГОРІЇ · ІМПОРТ 2024, ТИС. $ CIF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TextBox 35"/>
          <p:cNvSpPr/>
          <p:nvPr/>
        </p:nvSpPr>
        <p:spPr>
          <a:xfrm>
            <a:off x="567000" y="3200400"/>
            <a:ext cx="17370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КОД УКТЗЕД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36"/>
          <p:cNvSpPr/>
          <p:nvPr/>
        </p:nvSpPr>
        <p:spPr>
          <a:xfrm>
            <a:off x="2304360" y="3200400"/>
            <a:ext cx="3017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НАЗВА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Box 37"/>
          <p:cNvSpPr/>
          <p:nvPr/>
        </p:nvSpPr>
        <p:spPr>
          <a:xfrm>
            <a:off x="5321880" y="3200400"/>
            <a:ext cx="13712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ІМПОРТ, ТИС. $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Box 38"/>
          <p:cNvSpPr/>
          <p:nvPr/>
        </p:nvSpPr>
        <p:spPr>
          <a:xfrm>
            <a:off x="6693480" y="3200400"/>
            <a:ext cx="914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ЧАСТКА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Rounded Rectangle 39"/>
          <p:cNvSpPr/>
          <p:nvPr/>
        </p:nvSpPr>
        <p:spPr>
          <a:xfrm>
            <a:off x="493920" y="3378600"/>
            <a:ext cx="7186680" cy="2739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9" name="TextBox 40"/>
          <p:cNvSpPr/>
          <p:nvPr/>
        </p:nvSpPr>
        <p:spPr>
          <a:xfrm>
            <a:off x="567000" y="342000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8211 10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TextBox 41"/>
          <p:cNvSpPr/>
          <p:nvPr/>
        </p:nvSpPr>
        <p:spPr>
          <a:xfrm>
            <a:off x="2304360" y="34200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Набори ножів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TextBox 42"/>
          <p:cNvSpPr/>
          <p:nvPr/>
        </p:nvSpPr>
        <p:spPr>
          <a:xfrm>
            <a:off x="5321880" y="342000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2 339,2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Box 43"/>
          <p:cNvSpPr/>
          <p:nvPr/>
        </p:nvSpPr>
        <p:spPr>
          <a:xfrm>
            <a:off x="6693480" y="342000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26 %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TextBox 44"/>
          <p:cNvSpPr/>
          <p:nvPr/>
        </p:nvSpPr>
        <p:spPr>
          <a:xfrm>
            <a:off x="567000" y="371232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8211 91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TextBox 45"/>
          <p:cNvSpPr/>
          <p:nvPr/>
        </p:nvSpPr>
        <p:spPr>
          <a:xfrm>
            <a:off x="2304360" y="371232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Ножі столові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Box 46"/>
          <p:cNvSpPr/>
          <p:nvPr/>
        </p:nvSpPr>
        <p:spPr>
          <a:xfrm>
            <a:off x="5321880" y="371232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1 093,4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TextBox 47"/>
          <p:cNvSpPr/>
          <p:nvPr/>
        </p:nvSpPr>
        <p:spPr>
          <a:xfrm>
            <a:off x="6693480" y="371232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12 %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Rounded Rectangle 48"/>
          <p:cNvSpPr/>
          <p:nvPr/>
        </p:nvSpPr>
        <p:spPr>
          <a:xfrm>
            <a:off x="493920" y="3963960"/>
            <a:ext cx="7186680" cy="27396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8" name="TextBox 49"/>
          <p:cNvSpPr/>
          <p:nvPr/>
        </p:nvSpPr>
        <p:spPr>
          <a:xfrm>
            <a:off x="567000" y="400500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8211 92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TextBox 50"/>
          <p:cNvSpPr/>
          <p:nvPr/>
        </p:nvSpPr>
        <p:spPr>
          <a:xfrm>
            <a:off x="2304360" y="40050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Ножі з фіксованим лезом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51"/>
          <p:cNvSpPr/>
          <p:nvPr/>
        </p:nvSpPr>
        <p:spPr>
          <a:xfrm>
            <a:off x="5321880" y="400500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5 587,3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TextBox 52"/>
          <p:cNvSpPr/>
          <p:nvPr/>
        </p:nvSpPr>
        <p:spPr>
          <a:xfrm>
            <a:off x="6693480" y="400500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62 %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Rectangle 53"/>
          <p:cNvSpPr/>
          <p:nvPr/>
        </p:nvSpPr>
        <p:spPr>
          <a:xfrm>
            <a:off x="567000" y="4316040"/>
            <a:ext cx="704052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3" name="TextBox 54"/>
          <p:cNvSpPr/>
          <p:nvPr/>
        </p:nvSpPr>
        <p:spPr>
          <a:xfrm>
            <a:off x="567000" y="444384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РАЗОМ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55"/>
          <p:cNvSpPr/>
          <p:nvPr/>
        </p:nvSpPr>
        <p:spPr>
          <a:xfrm>
            <a:off x="2304360" y="444384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Митна база категорії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TextBox 56"/>
          <p:cNvSpPr/>
          <p:nvPr/>
        </p:nvSpPr>
        <p:spPr>
          <a:xfrm>
            <a:off x="5321880" y="4443840"/>
            <a:ext cx="13165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9 019,8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TextBox 57"/>
          <p:cNvSpPr/>
          <p:nvPr/>
        </p:nvSpPr>
        <p:spPr>
          <a:xfrm>
            <a:off x="6693480" y="4443840"/>
            <a:ext cx="85932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100 %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Rectangle 58"/>
          <p:cNvSpPr/>
          <p:nvPr/>
        </p:nvSpPr>
        <p:spPr>
          <a:xfrm>
            <a:off x="7863840" y="2907720"/>
            <a:ext cx="376704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8" name="TextBox 59"/>
          <p:cNvSpPr/>
          <p:nvPr/>
        </p:nvSpPr>
        <p:spPr>
          <a:xfrm>
            <a:off x="8010000" y="2949120"/>
            <a:ext cx="207180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ІМПОРТ ІЗ ЯПОНІЇ · 8211 92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TextBox 60"/>
          <p:cNvSpPr/>
          <p:nvPr/>
        </p:nvSpPr>
        <p:spPr>
          <a:xfrm>
            <a:off x="7863840" y="325512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2022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Rectangle 61"/>
          <p:cNvSpPr/>
          <p:nvPr/>
        </p:nvSpPr>
        <p:spPr>
          <a:xfrm>
            <a:off x="8430840" y="329652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1" name="Rectangle 62"/>
          <p:cNvSpPr/>
          <p:nvPr/>
        </p:nvSpPr>
        <p:spPr>
          <a:xfrm>
            <a:off x="8430840" y="3296520"/>
            <a:ext cx="197820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2" name="TextBox 63"/>
          <p:cNvSpPr/>
          <p:nvPr/>
        </p:nvSpPr>
        <p:spPr>
          <a:xfrm>
            <a:off x="10680120" y="325512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119,2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Box 64"/>
          <p:cNvSpPr/>
          <p:nvPr/>
        </p:nvSpPr>
        <p:spPr>
          <a:xfrm>
            <a:off x="7863840" y="356616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Rectangle 65"/>
          <p:cNvSpPr/>
          <p:nvPr/>
        </p:nvSpPr>
        <p:spPr>
          <a:xfrm>
            <a:off x="8430840" y="360720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5" name="Rectangle 66"/>
          <p:cNvSpPr/>
          <p:nvPr/>
        </p:nvSpPr>
        <p:spPr>
          <a:xfrm>
            <a:off x="8430840" y="3607200"/>
            <a:ext cx="131616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6" name="TextBox 67"/>
          <p:cNvSpPr/>
          <p:nvPr/>
        </p:nvSpPr>
        <p:spPr>
          <a:xfrm>
            <a:off x="10680120" y="356616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79,3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TextBox 68"/>
          <p:cNvSpPr/>
          <p:nvPr/>
        </p:nvSpPr>
        <p:spPr>
          <a:xfrm>
            <a:off x="7863840" y="3877200"/>
            <a:ext cx="56664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39" spc="-1" strike="noStrike">
                <a:solidFill>
                  <a:srgbClr val="1b253f"/>
                </a:solidFill>
                <a:latin typeface="Segoe UI"/>
              </a:rPr>
              <a:t>2024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Rectangle 69"/>
          <p:cNvSpPr/>
          <p:nvPr/>
        </p:nvSpPr>
        <p:spPr>
          <a:xfrm>
            <a:off x="8430840" y="3918240"/>
            <a:ext cx="2157480" cy="8208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9" name="Rectangle 70"/>
          <p:cNvSpPr/>
          <p:nvPr/>
        </p:nvSpPr>
        <p:spPr>
          <a:xfrm>
            <a:off x="8430840" y="3918240"/>
            <a:ext cx="1714320" cy="8208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0" name="TextBox 71"/>
          <p:cNvSpPr/>
          <p:nvPr/>
        </p:nvSpPr>
        <p:spPr>
          <a:xfrm>
            <a:off x="10680120" y="3877200"/>
            <a:ext cx="74952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151a26"/>
                </a:solidFill>
                <a:latin typeface="Segoe UI"/>
              </a:rPr>
              <a:t>103,3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TextBox 72"/>
          <p:cNvSpPr/>
          <p:nvPr/>
        </p:nvSpPr>
        <p:spPr>
          <a:xfrm>
            <a:off x="7863840" y="4279320"/>
            <a:ext cx="3767040" cy="30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4000"/>
              </a:lnSpc>
            </a:pPr>
            <a:r>
              <a:rPr b="0" lang="en-US" sz="740" spc="-1" strike="noStrike">
                <a:solidFill>
                  <a:srgbClr val="6b7282"/>
                </a:solidFill>
                <a:latin typeface="Segoe UI"/>
              </a:rPr>
              <a:t>Імпорт 2024 на 13 % нижчий за 2022 у номінальних доларах.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4000"/>
              </a:lnSpc>
            </a:pPr>
            <a:r>
              <a:rPr b="0" lang="en-US" sz="740" spc="-1" strike="noStrike">
                <a:solidFill>
                  <a:srgbClr val="6b7282"/>
                </a:solidFill>
                <a:latin typeface="Segoe UI"/>
              </a:rPr>
              <a:t>Стрибок 2023 → 2024 — це відновлення після провалу, а не тренд.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Rectangle 73"/>
          <p:cNvSpPr/>
          <p:nvPr/>
        </p:nvSpPr>
        <p:spPr>
          <a:xfrm>
            <a:off x="567000" y="488304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3" name="TextBox 74"/>
          <p:cNvSpPr/>
          <p:nvPr/>
        </p:nvSpPr>
        <p:spPr>
          <a:xfrm>
            <a:off x="713160" y="492408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САМЕ ВХОДИТЬ У ЦІ 16–19 МЛН ГРН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Rectangle 75"/>
          <p:cNvSpPr/>
          <p:nvPr/>
        </p:nvSpPr>
        <p:spPr>
          <a:xfrm>
            <a:off x="56700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5" name="Rectangle 76"/>
          <p:cNvSpPr/>
          <p:nvPr/>
        </p:nvSpPr>
        <p:spPr>
          <a:xfrm>
            <a:off x="567000" y="5157360"/>
            <a:ext cx="31680" cy="676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6" name="TextBox 77"/>
          <p:cNvSpPr/>
          <p:nvPr/>
        </p:nvSpPr>
        <p:spPr>
          <a:xfrm>
            <a:off x="76824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2a7f86"/>
                </a:solidFill>
                <a:latin typeface="Georgia"/>
              </a:rPr>
              <a:t>56 брендів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TextBox 78"/>
          <p:cNvSpPr/>
          <p:nvPr/>
        </p:nvSpPr>
        <p:spPr>
          <a:xfrm>
            <a:off x="76824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японського виробництва, перевірених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на країну походження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Rectangle 79"/>
          <p:cNvSpPr/>
          <p:nvPr/>
        </p:nvSpPr>
        <p:spPr>
          <a:xfrm>
            <a:off x="435240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9" name="Rectangle 80"/>
          <p:cNvSpPr/>
          <p:nvPr/>
        </p:nvSpPr>
        <p:spPr>
          <a:xfrm>
            <a:off x="4352400" y="5157360"/>
            <a:ext cx="31680" cy="676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0" name="TextBox 81"/>
          <p:cNvSpPr/>
          <p:nvPr/>
        </p:nvSpPr>
        <p:spPr>
          <a:xfrm>
            <a:off x="455364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554780"/>
                </a:solidFill>
                <a:latin typeface="Georgia"/>
              </a:rPr>
              <a:t>6 регіонів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TextBox 82"/>
          <p:cNvSpPr/>
          <p:nvPr/>
        </p:nvSpPr>
        <p:spPr>
          <a:xfrm>
            <a:off x="455364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Секі, Сакаї, Ечідзен, Тоса,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Сандзьо, Аоморі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Rectangle 83"/>
          <p:cNvSpPr/>
          <p:nvPr/>
        </p:nvSpPr>
        <p:spPr>
          <a:xfrm>
            <a:off x="8138160" y="5157360"/>
            <a:ext cx="3638880" cy="6764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3" name="Rectangle 84"/>
          <p:cNvSpPr/>
          <p:nvPr/>
        </p:nvSpPr>
        <p:spPr>
          <a:xfrm>
            <a:off x="8138160" y="5157360"/>
            <a:ext cx="31680" cy="676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4" name="TextBox 85"/>
          <p:cNvSpPr/>
          <p:nvPr/>
        </p:nvSpPr>
        <p:spPr>
          <a:xfrm>
            <a:off x="8339400" y="5239440"/>
            <a:ext cx="3200040" cy="22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50" spc="-1" strike="noStrike">
                <a:solidFill>
                  <a:srgbClr val="966e28"/>
                </a:solidFill>
                <a:latin typeface="Georgia"/>
              </a:rPr>
              <a:t>25 продавців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TextBox 86"/>
          <p:cNvSpPr/>
          <p:nvPr/>
        </p:nvSpPr>
        <p:spPr>
          <a:xfrm>
            <a:off x="8339400" y="5523120"/>
            <a:ext cx="3291480" cy="25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від фахових магазинів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до оптового профканалу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Rounded Rectangle 87"/>
          <p:cNvSpPr/>
          <p:nvPr/>
        </p:nvSpPr>
        <p:spPr>
          <a:xfrm>
            <a:off x="567000" y="5888880"/>
            <a:ext cx="11063880" cy="687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7" name="Rectangle 88"/>
          <p:cNvSpPr/>
          <p:nvPr/>
        </p:nvSpPr>
        <p:spPr>
          <a:xfrm>
            <a:off x="567000" y="5888880"/>
            <a:ext cx="36360" cy="68724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8" name="TextBox 89"/>
          <p:cNvSpPr/>
          <p:nvPr/>
        </p:nvSpPr>
        <p:spPr>
          <a:xfrm>
            <a:off x="804600" y="604404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ЗНАЧИТЬ ДЛЯ ОЦІНКИ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TextBox 90"/>
          <p:cNvSpPr/>
          <p:nvPr/>
        </p:nvSpPr>
        <p:spPr>
          <a:xfrm>
            <a:off x="804600" y="6272640"/>
            <a:ext cx="10588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Японія — 1,3 % митної бази категорії. Уся робота рахує лише цю частку: 16–19 млн грн роздрібу, близько 3 700 ножів на рік.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91"/>
          <p:cNvSpPr/>
          <p:nvPr/>
        </p:nvSpPr>
        <p:spPr>
          <a:xfrm>
            <a:off x="603360" y="66020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Джерело митних даних: World Bank WITS / UN Comtrade, імпорт України 2022–2024, коди 8211 10, 8211 91, 8211 92. Роздріб — перерахунок через торгову націнку.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5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75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1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До 2 500 грн: японське виробництво сюди майже не дістає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09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Нижній діапазон каталогу. Саме тут лежить обсяг усього ринку кухонних ножів — і саме тут японське виробництво представлене найгірше.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3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4" name="Picture 14" descr="p_24ec4159b47e1d39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65" name="Rounded Rectangle 15"/>
          <p:cNvSpPr/>
          <p:nvPr/>
        </p:nvSpPr>
        <p:spPr>
          <a:xfrm>
            <a:off x="67680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6" name="TextBox 16"/>
          <p:cNvSpPr/>
          <p:nvPr/>
        </p:nvSpPr>
        <p:spPr>
          <a:xfrm>
            <a:off x="67680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TextBox 17"/>
          <p:cNvSpPr/>
          <p:nvPr/>
        </p:nvSpPr>
        <p:spPr>
          <a:xfrm>
            <a:off x="10058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TextBox 18"/>
          <p:cNvSpPr/>
          <p:nvPr/>
        </p:nvSpPr>
        <p:spPr>
          <a:xfrm>
            <a:off x="67680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Vegetable 2000 90мм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TextBox 19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TextBox 20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Rectangle 21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72" name="Picture 22" descr="p_dec2f38d3512e536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73" name="Rounded Rectangle 23"/>
          <p:cNvSpPr/>
          <p:nvPr/>
        </p:nvSpPr>
        <p:spPr>
          <a:xfrm>
            <a:off x="25207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4" name="TextBox 24"/>
          <p:cNvSpPr/>
          <p:nvPr/>
        </p:nvSpPr>
        <p:spPr>
          <a:xfrm>
            <a:off x="25207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Box 25"/>
          <p:cNvSpPr/>
          <p:nvPr/>
        </p:nvSpPr>
        <p:spPr>
          <a:xfrm>
            <a:off x="28497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26"/>
          <p:cNvSpPr/>
          <p:nvPr/>
        </p:nvSpPr>
        <p:spPr>
          <a:xfrm>
            <a:off x="25207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Шеф малий Satake Swordsmith 803 · 274, 135мм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Box 27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1 149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TextBox 28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Rectangle 29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80" name="Picture 30" descr="p_d90d262096ae822f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81" name="Rounded Rectangle 31"/>
          <p:cNvSpPr/>
          <p:nvPr/>
        </p:nvSpPr>
        <p:spPr>
          <a:xfrm>
            <a:off x="43646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2" name="TextBox 32"/>
          <p:cNvSpPr/>
          <p:nvPr/>
        </p:nvSpPr>
        <p:spPr>
          <a:xfrm>
            <a:off x="43646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TextBox 33"/>
          <p:cNvSpPr/>
          <p:nvPr/>
        </p:nvSpPr>
        <p:spPr>
          <a:xfrm>
            <a:off x="46940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TextBox 34"/>
          <p:cNvSpPr/>
          <p:nvPr/>
        </p:nvSpPr>
        <p:spPr>
          <a:xfrm>
            <a:off x="436464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Satake Saku 802 · 369 Air Hol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TextBox 35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1 349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Box 36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Rectangle 37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88" name="Picture 38" descr="p_8b7cce29f42f4881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89" name="Rounded Rectangle 39"/>
          <p:cNvSpPr/>
          <p:nvPr/>
        </p:nvSpPr>
        <p:spPr>
          <a:xfrm>
            <a:off x="62089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0" name="TextBox 40"/>
          <p:cNvSpPr/>
          <p:nvPr/>
        </p:nvSpPr>
        <p:spPr>
          <a:xfrm>
            <a:off x="62089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TextBox 41"/>
          <p:cNvSpPr/>
          <p:nvPr/>
        </p:nvSpPr>
        <p:spPr>
          <a:xfrm>
            <a:off x="65379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Mikihisa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TextBox 42"/>
          <p:cNvSpPr/>
          <p:nvPr/>
        </p:nvSpPr>
        <p:spPr>
          <a:xfrm>
            <a:off x="62089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MAKIRI MIKIHISA / Макірі Мікіхіса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TextBox 43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1 650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TextBox 44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Rectangle 45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6" name="Picture 46" descr="p_13230609a3ee0810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797" name="Rounded Rectangle 47"/>
          <p:cNvSpPr/>
          <p:nvPr/>
        </p:nvSpPr>
        <p:spPr>
          <a:xfrm>
            <a:off x="80528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8" name="TextBox 48"/>
          <p:cNvSpPr/>
          <p:nvPr/>
        </p:nvSpPr>
        <p:spPr>
          <a:xfrm>
            <a:off x="80528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49"/>
          <p:cNvSpPr/>
          <p:nvPr/>
        </p:nvSpPr>
        <p:spPr>
          <a:xfrm>
            <a:off x="838188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Misono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TextBox 50"/>
          <p:cNvSpPr/>
          <p:nvPr/>
        </p:nvSpPr>
        <p:spPr>
          <a:xfrm>
            <a:off x="805284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Misono, 105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TextBox 51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1 690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52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ectangle 53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04" name="Picture 54" descr="p_6d24bbef6706f06d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05" name="Rounded Rectangle 55"/>
          <p:cNvSpPr/>
          <p:nvPr/>
        </p:nvSpPr>
        <p:spPr>
          <a:xfrm>
            <a:off x="989676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6" name="TextBox 56"/>
          <p:cNvSpPr/>
          <p:nvPr/>
        </p:nvSpPr>
        <p:spPr>
          <a:xfrm>
            <a:off x="989676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57"/>
          <p:cNvSpPr/>
          <p:nvPr/>
        </p:nvSpPr>
        <p:spPr>
          <a:xfrm>
            <a:off x="102261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TextBox 58"/>
          <p:cNvSpPr/>
          <p:nvPr/>
        </p:nvSpPr>
        <p:spPr>
          <a:xfrm>
            <a:off x="989676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Nakiri 2007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TextBox 59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1 760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TextBox 60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Rectangle 61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12" name="Picture 62" descr="p_784ce71bc22d851c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13" name="Rounded Rectangle 63"/>
          <p:cNvSpPr/>
          <p:nvPr/>
        </p:nvSpPr>
        <p:spPr>
          <a:xfrm>
            <a:off x="67680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4" name="TextBox 64"/>
          <p:cNvSpPr/>
          <p:nvPr/>
        </p:nvSpPr>
        <p:spPr>
          <a:xfrm>
            <a:off x="67680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TextBox 65"/>
          <p:cNvSpPr/>
          <p:nvPr/>
        </p:nvSpPr>
        <p:spPr>
          <a:xfrm>
            <a:off x="10058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TextBox 66"/>
          <p:cNvSpPr/>
          <p:nvPr/>
        </p:nvSpPr>
        <p:spPr>
          <a:xfrm>
            <a:off x="67680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Paring, 120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TextBox 67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1 905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TextBox 68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Rectangle 69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20" name="Picture 70" descr="p_495a380f2939ce60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21" name="Rounded Rectangle 71"/>
          <p:cNvSpPr/>
          <p:nvPr/>
        </p:nvSpPr>
        <p:spPr>
          <a:xfrm>
            <a:off x="25207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2" name="TextBox 72"/>
          <p:cNvSpPr/>
          <p:nvPr/>
        </p:nvSpPr>
        <p:spPr>
          <a:xfrm>
            <a:off x="25207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TextBox 73"/>
          <p:cNvSpPr/>
          <p:nvPr/>
        </p:nvSpPr>
        <p:spPr>
          <a:xfrm>
            <a:off x="28497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TextBox 74"/>
          <p:cNvSpPr/>
          <p:nvPr/>
        </p:nvSpPr>
        <p:spPr>
          <a:xfrm>
            <a:off x="252072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овочевий Kasumi TORA 36844, 9см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Box 75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1 991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TextBox 76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Rectangle 77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28" name="Picture 78" descr="p_26bce2626c4f4f93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29" name="Rounded Rectangle 79"/>
          <p:cNvSpPr/>
          <p:nvPr/>
        </p:nvSpPr>
        <p:spPr>
          <a:xfrm>
            <a:off x="43646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0" name="TextBox 80"/>
          <p:cNvSpPr/>
          <p:nvPr/>
        </p:nvSpPr>
        <p:spPr>
          <a:xfrm>
            <a:off x="43646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TextBox 81"/>
          <p:cNvSpPr/>
          <p:nvPr/>
        </p:nvSpPr>
        <p:spPr>
          <a:xfrm>
            <a:off x="46940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TextBox 82"/>
          <p:cNvSpPr/>
          <p:nvPr/>
        </p:nvSpPr>
        <p:spPr>
          <a:xfrm>
            <a:off x="436464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Wasabi Black 6716N Накірі,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83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2 184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TextBox 84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Rectangle 85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36" name="Picture 86" descr="p_6daf0fee42fead6a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37" name="Rounded Rectangle 87"/>
          <p:cNvSpPr/>
          <p:nvPr/>
        </p:nvSpPr>
        <p:spPr>
          <a:xfrm>
            <a:off x="62089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8" name="TextBox 88"/>
          <p:cNvSpPr/>
          <p:nvPr/>
        </p:nvSpPr>
        <p:spPr>
          <a:xfrm>
            <a:off x="62089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TextBox 89"/>
          <p:cNvSpPr/>
          <p:nvPr/>
        </p:nvSpPr>
        <p:spPr>
          <a:xfrm>
            <a:off x="65379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TextBox 90"/>
          <p:cNvSpPr/>
          <p:nvPr/>
        </p:nvSpPr>
        <p:spPr>
          <a:xfrm>
            <a:off x="620892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TextBox 9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TextBox 9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Rectangle 9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44" name="Picture 94" descr="p_5494c627bf4dbbe3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45" name="Rounded Rectangle 95"/>
          <p:cNvSpPr/>
          <p:nvPr/>
        </p:nvSpPr>
        <p:spPr>
          <a:xfrm>
            <a:off x="80528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6" name="TextBox 96"/>
          <p:cNvSpPr/>
          <p:nvPr/>
        </p:nvSpPr>
        <p:spPr>
          <a:xfrm>
            <a:off x="80528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TextBox 97"/>
          <p:cNvSpPr/>
          <p:nvPr/>
        </p:nvSpPr>
        <p:spPr>
          <a:xfrm>
            <a:off x="838188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Hanakumagawa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TextBox 98"/>
          <p:cNvSpPr/>
          <p:nvPr/>
        </p:nvSpPr>
        <p:spPr>
          <a:xfrm>
            <a:off x="805284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Funayuki ніж Shirogami 2 Steel 165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TextBox 99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TextBox 100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Rectangle 101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52" name="Picture 102" descr="p_7875bc5949a4fde5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853" name="Rounded Rectangle 103"/>
          <p:cNvSpPr/>
          <p:nvPr/>
        </p:nvSpPr>
        <p:spPr>
          <a:xfrm>
            <a:off x="989676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4" name="TextBox 104"/>
          <p:cNvSpPr/>
          <p:nvPr/>
        </p:nvSpPr>
        <p:spPr>
          <a:xfrm>
            <a:off x="989676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TextBox 105"/>
          <p:cNvSpPr/>
          <p:nvPr/>
        </p:nvSpPr>
        <p:spPr>
          <a:xfrm>
            <a:off x="102261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TextBox 106"/>
          <p:cNvSpPr/>
          <p:nvPr/>
        </p:nvSpPr>
        <p:spPr>
          <a:xfrm>
            <a:off x="989676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Petty MRS · 30 10696 120мм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TextBox 107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TextBox 108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Rectangle 109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0" name="TextBox 110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Rectangle 111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2" name="Rectangle 112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3" name="TextBox 113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TextBox 114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29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TextBox 115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11 %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Rectangle 116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7" name="Rectangle 117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8" name="TextBox 118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TextBox 119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1 790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TextBox 120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Rectangle 121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2" name="Rectangle 122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3" name="TextBox 123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TextBox 124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726–2 400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TextBox 125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Rectangle 126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7" name="Rectangle 127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8" name="TextBox 128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TextBox 129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TextBox 130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Rectangle 131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2" name="TextBox 132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TextBox 133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Rounded Rectangle 134"/>
          <p:cNvSpPr/>
          <p:nvPr/>
        </p:nvSpPr>
        <p:spPr>
          <a:xfrm>
            <a:off x="6419160" y="49608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5" name="TextBox 135"/>
          <p:cNvSpPr/>
          <p:nvPr/>
        </p:nvSpPr>
        <p:spPr>
          <a:xfrm>
            <a:off x="6419160" y="49806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TextBox 136"/>
          <p:cNvSpPr/>
          <p:nvPr/>
        </p:nvSpPr>
        <p:spPr>
          <a:xfrm>
            <a:off x="6748200" y="495612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Rectangle 137"/>
          <p:cNvSpPr/>
          <p:nvPr/>
        </p:nvSpPr>
        <p:spPr>
          <a:xfrm>
            <a:off x="7955280" y="4990680"/>
            <a:ext cx="7311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8" name="TextBox 138"/>
          <p:cNvSpPr/>
          <p:nvPr/>
        </p:nvSpPr>
        <p:spPr>
          <a:xfrm>
            <a:off x="8741520" y="495612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Rounded Rectangle 139"/>
          <p:cNvSpPr/>
          <p:nvPr/>
        </p:nvSpPr>
        <p:spPr>
          <a:xfrm>
            <a:off x="6419160" y="50940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0" name="TextBox 140"/>
          <p:cNvSpPr/>
          <p:nvPr/>
        </p:nvSpPr>
        <p:spPr>
          <a:xfrm>
            <a:off x="6419160" y="51138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TextBox 141"/>
          <p:cNvSpPr/>
          <p:nvPr/>
        </p:nvSpPr>
        <p:spPr>
          <a:xfrm>
            <a:off x="6748200" y="50896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Satake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Rectangle 142"/>
          <p:cNvSpPr/>
          <p:nvPr/>
        </p:nvSpPr>
        <p:spPr>
          <a:xfrm>
            <a:off x="7955280" y="5124240"/>
            <a:ext cx="37440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3" name="TextBox 143"/>
          <p:cNvSpPr/>
          <p:nvPr/>
        </p:nvSpPr>
        <p:spPr>
          <a:xfrm>
            <a:off x="8741520" y="50896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Rounded Rectangle 144"/>
          <p:cNvSpPr/>
          <p:nvPr/>
        </p:nvSpPr>
        <p:spPr>
          <a:xfrm>
            <a:off x="6419160" y="52275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5" name="TextBox 145"/>
          <p:cNvSpPr/>
          <p:nvPr/>
        </p:nvSpPr>
        <p:spPr>
          <a:xfrm>
            <a:off x="6419160" y="52473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TextBox 146"/>
          <p:cNvSpPr/>
          <p:nvPr/>
        </p:nvSpPr>
        <p:spPr>
          <a:xfrm>
            <a:off x="6748200" y="52228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Rectangle 147"/>
          <p:cNvSpPr/>
          <p:nvPr/>
        </p:nvSpPr>
        <p:spPr>
          <a:xfrm>
            <a:off x="7955280" y="5257800"/>
            <a:ext cx="37440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8" name="TextBox 148"/>
          <p:cNvSpPr/>
          <p:nvPr/>
        </p:nvSpPr>
        <p:spPr>
          <a:xfrm>
            <a:off x="8741520" y="52228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Rounded Rectangle 149"/>
          <p:cNvSpPr/>
          <p:nvPr/>
        </p:nvSpPr>
        <p:spPr>
          <a:xfrm>
            <a:off x="6419160" y="536112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0" name="TextBox 150"/>
          <p:cNvSpPr/>
          <p:nvPr/>
        </p:nvSpPr>
        <p:spPr>
          <a:xfrm>
            <a:off x="6419160" y="538092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TextBox 151"/>
          <p:cNvSpPr/>
          <p:nvPr/>
        </p:nvSpPr>
        <p:spPr>
          <a:xfrm>
            <a:off x="6748200" y="535644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Rectangle 152"/>
          <p:cNvSpPr/>
          <p:nvPr/>
        </p:nvSpPr>
        <p:spPr>
          <a:xfrm>
            <a:off x="7955280" y="5391360"/>
            <a:ext cx="28548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3" name="TextBox 153"/>
          <p:cNvSpPr/>
          <p:nvPr/>
        </p:nvSpPr>
        <p:spPr>
          <a:xfrm>
            <a:off x="8741520" y="535644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Rounded Rectangle 154"/>
          <p:cNvSpPr/>
          <p:nvPr/>
        </p:nvSpPr>
        <p:spPr>
          <a:xfrm>
            <a:off x="6419160" y="54946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5" name="TextBox 155"/>
          <p:cNvSpPr/>
          <p:nvPr/>
        </p:nvSpPr>
        <p:spPr>
          <a:xfrm>
            <a:off x="6419160" y="55144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TextBox 156"/>
          <p:cNvSpPr/>
          <p:nvPr/>
        </p:nvSpPr>
        <p:spPr>
          <a:xfrm>
            <a:off x="6748200" y="549000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Rectangle 157"/>
          <p:cNvSpPr/>
          <p:nvPr/>
        </p:nvSpPr>
        <p:spPr>
          <a:xfrm>
            <a:off x="7955280" y="5524920"/>
            <a:ext cx="28548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8" name="TextBox 158"/>
          <p:cNvSpPr/>
          <p:nvPr/>
        </p:nvSpPr>
        <p:spPr>
          <a:xfrm>
            <a:off x="8741520" y="549000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TextBox 159"/>
          <p:cNvSpPr/>
          <p:nvPr/>
        </p:nvSpPr>
        <p:spPr>
          <a:xfrm>
            <a:off x="6419160" y="566028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29 позицій, 11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Rectangle 160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1" name="TextBox 161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TextBox 162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TextBox 163"/>
          <p:cNvSpPr/>
          <p:nvPr/>
        </p:nvSpPr>
        <p:spPr>
          <a:xfrm>
            <a:off x="9326880" y="495612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TextBox 164"/>
          <p:cNvSpPr/>
          <p:nvPr/>
        </p:nvSpPr>
        <p:spPr>
          <a:xfrm>
            <a:off x="10881360" y="495612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TextBox 165"/>
          <p:cNvSpPr/>
          <p:nvPr/>
        </p:nvSpPr>
        <p:spPr>
          <a:xfrm>
            <a:off x="9326880" y="50896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TextBox 166"/>
          <p:cNvSpPr/>
          <p:nvPr/>
        </p:nvSpPr>
        <p:spPr>
          <a:xfrm>
            <a:off x="10881360" y="50896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TextBox 167"/>
          <p:cNvSpPr/>
          <p:nvPr/>
        </p:nvSpPr>
        <p:spPr>
          <a:xfrm>
            <a:off x="9326880" y="52228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TextBox 168"/>
          <p:cNvSpPr/>
          <p:nvPr/>
        </p:nvSpPr>
        <p:spPr>
          <a:xfrm>
            <a:off x="10881360" y="52228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TextBox 169"/>
          <p:cNvSpPr/>
          <p:nvPr/>
        </p:nvSpPr>
        <p:spPr>
          <a:xfrm>
            <a:off x="9326880" y="535644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TextBox 170"/>
          <p:cNvSpPr/>
          <p:nvPr/>
        </p:nvSpPr>
        <p:spPr>
          <a:xfrm>
            <a:off x="10881360" y="535644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TextBox 171"/>
          <p:cNvSpPr/>
          <p:nvPr/>
        </p:nvSpPr>
        <p:spPr>
          <a:xfrm>
            <a:off x="9326880" y="552672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29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Rectangle 17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3" name="Rectangle 17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4" name="TextBox 17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TextBox 17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Моносталь або базова VG-10, штамповка, західне руків'я. Японія дістає сюди лише Satake, Seki Kanetsugu, Fuji Cutlery і бюджетними лініями KAI Wasabi.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Це єдиний діапазон, де японський ніж конкурує з європейським за ціною, а не за походженням — і де покупець найчастіше не перевіряє країну виробництва.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Box 17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8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9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30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931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2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2 500 – 5 000 грн: вхід у японське виробництво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5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6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Перший діапазон, де японське виробництво стає нормою, а не винятком. Тут з'являються імена кузень, а не лише промислові бренди.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9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40" name="Picture 14" descr="p_e888c52351848773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41" name="Rounded Rectangle 15"/>
          <p:cNvSpPr/>
          <p:nvPr/>
        </p:nvSpPr>
        <p:spPr>
          <a:xfrm>
            <a:off x="67680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2" name="TextBox 16"/>
          <p:cNvSpPr/>
          <p:nvPr/>
        </p:nvSpPr>
        <p:spPr>
          <a:xfrm>
            <a:off x="67680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TextBox 17"/>
          <p:cNvSpPr/>
          <p:nvPr/>
        </p:nvSpPr>
        <p:spPr>
          <a:xfrm>
            <a:off x="10058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TextBox 18"/>
          <p:cNvSpPr/>
          <p:nvPr/>
        </p:nvSpPr>
        <p:spPr>
          <a:xfrm>
            <a:off x="67680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Paring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TextBox 19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2 695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TextBox 20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Rectangle 21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48" name="Picture 22" descr="p_baea53e54c6b061c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49" name="Rounded Rectangle 23"/>
          <p:cNvSpPr/>
          <p:nvPr/>
        </p:nvSpPr>
        <p:spPr>
          <a:xfrm>
            <a:off x="25207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0" name="TextBox 24"/>
          <p:cNvSpPr/>
          <p:nvPr/>
        </p:nvSpPr>
        <p:spPr>
          <a:xfrm>
            <a:off x="25207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TextBox 25"/>
          <p:cNvSpPr/>
          <p:nvPr/>
        </p:nvSpPr>
        <p:spPr>
          <a:xfrm>
            <a:off x="28497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Hanakumagawa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TextBox 26"/>
          <p:cNvSpPr/>
          <p:nvPr/>
        </p:nvSpPr>
        <p:spPr>
          <a:xfrm>
            <a:off x="25207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фруктів з дамаської сталі Hanakumagawa /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TextBox 27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2 870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TextBox 28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Rectangle 29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56" name="Picture 30" descr="p_f8c8099989ac52f9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57" name="Rounded Rectangle 31"/>
          <p:cNvSpPr/>
          <p:nvPr/>
        </p:nvSpPr>
        <p:spPr>
          <a:xfrm>
            <a:off x="43646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8" name="TextBox 32"/>
          <p:cNvSpPr/>
          <p:nvPr/>
        </p:nvSpPr>
        <p:spPr>
          <a:xfrm>
            <a:off x="43646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TextBox 33"/>
          <p:cNvSpPr/>
          <p:nvPr/>
        </p:nvSpPr>
        <p:spPr>
          <a:xfrm>
            <a:off x="46940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TextBox 34"/>
          <p:cNvSpPr/>
          <p:nvPr/>
        </p:nvSpPr>
        <p:spPr>
          <a:xfrm>
            <a:off x="436464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Santoku, 165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TextBox 35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3 090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TextBox 36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Rectangle 37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64" name="Picture 38" descr="p_6028fd483d9c6556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65" name="Rounded Rectangle 39"/>
          <p:cNvSpPr/>
          <p:nvPr/>
        </p:nvSpPr>
        <p:spPr>
          <a:xfrm>
            <a:off x="62089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6" name="TextBox 40"/>
          <p:cNvSpPr/>
          <p:nvPr/>
        </p:nvSpPr>
        <p:spPr>
          <a:xfrm>
            <a:off x="62089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TextBox 41"/>
          <p:cNvSpPr/>
          <p:nvPr/>
        </p:nvSpPr>
        <p:spPr>
          <a:xfrm>
            <a:off x="65379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TextBox 42"/>
          <p:cNvSpPr/>
          <p:nvPr/>
        </p:nvSpPr>
        <p:spPr>
          <a:xfrm>
            <a:off x="6208920" y="25603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Deba ніж Blue Steel #2 110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TextBox 43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3 215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TextBox 44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Rectangle 45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72" name="Picture 46" descr="p_d0248b9063ea6e43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73" name="Rounded Rectangle 47"/>
          <p:cNvSpPr/>
          <p:nvPr/>
        </p:nvSpPr>
        <p:spPr>
          <a:xfrm>
            <a:off x="80528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4" name="TextBox 48"/>
          <p:cNvSpPr/>
          <p:nvPr/>
        </p:nvSpPr>
        <p:spPr>
          <a:xfrm>
            <a:off x="80528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TextBox 49"/>
          <p:cNvSpPr/>
          <p:nvPr/>
        </p:nvSpPr>
        <p:spPr>
          <a:xfrm>
            <a:off x="838188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TextBox 50"/>
          <p:cNvSpPr/>
          <p:nvPr/>
        </p:nvSpPr>
        <p:spPr>
          <a:xfrm>
            <a:off x="8052840" y="25603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овочів Tojiro DP F · 800, 9cм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TextBox 51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3 499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TextBox 52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Rectangle 53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0" name="Picture 54" descr="p_e0d7522aea256b56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81" name="Rounded Rectangle 55"/>
          <p:cNvSpPr/>
          <p:nvPr/>
        </p:nvSpPr>
        <p:spPr>
          <a:xfrm>
            <a:off x="989676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2" name="TextBox 56"/>
          <p:cNvSpPr/>
          <p:nvPr/>
        </p:nvSpPr>
        <p:spPr>
          <a:xfrm>
            <a:off x="989676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TextBox 57"/>
          <p:cNvSpPr/>
          <p:nvPr/>
        </p:nvSpPr>
        <p:spPr>
          <a:xfrm>
            <a:off x="102261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TextBox 58"/>
          <p:cNvSpPr/>
          <p:nvPr/>
        </p:nvSpPr>
        <p:spPr>
          <a:xfrm>
            <a:off x="989676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TextBox 59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TextBox 60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Rectangle 61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8" name="Picture 62" descr="p_de98aa46148ce787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89" name="Rounded Rectangle 63"/>
          <p:cNvSpPr/>
          <p:nvPr/>
        </p:nvSpPr>
        <p:spPr>
          <a:xfrm>
            <a:off x="67680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0" name="TextBox 64"/>
          <p:cNvSpPr/>
          <p:nvPr/>
        </p:nvSpPr>
        <p:spPr>
          <a:xfrm>
            <a:off x="67680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TextBox 65"/>
          <p:cNvSpPr/>
          <p:nvPr/>
        </p:nvSpPr>
        <p:spPr>
          <a:xfrm>
            <a:off x="10058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TextBox 66"/>
          <p:cNvSpPr/>
          <p:nvPr/>
        </p:nvSpPr>
        <p:spPr>
          <a:xfrm>
            <a:off x="67680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SAIUN 9000 90мм VG10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TextBox 67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3 980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TextBox 68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Rectangle 69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96" name="Picture 70" descr="p_5bd7b314bd44cb91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997" name="Rounded Rectangle 71"/>
          <p:cNvSpPr/>
          <p:nvPr/>
        </p:nvSpPr>
        <p:spPr>
          <a:xfrm>
            <a:off x="25207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8" name="TextBox 72"/>
          <p:cNvSpPr/>
          <p:nvPr/>
        </p:nvSpPr>
        <p:spPr>
          <a:xfrm>
            <a:off x="25207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TextBox 73"/>
          <p:cNvSpPr/>
          <p:nvPr/>
        </p:nvSpPr>
        <p:spPr>
          <a:xfrm>
            <a:off x="28497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TextBox 74"/>
          <p:cNvSpPr/>
          <p:nvPr/>
        </p:nvSpPr>
        <p:spPr>
          <a:xfrm>
            <a:off x="252072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Seki Magoroku Red Wood MGR · 0210Y Янагіба,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TextBox 75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4 130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TextBox 76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Rectangle 77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4" name="Picture 78" descr="p_0c39b79053b92480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05" name="Rounded Rectangle 79"/>
          <p:cNvSpPr/>
          <p:nvPr/>
        </p:nvSpPr>
        <p:spPr>
          <a:xfrm>
            <a:off x="43646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6" name="TextBox 80"/>
          <p:cNvSpPr/>
          <p:nvPr/>
        </p:nvSpPr>
        <p:spPr>
          <a:xfrm>
            <a:off x="43646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TextBox 81"/>
          <p:cNvSpPr/>
          <p:nvPr/>
        </p:nvSpPr>
        <p:spPr>
          <a:xfrm>
            <a:off x="46940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Fukamizu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TextBox 82"/>
          <p:cNvSpPr/>
          <p:nvPr/>
        </p:nvSpPr>
        <p:spPr>
          <a:xfrm>
            <a:off x="436464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TextBox 83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4 451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TextBox 84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Rectangle 85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12" name="Picture 86" descr="p_34c572e195dfc0cf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13" name="Rounded Rectangle 87"/>
          <p:cNvSpPr/>
          <p:nvPr/>
        </p:nvSpPr>
        <p:spPr>
          <a:xfrm>
            <a:off x="62089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4" name="TextBox 88"/>
          <p:cNvSpPr/>
          <p:nvPr/>
        </p:nvSpPr>
        <p:spPr>
          <a:xfrm>
            <a:off x="62089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TextBox 89"/>
          <p:cNvSpPr/>
          <p:nvPr/>
        </p:nvSpPr>
        <p:spPr>
          <a:xfrm>
            <a:off x="65379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TextBox 90"/>
          <p:cNvSpPr/>
          <p:nvPr/>
        </p:nvSpPr>
        <p:spPr>
          <a:xfrm>
            <a:off x="620892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для стейка Yaxell RAN 36013, 113мм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TextBox 9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4 657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TextBox 9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Rectangle 9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20" name="Picture 94" descr="p_c515f14758d9cd7d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21" name="Rounded Rectangle 95"/>
          <p:cNvSpPr/>
          <p:nvPr/>
        </p:nvSpPr>
        <p:spPr>
          <a:xfrm>
            <a:off x="80528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2" name="TextBox 96"/>
          <p:cNvSpPr/>
          <p:nvPr/>
        </p:nvSpPr>
        <p:spPr>
          <a:xfrm>
            <a:off x="80528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TextBox 97"/>
          <p:cNvSpPr/>
          <p:nvPr/>
        </p:nvSpPr>
        <p:spPr>
          <a:xfrm>
            <a:off x="838188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TextBox 98"/>
          <p:cNvSpPr/>
          <p:nvPr/>
        </p:nvSpPr>
        <p:spPr>
          <a:xfrm>
            <a:off x="805284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TextBox 99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TextBox 100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Rectangle 101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28" name="Picture 102" descr="p_d5e2a8c9e2f223f3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029" name="Rounded Rectangle 103"/>
          <p:cNvSpPr/>
          <p:nvPr/>
        </p:nvSpPr>
        <p:spPr>
          <a:xfrm>
            <a:off x="989676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0" name="TextBox 104"/>
          <p:cNvSpPr/>
          <p:nvPr/>
        </p:nvSpPr>
        <p:spPr>
          <a:xfrm>
            <a:off x="989676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TextBox 105"/>
          <p:cNvSpPr/>
          <p:nvPr/>
        </p:nvSpPr>
        <p:spPr>
          <a:xfrm>
            <a:off x="102261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Misono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TextBox 106"/>
          <p:cNvSpPr/>
          <p:nvPr/>
        </p:nvSpPr>
        <p:spPr>
          <a:xfrm>
            <a:off x="989676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Misono MV, 120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TextBox 107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TextBox 108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Rectangle 109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6" name="TextBox 110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Rectangle 111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8" name="Rectangle 112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9" name="TextBox 113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TextBox 114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67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TextBox 115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26 %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Rectangle 116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3" name="Rectangle 117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4" name="TextBox 118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TextBox 119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3 539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TextBox 120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Rectangle 121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8" name="Rectangle 122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9" name="TextBox 123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TextBox 124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2 640–4 996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TextBox 125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Rectangle 126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3" name="Rectangle 127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4" name="TextBox 128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TextBox 129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TextBox 130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Rectangle 131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8" name="TextBox 132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TextBox 133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Rounded Rectangle 134"/>
          <p:cNvSpPr/>
          <p:nvPr/>
        </p:nvSpPr>
        <p:spPr>
          <a:xfrm>
            <a:off x="6419160" y="49608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1" name="TextBox 135"/>
          <p:cNvSpPr/>
          <p:nvPr/>
        </p:nvSpPr>
        <p:spPr>
          <a:xfrm>
            <a:off x="6419160" y="49806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TextBox 136"/>
          <p:cNvSpPr/>
          <p:nvPr/>
        </p:nvSpPr>
        <p:spPr>
          <a:xfrm>
            <a:off x="6748200" y="495612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Tosa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Rectangle 137"/>
          <p:cNvSpPr/>
          <p:nvPr/>
        </p:nvSpPr>
        <p:spPr>
          <a:xfrm>
            <a:off x="7955280" y="4990680"/>
            <a:ext cx="7311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4" name="TextBox 138"/>
          <p:cNvSpPr/>
          <p:nvPr/>
        </p:nvSpPr>
        <p:spPr>
          <a:xfrm>
            <a:off x="8741520" y="495612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10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Rounded Rectangle 139"/>
          <p:cNvSpPr/>
          <p:nvPr/>
        </p:nvSpPr>
        <p:spPr>
          <a:xfrm>
            <a:off x="6419160" y="50940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6" name="TextBox 140"/>
          <p:cNvSpPr/>
          <p:nvPr/>
        </p:nvSpPr>
        <p:spPr>
          <a:xfrm>
            <a:off x="6419160" y="51138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TextBox 141"/>
          <p:cNvSpPr/>
          <p:nvPr/>
        </p:nvSpPr>
        <p:spPr>
          <a:xfrm>
            <a:off x="6748200" y="50896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Masahiro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Rectangle 142"/>
          <p:cNvSpPr/>
          <p:nvPr/>
        </p:nvSpPr>
        <p:spPr>
          <a:xfrm>
            <a:off x="7955280" y="5124240"/>
            <a:ext cx="58860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9" name="TextBox 143"/>
          <p:cNvSpPr/>
          <p:nvPr/>
        </p:nvSpPr>
        <p:spPr>
          <a:xfrm>
            <a:off x="8741520" y="50896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Rounded Rectangle 144"/>
          <p:cNvSpPr/>
          <p:nvPr/>
        </p:nvSpPr>
        <p:spPr>
          <a:xfrm>
            <a:off x="6419160" y="52275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1" name="TextBox 145"/>
          <p:cNvSpPr/>
          <p:nvPr/>
        </p:nvSpPr>
        <p:spPr>
          <a:xfrm>
            <a:off x="6419160" y="52473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TextBox 146"/>
          <p:cNvSpPr/>
          <p:nvPr/>
        </p:nvSpPr>
        <p:spPr>
          <a:xfrm>
            <a:off x="6748200" y="52228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Rectangle 147"/>
          <p:cNvSpPr/>
          <p:nvPr/>
        </p:nvSpPr>
        <p:spPr>
          <a:xfrm>
            <a:off x="7955280" y="5257800"/>
            <a:ext cx="51732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4" name="TextBox 148"/>
          <p:cNvSpPr/>
          <p:nvPr/>
        </p:nvSpPr>
        <p:spPr>
          <a:xfrm>
            <a:off x="8741520" y="52228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Rounded Rectangle 149"/>
          <p:cNvSpPr/>
          <p:nvPr/>
        </p:nvSpPr>
        <p:spPr>
          <a:xfrm>
            <a:off x="6419160" y="536112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6" name="TextBox 150"/>
          <p:cNvSpPr/>
          <p:nvPr/>
        </p:nvSpPr>
        <p:spPr>
          <a:xfrm>
            <a:off x="6419160" y="538092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TextBox 151"/>
          <p:cNvSpPr/>
          <p:nvPr/>
        </p:nvSpPr>
        <p:spPr>
          <a:xfrm>
            <a:off x="6748200" y="535644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8" name="Rectangle 152"/>
          <p:cNvSpPr/>
          <p:nvPr/>
        </p:nvSpPr>
        <p:spPr>
          <a:xfrm>
            <a:off x="7955280" y="5391360"/>
            <a:ext cx="51732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9" name="TextBox 153"/>
          <p:cNvSpPr/>
          <p:nvPr/>
        </p:nvSpPr>
        <p:spPr>
          <a:xfrm>
            <a:off x="8741520" y="535644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Rounded Rectangle 154"/>
          <p:cNvSpPr/>
          <p:nvPr/>
        </p:nvSpPr>
        <p:spPr>
          <a:xfrm>
            <a:off x="6419160" y="54946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1" name="TextBox 155"/>
          <p:cNvSpPr/>
          <p:nvPr/>
        </p:nvSpPr>
        <p:spPr>
          <a:xfrm>
            <a:off x="6419160" y="55144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TextBox 156"/>
          <p:cNvSpPr/>
          <p:nvPr/>
        </p:nvSpPr>
        <p:spPr>
          <a:xfrm>
            <a:off x="6748200" y="549000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Rectangle 157"/>
          <p:cNvSpPr/>
          <p:nvPr/>
        </p:nvSpPr>
        <p:spPr>
          <a:xfrm>
            <a:off x="7955280" y="5524920"/>
            <a:ext cx="44604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4" name="TextBox 158"/>
          <p:cNvSpPr/>
          <p:nvPr/>
        </p:nvSpPr>
        <p:spPr>
          <a:xfrm>
            <a:off x="8741520" y="549000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6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TextBox 159"/>
          <p:cNvSpPr/>
          <p:nvPr/>
        </p:nvSpPr>
        <p:spPr>
          <a:xfrm>
            <a:off x="6419160" y="566028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67 позицій, 19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Rectangle 160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7" name="TextBox 161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TextBox 162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TextBox 163"/>
          <p:cNvSpPr/>
          <p:nvPr/>
        </p:nvSpPr>
        <p:spPr>
          <a:xfrm>
            <a:off x="9326880" y="495612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TextBox 164"/>
          <p:cNvSpPr/>
          <p:nvPr/>
        </p:nvSpPr>
        <p:spPr>
          <a:xfrm>
            <a:off x="10881360" y="495612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23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TextBox 165"/>
          <p:cNvSpPr/>
          <p:nvPr/>
        </p:nvSpPr>
        <p:spPr>
          <a:xfrm>
            <a:off x="9326880" y="50896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TextBox 166"/>
          <p:cNvSpPr/>
          <p:nvPr/>
        </p:nvSpPr>
        <p:spPr>
          <a:xfrm>
            <a:off x="10881360" y="50896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20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TextBox 167"/>
          <p:cNvSpPr/>
          <p:nvPr/>
        </p:nvSpPr>
        <p:spPr>
          <a:xfrm>
            <a:off x="9326880" y="52228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TextBox 168"/>
          <p:cNvSpPr/>
          <p:nvPr/>
        </p:nvSpPr>
        <p:spPr>
          <a:xfrm>
            <a:off x="10881360" y="52228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TextBox 169"/>
          <p:cNvSpPr/>
          <p:nvPr/>
        </p:nvSpPr>
        <p:spPr>
          <a:xfrm>
            <a:off x="9326880" y="535644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TextBox 170"/>
          <p:cNvSpPr/>
          <p:nvPr/>
        </p:nvSpPr>
        <p:spPr>
          <a:xfrm>
            <a:off x="10881360" y="535644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TextBox 171"/>
          <p:cNvSpPr/>
          <p:nvPr/>
        </p:nvSpPr>
        <p:spPr>
          <a:xfrm>
            <a:off x="9326880" y="552672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67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Rectangle 17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9" name="Rectangle 17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0" name="TextBox 17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TextBox 17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VG-10 у три шари, перші куроучі з Тоса, артизанальні ножі з вуглецевої сталі. Руків'я ще західне, але геометрія вже японська.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TextBox 17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4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5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06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107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3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5 000 – 10 000 грн: ядро асортименту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1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2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Найгустіший діапазон каталогу. Сюди цілиться більшість спеціалізованих продавців країни.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5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16" name="Picture 14" descr="p_8e0af3bbdd519d26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17" name="Rounded Rectangle 15"/>
          <p:cNvSpPr/>
          <p:nvPr/>
        </p:nvSpPr>
        <p:spPr>
          <a:xfrm>
            <a:off x="67680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8" name="TextBox 16"/>
          <p:cNvSpPr/>
          <p:nvPr/>
        </p:nvSpPr>
        <p:spPr>
          <a:xfrm>
            <a:off x="67680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TextBox 17"/>
          <p:cNvSpPr/>
          <p:nvPr/>
        </p:nvSpPr>
        <p:spPr>
          <a:xfrm>
            <a:off x="10058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TextBox 18"/>
          <p:cNvSpPr/>
          <p:nvPr/>
        </p:nvSpPr>
        <p:spPr>
          <a:xfrm>
            <a:off x="676800" y="25603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ніж Tojiro DP F · 502 Накірі,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1" name="TextBox 19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5 299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TextBox 20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Rectangle 21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24" name="Picture 22" descr="p_e8b23ca67e1e9ec0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25" name="Rounded Rectangle 23"/>
          <p:cNvSpPr/>
          <p:nvPr/>
        </p:nvSpPr>
        <p:spPr>
          <a:xfrm>
            <a:off x="25207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6" name="TextBox 24"/>
          <p:cNvSpPr/>
          <p:nvPr/>
        </p:nvSpPr>
        <p:spPr>
          <a:xfrm>
            <a:off x="25207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TextBox 25"/>
          <p:cNvSpPr/>
          <p:nvPr/>
        </p:nvSpPr>
        <p:spPr>
          <a:xfrm>
            <a:off x="28497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TextBox 26"/>
          <p:cNvSpPr/>
          <p:nvPr/>
        </p:nvSpPr>
        <p:spPr>
          <a:xfrm>
            <a:off x="2520720" y="25603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Сантоку Yaxell Zen 35512, 125мм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9" name="TextBox 27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5 538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TextBox 28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" name="Rectangle 29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2" name="Picture 30" descr="p_acfe3d6ba7f31f58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33" name="Rounded Rectangle 31"/>
          <p:cNvSpPr/>
          <p:nvPr/>
        </p:nvSpPr>
        <p:spPr>
          <a:xfrm>
            <a:off x="43646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4" name="TextBox 32"/>
          <p:cNvSpPr/>
          <p:nvPr/>
        </p:nvSpPr>
        <p:spPr>
          <a:xfrm>
            <a:off x="43646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TextBox 33"/>
          <p:cNvSpPr/>
          <p:nvPr/>
        </p:nvSpPr>
        <p:spPr>
          <a:xfrm>
            <a:off x="46940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TextBox 34"/>
          <p:cNvSpPr/>
          <p:nvPr/>
        </p:nvSpPr>
        <p:spPr>
          <a:xfrm>
            <a:off x="436464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TextBox 35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8" name="TextBox 36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Rectangle 37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40" name="Picture 38" descr="p_63e6f1c1857333c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41" name="Rounded Rectangle 39"/>
          <p:cNvSpPr/>
          <p:nvPr/>
        </p:nvSpPr>
        <p:spPr>
          <a:xfrm>
            <a:off x="62089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2" name="TextBox 40"/>
          <p:cNvSpPr/>
          <p:nvPr/>
        </p:nvSpPr>
        <p:spPr>
          <a:xfrm>
            <a:off x="62089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TextBox 41"/>
          <p:cNvSpPr/>
          <p:nvPr/>
        </p:nvSpPr>
        <p:spPr>
          <a:xfrm>
            <a:off x="65379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4" name="TextBox 42"/>
          <p:cNvSpPr/>
          <p:nvPr/>
        </p:nvSpPr>
        <p:spPr>
          <a:xfrm>
            <a:off x="62089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0701 універсальний, 15см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TextBox 43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6 440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TextBox 44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Rectangle 45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48" name="Picture 46" descr="p_c721c95119249d9a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49" name="Rounded Rectangle 47"/>
          <p:cNvSpPr/>
          <p:nvPr/>
        </p:nvSpPr>
        <p:spPr>
          <a:xfrm>
            <a:off x="80528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0" name="TextBox 48"/>
          <p:cNvSpPr/>
          <p:nvPr/>
        </p:nvSpPr>
        <p:spPr>
          <a:xfrm>
            <a:off x="80528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1" name="TextBox 49"/>
          <p:cNvSpPr/>
          <p:nvPr/>
        </p:nvSpPr>
        <p:spPr>
          <a:xfrm>
            <a:off x="838188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Yoshihiro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TextBox 50"/>
          <p:cNvSpPr/>
          <p:nvPr/>
        </p:nvSpPr>
        <p:spPr>
          <a:xfrm>
            <a:off x="8052840" y="25603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bocho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3" name="TextBox 51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6 747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TextBox 52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Rectangle 53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6" name="Picture 54" descr="p_c6a9ef1a5e039811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57" name="Rounded Rectangle 55"/>
          <p:cNvSpPr/>
          <p:nvPr/>
        </p:nvSpPr>
        <p:spPr>
          <a:xfrm>
            <a:off x="989676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8" name="TextBox 56"/>
          <p:cNvSpPr/>
          <p:nvPr/>
        </p:nvSpPr>
        <p:spPr>
          <a:xfrm>
            <a:off x="989676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TextBox 57"/>
          <p:cNvSpPr/>
          <p:nvPr/>
        </p:nvSpPr>
        <p:spPr>
          <a:xfrm>
            <a:off x="102261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TextBox 58"/>
          <p:cNvSpPr/>
          <p:nvPr/>
        </p:nvSpPr>
        <p:spPr>
          <a:xfrm>
            <a:off x="989676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Сантоку Kasumi Damascus 84013,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1" name="TextBox 59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7 199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TextBox 60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3" name="Rectangle 61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64" name="Picture 62" descr="p_165fb8a929599515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65" name="Rounded Rectangle 63"/>
          <p:cNvSpPr/>
          <p:nvPr/>
        </p:nvSpPr>
        <p:spPr>
          <a:xfrm>
            <a:off x="67680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6" name="TextBox 64"/>
          <p:cNvSpPr/>
          <p:nvPr/>
        </p:nvSpPr>
        <p:spPr>
          <a:xfrm>
            <a:off x="67680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TextBox 65"/>
          <p:cNvSpPr/>
          <p:nvPr/>
        </p:nvSpPr>
        <p:spPr>
          <a:xfrm>
            <a:off x="10058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TextBox 66"/>
          <p:cNvSpPr/>
          <p:nvPr/>
        </p:nvSpPr>
        <p:spPr>
          <a:xfrm>
            <a:off x="67680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Chromax Petty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TextBox 67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0" name="TextBox 68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Rectangle 69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72" name="Picture 70" descr="p_31d4fe94ecd6fc43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73" name="Rounded Rectangle 71"/>
          <p:cNvSpPr/>
          <p:nvPr/>
        </p:nvSpPr>
        <p:spPr>
          <a:xfrm>
            <a:off x="25207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4" name="TextBox 72"/>
          <p:cNvSpPr/>
          <p:nvPr/>
        </p:nvSpPr>
        <p:spPr>
          <a:xfrm>
            <a:off x="25207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TextBox 73"/>
          <p:cNvSpPr/>
          <p:nvPr/>
        </p:nvSpPr>
        <p:spPr>
          <a:xfrm>
            <a:off x="28497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TextBox 74"/>
          <p:cNvSpPr/>
          <p:nvPr/>
        </p:nvSpPr>
        <p:spPr>
          <a:xfrm>
            <a:off x="252072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TextBox 75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7 640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TextBox 76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Rectangle 77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80" name="Picture 78" descr="p_6e85a0b9876243d6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81" name="Rounded Rectangle 79"/>
          <p:cNvSpPr/>
          <p:nvPr/>
        </p:nvSpPr>
        <p:spPr>
          <a:xfrm>
            <a:off x="43646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2" name="TextBox 80"/>
          <p:cNvSpPr/>
          <p:nvPr/>
        </p:nvSpPr>
        <p:spPr>
          <a:xfrm>
            <a:off x="43646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TextBox 81"/>
          <p:cNvSpPr/>
          <p:nvPr/>
        </p:nvSpPr>
        <p:spPr>
          <a:xfrm>
            <a:off x="46940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TextBox 82"/>
          <p:cNvSpPr/>
          <p:nvPr/>
        </p:nvSpPr>
        <p:spPr>
          <a:xfrm>
            <a:off x="436464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Santoku Damascus TADAYOSHI Tosa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5" name="TextBox 83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7 907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TextBox 84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Rectangle 85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88" name="Picture 86" descr="p_d3cf02f30425a55b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89" name="Rounded Rectangle 87"/>
          <p:cNvSpPr/>
          <p:nvPr/>
        </p:nvSpPr>
        <p:spPr>
          <a:xfrm>
            <a:off x="62089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0" name="TextBox 88"/>
          <p:cNvSpPr/>
          <p:nvPr/>
        </p:nvSpPr>
        <p:spPr>
          <a:xfrm>
            <a:off x="62089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1" name="TextBox 89"/>
          <p:cNvSpPr/>
          <p:nvPr/>
        </p:nvSpPr>
        <p:spPr>
          <a:xfrm>
            <a:off x="65379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Shigehiro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TextBox 90"/>
          <p:cNvSpPr/>
          <p:nvPr/>
        </p:nvSpPr>
        <p:spPr>
          <a:xfrm>
            <a:off x="620892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TextBox 9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8 490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TextBox 9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Rectangle 9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96" name="Picture 94" descr="p_92ffe6fc4caa0b12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197" name="Rounded Rectangle 95"/>
          <p:cNvSpPr/>
          <p:nvPr/>
        </p:nvSpPr>
        <p:spPr>
          <a:xfrm>
            <a:off x="80528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8" name="TextBox 96"/>
          <p:cNvSpPr/>
          <p:nvPr/>
        </p:nvSpPr>
        <p:spPr>
          <a:xfrm>
            <a:off x="80528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TextBox 97"/>
          <p:cNvSpPr/>
          <p:nvPr/>
        </p:nvSpPr>
        <p:spPr>
          <a:xfrm>
            <a:off x="838188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0" name="TextBox 98"/>
          <p:cNvSpPr/>
          <p:nvPr/>
        </p:nvSpPr>
        <p:spPr>
          <a:xfrm>
            <a:off x="805284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Kiritsuke Zuiun 9302 150мм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TextBox 99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9 040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TextBox 100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3" name="Rectangle 101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04" name="Picture 102" descr="p_4561f399133faf54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205" name="Rounded Rectangle 103"/>
          <p:cNvSpPr/>
          <p:nvPr/>
        </p:nvSpPr>
        <p:spPr>
          <a:xfrm>
            <a:off x="989676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6" name="TextBox 104"/>
          <p:cNvSpPr/>
          <p:nvPr/>
        </p:nvSpPr>
        <p:spPr>
          <a:xfrm>
            <a:off x="989676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TextBox 105"/>
          <p:cNvSpPr/>
          <p:nvPr/>
        </p:nvSpPr>
        <p:spPr>
          <a:xfrm>
            <a:off x="102261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Tsukasa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TextBox 106"/>
          <p:cNvSpPr/>
          <p:nvPr/>
        </p:nvSpPr>
        <p:spPr>
          <a:xfrm>
            <a:off x="989676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ніж слайсер 210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9" name="TextBox 107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9 900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TextBox 108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Rectangle 109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2" name="TextBox 110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Rectangle 111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4" name="Rectangle 112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5" name="TextBox 113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TextBox 114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116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TextBox 115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45 %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Rectangle 116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9" name="Rectangle 117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0" name="TextBox 118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TextBox 119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7 290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2" name="TextBox 120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Rectangle 121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4" name="Rectangle 122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5" name="TextBox 123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TextBox 124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5 060–9 999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TextBox 125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Rectangle 126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9" name="Rectangle 127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0" name="TextBox 128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" name="TextBox 129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18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TextBox 130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3" name="Rectangle 131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4" name="TextBox 132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TextBox 133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Rounded Rectangle 134"/>
          <p:cNvSpPr/>
          <p:nvPr/>
        </p:nvSpPr>
        <p:spPr>
          <a:xfrm>
            <a:off x="6419160" y="49608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7" name="TextBox 135"/>
          <p:cNvSpPr/>
          <p:nvPr/>
        </p:nvSpPr>
        <p:spPr>
          <a:xfrm>
            <a:off x="6419160" y="49806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TextBox 136"/>
          <p:cNvSpPr/>
          <p:nvPr/>
        </p:nvSpPr>
        <p:spPr>
          <a:xfrm>
            <a:off x="6748200" y="495612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9" name="Rectangle 137"/>
          <p:cNvSpPr/>
          <p:nvPr/>
        </p:nvSpPr>
        <p:spPr>
          <a:xfrm>
            <a:off x="7955280" y="4990680"/>
            <a:ext cx="73116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0" name="TextBox 138"/>
          <p:cNvSpPr/>
          <p:nvPr/>
        </p:nvSpPr>
        <p:spPr>
          <a:xfrm>
            <a:off x="8741520" y="495612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24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Rounded Rectangle 139"/>
          <p:cNvSpPr/>
          <p:nvPr/>
        </p:nvSpPr>
        <p:spPr>
          <a:xfrm>
            <a:off x="6419160" y="50940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2" name="TextBox 140"/>
          <p:cNvSpPr/>
          <p:nvPr/>
        </p:nvSpPr>
        <p:spPr>
          <a:xfrm>
            <a:off x="6419160" y="51138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TextBox 141"/>
          <p:cNvSpPr/>
          <p:nvPr/>
        </p:nvSpPr>
        <p:spPr>
          <a:xfrm>
            <a:off x="6748200" y="50896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Rectangle 142"/>
          <p:cNvSpPr/>
          <p:nvPr/>
        </p:nvSpPr>
        <p:spPr>
          <a:xfrm>
            <a:off x="7955280" y="5124240"/>
            <a:ext cx="7012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5" name="TextBox 143"/>
          <p:cNvSpPr/>
          <p:nvPr/>
        </p:nvSpPr>
        <p:spPr>
          <a:xfrm>
            <a:off x="8741520" y="50896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23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Rounded Rectangle 144"/>
          <p:cNvSpPr/>
          <p:nvPr/>
        </p:nvSpPr>
        <p:spPr>
          <a:xfrm>
            <a:off x="6419160" y="52275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7" name="TextBox 145"/>
          <p:cNvSpPr/>
          <p:nvPr/>
        </p:nvSpPr>
        <p:spPr>
          <a:xfrm>
            <a:off x="6419160" y="52473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TextBox 146"/>
          <p:cNvSpPr/>
          <p:nvPr/>
        </p:nvSpPr>
        <p:spPr>
          <a:xfrm>
            <a:off x="6748200" y="52228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Rectangle 147"/>
          <p:cNvSpPr/>
          <p:nvPr/>
        </p:nvSpPr>
        <p:spPr>
          <a:xfrm>
            <a:off x="7955280" y="5257800"/>
            <a:ext cx="4636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0" name="TextBox 148"/>
          <p:cNvSpPr/>
          <p:nvPr/>
        </p:nvSpPr>
        <p:spPr>
          <a:xfrm>
            <a:off x="8741520" y="52228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15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Rounded Rectangle 149"/>
          <p:cNvSpPr/>
          <p:nvPr/>
        </p:nvSpPr>
        <p:spPr>
          <a:xfrm>
            <a:off x="6419160" y="536112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2" name="TextBox 150"/>
          <p:cNvSpPr/>
          <p:nvPr/>
        </p:nvSpPr>
        <p:spPr>
          <a:xfrm>
            <a:off x="6419160" y="538092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TextBox 151"/>
          <p:cNvSpPr/>
          <p:nvPr/>
        </p:nvSpPr>
        <p:spPr>
          <a:xfrm>
            <a:off x="6748200" y="535644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Tosa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Rectangle 152"/>
          <p:cNvSpPr/>
          <p:nvPr/>
        </p:nvSpPr>
        <p:spPr>
          <a:xfrm>
            <a:off x="7955280" y="5391360"/>
            <a:ext cx="3448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5" name="TextBox 153"/>
          <p:cNvSpPr/>
          <p:nvPr/>
        </p:nvSpPr>
        <p:spPr>
          <a:xfrm>
            <a:off x="8741520" y="535644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11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Rounded Rectangle 154"/>
          <p:cNvSpPr/>
          <p:nvPr/>
        </p:nvSpPr>
        <p:spPr>
          <a:xfrm>
            <a:off x="6419160" y="54946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7" name="TextBox 155"/>
          <p:cNvSpPr/>
          <p:nvPr/>
        </p:nvSpPr>
        <p:spPr>
          <a:xfrm>
            <a:off x="6419160" y="55144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8" name="TextBox 156"/>
          <p:cNvSpPr/>
          <p:nvPr/>
        </p:nvSpPr>
        <p:spPr>
          <a:xfrm>
            <a:off x="6748200" y="549000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" name="Rectangle 157"/>
          <p:cNvSpPr/>
          <p:nvPr/>
        </p:nvSpPr>
        <p:spPr>
          <a:xfrm>
            <a:off x="7955280" y="5524920"/>
            <a:ext cx="34488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0" name="TextBox 158"/>
          <p:cNvSpPr/>
          <p:nvPr/>
        </p:nvSpPr>
        <p:spPr>
          <a:xfrm>
            <a:off x="8741520" y="549000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11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TextBox 159"/>
          <p:cNvSpPr/>
          <p:nvPr/>
        </p:nvSpPr>
        <p:spPr>
          <a:xfrm>
            <a:off x="6419160" y="566028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116 позицій, 18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Rectangle 160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3" name="TextBox 161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TextBox 162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5" name="TextBox 163"/>
          <p:cNvSpPr/>
          <p:nvPr/>
        </p:nvSpPr>
        <p:spPr>
          <a:xfrm>
            <a:off x="9326880" y="495612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TextBox 164"/>
          <p:cNvSpPr/>
          <p:nvPr/>
        </p:nvSpPr>
        <p:spPr>
          <a:xfrm>
            <a:off x="10881360" y="495612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77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TextBox 165"/>
          <p:cNvSpPr/>
          <p:nvPr/>
        </p:nvSpPr>
        <p:spPr>
          <a:xfrm>
            <a:off x="9326880" y="50896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TextBox 166"/>
          <p:cNvSpPr/>
          <p:nvPr/>
        </p:nvSpPr>
        <p:spPr>
          <a:xfrm>
            <a:off x="10881360" y="50896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TextBox 167"/>
          <p:cNvSpPr/>
          <p:nvPr/>
        </p:nvSpPr>
        <p:spPr>
          <a:xfrm>
            <a:off x="9326880" y="52228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TextBox 168"/>
          <p:cNvSpPr/>
          <p:nvPr/>
        </p:nvSpPr>
        <p:spPr>
          <a:xfrm>
            <a:off x="10881360" y="52228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TextBox 169"/>
          <p:cNvSpPr/>
          <p:nvPr/>
        </p:nvSpPr>
        <p:spPr>
          <a:xfrm>
            <a:off x="9326880" y="535644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TextBox 170"/>
          <p:cNvSpPr/>
          <p:nvPr/>
        </p:nvSpPr>
        <p:spPr>
          <a:xfrm>
            <a:off x="10881360" y="535644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" name="TextBox 171"/>
          <p:cNvSpPr/>
          <p:nvPr/>
        </p:nvSpPr>
        <p:spPr>
          <a:xfrm>
            <a:off x="9326880" y="552672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116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Rectangle 17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5" name="Rectangle 17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6" name="TextBox 17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TextBox 17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Дамаск 32–69 шарів поверх VG-10, куроучі Тоса, Takamura Chromax, Tojiro DP Damascus. Твердість 60–61 HRC, часто вже wa-руків'я.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Тут найбільша щільність позицій і найбільша конкуренція продавців за одного покупця. Новий бренд без історії аргументу тут не має.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TextBox 17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0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1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82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283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Ц І Н И   ·   4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4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Понад 10 000 грн: порошкова сталь і іменні ковалі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7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8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Верхній діапазон. Тут платять за марку сталі, кількість шарів і підпис майстра, а не за зручність.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1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92" name="Picture 14" descr="p_a01fd83e32bb4d31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293" name="Rounded Rectangle 15"/>
          <p:cNvSpPr/>
          <p:nvPr/>
        </p:nvSpPr>
        <p:spPr>
          <a:xfrm>
            <a:off x="67680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4" name="TextBox 16"/>
          <p:cNvSpPr/>
          <p:nvPr/>
        </p:nvSpPr>
        <p:spPr>
          <a:xfrm>
            <a:off x="67680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TextBox 17"/>
          <p:cNvSpPr/>
          <p:nvPr/>
        </p:nvSpPr>
        <p:spPr>
          <a:xfrm>
            <a:off x="10058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TextBox 18"/>
          <p:cNvSpPr/>
          <p:nvPr/>
        </p:nvSpPr>
        <p:spPr>
          <a:xfrm>
            <a:off x="67680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універсальний Yaxell Super Gou 37102, 120мм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7" name="TextBox 19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10 195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TextBox 20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9" name="Rectangle 21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00" name="Picture 22" descr="p_b1b56934eddc2628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01" name="Rounded Rectangle 23"/>
          <p:cNvSpPr/>
          <p:nvPr/>
        </p:nvSpPr>
        <p:spPr>
          <a:xfrm>
            <a:off x="25207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2" name="TextBox 24"/>
          <p:cNvSpPr/>
          <p:nvPr/>
        </p:nvSpPr>
        <p:spPr>
          <a:xfrm>
            <a:off x="25207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TextBox 25"/>
          <p:cNvSpPr/>
          <p:nvPr/>
        </p:nvSpPr>
        <p:spPr>
          <a:xfrm>
            <a:off x="28497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TextBox 26"/>
          <p:cNvSpPr/>
          <p:nvPr/>
        </p:nvSpPr>
        <p:spPr>
          <a:xfrm>
            <a:off x="25207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0702 Сантоку,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TextBox 27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TextBox 28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7" name="Rectangle 29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08" name="Picture 30" descr="p_e06430cba6cce24c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09" name="Rounded Rectangle 31"/>
          <p:cNvSpPr/>
          <p:nvPr/>
        </p:nvSpPr>
        <p:spPr>
          <a:xfrm>
            <a:off x="43646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0" name="TextBox 32"/>
          <p:cNvSpPr/>
          <p:nvPr/>
        </p:nvSpPr>
        <p:spPr>
          <a:xfrm>
            <a:off x="43646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TextBox 33"/>
          <p:cNvSpPr/>
          <p:nvPr/>
        </p:nvSpPr>
        <p:spPr>
          <a:xfrm>
            <a:off x="46940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2" name="TextBox 34"/>
          <p:cNvSpPr/>
          <p:nvPr/>
        </p:nvSpPr>
        <p:spPr>
          <a:xfrm>
            <a:off x="436464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Shippu Black FD · 1594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3" name="TextBox 35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10 799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4" name="TextBox 36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Rectangle 37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6" name="Picture 38" descr="p_a8a8440e0c1b116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17" name="Rounded Rectangle 39"/>
          <p:cNvSpPr/>
          <p:nvPr/>
        </p:nvSpPr>
        <p:spPr>
          <a:xfrm>
            <a:off x="62089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8" name="TextBox 40"/>
          <p:cNvSpPr/>
          <p:nvPr/>
        </p:nvSpPr>
        <p:spPr>
          <a:xfrm>
            <a:off x="62089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9" name="TextBox 41"/>
          <p:cNvSpPr/>
          <p:nvPr/>
        </p:nvSpPr>
        <p:spPr>
          <a:xfrm>
            <a:off x="65379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0" name="TextBox 42"/>
          <p:cNvSpPr/>
          <p:nvPr/>
        </p:nvSpPr>
        <p:spPr>
          <a:xfrm>
            <a:off x="62089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Santoku 170 мм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TextBox 43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11 790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TextBox 44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Rectangle 45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24" name="Picture 46" descr="p_c52d98d1a9d49b01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25" name="Rounded Rectangle 47"/>
          <p:cNvSpPr/>
          <p:nvPr/>
        </p:nvSpPr>
        <p:spPr>
          <a:xfrm>
            <a:off x="80528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6" name="TextBox 48"/>
          <p:cNvSpPr/>
          <p:nvPr/>
        </p:nvSpPr>
        <p:spPr>
          <a:xfrm>
            <a:off x="80528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TextBox 49"/>
          <p:cNvSpPr/>
          <p:nvPr/>
        </p:nvSpPr>
        <p:spPr>
          <a:xfrm>
            <a:off x="838188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JCK Natures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" name="TextBox 50"/>
          <p:cNvSpPr/>
          <p:nvPr/>
        </p:nvSpPr>
        <p:spPr>
          <a:xfrm>
            <a:off x="805284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Series SAKURA · 2 Шеф 180mm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9" name="TextBox 51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TextBox 52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Rectangle 53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32" name="Picture 54" descr="p_d5eff106ae43f1c2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33" name="Rounded Rectangle 55"/>
          <p:cNvSpPr/>
          <p:nvPr/>
        </p:nvSpPr>
        <p:spPr>
          <a:xfrm>
            <a:off x="989676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4" name="TextBox 56"/>
          <p:cNvSpPr/>
          <p:nvPr/>
        </p:nvSpPr>
        <p:spPr>
          <a:xfrm>
            <a:off x="989676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5" name="TextBox 57"/>
          <p:cNvSpPr/>
          <p:nvPr/>
        </p:nvSpPr>
        <p:spPr>
          <a:xfrm>
            <a:off x="102261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TextBox 58"/>
          <p:cNvSpPr/>
          <p:nvPr/>
        </p:nvSpPr>
        <p:spPr>
          <a:xfrm>
            <a:off x="989676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Flash FF · CH180,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7" name="TextBox 59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TextBox 60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Rectangle 61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40" name="Picture 62" descr="p_c927d551feb48d8f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41" name="Rounded Rectangle 63"/>
          <p:cNvSpPr/>
          <p:nvPr/>
        </p:nvSpPr>
        <p:spPr>
          <a:xfrm>
            <a:off x="67680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2" name="TextBox 64"/>
          <p:cNvSpPr/>
          <p:nvPr/>
        </p:nvSpPr>
        <p:spPr>
          <a:xfrm>
            <a:off x="67680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TextBox 65"/>
          <p:cNvSpPr/>
          <p:nvPr/>
        </p:nvSpPr>
        <p:spPr>
          <a:xfrm>
            <a:off x="10058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Hatsukokoro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4" name="TextBox 66"/>
          <p:cNvSpPr/>
          <p:nvPr/>
        </p:nvSpPr>
        <p:spPr>
          <a:xfrm>
            <a:off x="67680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HAYABUSA ZDP · 189 150MM PETTY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TextBox 67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13 865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TextBox 68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" name="Rectangle 69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48" name="Picture 70" descr="p_d47b1f5c9cd8169e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49" name="Rounded Rectangle 71"/>
          <p:cNvSpPr/>
          <p:nvPr/>
        </p:nvSpPr>
        <p:spPr>
          <a:xfrm>
            <a:off x="25207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0" name="TextBox 72"/>
          <p:cNvSpPr/>
          <p:nvPr/>
        </p:nvSpPr>
        <p:spPr>
          <a:xfrm>
            <a:off x="25207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TextBox 73"/>
          <p:cNvSpPr/>
          <p:nvPr/>
        </p:nvSpPr>
        <p:spPr>
          <a:xfrm>
            <a:off x="28497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TextBox 74"/>
          <p:cNvSpPr/>
          <p:nvPr/>
        </p:nvSpPr>
        <p:spPr>
          <a:xfrm>
            <a:off x="252072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0712 Сокирка цайдао,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" name="TextBox 75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15 120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TextBox 76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5" name="Rectangle 77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56" name="Picture 78" descr="p_ef04a89de1bf7ad2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57" name="Rounded Rectangle 79"/>
          <p:cNvSpPr/>
          <p:nvPr/>
        </p:nvSpPr>
        <p:spPr>
          <a:xfrm>
            <a:off x="43646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8" name="TextBox 80"/>
          <p:cNvSpPr/>
          <p:nvPr/>
        </p:nvSpPr>
        <p:spPr>
          <a:xfrm>
            <a:off x="43646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TextBox 81"/>
          <p:cNvSpPr/>
          <p:nvPr/>
        </p:nvSpPr>
        <p:spPr>
          <a:xfrm>
            <a:off x="46940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Etsu / Ittetsu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TextBox 82"/>
          <p:cNvSpPr/>
          <p:nvPr/>
        </p:nvSpPr>
        <p:spPr>
          <a:xfrm>
            <a:off x="436464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Etsu (Ittetsu) R2 Damascus Bunka ніж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1" name="TextBox 83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16 677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Box 84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Rectangle 85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64" name="Picture 86" descr="p_9acd459dc4e34992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65" name="Rounded Rectangle 87"/>
          <p:cNvSpPr/>
          <p:nvPr/>
        </p:nvSpPr>
        <p:spPr>
          <a:xfrm>
            <a:off x="62089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6" name="TextBox 88"/>
          <p:cNvSpPr/>
          <p:nvPr/>
        </p:nvSpPr>
        <p:spPr>
          <a:xfrm>
            <a:off x="62089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7" name="TextBox 89"/>
          <p:cNvSpPr/>
          <p:nvPr/>
        </p:nvSpPr>
        <p:spPr>
          <a:xfrm>
            <a:off x="65379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Box 90"/>
          <p:cNvSpPr/>
          <p:nvPr/>
        </p:nvSpPr>
        <p:spPr>
          <a:xfrm>
            <a:off x="620892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TextBox 9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19 990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0" name="TextBox 9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Rectangle 9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72" name="Picture 94" descr="p_cbe742054c58d466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73" name="Rounded Rectangle 95"/>
          <p:cNvSpPr/>
          <p:nvPr/>
        </p:nvSpPr>
        <p:spPr>
          <a:xfrm>
            <a:off x="80528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4" name="TextBox 96"/>
          <p:cNvSpPr/>
          <p:nvPr/>
        </p:nvSpPr>
        <p:spPr>
          <a:xfrm>
            <a:off x="80528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TextBox 97"/>
          <p:cNvSpPr/>
          <p:nvPr/>
        </p:nvSpPr>
        <p:spPr>
          <a:xfrm>
            <a:off x="838188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TextBox 98"/>
          <p:cNvSpPr/>
          <p:nvPr/>
        </p:nvSpPr>
        <p:spPr>
          <a:xfrm>
            <a:off x="805284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 Dam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TextBox 99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23 990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8" name="TextBox 100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Rectangle 101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80" name="Picture 102" descr="p_91cbd83f61b9a69d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381" name="Rounded Rectangle 103"/>
          <p:cNvSpPr/>
          <p:nvPr/>
        </p:nvSpPr>
        <p:spPr>
          <a:xfrm>
            <a:off x="989676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2" name="TextBox 104"/>
          <p:cNvSpPr/>
          <p:nvPr/>
        </p:nvSpPr>
        <p:spPr>
          <a:xfrm>
            <a:off x="989676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" name="TextBox 105"/>
          <p:cNvSpPr/>
          <p:nvPr/>
        </p:nvSpPr>
        <p:spPr>
          <a:xfrm>
            <a:off x="102261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TextBox 106"/>
          <p:cNvSpPr/>
          <p:nvPr/>
        </p:nvSpPr>
        <p:spPr>
          <a:xfrm>
            <a:off x="989676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Набір з 3 · х ножів KAI Shun Premier Tim Mal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" name="TextBox 107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27 970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TextBox 108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Rectangle 109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8" name="TextBox 110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a84a6b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9" name="Rectangle 111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0" name="Rectangle 112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1" name="TextBox 113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TextBox 114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a84a6b"/>
                </a:solidFill>
                <a:latin typeface="Georgia"/>
              </a:rPr>
              <a:t>47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TextBox 115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18 %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Rectangle 116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5" name="Rectangle 117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6" name="TextBox 118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" name="TextBox 119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13 500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TextBox 120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Rectangle 121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0" name="Rectangle 122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1" name="TextBox 123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2" name="TextBox 124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10 035–38 640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TextBox 125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" name="Rectangle 126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5" name="Rectangle 127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6" name="TextBox 128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TextBox 129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" name="TextBox 130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9" name="Rectangle 131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0" name="TextBox 132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TextBox 133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Rounded Rectangle 134"/>
          <p:cNvSpPr/>
          <p:nvPr/>
        </p:nvSpPr>
        <p:spPr>
          <a:xfrm>
            <a:off x="6419160" y="49608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3" name="TextBox 135"/>
          <p:cNvSpPr/>
          <p:nvPr/>
        </p:nvSpPr>
        <p:spPr>
          <a:xfrm>
            <a:off x="6419160" y="49806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TextBox 136"/>
          <p:cNvSpPr/>
          <p:nvPr/>
        </p:nvSpPr>
        <p:spPr>
          <a:xfrm>
            <a:off x="6748200" y="495612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5" name="Rectangle 137"/>
          <p:cNvSpPr/>
          <p:nvPr/>
        </p:nvSpPr>
        <p:spPr>
          <a:xfrm>
            <a:off x="7955280" y="4990680"/>
            <a:ext cx="7311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6" name="TextBox 138"/>
          <p:cNvSpPr/>
          <p:nvPr/>
        </p:nvSpPr>
        <p:spPr>
          <a:xfrm>
            <a:off x="8741520" y="495612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a84a6b"/>
                </a:solidFill>
                <a:latin typeface="Segoe UI"/>
              </a:rPr>
              <a:t>15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Rounded Rectangle 139"/>
          <p:cNvSpPr/>
          <p:nvPr/>
        </p:nvSpPr>
        <p:spPr>
          <a:xfrm>
            <a:off x="6419160" y="50940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8" name="TextBox 140"/>
          <p:cNvSpPr/>
          <p:nvPr/>
        </p:nvSpPr>
        <p:spPr>
          <a:xfrm>
            <a:off x="6419160" y="51138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TextBox 141"/>
          <p:cNvSpPr/>
          <p:nvPr/>
        </p:nvSpPr>
        <p:spPr>
          <a:xfrm>
            <a:off x="6748200" y="50896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Rectangle 142"/>
          <p:cNvSpPr/>
          <p:nvPr/>
        </p:nvSpPr>
        <p:spPr>
          <a:xfrm>
            <a:off x="7955280" y="5124240"/>
            <a:ext cx="4935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1" name="TextBox 143"/>
          <p:cNvSpPr/>
          <p:nvPr/>
        </p:nvSpPr>
        <p:spPr>
          <a:xfrm>
            <a:off x="8741520" y="50896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a84a6b"/>
                </a:solidFill>
                <a:latin typeface="Segoe UI"/>
              </a:rPr>
              <a:t>10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Rounded Rectangle 144"/>
          <p:cNvSpPr/>
          <p:nvPr/>
        </p:nvSpPr>
        <p:spPr>
          <a:xfrm>
            <a:off x="6419160" y="52275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3" name="TextBox 145"/>
          <p:cNvSpPr/>
          <p:nvPr/>
        </p:nvSpPr>
        <p:spPr>
          <a:xfrm>
            <a:off x="6419160" y="52473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TextBox 146"/>
          <p:cNvSpPr/>
          <p:nvPr/>
        </p:nvSpPr>
        <p:spPr>
          <a:xfrm>
            <a:off x="6748200" y="52228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Rectangle 147"/>
          <p:cNvSpPr/>
          <p:nvPr/>
        </p:nvSpPr>
        <p:spPr>
          <a:xfrm>
            <a:off x="7955280" y="5257800"/>
            <a:ext cx="3981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6" name="TextBox 148"/>
          <p:cNvSpPr/>
          <p:nvPr/>
        </p:nvSpPr>
        <p:spPr>
          <a:xfrm>
            <a:off x="8741520" y="52228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a84a6b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Rounded Rectangle 149"/>
          <p:cNvSpPr/>
          <p:nvPr/>
        </p:nvSpPr>
        <p:spPr>
          <a:xfrm>
            <a:off x="6419160" y="536112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8" name="TextBox 150"/>
          <p:cNvSpPr/>
          <p:nvPr/>
        </p:nvSpPr>
        <p:spPr>
          <a:xfrm>
            <a:off x="6419160" y="538092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TextBox 151"/>
          <p:cNvSpPr/>
          <p:nvPr/>
        </p:nvSpPr>
        <p:spPr>
          <a:xfrm>
            <a:off x="6748200" y="535644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Takamura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0" name="Rectangle 152"/>
          <p:cNvSpPr/>
          <p:nvPr/>
        </p:nvSpPr>
        <p:spPr>
          <a:xfrm>
            <a:off x="7955280" y="5391360"/>
            <a:ext cx="1605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1" name="TextBox 153"/>
          <p:cNvSpPr/>
          <p:nvPr/>
        </p:nvSpPr>
        <p:spPr>
          <a:xfrm>
            <a:off x="8741520" y="535644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a84a6b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Rounded Rectangle 154"/>
          <p:cNvSpPr/>
          <p:nvPr/>
        </p:nvSpPr>
        <p:spPr>
          <a:xfrm>
            <a:off x="6419160" y="54946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3" name="TextBox 155"/>
          <p:cNvSpPr/>
          <p:nvPr/>
        </p:nvSpPr>
        <p:spPr>
          <a:xfrm>
            <a:off x="6419160" y="55144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TextBox 156"/>
          <p:cNvSpPr/>
          <p:nvPr/>
        </p:nvSpPr>
        <p:spPr>
          <a:xfrm>
            <a:off x="6748200" y="549000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Rectangle 157"/>
          <p:cNvSpPr/>
          <p:nvPr/>
        </p:nvSpPr>
        <p:spPr>
          <a:xfrm>
            <a:off x="7955280" y="5524920"/>
            <a:ext cx="160560" cy="6552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6" name="TextBox 158"/>
          <p:cNvSpPr/>
          <p:nvPr/>
        </p:nvSpPr>
        <p:spPr>
          <a:xfrm>
            <a:off x="8741520" y="549000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a84a6b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TextBox 159"/>
          <p:cNvSpPr/>
          <p:nvPr/>
        </p:nvSpPr>
        <p:spPr>
          <a:xfrm>
            <a:off x="6419160" y="566028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47 позицій, 11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Rectangle 160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9" name="TextBox 161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TextBox 162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1" name="TextBox 163"/>
          <p:cNvSpPr/>
          <p:nvPr/>
        </p:nvSpPr>
        <p:spPr>
          <a:xfrm>
            <a:off x="9326880" y="495612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TextBox 164"/>
          <p:cNvSpPr/>
          <p:nvPr/>
        </p:nvSpPr>
        <p:spPr>
          <a:xfrm>
            <a:off x="10881360" y="495612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33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3" name="TextBox 165"/>
          <p:cNvSpPr/>
          <p:nvPr/>
        </p:nvSpPr>
        <p:spPr>
          <a:xfrm>
            <a:off x="9326880" y="50896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TextBox 166"/>
          <p:cNvSpPr/>
          <p:nvPr/>
        </p:nvSpPr>
        <p:spPr>
          <a:xfrm>
            <a:off x="10881360" y="50896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TextBox 167"/>
          <p:cNvSpPr/>
          <p:nvPr/>
        </p:nvSpPr>
        <p:spPr>
          <a:xfrm>
            <a:off x="9326880" y="52228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TextBox 168"/>
          <p:cNvSpPr/>
          <p:nvPr/>
        </p:nvSpPr>
        <p:spPr>
          <a:xfrm>
            <a:off x="10881360" y="52228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7" name="TextBox 169"/>
          <p:cNvSpPr/>
          <p:nvPr/>
        </p:nvSpPr>
        <p:spPr>
          <a:xfrm>
            <a:off x="9326880" y="535644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Box 170"/>
          <p:cNvSpPr/>
          <p:nvPr/>
        </p:nvSpPr>
        <p:spPr>
          <a:xfrm>
            <a:off x="10881360" y="535644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TextBox 171"/>
          <p:cNvSpPr/>
          <p:nvPr/>
        </p:nvSpPr>
        <p:spPr>
          <a:xfrm>
            <a:off x="9326880" y="552672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0" name="Rectangle 17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1" name="Rectangle 17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2" name="TextBox 17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a84a6b"/>
                </a:solidFill>
                <a:latin typeface="Segoe UI"/>
              </a:rPr>
              <a:t>Щ О   В И З Н А Ч А Є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TextBox 17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SG-2 і R2 порошкові сталі, 101–193 шари, ZDP-189 при 65–67 HRC, honyaki. Yaxell Super Gou, Takeshi Saji, Nigara, Myojin, Hatsukokoro.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4" name="TextBox 17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5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45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Т А Л О Г   ·   С Е Г М Е Н Т А Ц І Я   З А   Ц І Н О Ю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Чотири цінові діапазони японського виробництва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Каталог із 259 ножів японського виробництва. На кожному щаблі — п'ять позицій, рівномірно розподілених за ціною.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7" name="Rectangle 13"/>
          <p:cNvSpPr/>
          <p:nvPr/>
        </p:nvSpPr>
        <p:spPr>
          <a:xfrm>
            <a:off x="567000" y="155448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8" name="Rectangle 14"/>
          <p:cNvSpPr/>
          <p:nvPr/>
        </p:nvSpPr>
        <p:spPr>
          <a:xfrm>
            <a:off x="567000" y="1554480"/>
            <a:ext cx="40680" cy="1060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9" name="TextBox 15"/>
          <p:cNvSpPr/>
          <p:nvPr/>
        </p:nvSpPr>
        <p:spPr>
          <a:xfrm>
            <a:off x="768240" y="16002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966e28"/>
                </a:solidFill>
                <a:latin typeface="Segoe UI"/>
              </a:rPr>
              <a:t>До 2 500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TextBox 16"/>
          <p:cNvSpPr/>
          <p:nvPr/>
        </p:nvSpPr>
        <p:spPr>
          <a:xfrm>
            <a:off x="768240" y="186552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Японія сюди майже не дістає: моносталь, штамповка, західне руків'я.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1" name="TextBox 17"/>
          <p:cNvSpPr/>
          <p:nvPr/>
        </p:nvSpPr>
        <p:spPr>
          <a:xfrm>
            <a:off x="7682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29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TextBox 18"/>
          <p:cNvSpPr/>
          <p:nvPr/>
        </p:nvSpPr>
        <p:spPr>
          <a:xfrm>
            <a:off x="7682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3" name="TextBox 19"/>
          <p:cNvSpPr/>
          <p:nvPr/>
        </p:nvSpPr>
        <p:spPr>
          <a:xfrm>
            <a:off x="16826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11 %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TextBox 20"/>
          <p:cNvSpPr/>
          <p:nvPr/>
        </p:nvSpPr>
        <p:spPr>
          <a:xfrm>
            <a:off x="16826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Rectangle 21"/>
          <p:cNvSpPr/>
          <p:nvPr/>
        </p:nvSpPr>
        <p:spPr>
          <a:xfrm>
            <a:off x="270648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76" name="Picture 22" descr="p_c43f7c71f2be0d46.jpg"/>
          <p:cNvPicPr/>
          <p:nvPr/>
        </p:nvPicPr>
        <p:blipFill>
          <a:blip r:embed="rId2"/>
          <a:stretch/>
        </p:blipFill>
        <p:spPr>
          <a:xfrm>
            <a:off x="275220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477" name="Rounded Rectangle 23"/>
          <p:cNvSpPr/>
          <p:nvPr/>
        </p:nvSpPr>
        <p:spPr>
          <a:xfrm>
            <a:off x="2706480" y="231804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8" name="TextBox 24"/>
          <p:cNvSpPr/>
          <p:nvPr/>
        </p:nvSpPr>
        <p:spPr>
          <a:xfrm>
            <a:off x="2706480" y="233784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9" name="TextBox 25"/>
          <p:cNvSpPr/>
          <p:nvPr/>
        </p:nvSpPr>
        <p:spPr>
          <a:xfrm>
            <a:off x="3026520" y="231336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" name="TextBox 26"/>
          <p:cNvSpPr/>
          <p:nvPr/>
        </p:nvSpPr>
        <p:spPr>
          <a:xfrm>
            <a:off x="270648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1 140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TextBox 27"/>
          <p:cNvSpPr/>
          <p:nvPr/>
        </p:nvSpPr>
        <p:spPr>
          <a:xfrm>
            <a:off x="370512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2" name="Rectangle 28"/>
          <p:cNvSpPr/>
          <p:nvPr/>
        </p:nvSpPr>
        <p:spPr>
          <a:xfrm>
            <a:off x="449136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83" name="Picture 29" descr="p_f4fee4ae0f6e1d43.jpg"/>
          <p:cNvPicPr/>
          <p:nvPr/>
        </p:nvPicPr>
        <p:blipFill>
          <a:blip r:embed="rId3"/>
          <a:stretch/>
        </p:blipFill>
        <p:spPr>
          <a:xfrm>
            <a:off x="453708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484" name="Rounded Rectangle 30"/>
          <p:cNvSpPr/>
          <p:nvPr/>
        </p:nvSpPr>
        <p:spPr>
          <a:xfrm>
            <a:off x="4491360" y="231804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5" name="TextBox 31"/>
          <p:cNvSpPr/>
          <p:nvPr/>
        </p:nvSpPr>
        <p:spPr>
          <a:xfrm>
            <a:off x="4491360" y="233784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6" name="TextBox 32"/>
          <p:cNvSpPr/>
          <p:nvPr/>
        </p:nvSpPr>
        <p:spPr>
          <a:xfrm>
            <a:off x="4811400" y="231336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TextBox 33"/>
          <p:cNvSpPr/>
          <p:nvPr/>
        </p:nvSpPr>
        <p:spPr>
          <a:xfrm>
            <a:off x="449136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1 650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TextBox 34"/>
          <p:cNvSpPr/>
          <p:nvPr/>
        </p:nvSpPr>
        <p:spPr>
          <a:xfrm>
            <a:off x="549000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9" name="Rectangle 35"/>
          <p:cNvSpPr/>
          <p:nvPr/>
        </p:nvSpPr>
        <p:spPr>
          <a:xfrm>
            <a:off x="627660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90" name="Picture 36" descr="p_14a5586d31e95f7c.jpg"/>
          <p:cNvPicPr/>
          <p:nvPr/>
        </p:nvPicPr>
        <p:blipFill>
          <a:blip r:embed="rId4"/>
          <a:stretch/>
        </p:blipFill>
        <p:spPr>
          <a:xfrm>
            <a:off x="632232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491" name="Rounded Rectangle 37"/>
          <p:cNvSpPr/>
          <p:nvPr/>
        </p:nvSpPr>
        <p:spPr>
          <a:xfrm>
            <a:off x="6276600" y="231804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2" name="TextBox 38"/>
          <p:cNvSpPr/>
          <p:nvPr/>
        </p:nvSpPr>
        <p:spPr>
          <a:xfrm>
            <a:off x="6276600" y="233784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TextBox 39"/>
          <p:cNvSpPr/>
          <p:nvPr/>
        </p:nvSpPr>
        <p:spPr>
          <a:xfrm>
            <a:off x="6596640" y="231336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Takanori Izumi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4" name="TextBox 40"/>
          <p:cNvSpPr/>
          <p:nvPr/>
        </p:nvSpPr>
        <p:spPr>
          <a:xfrm>
            <a:off x="627660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1 980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TextBox 41"/>
          <p:cNvSpPr/>
          <p:nvPr/>
        </p:nvSpPr>
        <p:spPr>
          <a:xfrm>
            <a:off x="727488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Rectangle 42"/>
          <p:cNvSpPr/>
          <p:nvPr/>
        </p:nvSpPr>
        <p:spPr>
          <a:xfrm>
            <a:off x="806148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97" name="Picture 43" descr="p_95b53f997fe6c977.jpg"/>
          <p:cNvPicPr/>
          <p:nvPr/>
        </p:nvPicPr>
        <p:blipFill>
          <a:blip r:embed="rId5"/>
          <a:stretch/>
        </p:blipFill>
        <p:spPr>
          <a:xfrm>
            <a:off x="810720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498" name="Rounded Rectangle 44"/>
          <p:cNvSpPr/>
          <p:nvPr/>
        </p:nvSpPr>
        <p:spPr>
          <a:xfrm>
            <a:off x="8061480" y="231804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9" name="TextBox 45"/>
          <p:cNvSpPr/>
          <p:nvPr/>
        </p:nvSpPr>
        <p:spPr>
          <a:xfrm>
            <a:off x="8061480" y="233784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TextBox 46"/>
          <p:cNvSpPr/>
          <p:nvPr/>
        </p:nvSpPr>
        <p:spPr>
          <a:xfrm>
            <a:off x="8381520" y="231336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TextBox 47"/>
          <p:cNvSpPr/>
          <p:nvPr/>
        </p:nvSpPr>
        <p:spPr>
          <a:xfrm>
            <a:off x="806148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2 184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TextBox 48"/>
          <p:cNvSpPr/>
          <p:nvPr/>
        </p:nvSpPr>
        <p:spPr>
          <a:xfrm>
            <a:off x="905976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3" name="Rectangle 49"/>
          <p:cNvSpPr/>
          <p:nvPr/>
        </p:nvSpPr>
        <p:spPr>
          <a:xfrm>
            <a:off x="9846360" y="160920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4" name="Picture 50" descr="p_edf2e8300d41ebd0.jpg"/>
          <p:cNvPicPr/>
          <p:nvPr/>
        </p:nvPicPr>
        <p:blipFill>
          <a:blip r:embed="rId6"/>
          <a:stretch/>
        </p:blipFill>
        <p:spPr>
          <a:xfrm>
            <a:off x="9892080" y="164592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505" name="Rounded Rectangle 51"/>
          <p:cNvSpPr/>
          <p:nvPr/>
        </p:nvSpPr>
        <p:spPr>
          <a:xfrm>
            <a:off x="9846360" y="231804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6" name="TextBox 52"/>
          <p:cNvSpPr/>
          <p:nvPr/>
        </p:nvSpPr>
        <p:spPr>
          <a:xfrm>
            <a:off x="9846360" y="233784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TextBox 53"/>
          <p:cNvSpPr/>
          <p:nvPr/>
        </p:nvSpPr>
        <p:spPr>
          <a:xfrm>
            <a:off x="10166400" y="231336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TextBox 54"/>
          <p:cNvSpPr/>
          <p:nvPr/>
        </p:nvSpPr>
        <p:spPr>
          <a:xfrm>
            <a:off x="9846360" y="245052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TextBox 55"/>
          <p:cNvSpPr/>
          <p:nvPr/>
        </p:nvSpPr>
        <p:spPr>
          <a:xfrm>
            <a:off x="10844640" y="246420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0" name="Rectangle 56"/>
          <p:cNvSpPr/>
          <p:nvPr/>
        </p:nvSpPr>
        <p:spPr>
          <a:xfrm>
            <a:off x="567000" y="272484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1" name="Rectangle 57"/>
          <p:cNvSpPr/>
          <p:nvPr/>
        </p:nvSpPr>
        <p:spPr>
          <a:xfrm>
            <a:off x="567000" y="2724840"/>
            <a:ext cx="40680" cy="1060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2" name="TextBox 58"/>
          <p:cNvSpPr/>
          <p:nvPr/>
        </p:nvSpPr>
        <p:spPr>
          <a:xfrm>
            <a:off x="768240" y="277056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2a7f86"/>
                </a:solidFill>
                <a:latin typeface="Segoe UI"/>
              </a:rPr>
              <a:t>2 500 – 5 000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3" name="TextBox 59"/>
          <p:cNvSpPr/>
          <p:nvPr/>
        </p:nvSpPr>
        <p:spPr>
          <a:xfrm>
            <a:off x="768240" y="303588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Вхід у японське виробництво: VG-10 у три шари, перші куроучі з Тоса.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4" name="TextBox 60"/>
          <p:cNvSpPr/>
          <p:nvPr/>
        </p:nvSpPr>
        <p:spPr>
          <a:xfrm>
            <a:off x="768240" y="34930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67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TextBox 61"/>
          <p:cNvSpPr/>
          <p:nvPr/>
        </p:nvSpPr>
        <p:spPr>
          <a:xfrm>
            <a:off x="768240" y="369432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TextBox 62"/>
          <p:cNvSpPr/>
          <p:nvPr/>
        </p:nvSpPr>
        <p:spPr>
          <a:xfrm>
            <a:off x="1682640" y="349308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26 %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7" name="TextBox 63"/>
          <p:cNvSpPr/>
          <p:nvPr/>
        </p:nvSpPr>
        <p:spPr>
          <a:xfrm>
            <a:off x="1682640" y="369432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Rectangle 64"/>
          <p:cNvSpPr/>
          <p:nvPr/>
        </p:nvSpPr>
        <p:spPr>
          <a:xfrm>
            <a:off x="270648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19" name="Picture 65" descr="p_c0e297c4c0f3c46c.jpg"/>
          <p:cNvPicPr/>
          <p:nvPr/>
        </p:nvPicPr>
        <p:blipFill>
          <a:blip r:embed="rId7"/>
          <a:stretch/>
        </p:blipFill>
        <p:spPr>
          <a:xfrm>
            <a:off x="275220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520" name="Rounded Rectangle 66"/>
          <p:cNvSpPr/>
          <p:nvPr/>
        </p:nvSpPr>
        <p:spPr>
          <a:xfrm>
            <a:off x="2706480" y="34884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1" name="TextBox 67"/>
          <p:cNvSpPr/>
          <p:nvPr/>
        </p:nvSpPr>
        <p:spPr>
          <a:xfrm>
            <a:off x="2706480" y="35082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TextBox 68"/>
          <p:cNvSpPr/>
          <p:nvPr/>
        </p:nvSpPr>
        <p:spPr>
          <a:xfrm>
            <a:off x="3026520" y="348372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TextBox 69"/>
          <p:cNvSpPr/>
          <p:nvPr/>
        </p:nvSpPr>
        <p:spPr>
          <a:xfrm>
            <a:off x="270648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2 833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TextBox 70"/>
          <p:cNvSpPr/>
          <p:nvPr/>
        </p:nvSpPr>
        <p:spPr>
          <a:xfrm>
            <a:off x="370512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5" name="Rectangle 71"/>
          <p:cNvSpPr/>
          <p:nvPr/>
        </p:nvSpPr>
        <p:spPr>
          <a:xfrm>
            <a:off x="449136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6" name="Picture 72" descr="p_04c975e1aebac2f4.jpg"/>
          <p:cNvPicPr/>
          <p:nvPr/>
        </p:nvPicPr>
        <p:blipFill>
          <a:blip r:embed="rId8"/>
          <a:stretch/>
        </p:blipFill>
        <p:spPr>
          <a:xfrm>
            <a:off x="453708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527" name="Rounded Rectangle 73"/>
          <p:cNvSpPr/>
          <p:nvPr/>
        </p:nvSpPr>
        <p:spPr>
          <a:xfrm>
            <a:off x="4491360" y="34884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8" name="TextBox 74"/>
          <p:cNvSpPr/>
          <p:nvPr/>
        </p:nvSpPr>
        <p:spPr>
          <a:xfrm>
            <a:off x="4491360" y="35082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9" name="TextBox 75"/>
          <p:cNvSpPr/>
          <p:nvPr/>
        </p:nvSpPr>
        <p:spPr>
          <a:xfrm>
            <a:off x="4811400" y="348372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TextBox 76"/>
          <p:cNvSpPr/>
          <p:nvPr/>
        </p:nvSpPr>
        <p:spPr>
          <a:xfrm>
            <a:off x="449136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3 231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1" name="TextBox 77"/>
          <p:cNvSpPr/>
          <p:nvPr/>
        </p:nvSpPr>
        <p:spPr>
          <a:xfrm>
            <a:off x="549000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Rectangle 78"/>
          <p:cNvSpPr/>
          <p:nvPr/>
        </p:nvSpPr>
        <p:spPr>
          <a:xfrm>
            <a:off x="627660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33" name="Picture 79" descr="p_17289a4aa1af5000.jpg"/>
          <p:cNvPicPr/>
          <p:nvPr/>
        </p:nvPicPr>
        <p:blipFill>
          <a:blip r:embed="rId9"/>
          <a:stretch/>
        </p:blipFill>
        <p:spPr>
          <a:xfrm>
            <a:off x="632232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534" name="Rounded Rectangle 80"/>
          <p:cNvSpPr/>
          <p:nvPr/>
        </p:nvSpPr>
        <p:spPr>
          <a:xfrm>
            <a:off x="6276600" y="34884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5" name="TextBox 81"/>
          <p:cNvSpPr/>
          <p:nvPr/>
        </p:nvSpPr>
        <p:spPr>
          <a:xfrm>
            <a:off x="6276600" y="35082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TextBox 82"/>
          <p:cNvSpPr/>
          <p:nvPr/>
        </p:nvSpPr>
        <p:spPr>
          <a:xfrm>
            <a:off x="6596640" y="348372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TextBox 83"/>
          <p:cNvSpPr/>
          <p:nvPr/>
        </p:nvSpPr>
        <p:spPr>
          <a:xfrm>
            <a:off x="627660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3 539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8" name="TextBox 84"/>
          <p:cNvSpPr/>
          <p:nvPr/>
        </p:nvSpPr>
        <p:spPr>
          <a:xfrm>
            <a:off x="727488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Rectangle 85"/>
          <p:cNvSpPr/>
          <p:nvPr/>
        </p:nvSpPr>
        <p:spPr>
          <a:xfrm>
            <a:off x="806148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40" name="Picture 86" descr="p_2ecfadef037b97a0.jpg"/>
          <p:cNvPicPr/>
          <p:nvPr/>
        </p:nvPicPr>
        <p:blipFill>
          <a:blip r:embed="rId10"/>
          <a:stretch/>
        </p:blipFill>
        <p:spPr>
          <a:xfrm>
            <a:off x="810720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541" name="Rounded Rectangle 87"/>
          <p:cNvSpPr/>
          <p:nvPr/>
        </p:nvSpPr>
        <p:spPr>
          <a:xfrm>
            <a:off x="8061480" y="34884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2" name="TextBox 88"/>
          <p:cNvSpPr/>
          <p:nvPr/>
        </p:nvSpPr>
        <p:spPr>
          <a:xfrm>
            <a:off x="8061480" y="35082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TextBox 89"/>
          <p:cNvSpPr/>
          <p:nvPr/>
        </p:nvSpPr>
        <p:spPr>
          <a:xfrm>
            <a:off x="8381520" y="348372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TextBox 90"/>
          <p:cNvSpPr/>
          <p:nvPr/>
        </p:nvSpPr>
        <p:spPr>
          <a:xfrm>
            <a:off x="806148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4 450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" name="TextBox 91"/>
          <p:cNvSpPr/>
          <p:nvPr/>
        </p:nvSpPr>
        <p:spPr>
          <a:xfrm>
            <a:off x="905976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" name="Rectangle 92"/>
          <p:cNvSpPr/>
          <p:nvPr/>
        </p:nvSpPr>
        <p:spPr>
          <a:xfrm>
            <a:off x="9846360" y="277992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47" name="Picture 93" descr="p_2649dfefe6c1cdb3.jpg"/>
          <p:cNvPicPr/>
          <p:nvPr/>
        </p:nvPicPr>
        <p:blipFill>
          <a:blip r:embed="rId11"/>
          <a:stretch/>
        </p:blipFill>
        <p:spPr>
          <a:xfrm>
            <a:off x="9892080" y="281628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548" name="Rounded Rectangle 94"/>
          <p:cNvSpPr/>
          <p:nvPr/>
        </p:nvSpPr>
        <p:spPr>
          <a:xfrm>
            <a:off x="9846360" y="34884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9" name="TextBox 95"/>
          <p:cNvSpPr/>
          <p:nvPr/>
        </p:nvSpPr>
        <p:spPr>
          <a:xfrm>
            <a:off x="9846360" y="35082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" name="TextBox 96"/>
          <p:cNvSpPr/>
          <p:nvPr/>
        </p:nvSpPr>
        <p:spPr>
          <a:xfrm>
            <a:off x="10166400" y="348372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1" name="TextBox 97"/>
          <p:cNvSpPr/>
          <p:nvPr/>
        </p:nvSpPr>
        <p:spPr>
          <a:xfrm>
            <a:off x="9846360" y="362088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TextBox 98"/>
          <p:cNvSpPr/>
          <p:nvPr/>
        </p:nvSpPr>
        <p:spPr>
          <a:xfrm>
            <a:off x="10844640" y="363456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Rectangle 99"/>
          <p:cNvSpPr/>
          <p:nvPr/>
        </p:nvSpPr>
        <p:spPr>
          <a:xfrm>
            <a:off x="567000" y="389520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4" name="Rectangle 100"/>
          <p:cNvSpPr/>
          <p:nvPr/>
        </p:nvSpPr>
        <p:spPr>
          <a:xfrm>
            <a:off x="567000" y="3895200"/>
            <a:ext cx="40680" cy="1060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5" name="TextBox 101"/>
          <p:cNvSpPr/>
          <p:nvPr/>
        </p:nvSpPr>
        <p:spPr>
          <a:xfrm>
            <a:off x="768240" y="394092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554780"/>
                </a:solidFill>
                <a:latin typeface="Segoe UI"/>
              </a:rPr>
              <a:t>5 000 – 10 000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6" name="TextBox 102"/>
          <p:cNvSpPr/>
          <p:nvPr/>
        </p:nvSpPr>
        <p:spPr>
          <a:xfrm>
            <a:off x="768240" y="420624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Ядро асортименту: дамаск 32–69 шарів, Chromax, 60–61 HRC.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TextBox 103"/>
          <p:cNvSpPr/>
          <p:nvPr/>
        </p:nvSpPr>
        <p:spPr>
          <a:xfrm>
            <a:off x="768240" y="4663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TextBox 104"/>
          <p:cNvSpPr/>
          <p:nvPr/>
        </p:nvSpPr>
        <p:spPr>
          <a:xfrm>
            <a:off x="768240" y="486468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9" name="TextBox 105"/>
          <p:cNvSpPr/>
          <p:nvPr/>
        </p:nvSpPr>
        <p:spPr>
          <a:xfrm>
            <a:off x="1682640" y="466344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45 %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TextBox 106"/>
          <p:cNvSpPr/>
          <p:nvPr/>
        </p:nvSpPr>
        <p:spPr>
          <a:xfrm>
            <a:off x="1682640" y="486468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1" name="Rectangle 107"/>
          <p:cNvSpPr/>
          <p:nvPr/>
        </p:nvSpPr>
        <p:spPr>
          <a:xfrm>
            <a:off x="270648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62" name="Picture 108" descr="p_84dcaef21734ab30.jpg"/>
          <p:cNvPicPr/>
          <p:nvPr/>
        </p:nvPicPr>
        <p:blipFill>
          <a:blip r:embed="rId12"/>
          <a:stretch/>
        </p:blipFill>
        <p:spPr>
          <a:xfrm>
            <a:off x="275220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563" name="Rounded Rectangle 109"/>
          <p:cNvSpPr/>
          <p:nvPr/>
        </p:nvSpPr>
        <p:spPr>
          <a:xfrm>
            <a:off x="2706480" y="46587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4" name="TextBox 110"/>
          <p:cNvSpPr/>
          <p:nvPr/>
        </p:nvSpPr>
        <p:spPr>
          <a:xfrm>
            <a:off x="2706480" y="46785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TextBox 111"/>
          <p:cNvSpPr/>
          <p:nvPr/>
        </p:nvSpPr>
        <p:spPr>
          <a:xfrm>
            <a:off x="3026520" y="465444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" name="TextBox 112"/>
          <p:cNvSpPr/>
          <p:nvPr/>
        </p:nvSpPr>
        <p:spPr>
          <a:xfrm>
            <a:off x="270648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5 490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TextBox 113"/>
          <p:cNvSpPr/>
          <p:nvPr/>
        </p:nvSpPr>
        <p:spPr>
          <a:xfrm>
            <a:off x="370512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Rectangle 114"/>
          <p:cNvSpPr/>
          <p:nvPr/>
        </p:nvSpPr>
        <p:spPr>
          <a:xfrm>
            <a:off x="449136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69" name="Picture 115" descr="p_ddfa811abe728326.jpg"/>
          <p:cNvPicPr/>
          <p:nvPr/>
        </p:nvPicPr>
        <p:blipFill>
          <a:blip r:embed="rId13"/>
          <a:stretch/>
        </p:blipFill>
        <p:spPr>
          <a:xfrm>
            <a:off x="453708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570" name="Rounded Rectangle 116"/>
          <p:cNvSpPr/>
          <p:nvPr/>
        </p:nvSpPr>
        <p:spPr>
          <a:xfrm>
            <a:off x="4491360" y="46587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1" name="TextBox 117"/>
          <p:cNvSpPr/>
          <p:nvPr/>
        </p:nvSpPr>
        <p:spPr>
          <a:xfrm>
            <a:off x="4491360" y="46785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TextBox 118"/>
          <p:cNvSpPr/>
          <p:nvPr/>
        </p:nvSpPr>
        <p:spPr>
          <a:xfrm>
            <a:off x="4811400" y="465444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TextBox 119"/>
          <p:cNvSpPr/>
          <p:nvPr/>
        </p:nvSpPr>
        <p:spPr>
          <a:xfrm>
            <a:off x="449136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6 401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4" name="TextBox 120"/>
          <p:cNvSpPr/>
          <p:nvPr/>
        </p:nvSpPr>
        <p:spPr>
          <a:xfrm>
            <a:off x="549000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Rectangle 121"/>
          <p:cNvSpPr/>
          <p:nvPr/>
        </p:nvSpPr>
        <p:spPr>
          <a:xfrm>
            <a:off x="627660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76" name="Picture 122" descr="p_a7da9db63ef1eb54.jpg"/>
          <p:cNvPicPr/>
          <p:nvPr/>
        </p:nvPicPr>
        <p:blipFill>
          <a:blip r:embed="rId14"/>
          <a:stretch/>
        </p:blipFill>
        <p:spPr>
          <a:xfrm>
            <a:off x="632232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577" name="Rounded Rectangle 123"/>
          <p:cNvSpPr/>
          <p:nvPr/>
        </p:nvSpPr>
        <p:spPr>
          <a:xfrm>
            <a:off x="6276600" y="46587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8" name="TextBox 124"/>
          <p:cNvSpPr/>
          <p:nvPr/>
        </p:nvSpPr>
        <p:spPr>
          <a:xfrm>
            <a:off x="6276600" y="46785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TextBox 125"/>
          <p:cNvSpPr/>
          <p:nvPr/>
        </p:nvSpPr>
        <p:spPr>
          <a:xfrm>
            <a:off x="6596640" y="465444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Motokane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TextBox 126"/>
          <p:cNvSpPr/>
          <p:nvPr/>
        </p:nvSpPr>
        <p:spPr>
          <a:xfrm>
            <a:off x="627660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7 290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TextBox 127"/>
          <p:cNvSpPr/>
          <p:nvPr/>
        </p:nvSpPr>
        <p:spPr>
          <a:xfrm>
            <a:off x="727488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2" name="Rectangle 128"/>
          <p:cNvSpPr/>
          <p:nvPr/>
        </p:nvSpPr>
        <p:spPr>
          <a:xfrm>
            <a:off x="806148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83" name="Picture 129" descr="p_c3cc24531869a652.jpg"/>
          <p:cNvPicPr/>
          <p:nvPr/>
        </p:nvPicPr>
        <p:blipFill>
          <a:blip r:embed="rId15"/>
          <a:stretch/>
        </p:blipFill>
        <p:spPr>
          <a:xfrm>
            <a:off x="810720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584" name="Rounded Rectangle 130"/>
          <p:cNvSpPr/>
          <p:nvPr/>
        </p:nvSpPr>
        <p:spPr>
          <a:xfrm>
            <a:off x="8061480" y="46587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5" name="TextBox 131"/>
          <p:cNvSpPr/>
          <p:nvPr/>
        </p:nvSpPr>
        <p:spPr>
          <a:xfrm>
            <a:off x="8061480" y="46785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TextBox 132"/>
          <p:cNvSpPr/>
          <p:nvPr/>
        </p:nvSpPr>
        <p:spPr>
          <a:xfrm>
            <a:off x="8381520" y="465444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7" name="TextBox 133"/>
          <p:cNvSpPr/>
          <p:nvPr/>
        </p:nvSpPr>
        <p:spPr>
          <a:xfrm>
            <a:off x="806148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8 050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TextBox 134"/>
          <p:cNvSpPr/>
          <p:nvPr/>
        </p:nvSpPr>
        <p:spPr>
          <a:xfrm>
            <a:off x="905976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9" name="Rectangle 135"/>
          <p:cNvSpPr/>
          <p:nvPr/>
        </p:nvSpPr>
        <p:spPr>
          <a:xfrm>
            <a:off x="9846360" y="395028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90" name="Picture 136" descr="p_2fba9d1b3834fe86.jpg"/>
          <p:cNvPicPr/>
          <p:nvPr/>
        </p:nvPicPr>
        <p:blipFill>
          <a:blip r:embed="rId16"/>
          <a:stretch/>
        </p:blipFill>
        <p:spPr>
          <a:xfrm>
            <a:off x="9892080" y="398664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591" name="Rounded Rectangle 137"/>
          <p:cNvSpPr/>
          <p:nvPr/>
        </p:nvSpPr>
        <p:spPr>
          <a:xfrm>
            <a:off x="9846360" y="46587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2" name="TextBox 138"/>
          <p:cNvSpPr/>
          <p:nvPr/>
        </p:nvSpPr>
        <p:spPr>
          <a:xfrm>
            <a:off x="9846360" y="46785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3" name="TextBox 139"/>
          <p:cNvSpPr/>
          <p:nvPr/>
        </p:nvSpPr>
        <p:spPr>
          <a:xfrm>
            <a:off x="10166400" y="465444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Tojiro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" name="TextBox 140"/>
          <p:cNvSpPr/>
          <p:nvPr/>
        </p:nvSpPr>
        <p:spPr>
          <a:xfrm>
            <a:off x="9846360" y="479160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9 470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TextBox 141"/>
          <p:cNvSpPr/>
          <p:nvPr/>
        </p:nvSpPr>
        <p:spPr>
          <a:xfrm>
            <a:off x="10844640" y="480528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Rectangle 142"/>
          <p:cNvSpPr/>
          <p:nvPr/>
        </p:nvSpPr>
        <p:spPr>
          <a:xfrm>
            <a:off x="567000" y="5065920"/>
            <a:ext cx="11063880" cy="106020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7" name="Rectangle 143"/>
          <p:cNvSpPr/>
          <p:nvPr/>
        </p:nvSpPr>
        <p:spPr>
          <a:xfrm>
            <a:off x="567000" y="5065920"/>
            <a:ext cx="40680" cy="1060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8" name="TextBox 144"/>
          <p:cNvSpPr/>
          <p:nvPr/>
        </p:nvSpPr>
        <p:spPr>
          <a:xfrm>
            <a:off x="768240" y="511164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a84a6b"/>
                </a:solidFill>
                <a:latin typeface="Segoe UI"/>
              </a:rPr>
              <a:t>Понад 10 000 грн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TextBox 145"/>
          <p:cNvSpPr/>
          <p:nvPr/>
        </p:nvSpPr>
        <p:spPr>
          <a:xfrm>
            <a:off x="768240" y="537660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Порошкова сталь SG-2 / R2, 101–193 шари, іменні ковалі.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" name="TextBox 146"/>
          <p:cNvSpPr/>
          <p:nvPr/>
        </p:nvSpPr>
        <p:spPr>
          <a:xfrm>
            <a:off x="768240" y="583380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TextBox 147"/>
          <p:cNvSpPr/>
          <p:nvPr/>
        </p:nvSpPr>
        <p:spPr>
          <a:xfrm>
            <a:off x="768240" y="603504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TextBox 148"/>
          <p:cNvSpPr/>
          <p:nvPr/>
        </p:nvSpPr>
        <p:spPr>
          <a:xfrm>
            <a:off x="1682640" y="583380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18 %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3" name="TextBox 149"/>
          <p:cNvSpPr/>
          <p:nvPr/>
        </p:nvSpPr>
        <p:spPr>
          <a:xfrm>
            <a:off x="1682640" y="603504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4" name="Rectangle 150"/>
          <p:cNvSpPr/>
          <p:nvPr/>
        </p:nvSpPr>
        <p:spPr>
          <a:xfrm>
            <a:off x="270648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05" name="Picture 151" descr="p_4d162e4b33b21339.jpg"/>
          <p:cNvPicPr/>
          <p:nvPr/>
        </p:nvPicPr>
        <p:blipFill>
          <a:blip r:embed="rId17"/>
          <a:stretch/>
        </p:blipFill>
        <p:spPr>
          <a:xfrm>
            <a:off x="275220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606" name="Rounded Rectangle 152"/>
          <p:cNvSpPr/>
          <p:nvPr/>
        </p:nvSpPr>
        <p:spPr>
          <a:xfrm>
            <a:off x="2706480" y="5829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7" name="TextBox 153"/>
          <p:cNvSpPr/>
          <p:nvPr/>
        </p:nvSpPr>
        <p:spPr>
          <a:xfrm>
            <a:off x="2706480" y="5849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TextBox 154"/>
          <p:cNvSpPr/>
          <p:nvPr/>
        </p:nvSpPr>
        <p:spPr>
          <a:xfrm>
            <a:off x="3026520" y="582480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TextBox 155"/>
          <p:cNvSpPr/>
          <p:nvPr/>
        </p:nvSpPr>
        <p:spPr>
          <a:xfrm>
            <a:off x="270648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10 220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" name="TextBox 156"/>
          <p:cNvSpPr/>
          <p:nvPr/>
        </p:nvSpPr>
        <p:spPr>
          <a:xfrm>
            <a:off x="370512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Rectangle 157"/>
          <p:cNvSpPr/>
          <p:nvPr/>
        </p:nvSpPr>
        <p:spPr>
          <a:xfrm>
            <a:off x="449136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2" name="Picture 158" descr="p_befb31a94894bda5.jpg"/>
          <p:cNvPicPr/>
          <p:nvPr/>
        </p:nvPicPr>
        <p:blipFill>
          <a:blip r:embed="rId18"/>
          <a:stretch/>
        </p:blipFill>
        <p:spPr>
          <a:xfrm>
            <a:off x="453708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613" name="Rounded Rectangle 159"/>
          <p:cNvSpPr/>
          <p:nvPr/>
        </p:nvSpPr>
        <p:spPr>
          <a:xfrm>
            <a:off x="4491360" y="5829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4" name="TextBox 160"/>
          <p:cNvSpPr/>
          <p:nvPr/>
        </p:nvSpPr>
        <p:spPr>
          <a:xfrm>
            <a:off x="4491360" y="5849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5" name="TextBox 161"/>
          <p:cNvSpPr/>
          <p:nvPr/>
        </p:nvSpPr>
        <p:spPr>
          <a:xfrm>
            <a:off x="4811400" y="582480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Takamura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TextBox 162"/>
          <p:cNvSpPr/>
          <p:nvPr/>
        </p:nvSpPr>
        <p:spPr>
          <a:xfrm>
            <a:off x="449136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11 990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TextBox 163"/>
          <p:cNvSpPr/>
          <p:nvPr/>
        </p:nvSpPr>
        <p:spPr>
          <a:xfrm>
            <a:off x="549000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Rectangle 164"/>
          <p:cNvSpPr/>
          <p:nvPr/>
        </p:nvSpPr>
        <p:spPr>
          <a:xfrm>
            <a:off x="627660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19" name="Picture 165" descr="p_a7c46d2bf7a28f35.jpg"/>
          <p:cNvPicPr/>
          <p:nvPr/>
        </p:nvPicPr>
        <p:blipFill>
          <a:blip r:embed="rId19"/>
          <a:stretch/>
        </p:blipFill>
        <p:spPr>
          <a:xfrm>
            <a:off x="632232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620" name="Rounded Rectangle 166"/>
          <p:cNvSpPr/>
          <p:nvPr/>
        </p:nvSpPr>
        <p:spPr>
          <a:xfrm>
            <a:off x="6276600" y="5829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1" name="TextBox 167"/>
          <p:cNvSpPr/>
          <p:nvPr/>
        </p:nvSpPr>
        <p:spPr>
          <a:xfrm>
            <a:off x="6276600" y="5849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TextBox 168"/>
          <p:cNvSpPr/>
          <p:nvPr/>
        </p:nvSpPr>
        <p:spPr>
          <a:xfrm>
            <a:off x="6596640" y="582480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Hatsukokoro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" name="TextBox 169"/>
          <p:cNvSpPr/>
          <p:nvPr/>
        </p:nvSpPr>
        <p:spPr>
          <a:xfrm>
            <a:off x="627660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13 865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" name="TextBox 170"/>
          <p:cNvSpPr/>
          <p:nvPr/>
        </p:nvSpPr>
        <p:spPr>
          <a:xfrm>
            <a:off x="727488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Rectangle 171"/>
          <p:cNvSpPr/>
          <p:nvPr/>
        </p:nvSpPr>
        <p:spPr>
          <a:xfrm>
            <a:off x="806148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26" name="Picture 172" descr="p_57a4f5a4dbffe145.jpg"/>
          <p:cNvPicPr/>
          <p:nvPr/>
        </p:nvPicPr>
        <p:blipFill>
          <a:blip r:embed="rId20"/>
          <a:stretch/>
        </p:blipFill>
        <p:spPr>
          <a:xfrm>
            <a:off x="810720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627" name="Rounded Rectangle 173"/>
          <p:cNvSpPr/>
          <p:nvPr/>
        </p:nvSpPr>
        <p:spPr>
          <a:xfrm>
            <a:off x="8061480" y="5829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8" name="TextBox 174"/>
          <p:cNvSpPr/>
          <p:nvPr/>
        </p:nvSpPr>
        <p:spPr>
          <a:xfrm>
            <a:off x="8061480" y="5849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TextBox 175"/>
          <p:cNvSpPr/>
          <p:nvPr/>
        </p:nvSpPr>
        <p:spPr>
          <a:xfrm>
            <a:off x="8381520" y="582480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Etsu / Ittetsu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TextBox 176"/>
          <p:cNvSpPr/>
          <p:nvPr/>
        </p:nvSpPr>
        <p:spPr>
          <a:xfrm>
            <a:off x="806148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16 677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TextBox 177"/>
          <p:cNvSpPr/>
          <p:nvPr/>
        </p:nvSpPr>
        <p:spPr>
          <a:xfrm>
            <a:off x="90597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2" name="Rectangle 178"/>
          <p:cNvSpPr/>
          <p:nvPr/>
        </p:nvSpPr>
        <p:spPr>
          <a:xfrm>
            <a:off x="9846360" y="5120640"/>
            <a:ext cx="1674720" cy="676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3" name="Picture 179" descr="p_cf2c1f21946a54c7.jpg"/>
          <p:cNvPicPr/>
          <p:nvPr/>
        </p:nvPicPr>
        <p:blipFill>
          <a:blip r:embed="rId21"/>
          <a:stretch/>
        </p:blipFill>
        <p:spPr>
          <a:xfrm>
            <a:off x="9892080" y="5157360"/>
            <a:ext cx="1583280" cy="603000"/>
          </a:xfrm>
          <a:prstGeom prst="rect">
            <a:avLst/>
          </a:prstGeom>
          <a:ln w="0">
            <a:noFill/>
          </a:ln>
        </p:spPr>
      </p:pic>
      <p:sp>
        <p:nvSpPr>
          <p:cNvPr id="1634" name="Rounded Rectangle 180"/>
          <p:cNvSpPr/>
          <p:nvPr/>
        </p:nvSpPr>
        <p:spPr>
          <a:xfrm>
            <a:off x="9846360" y="5829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5" name="TextBox 181"/>
          <p:cNvSpPr/>
          <p:nvPr/>
        </p:nvSpPr>
        <p:spPr>
          <a:xfrm>
            <a:off x="9846360" y="5849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6" name="TextBox 182"/>
          <p:cNvSpPr/>
          <p:nvPr/>
        </p:nvSpPr>
        <p:spPr>
          <a:xfrm>
            <a:off x="10166400" y="5824800"/>
            <a:ext cx="13363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a84a6b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TextBox 183"/>
          <p:cNvSpPr/>
          <p:nvPr/>
        </p:nvSpPr>
        <p:spPr>
          <a:xfrm>
            <a:off x="9846360" y="5961960"/>
            <a:ext cx="105300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27 822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TextBox 184"/>
          <p:cNvSpPr/>
          <p:nvPr/>
        </p:nvSpPr>
        <p:spPr>
          <a:xfrm>
            <a:off x="108446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9" name="TextBox 185"/>
          <p:cNvSpPr/>
          <p:nvPr/>
        </p:nvSpPr>
        <p:spPr>
          <a:xfrm>
            <a:off x="603360" y="63640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— 259 ножів із карток чотирьох магазинів (ProfiMax, ROKS, Sekator, WildCat). Це не весь японський асортимент країни: перепис на слайді 19 охоплює 56 брендів у 25 продавців.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4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64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1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5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Шеф і гюто: найбільший тип каталогу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Робочий ніж кухні, 180–240 мм. Найширше представлений тип і головний драйвер середнього чека.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2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53" name="Picture 14" descr="p_91f3537549c7b857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54" name="Rounded Rectangle 15"/>
          <p:cNvSpPr/>
          <p:nvPr/>
        </p:nvSpPr>
        <p:spPr>
          <a:xfrm>
            <a:off x="67680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5" name="TextBox 16"/>
          <p:cNvSpPr/>
          <p:nvPr/>
        </p:nvSpPr>
        <p:spPr>
          <a:xfrm>
            <a:off x="67680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6" name="TextBox 17"/>
          <p:cNvSpPr/>
          <p:nvPr/>
        </p:nvSpPr>
        <p:spPr>
          <a:xfrm>
            <a:off x="10058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TextBox 18"/>
          <p:cNvSpPr/>
          <p:nvPr/>
        </p:nvSpPr>
        <p:spPr>
          <a:xfrm>
            <a:off x="67680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Gyuto 2004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8" name="TextBox 19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1 560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TextBox 20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0" name="Rectangle 21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61" name="Picture 22" descr="p_d6a404b1b2cf9fa6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62" name="Rounded Rectangle 23"/>
          <p:cNvSpPr/>
          <p:nvPr/>
        </p:nvSpPr>
        <p:spPr>
          <a:xfrm>
            <a:off x="25207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3" name="TextBox 24"/>
          <p:cNvSpPr/>
          <p:nvPr/>
        </p:nvSpPr>
        <p:spPr>
          <a:xfrm>
            <a:off x="25207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TextBox 25"/>
          <p:cNvSpPr/>
          <p:nvPr/>
        </p:nvSpPr>
        <p:spPr>
          <a:xfrm>
            <a:off x="28497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5" name="TextBox 26"/>
          <p:cNvSpPr/>
          <p:nvPr/>
        </p:nvSpPr>
        <p:spPr>
          <a:xfrm>
            <a:off x="25207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Kasumi TORA 36842, 18см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TextBox 27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2 833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TextBox 28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Rectangle 29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69" name="Picture 30" descr="p_ab3ef2d37b13563d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70" name="Rounded Rectangle 31"/>
          <p:cNvSpPr/>
          <p:nvPr/>
        </p:nvSpPr>
        <p:spPr>
          <a:xfrm>
            <a:off x="43646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1" name="TextBox 32"/>
          <p:cNvSpPr/>
          <p:nvPr/>
        </p:nvSpPr>
        <p:spPr>
          <a:xfrm>
            <a:off x="43646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TextBox 33"/>
          <p:cNvSpPr/>
          <p:nvPr/>
        </p:nvSpPr>
        <p:spPr>
          <a:xfrm>
            <a:off x="46940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3" name="TextBox 34"/>
          <p:cNvSpPr/>
          <p:nvPr/>
        </p:nvSpPr>
        <p:spPr>
          <a:xfrm>
            <a:off x="4364640" y="25603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Chief MRS · 30 10692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TextBox 35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4 100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TextBox 36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Rectangle 37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77" name="Picture 38" descr="p_acfe3d6ba7f31f58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78" name="Rounded Rectangle 39"/>
          <p:cNvSpPr/>
          <p:nvPr/>
        </p:nvSpPr>
        <p:spPr>
          <a:xfrm>
            <a:off x="62089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9" name="TextBox 40"/>
          <p:cNvSpPr/>
          <p:nvPr/>
        </p:nvSpPr>
        <p:spPr>
          <a:xfrm>
            <a:off x="62089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TextBox 41"/>
          <p:cNvSpPr/>
          <p:nvPr/>
        </p:nvSpPr>
        <p:spPr>
          <a:xfrm>
            <a:off x="65379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1" name="TextBox 42"/>
          <p:cNvSpPr/>
          <p:nvPr/>
        </p:nvSpPr>
        <p:spPr>
          <a:xfrm>
            <a:off x="62089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 (Шеф), 21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2" name="TextBox 43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TextBox 44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Rectangle 45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85" name="Picture 46" descr="p_35029d9ad0b17bbb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86" name="Rounded Rectangle 47"/>
          <p:cNvSpPr/>
          <p:nvPr/>
        </p:nvSpPr>
        <p:spPr>
          <a:xfrm>
            <a:off x="80528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7" name="TextBox 48"/>
          <p:cNvSpPr/>
          <p:nvPr/>
        </p:nvSpPr>
        <p:spPr>
          <a:xfrm>
            <a:off x="80528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TextBox 49"/>
          <p:cNvSpPr/>
          <p:nvPr/>
        </p:nvSpPr>
        <p:spPr>
          <a:xfrm>
            <a:off x="838188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TextBox 50"/>
          <p:cNvSpPr/>
          <p:nvPr/>
        </p:nvSpPr>
        <p:spPr>
          <a:xfrm>
            <a:off x="805284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Yaxell ZEN 35500, 200мм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0" name="TextBox 51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6 671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TextBox 52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2" name="Rectangle 53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93" name="Picture 54" descr="p_1fbb6c3b8399105a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694" name="Rounded Rectangle 55"/>
          <p:cNvSpPr/>
          <p:nvPr/>
        </p:nvSpPr>
        <p:spPr>
          <a:xfrm>
            <a:off x="989676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5" name="TextBox 56"/>
          <p:cNvSpPr/>
          <p:nvPr/>
        </p:nvSpPr>
        <p:spPr>
          <a:xfrm>
            <a:off x="989676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6" name="TextBox 57"/>
          <p:cNvSpPr/>
          <p:nvPr/>
        </p:nvSpPr>
        <p:spPr>
          <a:xfrm>
            <a:off x="102261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7" name="TextBox 58"/>
          <p:cNvSpPr/>
          <p:nvPr/>
        </p:nvSpPr>
        <p:spPr>
          <a:xfrm>
            <a:off x="9896760" y="25603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Gyuto Migaki VG10 210мм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TextBox 59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7 950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" name="TextBox 60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Rectangle 61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01" name="Picture 62" descr="p_627291157eafeff6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702" name="Rounded Rectangle 63"/>
          <p:cNvSpPr/>
          <p:nvPr/>
        </p:nvSpPr>
        <p:spPr>
          <a:xfrm>
            <a:off x="67680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3" name="TextBox 64"/>
          <p:cNvSpPr/>
          <p:nvPr/>
        </p:nvSpPr>
        <p:spPr>
          <a:xfrm>
            <a:off x="67680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TextBox 65"/>
          <p:cNvSpPr/>
          <p:nvPr/>
        </p:nvSpPr>
        <p:spPr>
          <a:xfrm>
            <a:off x="10058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TextBox 66"/>
          <p:cNvSpPr/>
          <p:nvPr/>
        </p:nvSpPr>
        <p:spPr>
          <a:xfrm>
            <a:off x="67680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Кухарський Шеф Tojiro DP Damascus F · 654, 1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TextBox 67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8 845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7" name="TextBox 68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8" name="Rectangle 69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09" name="Picture 70" descr="p_fbffd1a33f91e276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710" name="Rounded Rectangle 71"/>
          <p:cNvSpPr/>
          <p:nvPr/>
        </p:nvSpPr>
        <p:spPr>
          <a:xfrm>
            <a:off x="25207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1" name="TextBox 72"/>
          <p:cNvSpPr/>
          <p:nvPr/>
        </p:nvSpPr>
        <p:spPr>
          <a:xfrm>
            <a:off x="25207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2" name="TextBox 73"/>
          <p:cNvSpPr/>
          <p:nvPr/>
        </p:nvSpPr>
        <p:spPr>
          <a:xfrm>
            <a:off x="28497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TextBox 74"/>
          <p:cNvSpPr/>
          <p:nvPr/>
        </p:nvSpPr>
        <p:spPr>
          <a:xfrm>
            <a:off x="252072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Chief Damascus TADAYOSHI Tosa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TextBox 75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9 720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TextBox 76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6" name="Rectangle 77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17" name="Picture 78" descr="p_34f19926d1a3de78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718" name="Rounded Rectangle 79"/>
          <p:cNvSpPr/>
          <p:nvPr/>
        </p:nvSpPr>
        <p:spPr>
          <a:xfrm>
            <a:off x="43646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9" name="TextBox 80"/>
          <p:cNvSpPr/>
          <p:nvPr/>
        </p:nvSpPr>
        <p:spPr>
          <a:xfrm>
            <a:off x="43646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0" name="TextBox 81"/>
          <p:cNvSpPr/>
          <p:nvPr/>
        </p:nvSpPr>
        <p:spPr>
          <a:xfrm>
            <a:off x="46940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TextBox 82"/>
          <p:cNvSpPr/>
          <p:nvPr/>
        </p:nvSpPr>
        <p:spPr>
          <a:xfrm>
            <a:off x="436464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Gyuto Migaki SG2 180мм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2" name="TextBox 83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TextBox 84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" name="Rectangle 85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25" name="Picture 86" descr="p_bc218389b9074b34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726" name="Rounded Rectangle 87"/>
          <p:cNvSpPr/>
          <p:nvPr/>
        </p:nvSpPr>
        <p:spPr>
          <a:xfrm>
            <a:off x="62089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7" name="TextBox 88"/>
          <p:cNvSpPr/>
          <p:nvPr/>
        </p:nvSpPr>
        <p:spPr>
          <a:xfrm>
            <a:off x="62089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TextBox 89"/>
          <p:cNvSpPr/>
          <p:nvPr/>
        </p:nvSpPr>
        <p:spPr>
          <a:xfrm>
            <a:off x="65379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9" name="TextBox 90"/>
          <p:cNvSpPr/>
          <p:nvPr/>
        </p:nvSpPr>
        <p:spPr>
          <a:xfrm>
            <a:off x="620892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0719 Кухарський Шеф, 20см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TextBox 9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10 920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" name="TextBox 9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Rectangle 9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3" name="Picture 94" descr="p_c52d98d1a9d49b01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734" name="Rounded Rectangle 95"/>
          <p:cNvSpPr/>
          <p:nvPr/>
        </p:nvSpPr>
        <p:spPr>
          <a:xfrm>
            <a:off x="80528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5" name="TextBox 96"/>
          <p:cNvSpPr/>
          <p:nvPr/>
        </p:nvSpPr>
        <p:spPr>
          <a:xfrm>
            <a:off x="80528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" name="TextBox 97"/>
          <p:cNvSpPr/>
          <p:nvPr/>
        </p:nvSpPr>
        <p:spPr>
          <a:xfrm>
            <a:off x="838188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JCK Natures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TextBox 98"/>
          <p:cNvSpPr/>
          <p:nvPr/>
        </p:nvSpPr>
        <p:spPr>
          <a:xfrm>
            <a:off x="805284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Aogami Super Series SAKURA · 2 Шеф 180mm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" name="TextBox 99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12 220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TextBox 100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0" name="Rectangle 101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41" name="Picture 102" descr="p_d77f87d061b136de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742" name="Rounded Rectangle 103"/>
          <p:cNvSpPr/>
          <p:nvPr/>
        </p:nvSpPr>
        <p:spPr>
          <a:xfrm>
            <a:off x="989676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3" name="TextBox 104"/>
          <p:cNvSpPr/>
          <p:nvPr/>
        </p:nvSpPr>
        <p:spPr>
          <a:xfrm>
            <a:off x="989676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4" name="TextBox 105"/>
          <p:cNvSpPr/>
          <p:nvPr/>
        </p:nvSpPr>
        <p:spPr>
          <a:xfrm>
            <a:off x="102261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5" name="TextBox 106"/>
          <p:cNvSpPr/>
          <p:nvPr/>
        </p:nvSpPr>
        <p:spPr>
          <a:xfrm>
            <a:off x="989676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Gyut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6" name="TextBox 107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26 990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TextBox 108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Rectangle 109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9" name="TextBox 110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966e28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Rectangle 111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1" name="Rectangle 112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2" name="TextBox 113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3" name="TextBox 114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966e28"/>
                </a:solidFill>
                <a:latin typeface="Georgia"/>
              </a:rPr>
              <a:t>49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4" name="TextBox 115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19 %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Rectangle 116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6" name="Rectangle 117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7" name="TextBox 118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8" name="TextBox 119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8 490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" name="TextBox 120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Rectangle 121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1" name="Rectangle 122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2" name="TextBox 123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3" name="TextBox 124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1 149–26 990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4" name="TextBox 125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5" name="Rectangle 126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6" name="Rectangle 127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7" name="TextBox 128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" name="TextBox 129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13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TextBox 130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0" name="Rectangle 131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1" name="TextBox 132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2" name="TextBox 133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" name="Rounded Rectangle 134"/>
          <p:cNvSpPr/>
          <p:nvPr/>
        </p:nvSpPr>
        <p:spPr>
          <a:xfrm>
            <a:off x="6419160" y="49608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4" name="TextBox 135"/>
          <p:cNvSpPr/>
          <p:nvPr/>
        </p:nvSpPr>
        <p:spPr>
          <a:xfrm>
            <a:off x="6419160" y="49806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TextBox 136"/>
          <p:cNvSpPr/>
          <p:nvPr/>
        </p:nvSpPr>
        <p:spPr>
          <a:xfrm>
            <a:off x="6748200" y="495612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Rectangle 137"/>
          <p:cNvSpPr/>
          <p:nvPr/>
        </p:nvSpPr>
        <p:spPr>
          <a:xfrm>
            <a:off x="7955280" y="4990680"/>
            <a:ext cx="7311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7" name="TextBox 138"/>
          <p:cNvSpPr/>
          <p:nvPr/>
        </p:nvSpPr>
        <p:spPr>
          <a:xfrm>
            <a:off x="8741520" y="495612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14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8" name="Rounded Rectangle 139"/>
          <p:cNvSpPr/>
          <p:nvPr/>
        </p:nvSpPr>
        <p:spPr>
          <a:xfrm>
            <a:off x="6419160" y="50940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9" name="TextBox 140"/>
          <p:cNvSpPr/>
          <p:nvPr/>
        </p:nvSpPr>
        <p:spPr>
          <a:xfrm>
            <a:off x="6419160" y="51138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TextBox 141"/>
          <p:cNvSpPr/>
          <p:nvPr/>
        </p:nvSpPr>
        <p:spPr>
          <a:xfrm>
            <a:off x="6748200" y="50896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Rectangle 142"/>
          <p:cNvSpPr/>
          <p:nvPr/>
        </p:nvSpPr>
        <p:spPr>
          <a:xfrm>
            <a:off x="7955280" y="5124240"/>
            <a:ext cx="37440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2" name="TextBox 143"/>
          <p:cNvSpPr/>
          <p:nvPr/>
        </p:nvSpPr>
        <p:spPr>
          <a:xfrm>
            <a:off x="8741520" y="50896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3" name="Rounded Rectangle 144"/>
          <p:cNvSpPr/>
          <p:nvPr/>
        </p:nvSpPr>
        <p:spPr>
          <a:xfrm>
            <a:off x="6419160" y="52275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4" name="TextBox 145"/>
          <p:cNvSpPr/>
          <p:nvPr/>
        </p:nvSpPr>
        <p:spPr>
          <a:xfrm>
            <a:off x="6419160" y="52473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TextBox 146"/>
          <p:cNvSpPr/>
          <p:nvPr/>
        </p:nvSpPr>
        <p:spPr>
          <a:xfrm>
            <a:off x="6748200" y="52228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Rectangle 147"/>
          <p:cNvSpPr/>
          <p:nvPr/>
        </p:nvSpPr>
        <p:spPr>
          <a:xfrm>
            <a:off x="7955280" y="5257800"/>
            <a:ext cx="27252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7" name="TextBox 148"/>
          <p:cNvSpPr/>
          <p:nvPr/>
        </p:nvSpPr>
        <p:spPr>
          <a:xfrm>
            <a:off x="8741520" y="52228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Rounded Rectangle 149"/>
          <p:cNvSpPr/>
          <p:nvPr/>
        </p:nvSpPr>
        <p:spPr>
          <a:xfrm>
            <a:off x="6419160" y="536112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9" name="TextBox 150"/>
          <p:cNvSpPr/>
          <p:nvPr/>
        </p:nvSpPr>
        <p:spPr>
          <a:xfrm>
            <a:off x="6419160" y="538092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0" name="TextBox 151"/>
          <p:cNvSpPr/>
          <p:nvPr/>
        </p:nvSpPr>
        <p:spPr>
          <a:xfrm>
            <a:off x="6748200" y="535644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Satake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Rectangle 152"/>
          <p:cNvSpPr/>
          <p:nvPr/>
        </p:nvSpPr>
        <p:spPr>
          <a:xfrm>
            <a:off x="7955280" y="5391360"/>
            <a:ext cx="2217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2" name="TextBox 153"/>
          <p:cNvSpPr/>
          <p:nvPr/>
        </p:nvSpPr>
        <p:spPr>
          <a:xfrm>
            <a:off x="8741520" y="535644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Rounded Rectangle 154"/>
          <p:cNvSpPr/>
          <p:nvPr/>
        </p:nvSpPr>
        <p:spPr>
          <a:xfrm>
            <a:off x="6419160" y="54946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4" name="TextBox 155"/>
          <p:cNvSpPr/>
          <p:nvPr/>
        </p:nvSpPr>
        <p:spPr>
          <a:xfrm>
            <a:off x="6419160" y="55144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" name="TextBox 156"/>
          <p:cNvSpPr/>
          <p:nvPr/>
        </p:nvSpPr>
        <p:spPr>
          <a:xfrm>
            <a:off x="6748200" y="549000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6" name="Rectangle 157"/>
          <p:cNvSpPr/>
          <p:nvPr/>
        </p:nvSpPr>
        <p:spPr>
          <a:xfrm>
            <a:off x="7955280" y="5524920"/>
            <a:ext cx="221760" cy="6552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7" name="TextBox 158"/>
          <p:cNvSpPr/>
          <p:nvPr/>
        </p:nvSpPr>
        <p:spPr>
          <a:xfrm>
            <a:off x="8741520" y="549000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966e28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8" name="TextBox 159"/>
          <p:cNvSpPr/>
          <p:nvPr/>
        </p:nvSpPr>
        <p:spPr>
          <a:xfrm>
            <a:off x="6419160" y="566028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49 позицій, 13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Rectangle 160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0" name="TextBox 161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TextBox 162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TextBox 163"/>
          <p:cNvSpPr/>
          <p:nvPr/>
        </p:nvSpPr>
        <p:spPr>
          <a:xfrm>
            <a:off x="9326880" y="495612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TextBox 164"/>
          <p:cNvSpPr/>
          <p:nvPr/>
        </p:nvSpPr>
        <p:spPr>
          <a:xfrm>
            <a:off x="10881360" y="495612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29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" name="TextBox 165"/>
          <p:cNvSpPr/>
          <p:nvPr/>
        </p:nvSpPr>
        <p:spPr>
          <a:xfrm>
            <a:off x="9326880" y="50896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" name="TextBox 166"/>
          <p:cNvSpPr/>
          <p:nvPr/>
        </p:nvSpPr>
        <p:spPr>
          <a:xfrm>
            <a:off x="10881360" y="50896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6" name="TextBox 167"/>
          <p:cNvSpPr/>
          <p:nvPr/>
        </p:nvSpPr>
        <p:spPr>
          <a:xfrm>
            <a:off x="9326880" y="52228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7" name="TextBox 168"/>
          <p:cNvSpPr/>
          <p:nvPr/>
        </p:nvSpPr>
        <p:spPr>
          <a:xfrm>
            <a:off x="10881360" y="52228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TextBox 169"/>
          <p:cNvSpPr/>
          <p:nvPr/>
        </p:nvSpPr>
        <p:spPr>
          <a:xfrm>
            <a:off x="9326880" y="535644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TextBox 170"/>
          <p:cNvSpPr/>
          <p:nvPr/>
        </p:nvSpPr>
        <p:spPr>
          <a:xfrm>
            <a:off x="10881360" y="535644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TextBox 171"/>
          <p:cNvSpPr/>
          <p:nvPr/>
        </p:nvSpPr>
        <p:spPr>
          <a:xfrm>
            <a:off x="9326880" y="552672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49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1" name="Rectangle 17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2" name="Rectangle 17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3" name="TextBox 17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966e28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TextBox 17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Універсальний робочий ніж: м'ясо, овочі, риба. Купує і домашній просьюмер, і шеф-кухар для себе.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Саме в цьому типі найширший ціновий розкид — у десятки разів. Тип не визначає ціну; її визначає сталь.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5" name="TextBox 17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6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7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8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19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820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2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Сантоку, петті, накірі: домашня трійця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3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4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5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Три типи, які купує домашня кухня і які формують уявлення масового покупця про японський ніж.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8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9" name="Picture 14" descr="p_6d24bbef6706f06d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830" name="Rounded Rectangle 15"/>
          <p:cNvSpPr/>
          <p:nvPr/>
        </p:nvSpPr>
        <p:spPr>
          <a:xfrm>
            <a:off x="67680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1" name="TextBox 16"/>
          <p:cNvSpPr/>
          <p:nvPr/>
        </p:nvSpPr>
        <p:spPr>
          <a:xfrm>
            <a:off x="67680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2" name="TextBox 17"/>
          <p:cNvSpPr/>
          <p:nvPr/>
        </p:nvSpPr>
        <p:spPr>
          <a:xfrm>
            <a:off x="10058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TextBox 18"/>
          <p:cNvSpPr/>
          <p:nvPr/>
        </p:nvSpPr>
        <p:spPr>
          <a:xfrm>
            <a:off x="67680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Kanetsugu Miyabi Isshin Nakiri 2007 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4" name="TextBox 19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1 760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TextBox 20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6" name="Rectangle 21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37" name="Picture 22" descr="p_2055bd50bb8b8f81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838" name="Rounded Rectangle 23"/>
          <p:cNvSpPr/>
          <p:nvPr/>
        </p:nvSpPr>
        <p:spPr>
          <a:xfrm>
            <a:off x="25207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9" name="TextBox 24"/>
          <p:cNvSpPr/>
          <p:nvPr/>
        </p:nvSpPr>
        <p:spPr>
          <a:xfrm>
            <a:off x="25207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TextBox 25"/>
          <p:cNvSpPr/>
          <p:nvPr/>
        </p:nvSpPr>
        <p:spPr>
          <a:xfrm>
            <a:off x="28497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TextBox 26"/>
          <p:cNvSpPr/>
          <p:nvPr/>
        </p:nvSpPr>
        <p:spPr>
          <a:xfrm>
            <a:off x="25207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Nakiri Kasumi TORA 36847, 16.5см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TextBox 27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2 920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3" name="TextBox 28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" name="Rectangle 29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45" name="Picture 30" descr="p_cf7095da4b0a40c7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846" name="Rounded Rectangle 31"/>
          <p:cNvSpPr/>
          <p:nvPr/>
        </p:nvSpPr>
        <p:spPr>
          <a:xfrm>
            <a:off x="43646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47" name="TextBox 32"/>
          <p:cNvSpPr/>
          <p:nvPr/>
        </p:nvSpPr>
        <p:spPr>
          <a:xfrm>
            <a:off x="43646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8" name="TextBox 33"/>
          <p:cNvSpPr/>
          <p:nvPr/>
        </p:nvSpPr>
        <p:spPr>
          <a:xfrm>
            <a:off x="46940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" name="TextBox 34"/>
          <p:cNvSpPr/>
          <p:nvPr/>
        </p:nvSpPr>
        <p:spPr>
          <a:xfrm>
            <a:off x="4364640" y="25603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Shirogami Kasumi Петті ніж 150 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0" name="TextBox 35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3 247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1" name="TextBox 36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2" name="Rectangle 37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53" name="Picture 38" descr="p_a7c0c4221a9a6e50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854" name="Rounded Rectangle 39"/>
          <p:cNvSpPr/>
          <p:nvPr/>
        </p:nvSpPr>
        <p:spPr>
          <a:xfrm>
            <a:off x="62089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5" name="TextBox 40"/>
          <p:cNvSpPr/>
          <p:nvPr/>
        </p:nvSpPr>
        <p:spPr>
          <a:xfrm>
            <a:off x="62089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6" name="TextBox 41"/>
          <p:cNvSpPr/>
          <p:nvPr/>
        </p:nvSpPr>
        <p:spPr>
          <a:xfrm>
            <a:off x="65379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Tomita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" name="TextBox 42"/>
          <p:cNvSpPr/>
          <p:nvPr/>
        </p:nvSpPr>
        <p:spPr>
          <a:xfrm>
            <a:off x="62089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універсальний ніж Super Blue Steel 120 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8" name="TextBox 43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4 362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" name="TextBox 44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0" name="Rectangle 45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61" name="Picture 46" descr="p_311a4d2c917b072e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862" name="Rounded Rectangle 47"/>
          <p:cNvSpPr/>
          <p:nvPr/>
        </p:nvSpPr>
        <p:spPr>
          <a:xfrm>
            <a:off x="80528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63" name="TextBox 48"/>
          <p:cNvSpPr/>
          <p:nvPr/>
        </p:nvSpPr>
        <p:spPr>
          <a:xfrm>
            <a:off x="80528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4" name="TextBox 49"/>
          <p:cNvSpPr/>
          <p:nvPr/>
        </p:nvSpPr>
        <p:spPr>
          <a:xfrm>
            <a:off x="838188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5" name="TextBox 50"/>
          <p:cNvSpPr/>
          <p:nvPr/>
        </p:nvSpPr>
        <p:spPr>
          <a:xfrm>
            <a:off x="8052840" y="25603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Nakiri Kanto 54x165мм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6" name="TextBox 51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5 439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7" name="TextBox 52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8" name="Rectangle 53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69" name="Picture 54" descr="p_9f5a6251a4cf944a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870" name="Rounded Rectangle 55"/>
          <p:cNvSpPr/>
          <p:nvPr/>
        </p:nvSpPr>
        <p:spPr>
          <a:xfrm>
            <a:off x="989676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1" name="TextBox 56"/>
          <p:cNvSpPr/>
          <p:nvPr/>
        </p:nvSpPr>
        <p:spPr>
          <a:xfrm>
            <a:off x="989676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2" name="TextBox 57"/>
          <p:cNvSpPr/>
          <p:nvPr/>
        </p:nvSpPr>
        <p:spPr>
          <a:xfrm>
            <a:off x="102261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3" name="TextBox 58"/>
          <p:cNvSpPr/>
          <p:nvPr/>
        </p:nvSpPr>
        <p:spPr>
          <a:xfrm>
            <a:off x="989676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SHUN CLASSIC DM · 0716 універсальний, 10см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" name="TextBox 59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6 160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5" name="TextBox 60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Rectangle 61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77" name="Picture 62" descr="p_63fada01193dea65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878" name="Rounded Rectangle 63"/>
          <p:cNvSpPr/>
          <p:nvPr/>
        </p:nvSpPr>
        <p:spPr>
          <a:xfrm>
            <a:off x="67680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9" name="TextBox 64"/>
          <p:cNvSpPr/>
          <p:nvPr/>
        </p:nvSpPr>
        <p:spPr>
          <a:xfrm>
            <a:off x="67680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0" name="TextBox 65"/>
          <p:cNvSpPr/>
          <p:nvPr/>
        </p:nvSpPr>
        <p:spPr>
          <a:xfrm>
            <a:off x="10058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TextBox 66"/>
          <p:cNvSpPr/>
          <p:nvPr/>
        </p:nvSpPr>
        <p:spPr>
          <a:xfrm>
            <a:off x="67680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Накірі Yaxell ZEN 35504,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2" name="TextBox 67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3" name="TextBox 68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4" name="Rectangle 69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85" name="Picture 70" descr="p_165fb8a929599515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886" name="Rounded Rectangle 71"/>
          <p:cNvSpPr/>
          <p:nvPr/>
        </p:nvSpPr>
        <p:spPr>
          <a:xfrm>
            <a:off x="25207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7" name="TextBox 72"/>
          <p:cNvSpPr/>
          <p:nvPr/>
        </p:nvSpPr>
        <p:spPr>
          <a:xfrm>
            <a:off x="25207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8" name="TextBox 73"/>
          <p:cNvSpPr/>
          <p:nvPr/>
        </p:nvSpPr>
        <p:spPr>
          <a:xfrm>
            <a:off x="28497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Takamura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TextBox 74"/>
          <p:cNvSpPr/>
          <p:nvPr/>
        </p:nvSpPr>
        <p:spPr>
          <a:xfrm>
            <a:off x="252072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Chromax Petty 130мм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0" name="TextBox 75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1" name="TextBox 76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2" name="Rectangle 77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93" name="Picture 78" descr="p_d3cf02f30425a55b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894" name="Rounded Rectangle 79"/>
          <p:cNvSpPr/>
          <p:nvPr/>
        </p:nvSpPr>
        <p:spPr>
          <a:xfrm>
            <a:off x="43646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5" name="TextBox 80"/>
          <p:cNvSpPr/>
          <p:nvPr/>
        </p:nvSpPr>
        <p:spPr>
          <a:xfrm>
            <a:off x="43646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6" name="TextBox 81"/>
          <p:cNvSpPr/>
          <p:nvPr/>
        </p:nvSpPr>
        <p:spPr>
          <a:xfrm>
            <a:off x="46940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Shigehiro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7" name="TextBox 82"/>
          <p:cNvSpPr/>
          <p:nvPr/>
        </p:nvSpPr>
        <p:spPr>
          <a:xfrm>
            <a:off x="436464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Shigehiro Speci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8" name="TextBox 83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8 490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9" name="TextBox 84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0" name="Rectangle 85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01" name="Picture 86" descr="p_d2a159866a37d397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902" name="Rounded Rectangle 87"/>
          <p:cNvSpPr/>
          <p:nvPr/>
        </p:nvSpPr>
        <p:spPr>
          <a:xfrm>
            <a:off x="62089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3" name="TextBox 88"/>
          <p:cNvSpPr/>
          <p:nvPr/>
        </p:nvSpPr>
        <p:spPr>
          <a:xfrm>
            <a:off x="62089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4" name="TextBox 89"/>
          <p:cNvSpPr/>
          <p:nvPr/>
        </p:nvSpPr>
        <p:spPr>
          <a:xfrm>
            <a:off x="65379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5" name="TextBox 90"/>
          <p:cNvSpPr/>
          <p:nvPr/>
        </p:nvSpPr>
        <p:spPr>
          <a:xfrm>
            <a:off x="620892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Накірі Kasumi Damascus 84017, 180мм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" name="TextBox 9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8 999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7" name="TextBox 9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" name="Rectangle 9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09" name="Picture 94" descr="p_bc355ae1576e4c43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910" name="Rounded Rectangle 95"/>
          <p:cNvSpPr/>
          <p:nvPr/>
        </p:nvSpPr>
        <p:spPr>
          <a:xfrm>
            <a:off x="80528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1" name="TextBox 96"/>
          <p:cNvSpPr/>
          <p:nvPr/>
        </p:nvSpPr>
        <p:spPr>
          <a:xfrm>
            <a:off x="80528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2" name="TextBox 97"/>
          <p:cNvSpPr/>
          <p:nvPr/>
        </p:nvSpPr>
        <p:spPr>
          <a:xfrm>
            <a:off x="838188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3" name="TextBox 98"/>
          <p:cNvSpPr/>
          <p:nvPr/>
        </p:nvSpPr>
        <p:spPr>
          <a:xfrm>
            <a:off x="805284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Gyuto/Petty сер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4" name="TextBox 99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9 950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5" name="TextBox 100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Rectangle 101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17" name="Picture 102" descr="p_9acd459dc4e34992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1918" name="Rounded Rectangle 103"/>
          <p:cNvSpPr/>
          <p:nvPr/>
        </p:nvSpPr>
        <p:spPr>
          <a:xfrm>
            <a:off x="989676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19" name="TextBox 104"/>
          <p:cNvSpPr/>
          <p:nvPr/>
        </p:nvSpPr>
        <p:spPr>
          <a:xfrm>
            <a:off x="989676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0" name="TextBox 105"/>
          <p:cNvSpPr/>
          <p:nvPr/>
        </p:nvSpPr>
        <p:spPr>
          <a:xfrm>
            <a:off x="102261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1" name="TextBox 106"/>
          <p:cNvSpPr/>
          <p:nvPr/>
        </p:nvSpPr>
        <p:spPr>
          <a:xfrm>
            <a:off x="989676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"HARUKAZE" Pett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2" name="TextBox 107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19 990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" name="TextBox 108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4" name="Rectangle 109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5" name="TextBox 110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2a7f86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6" name="Rectangle 111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7" name="Rectangle 112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28" name="TextBox 113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9" name="TextBox 114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2a7f86"/>
                </a:solidFill>
                <a:latin typeface="Georgia"/>
              </a:rPr>
              <a:t>77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" name="TextBox 115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30 %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1" name="Rectangle 116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2" name="Rectangle 117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3" name="TextBox 118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4" name="TextBox 119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6 671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5" name="TextBox 120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Rectangle 121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7" name="Rectangle 122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8" name="TextBox 123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9" name="TextBox 124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1 140–19 990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0" name="TextBox 125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1" name="Rectangle 126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2" name="Rectangle 127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3" name="TextBox 128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4" name="TextBox 129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18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5" name="TextBox 130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Rectangle 131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47" name="TextBox 132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8" name="TextBox 133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9" name="Rounded Rectangle 134"/>
          <p:cNvSpPr/>
          <p:nvPr/>
        </p:nvSpPr>
        <p:spPr>
          <a:xfrm>
            <a:off x="6419160" y="49608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0" name="TextBox 135"/>
          <p:cNvSpPr/>
          <p:nvPr/>
        </p:nvSpPr>
        <p:spPr>
          <a:xfrm>
            <a:off x="6419160" y="49806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1" name="TextBox 136"/>
          <p:cNvSpPr/>
          <p:nvPr/>
        </p:nvSpPr>
        <p:spPr>
          <a:xfrm>
            <a:off x="6748200" y="495612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" name="Rectangle 137"/>
          <p:cNvSpPr/>
          <p:nvPr/>
        </p:nvSpPr>
        <p:spPr>
          <a:xfrm>
            <a:off x="7955280" y="4990680"/>
            <a:ext cx="7311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3" name="TextBox 138"/>
          <p:cNvSpPr/>
          <p:nvPr/>
        </p:nvSpPr>
        <p:spPr>
          <a:xfrm>
            <a:off x="8741520" y="495612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12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4" name="Rounded Rectangle 139"/>
          <p:cNvSpPr/>
          <p:nvPr/>
        </p:nvSpPr>
        <p:spPr>
          <a:xfrm>
            <a:off x="6419160" y="50940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5" name="TextBox 140"/>
          <p:cNvSpPr/>
          <p:nvPr/>
        </p:nvSpPr>
        <p:spPr>
          <a:xfrm>
            <a:off x="6419160" y="51138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6" name="TextBox 141"/>
          <p:cNvSpPr/>
          <p:nvPr/>
        </p:nvSpPr>
        <p:spPr>
          <a:xfrm>
            <a:off x="6748200" y="50896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7" name="Rectangle 142"/>
          <p:cNvSpPr/>
          <p:nvPr/>
        </p:nvSpPr>
        <p:spPr>
          <a:xfrm>
            <a:off x="7955280" y="5124240"/>
            <a:ext cx="6123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58" name="TextBox 143"/>
          <p:cNvSpPr/>
          <p:nvPr/>
        </p:nvSpPr>
        <p:spPr>
          <a:xfrm>
            <a:off x="8741520" y="50896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10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9" name="Rounded Rectangle 144"/>
          <p:cNvSpPr/>
          <p:nvPr/>
        </p:nvSpPr>
        <p:spPr>
          <a:xfrm>
            <a:off x="6419160" y="52275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0" name="TextBox 145"/>
          <p:cNvSpPr/>
          <p:nvPr/>
        </p:nvSpPr>
        <p:spPr>
          <a:xfrm>
            <a:off x="6419160" y="52473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1" name="TextBox 146"/>
          <p:cNvSpPr/>
          <p:nvPr/>
        </p:nvSpPr>
        <p:spPr>
          <a:xfrm>
            <a:off x="6748200" y="52228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2" name="Rectangle 147"/>
          <p:cNvSpPr/>
          <p:nvPr/>
        </p:nvSpPr>
        <p:spPr>
          <a:xfrm>
            <a:off x="7955280" y="5257800"/>
            <a:ext cx="5529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3" name="TextBox 148"/>
          <p:cNvSpPr/>
          <p:nvPr/>
        </p:nvSpPr>
        <p:spPr>
          <a:xfrm>
            <a:off x="8741520" y="52228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4" name="Rounded Rectangle 149"/>
          <p:cNvSpPr/>
          <p:nvPr/>
        </p:nvSpPr>
        <p:spPr>
          <a:xfrm>
            <a:off x="6419160" y="536112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5" name="TextBox 150"/>
          <p:cNvSpPr/>
          <p:nvPr/>
        </p:nvSpPr>
        <p:spPr>
          <a:xfrm>
            <a:off x="6419160" y="538092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6" name="TextBox 151"/>
          <p:cNvSpPr/>
          <p:nvPr/>
        </p:nvSpPr>
        <p:spPr>
          <a:xfrm>
            <a:off x="6748200" y="535644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7" name="Rectangle 152"/>
          <p:cNvSpPr/>
          <p:nvPr/>
        </p:nvSpPr>
        <p:spPr>
          <a:xfrm>
            <a:off x="7955280" y="5391360"/>
            <a:ext cx="4935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8" name="TextBox 153"/>
          <p:cNvSpPr/>
          <p:nvPr/>
        </p:nvSpPr>
        <p:spPr>
          <a:xfrm>
            <a:off x="8741520" y="535644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9" name="Rounded Rectangle 154"/>
          <p:cNvSpPr/>
          <p:nvPr/>
        </p:nvSpPr>
        <p:spPr>
          <a:xfrm>
            <a:off x="6419160" y="54946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0" name="TextBox 155"/>
          <p:cNvSpPr/>
          <p:nvPr/>
        </p:nvSpPr>
        <p:spPr>
          <a:xfrm>
            <a:off x="6419160" y="55144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1" name="TextBox 156"/>
          <p:cNvSpPr/>
          <p:nvPr/>
        </p:nvSpPr>
        <p:spPr>
          <a:xfrm>
            <a:off x="6748200" y="549000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" name="Rectangle 157"/>
          <p:cNvSpPr/>
          <p:nvPr/>
        </p:nvSpPr>
        <p:spPr>
          <a:xfrm>
            <a:off x="7955280" y="5524920"/>
            <a:ext cx="434160" cy="6552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3" name="TextBox 158"/>
          <p:cNvSpPr/>
          <p:nvPr/>
        </p:nvSpPr>
        <p:spPr>
          <a:xfrm>
            <a:off x="8741520" y="549000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2a7f86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4" name="TextBox 159"/>
          <p:cNvSpPr/>
          <p:nvPr/>
        </p:nvSpPr>
        <p:spPr>
          <a:xfrm>
            <a:off x="6419160" y="566028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77 позицій, 18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5" name="Rectangle 160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6" name="TextBox 161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7" name="TextBox 162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" name="TextBox 163"/>
          <p:cNvSpPr/>
          <p:nvPr/>
        </p:nvSpPr>
        <p:spPr>
          <a:xfrm>
            <a:off x="9326880" y="495612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9" name="TextBox 164"/>
          <p:cNvSpPr/>
          <p:nvPr/>
        </p:nvSpPr>
        <p:spPr>
          <a:xfrm>
            <a:off x="10881360" y="495612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35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0" name="TextBox 165"/>
          <p:cNvSpPr/>
          <p:nvPr/>
        </p:nvSpPr>
        <p:spPr>
          <a:xfrm>
            <a:off x="9326880" y="50896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1" name="TextBox 166"/>
          <p:cNvSpPr/>
          <p:nvPr/>
        </p:nvSpPr>
        <p:spPr>
          <a:xfrm>
            <a:off x="10881360" y="50896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2" name="TextBox 167"/>
          <p:cNvSpPr/>
          <p:nvPr/>
        </p:nvSpPr>
        <p:spPr>
          <a:xfrm>
            <a:off x="9326880" y="52228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3" name="TextBox 168"/>
          <p:cNvSpPr/>
          <p:nvPr/>
        </p:nvSpPr>
        <p:spPr>
          <a:xfrm>
            <a:off x="10881360" y="52228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4" name="TextBox 169"/>
          <p:cNvSpPr/>
          <p:nvPr/>
        </p:nvSpPr>
        <p:spPr>
          <a:xfrm>
            <a:off x="9326880" y="535644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TextBox 170"/>
          <p:cNvSpPr/>
          <p:nvPr/>
        </p:nvSpPr>
        <p:spPr>
          <a:xfrm>
            <a:off x="10881360" y="535644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6" name="TextBox 171"/>
          <p:cNvSpPr/>
          <p:nvPr/>
        </p:nvSpPr>
        <p:spPr>
          <a:xfrm>
            <a:off x="9326880" y="552672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77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" name="Rectangle 17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8" name="Rectangle 17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9" name="TextBox 17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2a7f86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" name="TextBox 17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1" name="TextBox 17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3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4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995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1996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С Е Г М Е Н Т   Т И П У   ·   3   З   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7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Односторонні: янагіба, деба, сашимі, усуба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8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0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1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2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Єдина геометрія, де японське виробництво не має європейського замінника в принципі.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3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4" name="Rectangle 13"/>
          <p:cNvSpPr/>
          <p:nvPr/>
        </p:nvSpPr>
        <p:spPr>
          <a:xfrm>
            <a:off x="56700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05" name="Picture 14" descr="p_6daf0fee42fead6a.jpg"/>
          <p:cNvPicPr/>
          <p:nvPr/>
        </p:nvPicPr>
        <p:blipFill>
          <a:blip r:embed="rId2"/>
          <a:stretch/>
        </p:blipFill>
        <p:spPr>
          <a:xfrm>
            <a:off x="6217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06" name="Rounded Rectangle 15"/>
          <p:cNvSpPr/>
          <p:nvPr/>
        </p:nvSpPr>
        <p:spPr>
          <a:xfrm>
            <a:off x="67680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07" name="TextBox 16"/>
          <p:cNvSpPr/>
          <p:nvPr/>
        </p:nvSpPr>
        <p:spPr>
          <a:xfrm>
            <a:off x="67680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8" name="TextBox 17"/>
          <p:cNvSpPr/>
          <p:nvPr/>
        </p:nvSpPr>
        <p:spPr>
          <a:xfrm>
            <a:off x="10058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9" name="TextBox 18"/>
          <p:cNvSpPr/>
          <p:nvPr/>
        </p:nvSpPr>
        <p:spPr>
          <a:xfrm>
            <a:off x="67680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Deba Motokane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0" name="TextBox 19"/>
          <p:cNvSpPr/>
          <p:nvPr/>
        </p:nvSpPr>
        <p:spPr>
          <a:xfrm>
            <a:off x="67680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2 200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1" name="TextBox 20"/>
          <p:cNvSpPr/>
          <p:nvPr/>
        </p:nvSpPr>
        <p:spPr>
          <a:xfrm>
            <a:off x="182592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2" name="Rectangle 21"/>
          <p:cNvSpPr/>
          <p:nvPr/>
        </p:nvSpPr>
        <p:spPr>
          <a:xfrm>
            <a:off x="24109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13" name="Picture 22" descr="p_4961c17e9c545f80.jpg"/>
          <p:cNvPicPr/>
          <p:nvPr/>
        </p:nvPicPr>
        <p:blipFill>
          <a:blip r:embed="rId3"/>
          <a:stretch/>
        </p:blipFill>
        <p:spPr>
          <a:xfrm>
            <a:off x="246600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14" name="Rounded Rectangle 23"/>
          <p:cNvSpPr/>
          <p:nvPr/>
        </p:nvSpPr>
        <p:spPr>
          <a:xfrm>
            <a:off x="25207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5" name="TextBox 24"/>
          <p:cNvSpPr/>
          <p:nvPr/>
        </p:nvSpPr>
        <p:spPr>
          <a:xfrm>
            <a:off x="25207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" name="TextBox 25"/>
          <p:cNvSpPr/>
          <p:nvPr/>
        </p:nvSpPr>
        <p:spPr>
          <a:xfrm>
            <a:off x="28497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7" name="TextBox 26"/>
          <p:cNvSpPr/>
          <p:nvPr/>
        </p:nvSpPr>
        <p:spPr>
          <a:xfrm>
            <a:off x="25207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кухонний Honmamon / Хонмамон Sashimi Hocho,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" name="TextBox 27"/>
          <p:cNvSpPr/>
          <p:nvPr/>
        </p:nvSpPr>
        <p:spPr>
          <a:xfrm>
            <a:off x="25207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2 695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9" name="TextBox 28"/>
          <p:cNvSpPr/>
          <p:nvPr/>
        </p:nvSpPr>
        <p:spPr>
          <a:xfrm>
            <a:off x="36698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" name="Rectangle 29"/>
          <p:cNvSpPr/>
          <p:nvPr/>
        </p:nvSpPr>
        <p:spPr>
          <a:xfrm>
            <a:off x="42548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21" name="Picture 30" descr="p_1cc6e28810cabd0f.jpg"/>
          <p:cNvPicPr/>
          <p:nvPr/>
        </p:nvPicPr>
        <p:blipFill>
          <a:blip r:embed="rId4"/>
          <a:stretch/>
        </p:blipFill>
        <p:spPr>
          <a:xfrm>
            <a:off x="43099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22" name="Rounded Rectangle 31"/>
          <p:cNvSpPr/>
          <p:nvPr/>
        </p:nvSpPr>
        <p:spPr>
          <a:xfrm>
            <a:off x="43646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23" name="TextBox 32"/>
          <p:cNvSpPr/>
          <p:nvPr/>
        </p:nvSpPr>
        <p:spPr>
          <a:xfrm>
            <a:off x="43646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4" name="TextBox 33"/>
          <p:cNvSpPr/>
          <p:nvPr/>
        </p:nvSpPr>
        <p:spPr>
          <a:xfrm>
            <a:off x="469404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Fukamizu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5" name="TextBox 34"/>
          <p:cNvSpPr/>
          <p:nvPr/>
        </p:nvSpPr>
        <p:spPr>
          <a:xfrm>
            <a:off x="4364640" y="25603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6" name="TextBox 35"/>
          <p:cNvSpPr/>
          <p:nvPr/>
        </p:nvSpPr>
        <p:spPr>
          <a:xfrm>
            <a:off x="43646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3 463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7" name="TextBox 36"/>
          <p:cNvSpPr/>
          <p:nvPr/>
        </p:nvSpPr>
        <p:spPr>
          <a:xfrm>
            <a:off x="55137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8" name="Rectangle 37"/>
          <p:cNvSpPr/>
          <p:nvPr/>
        </p:nvSpPr>
        <p:spPr>
          <a:xfrm>
            <a:off x="609912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29" name="Picture 38" descr="p_e0d7522aea256b56.jpg"/>
          <p:cNvPicPr/>
          <p:nvPr/>
        </p:nvPicPr>
        <p:blipFill>
          <a:blip r:embed="rId5"/>
          <a:stretch/>
        </p:blipFill>
        <p:spPr>
          <a:xfrm>
            <a:off x="61538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30" name="Rounded Rectangle 39"/>
          <p:cNvSpPr/>
          <p:nvPr/>
        </p:nvSpPr>
        <p:spPr>
          <a:xfrm>
            <a:off x="620892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1" name="TextBox 40"/>
          <p:cNvSpPr/>
          <p:nvPr/>
        </p:nvSpPr>
        <p:spPr>
          <a:xfrm>
            <a:off x="620892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2" name="TextBox 41"/>
          <p:cNvSpPr/>
          <p:nvPr/>
        </p:nvSpPr>
        <p:spPr>
          <a:xfrm>
            <a:off x="65379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3" name="TextBox 42"/>
          <p:cNvSpPr/>
          <p:nvPr/>
        </p:nvSpPr>
        <p:spPr>
          <a:xfrm>
            <a:off x="620892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Migaki Yanagiba HC305 · W2 210мм японський к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" name="TextBox 43"/>
          <p:cNvSpPr/>
          <p:nvPr/>
        </p:nvSpPr>
        <p:spPr>
          <a:xfrm>
            <a:off x="620892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5" name="TextBox 44"/>
          <p:cNvSpPr/>
          <p:nvPr/>
        </p:nvSpPr>
        <p:spPr>
          <a:xfrm>
            <a:off x="735804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6" name="Rectangle 45"/>
          <p:cNvSpPr/>
          <p:nvPr/>
        </p:nvSpPr>
        <p:spPr>
          <a:xfrm>
            <a:off x="794304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37" name="Picture 46" descr="p_21b6870e4a3cf5c6.jpg"/>
          <p:cNvPicPr/>
          <p:nvPr/>
        </p:nvPicPr>
        <p:blipFill>
          <a:blip r:embed="rId6"/>
          <a:stretch/>
        </p:blipFill>
        <p:spPr>
          <a:xfrm>
            <a:off x="799812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38" name="Rounded Rectangle 47"/>
          <p:cNvSpPr/>
          <p:nvPr/>
        </p:nvSpPr>
        <p:spPr>
          <a:xfrm>
            <a:off x="805284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9" name="TextBox 48"/>
          <p:cNvSpPr/>
          <p:nvPr/>
        </p:nvSpPr>
        <p:spPr>
          <a:xfrm>
            <a:off x="805284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0" name="TextBox 49"/>
          <p:cNvSpPr/>
          <p:nvPr/>
        </p:nvSpPr>
        <p:spPr>
          <a:xfrm>
            <a:off x="838188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1" name="TextBox 50"/>
          <p:cNvSpPr/>
          <p:nvPr/>
        </p:nvSpPr>
        <p:spPr>
          <a:xfrm>
            <a:off x="8052840" y="25603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Seki Magoroku Kinju AK · 1106 Янагіба, 24см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2" name="TextBox 51"/>
          <p:cNvSpPr/>
          <p:nvPr/>
        </p:nvSpPr>
        <p:spPr>
          <a:xfrm>
            <a:off x="805284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3 999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3" name="TextBox 52"/>
          <p:cNvSpPr/>
          <p:nvPr/>
        </p:nvSpPr>
        <p:spPr>
          <a:xfrm>
            <a:off x="920196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4" name="Rectangle 53"/>
          <p:cNvSpPr/>
          <p:nvPr/>
        </p:nvSpPr>
        <p:spPr>
          <a:xfrm>
            <a:off x="9786960" y="15728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45" name="Picture 54" descr="p_308b926e0a1046be.jpg"/>
          <p:cNvPicPr/>
          <p:nvPr/>
        </p:nvPicPr>
        <p:blipFill>
          <a:blip r:embed="rId7"/>
          <a:stretch/>
        </p:blipFill>
        <p:spPr>
          <a:xfrm>
            <a:off x="9842040" y="16185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46" name="Rounded Rectangle 55"/>
          <p:cNvSpPr/>
          <p:nvPr/>
        </p:nvSpPr>
        <p:spPr>
          <a:xfrm>
            <a:off x="9896760" y="2418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7" name="TextBox 56"/>
          <p:cNvSpPr/>
          <p:nvPr/>
        </p:nvSpPr>
        <p:spPr>
          <a:xfrm>
            <a:off x="9896760" y="2438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8" name="TextBox 57"/>
          <p:cNvSpPr/>
          <p:nvPr/>
        </p:nvSpPr>
        <p:spPr>
          <a:xfrm>
            <a:off x="10226160" y="241416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9" name="TextBox 58"/>
          <p:cNvSpPr/>
          <p:nvPr/>
        </p:nvSpPr>
        <p:spPr>
          <a:xfrm>
            <a:off x="9896760" y="25603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240мм (двосторонній)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" name="TextBox 59"/>
          <p:cNvSpPr/>
          <p:nvPr/>
        </p:nvSpPr>
        <p:spPr>
          <a:xfrm>
            <a:off x="9896760" y="27889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4 400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1" name="TextBox 60"/>
          <p:cNvSpPr/>
          <p:nvPr/>
        </p:nvSpPr>
        <p:spPr>
          <a:xfrm>
            <a:off x="11045880" y="28072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2" name="Rectangle 61"/>
          <p:cNvSpPr/>
          <p:nvPr/>
        </p:nvSpPr>
        <p:spPr>
          <a:xfrm>
            <a:off x="56700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53" name="Picture 62" descr="p_80bac945ebdcb67a.jpg"/>
          <p:cNvPicPr/>
          <p:nvPr/>
        </p:nvPicPr>
        <p:blipFill>
          <a:blip r:embed="rId8"/>
          <a:stretch/>
        </p:blipFill>
        <p:spPr>
          <a:xfrm>
            <a:off x="6217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54" name="Rounded Rectangle 63"/>
          <p:cNvSpPr/>
          <p:nvPr/>
        </p:nvSpPr>
        <p:spPr>
          <a:xfrm>
            <a:off x="67680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5" name="TextBox 64"/>
          <p:cNvSpPr/>
          <p:nvPr/>
        </p:nvSpPr>
        <p:spPr>
          <a:xfrm>
            <a:off x="67680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" name="TextBox 65"/>
          <p:cNvSpPr/>
          <p:nvPr/>
        </p:nvSpPr>
        <p:spPr>
          <a:xfrm>
            <a:off x="10058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7" name="TextBox 66"/>
          <p:cNvSpPr/>
          <p:nvPr/>
        </p:nvSpPr>
        <p:spPr>
          <a:xfrm>
            <a:off x="67680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Black 210мм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8" name="TextBox 67"/>
          <p:cNvSpPr/>
          <p:nvPr/>
        </p:nvSpPr>
        <p:spPr>
          <a:xfrm>
            <a:off x="67680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4 600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9" name="TextBox 68"/>
          <p:cNvSpPr/>
          <p:nvPr/>
        </p:nvSpPr>
        <p:spPr>
          <a:xfrm>
            <a:off x="182592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0" name="Rectangle 69"/>
          <p:cNvSpPr/>
          <p:nvPr/>
        </p:nvSpPr>
        <p:spPr>
          <a:xfrm>
            <a:off x="24109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61" name="Picture 70" descr="p_8d0fc7030e63dd62.jpg"/>
          <p:cNvPicPr/>
          <p:nvPr/>
        </p:nvPicPr>
        <p:blipFill>
          <a:blip r:embed="rId9"/>
          <a:stretch/>
        </p:blipFill>
        <p:spPr>
          <a:xfrm>
            <a:off x="246600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62" name="Rounded Rectangle 71"/>
          <p:cNvSpPr/>
          <p:nvPr/>
        </p:nvSpPr>
        <p:spPr>
          <a:xfrm>
            <a:off x="25207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63" name="TextBox 72"/>
          <p:cNvSpPr/>
          <p:nvPr/>
        </p:nvSpPr>
        <p:spPr>
          <a:xfrm>
            <a:off x="25207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4" name="TextBox 73"/>
          <p:cNvSpPr/>
          <p:nvPr/>
        </p:nvSpPr>
        <p:spPr>
          <a:xfrm>
            <a:off x="28497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5" name="TextBox 74"/>
          <p:cNvSpPr/>
          <p:nvPr/>
        </p:nvSpPr>
        <p:spPr>
          <a:xfrm>
            <a:off x="252072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Sashimi · bocho 270мм (двосторонній)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6" name="TextBox 75"/>
          <p:cNvSpPr/>
          <p:nvPr/>
        </p:nvSpPr>
        <p:spPr>
          <a:xfrm>
            <a:off x="25207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4 900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7" name="TextBox 76"/>
          <p:cNvSpPr/>
          <p:nvPr/>
        </p:nvSpPr>
        <p:spPr>
          <a:xfrm>
            <a:off x="36698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8" name="Rectangle 77"/>
          <p:cNvSpPr/>
          <p:nvPr/>
        </p:nvSpPr>
        <p:spPr>
          <a:xfrm>
            <a:off x="42548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69" name="Picture 78" descr="p_175b1e88a057e754.jpg"/>
          <p:cNvPicPr/>
          <p:nvPr/>
        </p:nvPicPr>
        <p:blipFill>
          <a:blip r:embed="rId10"/>
          <a:stretch/>
        </p:blipFill>
        <p:spPr>
          <a:xfrm>
            <a:off x="43099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70" name="Rounded Rectangle 79"/>
          <p:cNvSpPr/>
          <p:nvPr/>
        </p:nvSpPr>
        <p:spPr>
          <a:xfrm>
            <a:off x="43646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1" name="TextBox 80"/>
          <p:cNvSpPr/>
          <p:nvPr/>
        </p:nvSpPr>
        <p:spPr>
          <a:xfrm>
            <a:off x="43646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2" name="TextBox 81"/>
          <p:cNvSpPr/>
          <p:nvPr/>
        </p:nvSpPr>
        <p:spPr>
          <a:xfrm>
            <a:off x="469404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Tanaka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3" name="TextBox 82"/>
          <p:cNvSpPr/>
          <p:nvPr/>
        </p:nvSpPr>
        <p:spPr>
          <a:xfrm>
            <a:off x="436464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Kamagata Usuba ніж Super Blue Steel 150mm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4" name="TextBox 83"/>
          <p:cNvSpPr/>
          <p:nvPr/>
        </p:nvSpPr>
        <p:spPr>
          <a:xfrm>
            <a:off x="43646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5 203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5" name="TextBox 84"/>
          <p:cNvSpPr/>
          <p:nvPr/>
        </p:nvSpPr>
        <p:spPr>
          <a:xfrm>
            <a:off x="55137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" name="Rectangle 85"/>
          <p:cNvSpPr/>
          <p:nvPr/>
        </p:nvSpPr>
        <p:spPr>
          <a:xfrm>
            <a:off x="609912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77" name="Picture 86" descr="p_6de02cfabd7e16cc.jpg"/>
          <p:cNvPicPr/>
          <p:nvPr/>
        </p:nvPicPr>
        <p:blipFill>
          <a:blip r:embed="rId11"/>
          <a:stretch/>
        </p:blipFill>
        <p:spPr>
          <a:xfrm>
            <a:off x="61538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78" name="Rounded Rectangle 87"/>
          <p:cNvSpPr/>
          <p:nvPr/>
        </p:nvSpPr>
        <p:spPr>
          <a:xfrm>
            <a:off x="620892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9" name="TextBox 88"/>
          <p:cNvSpPr/>
          <p:nvPr/>
        </p:nvSpPr>
        <p:spPr>
          <a:xfrm>
            <a:off x="620892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0" name="TextBox 89"/>
          <p:cNvSpPr/>
          <p:nvPr/>
        </p:nvSpPr>
        <p:spPr>
          <a:xfrm>
            <a:off x="65379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1" name="TextBox 90"/>
          <p:cNvSpPr/>
          <p:nvPr/>
        </p:nvSpPr>
        <p:spPr>
          <a:xfrm>
            <a:off x="620892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Masahiro 16220 Yanagiba, 27см сталь 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2" name="TextBox 91"/>
          <p:cNvSpPr/>
          <p:nvPr/>
        </p:nvSpPr>
        <p:spPr>
          <a:xfrm>
            <a:off x="620892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6 512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3" name="TextBox 92"/>
          <p:cNvSpPr/>
          <p:nvPr/>
        </p:nvSpPr>
        <p:spPr>
          <a:xfrm>
            <a:off x="735804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4" name="Rectangle 93"/>
          <p:cNvSpPr/>
          <p:nvPr/>
        </p:nvSpPr>
        <p:spPr>
          <a:xfrm>
            <a:off x="794304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85" name="Picture 94" descr="p_70444fc05d72362b.jpg"/>
          <p:cNvPicPr/>
          <p:nvPr/>
        </p:nvPicPr>
        <p:blipFill>
          <a:blip r:embed="rId12"/>
          <a:stretch/>
        </p:blipFill>
        <p:spPr>
          <a:xfrm>
            <a:off x="799812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86" name="Rounded Rectangle 95"/>
          <p:cNvSpPr/>
          <p:nvPr/>
        </p:nvSpPr>
        <p:spPr>
          <a:xfrm>
            <a:off x="805284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87" name="TextBox 96"/>
          <p:cNvSpPr/>
          <p:nvPr/>
        </p:nvSpPr>
        <p:spPr>
          <a:xfrm>
            <a:off x="805284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8" name="TextBox 97"/>
          <p:cNvSpPr/>
          <p:nvPr/>
        </p:nvSpPr>
        <p:spPr>
          <a:xfrm>
            <a:off x="838188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Haruhiko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9" name="TextBox 98"/>
          <p:cNvSpPr/>
          <p:nvPr/>
        </p:nvSpPr>
        <p:spPr>
          <a:xfrm>
            <a:off x="8052840" y="4041720"/>
            <a:ext cx="1605960" cy="1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White 2 Янагіба 240мм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0" name="TextBox 99"/>
          <p:cNvSpPr/>
          <p:nvPr/>
        </p:nvSpPr>
        <p:spPr>
          <a:xfrm>
            <a:off x="805284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7 040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1" name="TextBox 100"/>
          <p:cNvSpPr/>
          <p:nvPr/>
        </p:nvSpPr>
        <p:spPr>
          <a:xfrm>
            <a:off x="920196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2" name="Rectangle 101"/>
          <p:cNvSpPr/>
          <p:nvPr/>
        </p:nvSpPr>
        <p:spPr>
          <a:xfrm>
            <a:off x="9786960" y="3054240"/>
            <a:ext cx="1752120" cy="1389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093" name="Picture 102" descr="p_31d4fe94ecd6fc43.jpg"/>
          <p:cNvPicPr/>
          <p:nvPr/>
        </p:nvPicPr>
        <p:blipFill>
          <a:blip r:embed="rId13"/>
          <a:stretch/>
        </p:blipFill>
        <p:spPr>
          <a:xfrm>
            <a:off x="9842040" y="3099960"/>
            <a:ext cx="1642680" cy="749520"/>
          </a:xfrm>
          <a:prstGeom prst="rect">
            <a:avLst/>
          </a:prstGeom>
          <a:ln w="0">
            <a:noFill/>
          </a:ln>
        </p:spPr>
      </p:pic>
      <p:sp>
        <p:nvSpPr>
          <p:cNvPr id="2094" name="Rounded Rectangle 103"/>
          <p:cNvSpPr/>
          <p:nvPr/>
        </p:nvSpPr>
        <p:spPr>
          <a:xfrm>
            <a:off x="9896760" y="3899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5" name="TextBox 104"/>
          <p:cNvSpPr/>
          <p:nvPr/>
        </p:nvSpPr>
        <p:spPr>
          <a:xfrm>
            <a:off x="9896760" y="3919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6" name="TextBox 105"/>
          <p:cNvSpPr/>
          <p:nvPr/>
        </p:nvSpPr>
        <p:spPr>
          <a:xfrm>
            <a:off x="10226160" y="3895200"/>
            <a:ext cx="127692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7" name="TextBox 106"/>
          <p:cNvSpPr/>
          <p:nvPr/>
        </p:nvSpPr>
        <p:spPr>
          <a:xfrm>
            <a:off x="9896760" y="4041720"/>
            <a:ext cx="1605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6000"/>
              </a:lnSpc>
            </a:pPr>
            <a:r>
              <a:rPr b="0" lang="en-US" sz="610" spc="-1" strike="noStrike">
                <a:solidFill>
                  <a:srgbClr val="1b253f"/>
                </a:solidFill>
                <a:latin typeface="Segoe UI"/>
              </a:rPr>
              <a:t>Янагіба SAKAI TAKAYUKI Yasugi для лівші, 24с</a:t>
            </a:r>
            <a:endParaRPr b="0" lang="en-US" sz="6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8" name="TextBox 107"/>
          <p:cNvSpPr/>
          <p:nvPr/>
        </p:nvSpPr>
        <p:spPr>
          <a:xfrm>
            <a:off x="9896760" y="4270320"/>
            <a:ext cx="1294920" cy="12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20" spc="-1" strike="noStrike">
                <a:solidFill>
                  <a:srgbClr val="151a26"/>
                </a:solidFill>
                <a:latin typeface="Georgia"/>
              </a:rPr>
              <a:t>7 640 грн</a:t>
            </a:r>
            <a:endParaRPr b="0" lang="en-US" sz="8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9" name="TextBox 108"/>
          <p:cNvSpPr/>
          <p:nvPr/>
        </p:nvSpPr>
        <p:spPr>
          <a:xfrm>
            <a:off x="11045880" y="4288680"/>
            <a:ext cx="4752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0" name="Rectangle 109"/>
          <p:cNvSpPr/>
          <p:nvPr/>
        </p:nvSpPr>
        <p:spPr>
          <a:xfrm>
            <a:off x="567000" y="453528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1" name="TextBox 110"/>
          <p:cNvSpPr/>
          <p:nvPr/>
        </p:nvSpPr>
        <p:spPr>
          <a:xfrm>
            <a:off x="567000" y="4626720"/>
            <a:ext cx="54860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554780"/>
                </a:solidFill>
                <a:latin typeface="Segoe UI"/>
              </a:rPr>
              <a:t>А Н А Л І Т И К А   С Е Г М Е Н Т 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2" name="Rectangle 111"/>
          <p:cNvSpPr/>
          <p:nvPr/>
        </p:nvSpPr>
        <p:spPr>
          <a:xfrm>
            <a:off x="56700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3" name="Rectangle 112"/>
          <p:cNvSpPr/>
          <p:nvPr/>
        </p:nvSpPr>
        <p:spPr>
          <a:xfrm>
            <a:off x="567000" y="4809600"/>
            <a:ext cx="1389600" cy="198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4" name="TextBox 113"/>
          <p:cNvSpPr/>
          <p:nvPr/>
        </p:nvSpPr>
        <p:spPr>
          <a:xfrm>
            <a:off x="6948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ПОЗИЦІЙ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5" name="TextBox 114"/>
          <p:cNvSpPr/>
          <p:nvPr/>
        </p:nvSpPr>
        <p:spPr>
          <a:xfrm>
            <a:off x="6948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554780"/>
                </a:solidFill>
                <a:latin typeface="Georgia"/>
              </a:rPr>
              <a:t>35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6" name="TextBox 115"/>
          <p:cNvSpPr/>
          <p:nvPr/>
        </p:nvSpPr>
        <p:spPr>
          <a:xfrm>
            <a:off x="69480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14 % каталогу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7" name="Rectangle 116"/>
          <p:cNvSpPr/>
          <p:nvPr/>
        </p:nvSpPr>
        <p:spPr>
          <a:xfrm>
            <a:off x="201168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8" name="Rectangle 117"/>
          <p:cNvSpPr/>
          <p:nvPr/>
        </p:nvSpPr>
        <p:spPr>
          <a:xfrm>
            <a:off x="2011680" y="4809600"/>
            <a:ext cx="1389600" cy="1980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9" name="TextBox 118"/>
          <p:cNvSpPr/>
          <p:nvPr/>
        </p:nvSpPr>
        <p:spPr>
          <a:xfrm>
            <a:off x="213984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МЕДІАННА ЦІНА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0" name="TextBox 119"/>
          <p:cNvSpPr/>
          <p:nvPr/>
        </p:nvSpPr>
        <p:spPr>
          <a:xfrm>
            <a:off x="213984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51a26"/>
                </a:solidFill>
                <a:latin typeface="Georgia"/>
              </a:rPr>
              <a:t>4 550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1" name="TextBox 120"/>
          <p:cNvSpPr/>
          <p:nvPr/>
        </p:nvSpPr>
        <p:spPr>
          <a:xfrm>
            <a:off x="213984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 за один ніж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2" name="Rectangle 121"/>
          <p:cNvSpPr/>
          <p:nvPr/>
        </p:nvSpPr>
        <p:spPr>
          <a:xfrm>
            <a:off x="345636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3" name="Rectangle 122"/>
          <p:cNvSpPr/>
          <p:nvPr/>
        </p:nvSpPr>
        <p:spPr>
          <a:xfrm>
            <a:off x="3456360" y="4809600"/>
            <a:ext cx="1389600" cy="198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4" name="TextBox 123"/>
          <p:cNvSpPr/>
          <p:nvPr/>
        </p:nvSpPr>
        <p:spPr>
          <a:xfrm>
            <a:off x="358452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ДІАПАЗОН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5" name="TextBox 124"/>
          <p:cNvSpPr/>
          <p:nvPr/>
        </p:nvSpPr>
        <p:spPr>
          <a:xfrm>
            <a:off x="358452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6b7282"/>
                </a:solidFill>
                <a:latin typeface="Georgia"/>
              </a:rPr>
              <a:t>2 016–7 640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6" name="TextBox 125"/>
          <p:cNvSpPr/>
          <p:nvPr/>
        </p:nvSpPr>
        <p:spPr>
          <a:xfrm>
            <a:off x="3584520" y="5349240"/>
            <a:ext cx="1188360" cy="11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грн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7" name="Rectangle 126"/>
          <p:cNvSpPr/>
          <p:nvPr/>
        </p:nvSpPr>
        <p:spPr>
          <a:xfrm>
            <a:off x="4901040" y="4809600"/>
            <a:ext cx="1389600" cy="804240"/>
          </a:xfrm>
          <a:prstGeom prst="rect">
            <a:avLst/>
          </a:prstGeom>
          <a:solidFill>
            <a:srgbClr val="faf9f6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8" name="Rectangle 127"/>
          <p:cNvSpPr/>
          <p:nvPr/>
        </p:nvSpPr>
        <p:spPr>
          <a:xfrm>
            <a:off x="4901040" y="4809600"/>
            <a:ext cx="1389600" cy="1980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9" name="TextBox 128"/>
          <p:cNvSpPr/>
          <p:nvPr/>
        </p:nvSpPr>
        <p:spPr>
          <a:xfrm>
            <a:off x="5029200" y="4919400"/>
            <a:ext cx="11883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БРЕНДІВ У СЕГМЕНТІ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0" name="TextBox 129"/>
          <p:cNvSpPr/>
          <p:nvPr/>
        </p:nvSpPr>
        <p:spPr>
          <a:xfrm>
            <a:off x="5029200" y="5065920"/>
            <a:ext cx="120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b253f"/>
                </a:solidFill>
                <a:latin typeface="Georgia"/>
              </a:rPr>
              <a:t>12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1" name="TextBox 130"/>
          <p:cNvSpPr/>
          <p:nvPr/>
        </p:nvSpPr>
        <p:spPr>
          <a:xfrm>
            <a:off x="5029200" y="5349240"/>
            <a:ext cx="1188360" cy="22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усі японського виробництва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2" name="Rectangle 131"/>
          <p:cNvSpPr/>
          <p:nvPr/>
        </p:nvSpPr>
        <p:spPr>
          <a:xfrm>
            <a:off x="627264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3" name="TextBox 132"/>
          <p:cNvSpPr/>
          <p:nvPr/>
        </p:nvSpPr>
        <p:spPr>
          <a:xfrm>
            <a:off x="6419160" y="4809600"/>
            <a:ext cx="201132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Х Т О   Т Р И М А Є   С Е Г М Е Н Т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4" name="TextBox 133"/>
          <p:cNvSpPr/>
          <p:nvPr/>
        </p:nvSpPr>
        <p:spPr>
          <a:xfrm>
            <a:off x="8229600" y="4809600"/>
            <a:ext cx="8226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5" name="Rounded Rectangle 134"/>
          <p:cNvSpPr/>
          <p:nvPr/>
        </p:nvSpPr>
        <p:spPr>
          <a:xfrm>
            <a:off x="6419160" y="49608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6" name="TextBox 135"/>
          <p:cNvSpPr/>
          <p:nvPr/>
        </p:nvSpPr>
        <p:spPr>
          <a:xfrm>
            <a:off x="6419160" y="49806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7" name="TextBox 136"/>
          <p:cNvSpPr/>
          <p:nvPr/>
        </p:nvSpPr>
        <p:spPr>
          <a:xfrm>
            <a:off x="6748200" y="495612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Tosa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8" name="Rectangle 137"/>
          <p:cNvSpPr/>
          <p:nvPr/>
        </p:nvSpPr>
        <p:spPr>
          <a:xfrm>
            <a:off x="7955280" y="4990680"/>
            <a:ext cx="73116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29" name="TextBox 138"/>
          <p:cNvSpPr/>
          <p:nvPr/>
        </p:nvSpPr>
        <p:spPr>
          <a:xfrm>
            <a:off x="8741520" y="495612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11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0" name="Rounded Rectangle 139"/>
          <p:cNvSpPr/>
          <p:nvPr/>
        </p:nvSpPr>
        <p:spPr>
          <a:xfrm>
            <a:off x="6419160" y="509400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1" name="TextBox 140"/>
          <p:cNvSpPr/>
          <p:nvPr/>
        </p:nvSpPr>
        <p:spPr>
          <a:xfrm>
            <a:off x="6419160" y="511380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2" name="TextBox 141"/>
          <p:cNvSpPr/>
          <p:nvPr/>
        </p:nvSpPr>
        <p:spPr>
          <a:xfrm>
            <a:off x="6748200" y="50896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KAI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3" name="Rectangle 142"/>
          <p:cNvSpPr/>
          <p:nvPr/>
        </p:nvSpPr>
        <p:spPr>
          <a:xfrm>
            <a:off x="7955280" y="5124240"/>
            <a:ext cx="53676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4" name="TextBox 143"/>
          <p:cNvSpPr/>
          <p:nvPr/>
        </p:nvSpPr>
        <p:spPr>
          <a:xfrm>
            <a:off x="8741520" y="50896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" name="Rounded Rectangle 144"/>
          <p:cNvSpPr/>
          <p:nvPr/>
        </p:nvSpPr>
        <p:spPr>
          <a:xfrm>
            <a:off x="6419160" y="522756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6" name="TextBox 145"/>
          <p:cNvSpPr/>
          <p:nvPr/>
        </p:nvSpPr>
        <p:spPr>
          <a:xfrm>
            <a:off x="6419160" y="524736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7" name="TextBox 146"/>
          <p:cNvSpPr/>
          <p:nvPr/>
        </p:nvSpPr>
        <p:spPr>
          <a:xfrm>
            <a:off x="6748200" y="522288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8" name="Rectangle 147"/>
          <p:cNvSpPr/>
          <p:nvPr/>
        </p:nvSpPr>
        <p:spPr>
          <a:xfrm>
            <a:off x="7955280" y="5257800"/>
            <a:ext cx="2124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9" name="TextBox 148"/>
          <p:cNvSpPr/>
          <p:nvPr/>
        </p:nvSpPr>
        <p:spPr>
          <a:xfrm>
            <a:off x="8741520" y="522288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0" name="Rounded Rectangle 149"/>
          <p:cNvSpPr/>
          <p:nvPr/>
        </p:nvSpPr>
        <p:spPr>
          <a:xfrm>
            <a:off x="6419160" y="536112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1" name="TextBox 150"/>
          <p:cNvSpPr/>
          <p:nvPr/>
        </p:nvSpPr>
        <p:spPr>
          <a:xfrm>
            <a:off x="6419160" y="538092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2" name="TextBox 151"/>
          <p:cNvSpPr/>
          <p:nvPr/>
        </p:nvSpPr>
        <p:spPr>
          <a:xfrm>
            <a:off x="6748200" y="535644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Fukamizu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3" name="Rectangle 152"/>
          <p:cNvSpPr/>
          <p:nvPr/>
        </p:nvSpPr>
        <p:spPr>
          <a:xfrm>
            <a:off x="7955280" y="5391360"/>
            <a:ext cx="1476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4" name="TextBox 153"/>
          <p:cNvSpPr/>
          <p:nvPr/>
        </p:nvSpPr>
        <p:spPr>
          <a:xfrm>
            <a:off x="8741520" y="535644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5" name="Rounded Rectangle 154"/>
          <p:cNvSpPr/>
          <p:nvPr/>
        </p:nvSpPr>
        <p:spPr>
          <a:xfrm>
            <a:off x="6419160" y="54946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6" name="TextBox 155"/>
          <p:cNvSpPr/>
          <p:nvPr/>
        </p:nvSpPr>
        <p:spPr>
          <a:xfrm>
            <a:off x="6419160" y="55144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7" name="TextBox 156"/>
          <p:cNvSpPr/>
          <p:nvPr/>
        </p:nvSpPr>
        <p:spPr>
          <a:xfrm>
            <a:off x="6748200" y="5490000"/>
            <a:ext cx="11700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Tomita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8" name="Rectangle 157"/>
          <p:cNvSpPr/>
          <p:nvPr/>
        </p:nvSpPr>
        <p:spPr>
          <a:xfrm>
            <a:off x="7955280" y="5524920"/>
            <a:ext cx="147600" cy="6552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0880" bIns="208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9" name="TextBox 158"/>
          <p:cNvSpPr/>
          <p:nvPr/>
        </p:nvSpPr>
        <p:spPr>
          <a:xfrm>
            <a:off x="8741520" y="5490000"/>
            <a:ext cx="31068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554780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0" name="TextBox 159"/>
          <p:cNvSpPr/>
          <p:nvPr/>
        </p:nvSpPr>
        <p:spPr>
          <a:xfrm>
            <a:off x="6419160" y="5660280"/>
            <a:ext cx="263304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35 позицій, 12 брендів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1" name="Rectangle 160"/>
          <p:cNvSpPr/>
          <p:nvPr/>
        </p:nvSpPr>
        <p:spPr>
          <a:xfrm>
            <a:off x="9180720" y="4773240"/>
            <a:ext cx="8640" cy="9140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2" name="TextBox 161"/>
          <p:cNvSpPr/>
          <p:nvPr/>
        </p:nvSpPr>
        <p:spPr>
          <a:xfrm>
            <a:off x="9326880" y="4809600"/>
            <a:ext cx="149940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Д Е   Ц Е   К У П И Т И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3" name="TextBox 162"/>
          <p:cNvSpPr/>
          <p:nvPr/>
        </p:nvSpPr>
        <p:spPr>
          <a:xfrm>
            <a:off x="10936080" y="4809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4" name="TextBox 163"/>
          <p:cNvSpPr/>
          <p:nvPr/>
        </p:nvSpPr>
        <p:spPr>
          <a:xfrm>
            <a:off x="9326880" y="495612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ROKS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5" name="TextBox 164"/>
          <p:cNvSpPr/>
          <p:nvPr/>
        </p:nvSpPr>
        <p:spPr>
          <a:xfrm>
            <a:off x="10881360" y="495612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6" name="TextBox 165"/>
          <p:cNvSpPr/>
          <p:nvPr/>
        </p:nvSpPr>
        <p:spPr>
          <a:xfrm>
            <a:off x="9326880" y="50896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ProfiMax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7" name="TextBox 166"/>
          <p:cNvSpPr/>
          <p:nvPr/>
        </p:nvSpPr>
        <p:spPr>
          <a:xfrm>
            <a:off x="10881360" y="50896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13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8" name="TextBox 167"/>
          <p:cNvSpPr/>
          <p:nvPr/>
        </p:nvSpPr>
        <p:spPr>
          <a:xfrm>
            <a:off x="9326880" y="522288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WildCat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9" name="TextBox 168"/>
          <p:cNvSpPr/>
          <p:nvPr/>
        </p:nvSpPr>
        <p:spPr>
          <a:xfrm>
            <a:off x="10881360" y="522288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0" name="TextBox 169"/>
          <p:cNvSpPr/>
          <p:nvPr/>
        </p:nvSpPr>
        <p:spPr>
          <a:xfrm>
            <a:off x="9326880" y="5356440"/>
            <a:ext cx="151740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1b253f"/>
                </a:solidFill>
                <a:latin typeface="Segoe UI"/>
              </a:rPr>
              <a:t>Sekator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1" name="TextBox 170"/>
          <p:cNvSpPr/>
          <p:nvPr/>
        </p:nvSpPr>
        <p:spPr>
          <a:xfrm>
            <a:off x="10881360" y="5356440"/>
            <a:ext cx="74952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6b7282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TextBox 171"/>
          <p:cNvSpPr/>
          <p:nvPr/>
        </p:nvSpPr>
        <p:spPr>
          <a:xfrm>
            <a:off x="9326880" y="5526720"/>
            <a:ext cx="23040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6b7282"/>
                </a:solidFill>
                <a:latin typeface="Segoe UI"/>
              </a:rPr>
              <a:t>усього 35 позицій у 4 магазинах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3" name="Rectangle 172"/>
          <p:cNvSpPr/>
          <p:nvPr/>
        </p:nvSpPr>
        <p:spPr>
          <a:xfrm>
            <a:off x="567000" y="581544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4" name="Rectangle 173"/>
          <p:cNvSpPr/>
          <p:nvPr/>
        </p:nvSpPr>
        <p:spPr>
          <a:xfrm>
            <a:off x="567000" y="5815440"/>
            <a:ext cx="822600" cy="1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5" name="TextBox 174"/>
          <p:cNvSpPr/>
          <p:nvPr/>
        </p:nvSpPr>
        <p:spPr>
          <a:xfrm>
            <a:off x="567000" y="5925240"/>
            <a:ext cx="365724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554780"/>
                </a:solidFill>
                <a:latin typeface="Segoe UI"/>
              </a:rPr>
              <a:t>Щ О   Ц Е   З А   С Е Г М Е Н Т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6" name="TextBox 175"/>
          <p:cNvSpPr/>
          <p:nvPr/>
        </p:nvSpPr>
        <p:spPr>
          <a:xfrm>
            <a:off x="567000" y="6108120"/>
            <a:ext cx="11063880" cy="29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159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7" name="TextBox 176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Каталог зібрано з карток товарів чотирьох магазинів: ProfiMax 139, ROKS 56, Sekator 40, WildCat 24. Suncraft, Kanetsune Seki, Miyabi, Mcusta Zanmai і Takeshi Saji продаються в Україні, але в цю вибірку не потрапили — вони в переписі.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8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9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0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71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172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Т А Л О Г   ·   С Е Г М Е Н Т А Ц І Я   З А   Т И П О М   Л Е З А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3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Три групи, які покривають 62 % каталогу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4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17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5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6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77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8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Той самий каталог у розрізі геометрії. Тип не визначає ціну — її визначає сталь.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9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0" name="Rectangle 13"/>
          <p:cNvSpPr/>
          <p:nvPr/>
        </p:nvSpPr>
        <p:spPr>
          <a:xfrm>
            <a:off x="567000" y="15544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1" name="Rectangle 14"/>
          <p:cNvSpPr/>
          <p:nvPr/>
        </p:nvSpPr>
        <p:spPr>
          <a:xfrm>
            <a:off x="567000" y="1554480"/>
            <a:ext cx="40680" cy="145044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2" name="TextBox 15"/>
          <p:cNvSpPr/>
          <p:nvPr/>
        </p:nvSpPr>
        <p:spPr>
          <a:xfrm>
            <a:off x="768240" y="16002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966e28"/>
                </a:solidFill>
                <a:latin typeface="Segoe UI"/>
              </a:rPr>
              <a:t>Шеф і гюто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3" name="TextBox 16"/>
          <p:cNvSpPr/>
          <p:nvPr/>
        </p:nvSpPr>
        <p:spPr>
          <a:xfrm>
            <a:off x="768240" y="1865520"/>
            <a:ext cx="1773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Робочий ніж кухні, 180–240 мм. Найширший тип і головний драйвер чека.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4" name="TextBox 17"/>
          <p:cNvSpPr/>
          <p:nvPr/>
        </p:nvSpPr>
        <p:spPr>
          <a:xfrm>
            <a:off x="7682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49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5" name="TextBox 18"/>
          <p:cNvSpPr/>
          <p:nvPr/>
        </p:nvSpPr>
        <p:spPr>
          <a:xfrm>
            <a:off x="7682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6" name="TextBox 19"/>
          <p:cNvSpPr/>
          <p:nvPr/>
        </p:nvSpPr>
        <p:spPr>
          <a:xfrm>
            <a:off x="1682640" y="23227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19 %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7" name="TextBox 20"/>
          <p:cNvSpPr/>
          <p:nvPr/>
        </p:nvSpPr>
        <p:spPr>
          <a:xfrm>
            <a:off x="1682640" y="25236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8" name="Rectangle 21"/>
          <p:cNvSpPr/>
          <p:nvPr/>
        </p:nvSpPr>
        <p:spPr>
          <a:xfrm>
            <a:off x="270648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89" name="Picture 22" descr="p_1e9b75169e1391ee.jpg"/>
          <p:cNvPicPr/>
          <p:nvPr/>
        </p:nvPicPr>
        <p:blipFill>
          <a:blip r:embed="rId2"/>
          <a:stretch/>
        </p:blipFill>
        <p:spPr>
          <a:xfrm>
            <a:off x="275220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190" name="Rounded Rectangle 23"/>
          <p:cNvSpPr/>
          <p:nvPr/>
        </p:nvSpPr>
        <p:spPr>
          <a:xfrm>
            <a:off x="2706480" y="27082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1" name="TextBox 24"/>
          <p:cNvSpPr/>
          <p:nvPr/>
        </p:nvSpPr>
        <p:spPr>
          <a:xfrm>
            <a:off x="2706480" y="27280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2" name="TextBox 25"/>
          <p:cNvSpPr/>
          <p:nvPr/>
        </p:nvSpPr>
        <p:spPr>
          <a:xfrm>
            <a:off x="3026520" y="27036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Satake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3" name="TextBox 26"/>
          <p:cNvSpPr/>
          <p:nvPr/>
        </p:nvSpPr>
        <p:spPr>
          <a:xfrm>
            <a:off x="270648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2 099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4" name="TextBox 27"/>
          <p:cNvSpPr/>
          <p:nvPr/>
        </p:nvSpPr>
        <p:spPr>
          <a:xfrm>
            <a:off x="340776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5" name="Rectangle 28"/>
          <p:cNvSpPr/>
          <p:nvPr/>
        </p:nvSpPr>
        <p:spPr>
          <a:xfrm>
            <a:off x="419400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196" name="Picture 29" descr="p_473f5deef0bed411.jpg"/>
          <p:cNvPicPr/>
          <p:nvPr/>
        </p:nvPicPr>
        <p:blipFill>
          <a:blip r:embed="rId3"/>
          <a:stretch/>
        </p:blipFill>
        <p:spPr>
          <a:xfrm>
            <a:off x="423972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197" name="Rounded Rectangle 30"/>
          <p:cNvSpPr/>
          <p:nvPr/>
        </p:nvSpPr>
        <p:spPr>
          <a:xfrm>
            <a:off x="4194000" y="27082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8" name="TextBox 31"/>
          <p:cNvSpPr/>
          <p:nvPr/>
        </p:nvSpPr>
        <p:spPr>
          <a:xfrm>
            <a:off x="4194000" y="27280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9" name="TextBox 32"/>
          <p:cNvSpPr/>
          <p:nvPr/>
        </p:nvSpPr>
        <p:spPr>
          <a:xfrm>
            <a:off x="4514040" y="27036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Tojiro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0" name="TextBox 33"/>
          <p:cNvSpPr/>
          <p:nvPr/>
        </p:nvSpPr>
        <p:spPr>
          <a:xfrm>
            <a:off x="419400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4 976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1" name="TextBox 34"/>
          <p:cNvSpPr/>
          <p:nvPr/>
        </p:nvSpPr>
        <p:spPr>
          <a:xfrm>
            <a:off x="489492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WildCat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2" name="Rectangle 35"/>
          <p:cNvSpPr/>
          <p:nvPr/>
        </p:nvSpPr>
        <p:spPr>
          <a:xfrm>
            <a:off x="568152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03" name="Picture 36" descr="p_d03a0981dd07d6a7.jpg"/>
          <p:cNvPicPr/>
          <p:nvPr/>
        </p:nvPicPr>
        <p:blipFill>
          <a:blip r:embed="rId4"/>
          <a:stretch/>
        </p:blipFill>
        <p:spPr>
          <a:xfrm>
            <a:off x="572724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04" name="Rounded Rectangle 37"/>
          <p:cNvSpPr/>
          <p:nvPr/>
        </p:nvSpPr>
        <p:spPr>
          <a:xfrm>
            <a:off x="5681520" y="27082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5" name="TextBox 38"/>
          <p:cNvSpPr/>
          <p:nvPr/>
        </p:nvSpPr>
        <p:spPr>
          <a:xfrm>
            <a:off x="5681520" y="27280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6" name="TextBox 39"/>
          <p:cNvSpPr/>
          <p:nvPr/>
        </p:nvSpPr>
        <p:spPr>
          <a:xfrm>
            <a:off x="6001560" y="27036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7" name="TextBox 40"/>
          <p:cNvSpPr/>
          <p:nvPr/>
        </p:nvSpPr>
        <p:spPr>
          <a:xfrm>
            <a:off x="568152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7 804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8" name="TextBox 41"/>
          <p:cNvSpPr/>
          <p:nvPr/>
        </p:nvSpPr>
        <p:spPr>
          <a:xfrm>
            <a:off x="638244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9" name="Rectangle 42"/>
          <p:cNvSpPr/>
          <p:nvPr/>
        </p:nvSpPr>
        <p:spPr>
          <a:xfrm>
            <a:off x="716904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10" name="Picture 43" descr="p_6db8946fa46b361f.jpg"/>
          <p:cNvPicPr/>
          <p:nvPr/>
        </p:nvPicPr>
        <p:blipFill>
          <a:blip r:embed="rId5"/>
          <a:stretch/>
        </p:blipFill>
        <p:spPr>
          <a:xfrm>
            <a:off x="721476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11" name="Rounded Rectangle 44"/>
          <p:cNvSpPr/>
          <p:nvPr/>
        </p:nvSpPr>
        <p:spPr>
          <a:xfrm>
            <a:off x="7169040" y="27082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2" name="TextBox 45"/>
          <p:cNvSpPr/>
          <p:nvPr/>
        </p:nvSpPr>
        <p:spPr>
          <a:xfrm>
            <a:off x="7169040" y="27280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3" name="TextBox 46"/>
          <p:cNvSpPr/>
          <p:nvPr/>
        </p:nvSpPr>
        <p:spPr>
          <a:xfrm>
            <a:off x="7489080" y="27036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4" name="TextBox 47"/>
          <p:cNvSpPr/>
          <p:nvPr/>
        </p:nvSpPr>
        <p:spPr>
          <a:xfrm>
            <a:off x="716904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9 520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5" name="TextBox 48"/>
          <p:cNvSpPr/>
          <p:nvPr/>
        </p:nvSpPr>
        <p:spPr>
          <a:xfrm>
            <a:off x="786996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6" name="Rectangle 49"/>
          <p:cNvSpPr/>
          <p:nvPr/>
        </p:nvSpPr>
        <p:spPr>
          <a:xfrm>
            <a:off x="865620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17" name="Picture 50" descr="p_9fa68cd1cb784dc9.jpg"/>
          <p:cNvPicPr/>
          <p:nvPr/>
        </p:nvPicPr>
        <p:blipFill>
          <a:blip r:embed="rId6"/>
          <a:stretch/>
        </p:blipFill>
        <p:spPr>
          <a:xfrm>
            <a:off x="870192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18" name="Rounded Rectangle 51"/>
          <p:cNvSpPr/>
          <p:nvPr/>
        </p:nvSpPr>
        <p:spPr>
          <a:xfrm>
            <a:off x="8656200" y="27082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19" name="TextBox 52"/>
          <p:cNvSpPr/>
          <p:nvPr/>
        </p:nvSpPr>
        <p:spPr>
          <a:xfrm>
            <a:off x="8656200" y="27280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0" name="TextBox 53"/>
          <p:cNvSpPr/>
          <p:nvPr/>
        </p:nvSpPr>
        <p:spPr>
          <a:xfrm>
            <a:off x="8976240" y="27036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Takamura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1" name="TextBox 54"/>
          <p:cNvSpPr/>
          <p:nvPr/>
        </p:nvSpPr>
        <p:spPr>
          <a:xfrm>
            <a:off x="865620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10 200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2" name="TextBox 55"/>
          <p:cNvSpPr/>
          <p:nvPr/>
        </p:nvSpPr>
        <p:spPr>
          <a:xfrm>
            <a:off x="935748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3" name="Rectangle 56"/>
          <p:cNvSpPr/>
          <p:nvPr/>
        </p:nvSpPr>
        <p:spPr>
          <a:xfrm>
            <a:off x="10143720" y="16092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24" name="Picture 57" descr="p_ec0998d321800d8c.jpg"/>
          <p:cNvPicPr/>
          <p:nvPr/>
        </p:nvPicPr>
        <p:blipFill>
          <a:blip r:embed="rId7"/>
          <a:stretch/>
        </p:blipFill>
        <p:spPr>
          <a:xfrm>
            <a:off x="10189440" y="16459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25" name="Rounded Rectangle 58"/>
          <p:cNvSpPr/>
          <p:nvPr/>
        </p:nvSpPr>
        <p:spPr>
          <a:xfrm>
            <a:off x="10143720" y="27082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26" name="TextBox 59"/>
          <p:cNvSpPr/>
          <p:nvPr/>
        </p:nvSpPr>
        <p:spPr>
          <a:xfrm>
            <a:off x="10143720" y="27280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7" name="TextBox 60"/>
          <p:cNvSpPr/>
          <p:nvPr/>
        </p:nvSpPr>
        <p:spPr>
          <a:xfrm>
            <a:off x="10463760" y="27036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966e28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8" name="TextBox 61"/>
          <p:cNvSpPr/>
          <p:nvPr/>
        </p:nvSpPr>
        <p:spPr>
          <a:xfrm>
            <a:off x="10143720" y="28407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23 990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9" name="TextBox 62"/>
          <p:cNvSpPr/>
          <p:nvPr/>
        </p:nvSpPr>
        <p:spPr>
          <a:xfrm>
            <a:off x="10844640" y="28544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0" name="Rectangle 63"/>
          <p:cNvSpPr/>
          <p:nvPr/>
        </p:nvSpPr>
        <p:spPr>
          <a:xfrm>
            <a:off x="567000" y="31150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1" name="Rectangle 64"/>
          <p:cNvSpPr/>
          <p:nvPr/>
        </p:nvSpPr>
        <p:spPr>
          <a:xfrm>
            <a:off x="567000" y="3115080"/>
            <a:ext cx="40680" cy="1450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2" name="TextBox 65"/>
          <p:cNvSpPr/>
          <p:nvPr/>
        </p:nvSpPr>
        <p:spPr>
          <a:xfrm>
            <a:off x="768240" y="31608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2a7f86"/>
                </a:solidFill>
                <a:latin typeface="Segoe UI"/>
              </a:rPr>
              <a:t>Сантоку, петті, накірі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3" name="TextBox 66"/>
          <p:cNvSpPr/>
          <p:nvPr/>
        </p:nvSpPr>
        <p:spPr>
          <a:xfrm>
            <a:off x="768240" y="3426120"/>
            <a:ext cx="1773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Домашня трійця. Єдина група, де японська геометрія вже стала масовою.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4" name="TextBox 67"/>
          <p:cNvSpPr/>
          <p:nvPr/>
        </p:nvSpPr>
        <p:spPr>
          <a:xfrm>
            <a:off x="768240" y="38833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77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5" name="TextBox 68"/>
          <p:cNvSpPr/>
          <p:nvPr/>
        </p:nvSpPr>
        <p:spPr>
          <a:xfrm>
            <a:off x="768240" y="40842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6" name="TextBox 69"/>
          <p:cNvSpPr/>
          <p:nvPr/>
        </p:nvSpPr>
        <p:spPr>
          <a:xfrm>
            <a:off x="1682640" y="388332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30 %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7" name="TextBox 70"/>
          <p:cNvSpPr/>
          <p:nvPr/>
        </p:nvSpPr>
        <p:spPr>
          <a:xfrm>
            <a:off x="1682640" y="40842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8" name="Rectangle 71"/>
          <p:cNvSpPr/>
          <p:nvPr/>
        </p:nvSpPr>
        <p:spPr>
          <a:xfrm>
            <a:off x="270648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39" name="Picture 72" descr="p_659d9c2451d28c2c.jpg"/>
          <p:cNvPicPr/>
          <p:nvPr/>
        </p:nvPicPr>
        <p:blipFill>
          <a:blip r:embed="rId8"/>
          <a:stretch/>
        </p:blipFill>
        <p:spPr>
          <a:xfrm>
            <a:off x="275220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40" name="Rounded Rectangle 73"/>
          <p:cNvSpPr/>
          <p:nvPr/>
        </p:nvSpPr>
        <p:spPr>
          <a:xfrm>
            <a:off x="2706480" y="4268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1" name="TextBox 74"/>
          <p:cNvSpPr/>
          <p:nvPr/>
        </p:nvSpPr>
        <p:spPr>
          <a:xfrm>
            <a:off x="2706480" y="4288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2" name="TextBox 75"/>
          <p:cNvSpPr/>
          <p:nvPr/>
        </p:nvSpPr>
        <p:spPr>
          <a:xfrm>
            <a:off x="3026520" y="42642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Kasumi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3" name="TextBox 76"/>
          <p:cNvSpPr/>
          <p:nvPr/>
        </p:nvSpPr>
        <p:spPr>
          <a:xfrm>
            <a:off x="270648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2 390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4" name="TextBox 77"/>
          <p:cNvSpPr/>
          <p:nvPr/>
        </p:nvSpPr>
        <p:spPr>
          <a:xfrm>
            <a:off x="340776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5" name="Rectangle 78"/>
          <p:cNvSpPr/>
          <p:nvPr/>
        </p:nvSpPr>
        <p:spPr>
          <a:xfrm>
            <a:off x="419400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46" name="Picture 79" descr="p_78ee12a56d72c3fb.jpg"/>
          <p:cNvPicPr/>
          <p:nvPr/>
        </p:nvPicPr>
        <p:blipFill>
          <a:blip r:embed="rId9"/>
          <a:stretch/>
        </p:blipFill>
        <p:spPr>
          <a:xfrm>
            <a:off x="423972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47" name="Rounded Rectangle 80"/>
          <p:cNvSpPr/>
          <p:nvPr/>
        </p:nvSpPr>
        <p:spPr>
          <a:xfrm>
            <a:off x="4194000" y="4268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8" name="TextBox 81"/>
          <p:cNvSpPr/>
          <p:nvPr/>
        </p:nvSpPr>
        <p:spPr>
          <a:xfrm>
            <a:off x="4194000" y="4288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9" name="TextBox 82"/>
          <p:cNvSpPr/>
          <p:nvPr/>
        </p:nvSpPr>
        <p:spPr>
          <a:xfrm>
            <a:off x="4514040" y="42642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Masahiro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0" name="TextBox 83"/>
          <p:cNvSpPr/>
          <p:nvPr/>
        </p:nvSpPr>
        <p:spPr>
          <a:xfrm>
            <a:off x="419400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1" name="TextBox 84"/>
          <p:cNvSpPr/>
          <p:nvPr/>
        </p:nvSpPr>
        <p:spPr>
          <a:xfrm>
            <a:off x="489492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2" name="Rectangle 85"/>
          <p:cNvSpPr/>
          <p:nvPr/>
        </p:nvSpPr>
        <p:spPr>
          <a:xfrm>
            <a:off x="568152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53" name="Picture 86" descr="p_48c6410523451b10.jpg"/>
          <p:cNvPicPr/>
          <p:nvPr/>
        </p:nvPicPr>
        <p:blipFill>
          <a:blip r:embed="rId10"/>
          <a:stretch/>
        </p:blipFill>
        <p:spPr>
          <a:xfrm>
            <a:off x="572724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54" name="Rounded Rectangle 87"/>
          <p:cNvSpPr/>
          <p:nvPr/>
        </p:nvSpPr>
        <p:spPr>
          <a:xfrm>
            <a:off x="5681520" y="4268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55" name="TextBox 88"/>
          <p:cNvSpPr/>
          <p:nvPr/>
        </p:nvSpPr>
        <p:spPr>
          <a:xfrm>
            <a:off x="5681520" y="4288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6" name="TextBox 89"/>
          <p:cNvSpPr/>
          <p:nvPr/>
        </p:nvSpPr>
        <p:spPr>
          <a:xfrm>
            <a:off x="6001560" y="42642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Yaxell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7" name="TextBox 90"/>
          <p:cNvSpPr/>
          <p:nvPr/>
        </p:nvSpPr>
        <p:spPr>
          <a:xfrm>
            <a:off x="568152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5 538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8" name="TextBox 91"/>
          <p:cNvSpPr/>
          <p:nvPr/>
        </p:nvSpPr>
        <p:spPr>
          <a:xfrm>
            <a:off x="638244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9" name="Rectangle 92"/>
          <p:cNvSpPr/>
          <p:nvPr/>
        </p:nvSpPr>
        <p:spPr>
          <a:xfrm>
            <a:off x="716904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60" name="Picture 93" descr="p_09aa50f94c84532c.jpg"/>
          <p:cNvPicPr/>
          <p:nvPr/>
        </p:nvPicPr>
        <p:blipFill>
          <a:blip r:embed="rId11"/>
          <a:stretch/>
        </p:blipFill>
        <p:spPr>
          <a:xfrm>
            <a:off x="721476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61" name="Rounded Rectangle 94"/>
          <p:cNvSpPr/>
          <p:nvPr/>
        </p:nvSpPr>
        <p:spPr>
          <a:xfrm>
            <a:off x="7169040" y="4268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2" name="TextBox 95"/>
          <p:cNvSpPr/>
          <p:nvPr/>
        </p:nvSpPr>
        <p:spPr>
          <a:xfrm>
            <a:off x="7169040" y="4288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3" name="TextBox 96"/>
          <p:cNvSpPr/>
          <p:nvPr/>
        </p:nvSpPr>
        <p:spPr>
          <a:xfrm>
            <a:off x="7489080" y="42642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Motokane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4" name="TextBox 97"/>
          <p:cNvSpPr/>
          <p:nvPr/>
        </p:nvSpPr>
        <p:spPr>
          <a:xfrm>
            <a:off x="716904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7 290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5" name="TextBox 98"/>
          <p:cNvSpPr/>
          <p:nvPr/>
        </p:nvSpPr>
        <p:spPr>
          <a:xfrm>
            <a:off x="786996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6" name="Rectangle 99"/>
          <p:cNvSpPr/>
          <p:nvPr/>
        </p:nvSpPr>
        <p:spPr>
          <a:xfrm>
            <a:off x="865620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67" name="Picture 100" descr="p_4cdc8787d7fb92e0.jpg"/>
          <p:cNvPicPr/>
          <p:nvPr/>
        </p:nvPicPr>
        <p:blipFill>
          <a:blip r:embed="rId12"/>
          <a:stretch/>
        </p:blipFill>
        <p:spPr>
          <a:xfrm>
            <a:off x="870192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68" name="Rounded Rectangle 101"/>
          <p:cNvSpPr/>
          <p:nvPr/>
        </p:nvSpPr>
        <p:spPr>
          <a:xfrm>
            <a:off x="8656200" y="4268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69" name="TextBox 102"/>
          <p:cNvSpPr/>
          <p:nvPr/>
        </p:nvSpPr>
        <p:spPr>
          <a:xfrm>
            <a:off x="8656200" y="4288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0" name="TextBox 103"/>
          <p:cNvSpPr/>
          <p:nvPr/>
        </p:nvSpPr>
        <p:spPr>
          <a:xfrm>
            <a:off x="8976240" y="42642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1" name="TextBox 104"/>
          <p:cNvSpPr/>
          <p:nvPr/>
        </p:nvSpPr>
        <p:spPr>
          <a:xfrm>
            <a:off x="865620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8 610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2" name="TextBox 105"/>
          <p:cNvSpPr/>
          <p:nvPr/>
        </p:nvSpPr>
        <p:spPr>
          <a:xfrm>
            <a:off x="935748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3" name="Rectangle 106"/>
          <p:cNvSpPr/>
          <p:nvPr/>
        </p:nvSpPr>
        <p:spPr>
          <a:xfrm>
            <a:off x="10143720" y="31698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74" name="Picture 107" descr="p_c978dfe0a4d4ebbc.jpg"/>
          <p:cNvPicPr/>
          <p:nvPr/>
        </p:nvPicPr>
        <p:blipFill>
          <a:blip r:embed="rId13"/>
          <a:stretch/>
        </p:blipFill>
        <p:spPr>
          <a:xfrm>
            <a:off x="10189440" y="32065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75" name="Rounded Rectangle 108"/>
          <p:cNvSpPr/>
          <p:nvPr/>
        </p:nvSpPr>
        <p:spPr>
          <a:xfrm>
            <a:off x="10143720" y="42688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76" name="TextBox 109"/>
          <p:cNvSpPr/>
          <p:nvPr/>
        </p:nvSpPr>
        <p:spPr>
          <a:xfrm>
            <a:off x="10143720" y="42886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7" name="TextBox 110"/>
          <p:cNvSpPr/>
          <p:nvPr/>
        </p:nvSpPr>
        <p:spPr>
          <a:xfrm>
            <a:off x="10463760" y="42642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2a7f86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8" name="TextBox 111"/>
          <p:cNvSpPr/>
          <p:nvPr/>
        </p:nvSpPr>
        <p:spPr>
          <a:xfrm>
            <a:off x="10143720" y="44013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11 790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9" name="TextBox 112"/>
          <p:cNvSpPr/>
          <p:nvPr/>
        </p:nvSpPr>
        <p:spPr>
          <a:xfrm>
            <a:off x="10844640" y="44150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0" name="Rectangle 113"/>
          <p:cNvSpPr/>
          <p:nvPr/>
        </p:nvSpPr>
        <p:spPr>
          <a:xfrm>
            <a:off x="567000" y="4675680"/>
            <a:ext cx="11063880" cy="145044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1" name="Rectangle 114"/>
          <p:cNvSpPr/>
          <p:nvPr/>
        </p:nvSpPr>
        <p:spPr>
          <a:xfrm>
            <a:off x="567000" y="4675680"/>
            <a:ext cx="40680" cy="145044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2" name="TextBox 115"/>
          <p:cNvSpPr/>
          <p:nvPr/>
        </p:nvSpPr>
        <p:spPr>
          <a:xfrm>
            <a:off x="768240" y="4721400"/>
            <a:ext cx="242280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20" spc="-1" strike="noStrike">
                <a:solidFill>
                  <a:srgbClr val="554780"/>
                </a:solidFill>
                <a:latin typeface="Segoe UI"/>
              </a:rPr>
              <a:t>Односторонні ножі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3" name="TextBox 116"/>
          <p:cNvSpPr/>
          <p:nvPr/>
        </p:nvSpPr>
        <p:spPr>
          <a:xfrm>
            <a:off x="768240" y="4986360"/>
            <a:ext cx="17737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4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Професійний інструмент суші-кухні. Єдина геометрія без європейського замінника.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4" name="TextBox 117"/>
          <p:cNvSpPr/>
          <p:nvPr/>
        </p:nvSpPr>
        <p:spPr>
          <a:xfrm>
            <a:off x="768240" y="54435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35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5" name="TextBox 118"/>
          <p:cNvSpPr/>
          <p:nvPr/>
        </p:nvSpPr>
        <p:spPr>
          <a:xfrm>
            <a:off x="768240" y="56448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позицій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6" name="TextBox 119"/>
          <p:cNvSpPr/>
          <p:nvPr/>
        </p:nvSpPr>
        <p:spPr>
          <a:xfrm>
            <a:off x="1682640" y="5443560"/>
            <a:ext cx="8226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151a26"/>
                </a:solidFill>
                <a:latin typeface="Georgia"/>
              </a:rPr>
              <a:t>14 %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7" name="TextBox 120"/>
          <p:cNvSpPr/>
          <p:nvPr/>
        </p:nvSpPr>
        <p:spPr>
          <a:xfrm>
            <a:off x="1682640" y="5644800"/>
            <a:ext cx="84096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каталогу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8" name="Rectangle 121"/>
          <p:cNvSpPr/>
          <p:nvPr/>
        </p:nvSpPr>
        <p:spPr>
          <a:xfrm>
            <a:off x="270648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89" name="Picture 122" descr="p_dfe0fd546d2fd218.jpg"/>
          <p:cNvPicPr/>
          <p:nvPr/>
        </p:nvPicPr>
        <p:blipFill>
          <a:blip r:embed="rId14"/>
          <a:stretch/>
        </p:blipFill>
        <p:spPr>
          <a:xfrm>
            <a:off x="275220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90" name="Rounded Rectangle 123"/>
          <p:cNvSpPr/>
          <p:nvPr/>
        </p:nvSpPr>
        <p:spPr>
          <a:xfrm>
            <a:off x="2706480" y="5829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1" name="TextBox 124"/>
          <p:cNvSpPr/>
          <p:nvPr/>
        </p:nvSpPr>
        <p:spPr>
          <a:xfrm>
            <a:off x="2706480" y="5849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2" name="TextBox 125"/>
          <p:cNvSpPr/>
          <p:nvPr/>
        </p:nvSpPr>
        <p:spPr>
          <a:xfrm>
            <a:off x="3026520" y="58248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KAI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3" name="TextBox 126"/>
          <p:cNvSpPr/>
          <p:nvPr/>
        </p:nvSpPr>
        <p:spPr>
          <a:xfrm>
            <a:off x="270648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2 660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4" name="TextBox 127"/>
          <p:cNvSpPr/>
          <p:nvPr/>
        </p:nvSpPr>
        <p:spPr>
          <a:xfrm>
            <a:off x="34077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5" name="Rectangle 128"/>
          <p:cNvSpPr/>
          <p:nvPr/>
        </p:nvSpPr>
        <p:spPr>
          <a:xfrm>
            <a:off x="419400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296" name="Picture 129" descr="p_0fda7a2e570781ad.jpg"/>
          <p:cNvPicPr/>
          <p:nvPr/>
        </p:nvPicPr>
        <p:blipFill>
          <a:blip r:embed="rId15"/>
          <a:stretch/>
        </p:blipFill>
        <p:spPr>
          <a:xfrm>
            <a:off x="423972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297" name="Rounded Rectangle 130"/>
          <p:cNvSpPr/>
          <p:nvPr/>
        </p:nvSpPr>
        <p:spPr>
          <a:xfrm>
            <a:off x="4194000" y="5829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98" name="TextBox 131"/>
          <p:cNvSpPr/>
          <p:nvPr/>
        </p:nvSpPr>
        <p:spPr>
          <a:xfrm>
            <a:off x="4194000" y="5849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9" name="TextBox 132"/>
          <p:cNvSpPr/>
          <p:nvPr/>
        </p:nvSpPr>
        <p:spPr>
          <a:xfrm>
            <a:off x="4514040" y="58248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0" name="TextBox 133"/>
          <p:cNvSpPr/>
          <p:nvPr/>
        </p:nvSpPr>
        <p:spPr>
          <a:xfrm>
            <a:off x="419400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3 500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1" name="TextBox 134"/>
          <p:cNvSpPr/>
          <p:nvPr/>
        </p:nvSpPr>
        <p:spPr>
          <a:xfrm>
            <a:off x="489492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2" name="Rectangle 135"/>
          <p:cNvSpPr/>
          <p:nvPr/>
        </p:nvSpPr>
        <p:spPr>
          <a:xfrm>
            <a:off x="568152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03" name="Picture 136" descr="p_c08f7843de669b91.jpg"/>
          <p:cNvPicPr/>
          <p:nvPr/>
        </p:nvPicPr>
        <p:blipFill>
          <a:blip r:embed="rId16"/>
          <a:stretch/>
        </p:blipFill>
        <p:spPr>
          <a:xfrm>
            <a:off x="572724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304" name="Rounded Rectangle 137"/>
          <p:cNvSpPr/>
          <p:nvPr/>
        </p:nvSpPr>
        <p:spPr>
          <a:xfrm>
            <a:off x="5681520" y="5829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05" name="TextBox 138"/>
          <p:cNvSpPr/>
          <p:nvPr/>
        </p:nvSpPr>
        <p:spPr>
          <a:xfrm>
            <a:off x="5681520" y="5849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6" name="TextBox 139"/>
          <p:cNvSpPr/>
          <p:nvPr/>
        </p:nvSpPr>
        <p:spPr>
          <a:xfrm>
            <a:off x="6001560" y="58248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Fukamizu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7" name="TextBox 140"/>
          <p:cNvSpPr/>
          <p:nvPr/>
        </p:nvSpPr>
        <p:spPr>
          <a:xfrm>
            <a:off x="568152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4 451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8" name="TextBox 141"/>
          <p:cNvSpPr/>
          <p:nvPr/>
        </p:nvSpPr>
        <p:spPr>
          <a:xfrm>
            <a:off x="63824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9" name="Rectangle 142"/>
          <p:cNvSpPr/>
          <p:nvPr/>
        </p:nvSpPr>
        <p:spPr>
          <a:xfrm>
            <a:off x="716904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10" name="Picture 143" descr="p_71096e4f8ef3e786.jpg"/>
          <p:cNvPicPr/>
          <p:nvPr/>
        </p:nvPicPr>
        <p:blipFill>
          <a:blip r:embed="rId17"/>
          <a:stretch/>
        </p:blipFill>
        <p:spPr>
          <a:xfrm>
            <a:off x="721476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311" name="Rounded Rectangle 144"/>
          <p:cNvSpPr/>
          <p:nvPr/>
        </p:nvSpPr>
        <p:spPr>
          <a:xfrm>
            <a:off x="7169040" y="5829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2" name="TextBox 145"/>
          <p:cNvSpPr/>
          <p:nvPr/>
        </p:nvSpPr>
        <p:spPr>
          <a:xfrm>
            <a:off x="7169040" y="5849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3" name="TextBox 146"/>
          <p:cNvSpPr/>
          <p:nvPr/>
        </p:nvSpPr>
        <p:spPr>
          <a:xfrm>
            <a:off x="7489080" y="58248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Tosa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4" name="TextBox 147"/>
          <p:cNvSpPr/>
          <p:nvPr/>
        </p:nvSpPr>
        <p:spPr>
          <a:xfrm>
            <a:off x="716904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4 850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5" name="TextBox 148"/>
          <p:cNvSpPr/>
          <p:nvPr/>
        </p:nvSpPr>
        <p:spPr>
          <a:xfrm>
            <a:off x="786996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6" name="Rectangle 149"/>
          <p:cNvSpPr/>
          <p:nvPr/>
        </p:nvSpPr>
        <p:spPr>
          <a:xfrm>
            <a:off x="865620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17" name="Picture 150" descr="p_ddb6aa1a4f2eca6d.jpg"/>
          <p:cNvPicPr/>
          <p:nvPr/>
        </p:nvPicPr>
        <p:blipFill>
          <a:blip r:embed="rId18"/>
          <a:stretch/>
        </p:blipFill>
        <p:spPr>
          <a:xfrm>
            <a:off x="870192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318" name="Rounded Rectangle 151"/>
          <p:cNvSpPr/>
          <p:nvPr/>
        </p:nvSpPr>
        <p:spPr>
          <a:xfrm>
            <a:off x="8656200" y="5829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19" name="TextBox 152"/>
          <p:cNvSpPr/>
          <p:nvPr/>
        </p:nvSpPr>
        <p:spPr>
          <a:xfrm>
            <a:off x="8656200" y="5849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0" name="TextBox 153"/>
          <p:cNvSpPr/>
          <p:nvPr/>
        </p:nvSpPr>
        <p:spPr>
          <a:xfrm>
            <a:off x="8976240" y="58248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HONMAMON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1" name="TextBox 154"/>
          <p:cNvSpPr/>
          <p:nvPr/>
        </p:nvSpPr>
        <p:spPr>
          <a:xfrm>
            <a:off x="865620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5 490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2" name="TextBox 155"/>
          <p:cNvSpPr/>
          <p:nvPr/>
        </p:nvSpPr>
        <p:spPr>
          <a:xfrm>
            <a:off x="935748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Sekator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3" name="Rectangle 156"/>
          <p:cNvSpPr/>
          <p:nvPr/>
        </p:nvSpPr>
        <p:spPr>
          <a:xfrm>
            <a:off x="10143720" y="4730400"/>
            <a:ext cx="1377360" cy="1066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24" name="Picture 157" descr="p_06a35b300ea2f07d.jpg"/>
          <p:cNvPicPr/>
          <p:nvPr/>
        </p:nvPicPr>
        <p:blipFill>
          <a:blip r:embed="rId19"/>
          <a:stretch/>
        </p:blipFill>
        <p:spPr>
          <a:xfrm>
            <a:off x="10189440" y="4767120"/>
            <a:ext cx="1285920" cy="993240"/>
          </a:xfrm>
          <a:prstGeom prst="rect">
            <a:avLst/>
          </a:prstGeom>
          <a:ln w="0">
            <a:noFill/>
          </a:ln>
        </p:spPr>
      </p:pic>
      <p:sp>
        <p:nvSpPr>
          <p:cNvPr id="2325" name="Rounded Rectangle 158"/>
          <p:cNvSpPr/>
          <p:nvPr/>
        </p:nvSpPr>
        <p:spPr>
          <a:xfrm>
            <a:off x="10143720" y="5829480"/>
            <a:ext cx="273960" cy="123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26" name="TextBox 159"/>
          <p:cNvSpPr/>
          <p:nvPr/>
        </p:nvSpPr>
        <p:spPr>
          <a:xfrm>
            <a:off x="10143720" y="5849280"/>
            <a:ext cx="273960" cy="8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4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7" name="TextBox 160"/>
          <p:cNvSpPr/>
          <p:nvPr/>
        </p:nvSpPr>
        <p:spPr>
          <a:xfrm>
            <a:off x="10463760" y="5824800"/>
            <a:ext cx="10389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554780"/>
                </a:solidFill>
                <a:latin typeface="Segoe UI"/>
              </a:rPr>
              <a:t>Sakai Takayuki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8" name="TextBox 161"/>
          <p:cNvSpPr/>
          <p:nvPr/>
        </p:nvSpPr>
        <p:spPr>
          <a:xfrm>
            <a:off x="10143720" y="5961960"/>
            <a:ext cx="755640" cy="13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60" spc="-1" strike="noStrike">
                <a:solidFill>
                  <a:srgbClr val="151a26"/>
                </a:solidFill>
                <a:latin typeface="Georgia"/>
              </a:rPr>
              <a:t>7 460 грн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9" name="TextBox 162"/>
          <p:cNvSpPr/>
          <p:nvPr/>
        </p:nvSpPr>
        <p:spPr>
          <a:xfrm>
            <a:off x="10844640" y="5975640"/>
            <a:ext cx="676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0" name="TextBox 163"/>
          <p:cNvSpPr/>
          <p:nvPr/>
        </p:nvSpPr>
        <p:spPr>
          <a:xfrm>
            <a:off x="603360" y="63640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Позиції поза трьома групами (слайсери, хлібні, бунка, фунаюкі, набори) становлять решту каталогу. Каталог — 259 ножів із чотирьох магазинів; повний перелік марок країни — у переписі на слайді 19.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3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33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Ц І Н О В И Й   К О Р И Д О Р   Б Р Е Н Д І В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6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Де кожен із п'ятдесяти брендів стоїть на ціновій шкалі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18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3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Смуга — спостережений діапазон роздрібних цін марки в Україні, риска — середина діапазону. Усі марки японського виробництва.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3" name="Rectangle 13"/>
          <p:cNvSpPr/>
          <p:nvPr/>
        </p:nvSpPr>
        <p:spPr>
          <a:xfrm>
            <a:off x="228600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4" name="TextBox 14"/>
          <p:cNvSpPr/>
          <p:nvPr/>
        </p:nvSpPr>
        <p:spPr>
          <a:xfrm>
            <a:off x="19753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5" name="Rectangle 15"/>
          <p:cNvSpPr/>
          <p:nvPr/>
        </p:nvSpPr>
        <p:spPr>
          <a:xfrm>
            <a:off x="29062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6" name="TextBox 16"/>
          <p:cNvSpPr/>
          <p:nvPr/>
        </p:nvSpPr>
        <p:spPr>
          <a:xfrm>
            <a:off x="259524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7" name="Rectangle 17"/>
          <p:cNvSpPr/>
          <p:nvPr/>
        </p:nvSpPr>
        <p:spPr>
          <a:xfrm>
            <a:off x="35859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8" name="TextBox 18"/>
          <p:cNvSpPr/>
          <p:nvPr/>
        </p:nvSpPr>
        <p:spPr>
          <a:xfrm>
            <a:off x="32749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9" name="Rectangle 19"/>
          <p:cNvSpPr/>
          <p:nvPr/>
        </p:nvSpPr>
        <p:spPr>
          <a:xfrm>
            <a:off x="42058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0" name="TextBox 20"/>
          <p:cNvSpPr/>
          <p:nvPr/>
        </p:nvSpPr>
        <p:spPr>
          <a:xfrm>
            <a:off x="389484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TextBox 21"/>
          <p:cNvSpPr/>
          <p:nvPr/>
        </p:nvSpPr>
        <p:spPr>
          <a:xfrm>
            <a:off x="4791600" y="1536120"/>
            <a:ext cx="1115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ДІАПАЗОН,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2" name="TextBox 22"/>
          <p:cNvSpPr/>
          <p:nvPr/>
        </p:nvSpPr>
        <p:spPr>
          <a:xfrm>
            <a:off x="567000" y="17373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Sekiryu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3" name="Rounded Rectangle 23"/>
          <p:cNvSpPr/>
          <p:nvPr/>
        </p:nvSpPr>
        <p:spPr>
          <a:xfrm>
            <a:off x="2343600" y="1783080"/>
            <a:ext cx="2206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4" name="TextBox 24"/>
          <p:cNvSpPr/>
          <p:nvPr/>
        </p:nvSpPr>
        <p:spPr>
          <a:xfrm>
            <a:off x="4736520" y="17373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1 107 – 1 638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5" name="TextBox 25"/>
          <p:cNvSpPr/>
          <p:nvPr/>
        </p:nvSpPr>
        <p:spPr>
          <a:xfrm>
            <a:off x="567000" y="19065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Fuji Cutlery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6" name="Rounded Rectangle 26"/>
          <p:cNvSpPr/>
          <p:nvPr/>
        </p:nvSpPr>
        <p:spPr>
          <a:xfrm>
            <a:off x="2384280" y="1952280"/>
            <a:ext cx="4924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7" name="Rectangle 27"/>
          <p:cNvSpPr/>
          <p:nvPr/>
        </p:nvSpPr>
        <p:spPr>
          <a:xfrm>
            <a:off x="2605320" y="193032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8" name="Rectangle 28"/>
          <p:cNvSpPr/>
          <p:nvPr/>
        </p:nvSpPr>
        <p:spPr>
          <a:xfrm>
            <a:off x="2621520" y="19375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9" name="TextBox 29"/>
          <p:cNvSpPr/>
          <p:nvPr/>
        </p:nvSpPr>
        <p:spPr>
          <a:xfrm>
            <a:off x="4736520" y="19065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1 190 – 2 850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0" name="TextBox 30"/>
          <p:cNvSpPr/>
          <p:nvPr/>
        </p:nvSpPr>
        <p:spPr>
          <a:xfrm>
            <a:off x="567000" y="20757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Kanetsune Seki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1" name="Rounded Rectangle 31"/>
          <p:cNvSpPr/>
          <p:nvPr/>
        </p:nvSpPr>
        <p:spPr>
          <a:xfrm>
            <a:off x="2084760" y="2121480"/>
            <a:ext cx="20217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2" name="Rectangle 32"/>
          <p:cNvSpPr/>
          <p:nvPr/>
        </p:nvSpPr>
        <p:spPr>
          <a:xfrm>
            <a:off x="2635560" y="209952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3" name="Rectangle 33"/>
          <p:cNvSpPr/>
          <p:nvPr/>
        </p:nvSpPr>
        <p:spPr>
          <a:xfrm>
            <a:off x="2652120" y="21067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4" name="TextBox 34"/>
          <p:cNvSpPr/>
          <p:nvPr/>
        </p:nvSpPr>
        <p:spPr>
          <a:xfrm>
            <a:off x="4736520" y="20757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150 – 25 184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5" name="TextBox 35"/>
          <p:cNvSpPr/>
          <p:nvPr/>
        </p:nvSpPr>
        <p:spPr>
          <a:xfrm>
            <a:off x="567000" y="22449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Sakai Ichiji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6" name="Oval 36"/>
          <p:cNvSpPr/>
          <p:nvPr/>
        </p:nvSpPr>
        <p:spPr>
          <a:xfrm>
            <a:off x="2626920" y="225936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7" name="Oval 37"/>
          <p:cNvSpPr/>
          <p:nvPr/>
        </p:nvSpPr>
        <p:spPr>
          <a:xfrm>
            <a:off x="2638800" y="22712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8" name="TextBox 38"/>
          <p:cNvSpPr/>
          <p:nvPr/>
        </p:nvSpPr>
        <p:spPr>
          <a:xfrm>
            <a:off x="4736520" y="22449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1 999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9" name="TextBox 39"/>
          <p:cNvSpPr/>
          <p:nvPr/>
        </p:nvSpPr>
        <p:spPr>
          <a:xfrm>
            <a:off x="567000" y="24141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Inoguchi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0" name="Rounded Rectangle 40"/>
          <p:cNvSpPr/>
          <p:nvPr/>
        </p:nvSpPr>
        <p:spPr>
          <a:xfrm>
            <a:off x="2579040" y="2459880"/>
            <a:ext cx="23076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1" name="TextBox 41"/>
          <p:cNvSpPr/>
          <p:nvPr/>
        </p:nvSpPr>
        <p:spPr>
          <a:xfrm>
            <a:off x="4736520" y="24141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1 680 – 2 530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2" name="TextBox 42"/>
          <p:cNvSpPr/>
          <p:nvPr/>
        </p:nvSpPr>
        <p:spPr>
          <a:xfrm>
            <a:off x="567000" y="25833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Higonokami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3" name="Oval 43"/>
          <p:cNvSpPr/>
          <p:nvPr/>
        </p:nvSpPr>
        <p:spPr>
          <a:xfrm>
            <a:off x="2651760" y="259776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4" name="Oval 44"/>
          <p:cNvSpPr/>
          <p:nvPr/>
        </p:nvSpPr>
        <p:spPr>
          <a:xfrm>
            <a:off x="2663640" y="26096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5" name="TextBox 45"/>
          <p:cNvSpPr/>
          <p:nvPr/>
        </p:nvSpPr>
        <p:spPr>
          <a:xfrm>
            <a:off x="4736520" y="25833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2 090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6" name="TextBox 46"/>
          <p:cNvSpPr/>
          <p:nvPr/>
        </p:nvSpPr>
        <p:spPr>
          <a:xfrm>
            <a:off x="567000" y="27522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Motokane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7" name="Rounded Rectangle 47"/>
          <p:cNvSpPr/>
          <p:nvPr/>
        </p:nvSpPr>
        <p:spPr>
          <a:xfrm>
            <a:off x="2702160" y="2797920"/>
            <a:ext cx="14328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78" name="TextBox 48"/>
          <p:cNvSpPr/>
          <p:nvPr/>
        </p:nvSpPr>
        <p:spPr>
          <a:xfrm>
            <a:off x="4736520" y="27522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2 090 – 2 695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9" name="TextBox 49"/>
          <p:cNvSpPr/>
          <p:nvPr/>
        </p:nvSpPr>
        <p:spPr>
          <a:xfrm>
            <a:off x="567000" y="29214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Takanori Izumi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0" name="Rounded Rectangle 50"/>
          <p:cNvSpPr/>
          <p:nvPr/>
        </p:nvSpPr>
        <p:spPr>
          <a:xfrm>
            <a:off x="2671560" y="2967120"/>
            <a:ext cx="2491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1" name="TextBox 51"/>
          <p:cNvSpPr/>
          <p:nvPr/>
        </p:nvSpPr>
        <p:spPr>
          <a:xfrm>
            <a:off x="4736520" y="29214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1 980 – 3 080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2" name="TextBox 52"/>
          <p:cNvSpPr/>
          <p:nvPr/>
        </p:nvSpPr>
        <p:spPr>
          <a:xfrm>
            <a:off x="567000" y="30906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Hanakumagawa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3" name="Rounded Rectangle 53"/>
          <p:cNvSpPr/>
          <p:nvPr/>
        </p:nvSpPr>
        <p:spPr>
          <a:xfrm>
            <a:off x="2777760" y="3136320"/>
            <a:ext cx="871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4" name="TextBox 54"/>
          <p:cNvSpPr/>
          <p:nvPr/>
        </p:nvSpPr>
        <p:spPr>
          <a:xfrm>
            <a:off x="4736520" y="30906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2 390 – 2 790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5" name="TextBox 55"/>
          <p:cNvSpPr/>
          <p:nvPr/>
        </p:nvSpPr>
        <p:spPr>
          <a:xfrm>
            <a:off x="567000" y="32598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KAI Sekimagoroku Imayo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6" name="Oval 56"/>
          <p:cNvSpPr/>
          <p:nvPr/>
        </p:nvSpPr>
        <p:spPr>
          <a:xfrm>
            <a:off x="2796480" y="327456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7" name="Oval 57"/>
          <p:cNvSpPr/>
          <p:nvPr/>
        </p:nvSpPr>
        <p:spPr>
          <a:xfrm>
            <a:off x="2808360" y="3286440"/>
            <a:ext cx="76320" cy="76320"/>
          </a:xfrm>
          <a:prstGeom prst="ellipse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8" name="TextBox 58"/>
          <p:cNvSpPr/>
          <p:nvPr/>
        </p:nvSpPr>
        <p:spPr>
          <a:xfrm>
            <a:off x="4736520" y="32598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2 700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9" name="TextBox 59"/>
          <p:cNvSpPr/>
          <p:nvPr/>
        </p:nvSpPr>
        <p:spPr>
          <a:xfrm>
            <a:off x="567000" y="34290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Misono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0" name="Rounded Rectangle 60"/>
          <p:cNvSpPr/>
          <p:nvPr/>
        </p:nvSpPr>
        <p:spPr>
          <a:xfrm>
            <a:off x="2582280" y="3474720"/>
            <a:ext cx="61092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1" name="Rectangle 61"/>
          <p:cNvSpPr/>
          <p:nvPr/>
        </p:nvSpPr>
        <p:spPr>
          <a:xfrm>
            <a:off x="2862360" y="345276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2" name="Rectangle 62"/>
          <p:cNvSpPr/>
          <p:nvPr/>
        </p:nvSpPr>
        <p:spPr>
          <a:xfrm>
            <a:off x="2878560" y="34599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3" name="TextBox 63"/>
          <p:cNvSpPr/>
          <p:nvPr/>
        </p:nvSpPr>
        <p:spPr>
          <a:xfrm>
            <a:off x="4736520" y="34290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1 690 – 4 990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4" name="TextBox 64"/>
          <p:cNvSpPr/>
          <p:nvPr/>
        </p:nvSpPr>
        <p:spPr>
          <a:xfrm>
            <a:off x="567000" y="35982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Masahiro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5" name="Rounded Rectangle 65"/>
          <p:cNvSpPr/>
          <p:nvPr/>
        </p:nvSpPr>
        <p:spPr>
          <a:xfrm>
            <a:off x="2780280" y="3643920"/>
            <a:ext cx="3020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6" name="TextBox 66"/>
          <p:cNvSpPr/>
          <p:nvPr/>
        </p:nvSpPr>
        <p:spPr>
          <a:xfrm>
            <a:off x="4736520" y="35982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2 400 – 4 100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7" name="TextBox 67"/>
          <p:cNvSpPr/>
          <p:nvPr/>
        </p:nvSpPr>
        <p:spPr>
          <a:xfrm>
            <a:off x="567000" y="37674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8" name="Rounded Rectangle 68"/>
          <p:cNvSpPr/>
          <p:nvPr/>
        </p:nvSpPr>
        <p:spPr>
          <a:xfrm>
            <a:off x="2084760" y="3813120"/>
            <a:ext cx="178308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9" name="Rectangle 69"/>
          <p:cNvSpPr/>
          <p:nvPr/>
        </p:nvSpPr>
        <p:spPr>
          <a:xfrm>
            <a:off x="2907000" y="379116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0" name="Rectangle 70"/>
          <p:cNvSpPr/>
          <p:nvPr/>
        </p:nvSpPr>
        <p:spPr>
          <a:xfrm>
            <a:off x="2923560" y="37983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1" name="TextBox 71"/>
          <p:cNvSpPr/>
          <p:nvPr/>
        </p:nvSpPr>
        <p:spPr>
          <a:xfrm>
            <a:off x="4736520" y="37674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599 – 16 499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2" name="TextBox 72"/>
          <p:cNvSpPr/>
          <p:nvPr/>
        </p:nvSpPr>
        <p:spPr>
          <a:xfrm>
            <a:off x="567000" y="39366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Kanetaka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3" name="Oval 73"/>
          <p:cNvSpPr/>
          <p:nvPr/>
        </p:nvSpPr>
        <p:spPr>
          <a:xfrm>
            <a:off x="2946240" y="395100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4" name="Oval 74"/>
          <p:cNvSpPr/>
          <p:nvPr/>
        </p:nvSpPr>
        <p:spPr>
          <a:xfrm>
            <a:off x="2958120" y="39628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5" name="TextBox 75"/>
          <p:cNvSpPr/>
          <p:nvPr/>
        </p:nvSpPr>
        <p:spPr>
          <a:xfrm>
            <a:off x="4736520" y="39366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3 520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6" name="TextBox 76"/>
          <p:cNvSpPr/>
          <p:nvPr/>
        </p:nvSpPr>
        <p:spPr>
          <a:xfrm>
            <a:off x="567000" y="41058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Hisashige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7" name="Oval 77"/>
          <p:cNvSpPr/>
          <p:nvPr/>
        </p:nvSpPr>
        <p:spPr>
          <a:xfrm>
            <a:off x="2946240" y="412020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8" name="Oval 78"/>
          <p:cNvSpPr/>
          <p:nvPr/>
        </p:nvSpPr>
        <p:spPr>
          <a:xfrm>
            <a:off x="2958120" y="41320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9" name="TextBox 79"/>
          <p:cNvSpPr/>
          <p:nvPr/>
        </p:nvSpPr>
        <p:spPr>
          <a:xfrm>
            <a:off x="4736520" y="41058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3 520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0" name="TextBox 80"/>
          <p:cNvSpPr/>
          <p:nvPr/>
        </p:nvSpPr>
        <p:spPr>
          <a:xfrm>
            <a:off x="567000" y="42746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Yamawaki Hamono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1" name="Oval 81"/>
          <p:cNvSpPr/>
          <p:nvPr/>
        </p:nvSpPr>
        <p:spPr>
          <a:xfrm>
            <a:off x="2947320" y="428940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2" name="Oval 82"/>
          <p:cNvSpPr/>
          <p:nvPr/>
        </p:nvSpPr>
        <p:spPr>
          <a:xfrm>
            <a:off x="2959200" y="430128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3" name="TextBox 83"/>
          <p:cNvSpPr/>
          <p:nvPr/>
        </p:nvSpPr>
        <p:spPr>
          <a:xfrm>
            <a:off x="4736520" y="42746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3 528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4" name="TextBox 84"/>
          <p:cNvSpPr/>
          <p:nvPr/>
        </p:nvSpPr>
        <p:spPr>
          <a:xfrm>
            <a:off x="567000" y="44438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Fukamizu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5" name="Rounded Rectangle 85"/>
          <p:cNvSpPr/>
          <p:nvPr/>
        </p:nvSpPr>
        <p:spPr>
          <a:xfrm>
            <a:off x="2827800" y="4489560"/>
            <a:ext cx="34920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6" name="Rectangle 86"/>
          <p:cNvSpPr/>
          <p:nvPr/>
        </p:nvSpPr>
        <p:spPr>
          <a:xfrm>
            <a:off x="2976840" y="446760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7" name="Rectangle 87"/>
          <p:cNvSpPr/>
          <p:nvPr/>
        </p:nvSpPr>
        <p:spPr>
          <a:xfrm>
            <a:off x="2993400" y="44751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8" name="TextBox 88"/>
          <p:cNvSpPr/>
          <p:nvPr/>
        </p:nvSpPr>
        <p:spPr>
          <a:xfrm>
            <a:off x="4736520" y="44438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2 610 – 4 850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9" name="TextBox 89"/>
          <p:cNvSpPr/>
          <p:nvPr/>
        </p:nvSpPr>
        <p:spPr>
          <a:xfrm>
            <a:off x="567000" y="46130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0" name="Rounded Rectangle 90"/>
          <p:cNvSpPr/>
          <p:nvPr/>
        </p:nvSpPr>
        <p:spPr>
          <a:xfrm>
            <a:off x="2280600" y="4658760"/>
            <a:ext cx="15483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1" name="Rectangle 91"/>
          <p:cNvSpPr/>
          <p:nvPr/>
        </p:nvSpPr>
        <p:spPr>
          <a:xfrm>
            <a:off x="3029040" y="463680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2" name="Rectangle 92"/>
          <p:cNvSpPr/>
          <p:nvPr/>
        </p:nvSpPr>
        <p:spPr>
          <a:xfrm>
            <a:off x="3045600" y="46443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3" name="TextBox 93"/>
          <p:cNvSpPr/>
          <p:nvPr/>
        </p:nvSpPr>
        <p:spPr>
          <a:xfrm>
            <a:off x="4736520" y="46130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990 – 15 390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4" name="TextBox 94"/>
          <p:cNvSpPr/>
          <p:nvPr/>
        </p:nvSpPr>
        <p:spPr>
          <a:xfrm>
            <a:off x="567000" y="47822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Satake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5" name="Rounded Rectangle 95"/>
          <p:cNvSpPr/>
          <p:nvPr/>
        </p:nvSpPr>
        <p:spPr>
          <a:xfrm>
            <a:off x="2193840" y="4827960"/>
            <a:ext cx="17679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6" name="Rectangle 96"/>
          <p:cNvSpPr/>
          <p:nvPr/>
        </p:nvSpPr>
        <p:spPr>
          <a:xfrm>
            <a:off x="3052080" y="480600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7" name="Rectangle 97"/>
          <p:cNvSpPr/>
          <p:nvPr/>
        </p:nvSpPr>
        <p:spPr>
          <a:xfrm>
            <a:off x="3068640" y="48135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28" name="TextBox 98"/>
          <p:cNvSpPr/>
          <p:nvPr/>
        </p:nvSpPr>
        <p:spPr>
          <a:xfrm>
            <a:off x="4736520" y="47822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849 – 19 473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9" name="TextBox 99"/>
          <p:cNvSpPr/>
          <p:nvPr/>
        </p:nvSpPr>
        <p:spPr>
          <a:xfrm>
            <a:off x="567000" y="49514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Kasumi / Sumikama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0" name="Rounded Rectangle 100"/>
          <p:cNvSpPr/>
          <p:nvPr/>
        </p:nvSpPr>
        <p:spPr>
          <a:xfrm>
            <a:off x="2379600" y="4997160"/>
            <a:ext cx="14432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1" name="Rectangle 101"/>
          <p:cNvSpPr/>
          <p:nvPr/>
        </p:nvSpPr>
        <p:spPr>
          <a:xfrm>
            <a:off x="3075840" y="497520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2" name="Rectangle 102"/>
          <p:cNvSpPr/>
          <p:nvPr/>
        </p:nvSpPr>
        <p:spPr>
          <a:xfrm>
            <a:off x="3092400" y="4982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3" name="TextBox 103"/>
          <p:cNvSpPr/>
          <p:nvPr/>
        </p:nvSpPr>
        <p:spPr>
          <a:xfrm>
            <a:off x="4736520" y="49514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1 180 – 15 229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4" name="TextBox 104"/>
          <p:cNvSpPr/>
          <p:nvPr/>
        </p:nvSpPr>
        <p:spPr>
          <a:xfrm>
            <a:off x="567000" y="51206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KAI / Shun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5" name="Rounded Rectangle 105"/>
          <p:cNvSpPr/>
          <p:nvPr/>
        </p:nvSpPr>
        <p:spPr>
          <a:xfrm>
            <a:off x="2105280" y="5166360"/>
            <a:ext cx="20606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6" name="Rectangle 106"/>
          <p:cNvSpPr/>
          <p:nvPr/>
        </p:nvSpPr>
        <p:spPr>
          <a:xfrm>
            <a:off x="3110400" y="514440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7" name="Rectangle 107"/>
          <p:cNvSpPr/>
          <p:nvPr/>
        </p:nvSpPr>
        <p:spPr>
          <a:xfrm>
            <a:off x="3126600" y="51516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8" name="TextBox 108"/>
          <p:cNvSpPr/>
          <p:nvPr/>
        </p:nvSpPr>
        <p:spPr>
          <a:xfrm>
            <a:off x="4736520" y="51206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726 – 27 970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9" name="TextBox 109"/>
          <p:cNvSpPr/>
          <p:nvPr/>
        </p:nvSpPr>
        <p:spPr>
          <a:xfrm>
            <a:off x="567000" y="52898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Kiyokane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0" name="Oval 110"/>
          <p:cNvSpPr/>
          <p:nvPr/>
        </p:nvSpPr>
        <p:spPr>
          <a:xfrm>
            <a:off x="3096000" y="530460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1" name="Oval 111"/>
          <p:cNvSpPr/>
          <p:nvPr/>
        </p:nvSpPr>
        <p:spPr>
          <a:xfrm>
            <a:off x="3107880" y="5316480"/>
            <a:ext cx="76320" cy="76320"/>
          </a:xfrm>
          <a:prstGeom prst="ellipse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2" name="TextBox 112"/>
          <p:cNvSpPr/>
          <p:nvPr/>
        </p:nvSpPr>
        <p:spPr>
          <a:xfrm>
            <a:off x="4736520" y="52898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4 590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3" name="TextBox 113"/>
          <p:cNvSpPr/>
          <p:nvPr/>
        </p:nvSpPr>
        <p:spPr>
          <a:xfrm>
            <a:off x="567000" y="54590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Tomita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4" name="Rounded Rectangle 114"/>
          <p:cNvSpPr/>
          <p:nvPr/>
        </p:nvSpPr>
        <p:spPr>
          <a:xfrm>
            <a:off x="2945160" y="5504760"/>
            <a:ext cx="40572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5" name="Rectangle 115"/>
          <p:cNvSpPr/>
          <p:nvPr/>
        </p:nvSpPr>
        <p:spPr>
          <a:xfrm>
            <a:off x="3122640" y="548280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6" name="Rectangle 116"/>
          <p:cNvSpPr/>
          <p:nvPr/>
        </p:nvSpPr>
        <p:spPr>
          <a:xfrm>
            <a:off x="3139200" y="54900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7" name="TextBox 117"/>
          <p:cNvSpPr/>
          <p:nvPr/>
        </p:nvSpPr>
        <p:spPr>
          <a:xfrm>
            <a:off x="4736520" y="54590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3 215 – 6 600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8" name="TextBox 118"/>
          <p:cNvSpPr/>
          <p:nvPr/>
        </p:nvSpPr>
        <p:spPr>
          <a:xfrm>
            <a:off x="567000" y="56282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Suncraft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9" name="Rounded Rectangle 119"/>
          <p:cNvSpPr/>
          <p:nvPr/>
        </p:nvSpPr>
        <p:spPr>
          <a:xfrm>
            <a:off x="2388600" y="5673960"/>
            <a:ext cx="155916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0" name="Rectangle 120"/>
          <p:cNvSpPr/>
          <p:nvPr/>
        </p:nvSpPr>
        <p:spPr>
          <a:xfrm>
            <a:off x="3142800" y="565200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1" name="Rectangle 121"/>
          <p:cNvSpPr/>
          <p:nvPr/>
        </p:nvSpPr>
        <p:spPr>
          <a:xfrm>
            <a:off x="3159000" y="56592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2" name="TextBox 122"/>
          <p:cNvSpPr/>
          <p:nvPr/>
        </p:nvSpPr>
        <p:spPr>
          <a:xfrm>
            <a:off x="4736520" y="56282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1 199 – 18 999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3" name="TextBox 123"/>
          <p:cNvSpPr/>
          <p:nvPr/>
        </p:nvSpPr>
        <p:spPr>
          <a:xfrm>
            <a:off x="567000" y="57974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Yoshihiro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4" name="Rounded Rectangle 124"/>
          <p:cNvSpPr/>
          <p:nvPr/>
        </p:nvSpPr>
        <p:spPr>
          <a:xfrm>
            <a:off x="3010680" y="5843160"/>
            <a:ext cx="352800" cy="38160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5" name="Rectangle 125"/>
          <p:cNvSpPr/>
          <p:nvPr/>
        </p:nvSpPr>
        <p:spPr>
          <a:xfrm>
            <a:off x="3161520" y="582120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6" name="Rectangle 126"/>
          <p:cNvSpPr/>
          <p:nvPr/>
        </p:nvSpPr>
        <p:spPr>
          <a:xfrm>
            <a:off x="3178080" y="5828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7" name="TextBox 127"/>
          <p:cNvSpPr/>
          <p:nvPr/>
        </p:nvSpPr>
        <p:spPr>
          <a:xfrm>
            <a:off x="4736520" y="57974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3 609 – 6 747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8" name="Rectangle 128"/>
          <p:cNvSpPr/>
          <p:nvPr/>
        </p:nvSpPr>
        <p:spPr>
          <a:xfrm>
            <a:off x="80103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59" name="TextBox 129"/>
          <p:cNvSpPr/>
          <p:nvPr/>
        </p:nvSpPr>
        <p:spPr>
          <a:xfrm>
            <a:off x="76993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0" name="Rectangle 130"/>
          <p:cNvSpPr/>
          <p:nvPr/>
        </p:nvSpPr>
        <p:spPr>
          <a:xfrm>
            <a:off x="86302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1" name="TextBox 131"/>
          <p:cNvSpPr/>
          <p:nvPr/>
        </p:nvSpPr>
        <p:spPr>
          <a:xfrm>
            <a:off x="831960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2" name="Rectangle 132"/>
          <p:cNvSpPr/>
          <p:nvPr/>
        </p:nvSpPr>
        <p:spPr>
          <a:xfrm>
            <a:off x="930996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3" name="TextBox 133"/>
          <p:cNvSpPr/>
          <p:nvPr/>
        </p:nvSpPr>
        <p:spPr>
          <a:xfrm>
            <a:off x="899892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10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4" name="Rectangle 134"/>
          <p:cNvSpPr/>
          <p:nvPr/>
        </p:nvSpPr>
        <p:spPr>
          <a:xfrm>
            <a:off x="9929880" y="1700640"/>
            <a:ext cx="5040" cy="43340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5" name="TextBox 135"/>
          <p:cNvSpPr/>
          <p:nvPr/>
        </p:nvSpPr>
        <p:spPr>
          <a:xfrm>
            <a:off x="9619200" y="1536120"/>
            <a:ext cx="62136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30 тис.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6" name="TextBox 136"/>
          <p:cNvSpPr/>
          <p:nvPr/>
        </p:nvSpPr>
        <p:spPr>
          <a:xfrm>
            <a:off x="10515600" y="1536120"/>
            <a:ext cx="1115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ДІАПАЗОН,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7" name="TextBox 137"/>
          <p:cNvSpPr/>
          <p:nvPr/>
        </p:nvSpPr>
        <p:spPr>
          <a:xfrm>
            <a:off x="6291000" y="17373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Tosa / Tosauchi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8" name="Rounded Rectangle 138"/>
          <p:cNvSpPr/>
          <p:nvPr/>
        </p:nvSpPr>
        <p:spPr>
          <a:xfrm>
            <a:off x="8616960" y="1783080"/>
            <a:ext cx="694800" cy="38160"/>
          </a:xfrm>
          <a:prstGeom prst="roundRect">
            <a:avLst>
              <a:gd name="adj" fmla="val 50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9" name="Rectangle 139"/>
          <p:cNvSpPr/>
          <p:nvPr/>
        </p:nvSpPr>
        <p:spPr>
          <a:xfrm>
            <a:off x="8938800" y="176112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0" name="Rectangle 140"/>
          <p:cNvSpPr/>
          <p:nvPr/>
        </p:nvSpPr>
        <p:spPr>
          <a:xfrm>
            <a:off x="8955360" y="17683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1" name="TextBox 141"/>
          <p:cNvSpPr/>
          <p:nvPr/>
        </p:nvSpPr>
        <p:spPr>
          <a:xfrm>
            <a:off x="10460880" y="17373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2 929 – 10 035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2" name="TextBox 142"/>
          <p:cNvSpPr/>
          <p:nvPr/>
        </p:nvSpPr>
        <p:spPr>
          <a:xfrm>
            <a:off x="6291000" y="19065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Global (Yoshikin)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3" name="Rounded Rectangle 143"/>
          <p:cNvSpPr/>
          <p:nvPr/>
        </p:nvSpPr>
        <p:spPr>
          <a:xfrm>
            <a:off x="8553600" y="1952280"/>
            <a:ext cx="91260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4" name="Rectangle 144"/>
          <p:cNvSpPr/>
          <p:nvPr/>
        </p:nvSpPr>
        <p:spPr>
          <a:xfrm>
            <a:off x="8984520" y="193032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5" name="Rectangle 145"/>
          <p:cNvSpPr/>
          <p:nvPr/>
        </p:nvSpPr>
        <p:spPr>
          <a:xfrm>
            <a:off x="9000720" y="193752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6" name="TextBox 146"/>
          <p:cNvSpPr/>
          <p:nvPr/>
        </p:nvSpPr>
        <p:spPr>
          <a:xfrm>
            <a:off x="10460880" y="19065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2 618 – 13 195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7" name="TextBox 147"/>
          <p:cNvSpPr/>
          <p:nvPr/>
        </p:nvSpPr>
        <p:spPr>
          <a:xfrm>
            <a:off x="6291000" y="20757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Tadafusa / Ohishi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8" name="Oval 148"/>
          <p:cNvSpPr/>
          <p:nvPr/>
        </p:nvSpPr>
        <p:spPr>
          <a:xfrm>
            <a:off x="8961120" y="209016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9" name="Oval 149"/>
          <p:cNvSpPr/>
          <p:nvPr/>
        </p:nvSpPr>
        <p:spPr>
          <a:xfrm>
            <a:off x="8973000" y="210204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0" name="TextBox 150"/>
          <p:cNvSpPr/>
          <p:nvPr/>
        </p:nvSpPr>
        <p:spPr>
          <a:xfrm>
            <a:off x="10460880" y="20757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5 891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1" name="TextBox 151"/>
          <p:cNvSpPr/>
          <p:nvPr/>
        </p:nvSpPr>
        <p:spPr>
          <a:xfrm>
            <a:off x="6291000" y="22449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Seto Iseya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2" name="Rounded Rectangle 152"/>
          <p:cNvSpPr/>
          <p:nvPr/>
        </p:nvSpPr>
        <p:spPr>
          <a:xfrm>
            <a:off x="8972640" y="2290680"/>
            <a:ext cx="9828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3" name="TextBox 153"/>
          <p:cNvSpPr/>
          <p:nvPr/>
        </p:nvSpPr>
        <p:spPr>
          <a:xfrm>
            <a:off x="10460880" y="22449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5 500 – 6 550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4" name="TextBox 154"/>
          <p:cNvSpPr/>
          <p:nvPr/>
        </p:nvSpPr>
        <p:spPr>
          <a:xfrm>
            <a:off x="6291000" y="24141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Shimomura Kihan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5" name="Oval 155"/>
          <p:cNvSpPr/>
          <p:nvPr/>
        </p:nvSpPr>
        <p:spPr>
          <a:xfrm>
            <a:off x="8984160" y="242856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6" name="Oval 156"/>
          <p:cNvSpPr/>
          <p:nvPr/>
        </p:nvSpPr>
        <p:spPr>
          <a:xfrm>
            <a:off x="8996400" y="244044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7" name="TextBox 157"/>
          <p:cNvSpPr/>
          <p:nvPr/>
        </p:nvSpPr>
        <p:spPr>
          <a:xfrm>
            <a:off x="10460880" y="24141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6 140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8" name="TextBox 158"/>
          <p:cNvSpPr/>
          <p:nvPr/>
        </p:nvSpPr>
        <p:spPr>
          <a:xfrm>
            <a:off x="6291000" y="258336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Sakai Yoshiharu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9" name="Oval 159"/>
          <p:cNvSpPr/>
          <p:nvPr/>
        </p:nvSpPr>
        <p:spPr>
          <a:xfrm>
            <a:off x="9006120" y="259776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0" name="Oval 160"/>
          <p:cNvSpPr/>
          <p:nvPr/>
        </p:nvSpPr>
        <p:spPr>
          <a:xfrm>
            <a:off x="9018000" y="26096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1" name="TextBox 161"/>
          <p:cNvSpPr/>
          <p:nvPr/>
        </p:nvSpPr>
        <p:spPr>
          <a:xfrm>
            <a:off x="10460880" y="258336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6 380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2" name="TextBox 162"/>
          <p:cNvSpPr/>
          <p:nvPr/>
        </p:nvSpPr>
        <p:spPr>
          <a:xfrm>
            <a:off x="6291000" y="27522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Sakai Haruhiko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3" name="Oval 163"/>
          <p:cNvSpPr/>
          <p:nvPr/>
        </p:nvSpPr>
        <p:spPr>
          <a:xfrm>
            <a:off x="9061560" y="276696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4" name="Oval 164"/>
          <p:cNvSpPr/>
          <p:nvPr/>
        </p:nvSpPr>
        <p:spPr>
          <a:xfrm>
            <a:off x="9073440" y="2778840"/>
            <a:ext cx="76320" cy="76320"/>
          </a:xfrm>
          <a:prstGeom prst="ellipse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5" name="TextBox 165"/>
          <p:cNvSpPr/>
          <p:nvPr/>
        </p:nvSpPr>
        <p:spPr>
          <a:xfrm>
            <a:off x="10460880" y="27522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7 040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6" name="TextBox 166"/>
          <p:cNvSpPr/>
          <p:nvPr/>
        </p:nvSpPr>
        <p:spPr>
          <a:xfrm>
            <a:off x="6291000" y="29214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Gyokucho / Kamisaku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7" name="Oval 167"/>
          <p:cNvSpPr/>
          <p:nvPr/>
        </p:nvSpPr>
        <p:spPr>
          <a:xfrm>
            <a:off x="9082080" y="293616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8" name="Oval 168"/>
          <p:cNvSpPr/>
          <p:nvPr/>
        </p:nvSpPr>
        <p:spPr>
          <a:xfrm>
            <a:off x="9093960" y="2948040"/>
            <a:ext cx="76320" cy="76320"/>
          </a:xfrm>
          <a:prstGeom prst="ellipse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9" name="TextBox 169"/>
          <p:cNvSpPr/>
          <p:nvPr/>
        </p:nvSpPr>
        <p:spPr>
          <a:xfrm>
            <a:off x="10460880" y="29214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7 300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0" name="Rectangle 170"/>
          <p:cNvSpPr/>
          <p:nvPr/>
        </p:nvSpPr>
        <p:spPr>
          <a:xfrm>
            <a:off x="6236280" y="3065040"/>
            <a:ext cx="5486040" cy="16884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1" name="TextBox 171"/>
          <p:cNvSpPr/>
          <p:nvPr/>
        </p:nvSpPr>
        <p:spPr>
          <a:xfrm>
            <a:off x="6291000" y="30906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b42e3a"/>
                </a:solidFill>
                <a:latin typeface="Segoe UI"/>
              </a:rPr>
              <a:t>Sakai Takayuki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2" name="Rounded Rectangle 172"/>
          <p:cNvSpPr/>
          <p:nvPr/>
        </p:nvSpPr>
        <p:spPr>
          <a:xfrm>
            <a:off x="9144720" y="3136320"/>
            <a:ext cx="12960" cy="38160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0440" bIns="-10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3" name="TextBox 173"/>
          <p:cNvSpPr/>
          <p:nvPr/>
        </p:nvSpPr>
        <p:spPr>
          <a:xfrm>
            <a:off x="10460880" y="30906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7 460 – 7 640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4" name="TextBox 174"/>
          <p:cNvSpPr/>
          <p:nvPr/>
        </p:nvSpPr>
        <p:spPr>
          <a:xfrm>
            <a:off x="6291000" y="32598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Takamura Hamono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5" name="Rounded Rectangle 175"/>
          <p:cNvSpPr/>
          <p:nvPr/>
        </p:nvSpPr>
        <p:spPr>
          <a:xfrm>
            <a:off x="8953560" y="3305520"/>
            <a:ext cx="458280" cy="38160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6" name="Rectangle 176"/>
          <p:cNvSpPr/>
          <p:nvPr/>
        </p:nvSpPr>
        <p:spPr>
          <a:xfrm>
            <a:off x="9157320" y="328356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7" name="Rectangle 177"/>
          <p:cNvSpPr/>
          <p:nvPr/>
        </p:nvSpPr>
        <p:spPr>
          <a:xfrm>
            <a:off x="9173880" y="32907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08" name="TextBox 178"/>
          <p:cNvSpPr/>
          <p:nvPr/>
        </p:nvSpPr>
        <p:spPr>
          <a:xfrm>
            <a:off x="10460880" y="32598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5 320 – 11 990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9" name="TextBox 179"/>
          <p:cNvSpPr/>
          <p:nvPr/>
        </p:nvSpPr>
        <p:spPr>
          <a:xfrm>
            <a:off x="6291000" y="34290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Teruhide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0" name="Oval 180"/>
          <p:cNvSpPr/>
          <p:nvPr/>
        </p:nvSpPr>
        <p:spPr>
          <a:xfrm>
            <a:off x="9133560" y="344376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1" name="Oval 181"/>
          <p:cNvSpPr/>
          <p:nvPr/>
        </p:nvSpPr>
        <p:spPr>
          <a:xfrm>
            <a:off x="9145440" y="34556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2" name="TextBox 182"/>
          <p:cNvSpPr/>
          <p:nvPr/>
        </p:nvSpPr>
        <p:spPr>
          <a:xfrm>
            <a:off x="10460880" y="34290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8 000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3" name="TextBox 183"/>
          <p:cNvSpPr/>
          <p:nvPr/>
        </p:nvSpPr>
        <p:spPr>
          <a:xfrm>
            <a:off x="6291000" y="35982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Shigehiro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4" name="Oval 184"/>
          <p:cNvSpPr/>
          <p:nvPr/>
        </p:nvSpPr>
        <p:spPr>
          <a:xfrm>
            <a:off x="9167400" y="361296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5" name="Oval 185"/>
          <p:cNvSpPr/>
          <p:nvPr/>
        </p:nvSpPr>
        <p:spPr>
          <a:xfrm>
            <a:off x="9179280" y="362484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6" name="TextBox 186"/>
          <p:cNvSpPr/>
          <p:nvPr/>
        </p:nvSpPr>
        <p:spPr>
          <a:xfrm>
            <a:off x="10460880" y="35982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8 490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7" name="TextBox 187"/>
          <p:cNvSpPr/>
          <p:nvPr/>
        </p:nvSpPr>
        <p:spPr>
          <a:xfrm>
            <a:off x="6291000" y="37674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8" name="Rounded Rectangle 188"/>
          <p:cNvSpPr/>
          <p:nvPr/>
        </p:nvSpPr>
        <p:spPr>
          <a:xfrm>
            <a:off x="8112600" y="3813120"/>
            <a:ext cx="229608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19" name="Rectangle 189"/>
          <p:cNvSpPr/>
          <p:nvPr/>
        </p:nvSpPr>
        <p:spPr>
          <a:xfrm>
            <a:off x="9235440" y="379116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0" name="Rectangle 190"/>
          <p:cNvSpPr/>
          <p:nvPr/>
        </p:nvSpPr>
        <p:spPr>
          <a:xfrm>
            <a:off x="9251640" y="37983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1" name="TextBox 191"/>
          <p:cNvSpPr/>
          <p:nvPr/>
        </p:nvSpPr>
        <p:spPr>
          <a:xfrm>
            <a:off x="10460880" y="37674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1 199 – 70 102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2" name="TextBox 192"/>
          <p:cNvSpPr/>
          <p:nvPr/>
        </p:nvSpPr>
        <p:spPr>
          <a:xfrm>
            <a:off x="6291000" y="39366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Tsukasa (Hinoura)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3" name="Oval 193"/>
          <p:cNvSpPr/>
          <p:nvPr/>
        </p:nvSpPr>
        <p:spPr>
          <a:xfrm>
            <a:off x="9253800" y="395100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4" name="Oval 194"/>
          <p:cNvSpPr/>
          <p:nvPr/>
        </p:nvSpPr>
        <p:spPr>
          <a:xfrm>
            <a:off x="9265680" y="3962880"/>
            <a:ext cx="76320" cy="76320"/>
          </a:xfrm>
          <a:prstGeom prst="ellipse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5" name="TextBox 195"/>
          <p:cNvSpPr/>
          <p:nvPr/>
        </p:nvSpPr>
        <p:spPr>
          <a:xfrm>
            <a:off x="10460880" y="39366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9 900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6" name="TextBox 196"/>
          <p:cNvSpPr/>
          <p:nvPr/>
        </p:nvSpPr>
        <p:spPr>
          <a:xfrm>
            <a:off x="6291000" y="410580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Tamahagane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7" name="Rounded Rectangle 197"/>
          <p:cNvSpPr/>
          <p:nvPr/>
        </p:nvSpPr>
        <p:spPr>
          <a:xfrm>
            <a:off x="9127800" y="4151520"/>
            <a:ext cx="442440" cy="38160"/>
          </a:xfrm>
          <a:prstGeom prst="roundRect">
            <a:avLst>
              <a:gd name="adj" fmla="val 50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8" name="Rectangle 198"/>
          <p:cNvSpPr/>
          <p:nvPr/>
        </p:nvSpPr>
        <p:spPr>
          <a:xfrm>
            <a:off x="9323640" y="412956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9" name="Rectangle 199"/>
          <p:cNvSpPr/>
          <p:nvPr/>
        </p:nvSpPr>
        <p:spPr>
          <a:xfrm>
            <a:off x="9340200" y="41367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0" name="TextBox 200"/>
          <p:cNvSpPr/>
          <p:nvPr/>
        </p:nvSpPr>
        <p:spPr>
          <a:xfrm>
            <a:off x="10460880" y="410580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7 242 – 15 873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1" name="TextBox 201"/>
          <p:cNvSpPr/>
          <p:nvPr/>
        </p:nvSpPr>
        <p:spPr>
          <a:xfrm>
            <a:off x="6291000" y="42746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Shigeki Tanaka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2" name="Rounded Rectangle 202"/>
          <p:cNvSpPr/>
          <p:nvPr/>
        </p:nvSpPr>
        <p:spPr>
          <a:xfrm>
            <a:off x="8941320" y="4320360"/>
            <a:ext cx="92880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3" name="Rectangle 203"/>
          <p:cNvSpPr/>
          <p:nvPr/>
        </p:nvSpPr>
        <p:spPr>
          <a:xfrm>
            <a:off x="9380160" y="429876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4" name="Rectangle 204"/>
          <p:cNvSpPr/>
          <p:nvPr/>
        </p:nvSpPr>
        <p:spPr>
          <a:xfrm>
            <a:off x="9396720" y="43059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5" name="TextBox 205"/>
          <p:cNvSpPr/>
          <p:nvPr/>
        </p:nvSpPr>
        <p:spPr>
          <a:xfrm>
            <a:off x="10460880" y="42746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5 203 – 26 990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6" name="TextBox 206"/>
          <p:cNvSpPr/>
          <p:nvPr/>
        </p:nvSpPr>
        <p:spPr>
          <a:xfrm>
            <a:off x="6291000" y="44438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JCK Natures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7" name="Oval 207"/>
          <p:cNvSpPr/>
          <p:nvPr/>
        </p:nvSpPr>
        <p:spPr>
          <a:xfrm>
            <a:off x="9372960" y="445860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8" name="Oval 208"/>
          <p:cNvSpPr/>
          <p:nvPr/>
        </p:nvSpPr>
        <p:spPr>
          <a:xfrm>
            <a:off x="9384840" y="44704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39" name="TextBox 209"/>
          <p:cNvSpPr/>
          <p:nvPr/>
        </p:nvSpPr>
        <p:spPr>
          <a:xfrm>
            <a:off x="10460880" y="44438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12 220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0" name="TextBox 210"/>
          <p:cNvSpPr/>
          <p:nvPr/>
        </p:nvSpPr>
        <p:spPr>
          <a:xfrm>
            <a:off x="6291000" y="46130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Hatsukokoro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1" name="Oval 211"/>
          <p:cNvSpPr/>
          <p:nvPr/>
        </p:nvSpPr>
        <p:spPr>
          <a:xfrm>
            <a:off x="9444240" y="462780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2" name="Oval 212"/>
          <p:cNvSpPr/>
          <p:nvPr/>
        </p:nvSpPr>
        <p:spPr>
          <a:xfrm>
            <a:off x="9456120" y="4639680"/>
            <a:ext cx="76320" cy="7632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3" name="TextBox 213"/>
          <p:cNvSpPr/>
          <p:nvPr/>
        </p:nvSpPr>
        <p:spPr>
          <a:xfrm>
            <a:off x="10460880" y="46130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13 865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4" name="TextBox 214"/>
          <p:cNvSpPr/>
          <p:nvPr/>
        </p:nvSpPr>
        <p:spPr>
          <a:xfrm>
            <a:off x="6291000" y="47822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Mcusta Zanmai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5" name="Rounded Rectangle 215"/>
          <p:cNvSpPr/>
          <p:nvPr/>
        </p:nvSpPr>
        <p:spPr>
          <a:xfrm>
            <a:off x="9181080" y="4827960"/>
            <a:ext cx="6404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6" name="Rectangle 216"/>
          <p:cNvSpPr/>
          <p:nvPr/>
        </p:nvSpPr>
        <p:spPr>
          <a:xfrm>
            <a:off x="9475920" y="480600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7" name="Rectangle 217"/>
          <p:cNvSpPr/>
          <p:nvPr/>
        </p:nvSpPr>
        <p:spPr>
          <a:xfrm>
            <a:off x="9492480" y="481356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8" name="TextBox 218"/>
          <p:cNvSpPr/>
          <p:nvPr/>
        </p:nvSpPr>
        <p:spPr>
          <a:xfrm>
            <a:off x="10460880" y="47822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7 960 – 24 767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9" name="TextBox 219"/>
          <p:cNvSpPr/>
          <p:nvPr/>
        </p:nvSpPr>
        <p:spPr>
          <a:xfrm>
            <a:off x="6291000" y="49514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Myojin (Naohito)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0" name="Rounded Rectangle 220"/>
          <p:cNvSpPr/>
          <p:nvPr/>
        </p:nvSpPr>
        <p:spPr>
          <a:xfrm>
            <a:off x="9466560" y="4997160"/>
            <a:ext cx="157320" cy="38160"/>
          </a:xfrm>
          <a:prstGeom prst="roundRect">
            <a:avLst>
              <a:gd name="adj" fmla="val 50000"/>
            </a:avLst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1" name="TextBox 221"/>
          <p:cNvSpPr/>
          <p:nvPr/>
        </p:nvSpPr>
        <p:spPr>
          <a:xfrm>
            <a:off x="10460880" y="49514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13 200 – 17 450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2" name="TextBox 222"/>
          <p:cNvSpPr/>
          <p:nvPr/>
        </p:nvSpPr>
        <p:spPr>
          <a:xfrm>
            <a:off x="6291000" y="51206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Nigara Hamono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3" name="Rounded Rectangle 223"/>
          <p:cNvSpPr/>
          <p:nvPr/>
        </p:nvSpPr>
        <p:spPr>
          <a:xfrm>
            <a:off x="9531360" y="5166360"/>
            <a:ext cx="69120" cy="38160"/>
          </a:xfrm>
          <a:prstGeom prst="roundRect">
            <a:avLst>
              <a:gd name="adj" fmla="val 50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4" name="TextBox 224"/>
          <p:cNvSpPr/>
          <p:nvPr/>
        </p:nvSpPr>
        <p:spPr>
          <a:xfrm>
            <a:off x="10460880" y="51206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14 800 – 16 740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5" name="TextBox 225"/>
          <p:cNvSpPr/>
          <p:nvPr/>
        </p:nvSpPr>
        <p:spPr>
          <a:xfrm>
            <a:off x="6291000" y="52898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Miyabi (Zwilling)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6" name="Rounded Rectangle 226"/>
          <p:cNvSpPr/>
          <p:nvPr/>
        </p:nvSpPr>
        <p:spPr>
          <a:xfrm>
            <a:off x="9012240" y="5335560"/>
            <a:ext cx="1121040" cy="38160"/>
          </a:xfrm>
          <a:prstGeom prst="roundRect">
            <a:avLst>
              <a:gd name="adj" fmla="val 50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7" name="Rectangle 227"/>
          <p:cNvSpPr/>
          <p:nvPr/>
        </p:nvSpPr>
        <p:spPr>
          <a:xfrm>
            <a:off x="9547200" y="531360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8" name="Rectangle 228"/>
          <p:cNvSpPr/>
          <p:nvPr/>
        </p:nvSpPr>
        <p:spPr>
          <a:xfrm>
            <a:off x="9563760" y="53208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9" name="TextBox 229"/>
          <p:cNvSpPr/>
          <p:nvPr/>
        </p:nvSpPr>
        <p:spPr>
          <a:xfrm>
            <a:off x="10460880" y="52898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5 900 – 43 020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0" name="TextBox 230"/>
          <p:cNvSpPr/>
          <p:nvPr/>
        </p:nvSpPr>
        <p:spPr>
          <a:xfrm>
            <a:off x="6291000" y="54590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Etsu / Ittetsu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1" name="Oval 231"/>
          <p:cNvSpPr/>
          <p:nvPr/>
        </p:nvSpPr>
        <p:spPr>
          <a:xfrm>
            <a:off x="9548280" y="5473440"/>
            <a:ext cx="100080" cy="100080"/>
          </a:xfrm>
          <a:prstGeom prst="ellipse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6280" bIns="262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2" name="Oval 232"/>
          <p:cNvSpPr/>
          <p:nvPr/>
        </p:nvSpPr>
        <p:spPr>
          <a:xfrm>
            <a:off x="9560160" y="5485320"/>
            <a:ext cx="76320" cy="76320"/>
          </a:xfrm>
          <a:prstGeom prst="ellipse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9000" bIns="9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3" name="TextBox 233"/>
          <p:cNvSpPr/>
          <p:nvPr/>
        </p:nvSpPr>
        <p:spPr>
          <a:xfrm>
            <a:off x="10460880" y="54590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16 677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4" name="TextBox 234"/>
          <p:cNvSpPr/>
          <p:nvPr/>
        </p:nvSpPr>
        <p:spPr>
          <a:xfrm>
            <a:off x="6291000" y="56282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Harukaze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5" name="Rounded Rectangle 235"/>
          <p:cNvSpPr/>
          <p:nvPr/>
        </p:nvSpPr>
        <p:spPr>
          <a:xfrm>
            <a:off x="9700920" y="5673960"/>
            <a:ext cx="169200" cy="38160"/>
          </a:xfrm>
          <a:prstGeom prst="roundRect">
            <a:avLst>
              <a:gd name="adj" fmla="val 50000"/>
            </a:avLst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6" name="TextBox 236"/>
          <p:cNvSpPr/>
          <p:nvPr/>
        </p:nvSpPr>
        <p:spPr>
          <a:xfrm>
            <a:off x="10460880" y="56282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19 990 – 26 990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7" name="TextBox 237"/>
          <p:cNvSpPr/>
          <p:nvPr/>
        </p:nvSpPr>
        <p:spPr>
          <a:xfrm>
            <a:off x="6291000" y="5797440"/>
            <a:ext cx="1481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Takeshi Saji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8" name="Rounded Rectangle 238"/>
          <p:cNvSpPr/>
          <p:nvPr/>
        </p:nvSpPr>
        <p:spPr>
          <a:xfrm>
            <a:off x="9746640" y="5843160"/>
            <a:ext cx="575280" cy="38160"/>
          </a:xfrm>
          <a:prstGeom prst="roundRect">
            <a:avLst>
              <a:gd name="adj" fmla="val 50000"/>
            </a:avLst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7640" bIns="-17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69" name="Rectangle 239"/>
          <p:cNvSpPr/>
          <p:nvPr/>
        </p:nvSpPr>
        <p:spPr>
          <a:xfrm>
            <a:off x="10009080" y="5821200"/>
            <a:ext cx="50760" cy="8208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7440" bIns="37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0" name="Rectangle 240"/>
          <p:cNvSpPr/>
          <p:nvPr/>
        </p:nvSpPr>
        <p:spPr>
          <a:xfrm>
            <a:off x="10025640" y="5828400"/>
            <a:ext cx="18000" cy="6732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2680" bIns="2268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1" name="TextBox 241"/>
          <p:cNvSpPr/>
          <p:nvPr/>
        </p:nvSpPr>
        <p:spPr>
          <a:xfrm>
            <a:off x="10460880" y="5797440"/>
            <a:ext cx="117000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6b7282"/>
                </a:solidFill>
                <a:latin typeface="Segoe UI"/>
              </a:rPr>
              <a:t>21 684 – 60 125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2" name="Rectangle 242"/>
          <p:cNvSpPr/>
          <p:nvPr/>
        </p:nvSpPr>
        <p:spPr>
          <a:xfrm>
            <a:off x="567000" y="6181200"/>
            <a:ext cx="200880" cy="68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3" name="TextBox 243"/>
          <p:cNvSpPr/>
          <p:nvPr/>
        </p:nvSpPr>
        <p:spPr>
          <a:xfrm>
            <a:off x="84132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Секі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4" name="Rectangle 244"/>
          <p:cNvSpPr/>
          <p:nvPr/>
        </p:nvSpPr>
        <p:spPr>
          <a:xfrm>
            <a:off x="1792080" y="6181200"/>
            <a:ext cx="200880" cy="684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5" name="TextBox 245"/>
          <p:cNvSpPr/>
          <p:nvPr/>
        </p:nvSpPr>
        <p:spPr>
          <a:xfrm>
            <a:off x="206640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Сакаї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6" name="Rectangle 246"/>
          <p:cNvSpPr/>
          <p:nvPr/>
        </p:nvSpPr>
        <p:spPr>
          <a:xfrm>
            <a:off x="3017520" y="6181200"/>
            <a:ext cx="200880" cy="684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7" name="TextBox 247"/>
          <p:cNvSpPr/>
          <p:nvPr/>
        </p:nvSpPr>
        <p:spPr>
          <a:xfrm>
            <a:off x="329184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Ечідзен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8" name="Rectangle 248"/>
          <p:cNvSpPr/>
          <p:nvPr/>
        </p:nvSpPr>
        <p:spPr>
          <a:xfrm>
            <a:off x="4242960" y="6181200"/>
            <a:ext cx="200880" cy="68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79" name="TextBox 249"/>
          <p:cNvSpPr/>
          <p:nvPr/>
        </p:nvSpPr>
        <p:spPr>
          <a:xfrm>
            <a:off x="451728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Тоса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0" name="Rectangle 250"/>
          <p:cNvSpPr/>
          <p:nvPr/>
        </p:nvSpPr>
        <p:spPr>
          <a:xfrm>
            <a:off x="5468040" y="6181200"/>
            <a:ext cx="200880" cy="6840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1" name="TextBox 251"/>
          <p:cNvSpPr/>
          <p:nvPr/>
        </p:nvSpPr>
        <p:spPr>
          <a:xfrm>
            <a:off x="574236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Сандзьо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2" name="Rectangle 252"/>
          <p:cNvSpPr/>
          <p:nvPr/>
        </p:nvSpPr>
        <p:spPr>
          <a:xfrm>
            <a:off x="6693480" y="6181200"/>
            <a:ext cx="200880" cy="684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3" name="TextBox 253"/>
          <p:cNvSpPr/>
          <p:nvPr/>
        </p:nvSpPr>
        <p:spPr>
          <a:xfrm>
            <a:off x="696780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Аоморі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4" name="Rectangle 254"/>
          <p:cNvSpPr/>
          <p:nvPr/>
        </p:nvSpPr>
        <p:spPr>
          <a:xfrm>
            <a:off x="7918560" y="6181200"/>
            <a:ext cx="200880" cy="684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3760" bIns="23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5" name="TextBox 255"/>
          <p:cNvSpPr/>
          <p:nvPr/>
        </p:nvSpPr>
        <p:spPr>
          <a:xfrm>
            <a:off x="8192880" y="6144840"/>
            <a:ext cx="877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регіон не вказано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6" name="Rectangle 256"/>
          <p:cNvSpPr/>
          <p:nvPr/>
        </p:nvSpPr>
        <p:spPr>
          <a:xfrm>
            <a:off x="9125640" y="6165000"/>
            <a:ext cx="21600" cy="89280"/>
          </a:xfrm>
          <a:prstGeom prst="rect">
            <a:avLst/>
          </a:prstGeom>
          <a:solidFill>
            <a:srgbClr val="151a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4640" bIns="446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7" name="TextBox 257"/>
          <p:cNvSpPr/>
          <p:nvPr/>
        </p:nvSpPr>
        <p:spPr>
          <a:xfrm>
            <a:off x="9235440" y="6144840"/>
            <a:ext cx="12981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середина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8" name="Oval 258"/>
          <p:cNvSpPr/>
          <p:nvPr/>
        </p:nvSpPr>
        <p:spPr>
          <a:xfrm>
            <a:off x="10460880" y="6165000"/>
            <a:ext cx="89280" cy="89280"/>
          </a:xfrm>
          <a:prstGeom prst="ellipse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9" name="TextBox 259"/>
          <p:cNvSpPr/>
          <p:nvPr/>
        </p:nvSpPr>
        <p:spPr>
          <a:xfrm>
            <a:off x="10607040" y="6144840"/>
            <a:ext cx="14626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одна ціна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0" name="TextBox 260"/>
          <p:cNvSpPr/>
          <p:nvPr/>
        </p:nvSpPr>
        <p:spPr>
          <a:xfrm>
            <a:off x="603360" y="64738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Шкала логарифмічна. Діапазон — найнижча і найвища спостережена роздрібна ціна марки, жовтень 2026; це не прайс виробника. Кружок замість смуги означає одну знайдену ціну. Шість марок без публічних цін у графік не входять.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2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3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594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2595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Е Р Е П И С   ·   З Р О Б Л Е Н О   В   Я П О Н І Ї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6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П'ятдесят шість перевірених брендів, і полиці немає в жодного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7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19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8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99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0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1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Перепис охоплює 25 продавців — ширше за фото-каталог. Позначка JP = підтверджене японське виробництво, її колір = чим підтверджене.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2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3" name="TextBox 13"/>
          <p:cNvSpPr/>
          <p:nvPr/>
        </p:nvSpPr>
        <p:spPr>
          <a:xfrm>
            <a:off x="567000" y="1536120"/>
            <a:ext cx="2192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4" name="TextBox 14"/>
          <p:cNvSpPr/>
          <p:nvPr/>
        </p:nvSpPr>
        <p:spPr>
          <a:xfrm>
            <a:off x="786240" y="1536120"/>
            <a:ext cx="14079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5" name="TextBox 15"/>
          <p:cNvSpPr/>
          <p:nvPr/>
        </p:nvSpPr>
        <p:spPr>
          <a:xfrm>
            <a:off x="2231280" y="1536120"/>
            <a:ext cx="548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РЕГІОН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6" name="TextBox 16"/>
          <p:cNvSpPr/>
          <p:nvPr/>
        </p:nvSpPr>
        <p:spPr>
          <a:xfrm>
            <a:off x="2797920" y="1536120"/>
            <a:ext cx="29232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JP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7" name="TextBox 17"/>
          <p:cNvSpPr/>
          <p:nvPr/>
        </p:nvSpPr>
        <p:spPr>
          <a:xfrm>
            <a:off x="3108960" y="1536120"/>
            <a:ext cx="3470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SKU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8" name="TextBox 18"/>
          <p:cNvSpPr/>
          <p:nvPr/>
        </p:nvSpPr>
        <p:spPr>
          <a:xfrm>
            <a:off x="3474720" y="1536120"/>
            <a:ext cx="6944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9" name="Rectangle 19"/>
          <p:cNvSpPr/>
          <p:nvPr/>
        </p:nvSpPr>
        <p:spPr>
          <a:xfrm>
            <a:off x="567000" y="1682640"/>
            <a:ext cx="3602520" cy="104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10" name="Rectangle 20"/>
          <p:cNvSpPr/>
          <p:nvPr/>
        </p:nvSpPr>
        <p:spPr>
          <a:xfrm>
            <a:off x="511920" y="171720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11" name="TextBox 21"/>
          <p:cNvSpPr/>
          <p:nvPr/>
        </p:nvSpPr>
        <p:spPr>
          <a:xfrm>
            <a:off x="567000" y="17373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2" name="TextBox 22"/>
          <p:cNvSpPr/>
          <p:nvPr/>
        </p:nvSpPr>
        <p:spPr>
          <a:xfrm>
            <a:off x="786240" y="17373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KAI / Shun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3" name="TextBox 23"/>
          <p:cNvSpPr/>
          <p:nvPr/>
        </p:nvSpPr>
        <p:spPr>
          <a:xfrm>
            <a:off x="2231280" y="17373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4" name="Rounded Rectangle 24"/>
          <p:cNvSpPr/>
          <p:nvPr/>
        </p:nvSpPr>
        <p:spPr>
          <a:xfrm>
            <a:off x="2797920" y="174204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15" name="TextBox 25"/>
          <p:cNvSpPr/>
          <p:nvPr/>
        </p:nvSpPr>
        <p:spPr>
          <a:xfrm>
            <a:off x="2797920" y="176220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6" name="TextBox 26"/>
          <p:cNvSpPr/>
          <p:nvPr/>
        </p:nvSpPr>
        <p:spPr>
          <a:xfrm>
            <a:off x="3108960" y="17373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140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7" name="TextBox 27"/>
          <p:cNvSpPr/>
          <p:nvPr/>
        </p:nvSpPr>
        <p:spPr>
          <a:xfrm>
            <a:off x="3474720" y="17373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726 – 27 970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8" name="TextBox 28"/>
          <p:cNvSpPr/>
          <p:nvPr/>
        </p:nvSpPr>
        <p:spPr>
          <a:xfrm>
            <a:off x="567000" y="19184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9" name="TextBox 29"/>
          <p:cNvSpPr/>
          <p:nvPr/>
        </p:nvSpPr>
        <p:spPr>
          <a:xfrm>
            <a:off x="786240" y="19184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Yaxell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0" name="TextBox 30"/>
          <p:cNvSpPr/>
          <p:nvPr/>
        </p:nvSpPr>
        <p:spPr>
          <a:xfrm>
            <a:off x="2231280" y="19184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1" name="Rounded Rectangle 31"/>
          <p:cNvSpPr/>
          <p:nvPr/>
        </p:nvSpPr>
        <p:spPr>
          <a:xfrm>
            <a:off x="2797920" y="19231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2" name="TextBox 32"/>
          <p:cNvSpPr/>
          <p:nvPr/>
        </p:nvSpPr>
        <p:spPr>
          <a:xfrm>
            <a:off x="2797920" y="19432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3" name="TextBox 33"/>
          <p:cNvSpPr/>
          <p:nvPr/>
        </p:nvSpPr>
        <p:spPr>
          <a:xfrm>
            <a:off x="3108960" y="19184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104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4" name="TextBox 34"/>
          <p:cNvSpPr/>
          <p:nvPr/>
        </p:nvSpPr>
        <p:spPr>
          <a:xfrm>
            <a:off x="3474720" y="19184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1 199 – 70 102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5" name="Rectangle 35"/>
          <p:cNvSpPr/>
          <p:nvPr/>
        </p:nvSpPr>
        <p:spPr>
          <a:xfrm>
            <a:off x="511920" y="207936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6" name="TextBox 36"/>
          <p:cNvSpPr/>
          <p:nvPr/>
        </p:nvSpPr>
        <p:spPr>
          <a:xfrm>
            <a:off x="567000" y="209952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7" name="TextBox 37"/>
          <p:cNvSpPr/>
          <p:nvPr/>
        </p:nvSpPr>
        <p:spPr>
          <a:xfrm>
            <a:off x="786240" y="209952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Suncraft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8" name="TextBox 38"/>
          <p:cNvSpPr/>
          <p:nvPr/>
        </p:nvSpPr>
        <p:spPr>
          <a:xfrm>
            <a:off x="2231280" y="209952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9" name="Rounded Rectangle 39"/>
          <p:cNvSpPr/>
          <p:nvPr/>
        </p:nvSpPr>
        <p:spPr>
          <a:xfrm>
            <a:off x="2797920" y="21042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0" name="TextBox 40"/>
          <p:cNvSpPr/>
          <p:nvPr/>
        </p:nvSpPr>
        <p:spPr>
          <a:xfrm>
            <a:off x="2797920" y="21243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1" name="TextBox 41"/>
          <p:cNvSpPr/>
          <p:nvPr/>
        </p:nvSpPr>
        <p:spPr>
          <a:xfrm>
            <a:off x="3108960" y="209952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97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2" name="TextBox 42"/>
          <p:cNvSpPr/>
          <p:nvPr/>
        </p:nvSpPr>
        <p:spPr>
          <a:xfrm>
            <a:off x="3474720" y="209952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1 199 – 18 999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3" name="TextBox 43"/>
          <p:cNvSpPr/>
          <p:nvPr/>
        </p:nvSpPr>
        <p:spPr>
          <a:xfrm>
            <a:off x="567000" y="228060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4" name="TextBox 44"/>
          <p:cNvSpPr/>
          <p:nvPr/>
        </p:nvSpPr>
        <p:spPr>
          <a:xfrm>
            <a:off x="786240" y="228060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Tojiro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5" name="TextBox 45"/>
          <p:cNvSpPr/>
          <p:nvPr/>
        </p:nvSpPr>
        <p:spPr>
          <a:xfrm>
            <a:off x="2231280" y="228060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6" name="Rounded Rectangle 46"/>
          <p:cNvSpPr/>
          <p:nvPr/>
        </p:nvSpPr>
        <p:spPr>
          <a:xfrm>
            <a:off x="2797920" y="22849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7" name="TextBox 47"/>
          <p:cNvSpPr/>
          <p:nvPr/>
        </p:nvSpPr>
        <p:spPr>
          <a:xfrm>
            <a:off x="2797920" y="23050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8" name="TextBox 48"/>
          <p:cNvSpPr/>
          <p:nvPr/>
        </p:nvSpPr>
        <p:spPr>
          <a:xfrm>
            <a:off x="3108960" y="228060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81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9" name="TextBox 49"/>
          <p:cNvSpPr/>
          <p:nvPr/>
        </p:nvSpPr>
        <p:spPr>
          <a:xfrm>
            <a:off x="3474720" y="2280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599 – 16 499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0" name="Rectangle 50"/>
          <p:cNvSpPr/>
          <p:nvPr/>
        </p:nvSpPr>
        <p:spPr>
          <a:xfrm>
            <a:off x="511920" y="24415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1" name="TextBox 51"/>
          <p:cNvSpPr/>
          <p:nvPr/>
        </p:nvSpPr>
        <p:spPr>
          <a:xfrm>
            <a:off x="567000" y="246168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2" name="TextBox 52"/>
          <p:cNvSpPr/>
          <p:nvPr/>
        </p:nvSpPr>
        <p:spPr>
          <a:xfrm>
            <a:off x="786240" y="246168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Satake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3" name="TextBox 53"/>
          <p:cNvSpPr/>
          <p:nvPr/>
        </p:nvSpPr>
        <p:spPr>
          <a:xfrm>
            <a:off x="2231280" y="246168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4" name="Rounded Rectangle 54"/>
          <p:cNvSpPr/>
          <p:nvPr/>
        </p:nvSpPr>
        <p:spPr>
          <a:xfrm>
            <a:off x="2797920" y="24660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5" name="TextBox 55"/>
          <p:cNvSpPr/>
          <p:nvPr/>
        </p:nvSpPr>
        <p:spPr>
          <a:xfrm>
            <a:off x="2797920" y="24861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6" name="TextBox 56"/>
          <p:cNvSpPr/>
          <p:nvPr/>
        </p:nvSpPr>
        <p:spPr>
          <a:xfrm>
            <a:off x="3108960" y="246168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64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7" name="TextBox 57"/>
          <p:cNvSpPr/>
          <p:nvPr/>
        </p:nvSpPr>
        <p:spPr>
          <a:xfrm>
            <a:off x="3474720" y="246168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849 – 19 473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8" name="TextBox 58"/>
          <p:cNvSpPr/>
          <p:nvPr/>
        </p:nvSpPr>
        <p:spPr>
          <a:xfrm>
            <a:off x="567000" y="26427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9" name="TextBox 59"/>
          <p:cNvSpPr/>
          <p:nvPr/>
        </p:nvSpPr>
        <p:spPr>
          <a:xfrm>
            <a:off x="786240" y="26427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Kanetsune Seki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0" name="TextBox 60"/>
          <p:cNvSpPr/>
          <p:nvPr/>
        </p:nvSpPr>
        <p:spPr>
          <a:xfrm>
            <a:off x="2231280" y="26427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1" name="Rounded Rectangle 61"/>
          <p:cNvSpPr/>
          <p:nvPr/>
        </p:nvSpPr>
        <p:spPr>
          <a:xfrm>
            <a:off x="2797920" y="264708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2" name="TextBox 62"/>
          <p:cNvSpPr/>
          <p:nvPr/>
        </p:nvSpPr>
        <p:spPr>
          <a:xfrm>
            <a:off x="2797920" y="266724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3" name="TextBox 63"/>
          <p:cNvSpPr/>
          <p:nvPr/>
        </p:nvSpPr>
        <p:spPr>
          <a:xfrm>
            <a:off x="3108960" y="26427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38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4" name="TextBox 64"/>
          <p:cNvSpPr/>
          <p:nvPr/>
        </p:nvSpPr>
        <p:spPr>
          <a:xfrm>
            <a:off x="3474720" y="26427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150 – 25 184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5" name="Rectangle 65"/>
          <p:cNvSpPr/>
          <p:nvPr/>
        </p:nvSpPr>
        <p:spPr>
          <a:xfrm>
            <a:off x="511920" y="28036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56" name="TextBox 66"/>
          <p:cNvSpPr/>
          <p:nvPr/>
        </p:nvSpPr>
        <p:spPr>
          <a:xfrm>
            <a:off x="567000" y="28238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7" name="TextBox 67"/>
          <p:cNvSpPr/>
          <p:nvPr/>
        </p:nvSpPr>
        <p:spPr>
          <a:xfrm>
            <a:off x="786240" y="28238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Tosa / Tosauchi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8" name="TextBox 68"/>
          <p:cNvSpPr/>
          <p:nvPr/>
        </p:nvSpPr>
        <p:spPr>
          <a:xfrm>
            <a:off x="2231280" y="28238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2a7f86"/>
                </a:solidFill>
                <a:latin typeface="Segoe UI"/>
              </a:rPr>
              <a:t>Тоса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9" name="Rounded Rectangle 69"/>
          <p:cNvSpPr/>
          <p:nvPr/>
        </p:nvSpPr>
        <p:spPr>
          <a:xfrm>
            <a:off x="2797920" y="282816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0" name="TextBox 70"/>
          <p:cNvSpPr/>
          <p:nvPr/>
        </p:nvSpPr>
        <p:spPr>
          <a:xfrm>
            <a:off x="2797920" y="284832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1" name="TextBox 71"/>
          <p:cNvSpPr/>
          <p:nvPr/>
        </p:nvSpPr>
        <p:spPr>
          <a:xfrm>
            <a:off x="3108960" y="28238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2" name="TextBox 72"/>
          <p:cNvSpPr/>
          <p:nvPr/>
        </p:nvSpPr>
        <p:spPr>
          <a:xfrm>
            <a:off x="3474720" y="28238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2 929 – 10 035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3" name="TextBox 73"/>
          <p:cNvSpPr/>
          <p:nvPr/>
        </p:nvSpPr>
        <p:spPr>
          <a:xfrm>
            <a:off x="567000" y="30045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4" name="TextBox 74"/>
          <p:cNvSpPr/>
          <p:nvPr/>
        </p:nvSpPr>
        <p:spPr>
          <a:xfrm>
            <a:off x="786240" y="30045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Miyabi (Zwilling)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5" name="TextBox 75"/>
          <p:cNvSpPr/>
          <p:nvPr/>
        </p:nvSpPr>
        <p:spPr>
          <a:xfrm>
            <a:off x="2231280" y="30045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6" name="Rounded Rectangle 76"/>
          <p:cNvSpPr/>
          <p:nvPr/>
        </p:nvSpPr>
        <p:spPr>
          <a:xfrm>
            <a:off x="2797920" y="300924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67" name="TextBox 77"/>
          <p:cNvSpPr/>
          <p:nvPr/>
        </p:nvSpPr>
        <p:spPr>
          <a:xfrm>
            <a:off x="2797920" y="302940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8" name="TextBox 78"/>
          <p:cNvSpPr/>
          <p:nvPr/>
        </p:nvSpPr>
        <p:spPr>
          <a:xfrm>
            <a:off x="3108960" y="30045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9" name="TextBox 79"/>
          <p:cNvSpPr/>
          <p:nvPr/>
        </p:nvSpPr>
        <p:spPr>
          <a:xfrm>
            <a:off x="3474720" y="30045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5 900 – 43 020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0" name="Rectangle 80"/>
          <p:cNvSpPr/>
          <p:nvPr/>
        </p:nvSpPr>
        <p:spPr>
          <a:xfrm>
            <a:off x="511920" y="31654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1" name="TextBox 81"/>
          <p:cNvSpPr/>
          <p:nvPr/>
        </p:nvSpPr>
        <p:spPr>
          <a:xfrm>
            <a:off x="567000" y="31856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2" name="TextBox 82"/>
          <p:cNvSpPr/>
          <p:nvPr/>
        </p:nvSpPr>
        <p:spPr>
          <a:xfrm>
            <a:off x="786240" y="31856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Seki Kanetsugu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3" name="TextBox 83"/>
          <p:cNvSpPr/>
          <p:nvPr/>
        </p:nvSpPr>
        <p:spPr>
          <a:xfrm>
            <a:off x="2231280" y="31856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4" name="Rounded Rectangle 84"/>
          <p:cNvSpPr/>
          <p:nvPr/>
        </p:nvSpPr>
        <p:spPr>
          <a:xfrm>
            <a:off x="2797920" y="31903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75" name="TextBox 85"/>
          <p:cNvSpPr/>
          <p:nvPr/>
        </p:nvSpPr>
        <p:spPr>
          <a:xfrm>
            <a:off x="2797920" y="32104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6" name="TextBox 86"/>
          <p:cNvSpPr/>
          <p:nvPr/>
        </p:nvSpPr>
        <p:spPr>
          <a:xfrm>
            <a:off x="3108960" y="31856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7" name="TextBox 87"/>
          <p:cNvSpPr/>
          <p:nvPr/>
        </p:nvSpPr>
        <p:spPr>
          <a:xfrm>
            <a:off x="3474720" y="31856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990 – 15 390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8" name="TextBox 88"/>
          <p:cNvSpPr/>
          <p:nvPr/>
        </p:nvSpPr>
        <p:spPr>
          <a:xfrm>
            <a:off x="567000" y="336672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9" name="TextBox 89"/>
          <p:cNvSpPr/>
          <p:nvPr/>
        </p:nvSpPr>
        <p:spPr>
          <a:xfrm>
            <a:off x="786240" y="336672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Kasumi / Sumikama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0" name="TextBox 90"/>
          <p:cNvSpPr/>
          <p:nvPr/>
        </p:nvSpPr>
        <p:spPr>
          <a:xfrm>
            <a:off x="2231280" y="336672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1" name="Rounded Rectangle 91"/>
          <p:cNvSpPr/>
          <p:nvPr/>
        </p:nvSpPr>
        <p:spPr>
          <a:xfrm>
            <a:off x="2797920" y="33714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2" name="TextBox 92"/>
          <p:cNvSpPr/>
          <p:nvPr/>
        </p:nvSpPr>
        <p:spPr>
          <a:xfrm>
            <a:off x="2797920" y="33915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3" name="TextBox 93"/>
          <p:cNvSpPr/>
          <p:nvPr/>
        </p:nvSpPr>
        <p:spPr>
          <a:xfrm>
            <a:off x="3108960" y="336672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4" name="TextBox 94"/>
          <p:cNvSpPr/>
          <p:nvPr/>
        </p:nvSpPr>
        <p:spPr>
          <a:xfrm>
            <a:off x="3474720" y="336672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1 180 – 15 229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5" name="Rectangle 95"/>
          <p:cNvSpPr/>
          <p:nvPr/>
        </p:nvSpPr>
        <p:spPr>
          <a:xfrm>
            <a:off x="511920" y="352764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6" name="TextBox 96"/>
          <p:cNvSpPr/>
          <p:nvPr/>
        </p:nvSpPr>
        <p:spPr>
          <a:xfrm>
            <a:off x="567000" y="354780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7" name="TextBox 97"/>
          <p:cNvSpPr/>
          <p:nvPr/>
        </p:nvSpPr>
        <p:spPr>
          <a:xfrm>
            <a:off x="786240" y="354780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Mcusta Zanmai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8" name="TextBox 98"/>
          <p:cNvSpPr/>
          <p:nvPr/>
        </p:nvSpPr>
        <p:spPr>
          <a:xfrm>
            <a:off x="2231280" y="354780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9" name="Rounded Rectangle 99"/>
          <p:cNvSpPr/>
          <p:nvPr/>
        </p:nvSpPr>
        <p:spPr>
          <a:xfrm>
            <a:off x="2797920" y="355248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0" name="TextBox 100"/>
          <p:cNvSpPr/>
          <p:nvPr/>
        </p:nvSpPr>
        <p:spPr>
          <a:xfrm>
            <a:off x="2797920" y="357264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1" name="TextBox 101"/>
          <p:cNvSpPr/>
          <p:nvPr/>
        </p:nvSpPr>
        <p:spPr>
          <a:xfrm>
            <a:off x="3108960" y="354780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2" name="TextBox 102"/>
          <p:cNvSpPr/>
          <p:nvPr/>
        </p:nvSpPr>
        <p:spPr>
          <a:xfrm>
            <a:off x="3474720" y="35478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7 960 – 24 767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3" name="TextBox 103"/>
          <p:cNvSpPr/>
          <p:nvPr/>
        </p:nvSpPr>
        <p:spPr>
          <a:xfrm>
            <a:off x="567000" y="372888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4" name="TextBox 104"/>
          <p:cNvSpPr/>
          <p:nvPr/>
        </p:nvSpPr>
        <p:spPr>
          <a:xfrm>
            <a:off x="786240" y="372888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Yoshihiro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5" name="TextBox 105"/>
          <p:cNvSpPr/>
          <p:nvPr/>
        </p:nvSpPr>
        <p:spPr>
          <a:xfrm>
            <a:off x="2231280" y="372888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6" name="Rounded Rectangle 106"/>
          <p:cNvSpPr/>
          <p:nvPr/>
        </p:nvSpPr>
        <p:spPr>
          <a:xfrm>
            <a:off x="2797920" y="373356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7" name="TextBox 107"/>
          <p:cNvSpPr/>
          <p:nvPr/>
        </p:nvSpPr>
        <p:spPr>
          <a:xfrm>
            <a:off x="2797920" y="375372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8" name="TextBox 108"/>
          <p:cNvSpPr/>
          <p:nvPr/>
        </p:nvSpPr>
        <p:spPr>
          <a:xfrm>
            <a:off x="3108960" y="372888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9" name="TextBox 109"/>
          <p:cNvSpPr/>
          <p:nvPr/>
        </p:nvSpPr>
        <p:spPr>
          <a:xfrm>
            <a:off x="3474720" y="372888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3 609 – 6 747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0" name="Rectangle 110"/>
          <p:cNvSpPr/>
          <p:nvPr/>
        </p:nvSpPr>
        <p:spPr>
          <a:xfrm>
            <a:off x="511920" y="388980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1" name="TextBox 111"/>
          <p:cNvSpPr/>
          <p:nvPr/>
        </p:nvSpPr>
        <p:spPr>
          <a:xfrm>
            <a:off x="567000" y="39099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2" name="TextBox 112"/>
          <p:cNvSpPr/>
          <p:nvPr/>
        </p:nvSpPr>
        <p:spPr>
          <a:xfrm>
            <a:off x="786240" y="39099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Takeshi Saji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3" name="TextBox 113"/>
          <p:cNvSpPr/>
          <p:nvPr/>
        </p:nvSpPr>
        <p:spPr>
          <a:xfrm>
            <a:off x="2231280" y="39099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a84a6b"/>
                </a:solidFill>
                <a:latin typeface="Segoe UI"/>
              </a:rPr>
              <a:t>Ечідзен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4" name="Rounded Rectangle 114"/>
          <p:cNvSpPr/>
          <p:nvPr/>
        </p:nvSpPr>
        <p:spPr>
          <a:xfrm>
            <a:off x="2797920" y="391464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5" name="TextBox 115"/>
          <p:cNvSpPr/>
          <p:nvPr/>
        </p:nvSpPr>
        <p:spPr>
          <a:xfrm>
            <a:off x="2797920" y="393480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6" name="TextBox 116"/>
          <p:cNvSpPr/>
          <p:nvPr/>
        </p:nvSpPr>
        <p:spPr>
          <a:xfrm>
            <a:off x="3108960" y="39099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10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7" name="TextBox 117"/>
          <p:cNvSpPr/>
          <p:nvPr/>
        </p:nvSpPr>
        <p:spPr>
          <a:xfrm>
            <a:off x="3474720" y="39099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21 684 – 60 125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8" name="TextBox 118"/>
          <p:cNvSpPr/>
          <p:nvPr/>
        </p:nvSpPr>
        <p:spPr>
          <a:xfrm>
            <a:off x="567000" y="40910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9" name="TextBox 119"/>
          <p:cNvSpPr/>
          <p:nvPr/>
        </p:nvSpPr>
        <p:spPr>
          <a:xfrm>
            <a:off x="786240" y="40910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Masahiro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0" name="TextBox 120"/>
          <p:cNvSpPr/>
          <p:nvPr/>
        </p:nvSpPr>
        <p:spPr>
          <a:xfrm>
            <a:off x="2231280" y="40910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1" name="Rounded Rectangle 121"/>
          <p:cNvSpPr/>
          <p:nvPr/>
        </p:nvSpPr>
        <p:spPr>
          <a:xfrm>
            <a:off x="2797920" y="40957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2" name="TextBox 122"/>
          <p:cNvSpPr/>
          <p:nvPr/>
        </p:nvSpPr>
        <p:spPr>
          <a:xfrm>
            <a:off x="2797920" y="41158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3" name="TextBox 123"/>
          <p:cNvSpPr/>
          <p:nvPr/>
        </p:nvSpPr>
        <p:spPr>
          <a:xfrm>
            <a:off x="3108960" y="40910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9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4" name="TextBox 124"/>
          <p:cNvSpPr/>
          <p:nvPr/>
        </p:nvSpPr>
        <p:spPr>
          <a:xfrm>
            <a:off x="3474720" y="40910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2 400 – 4 100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5" name="Rectangle 125"/>
          <p:cNvSpPr/>
          <p:nvPr/>
        </p:nvSpPr>
        <p:spPr>
          <a:xfrm>
            <a:off x="511920" y="425196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6" name="TextBox 126"/>
          <p:cNvSpPr/>
          <p:nvPr/>
        </p:nvSpPr>
        <p:spPr>
          <a:xfrm>
            <a:off x="567000" y="427212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7" name="TextBox 127"/>
          <p:cNvSpPr/>
          <p:nvPr/>
        </p:nvSpPr>
        <p:spPr>
          <a:xfrm>
            <a:off x="786240" y="427212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Takamura Hamono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8" name="TextBox 128"/>
          <p:cNvSpPr/>
          <p:nvPr/>
        </p:nvSpPr>
        <p:spPr>
          <a:xfrm>
            <a:off x="2231280" y="427212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a84a6b"/>
                </a:solidFill>
                <a:latin typeface="Segoe UI"/>
              </a:rPr>
              <a:t>Ечідзен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9" name="Rounded Rectangle 129"/>
          <p:cNvSpPr/>
          <p:nvPr/>
        </p:nvSpPr>
        <p:spPr>
          <a:xfrm>
            <a:off x="2797920" y="42768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0" name="TextBox 130"/>
          <p:cNvSpPr/>
          <p:nvPr/>
        </p:nvSpPr>
        <p:spPr>
          <a:xfrm>
            <a:off x="2797920" y="42969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1" name="TextBox 131"/>
          <p:cNvSpPr/>
          <p:nvPr/>
        </p:nvSpPr>
        <p:spPr>
          <a:xfrm>
            <a:off x="3108960" y="427212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8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2" name="TextBox 132"/>
          <p:cNvSpPr/>
          <p:nvPr/>
        </p:nvSpPr>
        <p:spPr>
          <a:xfrm>
            <a:off x="3474720" y="427212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5 320 – 11 990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3" name="TextBox 133"/>
          <p:cNvSpPr/>
          <p:nvPr/>
        </p:nvSpPr>
        <p:spPr>
          <a:xfrm>
            <a:off x="567000" y="445320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4" name="TextBox 134"/>
          <p:cNvSpPr/>
          <p:nvPr/>
        </p:nvSpPr>
        <p:spPr>
          <a:xfrm>
            <a:off x="786240" y="445320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Fuji Cutlery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5" name="TextBox 135"/>
          <p:cNvSpPr/>
          <p:nvPr/>
        </p:nvSpPr>
        <p:spPr>
          <a:xfrm>
            <a:off x="2231280" y="445320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6" name="Rounded Rectangle 136"/>
          <p:cNvSpPr/>
          <p:nvPr/>
        </p:nvSpPr>
        <p:spPr>
          <a:xfrm>
            <a:off x="2797920" y="445788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7" name="TextBox 137"/>
          <p:cNvSpPr/>
          <p:nvPr/>
        </p:nvSpPr>
        <p:spPr>
          <a:xfrm>
            <a:off x="2797920" y="447804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8" name="TextBox 138"/>
          <p:cNvSpPr/>
          <p:nvPr/>
        </p:nvSpPr>
        <p:spPr>
          <a:xfrm>
            <a:off x="3108960" y="445320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7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9" name="TextBox 139"/>
          <p:cNvSpPr/>
          <p:nvPr/>
        </p:nvSpPr>
        <p:spPr>
          <a:xfrm>
            <a:off x="3474720" y="44532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1 190 – 2 850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0" name="Rectangle 140"/>
          <p:cNvSpPr/>
          <p:nvPr/>
        </p:nvSpPr>
        <p:spPr>
          <a:xfrm>
            <a:off x="511920" y="46141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1" name="TextBox 141"/>
          <p:cNvSpPr/>
          <p:nvPr/>
        </p:nvSpPr>
        <p:spPr>
          <a:xfrm>
            <a:off x="567000" y="463428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2" name="TextBox 142"/>
          <p:cNvSpPr/>
          <p:nvPr/>
        </p:nvSpPr>
        <p:spPr>
          <a:xfrm>
            <a:off x="786240" y="463428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Tamahagane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3" name="TextBox 143"/>
          <p:cNvSpPr/>
          <p:nvPr/>
        </p:nvSpPr>
        <p:spPr>
          <a:xfrm>
            <a:off x="2231280" y="463428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4" name="Rounded Rectangle 144"/>
          <p:cNvSpPr/>
          <p:nvPr/>
        </p:nvSpPr>
        <p:spPr>
          <a:xfrm>
            <a:off x="2797920" y="46386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5" name="TextBox 145"/>
          <p:cNvSpPr/>
          <p:nvPr/>
        </p:nvSpPr>
        <p:spPr>
          <a:xfrm>
            <a:off x="2797920" y="46587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6" name="TextBox 146"/>
          <p:cNvSpPr/>
          <p:nvPr/>
        </p:nvSpPr>
        <p:spPr>
          <a:xfrm>
            <a:off x="3108960" y="463428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6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7" name="TextBox 147"/>
          <p:cNvSpPr/>
          <p:nvPr/>
        </p:nvSpPr>
        <p:spPr>
          <a:xfrm>
            <a:off x="3474720" y="463428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7 242 – 15 873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8" name="TextBox 148"/>
          <p:cNvSpPr/>
          <p:nvPr/>
        </p:nvSpPr>
        <p:spPr>
          <a:xfrm>
            <a:off x="567000" y="48153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9" name="TextBox 149"/>
          <p:cNvSpPr/>
          <p:nvPr/>
        </p:nvSpPr>
        <p:spPr>
          <a:xfrm>
            <a:off x="786240" y="48153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Fukamizu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0" name="TextBox 150"/>
          <p:cNvSpPr/>
          <p:nvPr/>
        </p:nvSpPr>
        <p:spPr>
          <a:xfrm>
            <a:off x="2231280" y="48153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2a7f86"/>
                </a:solidFill>
                <a:latin typeface="Segoe UI"/>
              </a:rPr>
              <a:t>Тоса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1" name="Rounded Rectangle 151"/>
          <p:cNvSpPr/>
          <p:nvPr/>
        </p:nvSpPr>
        <p:spPr>
          <a:xfrm>
            <a:off x="2797920" y="481968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2" name="TextBox 152"/>
          <p:cNvSpPr/>
          <p:nvPr/>
        </p:nvSpPr>
        <p:spPr>
          <a:xfrm>
            <a:off x="2797920" y="483984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3" name="TextBox 153"/>
          <p:cNvSpPr/>
          <p:nvPr/>
        </p:nvSpPr>
        <p:spPr>
          <a:xfrm>
            <a:off x="3108960" y="48153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4" name="TextBox 154"/>
          <p:cNvSpPr/>
          <p:nvPr/>
        </p:nvSpPr>
        <p:spPr>
          <a:xfrm>
            <a:off x="3474720" y="48153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2 610 – 4 850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5" name="Rectangle 155"/>
          <p:cNvSpPr/>
          <p:nvPr/>
        </p:nvSpPr>
        <p:spPr>
          <a:xfrm>
            <a:off x="511920" y="49762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6" name="TextBox 156"/>
          <p:cNvSpPr/>
          <p:nvPr/>
        </p:nvSpPr>
        <p:spPr>
          <a:xfrm>
            <a:off x="567000" y="49964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19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7" name="TextBox 157"/>
          <p:cNvSpPr/>
          <p:nvPr/>
        </p:nvSpPr>
        <p:spPr>
          <a:xfrm>
            <a:off x="786240" y="49964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Takanori Izumi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8" name="TextBox 158"/>
          <p:cNvSpPr/>
          <p:nvPr/>
        </p:nvSpPr>
        <p:spPr>
          <a:xfrm>
            <a:off x="2231280" y="49964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9" name="Rounded Rectangle 159"/>
          <p:cNvSpPr/>
          <p:nvPr/>
        </p:nvSpPr>
        <p:spPr>
          <a:xfrm>
            <a:off x="2797920" y="500076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0" name="TextBox 160"/>
          <p:cNvSpPr/>
          <p:nvPr/>
        </p:nvSpPr>
        <p:spPr>
          <a:xfrm>
            <a:off x="2797920" y="502092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1" name="TextBox 161"/>
          <p:cNvSpPr/>
          <p:nvPr/>
        </p:nvSpPr>
        <p:spPr>
          <a:xfrm>
            <a:off x="3108960" y="49964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2" name="TextBox 162"/>
          <p:cNvSpPr/>
          <p:nvPr/>
        </p:nvSpPr>
        <p:spPr>
          <a:xfrm>
            <a:off x="3474720" y="49964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1 980 – 3 080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3" name="TextBox 163"/>
          <p:cNvSpPr/>
          <p:nvPr/>
        </p:nvSpPr>
        <p:spPr>
          <a:xfrm>
            <a:off x="567000" y="51771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4" name="TextBox 164"/>
          <p:cNvSpPr/>
          <p:nvPr/>
        </p:nvSpPr>
        <p:spPr>
          <a:xfrm>
            <a:off x="786240" y="51771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Tomita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5" name="TextBox 165"/>
          <p:cNvSpPr/>
          <p:nvPr/>
        </p:nvSpPr>
        <p:spPr>
          <a:xfrm>
            <a:off x="2231280" y="51771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6" name="Rounded Rectangle 166"/>
          <p:cNvSpPr/>
          <p:nvPr/>
        </p:nvSpPr>
        <p:spPr>
          <a:xfrm>
            <a:off x="2797920" y="518184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7" name="TextBox 167"/>
          <p:cNvSpPr/>
          <p:nvPr/>
        </p:nvSpPr>
        <p:spPr>
          <a:xfrm>
            <a:off x="2797920" y="520200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8" name="TextBox 168"/>
          <p:cNvSpPr/>
          <p:nvPr/>
        </p:nvSpPr>
        <p:spPr>
          <a:xfrm>
            <a:off x="3108960" y="51771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5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9" name="TextBox 169"/>
          <p:cNvSpPr/>
          <p:nvPr/>
        </p:nvSpPr>
        <p:spPr>
          <a:xfrm>
            <a:off x="3474720" y="51771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3 215 – 6 600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0" name="Rectangle 170"/>
          <p:cNvSpPr/>
          <p:nvPr/>
        </p:nvSpPr>
        <p:spPr>
          <a:xfrm>
            <a:off x="511920" y="533844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1" name="TextBox 171"/>
          <p:cNvSpPr/>
          <p:nvPr/>
        </p:nvSpPr>
        <p:spPr>
          <a:xfrm>
            <a:off x="567000" y="53582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2" name="TextBox 172"/>
          <p:cNvSpPr/>
          <p:nvPr/>
        </p:nvSpPr>
        <p:spPr>
          <a:xfrm>
            <a:off x="786240" y="53582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Myojin (Naohito)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3" name="TextBox 173"/>
          <p:cNvSpPr/>
          <p:nvPr/>
        </p:nvSpPr>
        <p:spPr>
          <a:xfrm>
            <a:off x="2231280" y="53582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4" name="Rounded Rectangle 174"/>
          <p:cNvSpPr/>
          <p:nvPr/>
        </p:nvSpPr>
        <p:spPr>
          <a:xfrm>
            <a:off x="2797920" y="53629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5" name="TextBox 175"/>
          <p:cNvSpPr/>
          <p:nvPr/>
        </p:nvSpPr>
        <p:spPr>
          <a:xfrm>
            <a:off x="2797920" y="53830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6" name="TextBox 176"/>
          <p:cNvSpPr/>
          <p:nvPr/>
        </p:nvSpPr>
        <p:spPr>
          <a:xfrm>
            <a:off x="3108960" y="53582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7" name="TextBox 177"/>
          <p:cNvSpPr/>
          <p:nvPr/>
        </p:nvSpPr>
        <p:spPr>
          <a:xfrm>
            <a:off x="3474720" y="53582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13 200 – 17 450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8" name="TextBox 178"/>
          <p:cNvSpPr/>
          <p:nvPr/>
        </p:nvSpPr>
        <p:spPr>
          <a:xfrm>
            <a:off x="4306680" y="1536120"/>
            <a:ext cx="2192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9" name="TextBox 179"/>
          <p:cNvSpPr/>
          <p:nvPr/>
        </p:nvSpPr>
        <p:spPr>
          <a:xfrm>
            <a:off x="4526280" y="1536120"/>
            <a:ext cx="14079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0" name="TextBox 180"/>
          <p:cNvSpPr/>
          <p:nvPr/>
        </p:nvSpPr>
        <p:spPr>
          <a:xfrm>
            <a:off x="5970960" y="1536120"/>
            <a:ext cx="548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РЕГІОН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1" name="TextBox 181"/>
          <p:cNvSpPr/>
          <p:nvPr/>
        </p:nvSpPr>
        <p:spPr>
          <a:xfrm>
            <a:off x="6537960" y="1536120"/>
            <a:ext cx="29232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JP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2" name="TextBox 182"/>
          <p:cNvSpPr/>
          <p:nvPr/>
        </p:nvSpPr>
        <p:spPr>
          <a:xfrm>
            <a:off x="6849000" y="1536120"/>
            <a:ext cx="3470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SKU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3" name="TextBox 183"/>
          <p:cNvSpPr/>
          <p:nvPr/>
        </p:nvSpPr>
        <p:spPr>
          <a:xfrm>
            <a:off x="7214760" y="1536120"/>
            <a:ext cx="6944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4" name="Rectangle 184"/>
          <p:cNvSpPr/>
          <p:nvPr/>
        </p:nvSpPr>
        <p:spPr>
          <a:xfrm>
            <a:off x="4306680" y="1682640"/>
            <a:ext cx="3602520" cy="104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5" name="Rectangle 185"/>
          <p:cNvSpPr/>
          <p:nvPr/>
        </p:nvSpPr>
        <p:spPr>
          <a:xfrm>
            <a:off x="4251960" y="171720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6" name="TextBox 186"/>
          <p:cNvSpPr/>
          <p:nvPr/>
        </p:nvSpPr>
        <p:spPr>
          <a:xfrm>
            <a:off x="4306680" y="17373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7" name="TextBox 187"/>
          <p:cNvSpPr/>
          <p:nvPr/>
        </p:nvSpPr>
        <p:spPr>
          <a:xfrm>
            <a:off x="4526280" y="17373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Shigeki Tanaka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8" name="TextBox 188"/>
          <p:cNvSpPr/>
          <p:nvPr/>
        </p:nvSpPr>
        <p:spPr>
          <a:xfrm>
            <a:off x="5970960" y="17373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9" name="Rounded Rectangle 189"/>
          <p:cNvSpPr/>
          <p:nvPr/>
        </p:nvSpPr>
        <p:spPr>
          <a:xfrm>
            <a:off x="6537960" y="174204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0" name="TextBox 190"/>
          <p:cNvSpPr/>
          <p:nvPr/>
        </p:nvSpPr>
        <p:spPr>
          <a:xfrm>
            <a:off x="6537960" y="176220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1" name="TextBox 191"/>
          <p:cNvSpPr/>
          <p:nvPr/>
        </p:nvSpPr>
        <p:spPr>
          <a:xfrm>
            <a:off x="6849000" y="17373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4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2" name="TextBox 192"/>
          <p:cNvSpPr/>
          <p:nvPr/>
        </p:nvSpPr>
        <p:spPr>
          <a:xfrm>
            <a:off x="7214760" y="17373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5 203 – 26 990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3" name="TextBox 193"/>
          <p:cNvSpPr/>
          <p:nvPr/>
        </p:nvSpPr>
        <p:spPr>
          <a:xfrm>
            <a:off x="4306680" y="19184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4" name="TextBox 194"/>
          <p:cNvSpPr/>
          <p:nvPr/>
        </p:nvSpPr>
        <p:spPr>
          <a:xfrm>
            <a:off x="4526280" y="19184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Motokane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5" name="TextBox 195"/>
          <p:cNvSpPr/>
          <p:nvPr/>
        </p:nvSpPr>
        <p:spPr>
          <a:xfrm>
            <a:off x="5970960" y="19184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2a7f86"/>
                </a:solidFill>
                <a:latin typeface="Segoe UI"/>
              </a:rPr>
              <a:t>Тоса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6" name="Rounded Rectangle 196"/>
          <p:cNvSpPr/>
          <p:nvPr/>
        </p:nvSpPr>
        <p:spPr>
          <a:xfrm>
            <a:off x="6537960" y="19231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7" name="TextBox 197"/>
          <p:cNvSpPr/>
          <p:nvPr/>
        </p:nvSpPr>
        <p:spPr>
          <a:xfrm>
            <a:off x="6537960" y="19432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8" name="TextBox 198"/>
          <p:cNvSpPr/>
          <p:nvPr/>
        </p:nvSpPr>
        <p:spPr>
          <a:xfrm>
            <a:off x="6849000" y="19184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9" name="TextBox 199"/>
          <p:cNvSpPr/>
          <p:nvPr/>
        </p:nvSpPr>
        <p:spPr>
          <a:xfrm>
            <a:off x="7214760" y="19184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2 090 – 2 695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0" name="Rectangle 200"/>
          <p:cNvSpPr/>
          <p:nvPr/>
        </p:nvSpPr>
        <p:spPr>
          <a:xfrm>
            <a:off x="4251960" y="207936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1" name="TextBox 201"/>
          <p:cNvSpPr/>
          <p:nvPr/>
        </p:nvSpPr>
        <p:spPr>
          <a:xfrm>
            <a:off x="4306680" y="209952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2" name="TextBox 202"/>
          <p:cNvSpPr/>
          <p:nvPr/>
        </p:nvSpPr>
        <p:spPr>
          <a:xfrm>
            <a:off x="4526280" y="209952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Seto Iseya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3" name="TextBox 203"/>
          <p:cNvSpPr/>
          <p:nvPr/>
        </p:nvSpPr>
        <p:spPr>
          <a:xfrm>
            <a:off x="5970960" y="209952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4" name="Rounded Rectangle 204"/>
          <p:cNvSpPr/>
          <p:nvPr/>
        </p:nvSpPr>
        <p:spPr>
          <a:xfrm>
            <a:off x="6537960" y="21042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5" name="TextBox 205"/>
          <p:cNvSpPr/>
          <p:nvPr/>
        </p:nvSpPr>
        <p:spPr>
          <a:xfrm>
            <a:off x="6537960" y="21243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6" name="TextBox 206"/>
          <p:cNvSpPr/>
          <p:nvPr/>
        </p:nvSpPr>
        <p:spPr>
          <a:xfrm>
            <a:off x="6849000" y="209952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3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7" name="TextBox 207"/>
          <p:cNvSpPr/>
          <p:nvPr/>
        </p:nvSpPr>
        <p:spPr>
          <a:xfrm>
            <a:off x="7214760" y="209952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5 500 – 6 550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8" name="TextBox 208"/>
          <p:cNvSpPr/>
          <p:nvPr/>
        </p:nvSpPr>
        <p:spPr>
          <a:xfrm>
            <a:off x="4306680" y="228060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9" name="TextBox 209"/>
          <p:cNvSpPr/>
          <p:nvPr/>
        </p:nvSpPr>
        <p:spPr>
          <a:xfrm>
            <a:off x="4526280" y="228060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Hanakumagawa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0" name="TextBox 210"/>
          <p:cNvSpPr/>
          <p:nvPr/>
        </p:nvSpPr>
        <p:spPr>
          <a:xfrm>
            <a:off x="5970960" y="228060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1" name="Rounded Rectangle 211"/>
          <p:cNvSpPr/>
          <p:nvPr/>
        </p:nvSpPr>
        <p:spPr>
          <a:xfrm>
            <a:off x="6537960" y="22849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2" name="TextBox 212"/>
          <p:cNvSpPr/>
          <p:nvPr/>
        </p:nvSpPr>
        <p:spPr>
          <a:xfrm>
            <a:off x="6537960" y="23050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3" name="TextBox 213"/>
          <p:cNvSpPr/>
          <p:nvPr/>
        </p:nvSpPr>
        <p:spPr>
          <a:xfrm>
            <a:off x="6849000" y="228060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4" name="TextBox 214"/>
          <p:cNvSpPr/>
          <p:nvPr/>
        </p:nvSpPr>
        <p:spPr>
          <a:xfrm>
            <a:off x="7214760" y="2280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2 390 – 2 790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5" name="Rectangle 215"/>
          <p:cNvSpPr/>
          <p:nvPr/>
        </p:nvSpPr>
        <p:spPr>
          <a:xfrm>
            <a:off x="4251960" y="24415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6" name="TextBox 216"/>
          <p:cNvSpPr/>
          <p:nvPr/>
        </p:nvSpPr>
        <p:spPr>
          <a:xfrm>
            <a:off x="4306680" y="246168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7" name="TextBox 217"/>
          <p:cNvSpPr/>
          <p:nvPr/>
        </p:nvSpPr>
        <p:spPr>
          <a:xfrm>
            <a:off x="4526280" y="246168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Harukaze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8" name="TextBox 218"/>
          <p:cNvSpPr/>
          <p:nvPr/>
        </p:nvSpPr>
        <p:spPr>
          <a:xfrm>
            <a:off x="5970960" y="246168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9" name="Rounded Rectangle 219"/>
          <p:cNvSpPr/>
          <p:nvPr/>
        </p:nvSpPr>
        <p:spPr>
          <a:xfrm>
            <a:off x="6537960" y="24660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0" name="TextBox 220"/>
          <p:cNvSpPr/>
          <p:nvPr/>
        </p:nvSpPr>
        <p:spPr>
          <a:xfrm>
            <a:off x="6537960" y="24861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1" name="TextBox 221"/>
          <p:cNvSpPr/>
          <p:nvPr/>
        </p:nvSpPr>
        <p:spPr>
          <a:xfrm>
            <a:off x="6849000" y="246168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2" name="TextBox 222"/>
          <p:cNvSpPr/>
          <p:nvPr/>
        </p:nvSpPr>
        <p:spPr>
          <a:xfrm>
            <a:off x="7214760" y="246168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19 990 – 26 990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3" name="TextBox 223"/>
          <p:cNvSpPr/>
          <p:nvPr/>
        </p:nvSpPr>
        <p:spPr>
          <a:xfrm>
            <a:off x="4306680" y="26427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4" name="TextBox 224"/>
          <p:cNvSpPr/>
          <p:nvPr/>
        </p:nvSpPr>
        <p:spPr>
          <a:xfrm>
            <a:off x="4526280" y="26427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Inoguchi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5" name="TextBox 225"/>
          <p:cNvSpPr/>
          <p:nvPr/>
        </p:nvSpPr>
        <p:spPr>
          <a:xfrm>
            <a:off x="5970960" y="26427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6" name="Rounded Rectangle 226"/>
          <p:cNvSpPr/>
          <p:nvPr/>
        </p:nvSpPr>
        <p:spPr>
          <a:xfrm>
            <a:off x="6537960" y="264708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17" name="TextBox 227"/>
          <p:cNvSpPr/>
          <p:nvPr/>
        </p:nvSpPr>
        <p:spPr>
          <a:xfrm>
            <a:off x="6537960" y="266724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8" name="TextBox 228"/>
          <p:cNvSpPr/>
          <p:nvPr/>
        </p:nvSpPr>
        <p:spPr>
          <a:xfrm>
            <a:off x="6849000" y="26427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9" name="TextBox 229"/>
          <p:cNvSpPr/>
          <p:nvPr/>
        </p:nvSpPr>
        <p:spPr>
          <a:xfrm>
            <a:off x="7214760" y="26427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1 680 – 2 530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0" name="Rectangle 230"/>
          <p:cNvSpPr/>
          <p:nvPr/>
        </p:nvSpPr>
        <p:spPr>
          <a:xfrm>
            <a:off x="4251960" y="28036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1" name="TextBox 231"/>
          <p:cNvSpPr/>
          <p:nvPr/>
        </p:nvSpPr>
        <p:spPr>
          <a:xfrm>
            <a:off x="4306680" y="28238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2" name="TextBox 232"/>
          <p:cNvSpPr/>
          <p:nvPr/>
        </p:nvSpPr>
        <p:spPr>
          <a:xfrm>
            <a:off x="4526280" y="28238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Misono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3" name="TextBox 233"/>
          <p:cNvSpPr/>
          <p:nvPr/>
        </p:nvSpPr>
        <p:spPr>
          <a:xfrm>
            <a:off x="5970960" y="28238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4" name="Rounded Rectangle 234"/>
          <p:cNvSpPr/>
          <p:nvPr/>
        </p:nvSpPr>
        <p:spPr>
          <a:xfrm>
            <a:off x="6537960" y="282816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25" name="TextBox 235"/>
          <p:cNvSpPr/>
          <p:nvPr/>
        </p:nvSpPr>
        <p:spPr>
          <a:xfrm>
            <a:off x="6537960" y="284832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6" name="TextBox 236"/>
          <p:cNvSpPr/>
          <p:nvPr/>
        </p:nvSpPr>
        <p:spPr>
          <a:xfrm>
            <a:off x="6849000" y="28238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7" name="TextBox 237"/>
          <p:cNvSpPr/>
          <p:nvPr/>
        </p:nvSpPr>
        <p:spPr>
          <a:xfrm>
            <a:off x="7214760" y="28238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1 690 – 4 990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8" name="TextBox 238"/>
          <p:cNvSpPr/>
          <p:nvPr/>
        </p:nvSpPr>
        <p:spPr>
          <a:xfrm>
            <a:off x="4306680" y="30045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29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9" name="TextBox 239"/>
          <p:cNvSpPr/>
          <p:nvPr/>
        </p:nvSpPr>
        <p:spPr>
          <a:xfrm>
            <a:off x="4526280" y="30045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Nigara Hamono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0" name="TextBox 240"/>
          <p:cNvSpPr/>
          <p:nvPr/>
        </p:nvSpPr>
        <p:spPr>
          <a:xfrm>
            <a:off x="5970960" y="30045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b42e3a"/>
                </a:solidFill>
                <a:latin typeface="Segoe UI"/>
              </a:rPr>
              <a:t>Хіросакі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1" name="Rounded Rectangle 241"/>
          <p:cNvSpPr/>
          <p:nvPr/>
        </p:nvSpPr>
        <p:spPr>
          <a:xfrm>
            <a:off x="6537960" y="300924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2" name="TextBox 242"/>
          <p:cNvSpPr/>
          <p:nvPr/>
        </p:nvSpPr>
        <p:spPr>
          <a:xfrm>
            <a:off x="6537960" y="302940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3" name="TextBox 243"/>
          <p:cNvSpPr/>
          <p:nvPr/>
        </p:nvSpPr>
        <p:spPr>
          <a:xfrm>
            <a:off x="6849000" y="30045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4" name="TextBox 244"/>
          <p:cNvSpPr/>
          <p:nvPr/>
        </p:nvSpPr>
        <p:spPr>
          <a:xfrm>
            <a:off x="7214760" y="30045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14 800 – 16 740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5" name="Rectangle 245"/>
          <p:cNvSpPr/>
          <p:nvPr/>
        </p:nvSpPr>
        <p:spPr>
          <a:xfrm>
            <a:off x="4251960" y="31654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6" name="TextBox 246"/>
          <p:cNvSpPr/>
          <p:nvPr/>
        </p:nvSpPr>
        <p:spPr>
          <a:xfrm>
            <a:off x="4306680" y="31856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b42e3a"/>
                </a:solidFill>
                <a:latin typeface="Segoe UI"/>
              </a:rPr>
              <a:t>30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7" name="TextBox 247"/>
          <p:cNvSpPr/>
          <p:nvPr/>
        </p:nvSpPr>
        <p:spPr>
          <a:xfrm>
            <a:off x="4526280" y="31856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b42e3a"/>
                </a:solidFill>
                <a:latin typeface="Segoe UI"/>
              </a:rPr>
              <a:t>Sakai Takayuki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8" name="TextBox 248"/>
          <p:cNvSpPr/>
          <p:nvPr/>
        </p:nvSpPr>
        <p:spPr>
          <a:xfrm>
            <a:off x="5970960" y="31856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9" name="Rounded Rectangle 249"/>
          <p:cNvSpPr/>
          <p:nvPr/>
        </p:nvSpPr>
        <p:spPr>
          <a:xfrm>
            <a:off x="6537960" y="31903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0" name="TextBox 250"/>
          <p:cNvSpPr/>
          <p:nvPr/>
        </p:nvSpPr>
        <p:spPr>
          <a:xfrm>
            <a:off x="6537960" y="32104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1" name="TextBox 251"/>
          <p:cNvSpPr/>
          <p:nvPr/>
        </p:nvSpPr>
        <p:spPr>
          <a:xfrm>
            <a:off x="6849000" y="31856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b42e3a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2" name="TextBox 252"/>
          <p:cNvSpPr/>
          <p:nvPr/>
        </p:nvSpPr>
        <p:spPr>
          <a:xfrm>
            <a:off x="7214760" y="31856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7 460 – 7 640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3" name="TextBox 253"/>
          <p:cNvSpPr/>
          <p:nvPr/>
        </p:nvSpPr>
        <p:spPr>
          <a:xfrm>
            <a:off x="4306680" y="336672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4" name="TextBox 254"/>
          <p:cNvSpPr/>
          <p:nvPr/>
        </p:nvSpPr>
        <p:spPr>
          <a:xfrm>
            <a:off x="4526280" y="336672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Sakai Yoshiharu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5" name="TextBox 255"/>
          <p:cNvSpPr/>
          <p:nvPr/>
        </p:nvSpPr>
        <p:spPr>
          <a:xfrm>
            <a:off x="5970960" y="336672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6" name="Rounded Rectangle 256"/>
          <p:cNvSpPr/>
          <p:nvPr/>
        </p:nvSpPr>
        <p:spPr>
          <a:xfrm>
            <a:off x="6537960" y="33714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47" name="TextBox 257"/>
          <p:cNvSpPr/>
          <p:nvPr/>
        </p:nvSpPr>
        <p:spPr>
          <a:xfrm>
            <a:off x="6537960" y="33915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8" name="TextBox 258"/>
          <p:cNvSpPr/>
          <p:nvPr/>
        </p:nvSpPr>
        <p:spPr>
          <a:xfrm>
            <a:off x="6849000" y="336672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9" name="TextBox 259"/>
          <p:cNvSpPr/>
          <p:nvPr/>
        </p:nvSpPr>
        <p:spPr>
          <a:xfrm>
            <a:off x="7214760" y="336672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6 380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0" name="Rectangle 260"/>
          <p:cNvSpPr/>
          <p:nvPr/>
        </p:nvSpPr>
        <p:spPr>
          <a:xfrm>
            <a:off x="4251960" y="352764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1" name="TextBox 261"/>
          <p:cNvSpPr/>
          <p:nvPr/>
        </p:nvSpPr>
        <p:spPr>
          <a:xfrm>
            <a:off x="4306680" y="354780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2" name="TextBox 262"/>
          <p:cNvSpPr/>
          <p:nvPr/>
        </p:nvSpPr>
        <p:spPr>
          <a:xfrm>
            <a:off x="4526280" y="354780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Shimomura Kihan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3" name="TextBox 263"/>
          <p:cNvSpPr/>
          <p:nvPr/>
        </p:nvSpPr>
        <p:spPr>
          <a:xfrm>
            <a:off x="5970960" y="354780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4" name="Rounded Rectangle 264"/>
          <p:cNvSpPr/>
          <p:nvPr/>
        </p:nvSpPr>
        <p:spPr>
          <a:xfrm>
            <a:off x="6537960" y="355248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5" name="TextBox 265"/>
          <p:cNvSpPr/>
          <p:nvPr/>
        </p:nvSpPr>
        <p:spPr>
          <a:xfrm>
            <a:off x="6537960" y="357264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6" name="TextBox 266"/>
          <p:cNvSpPr/>
          <p:nvPr/>
        </p:nvSpPr>
        <p:spPr>
          <a:xfrm>
            <a:off x="6849000" y="354780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7" name="TextBox 267"/>
          <p:cNvSpPr/>
          <p:nvPr/>
        </p:nvSpPr>
        <p:spPr>
          <a:xfrm>
            <a:off x="7214760" y="35478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6 140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8" name="TextBox 268"/>
          <p:cNvSpPr/>
          <p:nvPr/>
        </p:nvSpPr>
        <p:spPr>
          <a:xfrm>
            <a:off x="4306680" y="372888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9" name="TextBox 269"/>
          <p:cNvSpPr/>
          <p:nvPr/>
        </p:nvSpPr>
        <p:spPr>
          <a:xfrm>
            <a:off x="4526280" y="372888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Teruhide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0" name="TextBox 270"/>
          <p:cNvSpPr/>
          <p:nvPr/>
        </p:nvSpPr>
        <p:spPr>
          <a:xfrm>
            <a:off x="5970960" y="372888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1" name="Rounded Rectangle 271"/>
          <p:cNvSpPr/>
          <p:nvPr/>
        </p:nvSpPr>
        <p:spPr>
          <a:xfrm>
            <a:off x="6537960" y="373356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2" name="TextBox 272"/>
          <p:cNvSpPr/>
          <p:nvPr/>
        </p:nvSpPr>
        <p:spPr>
          <a:xfrm>
            <a:off x="6537960" y="375372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3" name="TextBox 273"/>
          <p:cNvSpPr/>
          <p:nvPr/>
        </p:nvSpPr>
        <p:spPr>
          <a:xfrm>
            <a:off x="6849000" y="372888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2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4" name="TextBox 274"/>
          <p:cNvSpPr/>
          <p:nvPr/>
        </p:nvSpPr>
        <p:spPr>
          <a:xfrm>
            <a:off x="7214760" y="372888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8 000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5" name="Rectangle 275"/>
          <p:cNvSpPr/>
          <p:nvPr/>
        </p:nvSpPr>
        <p:spPr>
          <a:xfrm>
            <a:off x="4251960" y="388980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6" name="TextBox 276"/>
          <p:cNvSpPr/>
          <p:nvPr/>
        </p:nvSpPr>
        <p:spPr>
          <a:xfrm>
            <a:off x="4306680" y="39099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7" name="TextBox 277"/>
          <p:cNvSpPr/>
          <p:nvPr/>
        </p:nvSpPr>
        <p:spPr>
          <a:xfrm>
            <a:off x="4526280" y="39099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Anryu Hamono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8" name="TextBox 278"/>
          <p:cNvSpPr/>
          <p:nvPr/>
        </p:nvSpPr>
        <p:spPr>
          <a:xfrm>
            <a:off x="5970960" y="39099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a84a6b"/>
                </a:solidFill>
                <a:latin typeface="Segoe UI"/>
              </a:rPr>
              <a:t>Ечідзен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9" name="Rounded Rectangle 279"/>
          <p:cNvSpPr/>
          <p:nvPr/>
        </p:nvSpPr>
        <p:spPr>
          <a:xfrm>
            <a:off x="6537960" y="391464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0" name="TextBox 280"/>
          <p:cNvSpPr/>
          <p:nvPr/>
        </p:nvSpPr>
        <p:spPr>
          <a:xfrm>
            <a:off x="6537960" y="393480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1" name="TextBox 281"/>
          <p:cNvSpPr/>
          <p:nvPr/>
        </p:nvSpPr>
        <p:spPr>
          <a:xfrm>
            <a:off x="6849000" y="39099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2" name="TextBox 282"/>
          <p:cNvSpPr/>
          <p:nvPr/>
        </p:nvSpPr>
        <p:spPr>
          <a:xfrm>
            <a:off x="7214760" y="39099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3" name="TextBox 283"/>
          <p:cNvSpPr/>
          <p:nvPr/>
        </p:nvSpPr>
        <p:spPr>
          <a:xfrm>
            <a:off x="4306680" y="40910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4" name="TextBox 284"/>
          <p:cNvSpPr/>
          <p:nvPr/>
        </p:nvSpPr>
        <p:spPr>
          <a:xfrm>
            <a:off x="4526280" y="40910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Etsu / Ittetsu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5" name="TextBox 285"/>
          <p:cNvSpPr/>
          <p:nvPr/>
        </p:nvSpPr>
        <p:spPr>
          <a:xfrm>
            <a:off x="5970960" y="40910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a84a6b"/>
                </a:solidFill>
                <a:latin typeface="Segoe UI"/>
              </a:rPr>
              <a:t>Ечідзен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6" name="Rounded Rectangle 286"/>
          <p:cNvSpPr/>
          <p:nvPr/>
        </p:nvSpPr>
        <p:spPr>
          <a:xfrm>
            <a:off x="6537960" y="40957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7" name="TextBox 287"/>
          <p:cNvSpPr/>
          <p:nvPr/>
        </p:nvSpPr>
        <p:spPr>
          <a:xfrm>
            <a:off x="6537960" y="41158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8" name="TextBox 288"/>
          <p:cNvSpPr/>
          <p:nvPr/>
        </p:nvSpPr>
        <p:spPr>
          <a:xfrm>
            <a:off x="6849000" y="40910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9" name="TextBox 289"/>
          <p:cNvSpPr/>
          <p:nvPr/>
        </p:nvSpPr>
        <p:spPr>
          <a:xfrm>
            <a:off x="7214760" y="40910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16 677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0" name="Rectangle 290"/>
          <p:cNvSpPr/>
          <p:nvPr/>
        </p:nvSpPr>
        <p:spPr>
          <a:xfrm>
            <a:off x="4251960" y="425196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81" name="TextBox 291"/>
          <p:cNvSpPr/>
          <p:nvPr/>
        </p:nvSpPr>
        <p:spPr>
          <a:xfrm>
            <a:off x="4306680" y="427212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2" name="TextBox 292"/>
          <p:cNvSpPr/>
          <p:nvPr/>
        </p:nvSpPr>
        <p:spPr>
          <a:xfrm>
            <a:off x="4526280" y="427212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Gyokucho / Kamisaku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3" name="TextBox 293"/>
          <p:cNvSpPr/>
          <p:nvPr/>
        </p:nvSpPr>
        <p:spPr>
          <a:xfrm>
            <a:off x="5970960" y="427212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a84a6b"/>
                </a:solidFill>
                <a:latin typeface="Segoe UI"/>
              </a:rPr>
              <a:t>Ечідзен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4" name="Rounded Rectangle 294"/>
          <p:cNvSpPr/>
          <p:nvPr/>
        </p:nvSpPr>
        <p:spPr>
          <a:xfrm>
            <a:off x="6537960" y="42768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85" name="TextBox 295"/>
          <p:cNvSpPr/>
          <p:nvPr/>
        </p:nvSpPr>
        <p:spPr>
          <a:xfrm>
            <a:off x="6537960" y="42969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6" name="TextBox 296"/>
          <p:cNvSpPr/>
          <p:nvPr/>
        </p:nvSpPr>
        <p:spPr>
          <a:xfrm>
            <a:off x="6849000" y="427212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7" name="TextBox 297"/>
          <p:cNvSpPr/>
          <p:nvPr/>
        </p:nvSpPr>
        <p:spPr>
          <a:xfrm>
            <a:off x="7214760" y="427212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7 300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8" name="TextBox 298"/>
          <p:cNvSpPr/>
          <p:nvPr/>
        </p:nvSpPr>
        <p:spPr>
          <a:xfrm>
            <a:off x="4306680" y="445320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9" name="TextBox 299"/>
          <p:cNvSpPr/>
          <p:nvPr/>
        </p:nvSpPr>
        <p:spPr>
          <a:xfrm>
            <a:off x="4526280" y="445320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Hatsukokoro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0" name="TextBox 300"/>
          <p:cNvSpPr/>
          <p:nvPr/>
        </p:nvSpPr>
        <p:spPr>
          <a:xfrm>
            <a:off x="5970960" y="445320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1" name="Rounded Rectangle 301"/>
          <p:cNvSpPr/>
          <p:nvPr/>
        </p:nvSpPr>
        <p:spPr>
          <a:xfrm>
            <a:off x="6537960" y="445788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2" name="TextBox 302"/>
          <p:cNvSpPr/>
          <p:nvPr/>
        </p:nvSpPr>
        <p:spPr>
          <a:xfrm>
            <a:off x="6537960" y="447804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3" name="TextBox 303"/>
          <p:cNvSpPr/>
          <p:nvPr/>
        </p:nvSpPr>
        <p:spPr>
          <a:xfrm>
            <a:off x="6849000" y="445320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4" name="TextBox 304"/>
          <p:cNvSpPr/>
          <p:nvPr/>
        </p:nvSpPr>
        <p:spPr>
          <a:xfrm>
            <a:off x="7214760" y="44532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13 865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5" name="Rectangle 305"/>
          <p:cNvSpPr/>
          <p:nvPr/>
        </p:nvSpPr>
        <p:spPr>
          <a:xfrm>
            <a:off x="4251960" y="46141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96" name="TextBox 306"/>
          <p:cNvSpPr/>
          <p:nvPr/>
        </p:nvSpPr>
        <p:spPr>
          <a:xfrm>
            <a:off x="4306680" y="463428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7" name="TextBox 307"/>
          <p:cNvSpPr/>
          <p:nvPr/>
        </p:nvSpPr>
        <p:spPr>
          <a:xfrm>
            <a:off x="4526280" y="463428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Higonokami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8" name="TextBox 308"/>
          <p:cNvSpPr/>
          <p:nvPr/>
        </p:nvSpPr>
        <p:spPr>
          <a:xfrm>
            <a:off x="5970960" y="463428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9" name="Rounded Rectangle 309"/>
          <p:cNvSpPr/>
          <p:nvPr/>
        </p:nvSpPr>
        <p:spPr>
          <a:xfrm>
            <a:off x="6537960" y="46386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0" name="TextBox 310"/>
          <p:cNvSpPr/>
          <p:nvPr/>
        </p:nvSpPr>
        <p:spPr>
          <a:xfrm>
            <a:off x="6537960" y="46587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1" name="TextBox 311"/>
          <p:cNvSpPr/>
          <p:nvPr/>
        </p:nvSpPr>
        <p:spPr>
          <a:xfrm>
            <a:off x="6849000" y="463428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2" name="TextBox 312"/>
          <p:cNvSpPr/>
          <p:nvPr/>
        </p:nvSpPr>
        <p:spPr>
          <a:xfrm>
            <a:off x="7214760" y="463428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2 090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3" name="TextBox 313"/>
          <p:cNvSpPr/>
          <p:nvPr/>
        </p:nvSpPr>
        <p:spPr>
          <a:xfrm>
            <a:off x="4306680" y="48153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39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4" name="TextBox 314"/>
          <p:cNvSpPr/>
          <p:nvPr/>
        </p:nvSpPr>
        <p:spPr>
          <a:xfrm>
            <a:off x="4526280" y="48153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Hisashige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5" name="TextBox 315"/>
          <p:cNvSpPr/>
          <p:nvPr/>
        </p:nvSpPr>
        <p:spPr>
          <a:xfrm>
            <a:off x="5970960" y="48153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6" name="Rounded Rectangle 316"/>
          <p:cNvSpPr/>
          <p:nvPr/>
        </p:nvSpPr>
        <p:spPr>
          <a:xfrm>
            <a:off x="6537960" y="481968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07" name="TextBox 317"/>
          <p:cNvSpPr/>
          <p:nvPr/>
        </p:nvSpPr>
        <p:spPr>
          <a:xfrm>
            <a:off x="6537960" y="483984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8" name="TextBox 318"/>
          <p:cNvSpPr/>
          <p:nvPr/>
        </p:nvSpPr>
        <p:spPr>
          <a:xfrm>
            <a:off x="6849000" y="48153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9" name="TextBox 319"/>
          <p:cNvSpPr/>
          <p:nvPr/>
        </p:nvSpPr>
        <p:spPr>
          <a:xfrm>
            <a:off x="7214760" y="48153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3 520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0" name="Rectangle 320"/>
          <p:cNvSpPr/>
          <p:nvPr/>
        </p:nvSpPr>
        <p:spPr>
          <a:xfrm>
            <a:off x="4251960" y="49762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1" name="TextBox 321"/>
          <p:cNvSpPr/>
          <p:nvPr/>
        </p:nvSpPr>
        <p:spPr>
          <a:xfrm>
            <a:off x="4306680" y="49964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2" name="TextBox 322"/>
          <p:cNvSpPr/>
          <p:nvPr/>
        </p:nvSpPr>
        <p:spPr>
          <a:xfrm>
            <a:off x="4526280" y="49964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JCK Natures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3" name="TextBox 323"/>
          <p:cNvSpPr/>
          <p:nvPr/>
        </p:nvSpPr>
        <p:spPr>
          <a:xfrm>
            <a:off x="5970960" y="49964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4" name="Rounded Rectangle 324"/>
          <p:cNvSpPr/>
          <p:nvPr/>
        </p:nvSpPr>
        <p:spPr>
          <a:xfrm>
            <a:off x="6537960" y="500076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5" name="TextBox 325"/>
          <p:cNvSpPr/>
          <p:nvPr/>
        </p:nvSpPr>
        <p:spPr>
          <a:xfrm>
            <a:off x="6537960" y="502092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6" name="TextBox 326"/>
          <p:cNvSpPr/>
          <p:nvPr/>
        </p:nvSpPr>
        <p:spPr>
          <a:xfrm>
            <a:off x="6849000" y="49964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7" name="TextBox 327"/>
          <p:cNvSpPr/>
          <p:nvPr/>
        </p:nvSpPr>
        <p:spPr>
          <a:xfrm>
            <a:off x="7214760" y="49964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12 220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8" name="TextBox 328"/>
          <p:cNvSpPr/>
          <p:nvPr/>
        </p:nvSpPr>
        <p:spPr>
          <a:xfrm>
            <a:off x="4306680" y="51771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9" name="TextBox 329"/>
          <p:cNvSpPr/>
          <p:nvPr/>
        </p:nvSpPr>
        <p:spPr>
          <a:xfrm>
            <a:off x="4526280" y="51771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KAI Sekimagoroku Imayo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0" name="TextBox 330"/>
          <p:cNvSpPr/>
          <p:nvPr/>
        </p:nvSpPr>
        <p:spPr>
          <a:xfrm>
            <a:off x="5970960" y="51771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1" name="Rounded Rectangle 331"/>
          <p:cNvSpPr/>
          <p:nvPr/>
        </p:nvSpPr>
        <p:spPr>
          <a:xfrm>
            <a:off x="6537960" y="518184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2" name="TextBox 332"/>
          <p:cNvSpPr/>
          <p:nvPr/>
        </p:nvSpPr>
        <p:spPr>
          <a:xfrm>
            <a:off x="6537960" y="520200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3" name="TextBox 333"/>
          <p:cNvSpPr/>
          <p:nvPr/>
        </p:nvSpPr>
        <p:spPr>
          <a:xfrm>
            <a:off x="6849000" y="51771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4" name="TextBox 334"/>
          <p:cNvSpPr/>
          <p:nvPr/>
        </p:nvSpPr>
        <p:spPr>
          <a:xfrm>
            <a:off x="7214760" y="51771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2 700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5" name="Rectangle 335"/>
          <p:cNvSpPr/>
          <p:nvPr/>
        </p:nvSpPr>
        <p:spPr>
          <a:xfrm>
            <a:off x="4251960" y="533844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6" name="TextBox 336"/>
          <p:cNvSpPr/>
          <p:nvPr/>
        </p:nvSpPr>
        <p:spPr>
          <a:xfrm>
            <a:off x="4306680" y="53582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7" name="TextBox 337"/>
          <p:cNvSpPr/>
          <p:nvPr/>
        </p:nvSpPr>
        <p:spPr>
          <a:xfrm>
            <a:off x="4526280" y="53582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Kanetaka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8" name="TextBox 338"/>
          <p:cNvSpPr/>
          <p:nvPr/>
        </p:nvSpPr>
        <p:spPr>
          <a:xfrm>
            <a:off x="5970960" y="53582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9" name="Rounded Rectangle 339"/>
          <p:cNvSpPr/>
          <p:nvPr/>
        </p:nvSpPr>
        <p:spPr>
          <a:xfrm>
            <a:off x="6537960" y="53629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30" name="TextBox 340"/>
          <p:cNvSpPr/>
          <p:nvPr/>
        </p:nvSpPr>
        <p:spPr>
          <a:xfrm>
            <a:off x="6537960" y="53830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1" name="TextBox 341"/>
          <p:cNvSpPr/>
          <p:nvPr/>
        </p:nvSpPr>
        <p:spPr>
          <a:xfrm>
            <a:off x="6849000" y="53582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2" name="TextBox 342"/>
          <p:cNvSpPr/>
          <p:nvPr/>
        </p:nvSpPr>
        <p:spPr>
          <a:xfrm>
            <a:off x="7214760" y="53582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3 520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3" name="TextBox 343"/>
          <p:cNvSpPr/>
          <p:nvPr/>
        </p:nvSpPr>
        <p:spPr>
          <a:xfrm>
            <a:off x="8046720" y="1536120"/>
            <a:ext cx="2192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№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4" name="TextBox 344"/>
          <p:cNvSpPr/>
          <p:nvPr/>
        </p:nvSpPr>
        <p:spPr>
          <a:xfrm>
            <a:off x="8266320" y="1536120"/>
            <a:ext cx="14079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БРЕНД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5" name="TextBox 345"/>
          <p:cNvSpPr/>
          <p:nvPr/>
        </p:nvSpPr>
        <p:spPr>
          <a:xfrm>
            <a:off x="9711000" y="1536120"/>
            <a:ext cx="54828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РЕГІОН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6" name="TextBox 346"/>
          <p:cNvSpPr/>
          <p:nvPr/>
        </p:nvSpPr>
        <p:spPr>
          <a:xfrm>
            <a:off x="10278000" y="1536120"/>
            <a:ext cx="29232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JP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7" name="TextBox 347"/>
          <p:cNvSpPr/>
          <p:nvPr/>
        </p:nvSpPr>
        <p:spPr>
          <a:xfrm>
            <a:off x="10588680" y="1536120"/>
            <a:ext cx="3470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SKU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8" name="TextBox 348"/>
          <p:cNvSpPr/>
          <p:nvPr/>
        </p:nvSpPr>
        <p:spPr>
          <a:xfrm>
            <a:off x="10954440" y="1536120"/>
            <a:ext cx="69444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9" name="Rectangle 349"/>
          <p:cNvSpPr/>
          <p:nvPr/>
        </p:nvSpPr>
        <p:spPr>
          <a:xfrm>
            <a:off x="8046720" y="1682640"/>
            <a:ext cx="3602520" cy="1044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0" name="Rectangle 350"/>
          <p:cNvSpPr/>
          <p:nvPr/>
        </p:nvSpPr>
        <p:spPr>
          <a:xfrm>
            <a:off x="7992000" y="171720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1" name="TextBox 351"/>
          <p:cNvSpPr/>
          <p:nvPr/>
        </p:nvSpPr>
        <p:spPr>
          <a:xfrm>
            <a:off x="8046720" y="17373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2" name="TextBox 352"/>
          <p:cNvSpPr/>
          <p:nvPr/>
        </p:nvSpPr>
        <p:spPr>
          <a:xfrm>
            <a:off x="8266320" y="17373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Kazuhira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3" name="TextBox 353"/>
          <p:cNvSpPr/>
          <p:nvPr/>
        </p:nvSpPr>
        <p:spPr>
          <a:xfrm>
            <a:off x="9711000" y="17373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4" name="Rounded Rectangle 354"/>
          <p:cNvSpPr/>
          <p:nvPr/>
        </p:nvSpPr>
        <p:spPr>
          <a:xfrm>
            <a:off x="10278000" y="174204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5" name="TextBox 355"/>
          <p:cNvSpPr/>
          <p:nvPr/>
        </p:nvSpPr>
        <p:spPr>
          <a:xfrm>
            <a:off x="10278000" y="176220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6" name="TextBox 356"/>
          <p:cNvSpPr/>
          <p:nvPr/>
        </p:nvSpPr>
        <p:spPr>
          <a:xfrm>
            <a:off x="10588680" y="17373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7" name="TextBox 357"/>
          <p:cNvSpPr/>
          <p:nvPr/>
        </p:nvSpPr>
        <p:spPr>
          <a:xfrm>
            <a:off x="10954440" y="17373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8" name="TextBox 358"/>
          <p:cNvSpPr/>
          <p:nvPr/>
        </p:nvSpPr>
        <p:spPr>
          <a:xfrm>
            <a:off x="8046720" y="19184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9" name="TextBox 359"/>
          <p:cNvSpPr/>
          <p:nvPr/>
        </p:nvSpPr>
        <p:spPr>
          <a:xfrm>
            <a:off x="8266320" y="19184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Kiyokane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0" name="TextBox 360"/>
          <p:cNvSpPr/>
          <p:nvPr/>
        </p:nvSpPr>
        <p:spPr>
          <a:xfrm>
            <a:off x="9711000" y="19184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2a7f86"/>
                </a:solidFill>
                <a:latin typeface="Segoe UI"/>
              </a:rPr>
              <a:t>Тоса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1" name="Rounded Rectangle 361"/>
          <p:cNvSpPr/>
          <p:nvPr/>
        </p:nvSpPr>
        <p:spPr>
          <a:xfrm>
            <a:off x="10278000" y="19231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2" name="TextBox 362"/>
          <p:cNvSpPr/>
          <p:nvPr/>
        </p:nvSpPr>
        <p:spPr>
          <a:xfrm>
            <a:off x="10278000" y="19432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3" name="TextBox 363"/>
          <p:cNvSpPr/>
          <p:nvPr/>
        </p:nvSpPr>
        <p:spPr>
          <a:xfrm>
            <a:off x="10588680" y="19184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4" name="TextBox 364"/>
          <p:cNvSpPr/>
          <p:nvPr/>
        </p:nvSpPr>
        <p:spPr>
          <a:xfrm>
            <a:off x="10954440" y="19184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4 590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5" name="Rectangle 365"/>
          <p:cNvSpPr/>
          <p:nvPr/>
        </p:nvSpPr>
        <p:spPr>
          <a:xfrm>
            <a:off x="7992000" y="207936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56" name="TextBox 366"/>
          <p:cNvSpPr/>
          <p:nvPr/>
        </p:nvSpPr>
        <p:spPr>
          <a:xfrm>
            <a:off x="8046720" y="209952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7" name="TextBox 367"/>
          <p:cNvSpPr/>
          <p:nvPr/>
        </p:nvSpPr>
        <p:spPr>
          <a:xfrm>
            <a:off x="8266320" y="209952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Mikihisa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8" name="TextBox 368"/>
          <p:cNvSpPr/>
          <p:nvPr/>
        </p:nvSpPr>
        <p:spPr>
          <a:xfrm>
            <a:off x="9711000" y="209952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9" name="Rounded Rectangle 369"/>
          <p:cNvSpPr/>
          <p:nvPr/>
        </p:nvSpPr>
        <p:spPr>
          <a:xfrm>
            <a:off x="10278000" y="21042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0" name="TextBox 370"/>
          <p:cNvSpPr/>
          <p:nvPr/>
        </p:nvSpPr>
        <p:spPr>
          <a:xfrm>
            <a:off x="10278000" y="21243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1" name="TextBox 371"/>
          <p:cNvSpPr/>
          <p:nvPr/>
        </p:nvSpPr>
        <p:spPr>
          <a:xfrm>
            <a:off x="10588680" y="209952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2" name="TextBox 372"/>
          <p:cNvSpPr/>
          <p:nvPr/>
        </p:nvSpPr>
        <p:spPr>
          <a:xfrm>
            <a:off x="10954440" y="209952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3" name="TextBox 373"/>
          <p:cNvSpPr/>
          <p:nvPr/>
        </p:nvSpPr>
        <p:spPr>
          <a:xfrm>
            <a:off x="8046720" y="228060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4" name="TextBox 374"/>
          <p:cNvSpPr/>
          <p:nvPr/>
        </p:nvSpPr>
        <p:spPr>
          <a:xfrm>
            <a:off x="8266320" y="228060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Sakai Haruhiko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5" name="TextBox 375"/>
          <p:cNvSpPr/>
          <p:nvPr/>
        </p:nvSpPr>
        <p:spPr>
          <a:xfrm>
            <a:off x="9711000" y="228060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6" name="Rounded Rectangle 376"/>
          <p:cNvSpPr/>
          <p:nvPr/>
        </p:nvSpPr>
        <p:spPr>
          <a:xfrm>
            <a:off x="10278000" y="22849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7" name="TextBox 377"/>
          <p:cNvSpPr/>
          <p:nvPr/>
        </p:nvSpPr>
        <p:spPr>
          <a:xfrm>
            <a:off x="10278000" y="23050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8" name="TextBox 378"/>
          <p:cNvSpPr/>
          <p:nvPr/>
        </p:nvSpPr>
        <p:spPr>
          <a:xfrm>
            <a:off x="10588680" y="228060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9" name="TextBox 379"/>
          <p:cNvSpPr/>
          <p:nvPr/>
        </p:nvSpPr>
        <p:spPr>
          <a:xfrm>
            <a:off x="10954440" y="22806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7 040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0" name="Rectangle 380"/>
          <p:cNvSpPr/>
          <p:nvPr/>
        </p:nvSpPr>
        <p:spPr>
          <a:xfrm>
            <a:off x="7992000" y="244152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1" name="TextBox 381"/>
          <p:cNvSpPr/>
          <p:nvPr/>
        </p:nvSpPr>
        <p:spPr>
          <a:xfrm>
            <a:off x="8046720" y="246168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47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2" name="TextBox 382"/>
          <p:cNvSpPr/>
          <p:nvPr/>
        </p:nvSpPr>
        <p:spPr>
          <a:xfrm>
            <a:off x="8266320" y="246168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Sakai Ichiji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3" name="TextBox 383"/>
          <p:cNvSpPr/>
          <p:nvPr/>
        </p:nvSpPr>
        <p:spPr>
          <a:xfrm>
            <a:off x="9711000" y="246168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4" name="Rounded Rectangle 384"/>
          <p:cNvSpPr/>
          <p:nvPr/>
        </p:nvSpPr>
        <p:spPr>
          <a:xfrm>
            <a:off x="10278000" y="24660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5" name="TextBox 385"/>
          <p:cNvSpPr/>
          <p:nvPr/>
        </p:nvSpPr>
        <p:spPr>
          <a:xfrm>
            <a:off x="10278000" y="24861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6" name="TextBox 386"/>
          <p:cNvSpPr/>
          <p:nvPr/>
        </p:nvSpPr>
        <p:spPr>
          <a:xfrm>
            <a:off x="10588680" y="246168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7" name="TextBox 387"/>
          <p:cNvSpPr/>
          <p:nvPr/>
        </p:nvSpPr>
        <p:spPr>
          <a:xfrm>
            <a:off x="10954440" y="246168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1 999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8" name="TextBox 388"/>
          <p:cNvSpPr/>
          <p:nvPr/>
        </p:nvSpPr>
        <p:spPr>
          <a:xfrm>
            <a:off x="8046720" y="26427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9" name="TextBox 389"/>
          <p:cNvSpPr/>
          <p:nvPr/>
        </p:nvSpPr>
        <p:spPr>
          <a:xfrm>
            <a:off x="8266320" y="26427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Satake Masamune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0" name="TextBox 390"/>
          <p:cNvSpPr/>
          <p:nvPr/>
        </p:nvSpPr>
        <p:spPr>
          <a:xfrm>
            <a:off x="9711000" y="26427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1" name="Rounded Rectangle 391"/>
          <p:cNvSpPr/>
          <p:nvPr/>
        </p:nvSpPr>
        <p:spPr>
          <a:xfrm>
            <a:off x="10278000" y="264708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82" name="TextBox 392"/>
          <p:cNvSpPr/>
          <p:nvPr/>
        </p:nvSpPr>
        <p:spPr>
          <a:xfrm>
            <a:off x="10278000" y="266724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3" name="TextBox 393"/>
          <p:cNvSpPr/>
          <p:nvPr/>
        </p:nvSpPr>
        <p:spPr>
          <a:xfrm>
            <a:off x="10588680" y="26427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4" name="TextBox 394"/>
          <p:cNvSpPr/>
          <p:nvPr/>
        </p:nvSpPr>
        <p:spPr>
          <a:xfrm>
            <a:off x="10954440" y="26427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5" name="Rectangle 395"/>
          <p:cNvSpPr/>
          <p:nvPr/>
        </p:nvSpPr>
        <p:spPr>
          <a:xfrm>
            <a:off x="7992000" y="28036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86" name="TextBox 396"/>
          <p:cNvSpPr/>
          <p:nvPr/>
        </p:nvSpPr>
        <p:spPr>
          <a:xfrm>
            <a:off x="8046720" y="28238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49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7" name="TextBox 397"/>
          <p:cNvSpPr/>
          <p:nvPr/>
        </p:nvSpPr>
        <p:spPr>
          <a:xfrm>
            <a:off x="8266320" y="28238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Shigehiro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8" name="TextBox 398"/>
          <p:cNvSpPr/>
          <p:nvPr/>
        </p:nvSpPr>
        <p:spPr>
          <a:xfrm>
            <a:off x="9711000" y="28238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Японія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9" name="Rounded Rectangle 399"/>
          <p:cNvSpPr/>
          <p:nvPr/>
        </p:nvSpPr>
        <p:spPr>
          <a:xfrm>
            <a:off x="10278000" y="282816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0" name="TextBox 400"/>
          <p:cNvSpPr/>
          <p:nvPr/>
        </p:nvSpPr>
        <p:spPr>
          <a:xfrm>
            <a:off x="10278000" y="284832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1" name="TextBox 401"/>
          <p:cNvSpPr/>
          <p:nvPr/>
        </p:nvSpPr>
        <p:spPr>
          <a:xfrm>
            <a:off x="10588680" y="28238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2" name="TextBox 402"/>
          <p:cNvSpPr/>
          <p:nvPr/>
        </p:nvSpPr>
        <p:spPr>
          <a:xfrm>
            <a:off x="10954440" y="28238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8 490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3" name="TextBox 403"/>
          <p:cNvSpPr/>
          <p:nvPr/>
        </p:nvSpPr>
        <p:spPr>
          <a:xfrm>
            <a:off x="8046720" y="30045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4" name="TextBox 404"/>
          <p:cNvSpPr/>
          <p:nvPr/>
        </p:nvSpPr>
        <p:spPr>
          <a:xfrm>
            <a:off x="8266320" y="30045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Tadafusa / Ohishi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5" name="TextBox 405"/>
          <p:cNvSpPr/>
          <p:nvPr/>
        </p:nvSpPr>
        <p:spPr>
          <a:xfrm>
            <a:off x="9711000" y="30045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6" name="Rounded Rectangle 406"/>
          <p:cNvSpPr/>
          <p:nvPr/>
        </p:nvSpPr>
        <p:spPr>
          <a:xfrm>
            <a:off x="10278000" y="300924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7" name="TextBox 407"/>
          <p:cNvSpPr/>
          <p:nvPr/>
        </p:nvSpPr>
        <p:spPr>
          <a:xfrm>
            <a:off x="10278000" y="302940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8" name="TextBox 408"/>
          <p:cNvSpPr/>
          <p:nvPr/>
        </p:nvSpPr>
        <p:spPr>
          <a:xfrm>
            <a:off x="10588680" y="30045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9" name="TextBox 409"/>
          <p:cNvSpPr/>
          <p:nvPr/>
        </p:nvSpPr>
        <p:spPr>
          <a:xfrm>
            <a:off x="10954440" y="30045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5 891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0" name="Rectangle 410"/>
          <p:cNvSpPr/>
          <p:nvPr/>
        </p:nvSpPr>
        <p:spPr>
          <a:xfrm>
            <a:off x="7992000" y="316548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01" name="TextBox 411"/>
          <p:cNvSpPr/>
          <p:nvPr/>
        </p:nvSpPr>
        <p:spPr>
          <a:xfrm>
            <a:off x="8046720" y="31856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51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2" name="TextBox 412"/>
          <p:cNvSpPr/>
          <p:nvPr/>
        </p:nvSpPr>
        <p:spPr>
          <a:xfrm>
            <a:off x="8266320" y="31856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Tsukasa (Hinoura)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3" name="TextBox 413"/>
          <p:cNvSpPr/>
          <p:nvPr/>
        </p:nvSpPr>
        <p:spPr>
          <a:xfrm>
            <a:off x="9711000" y="31856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4" name="Rounded Rectangle 414"/>
          <p:cNvSpPr/>
          <p:nvPr/>
        </p:nvSpPr>
        <p:spPr>
          <a:xfrm>
            <a:off x="10278000" y="31903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05" name="TextBox 415"/>
          <p:cNvSpPr/>
          <p:nvPr/>
        </p:nvSpPr>
        <p:spPr>
          <a:xfrm>
            <a:off x="10278000" y="32104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6" name="TextBox 416"/>
          <p:cNvSpPr/>
          <p:nvPr/>
        </p:nvSpPr>
        <p:spPr>
          <a:xfrm>
            <a:off x="10588680" y="31856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7" name="TextBox 417"/>
          <p:cNvSpPr/>
          <p:nvPr/>
        </p:nvSpPr>
        <p:spPr>
          <a:xfrm>
            <a:off x="10954440" y="31856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9 900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8" name="TextBox 418"/>
          <p:cNvSpPr/>
          <p:nvPr/>
        </p:nvSpPr>
        <p:spPr>
          <a:xfrm>
            <a:off x="8046720" y="336672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52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9" name="TextBox 419"/>
          <p:cNvSpPr/>
          <p:nvPr/>
        </p:nvSpPr>
        <p:spPr>
          <a:xfrm>
            <a:off x="8266320" y="336672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Yamawaki Hamono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0" name="TextBox 420"/>
          <p:cNvSpPr/>
          <p:nvPr/>
        </p:nvSpPr>
        <p:spPr>
          <a:xfrm>
            <a:off x="9711000" y="336672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1" name="Rounded Rectangle 421"/>
          <p:cNvSpPr/>
          <p:nvPr/>
        </p:nvSpPr>
        <p:spPr>
          <a:xfrm>
            <a:off x="10278000" y="337140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2" name="TextBox 422"/>
          <p:cNvSpPr/>
          <p:nvPr/>
        </p:nvSpPr>
        <p:spPr>
          <a:xfrm>
            <a:off x="10278000" y="339156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3" name="TextBox 423"/>
          <p:cNvSpPr/>
          <p:nvPr/>
        </p:nvSpPr>
        <p:spPr>
          <a:xfrm>
            <a:off x="10588680" y="336672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1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4" name="TextBox 424"/>
          <p:cNvSpPr/>
          <p:nvPr/>
        </p:nvSpPr>
        <p:spPr>
          <a:xfrm>
            <a:off x="10954440" y="336672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3 528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5" name="Rectangle 425"/>
          <p:cNvSpPr/>
          <p:nvPr/>
        </p:nvSpPr>
        <p:spPr>
          <a:xfrm>
            <a:off x="7992000" y="352764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6" name="TextBox 426"/>
          <p:cNvSpPr/>
          <p:nvPr/>
        </p:nvSpPr>
        <p:spPr>
          <a:xfrm>
            <a:off x="8046720" y="354780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53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7" name="TextBox 427"/>
          <p:cNvSpPr/>
          <p:nvPr/>
        </p:nvSpPr>
        <p:spPr>
          <a:xfrm>
            <a:off x="8266320" y="354780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Global (Yoshikin)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8" name="TextBox 428"/>
          <p:cNvSpPr/>
          <p:nvPr/>
        </p:nvSpPr>
        <p:spPr>
          <a:xfrm>
            <a:off x="9711000" y="354780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3a7d5a"/>
                </a:solidFill>
                <a:latin typeface="Segoe UI"/>
              </a:rPr>
              <a:t>Цубаме-Са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9" name="Rounded Rectangle 429"/>
          <p:cNvSpPr/>
          <p:nvPr/>
        </p:nvSpPr>
        <p:spPr>
          <a:xfrm>
            <a:off x="10278000" y="355248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0" name="TextBox 430"/>
          <p:cNvSpPr/>
          <p:nvPr/>
        </p:nvSpPr>
        <p:spPr>
          <a:xfrm>
            <a:off x="10278000" y="357264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1" name="TextBox 431"/>
          <p:cNvSpPr/>
          <p:nvPr/>
        </p:nvSpPr>
        <p:spPr>
          <a:xfrm>
            <a:off x="10588680" y="354780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2" name="TextBox 432"/>
          <p:cNvSpPr/>
          <p:nvPr/>
        </p:nvSpPr>
        <p:spPr>
          <a:xfrm>
            <a:off x="10954440" y="354780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2 618 – 13 195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3" name="TextBox 433"/>
          <p:cNvSpPr/>
          <p:nvPr/>
        </p:nvSpPr>
        <p:spPr>
          <a:xfrm>
            <a:off x="8046720" y="372888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54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4" name="TextBox 434"/>
          <p:cNvSpPr/>
          <p:nvPr/>
        </p:nvSpPr>
        <p:spPr>
          <a:xfrm>
            <a:off x="8266320" y="372888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HONMAMON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5" name="TextBox 435"/>
          <p:cNvSpPr/>
          <p:nvPr/>
        </p:nvSpPr>
        <p:spPr>
          <a:xfrm>
            <a:off x="9711000" y="372888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2a7f86"/>
                </a:solidFill>
                <a:latin typeface="Segoe UI"/>
              </a:rPr>
              <a:t>Тоса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6" name="Rounded Rectangle 436"/>
          <p:cNvSpPr/>
          <p:nvPr/>
        </p:nvSpPr>
        <p:spPr>
          <a:xfrm>
            <a:off x="10278000" y="373356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7" name="TextBox 437"/>
          <p:cNvSpPr/>
          <p:nvPr/>
        </p:nvSpPr>
        <p:spPr>
          <a:xfrm>
            <a:off x="10278000" y="375372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8" name="TextBox 438"/>
          <p:cNvSpPr/>
          <p:nvPr/>
        </p:nvSpPr>
        <p:spPr>
          <a:xfrm>
            <a:off x="10588680" y="372888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9" name="TextBox 439"/>
          <p:cNvSpPr/>
          <p:nvPr/>
        </p:nvSpPr>
        <p:spPr>
          <a:xfrm>
            <a:off x="10954440" y="372888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0" name="Rectangle 440"/>
          <p:cNvSpPr/>
          <p:nvPr/>
        </p:nvSpPr>
        <p:spPr>
          <a:xfrm>
            <a:off x="7992000" y="3889800"/>
            <a:ext cx="3711960" cy="17532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31" name="TextBox 441"/>
          <p:cNvSpPr/>
          <p:nvPr/>
        </p:nvSpPr>
        <p:spPr>
          <a:xfrm>
            <a:off x="8046720" y="390996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55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2" name="TextBox 442"/>
          <p:cNvSpPr/>
          <p:nvPr/>
        </p:nvSpPr>
        <p:spPr>
          <a:xfrm>
            <a:off x="8266320" y="390996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Sekiryu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3" name="TextBox 443"/>
          <p:cNvSpPr/>
          <p:nvPr/>
        </p:nvSpPr>
        <p:spPr>
          <a:xfrm>
            <a:off x="9711000" y="390996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966e28"/>
                </a:solidFill>
                <a:latin typeface="Segoe UI"/>
              </a:rPr>
              <a:t>Секі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4" name="Rounded Rectangle 444"/>
          <p:cNvSpPr/>
          <p:nvPr/>
        </p:nvSpPr>
        <p:spPr>
          <a:xfrm>
            <a:off x="10278000" y="391464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35" name="TextBox 445"/>
          <p:cNvSpPr/>
          <p:nvPr/>
        </p:nvSpPr>
        <p:spPr>
          <a:xfrm>
            <a:off x="10278000" y="393480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6" name="TextBox 446"/>
          <p:cNvSpPr/>
          <p:nvPr/>
        </p:nvSpPr>
        <p:spPr>
          <a:xfrm>
            <a:off x="10588680" y="390996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7" name="TextBox 447"/>
          <p:cNvSpPr/>
          <p:nvPr/>
        </p:nvSpPr>
        <p:spPr>
          <a:xfrm>
            <a:off x="10954440" y="390996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1 107 – 1 638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8" name="TextBox 448"/>
          <p:cNvSpPr/>
          <p:nvPr/>
        </p:nvSpPr>
        <p:spPr>
          <a:xfrm>
            <a:off x="8046720" y="4091040"/>
            <a:ext cx="2192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00" spc="-1" strike="noStrike">
                <a:solidFill>
                  <a:srgbClr val="9aa2b4"/>
                </a:solidFill>
                <a:latin typeface="Segoe UI"/>
              </a:rPr>
              <a:t>56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9" name="TextBox 449"/>
          <p:cNvSpPr/>
          <p:nvPr/>
        </p:nvSpPr>
        <p:spPr>
          <a:xfrm>
            <a:off x="8266320" y="4091040"/>
            <a:ext cx="1425960" cy="9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40" spc="-1" strike="noStrike">
                <a:solidFill>
                  <a:srgbClr val="151a26"/>
                </a:solidFill>
                <a:latin typeface="Segoe UI"/>
              </a:rPr>
              <a:t>Suisin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0" name="TextBox 450"/>
          <p:cNvSpPr/>
          <p:nvPr/>
        </p:nvSpPr>
        <p:spPr>
          <a:xfrm>
            <a:off x="9711000" y="4091040"/>
            <a:ext cx="54828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554780"/>
                </a:solidFill>
                <a:latin typeface="Segoe UI"/>
              </a:rPr>
              <a:t>Сакаї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1" name="Rounded Rectangle 451"/>
          <p:cNvSpPr/>
          <p:nvPr/>
        </p:nvSpPr>
        <p:spPr>
          <a:xfrm>
            <a:off x="10278000" y="4095720"/>
            <a:ext cx="273960" cy="12024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2" name="TextBox 452"/>
          <p:cNvSpPr/>
          <p:nvPr/>
        </p:nvSpPr>
        <p:spPr>
          <a:xfrm>
            <a:off x="10278000" y="4115880"/>
            <a:ext cx="273960" cy="7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2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3" name="TextBox 453"/>
          <p:cNvSpPr/>
          <p:nvPr/>
        </p:nvSpPr>
        <p:spPr>
          <a:xfrm>
            <a:off x="10588680" y="4091040"/>
            <a:ext cx="3470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660" spc="-1" strike="noStrike">
                <a:solidFill>
                  <a:srgbClr val="1b253f"/>
                </a:solidFill>
                <a:latin typeface="Segoe UI"/>
              </a:rPr>
              <a:t>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4" name="TextBox 454"/>
          <p:cNvSpPr/>
          <p:nvPr/>
        </p:nvSpPr>
        <p:spPr>
          <a:xfrm>
            <a:off x="10954440" y="4091040"/>
            <a:ext cx="694440" cy="9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600" spc="-1" strike="noStrike">
                <a:solidFill>
                  <a:srgbClr val="6b7282"/>
                </a:solidFill>
                <a:latin typeface="Segoe UI"/>
              </a:rPr>
              <a:t>—</a:t>
            </a:r>
            <a:endParaRPr b="0" lang="en-US" sz="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5" name="TextBox 455"/>
          <p:cNvSpPr/>
          <p:nvPr/>
        </p:nvSpPr>
        <p:spPr>
          <a:xfrm>
            <a:off x="567000" y="5650920"/>
            <a:ext cx="6400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88a3d"/>
                </a:solidFill>
                <a:latin typeface="Segoe UI"/>
              </a:rPr>
              <a:t>ПОЗНАЧКА JP БІЛЯ КОЖНОГО ВИРОБНИКА — ЯК САМЕ ПІДТВЕРДЖЕНО ЯПОНСЬКЕ ПОХОДЖЕННЯ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6" name="Rounded Rectangle 456"/>
          <p:cNvSpPr/>
          <p:nvPr/>
        </p:nvSpPr>
        <p:spPr>
          <a:xfrm>
            <a:off x="567000" y="5833800"/>
            <a:ext cx="4187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7" name="Rectangle 457"/>
          <p:cNvSpPr/>
          <p:nvPr/>
        </p:nvSpPr>
        <p:spPr>
          <a:xfrm>
            <a:off x="567000" y="5833800"/>
            <a:ext cx="36360" cy="685440"/>
          </a:xfrm>
          <a:prstGeom prst="rect">
            <a:avLst/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8" name="Rounded Rectangle 458"/>
          <p:cNvSpPr/>
          <p:nvPr/>
        </p:nvSpPr>
        <p:spPr>
          <a:xfrm>
            <a:off x="731520" y="5916240"/>
            <a:ext cx="292320" cy="132120"/>
          </a:xfrm>
          <a:prstGeom prst="roundRect">
            <a:avLst>
              <a:gd name="adj" fmla="val 35000"/>
            </a:avLst>
          </a:prstGeom>
          <a:solidFill>
            <a:srgbClr val="3a7d5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49" name="TextBox 459"/>
          <p:cNvSpPr/>
          <p:nvPr/>
        </p:nvSpPr>
        <p:spPr>
          <a:xfrm>
            <a:off x="731520" y="5938920"/>
            <a:ext cx="292320" cy="8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0" name="TextBox 460"/>
          <p:cNvSpPr/>
          <p:nvPr/>
        </p:nvSpPr>
        <p:spPr>
          <a:xfrm>
            <a:off x="1078920" y="5906880"/>
            <a:ext cx="12798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3a7d5a"/>
                </a:solidFill>
                <a:latin typeface="Segoe UI"/>
              </a:rPr>
              <a:t>ЗАВОД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1" name="TextBox 461"/>
          <p:cNvSpPr/>
          <p:nvPr/>
        </p:nvSpPr>
        <p:spPr>
          <a:xfrm>
            <a:off x="2395800" y="5906880"/>
            <a:ext cx="21942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30 брендів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2" name="TextBox 462"/>
          <p:cNvSpPr/>
          <p:nvPr/>
        </p:nvSpPr>
        <p:spPr>
          <a:xfrm>
            <a:off x="731520" y="6108120"/>
            <a:ext cx="3913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Виробника і завод встановлено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за джерелами самого виробника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3" name="Rounded Rectangle 463"/>
          <p:cNvSpPr/>
          <p:nvPr/>
        </p:nvSpPr>
        <p:spPr>
          <a:xfrm>
            <a:off x="4864680" y="5833800"/>
            <a:ext cx="4187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4" name="Rectangle 464"/>
          <p:cNvSpPr/>
          <p:nvPr/>
        </p:nvSpPr>
        <p:spPr>
          <a:xfrm>
            <a:off x="4864680" y="5833800"/>
            <a:ext cx="36360" cy="6854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5" name="Rounded Rectangle 465"/>
          <p:cNvSpPr/>
          <p:nvPr/>
        </p:nvSpPr>
        <p:spPr>
          <a:xfrm>
            <a:off x="5029200" y="5916240"/>
            <a:ext cx="292320" cy="13212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6" name="TextBox 466"/>
          <p:cNvSpPr/>
          <p:nvPr/>
        </p:nvSpPr>
        <p:spPr>
          <a:xfrm>
            <a:off x="5029200" y="5938920"/>
            <a:ext cx="292320" cy="8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560" spc="-1" strike="noStrike">
                <a:solidFill>
                  <a:srgbClr val="ffffff"/>
                </a:solidFill>
                <a:latin typeface="Segoe UI"/>
              </a:rPr>
              <a:t>JP</a:t>
            </a:r>
            <a:endParaRPr b="0" lang="en-US" sz="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7" name="TextBox 467"/>
          <p:cNvSpPr/>
          <p:nvPr/>
        </p:nvSpPr>
        <p:spPr>
          <a:xfrm>
            <a:off x="5376600" y="5906880"/>
            <a:ext cx="12798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КАРТКА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8" name="TextBox 468"/>
          <p:cNvSpPr/>
          <p:nvPr/>
        </p:nvSpPr>
        <p:spPr>
          <a:xfrm>
            <a:off x="6693480" y="5906880"/>
            <a:ext cx="219420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26 брендів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9" name="TextBox 469"/>
          <p:cNvSpPr/>
          <p:nvPr/>
        </p:nvSpPr>
        <p:spPr>
          <a:xfrm>
            <a:off x="5029200" y="6108120"/>
            <a:ext cx="3913200" cy="23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Походження підтверджене карткою продавця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2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або профільним торговим каталогом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0" name="Rounded Rectangle 470"/>
          <p:cNvSpPr/>
          <p:nvPr/>
        </p:nvSpPr>
        <p:spPr>
          <a:xfrm>
            <a:off x="9162360" y="5833800"/>
            <a:ext cx="2468520" cy="68544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1" name="Rectangle 471"/>
          <p:cNvSpPr/>
          <p:nvPr/>
        </p:nvSpPr>
        <p:spPr>
          <a:xfrm>
            <a:off x="9162360" y="5833800"/>
            <a:ext cx="36360" cy="68544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2" name="TextBox 472"/>
          <p:cNvSpPr/>
          <p:nvPr/>
        </p:nvSpPr>
        <p:spPr>
          <a:xfrm>
            <a:off x="9326880" y="5888880"/>
            <a:ext cx="219420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НЕ ПРОЙШЛИ ПЕРЕВІРКУ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3" name="TextBox 473"/>
          <p:cNvSpPr/>
          <p:nvPr/>
        </p:nvSpPr>
        <p:spPr>
          <a:xfrm>
            <a:off x="9326880" y="6053400"/>
            <a:ext cx="2230920" cy="3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Kyocera, Hattori, Ittosai, Aritsugu, Sakon Shiraume,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Samura, Chang Keng, Satori · Takagi · TURWHO,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40" spc="-1" strike="noStrike">
                <a:solidFill>
                  <a:srgbClr val="6b7282"/>
                </a:solidFill>
                <a:latin typeface="Segoe UI"/>
              </a:rPr>
              <a:t>XINZUO, HEZHEN, Tokisu, Hasaki, S.K.K., Jikko</a:t>
            </a:r>
            <a:endParaRPr b="0" lang="en-US" sz="6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4" name="TextBox 474"/>
          <p:cNvSpPr/>
          <p:nvPr/>
        </p:nvSpPr>
        <p:spPr>
          <a:xfrm>
            <a:off x="603360" y="6592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У переписі лише марки з підтвердженим японським виробництвом. SKU — позиції в публічних каталогах, жовтень 2026.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06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306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К А Н А Л И   З Б У Т У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0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П'ять каналів, і японська глибина лише в одному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20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Де в Україні фізично можна купити ніж японського виробництва, із глибиною асортименту й цінами жовтня 2026.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7" name="TextBox 13"/>
          <p:cNvSpPr/>
          <p:nvPr/>
        </p:nvSpPr>
        <p:spPr>
          <a:xfrm>
            <a:off x="567000" y="1554480"/>
            <a:ext cx="1874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КАНАЛ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8" name="TextBox 14"/>
          <p:cNvSpPr/>
          <p:nvPr/>
        </p:nvSpPr>
        <p:spPr>
          <a:xfrm>
            <a:off x="2441520" y="1554480"/>
            <a:ext cx="30628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ЦЕ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9" name="TextBox 15"/>
          <p:cNvSpPr/>
          <p:nvPr/>
        </p:nvSpPr>
        <p:spPr>
          <a:xfrm>
            <a:off x="5504760" y="1554480"/>
            <a:ext cx="9140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ЯПОН. SKU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0" name="TextBox 16"/>
          <p:cNvSpPr/>
          <p:nvPr/>
        </p:nvSpPr>
        <p:spPr>
          <a:xfrm>
            <a:off x="6419160" y="1554480"/>
            <a:ext cx="15998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ЦІНИ,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1" name="TextBox 17"/>
          <p:cNvSpPr/>
          <p:nvPr/>
        </p:nvSpPr>
        <p:spPr>
          <a:xfrm>
            <a:off x="8019360" y="1554480"/>
            <a:ext cx="36115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ЦЕ ЗА КАНАЛ ДЛЯ ПОСТАЧАЛЬНИКА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2" name="Rounded Rectangle 18"/>
          <p:cNvSpPr/>
          <p:nvPr/>
        </p:nvSpPr>
        <p:spPr>
          <a:xfrm>
            <a:off x="493920" y="171900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83" name="TextBox 19"/>
          <p:cNvSpPr/>
          <p:nvPr/>
        </p:nvSpPr>
        <p:spPr>
          <a:xfrm>
            <a:off x="567000" y="181044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88a3d"/>
                </a:solidFill>
                <a:latin typeface="Segoe UI"/>
              </a:rPr>
              <a:t>Спеціалізований онлайн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4" name="TextBox 20"/>
          <p:cNvSpPr/>
          <p:nvPr/>
        </p:nvSpPr>
        <p:spPr>
          <a:xfrm>
            <a:off x="2441520" y="177408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ProfiMax, ROKS, WildCat, Sekator, Volod,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rezat, japan-knife, Hangiri, vodospad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5" name="TextBox 21"/>
          <p:cNvSpPr/>
          <p:nvPr/>
        </p:nvSpPr>
        <p:spPr>
          <a:xfrm>
            <a:off x="5504760" y="184716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88a3d"/>
                </a:solidFill>
                <a:latin typeface="Segoe UI"/>
              </a:rPr>
              <a:t>≈ </a:t>
            </a:r>
            <a:r>
              <a:rPr b="1" lang="en-US" sz="839" spc="-1" strike="noStrike">
                <a:solidFill>
                  <a:srgbClr val="b88a3d"/>
                </a:solidFill>
                <a:latin typeface="Segoe UI"/>
              </a:rPr>
              <a:t>1 000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6" name="TextBox 22"/>
          <p:cNvSpPr/>
          <p:nvPr/>
        </p:nvSpPr>
        <p:spPr>
          <a:xfrm>
            <a:off x="6419160" y="184716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217 – 38 640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7" name="TextBox 23"/>
          <p:cNvSpPr/>
          <p:nvPr/>
        </p:nvSpPr>
        <p:spPr>
          <a:xfrm>
            <a:off x="8019360" y="177408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Уся глибина країни. Малий обіг, висока компетенція.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Єдиний канал, що тримає склад японських марок.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8" name="TextBox 24"/>
          <p:cNvSpPr/>
          <p:nvPr/>
        </p:nvSpPr>
        <p:spPr>
          <a:xfrm>
            <a:off x="567000" y="243216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2a7f86"/>
                </a:solidFill>
                <a:latin typeface="Segoe UI"/>
              </a:rPr>
              <a:t>Великий формат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9" name="TextBox 25"/>
          <p:cNvSpPr/>
          <p:nvPr/>
        </p:nvSpPr>
        <p:spPr>
          <a:xfrm>
            <a:off x="2441520" y="239580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Епіцентр: 4 950 ножів,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з них японських 133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0" name="TextBox 26"/>
          <p:cNvSpPr/>
          <p:nvPr/>
        </p:nvSpPr>
        <p:spPr>
          <a:xfrm>
            <a:off x="5504760" y="246888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2a7f86"/>
                </a:solidFill>
                <a:latin typeface="Segoe UI"/>
              </a:rPr>
              <a:t>133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1" name="TextBox 27"/>
          <p:cNvSpPr/>
          <p:nvPr/>
        </p:nvSpPr>
        <p:spPr>
          <a:xfrm>
            <a:off x="6419160" y="246888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2 787 – 11 271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2" name="TextBox 28"/>
          <p:cNvSpPr/>
          <p:nvPr/>
        </p:nvSpPr>
        <p:spPr>
          <a:xfrm>
            <a:off x="8019360" y="239580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Єдиний офлайн-масштаб. Suncraft із 97 SKU доводить,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що бар'єр не в мережі й не в покупцеві.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3" name="Rounded Rectangle 29"/>
          <p:cNvSpPr/>
          <p:nvPr/>
        </p:nvSpPr>
        <p:spPr>
          <a:xfrm>
            <a:off x="493920" y="296280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94" name="TextBox 30"/>
          <p:cNvSpPr/>
          <p:nvPr/>
        </p:nvSpPr>
        <p:spPr>
          <a:xfrm>
            <a:off x="567000" y="305424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a84a6b"/>
                </a:solidFill>
                <a:latin typeface="Segoe UI"/>
              </a:rPr>
              <a:t>Монобрендові імпортери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5" name="TextBox 31"/>
          <p:cNvSpPr/>
          <p:nvPr/>
        </p:nvSpPr>
        <p:spPr>
          <a:xfrm>
            <a:off x="2441520" y="301752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yaxell.com.ua, zwilling.in.ua (Miyabi),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lacocotte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6" name="TextBox 32"/>
          <p:cNvSpPr/>
          <p:nvPr/>
        </p:nvSpPr>
        <p:spPr>
          <a:xfrm>
            <a:off x="5504760" y="309060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a84a6b"/>
                </a:solidFill>
                <a:latin typeface="Segoe UI"/>
              </a:rPr>
              <a:t>≈ </a:t>
            </a:r>
            <a:r>
              <a:rPr b="1" lang="en-US" sz="839" spc="-1" strike="noStrike">
                <a:solidFill>
                  <a:srgbClr val="a84a6b"/>
                </a:solidFill>
                <a:latin typeface="Segoe UI"/>
              </a:rPr>
              <a:t>130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7" name="TextBox 33"/>
          <p:cNvSpPr/>
          <p:nvPr/>
        </p:nvSpPr>
        <p:spPr>
          <a:xfrm>
            <a:off x="6419160" y="309060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2 145 – 70 102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8" name="TextBox 34"/>
          <p:cNvSpPr/>
          <p:nvPr/>
        </p:nvSpPr>
        <p:spPr>
          <a:xfrm>
            <a:off x="8019360" y="301752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Топові слоти вже зайняті ексклюзивами.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Для нового бренду вхід закритий.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9" name="TextBox 35"/>
          <p:cNvSpPr/>
          <p:nvPr/>
        </p:nvSpPr>
        <p:spPr>
          <a:xfrm>
            <a:off x="567000" y="367596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42e3a"/>
                </a:solidFill>
                <a:latin typeface="Segoe UI"/>
              </a:rPr>
              <a:t>Маркетплейси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0" name="TextBox 36"/>
          <p:cNvSpPr/>
          <p:nvPr/>
        </p:nvSpPr>
        <p:spPr>
          <a:xfrm>
            <a:off x="2441520" y="363924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Rozetka, Prom, Kasta, Bigl, Shafa.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Дропшип-вітрини без складу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1" name="TextBox 37"/>
          <p:cNvSpPr/>
          <p:nvPr/>
        </p:nvSpPr>
        <p:spPr>
          <a:xfrm>
            <a:off x="5504760" y="371232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42e3a"/>
                </a:solidFill>
                <a:latin typeface="Segoe UI"/>
              </a:rPr>
              <a:t>—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2" name="TextBox 38"/>
          <p:cNvSpPr/>
          <p:nvPr/>
        </p:nvSpPr>
        <p:spPr>
          <a:xfrm>
            <a:off x="6419160" y="371232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2 618 – 13 195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3" name="TextBox 39"/>
          <p:cNvSpPr/>
          <p:nvPr/>
        </p:nvSpPr>
        <p:spPr>
          <a:xfrm>
            <a:off x="8019360" y="363924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Полиця без складу: транслює чужий каталог.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Присутність без продажів і без контролю ціни.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4" name="Rounded Rectangle 40"/>
          <p:cNvSpPr/>
          <p:nvPr/>
        </p:nvSpPr>
        <p:spPr>
          <a:xfrm>
            <a:off x="493920" y="4206240"/>
            <a:ext cx="11210040" cy="566640"/>
          </a:xfrm>
          <a:prstGeom prst="roundRect">
            <a:avLst>
              <a:gd name="adj" fmla="val 14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05" name="TextBox 41"/>
          <p:cNvSpPr/>
          <p:nvPr/>
        </p:nvSpPr>
        <p:spPr>
          <a:xfrm>
            <a:off x="567000" y="4297680"/>
            <a:ext cx="1810080" cy="1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8000"/>
              </a:lnSpc>
            </a:pPr>
            <a:r>
              <a:rPr b="1" lang="en-US" sz="780" spc="-1" strike="noStrike">
                <a:solidFill>
                  <a:srgbClr val="b42e3a"/>
                </a:solidFill>
                <a:latin typeface="Segoe UI"/>
              </a:rPr>
              <a:t>Опт HoReCa</a:t>
            </a:r>
            <a:endParaRPr b="0" lang="en-US" sz="7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6" name="TextBox 42"/>
          <p:cNvSpPr/>
          <p:nvPr/>
        </p:nvSpPr>
        <p:spPr>
          <a:xfrm>
            <a:off x="2441520" y="4260960"/>
            <a:ext cx="29988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AL-Group (523 проф. ножі), LFood,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80" spc="-1" strike="noStrike">
                <a:solidFill>
                  <a:srgbClr val="6b7282"/>
                </a:solidFill>
                <a:latin typeface="Segoe UI"/>
              </a:rPr>
              <a:t>Gastro24, Profood, System4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7" name="TextBox 43"/>
          <p:cNvSpPr/>
          <p:nvPr/>
        </p:nvSpPr>
        <p:spPr>
          <a:xfrm>
            <a:off x="5504760" y="4334400"/>
            <a:ext cx="840960" cy="12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39" spc="-1" strike="noStrike">
                <a:solidFill>
                  <a:srgbClr val="b42e3a"/>
                </a:solidFill>
                <a:latin typeface="Segoe UI"/>
              </a:rPr>
              <a:t>2 бренди</a:t>
            </a:r>
            <a:endParaRPr b="0" lang="en-US" sz="839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8" name="TextBox 44"/>
          <p:cNvSpPr/>
          <p:nvPr/>
        </p:nvSpPr>
        <p:spPr>
          <a:xfrm>
            <a:off x="6419160" y="4334400"/>
            <a:ext cx="15357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151a26"/>
                </a:solidFill>
                <a:latin typeface="Segoe UI"/>
              </a:rPr>
              <a:t>5 740 – 13 290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9" name="TextBox 45"/>
          <p:cNvSpPr/>
          <p:nvPr/>
        </p:nvSpPr>
        <p:spPr>
          <a:xfrm>
            <a:off x="8019360" y="4260960"/>
            <a:ext cx="3657240" cy="23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Практично закритий: тримають європейські марки.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90" spc="-1" strike="noStrike">
                <a:solidFill>
                  <a:srgbClr val="1b253f"/>
                </a:solidFill>
                <a:latin typeface="Segoe UI"/>
              </a:rPr>
              <a:t>Шість структурних причин — у блоці нижче.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0" name="TextBox 46"/>
          <p:cNvSpPr/>
          <p:nvPr/>
        </p:nvSpPr>
        <p:spPr>
          <a:xfrm>
            <a:off x="567000" y="4919400"/>
            <a:ext cx="6400440" cy="11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50" spc="-1" strike="noStrike">
                <a:solidFill>
                  <a:srgbClr val="b42e3a"/>
                </a:solidFill>
                <a:latin typeface="Segoe UI"/>
              </a:rPr>
              <a:t>ЧОМУ ПРОФЕСІЙНА КУХНЯ НЕ КУПУЄ ЯПОНІЮ · ШІСТЬ ПРИЧИН</a:t>
            </a:r>
            <a:endParaRPr b="0" lang="en-US" sz="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1" name="Rounded Rectangle 47"/>
          <p:cNvSpPr/>
          <p:nvPr/>
        </p:nvSpPr>
        <p:spPr>
          <a:xfrm>
            <a:off x="56700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2" name="Rectangle 48"/>
          <p:cNvSpPr/>
          <p:nvPr/>
        </p:nvSpPr>
        <p:spPr>
          <a:xfrm>
            <a:off x="56700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3" name="TextBox 49"/>
          <p:cNvSpPr/>
          <p:nvPr/>
        </p:nvSpPr>
        <p:spPr>
          <a:xfrm>
            <a:off x="73152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ЕКОНОМІКА ВТРАТ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4" name="TextBox 50"/>
          <p:cNvSpPr/>
          <p:nvPr/>
        </p:nvSpPr>
        <p:spPr>
          <a:xfrm>
            <a:off x="73152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Плинність кухарів 40–60 % на рік. Списати 8 000 грн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так само легко, як 500 грн, неможливо.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5" name="Rounded Rectangle 51"/>
          <p:cNvSpPr/>
          <p:nvPr/>
        </p:nvSpPr>
        <p:spPr>
          <a:xfrm>
            <a:off x="430668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6" name="Rectangle 52"/>
          <p:cNvSpPr/>
          <p:nvPr/>
        </p:nvSpPr>
        <p:spPr>
          <a:xfrm>
            <a:off x="430668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7" name="TextBox 53"/>
          <p:cNvSpPr/>
          <p:nvPr/>
        </p:nvSpPr>
        <p:spPr>
          <a:xfrm>
            <a:off x="447156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ГЕОМЕТРІЯ ПРОТИ ПРОДУКТУ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8" name="TextBox 54"/>
          <p:cNvSpPr/>
          <p:nvPr/>
        </p:nvSpPr>
        <p:spPr>
          <a:xfrm>
            <a:off x="447156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60–64 HRC викришується на кістці й замороженому.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Європейський ніж 56 HRC гнеться, японський ламається.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9" name="Rounded Rectangle 55"/>
          <p:cNvSpPr/>
          <p:nvPr/>
        </p:nvSpPr>
        <p:spPr>
          <a:xfrm>
            <a:off x="8046720" y="512064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0" name="Rectangle 56"/>
          <p:cNvSpPr/>
          <p:nvPr/>
        </p:nvSpPr>
        <p:spPr>
          <a:xfrm>
            <a:off x="8046720" y="512064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1" name="TextBox 57"/>
          <p:cNvSpPr/>
          <p:nvPr/>
        </p:nvSpPr>
        <p:spPr>
          <a:xfrm>
            <a:off x="8211240" y="519372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НЕМАЄ СЕРВІСУ ЗАТОЧЕННЯ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2" name="TextBox 58"/>
          <p:cNvSpPr/>
          <p:nvPr/>
        </p:nvSpPr>
        <p:spPr>
          <a:xfrm>
            <a:off x="8211240" y="535824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Правка на водних каменях кожні 2–3 дні.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Організованого ринку заточення в Україні немає.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3" name="Rounded Rectangle 59"/>
          <p:cNvSpPr/>
          <p:nvPr/>
        </p:nvSpPr>
        <p:spPr>
          <a:xfrm>
            <a:off x="56700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4" name="Rectangle 60"/>
          <p:cNvSpPr/>
          <p:nvPr/>
        </p:nvSpPr>
        <p:spPr>
          <a:xfrm>
            <a:off x="56700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5" name="TextBox 61"/>
          <p:cNvSpPr/>
          <p:nvPr/>
        </p:nvSpPr>
        <p:spPr>
          <a:xfrm>
            <a:off x="73152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ЛОГІСТИКА ЗАКУПІВЛІ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6" name="TextBox 62"/>
          <p:cNvSpPr/>
          <p:nvPr/>
        </p:nvSpPr>
        <p:spPr>
          <a:xfrm>
            <a:off x="73152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Ножі купують разом із посудом одним рахунком.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Японцю доведеться будувати окремий канал.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7" name="Rounded Rectangle 63"/>
          <p:cNvSpPr/>
          <p:nvPr/>
        </p:nvSpPr>
        <p:spPr>
          <a:xfrm>
            <a:off x="430668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8" name="Rectangle 64"/>
          <p:cNvSpPr/>
          <p:nvPr/>
        </p:nvSpPr>
        <p:spPr>
          <a:xfrm>
            <a:off x="430668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9" name="TextBox 65"/>
          <p:cNvSpPr/>
          <p:nvPr/>
        </p:nvSpPr>
        <p:spPr>
          <a:xfrm>
            <a:off x="447156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ОДНОСТОРОННЄ ЗАТОЧЕННЯ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0" name="TextBox 66"/>
          <p:cNvSpPr/>
          <p:nvPr/>
        </p:nvSpPr>
        <p:spPr>
          <a:xfrm>
            <a:off x="447156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Вимагає навички, якої лінійний кухар не має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і вчити якої ніхто не буде.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1" name="Rounded Rectangle 67"/>
          <p:cNvSpPr/>
          <p:nvPr/>
        </p:nvSpPr>
        <p:spPr>
          <a:xfrm>
            <a:off x="8046720" y="5833800"/>
            <a:ext cx="3602520" cy="639720"/>
          </a:xfrm>
          <a:prstGeom prst="roundRect">
            <a:avLst>
              <a:gd name="adj" fmla="val 7000"/>
            </a:avLst>
          </a:prstGeom>
          <a:solidFill>
            <a:srgbClr val="faf9f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2" name="Rectangle 68"/>
          <p:cNvSpPr/>
          <p:nvPr/>
        </p:nvSpPr>
        <p:spPr>
          <a:xfrm>
            <a:off x="8046720" y="5833800"/>
            <a:ext cx="36360" cy="63972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3" name="TextBox 69"/>
          <p:cNvSpPr/>
          <p:nvPr/>
        </p:nvSpPr>
        <p:spPr>
          <a:xfrm>
            <a:off x="8211240" y="5906880"/>
            <a:ext cx="3309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b42e3a"/>
                </a:solidFill>
                <a:latin typeface="Segoe UI"/>
              </a:rPr>
              <a:t>ШЕФ КУПУЄ СОБІ САМ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4" name="TextBox 70"/>
          <p:cNvSpPr/>
          <p:nvPr/>
        </p:nvSpPr>
        <p:spPr>
          <a:xfrm>
            <a:off x="8211240" y="6071760"/>
            <a:ext cx="334620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Часто за кордоном, не через дистриб'ютора закладу.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4000"/>
              </a:lnSpc>
            </a:pPr>
            <a:r>
              <a:rPr b="0" lang="en-US" sz="650" spc="-1" strike="noStrike">
                <a:solidFill>
                  <a:srgbClr val="1b253f"/>
                </a:solidFill>
                <a:latin typeface="Segoe UI"/>
              </a:rPr>
              <a:t>Він референс, а не канал збуту.</a:t>
            </a:r>
            <a:endParaRPr b="0" lang="en-US" sz="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5" name="TextBox 71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«Японські SKU» — оцінка за публічними каталогами. Жодну з шести причин не можна зняти засобами постачальника: HoReCa не є точкою входу, лише джерелом референсів для B2C.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6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7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8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139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3140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1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1" name="TextBox 6"/>
          <p:cNvSpPr/>
          <p:nvPr/>
        </p:nvSpPr>
        <p:spPr>
          <a:xfrm>
            <a:off x="2231280" y="584640"/>
            <a:ext cx="80463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Georgia"/>
              </a:rPr>
              <a:t>Sakai Takayuki: хто це і чому це інший клас задачі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2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3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4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5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6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Профіль кандидата у постачальники за даними виробника й незалежних каталогів — публічна інформація, не комерційна пропозиція.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7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8" name="Rectangle 13"/>
          <p:cNvSpPr/>
          <p:nvPr/>
        </p:nvSpPr>
        <p:spPr>
          <a:xfrm>
            <a:off x="56700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49" name="Rectangle 14"/>
          <p:cNvSpPr/>
          <p:nvPr/>
        </p:nvSpPr>
        <p:spPr>
          <a:xfrm>
            <a:off x="567000" y="151776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0" name="TextBox 15"/>
          <p:cNvSpPr/>
          <p:nvPr/>
        </p:nvSpPr>
        <p:spPr>
          <a:xfrm>
            <a:off x="786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А С Н О В А Н О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1" name="TextBox 16"/>
          <p:cNvSpPr/>
          <p:nvPr/>
        </p:nvSpPr>
        <p:spPr>
          <a:xfrm>
            <a:off x="786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966e28"/>
                </a:solidFill>
                <a:latin typeface="Georgia"/>
              </a:rPr>
              <a:t>1950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2" name="TextBox 17"/>
          <p:cNvSpPr/>
          <p:nvPr/>
        </p:nvSpPr>
        <p:spPr>
          <a:xfrm>
            <a:off x="786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Майстерня Aokі Hamono,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родина Аокі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3" name="Rectangle 18"/>
          <p:cNvSpPr/>
          <p:nvPr/>
        </p:nvSpPr>
        <p:spPr>
          <a:xfrm>
            <a:off x="342000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4" name="Rectangle 19"/>
          <p:cNvSpPr/>
          <p:nvPr/>
        </p:nvSpPr>
        <p:spPr>
          <a:xfrm>
            <a:off x="3420000" y="151776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5" name="TextBox 20"/>
          <p:cNvSpPr/>
          <p:nvPr/>
        </p:nvSpPr>
        <p:spPr>
          <a:xfrm>
            <a:off x="3639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Е Г І О Н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6" name="TextBox 21"/>
          <p:cNvSpPr/>
          <p:nvPr/>
        </p:nvSpPr>
        <p:spPr>
          <a:xfrm>
            <a:off x="3639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2a7f86"/>
                </a:solidFill>
                <a:latin typeface="Georgia"/>
              </a:rPr>
              <a:t>Сакаї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7" name="TextBox 22"/>
          <p:cNvSpPr/>
          <p:nvPr/>
        </p:nvSpPr>
        <p:spPr>
          <a:xfrm>
            <a:off x="3639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Осака. 600 років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ковальської традиції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8" name="Rectangle 23"/>
          <p:cNvSpPr/>
          <p:nvPr/>
        </p:nvSpPr>
        <p:spPr>
          <a:xfrm>
            <a:off x="627264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59" name="Rectangle 24"/>
          <p:cNvSpPr/>
          <p:nvPr/>
        </p:nvSpPr>
        <p:spPr>
          <a:xfrm>
            <a:off x="6272640" y="151776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0" name="TextBox 25"/>
          <p:cNvSpPr/>
          <p:nvPr/>
        </p:nvSpPr>
        <p:spPr>
          <a:xfrm>
            <a:off x="6492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С Е Р І Й   У   Л І Н І Й Ц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1" name="TextBox 26"/>
          <p:cNvSpPr/>
          <p:nvPr/>
        </p:nvSpPr>
        <p:spPr>
          <a:xfrm>
            <a:off x="6492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554780"/>
                </a:solidFill>
                <a:latin typeface="Georgia"/>
              </a:rPr>
              <a:t>50+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2" name="TextBox 27"/>
          <p:cNvSpPr/>
          <p:nvPr/>
        </p:nvSpPr>
        <p:spPr>
          <a:xfrm>
            <a:off x="6492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 власним каталогом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виробника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3" name="Rectangle 28"/>
          <p:cNvSpPr/>
          <p:nvPr/>
        </p:nvSpPr>
        <p:spPr>
          <a:xfrm>
            <a:off x="9125640" y="151776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4" name="Rectangle 29"/>
          <p:cNvSpPr/>
          <p:nvPr/>
        </p:nvSpPr>
        <p:spPr>
          <a:xfrm>
            <a:off x="9125640" y="1517760"/>
            <a:ext cx="2706120" cy="25200"/>
          </a:xfrm>
          <a:prstGeom prst="rect">
            <a:avLst/>
          </a:prstGeom>
          <a:solidFill>
            <a:srgbClr val="a8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5" name="TextBox 30"/>
          <p:cNvSpPr/>
          <p:nvPr/>
        </p:nvSpPr>
        <p:spPr>
          <a:xfrm>
            <a:off x="9345240" y="169164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Е К С П О Р Т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6" name="TextBox 31"/>
          <p:cNvSpPr/>
          <p:nvPr/>
        </p:nvSpPr>
        <p:spPr>
          <a:xfrm>
            <a:off x="9345240" y="1883520"/>
            <a:ext cx="2267280" cy="38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500" spc="-1" strike="noStrike">
                <a:solidFill>
                  <a:srgbClr val="a84a6b"/>
                </a:solidFill>
                <a:latin typeface="Georgia"/>
              </a:rPr>
              <a:t>100+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7" name="TextBox 32"/>
          <p:cNvSpPr/>
          <p:nvPr/>
        </p:nvSpPr>
        <p:spPr>
          <a:xfrm>
            <a:off x="9345240" y="237744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країн збуту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 заявою виробника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8" name="Rectangle 33"/>
          <p:cNvSpPr/>
          <p:nvPr/>
        </p:nvSpPr>
        <p:spPr>
          <a:xfrm>
            <a:off x="567000" y="2761560"/>
            <a:ext cx="110638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69" name="TextBox 34"/>
          <p:cNvSpPr/>
          <p:nvPr/>
        </p:nvSpPr>
        <p:spPr>
          <a:xfrm>
            <a:off x="713160" y="2802600"/>
            <a:ext cx="608508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ЩО САМЕ ВИРОБЛЯЄ SAKAI TAKAYUKI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0" name="TextBox 35"/>
          <p:cNvSpPr/>
          <p:nvPr/>
        </p:nvSpPr>
        <p:spPr>
          <a:xfrm>
            <a:off x="567000" y="3054240"/>
            <a:ext cx="21027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ГРУПА СТАЛІ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1" name="TextBox 36"/>
          <p:cNvSpPr/>
          <p:nvPr/>
        </p:nvSpPr>
        <p:spPr>
          <a:xfrm>
            <a:off x="2670120" y="3054240"/>
            <a:ext cx="30171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КОНКРЕТНО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2" name="TextBox 37"/>
          <p:cNvSpPr/>
          <p:nvPr/>
        </p:nvSpPr>
        <p:spPr>
          <a:xfrm>
            <a:off x="5687640" y="3054240"/>
            <a:ext cx="21942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ДЕ ЦЕ В ЦІНІ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3" name="TextBox 38"/>
          <p:cNvSpPr/>
          <p:nvPr/>
        </p:nvSpPr>
        <p:spPr>
          <a:xfrm>
            <a:off x="7882200" y="3054240"/>
            <a:ext cx="365724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ХТО ВЖЕ ТРИМАЄ ЦЮ ЗОНУ В УКРАЇНІ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4" name="Rounded Rectangle 39"/>
          <p:cNvSpPr/>
          <p:nvPr/>
        </p:nvSpPr>
        <p:spPr>
          <a:xfrm>
            <a:off x="493920" y="323244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75" name="TextBox 40"/>
          <p:cNvSpPr/>
          <p:nvPr/>
        </p:nvSpPr>
        <p:spPr>
          <a:xfrm>
            <a:off x="567000" y="3273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Нержавіюча базова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6" name="TextBox 41"/>
          <p:cNvSpPr/>
          <p:nvPr/>
        </p:nvSpPr>
        <p:spPr>
          <a:xfrm>
            <a:off x="2670120" y="327348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Hakugin INOX, молібден-ванадій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7" name="TextBox 42"/>
          <p:cNvSpPr/>
          <p:nvPr/>
        </p:nvSpPr>
        <p:spPr>
          <a:xfrm>
            <a:off x="5687640" y="327348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3 000 – 7 000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8" name="TextBox 43"/>
          <p:cNvSpPr/>
          <p:nvPr/>
        </p:nvSpPr>
        <p:spPr>
          <a:xfrm>
            <a:off x="7882200" y="327348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Satake, Seki Kanetsugu, Tojiro Basic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9" name="TextBox 44"/>
          <p:cNvSpPr/>
          <p:nvPr/>
        </p:nvSpPr>
        <p:spPr>
          <a:xfrm>
            <a:off x="567000" y="35434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VG-10 і дамаск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0" name="TextBox 45"/>
          <p:cNvSpPr/>
          <p:nvPr/>
        </p:nvSpPr>
        <p:spPr>
          <a:xfrm>
            <a:off x="2670120" y="354348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17 / 33 / 45 шарів, Grand Chef SP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1" name="TextBox 46"/>
          <p:cNvSpPr/>
          <p:nvPr/>
        </p:nvSpPr>
        <p:spPr>
          <a:xfrm>
            <a:off x="5687640" y="354348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7 000 – 16 000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2" name="TextBox 47"/>
          <p:cNvSpPr/>
          <p:nvPr/>
        </p:nvSpPr>
        <p:spPr>
          <a:xfrm>
            <a:off x="7882200" y="354348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Tojiro DP, Kasumi, KAI Shun, Yaxell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3" name="Rounded Rectangle 48"/>
          <p:cNvSpPr/>
          <p:nvPr/>
        </p:nvSpPr>
        <p:spPr>
          <a:xfrm>
            <a:off x="493920" y="377208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4" name="TextBox 49"/>
          <p:cNvSpPr/>
          <p:nvPr/>
        </p:nvSpPr>
        <p:spPr>
          <a:xfrm>
            <a:off x="567000" y="38131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Ginsan / Silver #3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5" name="TextBox 50"/>
          <p:cNvSpPr/>
          <p:nvPr/>
        </p:nvSpPr>
        <p:spPr>
          <a:xfrm>
            <a:off x="2670120" y="381312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моносталь, Ginsan Warikomi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6" name="TextBox 51"/>
          <p:cNvSpPr/>
          <p:nvPr/>
        </p:nvSpPr>
        <p:spPr>
          <a:xfrm>
            <a:off x="5687640" y="381312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9 000 – 20 000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7" name="TextBox 52"/>
          <p:cNvSpPr/>
          <p:nvPr/>
        </p:nvSpPr>
        <p:spPr>
          <a:xfrm>
            <a:off x="7882200" y="381312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Практично ніхто: 1–2 позиції в країні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8" name="TextBox 53"/>
          <p:cNvSpPr/>
          <p:nvPr/>
        </p:nvSpPr>
        <p:spPr>
          <a:xfrm>
            <a:off x="567000" y="4082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554780"/>
                </a:solidFill>
                <a:latin typeface="Segoe UI"/>
              </a:rPr>
              <a:t>Вуглецева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9" name="TextBox 54"/>
          <p:cNvSpPr/>
          <p:nvPr/>
        </p:nvSpPr>
        <p:spPr>
          <a:xfrm>
            <a:off x="2670120" y="408276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Aogami #2, Shirogami, Aoniko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0" name="TextBox 55"/>
          <p:cNvSpPr/>
          <p:nvPr/>
        </p:nvSpPr>
        <p:spPr>
          <a:xfrm>
            <a:off x="5687640" y="408276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6 000 – 25 000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1" name="TextBox 56"/>
          <p:cNvSpPr/>
          <p:nvPr/>
        </p:nvSpPr>
        <p:spPr>
          <a:xfrm>
            <a:off x="7882200" y="408276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Tosa, HONMAMON, Takamura — артизанальний край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2" name="Rounded Rectangle 57"/>
          <p:cNvSpPr/>
          <p:nvPr/>
        </p:nvSpPr>
        <p:spPr>
          <a:xfrm>
            <a:off x="493920" y="4311360"/>
            <a:ext cx="11210040" cy="26028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93" name="TextBox 58"/>
          <p:cNvSpPr/>
          <p:nvPr/>
        </p:nvSpPr>
        <p:spPr>
          <a:xfrm>
            <a:off x="567000" y="43524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a84a6b"/>
                </a:solidFill>
                <a:latin typeface="Segoe UI"/>
              </a:rPr>
              <a:t>Порошкова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4" name="TextBox 59"/>
          <p:cNvSpPr/>
          <p:nvPr/>
        </p:nvSpPr>
        <p:spPr>
          <a:xfrm>
            <a:off x="2670120" y="43524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SPG2 / R2, ZA-18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5" name="TextBox 60"/>
          <p:cNvSpPr/>
          <p:nvPr/>
        </p:nvSpPr>
        <p:spPr>
          <a:xfrm>
            <a:off x="5687640" y="435240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16 000 – 45 000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6" name="TextBox 61"/>
          <p:cNvSpPr/>
          <p:nvPr/>
        </p:nvSpPr>
        <p:spPr>
          <a:xfrm>
            <a:off x="7882200" y="435240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Yaxell Super Gou, Nigara, Hatsukokoro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7" name="TextBox 62"/>
          <p:cNvSpPr/>
          <p:nvPr/>
        </p:nvSpPr>
        <p:spPr>
          <a:xfrm>
            <a:off x="567000" y="46224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Honyaki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8" name="TextBox 63"/>
          <p:cNvSpPr/>
          <p:nvPr/>
        </p:nvSpPr>
        <p:spPr>
          <a:xfrm>
            <a:off x="2670120" y="4622400"/>
            <a:ext cx="29624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Ginsan моносталь, Shoryu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9" name="TextBox 64"/>
          <p:cNvSpPr/>
          <p:nvPr/>
        </p:nvSpPr>
        <p:spPr>
          <a:xfrm>
            <a:off x="5687640" y="4622400"/>
            <a:ext cx="21394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51a26"/>
                </a:solidFill>
                <a:latin typeface="Segoe UI"/>
              </a:rPr>
              <a:t>35 000 – 70 000 грн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0" name="TextBox 65"/>
          <p:cNvSpPr/>
          <p:nvPr/>
        </p:nvSpPr>
        <p:spPr>
          <a:xfrm>
            <a:off x="7882200" y="4622400"/>
            <a:ext cx="36025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Порожньо. У країні немає жодного honyaki на складі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1" name="Rounded Rectangle 66"/>
          <p:cNvSpPr/>
          <p:nvPr/>
        </p:nvSpPr>
        <p:spPr>
          <a:xfrm>
            <a:off x="567000" y="5047560"/>
            <a:ext cx="5412960" cy="101196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02" name="Rectangle 67"/>
          <p:cNvSpPr/>
          <p:nvPr/>
        </p:nvSpPr>
        <p:spPr>
          <a:xfrm>
            <a:off x="567000" y="5047560"/>
            <a:ext cx="36360" cy="101196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03" name="TextBox 68"/>
          <p:cNvSpPr/>
          <p:nvPr/>
        </p:nvSpPr>
        <p:spPr>
          <a:xfrm>
            <a:off x="804600" y="5203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ЧОМУ ЦЕЙ ПОСТАЧАЛЬНИК НЕ «ЩЕ ОДИН БРЕНД»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4" name="TextBox 69"/>
          <p:cNvSpPr/>
          <p:nvPr/>
        </p:nvSpPr>
        <p:spPr>
          <a:xfrm>
            <a:off x="804600" y="5431680"/>
            <a:ext cx="49374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Жоден із присутніх в Україні японських брендів цього не робить: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KAI і Yaxell сильні зверху, Satake і Seki Kanetsugu — знизу.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5" name="Rounded Rectangle 70"/>
          <p:cNvSpPr/>
          <p:nvPr/>
        </p:nvSpPr>
        <p:spPr>
          <a:xfrm>
            <a:off x="6217920" y="5047560"/>
            <a:ext cx="5412960" cy="101196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06" name="Rectangle 71"/>
          <p:cNvSpPr/>
          <p:nvPr/>
        </p:nvSpPr>
        <p:spPr>
          <a:xfrm>
            <a:off x="6217920" y="5047560"/>
            <a:ext cx="36360" cy="101196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07" name="TextBox 72"/>
          <p:cNvSpPr/>
          <p:nvPr/>
        </p:nvSpPr>
        <p:spPr>
          <a:xfrm>
            <a:off x="6455520" y="5203080"/>
            <a:ext cx="49374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88a3d"/>
                </a:solidFill>
                <a:latin typeface="Segoe UI"/>
              </a:rPr>
              <a:t>ЩО ЦЕ ДАЄ ШЕФУ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8" name="TextBox 73"/>
          <p:cNvSpPr/>
          <p:nvPr/>
        </p:nvSpPr>
        <p:spPr>
          <a:xfrm>
            <a:off x="6455520" y="5431680"/>
            <a:ext cx="4937400" cy="49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Один виробник закриває всю кухню: від робочого гюто на VG-10 до янагіби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з Shirogami і хоньякі для презентації. Однакова геометрія руків'я,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40" spc="-1" strike="noStrike">
                <a:solidFill>
                  <a:srgbClr val="1b253f"/>
                </a:solidFill>
                <a:latin typeface="Segoe UI"/>
              </a:rPr>
              <a:t>однакова логіка заточування, один постачальник на всі станції.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9" name="TextBox 74"/>
          <p:cNvSpPr/>
          <p:nvPr/>
        </p:nvSpPr>
        <p:spPr>
          <a:xfrm>
            <a:off x="603360" y="64922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0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1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2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213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3214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2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5" name="TextBox 6"/>
          <p:cNvSpPr/>
          <p:nvPr/>
        </p:nvSpPr>
        <p:spPr>
          <a:xfrm>
            <a:off x="2231280" y="601200"/>
            <a:ext cx="804636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800" spc="-1" strike="noStrike">
                <a:solidFill>
                  <a:srgbClr val="ffffff"/>
                </a:solidFill>
                <a:latin typeface="Georgia"/>
              </a:rPr>
              <a:t>Дев'ятнадцять позицій на всю країну — і лише дві справжні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6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7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8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9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0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Обхід 17 продавців, Prom, Rozetka й Епіцентру на 1 жовтня 2026. Кожен рядок перевірено на картці товару.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1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2" name="Rectangle 13"/>
          <p:cNvSpPr/>
          <p:nvPr/>
        </p:nvSpPr>
        <p:spPr>
          <a:xfrm>
            <a:off x="56700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3" name="Rectangle 14"/>
          <p:cNvSpPr/>
          <p:nvPr/>
        </p:nvSpPr>
        <p:spPr>
          <a:xfrm>
            <a:off x="567000" y="14630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4" name="TextBox 15"/>
          <p:cNvSpPr/>
          <p:nvPr/>
        </p:nvSpPr>
        <p:spPr>
          <a:xfrm>
            <a:off x="786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Н А Й Д Е Н О   П О З И Ц І Й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5" name="TextBox 16"/>
          <p:cNvSpPr/>
          <p:nvPr/>
        </p:nvSpPr>
        <p:spPr>
          <a:xfrm>
            <a:off x="786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966e28"/>
                </a:solidFill>
                <a:latin typeface="Georgia"/>
              </a:rPr>
              <a:t>19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6" name="TextBox 17"/>
          <p:cNvSpPr/>
          <p:nvPr/>
        </p:nvSpPr>
        <p:spPr>
          <a:xfrm>
            <a:off x="786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в усіх каналах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країни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7" name="Rectangle 18"/>
          <p:cNvSpPr/>
          <p:nvPr/>
        </p:nvSpPr>
        <p:spPr>
          <a:xfrm>
            <a:off x="342000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8" name="Rectangle 19"/>
          <p:cNvSpPr/>
          <p:nvPr/>
        </p:nvSpPr>
        <p:spPr>
          <a:xfrm>
            <a:off x="3420000" y="14630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29" name="TextBox 20"/>
          <p:cNvSpPr/>
          <p:nvPr/>
        </p:nvSpPr>
        <p:spPr>
          <a:xfrm>
            <a:off x="3639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Р Е А Л Ь Н О   Н А   С К Л А Д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0" name="TextBox 21"/>
          <p:cNvSpPr/>
          <p:nvPr/>
        </p:nvSpPr>
        <p:spPr>
          <a:xfrm>
            <a:off x="3639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2a7f86"/>
                </a:solidFill>
                <a:latin typeface="Georgia"/>
              </a:rPr>
              <a:t>2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1" name="TextBox 22"/>
          <p:cNvSpPr/>
          <p:nvPr/>
        </p:nvSpPr>
        <p:spPr>
          <a:xfrm>
            <a:off x="3639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ProfiMax, обидві 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янагіба 24 см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2" name="Rectangle 23"/>
          <p:cNvSpPr/>
          <p:nvPr/>
        </p:nvSpPr>
        <p:spPr>
          <a:xfrm>
            <a:off x="627264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3" name="Rectangle 24"/>
          <p:cNvSpPr/>
          <p:nvPr/>
        </p:nvSpPr>
        <p:spPr>
          <a:xfrm>
            <a:off x="6272640" y="14630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4" name="TextBox 25"/>
          <p:cNvSpPr/>
          <p:nvPr/>
        </p:nvSpPr>
        <p:spPr>
          <a:xfrm>
            <a:off x="6492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Д Р О П Ш И П - Л І С Т И Н Г И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5" name="TextBox 26"/>
          <p:cNvSpPr/>
          <p:nvPr/>
        </p:nvSpPr>
        <p:spPr>
          <a:xfrm>
            <a:off x="6492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966e28"/>
                </a:solidFill>
                <a:latin typeface="Georgia"/>
              </a:rPr>
              <a:t>15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6" name="TextBox 27"/>
          <p:cNvSpPr/>
          <p:nvPr/>
        </p:nvSpPr>
        <p:spPr>
          <a:xfrm>
            <a:off x="6492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 пʼяти вітринах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Prom, складу немає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7" name="Rectangle 28"/>
          <p:cNvSpPr/>
          <p:nvPr/>
        </p:nvSpPr>
        <p:spPr>
          <a:xfrm>
            <a:off x="9125640" y="1463040"/>
            <a:ext cx="2706120" cy="111528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8" name="Rectangle 29"/>
          <p:cNvSpPr/>
          <p:nvPr/>
        </p:nvSpPr>
        <p:spPr>
          <a:xfrm>
            <a:off x="9125640" y="1463040"/>
            <a:ext cx="270612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39" name="TextBox 30"/>
          <p:cNvSpPr/>
          <p:nvPr/>
        </p:nvSpPr>
        <p:spPr>
          <a:xfrm>
            <a:off x="9345240" y="163692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Ф А Х О В И Х   П Р О Д А В Ц І В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0" name="TextBox 31"/>
          <p:cNvSpPr/>
          <p:nvPr/>
        </p:nvSpPr>
        <p:spPr>
          <a:xfrm>
            <a:off x="9345240" y="1828800"/>
            <a:ext cx="2267280" cy="35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300" spc="-1" strike="noStrike">
                <a:solidFill>
                  <a:srgbClr val="b42e3a"/>
                </a:solidFill>
                <a:latin typeface="Georgia"/>
              </a:rPr>
              <a:t>1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1" name="TextBox 32"/>
          <p:cNvSpPr/>
          <p:nvPr/>
        </p:nvSpPr>
        <p:spPr>
          <a:xfrm>
            <a:off x="9345240" y="232272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ProfiMax — єдиний,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хто тримає склад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2" name="TextBox 33"/>
          <p:cNvSpPr/>
          <p:nvPr/>
        </p:nvSpPr>
        <p:spPr>
          <a:xfrm>
            <a:off x="567000" y="2688480"/>
            <a:ext cx="39315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ПОЗИЦІЯ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3" name="TextBox 34"/>
          <p:cNvSpPr/>
          <p:nvPr/>
        </p:nvSpPr>
        <p:spPr>
          <a:xfrm>
            <a:off x="4498920" y="2688480"/>
            <a:ext cx="173700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ПРОДАВЕЦЬ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4" name="TextBox 35"/>
          <p:cNvSpPr/>
          <p:nvPr/>
        </p:nvSpPr>
        <p:spPr>
          <a:xfrm>
            <a:off x="6236280" y="2688480"/>
            <a:ext cx="11883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ЦІНА, ГРН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5" name="TextBox 36"/>
          <p:cNvSpPr/>
          <p:nvPr/>
        </p:nvSpPr>
        <p:spPr>
          <a:xfrm>
            <a:off x="7425000" y="2688480"/>
            <a:ext cx="155412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СТАТУС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6" name="TextBox 37"/>
          <p:cNvSpPr/>
          <p:nvPr/>
        </p:nvSpPr>
        <p:spPr>
          <a:xfrm>
            <a:off x="8979480" y="2688480"/>
            <a:ext cx="25599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ЩО ЦЕ ЗНАЧИТЬ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7" name="Rounded Rectangle 38"/>
          <p:cNvSpPr/>
          <p:nvPr/>
        </p:nvSpPr>
        <p:spPr>
          <a:xfrm>
            <a:off x="493920" y="2829960"/>
            <a:ext cx="11210040" cy="1476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48" name="TextBox 39"/>
          <p:cNvSpPr/>
          <p:nvPr/>
        </p:nvSpPr>
        <p:spPr>
          <a:xfrm>
            <a:off x="567000" y="287136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Yanagiba Yasugi 24 см, з ножнами (07003)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9" name="TextBox 40"/>
          <p:cNvSpPr/>
          <p:nvPr/>
        </p:nvSpPr>
        <p:spPr>
          <a:xfrm>
            <a:off x="4498920" y="287136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0" name="TextBox 41"/>
          <p:cNvSpPr/>
          <p:nvPr/>
        </p:nvSpPr>
        <p:spPr>
          <a:xfrm>
            <a:off x="6236280" y="28713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7 460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1" name="TextBox 42"/>
          <p:cNvSpPr/>
          <p:nvPr/>
        </p:nvSpPr>
        <p:spPr>
          <a:xfrm>
            <a:off x="7425000" y="287136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2a7f86"/>
                </a:solidFill>
                <a:latin typeface="Segoe UI"/>
              </a:rPr>
              <a:t>СКЛАД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2" name="TextBox 43"/>
          <p:cNvSpPr/>
          <p:nvPr/>
        </p:nvSpPr>
        <p:spPr>
          <a:xfrm>
            <a:off x="8979480" y="2871360"/>
            <a:ext cx="25052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Картка продавця, походження: Japan (Sakai, Osaka)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3" name="TextBox 44"/>
          <p:cNvSpPr/>
          <p:nvPr/>
        </p:nvSpPr>
        <p:spPr>
          <a:xfrm>
            <a:off x="567000" y="302472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Yanagiba Yasugi 24 см, для лівші (07005)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4" name="TextBox 45"/>
          <p:cNvSpPr/>
          <p:nvPr/>
        </p:nvSpPr>
        <p:spPr>
          <a:xfrm>
            <a:off x="4498920" y="302472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5" name="TextBox 46"/>
          <p:cNvSpPr/>
          <p:nvPr/>
        </p:nvSpPr>
        <p:spPr>
          <a:xfrm>
            <a:off x="6236280" y="302472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2a7f86"/>
                </a:solidFill>
                <a:latin typeface="Segoe UI"/>
              </a:rPr>
              <a:t>7 640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6" name="TextBox 47"/>
          <p:cNvSpPr/>
          <p:nvPr/>
        </p:nvSpPr>
        <p:spPr>
          <a:xfrm>
            <a:off x="7425000" y="302472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2a7f86"/>
                </a:solidFill>
                <a:latin typeface="Segoe UI"/>
              </a:rPr>
              <a:t>СКЛАД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7" name="TextBox 48"/>
          <p:cNvSpPr/>
          <p:nvPr/>
        </p:nvSpPr>
        <p:spPr>
          <a:xfrm>
            <a:off x="8979480" y="302472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8" name="Rounded Rectangle 49"/>
          <p:cNvSpPr/>
          <p:nvPr/>
        </p:nvSpPr>
        <p:spPr>
          <a:xfrm>
            <a:off x="493920" y="3137400"/>
            <a:ext cx="11210040" cy="1476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9" name="TextBox 50"/>
          <p:cNvSpPr/>
          <p:nvPr/>
        </p:nvSpPr>
        <p:spPr>
          <a:xfrm>
            <a:off x="567000" y="317844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Chief 210мм (вінтажний)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0" name="TextBox 51"/>
          <p:cNvSpPr/>
          <p:nvPr/>
        </p:nvSpPr>
        <p:spPr>
          <a:xfrm>
            <a:off x="4498920" y="317844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ROKS·Prom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1" name="TextBox 52"/>
          <p:cNvSpPr/>
          <p:nvPr/>
        </p:nvSpPr>
        <p:spPr>
          <a:xfrm>
            <a:off x="6236280" y="3178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3 520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2" name="TextBox 53"/>
          <p:cNvSpPr/>
          <p:nvPr/>
        </p:nvSpPr>
        <p:spPr>
          <a:xfrm>
            <a:off x="7425000" y="317844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b42e3a"/>
                </a:solidFill>
                <a:latin typeface="Segoe UI"/>
              </a:rPr>
              <a:t>ТІЛЬКИ НА PROM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3" name="TextBox 54"/>
          <p:cNvSpPr/>
          <p:nvPr/>
        </p:nvSpPr>
        <p:spPr>
          <a:xfrm>
            <a:off x="8979480" y="3178440"/>
            <a:ext cx="25052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Є на вітрині Prom, на сайті продавця — немає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4" name="TextBox 55"/>
          <p:cNvSpPr/>
          <p:nvPr/>
        </p:nvSpPr>
        <p:spPr>
          <a:xfrm>
            <a:off x="567000" y="333216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Chief 240мм (вінтажний)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5" name="TextBox 56"/>
          <p:cNvSpPr/>
          <p:nvPr/>
        </p:nvSpPr>
        <p:spPr>
          <a:xfrm>
            <a:off x="4498920" y="333216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ROKS·Prom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6" name="TextBox 57"/>
          <p:cNvSpPr/>
          <p:nvPr/>
        </p:nvSpPr>
        <p:spPr>
          <a:xfrm>
            <a:off x="6236280" y="33321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4 070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7" name="TextBox 58"/>
          <p:cNvSpPr/>
          <p:nvPr/>
        </p:nvSpPr>
        <p:spPr>
          <a:xfrm>
            <a:off x="7425000" y="333216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b42e3a"/>
                </a:solidFill>
                <a:latin typeface="Segoe UI"/>
              </a:rPr>
              <a:t>ТІЛЬКИ НА PROM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8" name="TextBox 59"/>
          <p:cNvSpPr/>
          <p:nvPr/>
        </p:nvSpPr>
        <p:spPr>
          <a:xfrm>
            <a:off x="8979480" y="333216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9" name="Rounded Rectangle 60"/>
          <p:cNvSpPr/>
          <p:nvPr/>
        </p:nvSpPr>
        <p:spPr>
          <a:xfrm>
            <a:off x="493920" y="3444480"/>
            <a:ext cx="11210040" cy="1476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70" name="TextBox 61"/>
          <p:cNvSpPr/>
          <p:nvPr/>
        </p:nvSpPr>
        <p:spPr>
          <a:xfrm>
            <a:off x="567000" y="348552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Urushi Vg 10 15см (07942)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1" name="TextBox 62"/>
          <p:cNvSpPr/>
          <p:nvPr/>
        </p:nvSpPr>
        <p:spPr>
          <a:xfrm>
            <a:off x="4498920" y="348552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2" name="TextBox 63"/>
          <p:cNvSpPr/>
          <p:nvPr/>
        </p:nvSpPr>
        <p:spPr>
          <a:xfrm>
            <a:off x="6236280" y="348552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12 550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3" name="TextBox 64"/>
          <p:cNvSpPr/>
          <p:nvPr/>
        </p:nvSpPr>
        <p:spPr>
          <a:xfrm>
            <a:off x="7425000" y="348552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4" name="TextBox 65"/>
          <p:cNvSpPr/>
          <p:nvPr/>
        </p:nvSpPr>
        <p:spPr>
          <a:xfrm>
            <a:off x="8979480" y="3485520"/>
            <a:ext cx="2505240" cy="10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Термін постачання 5–10 днів, складу немає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5" name="TextBox 66"/>
          <p:cNvSpPr/>
          <p:nvPr/>
        </p:nvSpPr>
        <p:spPr>
          <a:xfrm>
            <a:off x="567000" y="363924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6" name="TextBox 67"/>
          <p:cNvSpPr/>
          <p:nvPr/>
        </p:nvSpPr>
        <p:spPr>
          <a:xfrm>
            <a:off x="4498920" y="363924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7" name="TextBox 68"/>
          <p:cNvSpPr/>
          <p:nvPr/>
        </p:nvSpPr>
        <p:spPr>
          <a:xfrm>
            <a:off x="6236280" y="36392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15 266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8" name="TextBox 69"/>
          <p:cNvSpPr/>
          <p:nvPr/>
        </p:nvSpPr>
        <p:spPr>
          <a:xfrm>
            <a:off x="7425000" y="363924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9" name="TextBox 70"/>
          <p:cNvSpPr/>
          <p:nvPr/>
        </p:nvSpPr>
        <p:spPr>
          <a:xfrm>
            <a:off x="8979480" y="363924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0" name="Rounded Rectangle 71"/>
          <p:cNvSpPr/>
          <p:nvPr/>
        </p:nvSpPr>
        <p:spPr>
          <a:xfrm>
            <a:off x="493920" y="3751920"/>
            <a:ext cx="11210040" cy="1476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81" name="TextBox 72"/>
          <p:cNvSpPr/>
          <p:nvPr/>
        </p:nvSpPr>
        <p:spPr>
          <a:xfrm>
            <a:off x="567000" y="379296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Urushi Saiu Santoku 17см (VG-10)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2" name="TextBox 73"/>
          <p:cNvSpPr/>
          <p:nvPr/>
        </p:nvSpPr>
        <p:spPr>
          <a:xfrm>
            <a:off x="4498920" y="379296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tech.dp.ua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3" name="TextBox 74"/>
          <p:cNvSpPr/>
          <p:nvPr/>
        </p:nvSpPr>
        <p:spPr>
          <a:xfrm>
            <a:off x="6236280" y="37929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4" name="TextBox 75"/>
          <p:cNvSpPr/>
          <p:nvPr/>
        </p:nvSpPr>
        <p:spPr>
          <a:xfrm>
            <a:off x="7425000" y="379296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5" name="TextBox 76"/>
          <p:cNvSpPr/>
          <p:nvPr/>
        </p:nvSpPr>
        <p:spPr>
          <a:xfrm>
            <a:off x="8979480" y="379296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6" name="TextBox 77"/>
          <p:cNvSpPr/>
          <p:nvPr/>
        </p:nvSpPr>
        <p:spPr>
          <a:xfrm>
            <a:off x="567000" y="394668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7" name="TextBox 78"/>
          <p:cNvSpPr/>
          <p:nvPr/>
        </p:nvSpPr>
        <p:spPr>
          <a:xfrm>
            <a:off x="4498920" y="394668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8" name="TextBox 79"/>
          <p:cNvSpPr/>
          <p:nvPr/>
        </p:nvSpPr>
        <p:spPr>
          <a:xfrm>
            <a:off x="6236280" y="394668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9" name="TextBox 80"/>
          <p:cNvSpPr/>
          <p:nvPr/>
        </p:nvSpPr>
        <p:spPr>
          <a:xfrm>
            <a:off x="7425000" y="394668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0" name="TextBox 81"/>
          <p:cNvSpPr/>
          <p:nvPr/>
        </p:nvSpPr>
        <p:spPr>
          <a:xfrm>
            <a:off x="8979480" y="394668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1" name="Rounded Rectangle 82"/>
          <p:cNvSpPr/>
          <p:nvPr/>
        </p:nvSpPr>
        <p:spPr>
          <a:xfrm>
            <a:off x="493920" y="4059000"/>
            <a:ext cx="11210040" cy="1476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92" name="TextBox 83"/>
          <p:cNvSpPr/>
          <p:nvPr/>
        </p:nvSpPr>
        <p:spPr>
          <a:xfrm>
            <a:off x="567000" y="410004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Urushi Vg-10 Saiseki Kengata (7966)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3" name="TextBox 84"/>
          <p:cNvSpPr/>
          <p:nvPr/>
        </p:nvSpPr>
        <p:spPr>
          <a:xfrm>
            <a:off x="4498920" y="410004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4" name="TextBox 85"/>
          <p:cNvSpPr/>
          <p:nvPr/>
        </p:nvSpPr>
        <p:spPr>
          <a:xfrm>
            <a:off x="6236280" y="41000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5" name="TextBox 86"/>
          <p:cNvSpPr/>
          <p:nvPr/>
        </p:nvSpPr>
        <p:spPr>
          <a:xfrm>
            <a:off x="7425000" y="410004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6" name="TextBox 87"/>
          <p:cNvSpPr/>
          <p:nvPr/>
        </p:nvSpPr>
        <p:spPr>
          <a:xfrm>
            <a:off x="8979480" y="410004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7" name="TextBox 88"/>
          <p:cNvSpPr/>
          <p:nvPr/>
        </p:nvSpPr>
        <p:spPr>
          <a:xfrm>
            <a:off x="567000" y="425376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Сантоку Nanairo Vg 10 Green (14576)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8" name="TextBox 89"/>
          <p:cNvSpPr/>
          <p:nvPr/>
        </p:nvSpPr>
        <p:spPr>
          <a:xfrm>
            <a:off x="4498920" y="425376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tech.dp.ua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9" name="TextBox 90"/>
          <p:cNvSpPr/>
          <p:nvPr/>
        </p:nvSpPr>
        <p:spPr>
          <a:xfrm>
            <a:off x="6236280" y="42537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0" name="TextBox 91"/>
          <p:cNvSpPr/>
          <p:nvPr/>
        </p:nvSpPr>
        <p:spPr>
          <a:xfrm>
            <a:off x="7425000" y="425376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1" name="TextBox 92"/>
          <p:cNvSpPr/>
          <p:nvPr/>
        </p:nvSpPr>
        <p:spPr>
          <a:xfrm>
            <a:off x="8979480" y="425376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2" name="Rounded Rectangle 93"/>
          <p:cNvSpPr/>
          <p:nvPr/>
        </p:nvSpPr>
        <p:spPr>
          <a:xfrm>
            <a:off x="493920" y="4366440"/>
            <a:ext cx="11210040" cy="1476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03" name="TextBox 94"/>
          <p:cNvSpPr/>
          <p:nvPr/>
        </p:nvSpPr>
        <p:spPr>
          <a:xfrm>
            <a:off x="567000" y="440748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4" name="TextBox 95"/>
          <p:cNvSpPr/>
          <p:nvPr/>
        </p:nvSpPr>
        <p:spPr>
          <a:xfrm>
            <a:off x="4498920" y="440748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5" name="TextBox 96"/>
          <p:cNvSpPr/>
          <p:nvPr/>
        </p:nvSpPr>
        <p:spPr>
          <a:xfrm>
            <a:off x="6236280" y="440748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17 387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6" name="TextBox 97"/>
          <p:cNvSpPr/>
          <p:nvPr/>
        </p:nvSpPr>
        <p:spPr>
          <a:xfrm>
            <a:off x="7425000" y="440748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7" name="TextBox 98"/>
          <p:cNvSpPr/>
          <p:nvPr/>
        </p:nvSpPr>
        <p:spPr>
          <a:xfrm>
            <a:off x="8979480" y="440748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8" name="TextBox 99"/>
          <p:cNvSpPr/>
          <p:nvPr/>
        </p:nvSpPr>
        <p:spPr>
          <a:xfrm>
            <a:off x="567000" y="456120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Шеф Urushi Saiseki 24см (VG-10)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9" name="TextBox 100"/>
          <p:cNvSpPr/>
          <p:nvPr/>
        </p:nvSpPr>
        <p:spPr>
          <a:xfrm>
            <a:off x="4498920" y="456120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0" name="TextBox 101"/>
          <p:cNvSpPr/>
          <p:nvPr/>
        </p:nvSpPr>
        <p:spPr>
          <a:xfrm>
            <a:off x="6236280" y="456120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18 415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1" name="TextBox 102"/>
          <p:cNvSpPr/>
          <p:nvPr/>
        </p:nvSpPr>
        <p:spPr>
          <a:xfrm>
            <a:off x="7425000" y="456120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2" name="TextBox 103"/>
          <p:cNvSpPr/>
          <p:nvPr/>
        </p:nvSpPr>
        <p:spPr>
          <a:xfrm>
            <a:off x="8979480" y="456120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3" name="Rounded Rectangle 104"/>
          <p:cNvSpPr/>
          <p:nvPr/>
        </p:nvSpPr>
        <p:spPr>
          <a:xfrm>
            <a:off x="493920" y="4673520"/>
            <a:ext cx="11210040" cy="1476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14" name="TextBox 105"/>
          <p:cNvSpPr/>
          <p:nvPr/>
        </p:nvSpPr>
        <p:spPr>
          <a:xfrm>
            <a:off x="567000" y="471456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Santoku Ginga Za 18 см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5" name="TextBox 106"/>
          <p:cNvSpPr/>
          <p:nvPr/>
        </p:nvSpPr>
        <p:spPr>
          <a:xfrm>
            <a:off x="4498920" y="471456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6" name="TextBox 107"/>
          <p:cNvSpPr/>
          <p:nvPr/>
        </p:nvSpPr>
        <p:spPr>
          <a:xfrm>
            <a:off x="6236280" y="47145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20 572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7" name="TextBox 108"/>
          <p:cNvSpPr/>
          <p:nvPr/>
        </p:nvSpPr>
        <p:spPr>
          <a:xfrm>
            <a:off x="7425000" y="471456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8" name="TextBox 109"/>
          <p:cNvSpPr/>
          <p:nvPr/>
        </p:nvSpPr>
        <p:spPr>
          <a:xfrm>
            <a:off x="8979480" y="471456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9" name="TextBox 110"/>
          <p:cNvSpPr/>
          <p:nvPr/>
        </p:nvSpPr>
        <p:spPr>
          <a:xfrm>
            <a:off x="567000" y="486828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Kasumi Shirogami 3 24см (6083)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0" name="TextBox 111"/>
          <p:cNvSpPr/>
          <p:nvPr/>
        </p:nvSpPr>
        <p:spPr>
          <a:xfrm>
            <a:off x="4498920" y="486828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tech.dp.ua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1" name="TextBox 112"/>
          <p:cNvSpPr/>
          <p:nvPr/>
        </p:nvSpPr>
        <p:spPr>
          <a:xfrm>
            <a:off x="6236280" y="486828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20 750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2" name="TextBox 113"/>
          <p:cNvSpPr/>
          <p:nvPr/>
        </p:nvSpPr>
        <p:spPr>
          <a:xfrm>
            <a:off x="7425000" y="486828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3" name="TextBox 114"/>
          <p:cNvSpPr/>
          <p:nvPr/>
        </p:nvSpPr>
        <p:spPr>
          <a:xfrm>
            <a:off x="8979480" y="486828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4" name="Rounded Rectangle 115"/>
          <p:cNvSpPr/>
          <p:nvPr/>
        </p:nvSpPr>
        <p:spPr>
          <a:xfrm>
            <a:off x="493920" y="4980600"/>
            <a:ext cx="11210040" cy="1476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5" name="TextBox 116"/>
          <p:cNvSpPr/>
          <p:nvPr/>
        </p:nvSpPr>
        <p:spPr>
          <a:xfrm>
            <a:off x="567000" y="502200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Silver#3 Yanagiba 27см (4231)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6" name="TextBox 117"/>
          <p:cNvSpPr/>
          <p:nvPr/>
        </p:nvSpPr>
        <p:spPr>
          <a:xfrm>
            <a:off x="4498920" y="502200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7" name="TextBox 118"/>
          <p:cNvSpPr/>
          <p:nvPr/>
        </p:nvSpPr>
        <p:spPr>
          <a:xfrm>
            <a:off x="6236280" y="502200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34 857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8" name="TextBox 119"/>
          <p:cNvSpPr/>
          <p:nvPr/>
        </p:nvSpPr>
        <p:spPr>
          <a:xfrm>
            <a:off x="7425000" y="502200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9" name="TextBox 120"/>
          <p:cNvSpPr/>
          <p:nvPr/>
        </p:nvSpPr>
        <p:spPr>
          <a:xfrm>
            <a:off x="8979480" y="502200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0" name="TextBox 121"/>
          <p:cNvSpPr/>
          <p:nvPr/>
        </p:nvSpPr>
        <p:spPr>
          <a:xfrm>
            <a:off x="567000" y="517536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1" name="TextBox 122"/>
          <p:cNvSpPr/>
          <p:nvPr/>
        </p:nvSpPr>
        <p:spPr>
          <a:xfrm>
            <a:off x="4498920" y="517536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tech.dp.ua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2" name="TextBox 123"/>
          <p:cNvSpPr/>
          <p:nvPr/>
        </p:nvSpPr>
        <p:spPr>
          <a:xfrm>
            <a:off x="6236280" y="517536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44 169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3" name="TextBox 124"/>
          <p:cNvSpPr/>
          <p:nvPr/>
        </p:nvSpPr>
        <p:spPr>
          <a:xfrm>
            <a:off x="7425000" y="517536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4" name="TextBox 125"/>
          <p:cNvSpPr/>
          <p:nvPr/>
        </p:nvSpPr>
        <p:spPr>
          <a:xfrm>
            <a:off x="8979480" y="517536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5" name="Rounded Rectangle 126"/>
          <p:cNvSpPr/>
          <p:nvPr/>
        </p:nvSpPr>
        <p:spPr>
          <a:xfrm>
            <a:off x="493920" y="5288040"/>
            <a:ext cx="11210040" cy="1476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36" name="TextBox 127"/>
          <p:cNvSpPr/>
          <p:nvPr/>
        </p:nvSpPr>
        <p:spPr>
          <a:xfrm>
            <a:off x="567000" y="532908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7" name="TextBox 128"/>
          <p:cNvSpPr/>
          <p:nvPr/>
        </p:nvSpPr>
        <p:spPr>
          <a:xfrm>
            <a:off x="4498920" y="532908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8" name="TextBox 129"/>
          <p:cNvSpPr/>
          <p:nvPr/>
        </p:nvSpPr>
        <p:spPr>
          <a:xfrm>
            <a:off x="6236280" y="532908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57 903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9" name="TextBox 130"/>
          <p:cNvSpPr/>
          <p:nvPr/>
        </p:nvSpPr>
        <p:spPr>
          <a:xfrm>
            <a:off x="7425000" y="532908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0" name="TextBox 131"/>
          <p:cNvSpPr/>
          <p:nvPr/>
        </p:nvSpPr>
        <p:spPr>
          <a:xfrm>
            <a:off x="8979480" y="532908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1" name="TextBox 132"/>
          <p:cNvSpPr/>
          <p:nvPr/>
        </p:nvSpPr>
        <p:spPr>
          <a:xfrm>
            <a:off x="567000" y="548280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Shoryu Honyaki VG-10 Sakimaru 30см (0204)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2" name="TextBox 133"/>
          <p:cNvSpPr/>
          <p:nvPr/>
        </p:nvSpPr>
        <p:spPr>
          <a:xfrm>
            <a:off x="4498920" y="548280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3" name="TextBox 134"/>
          <p:cNvSpPr/>
          <p:nvPr/>
        </p:nvSpPr>
        <p:spPr>
          <a:xfrm>
            <a:off x="6236280" y="548280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60 495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4" name="TextBox 135"/>
          <p:cNvSpPr/>
          <p:nvPr/>
        </p:nvSpPr>
        <p:spPr>
          <a:xfrm>
            <a:off x="7425000" y="548280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5" name="TextBox 136"/>
          <p:cNvSpPr/>
          <p:nvPr/>
        </p:nvSpPr>
        <p:spPr>
          <a:xfrm>
            <a:off x="8979480" y="548280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6" name="Rounded Rectangle 137"/>
          <p:cNvSpPr/>
          <p:nvPr/>
        </p:nvSpPr>
        <p:spPr>
          <a:xfrm>
            <a:off x="493920" y="5595120"/>
            <a:ext cx="11210040" cy="14760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47" name="TextBox 138"/>
          <p:cNvSpPr/>
          <p:nvPr/>
        </p:nvSpPr>
        <p:spPr>
          <a:xfrm>
            <a:off x="567000" y="5636520"/>
            <a:ext cx="3876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1b253f"/>
                </a:solidFill>
                <a:latin typeface="Segoe UI"/>
              </a:rPr>
              <a:t>Genbu Aogami 2 Sakimaru 30Cm (2245)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8" name="TextBox 139"/>
          <p:cNvSpPr/>
          <p:nvPr/>
        </p:nvSpPr>
        <p:spPr>
          <a:xfrm>
            <a:off x="4498920" y="5636520"/>
            <a:ext cx="168228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20" spc="-1" strike="noStrike">
                <a:solidFill>
                  <a:srgbClr val="6b7282"/>
                </a:solidFill>
                <a:latin typeface="Segoe UI"/>
              </a:rPr>
              <a:t>Livico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9" name="TextBox 140"/>
          <p:cNvSpPr/>
          <p:nvPr/>
        </p:nvSpPr>
        <p:spPr>
          <a:xfrm>
            <a:off x="6236280" y="563652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61 891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0" name="TextBox 141"/>
          <p:cNvSpPr/>
          <p:nvPr/>
        </p:nvSpPr>
        <p:spPr>
          <a:xfrm>
            <a:off x="7425000" y="5636520"/>
            <a:ext cx="1499400" cy="1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80" spc="-1" strike="noStrike">
                <a:solidFill>
                  <a:srgbClr val="966e28"/>
                </a:solidFill>
                <a:latin typeface="Segoe UI"/>
              </a:rPr>
              <a:t>ПІД ЗАМОВЛЕННЯ</a:t>
            </a:r>
            <a:endParaRPr b="0" lang="en-US" sz="6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1" name="TextBox 142"/>
          <p:cNvSpPr/>
          <p:nvPr/>
        </p:nvSpPr>
        <p:spPr>
          <a:xfrm>
            <a:off x="8979480" y="5636520"/>
            <a:ext cx="250524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2" name="Rounded Rectangle 143"/>
          <p:cNvSpPr/>
          <p:nvPr/>
        </p:nvSpPr>
        <p:spPr>
          <a:xfrm>
            <a:off x="567000" y="585216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53" name="Rectangle 144"/>
          <p:cNvSpPr/>
          <p:nvPr/>
        </p:nvSpPr>
        <p:spPr>
          <a:xfrm>
            <a:off x="567000" y="5852160"/>
            <a:ext cx="36360" cy="6840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54" name="TextBox 145"/>
          <p:cNvSpPr/>
          <p:nvPr/>
        </p:nvSpPr>
        <p:spPr>
          <a:xfrm>
            <a:off x="804600" y="600768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66e28"/>
                </a:solidFill>
                <a:latin typeface="Segoe UI"/>
              </a:rPr>
              <a:t>ЧОМУ 15 326 ГРН ЧОТИРИ РАЗИ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5" name="TextBox 146"/>
          <p:cNvSpPr/>
          <p:nvPr/>
        </p:nvSpPr>
        <p:spPr>
          <a:xfrm>
            <a:off x="804600" y="623628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Чотири моделі, одна ціна — спільний фід.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6" name="Rounded Rectangle 147"/>
          <p:cNvSpPr/>
          <p:nvPr/>
        </p:nvSpPr>
        <p:spPr>
          <a:xfrm>
            <a:off x="4297680" y="585216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57" name="Rectangle 148"/>
          <p:cNvSpPr/>
          <p:nvPr/>
        </p:nvSpPr>
        <p:spPr>
          <a:xfrm>
            <a:off x="4297680" y="5852160"/>
            <a:ext cx="36360" cy="6840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58" name="TextBox 149"/>
          <p:cNvSpPr/>
          <p:nvPr/>
        </p:nvSpPr>
        <p:spPr>
          <a:xfrm>
            <a:off x="4535280" y="600768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b42e3a"/>
                </a:solidFill>
                <a:latin typeface="Segoe UI"/>
              </a:rPr>
              <a:t>ЩО ТАКЕ «ТІЛЬКИ НА PROM»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9" name="TextBox 150"/>
          <p:cNvSpPr/>
          <p:nvPr/>
        </p:nvSpPr>
        <p:spPr>
          <a:xfrm>
            <a:off x="4535280" y="623628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Товар є на вітрині Prom, але на сайті самого продавця — немає.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0" name="Rounded Rectangle 151"/>
          <p:cNvSpPr/>
          <p:nvPr/>
        </p:nvSpPr>
        <p:spPr>
          <a:xfrm>
            <a:off x="8046720" y="5852160"/>
            <a:ext cx="3584160" cy="68400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61" name="Rectangle 152"/>
          <p:cNvSpPr/>
          <p:nvPr/>
        </p:nvSpPr>
        <p:spPr>
          <a:xfrm>
            <a:off x="8046720" y="5852160"/>
            <a:ext cx="36360" cy="684000"/>
          </a:xfrm>
          <a:prstGeom prst="rect">
            <a:avLst/>
          </a:prstGeom>
          <a:solidFill>
            <a:srgbClr val="6b728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62" name="TextBox 153"/>
          <p:cNvSpPr/>
          <p:nvPr/>
        </p:nvSpPr>
        <p:spPr>
          <a:xfrm>
            <a:off x="8284320" y="6007680"/>
            <a:ext cx="310860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6b7282"/>
                </a:solidFill>
                <a:latin typeface="Segoe UI"/>
              </a:rPr>
              <a:t>ДЕ БРЕНДУ НЕМАЄ ВЗАГАЛІ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3" name="TextBox 154"/>
          <p:cNvSpPr/>
          <p:nvPr/>
        </p:nvSpPr>
        <p:spPr>
          <a:xfrm>
            <a:off x="8284320" y="6236280"/>
            <a:ext cx="3108600" cy="13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00" spc="-1" strike="noStrike">
                <a:solidFill>
                  <a:srgbClr val="1b253f"/>
                </a:solidFill>
                <a:latin typeface="Segoe UI"/>
              </a:rPr>
              <a:t>Rozetka, Епіцентр, Sekator, WildCat, rezat.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4" name="TextBox 155"/>
          <p:cNvSpPr/>
          <p:nvPr/>
        </p:nvSpPr>
        <p:spPr>
          <a:xfrm>
            <a:off x="603360" y="658368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6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6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36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336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3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0" name="TextBox 6"/>
          <p:cNvSpPr/>
          <p:nvPr/>
        </p:nvSpPr>
        <p:spPr>
          <a:xfrm>
            <a:off x="2231280" y="613800"/>
            <a:ext cx="80463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1650" spc="-1" strike="noStrike">
                <a:solidFill>
                  <a:srgbClr val="ffffff"/>
                </a:solidFill>
                <a:latin typeface="Georgia"/>
              </a:rPr>
              <a:t>Усі дев'ятнадцять позицій бренду в країні — на одній сторінці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Фотографії з карток продавців. Зелена позначка — склад, жовта — під замовлення, червона — розбіжність із сайтом продавця.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7" name="Rounded Rectangle 13"/>
          <p:cNvSpPr/>
          <p:nvPr/>
        </p:nvSpPr>
        <p:spPr>
          <a:xfrm>
            <a:off x="56700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378" name="Picture 14" descr="p_dd4d05688dfa4b01.jpg"/>
          <p:cNvPicPr/>
          <p:nvPr/>
        </p:nvPicPr>
        <p:blipFill>
          <a:blip r:embed="rId2"/>
          <a:stretch/>
        </p:blipFill>
        <p:spPr>
          <a:xfrm>
            <a:off x="63108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379" name="Rounded Rectangle 15"/>
          <p:cNvSpPr/>
          <p:nvPr/>
        </p:nvSpPr>
        <p:spPr>
          <a:xfrm>
            <a:off x="64008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80" name="TextBox 16"/>
          <p:cNvSpPr/>
          <p:nvPr/>
        </p:nvSpPr>
        <p:spPr>
          <a:xfrm>
            <a:off x="64008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СКЛАД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1" name="TextBox 17"/>
          <p:cNvSpPr/>
          <p:nvPr/>
        </p:nvSpPr>
        <p:spPr>
          <a:xfrm>
            <a:off x="64008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Yanagiba Yasugi 24 см, з ножнами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2" name="TextBox 18"/>
          <p:cNvSpPr/>
          <p:nvPr/>
        </p:nvSpPr>
        <p:spPr>
          <a:xfrm>
            <a:off x="64008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7 460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3" name="TextBox 19"/>
          <p:cNvSpPr/>
          <p:nvPr/>
        </p:nvSpPr>
        <p:spPr>
          <a:xfrm>
            <a:off x="159120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4" name="Rounded Rectangle 20"/>
          <p:cNvSpPr/>
          <p:nvPr/>
        </p:nvSpPr>
        <p:spPr>
          <a:xfrm>
            <a:off x="214740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385" name="Picture 21" descr="p_302f05bb83b2a849.jpg"/>
          <p:cNvPicPr/>
          <p:nvPr/>
        </p:nvPicPr>
        <p:blipFill>
          <a:blip r:embed="rId3"/>
          <a:stretch/>
        </p:blipFill>
        <p:spPr>
          <a:xfrm>
            <a:off x="221148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386" name="Rounded Rectangle 22"/>
          <p:cNvSpPr/>
          <p:nvPr/>
        </p:nvSpPr>
        <p:spPr>
          <a:xfrm>
            <a:off x="222084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87" name="TextBox 23"/>
          <p:cNvSpPr/>
          <p:nvPr/>
        </p:nvSpPr>
        <p:spPr>
          <a:xfrm>
            <a:off x="222084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СКЛАД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8" name="TextBox 24"/>
          <p:cNvSpPr/>
          <p:nvPr/>
        </p:nvSpPr>
        <p:spPr>
          <a:xfrm>
            <a:off x="222084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Yanagiba Yasugi 24 см, для лівші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9" name="TextBox 25"/>
          <p:cNvSpPr/>
          <p:nvPr/>
        </p:nvSpPr>
        <p:spPr>
          <a:xfrm>
            <a:off x="222084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2a7f86"/>
                </a:solidFill>
                <a:latin typeface="Segoe UI"/>
              </a:rPr>
              <a:t>7 640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0" name="TextBox 26"/>
          <p:cNvSpPr/>
          <p:nvPr/>
        </p:nvSpPr>
        <p:spPr>
          <a:xfrm>
            <a:off x="317160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ProfiMax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1" name="Rounded Rectangle 27"/>
          <p:cNvSpPr/>
          <p:nvPr/>
        </p:nvSpPr>
        <p:spPr>
          <a:xfrm>
            <a:off x="372816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392" name="Picture 28" descr="p_1b68ddd7187a6308.jpg"/>
          <p:cNvPicPr/>
          <p:nvPr/>
        </p:nvPicPr>
        <p:blipFill>
          <a:blip r:embed="rId4"/>
          <a:stretch/>
        </p:blipFill>
        <p:spPr>
          <a:xfrm>
            <a:off x="379224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393" name="Rounded Rectangle 29"/>
          <p:cNvSpPr/>
          <p:nvPr/>
        </p:nvSpPr>
        <p:spPr>
          <a:xfrm>
            <a:off x="380124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94" name="TextBox 30"/>
          <p:cNvSpPr/>
          <p:nvPr/>
        </p:nvSpPr>
        <p:spPr>
          <a:xfrm>
            <a:off x="380124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ТІЛЬКИ НА PROM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5" name="TextBox 31"/>
          <p:cNvSpPr/>
          <p:nvPr/>
        </p:nvSpPr>
        <p:spPr>
          <a:xfrm>
            <a:off x="380124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Chief 210мм (вінтажний)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6" name="TextBox 32"/>
          <p:cNvSpPr/>
          <p:nvPr/>
        </p:nvSpPr>
        <p:spPr>
          <a:xfrm>
            <a:off x="380124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42e3a"/>
                </a:solidFill>
                <a:latin typeface="Segoe UI"/>
              </a:rPr>
              <a:t>3 520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7" name="TextBox 33"/>
          <p:cNvSpPr/>
          <p:nvPr/>
        </p:nvSpPr>
        <p:spPr>
          <a:xfrm>
            <a:off x="475236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8" name="Rounded Rectangle 34"/>
          <p:cNvSpPr/>
          <p:nvPr/>
        </p:nvSpPr>
        <p:spPr>
          <a:xfrm>
            <a:off x="530892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399" name="Picture 35" descr="p_3cf09b9dde766444.jpg"/>
          <p:cNvPicPr/>
          <p:nvPr/>
        </p:nvPicPr>
        <p:blipFill>
          <a:blip r:embed="rId5"/>
          <a:stretch/>
        </p:blipFill>
        <p:spPr>
          <a:xfrm>
            <a:off x="537264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00" name="Rounded Rectangle 36"/>
          <p:cNvSpPr/>
          <p:nvPr/>
        </p:nvSpPr>
        <p:spPr>
          <a:xfrm>
            <a:off x="538200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1" name="TextBox 37"/>
          <p:cNvSpPr/>
          <p:nvPr/>
        </p:nvSpPr>
        <p:spPr>
          <a:xfrm>
            <a:off x="538200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ТІЛЬКИ НА PROM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2" name="TextBox 38"/>
          <p:cNvSpPr/>
          <p:nvPr/>
        </p:nvSpPr>
        <p:spPr>
          <a:xfrm>
            <a:off x="538200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Chief 240мм (вінтажний)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3" name="TextBox 39"/>
          <p:cNvSpPr/>
          <p:nvPr/>
        </p:nvSpPr>
        <p:spPr>
          <a:xfrm>
            <a:off x="538200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b42e3a"/>
                </a:solidFill>
                <a:latin typeface="Segoe UI"/>
              </a:rPr>
              <a:t>4 070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4" name="TextBox 40"/>
          <p:cNvSpPr/>
          <p:nvPr/>
        </p:nvSpPr>
        <p:spPr>
          <a:xfrm>
            <a:off x="633276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ROKS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5" name="Rounded Rectangle 41"/>
          <p:cNvSpPr/>
          <p:nvPr/>
        </p:nvSpPr>
        <p:spPr>
          <a:xfrm>
            <a:off x="688932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06" name="Picture 42" descr="p_0a93f49d747761d6.jpg"/>
          <p:cNvPicPr/>
          <p:nvPr/>
        </p:nvPicPr>
        <p:blipFill>
          <a:blip r:embed="rId6"/>
          <a:stretch/>
        </p:blipFill>
        <p:spPr>
          <a:xfrm>
            <a:off x="695340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07" name="Rounded Rectangle 43"/>
          <p:cNvSpPr/>
          <p:nvPr/>
        </p:nvSpPr>
        <p:spPr>
          <a:xfrm>
            <a:off x="696240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8" name="TextBox 44"/>
          <p:cNvSpPr/>
          <p:nvPr/>
        </p:nvSpPr>
        <p:spPr>
          <a:xfrm>
            <a:off x="696240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9" name="TextBox 45"/>
          <p:cNvSpPr/>
          <p:nvPr/>
        </p:nvSpPr>
        <p:spPr>
          <a:xfrm>
            <a:off x="6962400" y="2505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універсальний Urushi Vg 10 15см (07942)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0" name="TextBox 46"/>
          <p:cNvSpPr/>
          <p:nvPr/>
        </p:nvSpPr>
        <p:spPr>
          <a:xfrm>
            <a:off x="696240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12 550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1" name="TextBox 47"/>
          <p:cNvSpPr/>
          <p:nvPr/>
        </p:nvSpPr>
        <p:spPr>
          <a:xfrm>
            <a:off x="791352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2" name="Rounded Rectangle 48"/>
          <p:cNvSpPr/>
          <p:nvPr/>
        </p:nvSpPr>
        <p:spPr>
          <a:xfrm>
            <a:off x="847008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13" name="Picture 49" descr="p_b328c785fb1e861b.jpg"/>
          <p:cNvPicPr/>
          <p:nvPr/>
        </p:nvPicPr>
        <p:blipFill>
          <a:blip r:embed="rId7"/>
          <a:stretch/>
        </p:blipFill>
        <p:spPr>
          <a:xfrm>
            <a:off x="853380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14" name="Rounded Rectangle 50"/>
          <p:cNvSpPr/>
          <p:nvPr/>
        </p:nvSpPr>
        <p:spPr>
          <a:xfrm>
            <a:off x="854316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5" name="TextBox 51"/>
          <p:cNvSpPr/>
          <p:nvPr/>
        </p:nvSpPr>
        <p:spPr>
          <a:xfrm>
            <a:off x="854316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6" name="TextBox 52"/>
          <p:cNvSpPr/>
          <p:nvPr/>
        </p:nvSpPr>
        <p:spPr>
          <a:xfrm>
            <a:off x="854316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7" name="TextBox 53"/>
          <p:cNvSpPr/>
          <p:nvPr/>
        </p:nvSpPr>
        <p:spPr>
          <a:xfrm>
            <a:off x="854316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15 266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8" name="TextBox 54"/>
          <p:cNvSpPr/>
          <p:nvPr/>
        </p:nvSpPr>
        <p:spPr>
          <a:xfrm>
            <a:off x="949392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9" name="Rounded Rectangle 55"/>
          <p:cNvSpPr/>
          <p:nvPr/>
        </p:nvSpPr>
        <p:spPr>
          <a:xfrm>
            <a:off x="10050480" y="151776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20" name="Picture 56" descr="p_cf44316a7d4c9773.jpg"/>
          <p:cNvPicPr/>
          <p:nvPr/>
        </p:nvPicPr>
        <p:blipFill>
          <a:blip r:embed="rId8"/>
          <a:stretch/>
        </p:blipFill>
        <p:spPr>
          <a:xfrm>
            <a:off x="10114560" y="156348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21" name="Rounded Rectangle 57"/>
          <p:cNvSpPr/>
          <p:nvPr/>
        </p:nvSpPr>
        <p:spPr>
          <a:xfrm>
            <a:off x="10123560" y="233172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22" name="TextBox 58"/>
          <p:cNvSpPr/>
          <p:nvPr/>
        </p:nvSpPr>
        <p:spPr>
          <a:xfrm>
            <a:off x="10123560" y="236484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3" name="TextBox 59"/>
          <p:cNvSpPr/>
          <p:nvPr/>
        </p:nvSpPr>
        <p:spPr>
          <a:xfrm>
            <a:off x="10123560" y="2505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Saiu Santoku 17см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4" name="TextBox 60"/>
          <p:cNvSpPr/>
          <p:nvPr/>
        </p:nvSpPr>
        <p:spPr>
          <a:xfrm>
            <a:off x="10123560" y="267912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5" name="TextBox 61"/>
          <p:cNvSpPr/>
          <p:nvPr/>
        </p:nvSpPr>
        <p:spPr>
          <a:xfrm>
            <a:off x="11074680" y="269748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6" name="Rounded Rectangle 62"/>
          <p:cNvSpPr/>
          <p:nvPr/>
        </p:nvSpPr>
        <p:spPr>
          <a:xfrm>
            <a:off x="56700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27" name="Picture 63" descr="p_29f05d151f49e6bf.jpg"/>
          <p:cNvPicPr/>
          <p:nvPr/>
        </p:nvPicPr>
        <p:blipFill>
          <a:blip r:embed="rId9"/>
          <a:stretch/>
        </p:blipFill>
        <p:spPr>
          <a:xfrm>
            <a:off x="63108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28" name="Rounded Rectangle 64"/>
          <p:cNvSpPr/>
          <p:nvPr/>
        </p:nvSpPr>
        <p:spPr>
          <a:xfrm>
            <a:off x="64008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29" name="TextBox 65"/>
          <p:cNvSpPr/>
          <p:nvPr/>
        </p:nvSpPr>
        <p:spPr>
          <a:xfrm>
            <a:off x="64008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0" name="TextBox 66"/>
          <p:cNvSpPr/>
          <p:nvPr/>
        </p:nvSpPr>
        <p:spPr>
          <a:xfrm>
            <a:off x="64008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Sairen Kengata 16см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1" name="TextBox 67"/>
          <p:cNvSpPr/>
          <p:nvPr/>
        </p:nvSpPr>
        <p:spPr>
          <a:xfrm>
            <a:off x="64008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2" name="TextBox 68"/>
          <p:cNvSpPr/>
          <p:nvPr/>
        </p:nvSpPr>
        <p:spPr>
          <a:xfrm>
            <a:off x="159120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3" name="Rounded Rectangle 69"/>
          <p:cNvSpPr/>
          <p:nvPr/>
        </p:nvSpPr>
        <p:spPr>
          <a:xfrm>
            <a:off x="214740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34" name="Picture 70" descr="p_04ad21691281a05b.jpg"/>
          <p:cNvPicPr/>
          <p:nvPr/>
        </p:nvPicPr>
        <p:blipFill>
          <a:blip r:embed="rId10"/>
          <a:stretch/>
        </p:blipFill>
        <p:spPr>
          <a:xfrm>
            <a:off x="221148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35" name="Rounded Rectangle 71"/>
          <p:cNvSpPr/>
          <p:nvPr/>
        </p:nvSpPr>
        <p:spPr>
          <a:xfrm>
            <a:off x="222084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36" name="TextBox 72"/>
          <p:cNvSpPr/>
          <p:nvPr/>
        </p:nvSpPr>
        <p:spPr>
          <a:xfrm>
            <a:off x="222084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7" name="TextBox 73"/>
          <p:cNvSpPr/>
          <p:nvPr/>
        </p:nvSpPr>
        <p:spPr>
          <a:xfrm>
            <a:off x="222084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Urushi Vg-10 Saiseki Kengata (7966)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8" name="TextBox 74"/>
          <p:cNvSpPr/>
          <p:nvPr/>
        </p:nvSpPr>
        <p:spPr>
          <a:xfrm>
            <a:off x="222084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9" name="TextBox 75"/>
          <p:cNvSpPr/>
          <p:nvPr/>
        </p:nvSpPr>
        <p:spPr>
          <a:xfrm>
            <a:off x="317160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0" name="Rounded Rectangle 76"/>
          <p:cNvSpPr/>
          <p:nvPr/>
        </p:nvSpPr>
        <p:spPr>
          <a:xfrm>
            <a:off x="372816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41" name="Picture 77" descr="p_12df5afc38c5bd5f.jpg"/>
          <p:cNvPicPr/>
          <p:nvPr/>
        </p:nvPicPr>
        <p:blipFill>
          <a:blip r:embed="rId11"/>
          <a:stretch/>
        </p:blipFill>
        <p:spPr>
          <a:xfrm>
            <a:off x="379224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42" name="Rounded Rectangle 78"/>
          <p:cNvSpPr/>
          <p:nvPr/>
        </p:nvSpPr>
        <p:spPr>
          <a:xfrm>
            <a:off x="380124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3" name="TextBox 79"/>
          <p:cNvSpPr/>
          <p:nvPr/>
        </p:nvSpPr>
        <p:spPr>
          <a:xfrm>
            <a:off x="380124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4" name="TextBox 80"/>
          <p:cNvSpPr/>
          <p:nvPr/>
        </p:nvSpPr>
        <p:spPr>
          <a:xfrm>
            <a:off x="380124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Сантоку Nanairo Vg 10 Green (14576)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5" name="TextBox 81"/>
          <p:cNvSpPr/>
          <p:nvPr/>
        </p:nvSpPr>
        <p:spPr>
          <a:xfrm>
            <a:off x="380124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15 326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6" name="TextBox 82"/>
          <p:cNvSpPr/>
          <p:nvPr/>
        </p:nvSpPr>
        <p:spPr>
          <a:xfrm>
            <a:off x="475236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7" name="Rounded Rectangle 83"/>
          <p:cNvSpPr/>
          <p:nvPr/>
        </p:nvSpPr>
        <p:spPr>
          <a:xfrm>
            <a:off x="530892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48" name="Picture 84" descr="p_bb0674f3f697c03f.jpg"/>
          <p:cNvPicPr/>
          <p:nvPr/>
        </p:nvPicPr>
        <p:blipFill>
          <a:blip r:embed="rId12"/>
          <a:stretch/>
        </p:blipFill>
        <p:spPr>
          <a:xfrm>
            <a:off x="537264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49" name="Rounded Rectangle 85"/>
          <p:cNvSpPr/>
          <p:nvPr/>
        </p:nvSpPr>
        <p:spPr>
          <a:xfrm>
            <a:off x="538200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0" name="TextBox 86"/>
          <p:cNvSpPr/>
          <p:nvPr/>
        </p:nvSpPr>
        <p:spPr>
          <a:xfrm>
            <a:off x="538200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1" name="TextBox 87"/>
          <p:cNvSpPr/>
          <p:nvPr/>
        </p:nvSpPr>
        <p:spPr>
          <a:xfrm>
            <a:off x="5382000" y="394092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шеф-кухаря Aogami#2 Iron Kurouchi 24см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2" name="TextBox 88"/>
          <p:cNvSpPr/>
          <p:nvPr/>
        </p:nvSpPr>
        <p:spPr>
          <a:xfrm>
            <a:off x="538200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17 387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3" name="TextBox 89"/>
          <p:cNvSpPr/>
          <p:nvPr/>
        </p:nvSpPr>
        <p:spPr>
          <a:xfrm>
            <a:off x="633276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4" name="Rounded Rectangle 90"/>
          <p:cNvSpPr/>
          <p:nvPr/>
        </p:nvSpPr>
        <p:spPr>
          <a:xfrm>
            <a:off x="688932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55" name="Picture 91" descr="p_d8f262b0e38a5437.jpg"/>
          <p:cNvPicPr/>
          <p:nvPr/>
        </p:nvPicPr>
        <p:blipFill>
          <a:blip r:embed="rId13"/>
          <a:stretch/>
        </p:blipFill>
        <p:spPr>
          <a:xfrm>
            <a:off x="695340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56" name="Rounded Rectangle 92"/>
          <p:cNvSpPr/>
          <p:nvPr/>
        </p:nvSpPr>
        <p:spPr>
          <a:xfrm>
            <a:off x="696240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7" name="TextBox 93"/>
          <p:cNvSpPr/>
          <p:nvPr/>
        </p:nvSpPr>
        <p:spPr>
          <a:xfrm>
            <a:off x="696240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8" name="TextBox 94"/>
          <p:cNvSpPr/>
          <p:nvPr/>
        </p:nvSpPr>
        <p:spPr>
          <a:xfrm>
            <a:off x="696240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Шеф Urushi Saiseki 24см (VG-10)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9" name="TextBox 95"/>
          <p:cNvSpPr/>
          <p:nvPr/>
        </p:nvSpPr>
        <p:spPr>
          <a:xfrm>
            <a:off x="696240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18 415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0" name="TextBox 96"/>
          <p:cNvSpPr/>
          <p:nvPr/>
        </p:nvSpPr>
        <p:spPr>
          <a:xfrm>
            <a:off x="791352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1" name="Rounded Rectangle 97"/>
          <p:cNvSpPr/>
          <p:nvPr/>
        </p:nvSpPr>
        <p:spPr>
          <a:xfrm>
            <a:off x="847008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62" name="Picture 98" descr="p_d725270ce809bc83.jpg"/>
          <p:cNvPicPr/>
          <p:nvPr/>
        </p:nvPicPr>
        <p:blipFill>
          <a:blip r:embed="rId14"/>
          <a:stretch/>
        </p:blipFill>
        <p:spPr>
          <a:xfrm>
            <a:off x="853380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63" name="Rounded Rectangle 99"/>
          <p:cNvSpPr/>
          <p:nvPr/>
        </p:nvSpPr>
        <p:spPr>
          <a:xfrm>
            <a:off x="854316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64" name="TextBox 100"/>
          <p:cNvSpPr/>
          <p:nvPr/>
        </p:nvSpPr>
        <p:spPr>
          <a:xfrm>
            <a:off x="854316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5" name="TextBox 101"/>
          <p:cNvSpPr/>
          <p:nvPr/>
        </p:nvSpPr>
        <p:spPr>
          <a:xfrm>
            <a:off x="854316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Santoku Ginga Za 18 см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6" name="TextBox 102"/>
          <p:cNvSpPr/>
          <p:nvPr/>
        </p:nvSpPr>
        <p:spPr>
          <a:xfrm>
            <a:off x="854316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20 572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7" name="TextBox 103"/>
          <p:cNvSpPr/>
          <p:nvPr/>
        </p:nvSpPr>
        <p:spPr>
          <a:xfrm>
            <a:off x="949392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Techdom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8" name="Rounded Rectangle 104"/>
          <p:cNvSpPr/>
          <p:nvPr/>
        </p:nvSpPr>
        <p:spPr>
          <a:xfrm>
            <a:off x="10050480" y="295344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69" name="Picture 105" descr="p_74a76e9ae5d97009.jpg"/>
          <p:cNvPicPr/>
          <p:nvPr/>
        </p:nvPicPr>
        <p:blipFill>
          <a:blip r:embed="rId15"/>
          <a:stretch/>
        </p:blipFill>
        <p:spPr>
          <a:xfrm>
            <a:off x="10114560" y="299916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70" name="Rounded Rectangle 106"/>
          <p:cNvSpPr/>
          <p:nvPr/>
        </p:nvSpPr>
        <p:spPr>
          <a:xfrm>
            <a:off x="10123560" y="376740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71" name="TextBox 107"/>
          <p:cNvSpPr/>
          <p:nvPr/>
        </p:nvSpPr>
        <p:spPr>
          <a:xfrm>
            <a:off x="10123560" y="380052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2" name="TextBox 108"/>
          <p:cNvSpPr/>
          <p:nvPr/>
        </p:nvSpPr>
        <p:spPr>
          <a:xfrm>
            <a:off x="10123560" y="394092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Kasumi Shirogami 3 24см (6083)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3" name="TextBox 109"/>
          <p:cNvSpPr/>
          <p:nvPr/>
        </p:nvSpPr>
        <p:spPr>
          <a:xfrm>
            <a:off x="10123560" y="411480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20 750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4" name="TextBox 110"/>
          <p:cNvSpPr/>
          <p:nvPr/>
        </p:nvSpPr>
        <p:spPr>
          <a:xfrm>
            <a:off x="11074680" y="413316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5" name="Rounded Rectangle 111"/>
          <p:cNvSpPr/>
          <p:nvPr/>
        </p:nvSpPr>
        <p:spPr>
          <a:xfrm>
            <a:off x="56700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76" name="Picture 112" descr="p_81c372e6ab4f4573.jpg"/>
          <p:cNvPicPr/>
          <p:nvPr/>
        </p:nvPicPr>
        <p:blipFill>
          <a:blip r:embed="rId16"/>
          <a:stretch/>
        </p:blipFill>
        <p:spPr>
          <a:xfrm>
            <a:off x="63108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77" name="Rounded Rectangle 113"/>
          <p:cNvSpPr/>
          <p:nvPr/>
        </p:nvSpPr>
        <p:spPr>
          <a:xfrm>
            <a:off x="64008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78" name="TextBox 114"/>
          <p:cNvSpPr/>
          <p:nvPr/>
        </p:nvSpPr>
        <p:spPr>
          <a:xfrm>
            <a:off x="640080" y="523620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9" name="TextBox 115"/>
          <p:cNvSpPr/>
          <p:nvPr/>
        </p:nvSpPr>
        <p:spPr>
          <a:xfrm>
            <a:off x="640080" y="5376600"/>
            <a:ext cx="1342440" cy="9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Silver#3 Yanagiba 27см (4231)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0" name="TextBox 116"/>
          <p:cNvSpPr/>
          <p:nvPr/>
        </p:nvSpPr>
        <p:spPr>
          <a:xfrm>
            <a:off x="64008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34 857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1" name="TextBox 117"/>
          <p:cNvSpPr/>
          <p:nvPr/>
        </p:nvSpPr>
        <p:spPr>
          <a:xfrm>
            <a:off x="159120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2" name="Rounded Rectangle 118"/>
          <p:cNvSpPr/>
          <p:nvPr/>
        </p:nvSpPr>
        <p:spPr>
          <a:xfrm>
            <a:off x="214740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83" name="Picture 119" descr="p_899349b743e9a77f.jpg"/>
          <p:cNvPicPr/>
          <p:nvPr/>
        </p:nvPicPr>
        <p:blipFill>
          <a:blip r:embed="rId17"/>
          <a:stretch/>
        </p:blipFill>
        <p:spPr>
          <a:xfrm>
            <a:off x="221148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84" name="Rounded Rectangle 120"/>
          <p:cNvSpPr/>
          <p:nvPr/>
        </p:nvSpPr>
        <p:spPr>
          <a:xfrm>
            <a:off x="222084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85" name="TextBox 121"/>
          <p:cNvSpPr/>
          <p:nvPr/>
        </p:nvSpPr>
        <p:spPr>
          <a:xfrm>
            <a:off x="2220840" y="523620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6" name="TextBox 122"/>
          <p:cNvSpPr/>
          <p:nvPr/>
        </p:nvSpPr>
        <p:spPr>
          <a:xfrm>
            <a:off x="222084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Byakko Shirogami Kiritsuke Yanagiba 27см (2204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7" name="TextBox 123"/>
          <p:cNvSpPr/>
          <p:nvPr/>
        </p:nvSpPr>
        <p:spPr>
          <a:xfrm>
            <a:off x="222084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44 169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8" name="TextBox 124"/>
          <p:cNvSpPr/>
          <p:nvPr/>
        </p:nvSpPr>
        <p:spPr>
          <a:xfrm>
            <a:off x="317160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tech.dp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9" name="Rounded Rectangle 125"/>
          <p:cNvSpPr/>
          <p:nvPr/>
        </p:nvSpPr>
        <p:spPr>
          <a:xfrm>
            <a:off x="372816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90" name="Picture 126" descr="p_9dce3440c3a78a87.jpg"/>
          <p:cNvPicPr/>
          <p:nvPr/>
        </p:nvPicPr>
        <p:blipFill>
          <a:blip r:embed="rId18"/>
          <a:stretch/>
        </p:blipFill>
        <p:spPr>
          <a:xfrm>
            <a:off x="379224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91" name="Rounded Rectangle 127"/>
          <p:cNvSpPr/>
          <p:nvPr/>
        </p:nvSpPr>
        <p:spPr>
          <a:xfrm>
            <a:off x="380124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92" name="TextBox 128"/>
          <p:cNvSpPr/>
          <p:nvPr/>
        </p:nvSpPr>
        <p:spPr>
          <a:xfrm>
            <a:off x="3801240" y="523620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3" name="TextBox 129"/>
          <p:cNvSpPr/>
          <p:nvPr/>
        </p:nvSpPr>
        <p:spPr>
          <a:xfrm>
            <a:off x="380124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Shoryu Honyaki Vg 10 Kengata Yanagiba 30см (20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4" name="TextBox 130"/>
          <p:cNvSpPr/>
          <p:nvPr/>
        </p:nvSpPr>
        <p:spPr>
          <a:xfrm>
            <a:off x="380124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57 903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5" name="TextBox 131"/>
          <p:cNvSpPr/>
          <p:nvPr/>
        </p:nvSpPr>
        <p:spPr>
          <a:xfrm>
            <a:off x="475236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6" name="Rounded Rectangle 132"/>
          <p:cNvSpPr/>
          <p:nvPr/>
        </p:nvSpPr>
        <p:spPr>
          <a:xfrm>
            <a:off x="530892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497" name="Picture 133" descr="p_f7628f25fcd3e19d.jpg"/>
          <p:cNvPicPr/>
          <p:nvPr/>
        </p:nvPicPr>
        <p:blipFill>
          <a:blip r:embed="rId19"/>
          <a:stretch/>
        </p:blipFill>
        <p:spPr>
          <a:xfrm>
            <a:off x="537264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498" name="Rounded Rectangle 134"/>
          <p:cNvSpPr/>
          <p:nvPr/>
        </p:nvSpPr>
        <p:spPr>
          <a:xfrm>
            <a:off x="538200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99" name="TextBox 135"/>
          <p:cNvSpPr/>
          <p:nvPr/>
        </p:nvSpPr>
        <p:spPr>
          <a:xfrm>
            <a:off x="5382000" y="523620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0" name="TextBox 136"/>
          <p:cNvSpPr/>
          <p:nvPr/>
        </p:nvSpPr>
        <p:spPr>
          <a:xfrm>
            <a:off x="538200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Shoryu Honyaki VG-10 Sakimaru 30см (0204)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1" name="TextBox 137"/>
          <p:cNvSpPr/>
          <p:nvPr/>
        </p:nvSpPr>
        <p:spPr>
          <a:xfrm>
            <a:off x="538200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60 495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2" name="TextBox 138"/>
          <p:cNvSpPr/>
          <p:nvPr/>
        </p:nvSpPr>
        <p:spPr>
          <a:xfrm>
            <a:off x="633276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Shopnica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3" name="Rounded Rectangle 139"/>
          <p:cNvSpPr/>
          <p:nvPr/>
        </p:nvSpPr>
        <p:spPr>
          <a:xfrm>
            <a:off x="6889320" y="4389120"/>
            <a:ext cx="1488960" cy="1343880"/>
          </a:xfrm>
          <a:prstGeom prst="roundRect">
            <a:avLst>
              <a:gd name="adj" fmla="val 6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504" name="Picture 140" descr="p_38da390058d7706e.jpg"/>
          <p:cNvPicPr/>
          <p:nvPr/>
        </p:nvPicPr>
        <p:blipFill>
          <a:blip r:embed="rId20"/>
          <a:stretch/>
        </p:blipFill>
        <p:spPr>
          <a:xfrm>
            <a:off x="6953400" y="4434840"/>
            <a:ext cx="1360800" cy="731160"/>
          </a:xfrm>
          <a:prstGeom prst="rect">
            <a:avLst/>
          </a:prstGeom>
          <a:ln w="0">
            <a:noFill/>
          </a:ln>
        </p:spPr>
      </p:pic>
      <p:sp>
        <p:nvSpPr>
          <p:cNvPr id="3505" name="Rounded Rectangle 141"/>
          <p:cNvSpPr/>
          <p:nvPr/>
        </p:nvSpPr>
        <p:spPr>
          <a:xfrm>
            <a:off x="6962400" y="5203080"/>
            <a:ext cx="968760" cy="136800"/>
          </a:xfrm>
          <a:prstGeom prst="roundRect">
            <a:avLst>
              <a:gd name="adj" fmla="val 35000"/>
            </a:avLst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06" name="TextBox 142"/>
          <p:cNvSpPr/>
          <p:nvPr/>
        </p:nvSpPr>
        <p:spPr>
          <a:xfrm>
            <a:off x="6962400" y="5236200"/>
            <a:ext cx="968760" cy="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460" spc="-1" strike="noStrike">
                <a:solidFill>
                  <a:srgbClr val="ffffff"/>
                </a:solidFill>
                <a:latin typeface="Segoe UI"/>
              </a:rPr>
              <a:t>ПІД ЗАМОВЛЕННЯ</a:t>
            </a:r>
            <a:endParaRPr b="0" lang="en-US" sz="4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7" name="TextBox 143"/>
          <p:cNvSpPr/>
          <p:nvPr/>
        </p:nvSpPr>
        <p:spPr>
          <a:xfrm>
            <a:off x="6962400" y="5376600"/>
            <a:ext cx="1342440" cy="1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14000"/>
              </a:lnSpc>
            </a:pPr>
            <a:r>
              <a:rPr b="0" lang="en-US" sz="540" spc="-1" strike="noStrike">
                <a:solidFill>
                  <a:srgbClr val="1b253f"/>
                </a:solidFill>
                <a:latin typeface="Segoe UI"/>
              </a:rPr>
              <a:t>Genbu Aogami 2 Sakimaru 30Cm (2245)</a:t>
            </a:r>
            <a:endParaRPr b="0" lang="en-US" sz="5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8" name="TextBox 144"/>
          <p:cNvSpPr/>
          <p:nvPr/>
        </p:nvSpPr>
        <p:spPr>
          <a:xfrm>
            <a:off x="6962400" y="5550480"/>
            <a:ext cx="96876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966e28"/>
                </a:solidFill>
                <a:latin typeface="Segoe UI"/>
              </a:rPr>
              <a:t>61 891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9" name="TextBox 145"/>
          <p:cNvSpPr/>
          <p:nvPr/>
        </p:nvSpPr>
        <p:spPr>
          <a:xfrm>
            <a:off x="7913520" y="5568840"/>
            <a:ext cx="446400" cy="7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520" spc="-1" strike="noStrike">
                <a:solidFill>
                  <a:srgbClr val="6b7282"/>
                </a:solidFill>
                <a:latin typeface="Segoe UI"/>
              </a:rPr>
              <a:t>Livico</a:t>
            </a:r>
            <a:endParaRPr b="0" lang="en-US" sz="5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0" name="Rounded Rectangle 146"/>
          <p:cNvSpPr/>
          <p:nvPr/>
        </p:nvSpPr>
        <p:spPr>
          <a:xfrm>
            <a:off x="567000" y="5833800"/>
            <a:ext cx="11063880" cy="687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1" name="Rectangle 147"/>
          <p:cNvSpPr/>
          <p:nvPr/>
        </p:nvSpPr>
        <p:spPr>
          <a:xfrm>
            <a:off x="567000" y="5833800"/>
            <a:ext cx="36360" cy="687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2" name="TextBox 148"/>
          <p:cNvSpPr/>
          <p:nvPr/>
        </p:nvSpPr>
        <p:spPr>
          <a:xfrm>
            <a:off x="804600" y="598932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ЩО ВИДНО НА ЦІЙ СТОРІНЦІ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3" name="TextBox 149"/>
          <p:cNvSpPr/>
          <p:nvPr/>
        </p:nvSpPr>
        <p:spPr>
          <a:xfrm>
            <a:off x="804600" y="6217920"/>
            <a:ext cx="10588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20" spc="-1" strike="noStrike">
                <a:solidFill>
                  <a:srgbClr val="1b253f"/>
                </a:solidFill>
                <a:latin typeface="Segoe UI"/>
              </a:rPr>
              <a:t>Зі складу — лише дві янагіби 24 см. Решта, разом із сантоку й гюто, тільки під замовлення.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4" name="TextBox 150"/>
          <p:cNvSpPr/>
          <p:nvPr/>
        </p:nvSpPr>
        <p:spPr>
          <a:xfrm>
            <a:off x="603360" y="660204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fcfb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6" name="Rectangle 2"/>
          <p:cNvSpPr/>
          <p:nvPr/>
        </p:nvSpPr>
        <p:spPr>
          <a:xfrm>
            <a:off x="0" y="0"/>
            <a:ext cx="12191760" cy="11152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17" name="Rectangle 3"/>
          <p:cNvSpPr/>
          <p:nvPr/>
        </p:nvSpPr>
        <p:spPr>
          <a:xfrm>
            <a:off x="0" y="1115640"/>
            <a:ext cx="12191760" cy="22680"/>
          </a:xfrm>
          <a:prstGeom prst="rect">
            <a:avLst/>
          </a:prstGeom>
          <a:solidFill>
            <a:srgbClr val="b88a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1960" bIns="-219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518" name="Picture 4" descr="logo.png"/>
          <p:cNvPicPr/>
          <p:nvPr/>
        </p:nvPicPr>
        <p:blipFill>
          <a:blip r:embed="rId1"/>
          <a:stretch/>
        </p:blipFill>
        <p:spPr>
          <a:xfrm>
            <a:off x="603360" y="292680"/>
            <a:ext cx="1334520" cy="576720"/>
          </a:xfrm>
          <a:prstGeom prst="rect">
            <a:avLst/>
          </a:prstGeom>
          <a:ln w="0">
            <a:noFill/>
          </a:ln>
        </p:spPr>
      </p:pic>
      <p:sp>
        <p:nvSpPr>
          <p:cNvPr id="3519" name="TextBox 5"/>
          <p:cNvSpPr/>
          <p:nvPr/>
        </p:nvSpPr>
        <p:spPr>
          <a:xfrm>
            <a:off x="2249280" y="301680"/>
            <a:ext cx="7863480" cy="11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40" spc="-1" strike="noStrike">
                <a:solidFill>
                  <a:srgbClr val="d9b165"/>
                </a:solidFill>
                <a:latin typeface="Segoe UI"/>
              </a:rPr>
              <a:t>П О Т Е Н Ц І Й Н И Й   П О С Т А Ч А Л Ь Н И К   ·   4   З   4</a:t>
            </a:r>
            <a:endParaRPr b="0" lang="en-US" sz="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0" name="TextBox 6"/>
          <p:cNvSpPr/>
          <p:nvPr/>
        </p:nvSpPr>
        <p:spPr>
          <a:xfrm>
            <a:off x="2231280" y="568440"/>
            <a:ext cx="80463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8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Georgia"/>
              </a:rPr>
              <a:t>Цільова зона зайнята дванадцятьма брендами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1" name="TextBox 7"/>
          <p:cNvSpPr/>
          <p:nvPr/>
        </p:nvSpPr>
        <p:spPr>
          <a:xfrm>
            <a:off x="10607040" y="402480"/>
            <a:ext cx="10054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3b4768"/>
                </a:solidFill>
                <a:latin typeface="Georgia"/>
              </a:rPr>
              <a:t>24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2" name="Rounded Rectangle 8"/>
          <p:cNvSpPr/>
          <p:nvPr/>
        </p:nvSpPr>
        <p:spPr>
          <a:xfrm>
            <a:off x="10058400" y="1197720"/>
            <a:ext cx="1572480" cy="246600"/>
          </a:xfrm>
          <a:prstGeom prst="roundRect">
            <a:avLst>
              <a:gd name="adj" fmla="val 30000"/>
            </a:avLst>
          </a:prstGeom>
          <a:solidFill>
            <a:srgbClr val="faf9f6"/>
          </a:solidFill>
          <a:ln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3" name="Oval 9"/>
          <p:cNvSpPr/>
          <p:nvPr/>
        </p:nvSpPr>
        <p:spPr>
          <a:xfrm>
            <a:off x="10195560" y="1243440"/>
            <a:ext cx="155160" cy="155160"/>
          </a:xfrm>
          <a:prstGeom prst="ellipse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4" name="TextBox 10"/>
          <p:cNvSpPr/>
          <p:nvPr/>
        </p:nvSpPr>
        <p:spPr>
          <a:xfrm>
            <a:off x="10405800" y="1243440"/>
            <a:ext cx="11336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MADE IN JAPAN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5" name="TextBox 11"/>
          <p:cNvSpPr/>
          <p:nvPr/>
        </p:nvSpPr>
        <p:spPr>
          <a:xfrm>
            <a:off x="603360" y="1271160"/>
            <a:ext cx="9235080" cy="14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6b7282"/>
                </a:solidFill>
                <a:latin typeface="Segoe UI"/>
              </a:rPr>
              <a:t>Де саме Sakai Takayuki опинився б на полиці, проти кого стояв би і чим від них відрізняється сьогодні.</a:t>
            </a:r>
            <a:endParaRPr b="0" lang="en-US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6" name="Rectangle 12"/>
          <p:cNvSpPr/>
          <p:nvPr/>
        </p:nvSpPr>
        <p:spPr>
          <a:xfrm>
            <a:off x="567000" y="1481400"/>
            <a:ext cx="11063880" cy="10440"/>
          </a:xfrm>
          <a:prstGeom prst="rect">
            <a:avLst/>
          </a:prstGeom>
          <a:solidFill>
            <a:srgbClr val="c9c4b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7" name="Rectangle 13"/>
          <p:cNvSpPr/>
          <p:nvPr/>
        </p:nvSpPr>
        <p:spPr>
          <a:xfrm>
            <a:off x="56700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8" name="Rectangle 14"/>
          <p:cNvSpPr/>
          <p:nvPr/>
        </p:nvSpPr>
        <p:spPr>
          <a:xfrm>
            <a:off x="567000" y="1572840"/>
            <a:ext cx="2706120" cy="25200"/>
          </a:xfrm>
          <a:prstGeom prst="rect">
            <a:avLst/>
          </a:prstGeom>
          <a:solidFill>
            <a:srgbClr val="5547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29" name="TextBox 15"/>
          <p:cNvSpPr/>
          <p:nvPr/>
        </p:nvSpPr>
        <p:spPr>
          <a:xfrm>
            <a:off x="786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Ц І Л Ь О В А   З О Н А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0" name="TextBox 16"/>
          <p:cNvSpPr/>
          <p:nvPr/>
        </p:nvSpPr>
        <p:spPr>
          <a:xfrm>
            <a:off x="786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554780"/>
                </a:solidFill>
                <a:latin typeface="Georgia"/>
              </a:rPr>
              <a:t>7 000 – 20 000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1" name="TextBox 17"/>
          <p:cNvSpPr/>
          <p:nvPr/>
        </p:nvSpPr>
        <p:spPr>
          <a:xfrm>
            <a:off x="786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грн. Сюди потрапляє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основна лінійка бренду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2" name="Rectangle 18"/>
          <p:cNvSpPr/>
          <p:nvPr/>
        </p:nvSpPr>
        <p:spPr>
          <a:xfrm>
            <a:off x="342000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3" name="Rectangle 19"/>
          <p:cNvSpPr/>
          <p:nvPr/>
        </p:nvSpPr>
        <p:spPr>
          <a:xfrm>
            <a:off x="3420000" y="1572840"/>
            <a:ext cx="2706120" cy="252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4" name="TextBox 20"/>
          <p:cNvSpPr/>
          <p:nvPr/>
        </p:nvSpPr>
        <p:spPr>
          <a:xfrm>
            <a:off x="3639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П О З И Ц І Й   У   Ц І Й   З О Н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5" name="TextBox 21"/>
          <p:cNvSpPr/>
          <p:nvPr/>
        </p:nvSpPr>
        <p:spPr>
          <a:xfrm>
            <a:off x="3639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966e28"/>
                </a:solidFill>
                <a:latin typeface="Georgia"/>
              </a:rPr>
              <a:t>105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6" name="TextBox 22"/>
          <p:cNvSpPr/>
          <p:nvPr/>
        </p:nvSpPr>
        <p:spPr>
          <a:xfrm>
            <a:off x="3639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із 259 каталогу,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тобто 41 %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7" name="Rectangle 23"/>
          <p:cNvSpPr/>
          <p:nvPr/>
        </p:nvSpPr>
        <p:spPr>
          <a:xfrm>
            <a:off x="627264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8" name="Rectangle 24"/>
          <p:cNvSpPr/>
          <p:nvPr/>
        </p:nvSpPr>
        <p:spPr>
          <a:xfrm>
            <a:off x="6272640" y="1572840"/>
            <a:ext cx="2706120" cy="252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39" name="TextBox 25"/>
          <p:cNvSpPr/>
          <p:nvPr/>
        </p:nvSpPr>
        <p:spPr>
          <a:xfrm>
            <a:off x="6492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З   Н И Х   S A K A I   T A K A Y U K I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0" name="TextBox 26"/>
          <p:cNvSpPr/>
          <p:nvPr/>
        </p:nvSpPr>
        <p:spPr>
          <a:xfrm>
            <a:off x="6492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b42e3a"/>
                </a:solidFill>
                <a:latin typeface="Georgia"/>
              </a:rPr>
              <a:t>2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1" name="TextBox 27"/>
          <p:cNvSpPr/>
          <p:nvPr/>
        </p:nvSpPr>
        <p:spPr>
          <a:xfrm>
            <a:off x="6492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менше ніж 2 %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зайнятої зони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2" name="Rectangle 28"/>
          <p:cNvSpPr/>
          <p:nvPr/>
        </p:nvSpPr>
        <p:spPr>
          <a:xfrm>
            <a:off x="9125640" y="1572840"/>
            <a:ext cx="2706120" cy="1096920"/>
          </a:xfrm>
          <a:prstGeom prst="rect">
            <a:avLst/>
          </a:prstGeom>
          <a:solidFill>
            <a:srgbClr val="faf9f6"/>
          </a:solidFill>
          <a:ln w="7620">
            <a:solidFill>
              <a:srgbClr val="e2e0d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3" name="Rectangle 29"/>
          <p:cNvSpPr/>
          <p:nvPr/>
        </p:nvSpPr>
        <p:spPr>
          <a:xfrm>
            <a:off x="9125640" y="1572840"/>
            <a:ext cx="2706120" cy="252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9440" bIns="-194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4" name="TextBox 30"/>
          <p:cNvSpPr/>
          <p:nvPr/>
        </p:nvSpPr>
        <p:spPr>
          <a:xfrm>
            <a:off x="9345240" y="1746360"/>
            <a:ext cx="226728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20" spc="-1" strike="noStrike">
                <a:solidFill>
                  <a:srgbClr val="6b7282"/>
                </a:solidFill>
                <a:latin typeface="Segoe UI"/>
              </a:rPr>
              <a:t>Б Р Е Н Д І В   У   З О Н І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5" name="TextBox 31"/>
          <p:cNvSpPr/>
          <p:nvPr/>
        </p:nvSpPr>
        <p:spPr>
          <a:xfrm>
            <a:off x="9345240" y="1938600"/>
            <a:ext cx="226728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100" spc="-1" strike="noStrike">
                <a:solidFill>
                  <a:srgbClr val="2a7f86"/>
                </a:solidFill>
                <a:latin typeface="Georgia"/>
              </a:rPr>
              <a:t>12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6" name="TextBox 32"/>
          <p:cNvSpPr/>
          <p:nvPr/>
        </p:nvSpPr>
        <p:spPr>
          <a:xfrm>
            <a:off x="9345240" y="2432160"/>
            <a:ext cx="2267280" cy="22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усі з полицею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b="0" lang="en-US" sz="660" spc="-1" strike="noStrike">
                <a:solidFill>
                  <a:srgbClr val="6b7282"/>
                </a:solidFill>
                <a:latin typeface="Segoe UI"/>
              </a:rPr>
              <a:t>і глибиною лінійки</a:t>
            </a:r>
            <a:endParaRPr b="0" lang="en-US" sz="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7" name="Rectangle 33"/>
          <p:cNvSpPr/>
          <p:nvPr/>
        </p:nvSpPr>
        <p:spPr>
          <a:xfrm>
            <a:off x="567000" y="2871360"/>
            <a:ext cx="557748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48" name="TextBox 34"/>
          <p:cNvSpPr/>
          <p:nvPr/>
        </p:nvSpPr>
        <p:spPr>
          <a:xfrm>
            <a:off x="713160" y="2912400"/>
            <a:ext cx="306756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ХТО ВЖЕ ТРИМАЄ ЗОНУ: 12 БРЕНДІВ, 105 ПОЗИЦІЙ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9" name="TextBox 35"/>
          <p:cNvSpPr/>
          <p:nvPr/>
        </p:nvSpPr>
        <p:spPr>
          <a:xfrm>
            <a:off x="5413320" y="3218760"/>
            <a:ext cx="731160" cy="8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580" spc="-1" strike="noStrike">
                <a:solidFill>
                  <a:srgbClr val="9aa2b4"/>
                </a:solidFill>
                <a:latin typeface="Segoe UI"/>
              </a:rPr>
              <a:t>ПОЗИЦІЙ</a:t>
            </a:r>
            <a:endParaRPr b="0" lang="en-US" sz="5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0" name="TextBox 36"/>
          <p:cNvSpPr/>
          <p:nvPr/>
        </p:nvSpPr>
        <p:spPr>
          <a:xfrm>
            <a:off x="640080" y="34016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Yaxell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1" name="Rectangle 37"/>
          <p:cNvSpPr/>
          <p:nvPr/>
        </p:nvSpPr>
        <p:spPr>
          <a:xfrm>
            <a:off x="2103120" y="343980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2" name="Rectangle 38"/>
          <p:cNvSpPr/>
          <p:nvPr/>
        </p:nvSpPr>
        <p:spPr>
          <a:xfrm>
            <a:off x="2103120" y="3439800"/>
            <a:ext cx="32000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3" name="TextBox 39"/>
          <p:cNvSpPr/>
          <p:nvPr/>
        </p:nvSpPr>
        <p:spPr>
          <a:xfrm>
            <a:off x="5413320" y="34016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21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4" name="TextBox 40"/>
          <p:cNvSpPr/>
          <p:nvPr/>
        </p:nvSpPr>
        <p:spPr>
          <a:xfrm>
            <a:off x="640080" y="36320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KAI / Shun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5" name="Rectangle 41"/>
          <p:cNvSpPr/>
          <p:nvPr/>
        </p:nvSpPr>
        <p:spPr>
          <a:xfrm>
            <a:off x="2103120" y="36705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6" name="Rectangle 42"/>
          <p:cNvSpPr/>
          <p:nvPr/>
        </p:nvSpPr>
        <p:spPr>
          <a:xfrm>
            <a:off x="2103120" y="3670560"/>
            <a:ext cx="27428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57" name="TextBox 43"/>
          <p:cNvSpPr/>
          <p:nvPr/>
        </p:nvSpPr>
        <p:spPr>
          <a:xfrm>
            <a:off x="5413320" y="36320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18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8" name="TextBox 44"/>
          <p:cNvSpPr/>
          <p:nvPr/>
        </p:nvSpPr>
        <p:spPr>
          <a:xfrm>
            <a:off x="640080" y="38624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Tojiro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9" name="Rectangle 45"/>
          <p:cNvSpPr/>
          <p:nvPr/>
        </p:nvSpPr>
        <p:spPr>
          <a:xfrm>
            <a:off x="2103120" y="39009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0" name="Rectangle 46"/>
          <p:cNvSpPr/>
          <p:nvPr/>
        </p:nvSpPr>
        <p:spPr>
          <a:xfrm>
            <a:off x="2103120" y="3900960"/>
            <a:ext cx="2742840" cy="77400"/>
          </a:xfrm>
          <a:prstGeom prst="rect">
            <a:avLst/>
          </a:prstGeom>
          <a:solidFill>
            <a:srgbClr val="966e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1" name="TextBox 47"/>
          <p:cNvSpPr/>
          <p:nvPr/>
        </p:nvSpPr>
        <p:spPr>
          <a:xfrm>
            <a:off x="5413320" y="38624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966e28"/>
                </a:solidFill>
                <a:latin typeface="Segoe UI"/>
              </a:rPr>
              <a:t>18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2" name="TextBox 48"/>
          <p:cNvSpPr/>
          <p:nvPr/>
        </p:nvSpPr>
        <p:spPr>
          <a:xfrm>
            <a:off x="640080" y="40928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Kasumi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3" name="Rectangle 49"/>
          <p:cNvSpPr/>
          <p:nvPr/>
        </p:nvSpPr>
        <p:spPr>
          <a:xfrm>
            <a:off x="2103120" y="41313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4" name="Rectangle 50"/>
          <p:cNvSpPr/>
          <p:nvPr/>
        </p:nvSpPr>
        <p:spPr>
          <a:xfrm>
            <a:off x="2103120" y="4131360"/>
            <a:ext cx="137124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5" name="TextBox 51"/>
          <p:cNvSpPr/>
          <p:nvPr/>
        </p:nvSpPr>
        <p:spPr>
          <a:xfrm>
            <a:off x="5413320" y="40928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9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6" name="TextBox 52"/>
          <p:cNvSpPr/>
          <p:nvPr/>
        </p:nvSpPr>
        <p:spPr>
          <a:xfrm>
            <a:off x="640080" y="43232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Takamura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7" name="Rectangle 53"/>
          <p:cNvSpPr/>
          <p:nvPr/>
        </p:nvSpPr>
        <p:spPr>
          <a:xfrm>
            <a:off x="2103120" y="43617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8" name="Rectangle 54"/>
          <p:cNvSpPr/>
          <p:nvPr/>
        </p:nvSpPr>
        <p:spPr>
          <a:xfrm>
            <a:off x="2103120" y="43617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69" name="TextBox 55"/>
          <p:cNvSpPr/>
          <p:nvPr/>
        </p:nvSpPr>
        <p:spPr>
          <a:xfrm>
            <a:off x="5413320" y="43232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0" name="TextBox 56"/>
          <p:cNvSpPr/>
          <p:nvPr/>
        </p:nvSpPr>
        <p:spPr>
          <a:xfrm>
            <a:off x="640080" y="45536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Tosa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1" name="Rectangle 57"/>
          <p:cNvSpPr/>
          <p:nvPr/>
        </p:nvSpPr>
        <p:spPr>
          <a:xfrm>
            <a:off x="2103120" y="45921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72" name="Rectangle 58"/>
          <p:cNvSpPr/>
          <p:nvPr/>
        </p:nvSpPr>
        <p:spPr>
          <a:xfrm>
            <a:off x="2103120" y="45921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73" name="TextBox 59"/>
          <p:cNvSpPr/>
          <p:nvPr/>
        </p:nvSpPr>
        <p:spPr>
          <a:xfrm>
            <a:off x="5413320" y="45536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4" name="TextBox 60"/>
          <p:cNvSpPr/>
          <p:nvPr/>
        </p:nvSpPr>
        <p:spPr>
          <a:xfrm>
            <a:off x="640080" y="47840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HONMAMON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5" name="Rectangle 61"/>
          <p:cNvSpPr/>
          <p:nvPr/>
        </p:nvSpPr>
        <p:spPr>
          <a:xfrm>
            <a:off x="2103120" y="48225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76" name="Rectangle 62"/>
          <p:cNvSpPr/>
          <p:nvPr/>
        </p:nvSpPr>
        <p:spPr>
          <a:xfrm>
            <a:off x="2103120" y="4822560"/>
            <a:ext cx="121896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77" name="TextBox 63"/>
          <p:cNvSpPr/>
          <p:nvPr/>
        </p:nvSpPr>
        <p:spPr>
          <a:xfrm>
            <a:off x="5413320" y="47840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8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8" name="TextBox 64"/>
          <p:cNvSpPr/>
          <p:nvPr/>
        </p:nvSpPr>
        <p:spPr>
          <a:xfrm>
            <a:off x="640080" y="50144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Seki Kanetsugu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9" name="Rectangle 65"/>
          <p:cNvSpPr/>
          <p:nvPr/>
        </p:nvSpPr>
        <p:spPr>
          <a:xfrm>
            <a:off x="2103120" y="50529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0" name="Rectangle 66"/>
          <p:cNvSpPr/>
          <p:nvPr/>
        </p:nvSpPr>
        <p:spPr>
          <a:xfrm>
            <a:off x="2103120" y="5052960"/>
            <a:ext cx="609120" cy="7740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1" name="TextBox 67"/>
          <p:cNvSpPr/>
          <p:nvPr/>
        </p:nvSpPr>
        <p:spPr>
          <a:xfrm>
            <a:off x="5413320" y="50144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2a7f86"/>
                </a:solidFill>
                <a:latin typeface="Segoe UI"/>
              </a:rPr>
              <a:t>4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2" name="Rectangle 68"/>
          <p:cNvSpPr/>
          <p:nvPr/>
        </p:nvSpPr>
        <p:spPr>
          <a:xfrm>
            <a:off x="511920" y="5213160"/>
            <a:ext cx="5687280" cy="209880"/>
          </a:xfrm>
          <a:prstGeom prst="rect">
            <a:avLst/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3" name="TextBox 69"/>
          <p:cNvSpPr/>
          <p:nvPr/>
        </p:nvSpPr>
        <p:spPr>
          <a:xfrm>
            <a:off x="640080" y="5244840"/>
            <a:ext cx="138960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42e3a"/>
                </a:solidFill>
                <a:latin typeface="Segoe UI"/>
              </a:rPr>
              <a:t>Sakai Takayuki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4" name="Rectangle 70"/>
          <p:cNvSpPr/>
          <p:nvPr/>
        </p:nvSpPr>
        <p:spPr>
          <a:xfrm>
            <a:off x="2103120" y="5283360"/>
            <a:ext cx="3200040" cy="77400"/>
          </a:xfrm>
          <a:prstGeom prst="rect">
            <a:avLst/>
          </a:prstGeom>
          <a:solidFill>
            <a:srgbClr val="e2e0d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5" name="Rectangle 71"/>
          <p:cNvSpPr/>
          <p:nvPr/>
        </p:nvSpPr>
        <p:spPr>
          <a:xfrm>
            <a:off x="2103120" y="5283360"/>
            <a:ext cx="304560" cy="77400"/>
          </a:xfrm>
          <a:prstGeom prst="rect">
            <a:avLst/>
          </a:prstGeom>
          <a:solidFill>
            <a:srgbClr val="b42e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32760" bIns="3276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6" name="TextBox 72"/>
          <p:cNvSpPr/>
          <p:nvPr/>
        </p:nvSpPr>
        <p:spPr>
          <a:xfrm>
            <a:off x="5413320" y="5244840"/>
            <a:ext cx="731160" cy="1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760" spc="-1" strike="noStrike">
                <a:solidFill>
                  <a:srgbClr val="b42e3a"/>
                </a:solidFill>
                <a:latin typeface="Segoe UI"/>
              </a:rPr>
              <a:t>2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7" name="Rectangle 73"/>
          <p:cNvSpPr/>
          <p:nvPr/>
        </p:nvSpPr>
        <p:spPr>
          <a:xfrm>
            <a:off x="6419160" y="2871360"/>
            <a:ext cx="5211720" cy="209880"/>
          </a:xfrm>
          <a:prstGeom prst="rect">
            <a:avLst/>
          </a:prstGeom>
          <a:solidFill>
            <a:srgbClr val="1b253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8" name="TextBox 74"/>
          <p:cNvSpPr/>
          <p:nvPr/>
        </p:nvSpPr>
        <p:spPr>
          <a:xfrm>
            <a:off x="6565320" y="2912400"/>
            <a:ext cx="286632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00" spc="-1" strike="noStrike">
                <a:solidFill>
                  <a:srgbClr val="ffffff"/>
                </a:solidFill>
                <a:latin typeface="Segoe UI"/>
              </a:rPr>
              <a:t>ЧИМ SAKAI TAKAYUKI ВІД НИХ ВІДРІЗНЯЄТЬСЯ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9" name="TextBox 75"/>
          <p:cNvSpPr/>
          <p:nvPr/>
        </p:nvSpPr>
        <p:spPr>
          <a:xfrm>
            <a:off x="6419160" y="3163680"/>
            <a:ext cx="2102760" cy="12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0" name="TextBox 76"/>
          <p:cNvSpPr/>
          <p:nvPr/>
        </p:nvSpPr>
        <p:spPr>
          <a:xfrm>
            <a:off x="8522280" y="3163680"/>
            <a:ext cx="164556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ДВАНАДЦЯТЬ У ЗОНІ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1" name="TextBox 77"/>
          <p:cNvSpPr/>
          <p:nvPr/>
        </p:nvSpPr>
        <p:spPr>
          <a:xfrm>
            <a:off x="10168200" y="3163680"/>
            <a:ext cx="1462680" cy="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630" spc="-1" strike="noStrike">
                <a:solidFill>
                  <a:srgbClr val="6b7282"/>
                </a:solidFill>
                <a:latin typeface="Segoe UI"/>
              </a:rPr>
              <a:t>SAKAI TAKAYUKI</a:t>
            </a:r>
            <a:endParaRPr b="0" lang="en-US" sz="6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2" name="Rounded Rectangle 78"/>
          <p:cNvSpPr/>
          <p:nvPr/>
        </p:nvSpPr>
        <p:spPr>
          <a:xfrm>
            <a:off x="6346080" y="334224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93" name="TextBox 79"/>
          <p:cNvSpPr/>
          <p:nvPr/>
        </p:nvSpPr>
        <p:spPr>
          <a:xfrm>
            <a:off x="6419160" y="33832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Позицій у зоні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4" name="TextBox 80"/>
          <p:cNvSpPr/>
          <p:nvPr/>
        </p:nvSpPr>
        <p:spPr>
          <a:xfrm>
            <a:off x="8522280" y="3383280"/>
            <a:ext cx="1590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4 – 21 у кожного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5" name="TextBox 81"/>
          <p:cNvSpPr/>
          <p:nvPr/>
        </p:nvSpPr>
        <p:spPr>
          <a:xfrm>
            <a:off x="10168200" y="33832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2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6" name="TextBox 82"/>
          <p:cNvSpPr/>
          <p:nvPr/>
        </p:nvSpPr>
        <p:spPr>
          <a:xfrm>
            <a:off x="6419160" y="380376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Хто завозить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7" name="TextBox 83"/>
          <p:cNvSpPr/>
          <p:nvPr/>
        </p:nvSpPr>
        <p:spPr>
          <a:xfrm>
            <a:off x="8522280" y="380376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є імпортер або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фаховий магазин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8" name="TextBox 84"/>
          <p:cNvSpPr/>
          <p:nvPr/>
        </p:nvSpPr>
        <p:spPr>
          <a:xfrm>
            <a:off x="10168200" y="380376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немає нікого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9" name="Rounded Rectangle 85"/>
          <p:cNvSpPr/>
          <p:nvPr/>
        </p:nvSpPr>
        <p:spPr>
          <a:xfrm>
            <a:off x="6346080" y="418356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00" name="TextBox 86"/>
          <p:cNvSpPr/>
          <p:nvPr/>
        </p:nvSpPr>
        <p:spPr>
          <a:xfrm>
            <a:off x="6419160" y="422460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Великий формат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1" name="TextBox 87"/>
          <p:cNvSpPr/>
          <p:nvPr/>
        </p:nvSpPr>
        <p:spPr>
          <a:xfrm>
            <a:off x="8522280" y="422460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Suncraft, Tojiro, KAI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стоять в Епіцентрі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2" name="TextBox 88"/>
          <p:cNvSpPr/>
          <p:nvPr/>
        </p:nvSpPr>
        <p:spPr>
          <a:xfrm>
            <a:off x="10168200" y="422460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0 позицій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3" name="TextBox 89"/>
          <p:cNvSpPr/>
          <p:nvPr/>
        </p:nvSpPr>
        <p:spPr>
          <a:xfrm>
            <a:off x="6419160" y="464508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Опт HoReCa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4" name="TextBox 90"/>
          <p:cNvSpPr/>
          <p:nvPr/>
        </p:nvSpPr>
        <p:spPr>
          <a:xfrm>
            <a:off x="8522280" y="4645080"/>
            <a:ext cx="1590840" cy="21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Yaxell у каталозі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AL-Group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5" name="TextBox 91"/>
          <p:cNvSpPr/>
          <p:nvPr/>
        </p:nvSpPr>
        <p:spPr>
          <a:xfrm>
            <a:off x="10168200" y="464508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b42e3a"/>
                </a:solidFill>
                <a:latin typeface="Segoe UI"/>
              </a:rPr>
              <a:t>0 позицій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6" name="Rounded Rectangle 92"/>
          <p:cNvSpPr/>
          <p:nvPr/>
        </p:nvSpPr>
        <p:spPr>
          <a:xfrm>
            <a:off x="6346080" y="5024520"/>
            <a:ext cx="5357880" cy="402120"/>
          </a:xfrm>
          <a:prstGeom prst="roundRect">
            <a:avLst>
              <a:gd name="adj" fmla="val 2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07" name="TextBox 93"/>
          <p:cNvSpPr/>
          <p:nvPr/>
        </p:nvSpPr>
        <p:spPr>
          <a:xfrm>
            <a:off x="6419160" y="5065920"/>
            <a:ext cx="204804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1b253f"/>
                </a:solidFill>
                <a:latin typeface="Segoe UI"/>
              </a:rPr>
              <a:t>Впізнаваність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8" name="TextBox 94"/>
          <p:cNvSpPr/>
          <p:nvPr/>
        </p:nvSpPr>
        <p:spPr>
          <a:xfrm>
            <a:off x="8522280" y="5065920"/>
            <a:ext cx="1590840" cy="10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700" spc="-1" strike="noStrike">
                <a:solidFill>
                  <a:srgbClr val="6b7282"/>
                </a:solidFill>
                <a:latin typeface="Segoe UI"/>
              </a:rPr>
              <a:t>роками на полиці</a:t>
            </a:r>
            <a:endParaRPr b="0" lang="en-US" sz="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9" name="TextBox 95"/>
          <p:cNvSpPr/>
          <p:nvPr/>
        </p:nvSpPr>
        <p:spPr>
          <a:xfrm>
            <a:off x="10168200" y="5065920"/>
            <a:ext cx="1407960" cy="11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720" spc="-1" strike="noStrike">
                <a:solidFill>
                  <a:srgbClr val="966e28"/>
                </a:solidFill>
                <a:latin typeface="Segoe UI"/>
              </a:rPr>
              <a:t>фактично нульова</a:t>
            </a:r>
            <a:endParaRPr b="0" lang="en-US" sz="7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0" name="Rounded Rectangle 96"/>
          <p:cNvSpPr/>
          <p:nvPr/>
        </p:nvSpPr>
        <p:spPr>
          <a:xfrm>
            <a:off x="567000" y="5577840"/>
            <a:ext cx="11063880" cy="858240"/>
          </a:xfrm>
          <a:prstGeom prst="roundRect">
            <a:avLst>
              <a:gd name="adj" fmla="val 10000"/>
            </a:avLst>
          </a:prstGeom>
          <a:solidFill>
            <a:srgbClr val="f6f4e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11" name="Rectangle 97"/>
          <p:cNvSpPr/>
          <p:nvPr/>
        </p:nvSpPr>
        <p:spPr>
          <a:xfrm>
            <a:off x="567000" y="5577840"/>
            <a:ext cx="36360" cy="858240"/>
          </a:xfrm>
          <a:prstGeom prst="rect">
            <a:avLst/>
          </a:prstGeom>
          <a:solidFill>
            <a:srgbClr val="2a7f8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12" name="TextBox 98"/>
          <p:cNvSpPr/>
          <p:nvPr/>
        </p:nvSpPr>
        <p:spPr>
          <a:xfrm>
            <a:off x="804600" y="5733360"/>
            <a:ext cx="1058832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a7f86"/>
                </a:solidFill>
                <a:latin typeface="Segoe UI"/>
              </a:rPr>
              <a:t>ЩО З ЦЬОГО ВИПЛИВАЄ ДЛЯ РІШЕННЯ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3" name="TextBox 99"/>
          <p:cNvSpPr/>
          <p:nvPr/>
        </p:nvSpPr>
        <p:spPr>
          <a:xfrm>
            <a:off x="804600" y="5961960"/>
            <a:ext cx="1058832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Бренд не має в Україні ані дистриб'ютора, ані полиці, ані жодної позиції у великому форматі й в опті HoReCa — територія вільна.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30000"/>
              </a:lnSpc>
              <a:spcAft>
                <a:spcPts val="221"/>
              </a:spcAft>
            </a:pPr>
            <a:r>
              <a:rPr b="0" lang="en-US" sz="760" spc="-1" strike="noStrike">
                <a:solidFill>
                  <a:srgbClr val="1b253f"/>
                </a:solidFill>
                <a:latin typeface="Segoe UI"/>
              </a:rPr>
              <a:t>Але вільна вона тому, що попиту на неї ніхто не створював: дві позиції за всю історію каналу не дали впізнаваності, на яку можна спертися в першій партії.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4" name="TextBox 100"/>
          <p:cNvSpPr/>
          <p:nvPr/>
        </p:nvSpPr>
        <p:spPr>
          <a:xfrm>
            <a:off x="603360" y="6565320"/>
            <a:ext cx="10926720" cy="9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620" spc="-1" strike="noStrike">
                <a:solidFill>
                  <a:srgbClr val="9aa2b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виробництва. Це ширина присутності на полиці, а не обсяг продажів.</a:t>
            </a:r>
            <a:endParaRPr b="0" lang="en-US" sz="62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