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png"/><Relationship Id="rId18" Type="http://schemas.openxmlformats.org/officeDocument/2006/relationships/image" Target="../media/image31.png"/><Relationship Id="rId19" Type="http://schemas.openxmlformats.org/officeDocument/2006/relationships/image" Target="../media/image32.png"/><Relationship Id="rId20" Type="http://schemas.openxmlformats.org/officeDocument/2006/relationships/image" Target="../media/image33.png"/><Relationship Id="rId21" Type="http://schemas.openxmlformats.org/officeDocument/2006/relationships/image" Target="../media/image34.png"/><Relationship Id="rId22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Relationship Id="rId16" Type="http://schemas.openxmlformats.org/officeDocument/2006/relationships/image" Target="../media/image49.png"/><Relationship Id="rId17" Type="http://schemas.openxmlformats.org/officeDocument/2006/relationships/image" Target="../media/image50.png"/><Relationship Id="rId18" Type="http://schemas.openxmlformats.org/officeDocument/2006/relationships/image" Target="../media/image51.png"/><Relationship Id="rId19" Type="http://schemas.openxmlformats.org/officeDocument/2006/relationships/image" Target="../media/image52.png"/><Relationship Id="rId20" Type="http://schemas.openxmlformats.org/officeDocument/2006/relationships/image" Target="../media/image5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Relationship Id="rId18" Type="http://schemas.openxmlformats.org/officeDocument/2006/relationships/image" Target="../media/image69.png"/><Relationship Id="rId19" Type="http://schemas.openxmlformats.org/officeDocument/2006/relationships/image" Target="../media/image70.png"/><Relationship Id="rId20" Type="http://schemas.openxmlformats.org/officeDocument/2006/relationships/image" Target="../media/image71.png"/><Relationship Id="rId21" Type="http://schemas.openxmlformats.org/officeDocument/2006/relationships/image" Target="../media/image7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059168" cy="6858000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59168" y="0"/>
            <a:ext cx="16459" cy="685800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475488"/>
            <a:ext cx="1682496" cy="7273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" y="1792224"/>
            <a:ext cx="566928" cy="32004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2029968"/>
            <a:ext cx="6309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D9B165"/>
                </a:solidFill>
                <a:latin typeface="Segoe UI"/>
              </a:rPr>
              <a:t>Д О С Л І Д Ж Е Н Н Я   Р И Н К У   Т А   О Ц І Н К А   Д О Ц І Л Ь Н О С Т І   В Х О Д 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304288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Японські ножі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для професійної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та домашньої кухні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590288"/>
            <a:ext cx="3291840" cy="16459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4809744"/>
            <a:ext cx="603504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9AA2B4"/>
                </a:solidFill>
                <a:latin typeface="Segoe UI"/>
              </a:rPr>
              <a:t>Україна · роздріб, маркетплейси, HoReCa · вересень 2026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9AA2B4"/>
                </a:solidFill>
                <a:latin typeface="Segoe UI"/>
              </a:rPr>
              <a:t>Попередня робота до пошуку постачальника: хто вже на ринку, скільки він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9AA2B4"/>
                </a:solidFill>
                <a:latin typeface="Segoe UI"/>
              </a:rPr>
              <a:t>коштує в грошах і штуках, і чи є туди сенс іти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5742432"/>
            <a:ext cx="4078224" cy="566928"/>
          </a:xfrm>
          <a:prstGeom prst="roundRect">
            <a:avLst>
              <a:gd name="adj" fmla="val 16000"/>
            </a:avLst>
          </a:prstGeom>
          <a:solidFill>
            <a:srgbClr val="263150"/>
          </a:solidFill>
          <a:ln w="9525">
            <a:solidFill>
              <a:srgbClr val="4552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5907024"/>
            <a:ext cx="237744" cy="237744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870448"/>
            <a:ext cx="3383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Georgia"/>
              </a:rPr>
              <a:t>M A D E   I N   J A P A N   O N L 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6099048"/>
            <a:ext cx="3383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9AA2B4"/>
                </a:solidFill>
                <a:latin typeface="Segoe UI"/>
              </a:rPr>
              <a:t>54 перевірені бренди · 259 ножів · жодної позиції іншого походження</a:t>
            </a:r>
          </a:p>
        </p:txBody>
      </p:sp>
      <p:pic>
        <p:nvPicPr>
          <p:cNvPr id="15" name="Picture 14" descr="p_743072269df032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512064"/>
            <a:ext cx="4114800" cy="267004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516368" y="3310128"/>
            <a:ext cx="1335024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_b8c342e6a18561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3374136"/>
            <a:ext cx="1207008" cy="9144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906256" y="3310128"/>
            <a:ext cx="1335024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_d54ae9b9a940c6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264" y="3374136"/>
            <a:ext cx="1207008" cy="9144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0296144" y="3310128"/>
            <a:ext cx="1335024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_4bd94ac4fb0bd5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3374136"/>
            <a:ext cx="1207008" cy="9144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516368" y="4535424"/>
            <a:ext cx="2011680" cy="676656"/>
          </a:xfrm>
          <a:prstGeom prst="rect">
            <a:avLst/>
          </a:prstGeom>
          <a:solidFill>
            <a:srgbClr val="2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16368" y="4535424"/>
            <a:ext cx="2011680" cy="20116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2" y="466344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9B165"/>
                </a:solidFill>
                <a:latin typeface="Georgia"/>
              </a:rPr>
              <a:t>691–924 млн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495604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>
                <a:solidFill>
                  <a:srgbClr val="9AA2B4"/>
                </a:solidFill>
                <a:latin typeface="Segoe UI"/>
              </a:rPr>
              <a:t>роздріб кухонних ножів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19488" y="4535424"/>
            <a:ext cx="2011680" cy="676656"/>
          </a:xfrm>
          <a:prstGeom prst="rect">
            <a:avLst/>
          </a:prstGeom>
          <a:solidFill>
            <a:srgbClr val="2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19488" y="4535424"/>
            <a:ext cx="2011680" cy="20116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5792" y="466344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9B165"/>
                </a:solidFill>
                <a:latin typeface="Georgia"/>
              </a:rPr>
              <a:t>16–19 млн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495604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>
                <a:solidFill>
                  <a:srgbClr val="9AA2B4"/>
                </a:solidFill>
                <a:latin typeface="Segoe UI"/>
              </a:rPr>
              <a:t>зроблено в Японії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16368" y="5321808"/>
            <a:ext cx="2011680" cy="676656"/>
          </a:xfrm>
          <a:prstGeom prst="rect">
            <a:avLst/>
          </a:prstGeom>
          <a:solidFill>
            <a:srgbClr val="2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16368" y="5321808"/>
            <a:ext cx="2011680" cy="20116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62672" y="544982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9B165"/>
                </a:solidFill>
                <a:latin typeface="Georgia"/>
              </a:rPr>
              <a:t>103 тис. $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57424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>
                <a:solidFill>
                  <a:srgbClr val="9AA2B4"/>
                </a:solidFill>
                <a:latin typeface="Segoe UI"/>
              </a:rPr>
              <a:t>імпорт із Японії, 2024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5321808"/>
            <a:ext cx="2011680" cy="676656"/>
          </a:xfrm>
          <a:prstGeom prst="rect">
            <a:avLst/>
          </a:prstGeom>
          <a:solidFill>
            <a:srgbClr val="263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19488" y="5321808"/>
            <a:ext cx="2011680" cy="20116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65792" y="544982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D9B165"/>
                </a:solidFill>
                <a:latin typeface="Georgia"/>
              </a:rPr>
              <a:t>1,3 %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57424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40" b="0">
                <a:solidFill>
                  <a:srgbClr val="9AA2B4"/>
                </a:solidFill>
                <a:latin typeface="Segoe UI"/>
              </a:rPr>
              <a:t>частка Японії в митній базі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16368" y="5998464"/>
            <a:ext cx="4114800" cy="10972"/>
          </a:xfrm>
          <a:prstGeom prst="rect">
            <a:avLst/>
          </a:prstGeom>
          <a:solidFill>
            <a:srgbClr val="45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16368" y="6144768"/>
            <a:ext cx="41696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680" b="0">
                <a:solidFill>
                  <a:srgbClr val="9AA2B4"/>
                </a:solidFill>
                <a:latin typeface="Segoe UI"/>
              </a:rPr>
              <a:t>15 слайдів · 17 продавців · 54 перевірені бренди · 259 ножів у каталозі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680" b="0">
                <a:solidFill>
                  <a:srgbClr val="9AA2B4"/>
                </a:solidFill>
                <a:latin typeface="Segoe UI"/>
              </a:rPr>
              <a:t>4 роки митної статистики · модель попиту HoReCa · 3 сценарії входу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Г О Л О В Н 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Вісім цифр, які описують ринок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Усі ціни в колоді — роздрібні, за один ніж, станом на вересень 2026. Курс НБУ 44,86 грн/$ (30.09.2026).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54480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54480"/>
            <a:ext cx="261518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728216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М И Т Н А   Б А З А   2 0 2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1920240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966E28"/>
                </a:solidFill>
                <a:latin typeface="Georgia"/>
              </a:rPr>
              <a:t>9,02 млн 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414015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Кухонні + столові ножі та
набори, CIF. Останній повний рік.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554480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0" y="1554480"/>
            <a:ext cx="2615184" cy="2560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1728216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Р О З Д Р І Б ,   О Ц І Н К 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1920240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2A7F86"/>
                </a:solidFill>
                <a:latin typeface="Georgia"/>
              </a:rPr>
              <a:t>691–924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2414015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млн грн на рік. Розрахунок
через імпорт × 2,34–3,12.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1554480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1554480"/>
            <a:ext cx="2615184" cy="25603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728216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І М П О Р Т   І З   Я П О Н І 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1920240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554780"/>
                </a:solidFill>
                <a:latin typeface="Georgia"/>
              </a:rPr>
              <a:t>103 тис. 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414015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CIF 2024, код 8211 92.
Нижче за рівень 2022 року.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15984" y="1554480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15984" y="1554480"/>
            <a:ext cx="2615184" cy="25603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728216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Я П О Н І Я   В   Р О З Д Р І Б 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1920240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A84A6B"/>
                </a:solidFill>
                <a:latin typeface="Georgia"/>
              </a:rPr>
              <a:t>16–19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414015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млн грн на рік. Це 2 % ринку
в грошах і 0,15 % у штуках.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798064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2798064"/>
            <a:ext cx="2615184" cy="25603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2971800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П Е Р Е В І Р Е Н И Х   Б Р Е Н Д І 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3163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B42E3A"/>
                </a:solidFill>
                <a:latin typeface="Georgia"/>
              </a:rPr>
              <a:t>54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365760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у каталогах продавців.
Сумарно 755 позицій.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2798064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83280" y="2798064"/>
            <a:ext cx="2615184" cy="25603"/>
          </a:xfrm>
          <a:prstGeom prst="rect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2736" y="2971800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Я П О Н Ц І   В   П Р О Ф .   О П Т 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2736" y="3163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3A7D5A"/>
                </a:solidFill>
                <a:latin typeface="Georgia"/>
              </a:rPr>
              <a:t>2 з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2736" y="365760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брендів у каталозі опту HoReCa.
523 ножі, японських — одиниці.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2798064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9632" y="2798064"/>
            <a:ext cx="2615184" cy="25603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9088" y="2971800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М И Т О   Н А   Я П О Н І 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3163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B88A3D"/>
                </a:solidFill>
                <a:latin typeface="Georgia"/>
              </a:rPr>
              <a:t>10 %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365760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+20 % ПДВ. З ЄС — 0 % мита.
Структурний програш 10 пунктів.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5984" y="2798064"/>
            <a:ext cx="2615184" cy="1152144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15984" y="2798064"/>
            <a:ext cx="2615184" cy="25603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2971800"/>
            <a:ext cx="217627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Ц І Н О В И Й   Р О З М А 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163824"/>
            <a:ext cx="21762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0" b="1">
                <a:solidFill>
                  <a:srgbClr val="1B253F"/>
                </a:solidFill>
                <a:latin typeface="Georgia"/>
              </a:rPr>
              <a:t>726–60 495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657600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грн за один японський ніж.
Розрив у 83 рази.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4169663"/>
            <a:ext cx="5413248" cy="1572768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6928" y="4169663"/>
            <a:ext cx="36576" cy="1572768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4672" y="432511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ЩО ЦЕ ОЗНАЧАЄ ДЛЯ РІШЕННЯ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" y="4553712"/>
            <a:ext cx="4937760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1. Ринок кухонних ножів в Україні великий — але «японського» в ньому майже немає.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2. Японське виробництво — це нішa на 16–19 млн грн, яка за три роки не виросла.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3. Японія — 1,3 % митної бази категорії. Вивіска «японський ніж» до Японії не веде.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4. Професійна кухня японські ножі не купує — і структурних причин для зміни немає.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5. Жоден японський бренд не має в країні ані дистриб'ютора, ані глибини лінійки.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169663"/>
            <a:ext cx="5413248" cy="1572768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4169663"/>
            <a:ext cx="36576" cy="1572768"/>
          </a:xfrm>
          <a:prstGeom prst="rect">
            <a:avLst/>
          </a:prstGeom>
          <a:solidFill>
            <a:srgbClr val="9AA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55664" y="432511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AA2B4"/>
                </a:solidFill>
                <a:latin typeface="Segoe UI"/>
              </a:rPr>
              <a:t>ЧОГО В ЦІЙ КОЛОДІ НЕМАЄ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55664" y="4553712"/>
            <a:ext cx="4937760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1. Немає даних продажів: в Україні для цієї категорії немає панелі Nielsen/GfK.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2. Немає митної статистики за 2025 рік — вона ще не опублікована в Comtrade.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3. Немає оптових цін: їх не отримати без акаунта постачальника.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4. Немає точної частки кухонних ножів у коді 8211 92 — це припущення 55–70 %.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5. Немає прямої оцінки сірого імпорту до 150 € — він для митниці невидимий.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5925312"/>
            <a:ext cx="1106424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" y="5966460"/>
            <a:ext cx="60853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ГОЛОВНЕ ПРО КАНДИДАТА У ПОСТАЧАЛЬНИКИ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928" y="6199632"/>
            <a:ext cx="2724912" cy="475488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" y="6199632"/>
            <a:ext cx="36576" cy="475488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" y="6254496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966E28"/>
                </a:solidFill>
                <a:latin typeface="Segoe UI"/>
              </a:rPr>
              <a:t>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99616" y="6291072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позицій Sakai Takayuki знайдено в усій країні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383280" y="6199632"/>
            <a:ext cx="2724912" cy="475488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83280" y="6199632"/>
            <a:ext cx="36576" cy="475488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66160" y="6254496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2A7F86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15968" y="6291072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із них реально на складі — обидві янагіба 24 см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99632" y="6199632"/>
            <a:ext cx="2724912" cy="475488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99632" y="6199632"/>
            <a:ext cx="36576" cy="475488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82512" y="6254496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B42E3A"/>
                </a:solidFill>
                <a:latin typeface="Segoe UI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6291072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дистриб'юторів, монобрендів і позицій в опті HoReCa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015984" y="6199632"/>
            <a:ext cx="2724912" cy="475488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015984" y="6199632"/>
            <a:ext cx="36576" cy="475488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98863" y="6254496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554780"/>
                </a:solidFill>
                <a:latin typeface="Segoe UI"/>
              </a:rPr>
              <a:t>105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48672" y="6291072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позицій каталогу вже стоять у його ціновій зоні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Щ О   Б У В А Є   ·   1   ·   Г Е О М Е Т Р І Я   Л Е З 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Вісім типів леза, з яких ринок купує три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Профілі накреслені в один масштаб за реальними довжинами клинка. Рукав'я умовне: чорне клепане — західне (yo), дерев'яне — японське (wa).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536192"/>
            <a:ext cx="5120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88A3D"/>
                </a:solidFill>
                <a:latin typeface="Segoe UI"/>
              </a:rPr>
              <a:t>ПРОФІЛІ КЛИНКА В ЄДИНОМУ МАСШТАБІ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" y="1746504"/>
            <a:ext cx="5779008" cy="612647"/>
          </a:xfrm>
          <a:prstGeom prst="roundRect">
            <a:avLst>
              <a:gd name="adj" fmla="val 12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819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966E28"/>
                </a:solidFill>
                <a:latin typeface="Segoe UI"/>
              </a:rPr>
              <a:t>Гюто / шеф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98424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180–240 мм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14884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Робочий ніж кухні</a:t>
            </a:r>
          </a:p>
        </p:txBody>
      </p:sp>
      <p:pic>
        <p:nvPicPr>
          <p:cNvPr id="19" name="Picture 18" descr="gyu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1778507"/>
            <a:ext cx="2740152" cy="5852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2468879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B88A3D"/>
                </a:solidFill>
                <a:latin typeface="Segoe UI"/>
              </a:rPr>
              <a:t>Сантоку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63347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165–180 мм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79806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Універсал, драйвер обсягу</a:t>
            </a:r>
          </a:p>
        </p:txBody>
      </p:sp>
      <p:pic>
        <p:nvPicPr>
          <p:cNvPr id="23" name="Picture 22" descr="santok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435352"/>
            <a:ext cx="2423160" cy="56997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93776" y="3044952"/>
            <a:ext cx="5779008" cy="612647"/>
          </a:xfrm>
          <a:prstGeom prst="roundRect">
            <a:avLst>
              <a:gd name="adj" fmla="val 12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118103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Накірі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28269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165–180 мм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44728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Овочі, шаткування</a:t>
            </a:r>
          </a:p>
        </p:txBody>
      </p:sp>
      <p:pic>
        <p:nvPicPr>
          <p:cNvPr id="28" name="Picture 27" descr="nakir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069336"/>
            <a:ext cx="2383536" cy="6004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6928" y="37673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2A7F86"/>
                </a:solidFill>
                <a:latin typeface="Segoe UI"/>
              </a:rPr>
              <a:t>Кіріцуке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192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180–240 мм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09651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Гібрид, статусний</a:t>
            </a:r>
          </a:p>
        </p:txBody>
      </p:sp>
      <p:pic>
        <p:nvPicPr>
          <p:cNvPr id="32" name="Picture 31" descr="kiritsu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3733800"/>
            <a:ext cx="2740152" cy="56997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93776" y="4343400"/>
            <a:ext cx="5779008" cy="612647"/>
          </a:xfrm>
          <a:prstGeom prst="roundRect">
            <a:avLst>
              <a:gd name="adj" fmla="val 12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41655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554780"/>
                </a:solidFill>
                <a:latin typeface="Segoe UI"/>
              </a:rPr>
              <a:t>Янагіба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58114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210–300 мм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745736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Сашимі, одностороннє</a:t>
            </a:r>
          </a:p>
        </p:txBody>
      </p:sp>
      <p:pic>
        <p:nvPicPr>
          <p:cNvPr id="37" name="Picture 36" descr="yanagib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4439412"/>
            <a:ext cx="321564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6928" y="506577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554780"/>
                </a:solidFill>
                <a:latin typeface="Segoe UI"/>
              </a:rPr>
              <a:t>Деба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230368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150–180 мм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394960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Розбирання риби</a:t>
            </a:r>
          </a:p>
        </p:txBody>
      </p:sp>
      <p:pic>
        <p:nvPicPr>
          <p:cNvPr id="41" name="Picture 40" descr="deb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7632" y="5024628"/>
            <a:ext cx="2383536" cy="58521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93776" y="5641848"/>
            <a:ext cx="5779008" cy="612647"/>
          </a:xfrm>
          <a:prstGeom prst="roundRect">
            <a:avLst>
              <a:gd name="adj" fmla="val 12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571500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6B7282"/>
                </a:solidFill>
                <a:latin typeface="Segoe UI"/>
              </a:rPr>
              <a:t>Петті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879592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6B7282"/>
                </a:solidFill>
                <a:latin typeface="Segoe UI"/>
              </a:rPr>
              <a:t>90–150 мм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044184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0">
                <a:solidFill>
                  <a:srgbClr val="1B253F"/>
                </a:solidFill>
                <a:latin typeface="Segoe UI"/>
              </a:rPr>
              <a:t>Дрібна робота</a:t>
            </a:r>
          </a:p>
        </p:txBody>
      </p:sp>
      <p:pic>
        <p:nvPicPr>
          <p:cNvPr id="46" name="Picture 45" descr="pet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7632" y="5760720"/>
            <a:ext cx="2026920" cy="4114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419088" y="1536192"/>
            <a:ext cx="12070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ТИП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26096" y="1536192"/>
            <a:ext cx="11704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ЦІНА,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96528" y="1536192"/>
            <a:ext cx="13533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ДЕ ПРОДАЄТЬСЯ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1536192"/>
            <a:ext cx="14813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РОЛЬ У КАТЕГОРІЇ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45936" y="1714500"/>
            <a:ext cx="5285232" cy="224028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19088" y="1755648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88A3D"/>
                </a:solidFill>
                <a:latin typeface="Segoe UI"/>
              </a:rPr>
              <a:t>Сантоку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6096" y="1755648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175 – 12 000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96528" y="1755648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Усюди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49840" y="1755648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Драйвер обсягу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9088" y="202996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966E28"/>
                </a:solidFill>
                <a:latin typeface="Segoe UI"/>
              </a:rPr>
              <a:t>Гюто / шеф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6096" y="202996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500 – 27 970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96528" y="202996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Усюди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49840" y="202996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Драйвер ціни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45936" y="2263139"/>
            <a:ext cx="5285232" cy="224028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19088" y="230428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2A7F86"/>
                </a:solidFill>
                <a:latin typeface="Segoe UI"/>
              </a:rPr>
              <a:t>Петті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6096" y="230428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175 – 5 000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96528" y="230428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Усюди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49840" y="230428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Часта купівля, малий чек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8" y="257860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2A7F86"/>
                </a:solidFill>
                <a:latin typeface="Segoe UI"/>
              </a:rPr>
              <a:t>Накірі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26096" y="257860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1 249 – 13 290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96528" y="257860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Спеціаліст, Епіцентр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257860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Зростає вдома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45936" y="2811779"/>
            <a:ext cx="5285232" cy="224028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19088" y="285292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554780"/>
                </a:solidFill>
                <a:latin typeface="Segoe UI"/>
              </a:rPr>
              <a:t>Янагіба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6096" y="285292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1 107 – 13 971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96528" y="285292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Суші-спеціалізація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49840" y="285292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Вузький HoReCa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19088" y="312724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554780"/>
                </a:solidFill>
                <a:latin typeface="Segoe UI"/>
              </a:rPr>
              <a:t>Деба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26096" y="312724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1 470 – 9 000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96528" y="312724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Суші-спеціалізація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49840" y="312724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Вузький HoReCa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45936" y="3360419"/>
            <a:ext cx="5285232" cy="224028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19088" y="340156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9AA2B4"/>
                </a:solidFill>
                <a:latin typeface="Segoe UI"/>
              </a:rPr>
              <a:t>Кіріцуке, бунка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6096" y="340156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3 000 – 20 000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96528" y="340156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Тільки спеціаліст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49840" y="340156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Довгий хвіст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19088" y="3675887"/>
            <a:ext cx="11521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A84A6B"/>
                </a:solidFill>
                <a:latin typeface="Segoe UI"/>
              </a:rPr>
              <a:t>Набори 2–5 шт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26096" y="3675887"/>
            <a:ext cx="11155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51A26"/>
                </a:solidFill>
                <a:latin typeface="Segoe UI"/>
              </a:rPr>
              <a:t>2 500 – 27 970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96528" y="3675887"/>
            <a:ext cx="12984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Усюди, пік у грудні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149840" y="3675887"/>
            <a:ext cx="14264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26 % митної бази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19088" y="4041648"/>
            <a:ext cx="1645920" cy="1408176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p_4d367364e4ca0e9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4114800"/>
            <a:ext cx="1499616" cy="93268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6565392" y="5120640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Накірі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65392" y="5285232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Росте вдома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174736" y="4041648"/>
            <a:ext cx="1645920" cy="1408176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p_d55507e899775b1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7888" y="4114800"/>
            <a:ext cx="1499616" cy="93268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8321040" y="5120640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Янагіба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21040" y="5285232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500–900 шт/рік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30384" y="4041648"/>
            <a:ext cx="1645920" cy="1408176"/>
          </a:xfrm>
          <a:prstGeom prst="roundRect">
            <a:avLst>
              <a:gd name="adj" fmla="val 8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p_a5500e2d77c6055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3536" y="4114800"/>
            <a:ext cx="1499616" cy="93268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0076688" y="5120640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A84A6B"/>
                </a:solidFill>
                <a:latin typeface="Segoe UI"/>
              </a:rPr>
              <a:t>Набір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76688" y="5285232"/>
            <a:ext cx="13533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26 % митної бази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19088" y="5541264"/>
            <a:ext cx="5212080" cy="991971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419088" y="5541264"/>
            <a:ext cx="36576" cy="991971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56831" y="5696712"/>
            <a:ext cx="4736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ЩО КУПУЮТЬ НАСПРАВДІ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56831" y="5925312"/>
            <a:ext cx="4736592" cy="4616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Сантоку в Україні перестав бути японським ножем і став формою леза: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74 позиції каталогу — сантоку, петті й накірі. Покупець купує геометрію,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походження він не перевіряє.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03504" y="6528816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Профілі — схематичні креслення за типовими пропорціями, а не зображення конкретних моделей. Фото — картки товарів українських магазинів, вересень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Щ О   Б У В А Є   ·   2   ·   С Т А Л Ь   І   Р Е Г І О 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Ціну визначає сталь, а можливість закупівлі — регіон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Дві осі, на яких тримається вся категорія. Марка сталі задає ціновий щабель; регіон кузні задає, чи взагалі можлива серійна поставка.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53619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88A3D"/>
                </a:solidFill>
                <a:latin typeface="Segoe UI"/>
              </a:rPr>
              <a:t>ВІСЬ 1 · СТАЛЬ І КОНСТРУКЦІЯ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773936"/>
            <a:ext cx="2148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КОНСТРУКЦІЯ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1773936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СТАЛЬ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1773936"/>
            <a:ext cx="6400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HRC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177393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РОЗДРІБ,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773936"/>
            <a:ext cx="5349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ХТО ТУТ СТОЇТЬ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" y="1952244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1993392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Мо-ванадієва моносталь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5768" y="199339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AUS-6A, AUS-8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1993392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56–58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1993392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700 – 2 500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1993392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Satake Saku, Seki Kanetsugu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242108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VG-10 моно або 3 шари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2242108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VG-10 core, clad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8808" y="2242108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60–61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2242108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2 500 – 6 000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242108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Tojiro DP, KAI Wasabi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" y="2449677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2490825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VG-10 + дамаск 32–69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2490825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damascus clad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8808" y="2490825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60–61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2490825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5 000 – 12 000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2490825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Kasumi, Yaxell Ran, KAI Shun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2739542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A84A6B"/>
                </a:solidFill>
                <a:latin typeface="Segoe UI"/>
              </a:rPr>
              <a:t>Порошкова SG-2 / R2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15768" y="273954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101–193 шари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8808" y="2739542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62–64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8888" y="2739542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12 000 – 43 020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2739542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Yaxell Super Gou, Miyabi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" y="2947111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988259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Вуглецева Сіроґамі / Аоґамі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15768" y="2988259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одностороннє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8808" y="2988259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62–65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8888" y="2988259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3 000 – 25 000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2988259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Tosa, HONMAMON, Sakai Takayuki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236976"/>
            <a:ext cx="20939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Honyaki, Ginsan моносталь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15768" y="3236976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суцільне гартування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78808" y="3236976"/>
            <a:ext cx="58521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63–65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8888" y="3236976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35 000 – 70 000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3236976"/>
            <a:ext cx="52943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У країні немає жодної позиції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63931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88A3D"/>
                </a:solidFill>
                <a:latin typeface="Segoe UI"/>
              </a:rPr>
              <a:t>ВІСЬ 2 · РЕГІОН ВИРОБНИЦТВА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77056"/>
            <a:ext cx="1417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РЕГІОН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84248" y="3877056"/>
            <a:ext cx="37490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ЩО ЦЕ ЗА ВИРОБНИЦТВО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33288" y="3877056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БРЕНДІВ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64807" y="3877056"/>
            <a:ext cx="1691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ЦІНИ,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56448" y="3877056"/>
            <a:ext cx="3474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ЧИ МОЖЛИВА СЕРІЙНА ПОСТАВКА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3776" y="4055364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4096512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Секі, Гіфу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84248" y="4096512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Промисловий центр. Серійне виробництво, західні руків'я, стабільна якість.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33288" y="4096512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64807" y="4096512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726 – 70 102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56448" y="4096512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3A7D5A"/>
                </a:solidFill>
                <a:latin typeface="Segoe UI"/>
              </a:rPr>
              <a:t>Так — заводи, контейнерні партії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45228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Сакаї, Осака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84248" y="4345228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600+ років. Розподіл праці: коваль, точильник, монтажник. Односторонні ножі.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33288" y="4345228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64807" y="4345228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1 999 – 15 580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56448" y="4345228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88A3D"/>
                </a:solidFill>
                <a:latin typeface="Segoe UI"/>
              </a:rPr>
              <a:t>Частково — великі майстерні з експортом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93776" y="4552797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8" y="4593945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A84A6B"/>
                </a:solidFill>
                <a:latin typeface="Segoe UI"/>
              </a:rPr>
              <a:t>Ечідзен, Фукуї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84248" y="4593945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700 років. Takefu Knife Village. Піонери порошкових сталей.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3288" y="4593945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A84A6B"/>
                </a:solidFill>
                <a:latin typeface="Segoe UI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4807" y="4593945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5 320 – 16 677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56448" y="4593945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Ні — ручна кузня, поштучно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4842662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Тоса, Коті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84248" y="4842662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400+ років. Вільна ковка: один коваль веде ніж від заготовки до кромки.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33288" y="4842662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64807" y="4842662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2 610 – 10 035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56448" y="4842662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Ні — ручна кузня, поштучно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3776" y="5050231"/>
            <a:ext cx="11210544" cy="23957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5091379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Цубаме-Сандзьо, Ніїґата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84248" y="5091379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700 років, Ніїґата. Ковальські майстерні та інструмент.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733288" y="5091379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4807" y="5091379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9 900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56448" y="5091379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Ні — ручна кузня, поштучно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340096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Хіросакі, Аоморі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84248" y="5340096"/>
            <a:ext cx="3694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Nigara Hamono: 350 років, ковалі клану Цуґару, 8 поколінь.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33288" y="5340096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64807" y="5340096"/>
            <a:ext cx="1636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14 800 – 16 740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56448" y="5340096"/>
            <a:ext cx="3419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Ні — ручна кузня, поштучно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66928" y="5632704"/>
            <a:ext cx="5413248" cy="851712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66928" y="5632704"/>
            <a:ext cx="36576" cy="851712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4672" y="578815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ЧОМУ ЦЕ ВИРІШАЛЬНО ДЛЯ ЗАКУПІВЛІ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4672" y="6016752"/>
            <a:ext cx="4937760" cy="3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Секі продасть контейнер. Сакаї — партію. Тоса, Ечідзен, Сандзьо й Аоморі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кують поштучно: це вітрина для репутації, а не канал постачання.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17920" y="5632704"/>
            <a:ext cx="5413248" cy="851712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217920" y="5632704"/>
            <a:ext cx="36576" cy="85171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55664" y="578815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ДЕ В ЦЬОМУ SAKAI TAKAYUKI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55664" y="6016752"/>
            <a:ext cx="4937760" cy="3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Сакаї, Осака. Велика майстерня з експортом у 100+ країн — тобто другий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за масштабованістю регіон після Секі, і єдиний із традицією ручної кузні.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HRC — твердість клинка за Роквеллом. Ціни — спостережений роздріб в Україні, жовтень 2026. «Серійна поставка» — оцінка на основі структури виробництва регіону, не підтверджена переговорами з виробниками.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О Б С Я Г   Р О Б О Т И   І   Р О З М І Р   Р И Н К 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Georgia"/>
              </a:rPr>
              <a:t>Рахуємо тільки Японію: 16–19 млн грн із 9,02 млн $ категорії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Під вивіскою «японський ніж» в Україні продають три різні товари. Ця колода рахує лише перший — вироблений у Японії.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517904"/>
            <a:ext cx="6638544" cy="2304288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17904"/>
            <a:ext cx="6638544" cy="54864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1700784"/>
            <a:ext cx="310896" cy="237744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760220"/>
            <a:ext cx="3108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1737360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51A26"/>
                </a:solidFill>
                <a:latin typeface="Segoe UI"/>
              </a:rPr>
              <a:t>ЗРОБЛЕНО В ЯПОНІЇ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1719072"/>
            <a:ext cx="1536192" cy="219456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769363"/>
            <a:ext cx="15361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FFFFFF"/>
                </a:solidFill>
                <a:latin typeface="Segoe UI"/>
              </a:rPr>
              <a:t>ПРЕДМЕТ КОЛОДИ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103120"/>
            <a:ext cx="1554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6B7282"/>
                </a:solidFill>
                <a:latin typeface="Segoe UI"/>
              </a:rPr>
              <a:t>РОЗДРІБ НА РІК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224942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7F86"/>
                </a:solidFill>
                <a:latin typeface="Segoe UI"/>
              </a:rPr>
              <a:t>16–19 млн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2103120"/>
            <a:ext cx="1554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6B7282"/>
                </a:solidFill>
                <a:latin typeface="Segoe UI"/>
              </a:rPr>
              <a:t>ШТУК НА РІК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224942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554780"/>
                </a:solidFill>
                <a:latin typeface="Segoe UI"/>
              </a:rPr>
              <a:t>≈ 3 700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103120"/>
            <a:ext cx="1554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6B7282"/>
                </a:solidFill>
                <a:latin typeface="Segoe UI"/>
              </a:rPr>
              <a:t>ЧАСТКА РИНКУ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224942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966E28"/>
                </a:solidFill>
                <a:latin typeface="Segoe UI"/>
              </a:rPr>
              <a:t>2 % у грошах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2103120"/>
            <a:ext cx="1554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6B7282"/>
                </a:solidFill>
                <a:latin typeface="Segoe UI"/>
              </a:rPr>
              <a:t>БРЕНДІВ У КРАЇНІ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0992" y="2249424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A84A6B"/>
                </a:solidFill>
                <a:latin typeface="Segoe UI"/>
              </a:rPr>
              <a:t>54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2615184"/>
            <a:ext cx="6236208" cy="1371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2724912"/>
            <a:ext cx="623620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Критерій: країна виробництва — Японія, підтверджена митним кодом або карткою товару продавця.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KAI / Shun, Yaxell, Suncraft, Tojiro, Satake, Kasumi, Miyabi, Seki Kanetsugu, Tosa, Takamura,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760" b="0">
                <a:solidFill>
                  <a:srgbClr val="1B253F"/>
                </a:solidFill>
                <a:latin typeface="Segoe UI"/>
              </a:rPr>
              <a:t>Mcusta Zanmai, Sakai Takayuki, Takeshi Saji, Tamahagane і ще 40 марок — усі в переписі на слайді 9.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43216" y="1517904"/>
            <a:ext cx="4187952" cy="1097280"/>
          </a:xfrm>
          <a:prstGeom prst="roundRect">
            <a:avLst>
              <a:gd name="adj" fmla="val 10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43216" y="1517904"/>
            <a:ext cx="4187952" cy="45720"/>
          </a:xfrm>
          <a:prstGeom prst="rect">
            <a:avLst/>
          </a:prstGeom>
          <a:solidFill>
            <a:srgbClr val="9AA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26096" y="1664207"/>
            <a:ext cx="274320" cy="201168"/>
          </a:xfrm>
          <a:prstGeom prst="roundRect">
            <a:avLst>
              <a:gd name="adj" fmla="val 35000"/>
            </a:avLst>
          </a:prstGeom>
          <a:solidFill>
            <a:srgbClr val="9AA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6096" y="1705355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166420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20" b="1">
                <a:solidFill>
                  <a:srgbClr val="6B7282"/>
                </a:solidFill>
                <a:latin typeface="Segoe UI"/>
              </a:rPr>
              <a:t>ЯПОНСЬКИЙ БРЕНД, АЗІЙСЬКИЙ ЗАВОД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1956815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AA2B4"/>
                </a:solidFill>
                <a:latin typeface="Segoe UI"/>
              </a:rPr>
              <a:t>150–230 млн грн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76688" y="1993391"/>
            <a:ext cx="1371600" cy="201168"/>
          </a:xfrm>
          <a:prstGeom prst="roundRect">
            <a:avLst>
              <a:gd name="adj" fmla="val 35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203454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Segoe UI"/>
              </a:rPr>
              <a:t>ПОЗА ОБСЯГОМ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2249424"/>
            <a:ext cx="3822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Назва японська, виробництво — ні. Видалено з усіх цифр колоди.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3216" y="2724912"/>
            <a:ext cx="4187952" cy="1097280"/>
          </a:xfrm>
          <a:prstGeom prst="roundRect">
            <a:avLst>
              <a:gd name="adj" fmla="val 10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43216" y="2724912"/>
            <a:ext cx="4187952" cy="45720"/>
          </a:xfrm>
          <a:prstGeom prst="rect">
            <a:avLst/>
          </a:prstGeom>
          <a:solidFill>
            <a:srgbClr val="9AA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626096" y="2871216"/>
            <a:ext cx="274320" cy="201168"/>
          </a:xfrm>
          <a:prstGeom prst="roundRect">
            <a:avLst>
              <a:gd name="adj" fmla="val 35000"/>
            </a:avLst>
          </a:prstGeom>
          <a:solidFill>
            <a:srgbClr val="9AA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6096" y="2912364"/>
            <a:ext cx="274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2871216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720" b="1">
                <a:solidFill>
                  <a:srgbClr val="6B7282"/>
                </a:solidFill>
                <a:latin typeface="Segoe UI"/>
              </a:rPr>
              <a:t>ЯПОНСЬКА ФОРМА БУДЬ-ЯКОГО ПОХОДЖЕННЯ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26096" y="316382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AA2B4"/>
                </a:solidFill>
                <a:latin typeface="Segoe UI"/>
              </a:rPr>
              <a:t>140–260 млн грн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76688" y="3200400"/>
            <a:ext cx="1371600" cy="201168"/>
          </a:xfrm>
          <a:prstGeom prst="roundRect">
            <a:avLst>
              <a:gd name="adj" fmla="val 35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76688" y="3241548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FFFFFF"/>
                </a:solidFill>
                <a:latin typeface="Segoe UI"/>
              </a:rPr>
              <a:t>ПОЗА ОБСЯГОМ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26096" y="3456432"/>
            <a:ext cx="38221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Сантоку європейських марок. Японського постачальника тут немає в принципі.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3968496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88A3D"/>
                </a:solidFill>
                <a:latin typeface="Segoe UI"/>
              </a:rPr>
              <a:t>МИТНА БАЗА КАТЕГОРІЇ, ІМПОРТ 2024, ТИС. $ CIF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420624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КОД УКТЗЕД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21408" y="420624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НАЗВА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15968" y="4206240"/>
            <a:ext cx="12344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ІМПОРТ, ТИС. $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4206240"/>
            <a:ext cx="731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ЧАСТКА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1928" y="4206240"/>
            <a:ext cx="1325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З НИХ ЯПОНІЯ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3776" y="4384548"/>
            <a:ext cx="7187184" cy="224028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442569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8211 10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21408" y="4425696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Набори ножів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5968" y="4425696"/>
            <a:ext cx="1179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2 339,2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4425696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26 %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81928" y="44256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не виділена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470001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8211 91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21408" y="4700016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Ножі столові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5968" y="4700016"/>
            <a:ext cx="1179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1 093,4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4700016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12 %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81928" y="470001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14,3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3776" y="4933188"/>
            <a:ext cx="7187184" cy="224028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497433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8211 92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21408" y="4974336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Ножі з фіксованим лезом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15968" y="4974336"/>
            <a:ext cx="1179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5 587,3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4974336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62 %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81928" y="497433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103,3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5266943"/>
            <a:ext cx="7040880" cy="1371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5376671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РАЗОМ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21408" y="5376671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Митна база категорії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15968" y="5376671"/>
            <a:ext cx="1179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9 019,8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5376671"/>
            <a:ext cx="676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100 %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81928" y="5376671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117,5 = 1,3 %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63840" y="3968496"/>
            <a:ext cx="3767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88A3D"/>
                </a:solidFill>
                <a:latin typeface="Segoe UI"/>
              </a:rPr>
              <a:t>ІМПОРТ ІЗ ЯПОНІЇ, 8211 92, ТИС. $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63840" y="4242816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2022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30767" y="4283964"/>
            <a:ext cx="219456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430767" y="4283964"/>
            <a:ext cx="2012242" cy="8229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716767" y="424281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Segoe UI"/>
              </a:rPr>
              <a:t>119,2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4535424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2023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30767" y="4576572"/>
            <a:ext cx="219456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430767" y="4576572"/>
            <a:ext cx="1338681" cy="8229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716767" y="4535424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Segoe UI"/>
              </a:rPr>
              <a:t>79,3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63840" y="4828032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1B253F"/>
                </a:solidFill>
                <a:latin typeface="Segoe UI"/>
              </a:rPr>
              <a:t>2024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30767" y="4869180"/>
            <a:ext cx="219456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430767" y="4869180"/>
            <a:ext cx="1743831" cy="8229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716767" y="4828032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Segoe UI"/>
              </a:rPr>
              <a:t>103,3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66928" y="5632704"/>
            <a:ext cx="7040880" cy="851712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66928" y="5632704"/>
            <a:ext cx="36576" cy="851712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4672" y="5788152"/>
            <a:ext cx="65653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ЧОМУ ЦЕЙ СЛАЙД — ГОЛОВНИЙ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4672" y="6016752"/>
            <a:ext cx="6565392" cy="32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Без розмежування A / B / C цифру 16–19 млн грн легко сплутати з розміром усієї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категорії кухонних ножів — а це 691–924 млн грн, у 40 разів більше.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863840" y="5193792"/>
            <a:ext cx="3767328" cy="1316736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863840" y="5193792"/>
            <a:ext cx="36576" cy="1316736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01583" y="5349240"/>
            <a:ext cx="3291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554780"/>
                </a:solidFill>
                <a:latin typeface="Segoe UI"/>
              </a:rPr>
              <a:t>ЩО ГОВОРИТЬ ДИНАМІКА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101583" y="5577840"/>
            <a:ext cx="3291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Імпорт 2024 на 13 % нижчий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за 2022 у номінальних доларах.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Стрибок 2023→2024 — це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відновлення після провалу,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а не тренд зростання.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3504" y="6565392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Джерело митних даних: World Bank WITS / UN Comtrade, імпорт України 2022–2024. Оцінки B і C — власний розрахунок за SKU-аудитом.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К А Т А Л О Г   ·   С Е Г М Е Н Т А Ц І Я   З А   Ц І Н О 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Чотири цінові діапазони японського виробництва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Каталог із 259 ножів японського виробництва. На кожному щаблі — п'ять позицій, рівномірно розподілених за ціною.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54480"/>
            <a:ext cx="11064240" cy="896111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54480"/>
            <a:ext cx="41148" cy="896111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6002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966E28"/>
                </a:solidFill>
                <a:latin typeface="Segoe UI"/>
              </a:rPr>
              <a:t>До 2 500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1792224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Японія сюди майже не дістає: моносталь, штамповка, західне руків'я.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1396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33172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" y="21396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11 %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744" y="233172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21396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1 790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233172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медіана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21396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233172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брендів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2020824"/>
            <a:ext cx="2450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AA2B4"/>
                </a:solidFill>
                <a:latin typeface="Segoe UI"/>
              </a:rPr>
              <a:t>Seki Kanetsugu 8 · Satake 4 · HONMAMON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1618488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_75c8d1b75469cf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1645920"/>
            <a:ext cx="1441094" cy="402335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3310128" y="213512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92424" y="2103120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66E28"/>
                </a:solidFill>
                <a:latin typeface="Segoe UI"/>
              </a:rPr>
              <a:t>Seki Kanetsugu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222199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1 140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235915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4102" y="1618488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_152c4619023fe0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0678" y="1645920"/>
            <a:ext cx="1441094" cy="402335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4934102" y="213512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16398" y="2103120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66E28"/>
                </a:solidFill>
                <a:latin typeface="Segoe UI"/>
              </a:rPr>
              <a:t>HONMAMON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4102" y="222199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1 650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4102" y="235915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8076" y="1618488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_140499d5980b14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652" y="1645920"/>
            <a:ext cx="1441094" cy="402335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6558076" y="213512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40372" y="2103120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66E28"/>
                </a:solidFill>
                <a:latin typeface="Segoe UI"/>
              </a:rPr>
              <a:t>Takanori Izumi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58076" y="222199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1 980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58076" y="235915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2051" y="1618488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_3e2b685bcef9d3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8627" y="1645920"/>
            <a:ext cx="1441094" cy="402335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8182051" y="213512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64347" y="2103120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66E28"/>
                </a:solidFill>
                <a:latin typeface="Segoe UI"/>
              </a:rPr>
              <a:t>KAI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2051" y="222199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2 184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2051" y="235915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06025" y="1618488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p_1df0b9393e4752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2601" y="1645920"/>
            <a:ext cx="1441094" cy="402335"/>
          </a:xfrm>
          <a:prstGeom prst="rect">
            <a:avLst/>
          </a:prstGeom>
        </p:spPr>
      </p:pic>
      <p:sp>
        <p:nvSpPr>
          <p:cNvPr id="53" name="Oval 52"/>
          <p:cNvSpPr/>
          <p:nvPr/>
        </p:nvSpPr>
        <p:spPr>
          <a:xfrm>
            <a:off x="9806025" y="213512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88321" y="2103120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66E28"/>
                </a:solidFill>
                <a:latin typeface="Segoe UI"/>
              </a:rPr>
              <a:t>Kasumi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06025" y="222199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2 390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06025" y="235915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2560320"/>
            <a:ext cx="11064240" cy="896111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" y="2560320"/>
            <a:ext cx="41148" cy="896111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8096" y="2606039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2A7F86"/>
                </a:solidFill>
                <a:latin typeface="Segoe UI"/>
              </a:rPr>
              <a:t>2 500 – 5 000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" y="2798063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Вхід у японське виробництво: VG-10 у три шари, перші куроучі з Тоса.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" y="314553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67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" y="333756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80744" y="314553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26 %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80744" y="333756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93392" y="314553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3 539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93392" y="333756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медіана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06040" y="314553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06040" y="333756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брендів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8096" y="3026663"/>
            <a:ext cx="2450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AA2B4"/>
                </a:solidFill>
                <a:latin typeface="Segoe UI"/>
              </a:rPr>
              <a:t>Tosa 10 · Masahiro 8 · Tojiro 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10128" y="262432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p_67394b62b036ed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6704" y="2651760"/>
            <a:ext cx="1441094" cy="402335"/>
          </a:xfrm>
          <a:prstGeom prst="rect">
            <a:avLst/>
          </a:prstGeom>
        </p:spPr>
      </p:pic>
      <p:sp>
        <p:nvSpPr>
          <p:cNvPr id="72" name="Oval 71"/>
          <p:cNvSpPr/>
          <p:nvPr/>
        </p:nvSpPr>
        <p:spPr>
          <a:xfrm>
            <a:off x="3310128" y="314096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92424" y="310895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2A7F86"/>
                </a:solidFill>
                <a:latin typeface="Segoe UI"/>
              </a:rPr>
              <a:t>Kasumi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10128" y="322783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2 833 грн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10128" y="336499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34102" y="262432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p_e76760d3f37cb47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0678" y="2651760"/>
            <a:ext cx="1441094" cy="402335"/>
          </a:xfrm>
          <a:prstGeom prst="rect">
            <a:avLst/>
          </a:prstGeom>
        </p:spPr>
      </p:pic>
      <p:sp>
        <p:nvSpPr>
          <p:cNvPr id="78" name="Oval 77"/>
          <p:cNvSpPr/>
          <p:nvPr/>
        </p:nvSpPr>
        <p:spPr>
          <a:xfrm>
            <a:off x="4934102" y="314096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16398" y="310895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2A7F86"/>
                </a:solidFill>
                <a:latin typeface="Segoe UI"/>
              </a:rPr>
              <a:t>Tosa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34102" y="322783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3 231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34102" y="336499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58076" y="262432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p_ddfbc22ba73d06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4652" y="2651760"/>
            <a:ext cx="1441094" cy="402335"/>
          </a:xfrm>
          <a:prstGeom prst="rect">
            <a:avLst/>
          </a:prstGeom>
        </p:spPr>
      </p:pic>
      <p:sp>
        <p:nvSpPr>
          <p:cNvPr id="84" name="Oval 83"/>
          <p:cNvSpPr/>
          <p:nvPr/>
        </p:nvSpPr>
        <p:spPr>
          <a:xfrm>
            <a:off x="6558076" y="314096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640372" y="310895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2A7F86"/>
                </a:solidFill>
                <a:latin typeface="Segoe UI"/>
              </a:rPr>
              <a:t>Tomita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58076" y="322783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3 539 грн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58076" y="336499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82051" y="262432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p_8dac3ccf7faf32a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627" y="2651760"/>
            <a:ext cx="1441094" cy="402335"/>
          </a:xfrm>
          <a:prstGeom prst="rect">
            <a:avLst/>
          </a:prstGeom>
        </p:spPr>
      </p:pic>
      <p:sp>
        <p:nvSpPr>
          <p:cNvPr id="90" name="Oval 89"/>
          <p:cNvSpPr/>
          <p:nvPr/>
        </p:nvSpPr>
        <p:spPr>
          <a:xfrm>
            <a:off x="8182051" y="314096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64347" y="310895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2A7F86"/>
                </a:solidFill>
                <a:latin typeface="Segoe UI"/>
              </a:rPr>
              <a:t>Seki Kanetsugu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82051" y="322783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4 450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82051" y="336499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06025" y="262432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p_cf3aa719792dd9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42601" y="2651760"/>
            <a:ext cx="1441094" cy="402335"/>
          </a:xfrm>
          <a:prstGeom prst="rect">
            <a:avLst/>
          </a:prstGeom>
        </p:spPr>
      </p:pic>
      <p:sp>
        <p:nvSpPr>
          <p:cNvPr id="96" name="Oval 95"/>
          <p:cNvSpPr/>
          <p:nvPr/>
        </p:nvSpPr>
        <p:spPr>
          <a:xfrm>
            <a:off x="9806025" y="314096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888321" y="310895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2A7F86"/>
                </a:solidFill>
                <a:latin typeface="Segoe UI"/>
              </a:rPr>
              <a:t>HONMAMON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806025" y="322783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4 850 грн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06025" y="336499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6928" y="3566159"/>
            <a:ext cx="11064240" cy="896111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66928" y="3566159"/>
            <a:ext cx="41148" cy="896111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8096" y="3611879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554780"/>
                </a:solidFill>
                <a:latin typeface="Segoe UI"/>
              </a:rPr>
              <a:t>5 000 – 10 000 грн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8096" y="3803903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Ядро асортименту: дамаск 32–69 шарів, Chromax, 60–61 HRC.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8096" y="415137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116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8096" y="434339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380744" y="415137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45 %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80744" y="434339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993392" y="415137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7 290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993392" y="434339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медіана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06040" y="415137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606040" y="434339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брендів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8096" y="4032503"/>
            <a:ext cx="2450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AA2B4"/>
                </a:solidFill>
                <a:latin typeface="Segoe UI"/>
              </a:rPr>
              <a:t>Tojiro 24 · Yaxell 23 · KAI 15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310128" y="363016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4" name="Picture 113" descr="p_d7c9876b54b98bd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46704" y="3657599"/>
            <a:ext cx="1441094" cy="402335"/>
          </a:xfrm>
          <a:prstGeom prst="rect">
            <a:avLst/>
          </a:prstGeom>
        </p:spPr>
      </p:pic>
      <p:sp>
        <p:nvSpPr>
          <p:cNvPr id="115" name="Oval 114"/>
          <p:cNvSpPr/>
          <p:nvPr/>
        </p:nvSpPr>
        <p:spPr>
          <a:xfrm>
            <a:off x="3310128" y="414680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392424" y="411479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54780"/>
                </a:solidFill>
                <a:latin typeface="Segoe UI"/>
              </a:rPr>
              <a:t>HONMAMON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10128" y="423367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5 490 грн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0128" y="437083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934102" y="363016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p_7c612f0bf20384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70678" y="3657599"/>
            <a:ext cx="1441094" cy="402335"/>
          </a:xfrm>
          <a:prstGeom prst="rect">
            <a:avLst/>
          </a:prstGeom>
        </p:spPr>
      </p:pic>
      <p:sp>
        <p:nvSpPr>
          <p:cNvPr id="121" name="Oval 120"/>
          <p:cNvSpPr/>
          <p:nvPr/>
        </p:nvSpPr>
        <p:spPr>
          <a:xfrm>
            <a:off x="4934102" y="414680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016398" y="411479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54780"/>
                </a:solidFill>
                <a:latin typeface="Segoe UI"/>
              </a:rPr>
              <a:t>Yaxell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34102" y="423367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6 401 грн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34102" y="437083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558076" y="363016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Picture 125" descr="p_0849ef6b2ab669a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4652" y="3657599"/>
            <a:ext cx="1441094" cy="402335"/>
          </a:xfrm>
          <a:prstGeom prst="rect">
            <a:avLst/>
          </a:prstGeom>
        </p:spPr>
      </p:pic>
      <p:sp>
        <p:nvSpPr>
          <p:cNvPr id="127" name="Oval 126"/>
          <p:cNvSpPr/>
          <p:nvPr/>
        </p:nvSpPr>
        <p:spPr>
          <a:xfrm>
            <a:off x="6558076" y="414680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40372" y="411479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54780"/>
                </a:solidFill>
                <a:latin typeface="Segoe UI"/>
              </a:rPr>
              <a:t>Motokane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58076" y="423367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7 290 грн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558076" y="437083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182051" y="363016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2" name="Picture 131" descr="p_28d76dea152104d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8627" y="3657599"/>
            <a:ext cx="1441094" cy="402335"/>
          </a:xfrm>
          <a:prstGeom prst="rect">
            <a:avLst/>
          </a:prstGeom>
        </p:spPr>
      </p:pic>
      <p:sp>
        <p:nvSpPr>
          <p:cNvPr id="133" name="Oval 132"/>
          <p:cNvSpPr/>
          <p:nvPr/>
        </p:nvSpPr>
        <p:spPr>
          <a:xfrm>
            <a:off x="8182051" y="414680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264347" y="411479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54780"/>
                </a:solidFill>
                <a:latin typeface="Segoe UI"/>
              </a:rPr>
              <a:t>KAI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182051" y="423367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8 050 грн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182051" y="437083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806025" y="363016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Picture 137" descr="p_42f4ee807831e521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42601" y="3657599"/>
            <a:ext cx="1441094" cy="402335"/>
          </a:xfrm>
          <a:prstGeom prst="rect">
            <a:avLst/>
          </a:prstGeom>
        </p:spPr>
      </p:pic>
      <p:sp>
        <p:nvSpPr>
          <p:cNvPr id="139" name="Oval 138"/>
          <p:cNvSpPr/>
          <p:nvPr/>
        </p:nvSpPr>
        <p:spPr>
          <a:xfrm>
            <a:off x="9806025" y="414680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888321" y="411479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54780"/>
                </a:solidFill>
                <a:latin typeface="Segoe UI"/>
              </a:rPr>
              <a:t>Tojiro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806025" y="423367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9 470 грн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806025" y="437083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66928" y="4571999"/>
            <a:ext cx="11064240" cy="896111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66928" y="4571999"/>
            <a:ext cx="41148" cy="896111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68096" y="4617719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A84A6B"/>
                </a:solidFill>
                <a:latin typeface="Segoe UI"/>
              </a:rPr>
              <a:t>Понад 10 000 грн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68096" y="4809743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Порошкова сталь SG-2 / R2, 101–193 шари, іменні ковалі.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68096" y="515721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47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68096" y="534923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380744" y="515721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18 %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380744" y="534923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993392" y="515721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13 500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993392" y="534923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медіана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606040" y="515721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06040" y="534923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брендів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68096" y="5038343"/>
            <a:ext cx="2450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AA2B4"/>
                </a:solidFill>
                <a:latin typeface="Segoe UI"/>
              </a:rPr>
              <a:t>KAI 15 · Yaxell 10 · Tojiro 8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310128" y="463600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p_5b65bfe8ef210b9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46704" y="4663439"/>
            <a:ext cx="1441094" cy="402335"/>
          </a:xfrm>
          <a:prstGeom prst="rect">
            <a:avLst/>
          </a:prstGeom>
        </p:spPr>
      </p:pic>
      <p:sp>
        <p:nvSpPr>
          <p:cNvPr id="158" name="Oval 157"/>
          <p:cNvSpPr/>
          <p:nvPr/>
        </p:nvSpPr>
        <p:spPr>
          <a:xfrm>
            <a:off x="3310128" y="515264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392424" y="512063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A84A6B"/>
                </a:solidFill>
                <a:latin typeface="Segoe UI"/>
              </a:rPr>
              <a:t>KAI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310128" y="523951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10 220 грн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310128" y="537667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934102" y="463600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p_c22e46de500b8e64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70678" y="4663439"/>
            <a:ext cx="1441094" cy="402335"/>
          </a:xfrm>
          <a:prstGeom prst="rect">
            <a:avLst/>
          </a:prstGeom>
        </p:spPr>
      </p:pic>
      <p:sp>
        <p:nvSpPr>
          <p:cNvPr id="164" name="Oval 163"/>
          <p:cNvSpPr/>
          <p:nvPr/>
        </p:nvSpPr>
        <p:spPr>
          <a:xfrm>
            <a:off x="4934102" y="515264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016398" y="512063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A84A6B"/>
                </a:solidFill>
                <a:latin typeface="Segoe UI"/>
              </a:rPr>
              <a:t>Takamura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934102" y="523951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11 990 грн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934102" y="537667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558076" y="463600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p_250ba5e07dfb64d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94652" y="4663439"/>
            <a:ext cx="1441094" cy="402335"/>
          </a:xfrm>
          <a:prstGeom prst="rect">
            <a:avLst/>
          </a:prstGeom>
        </p:spPr>
      </p:pic>
      <p:sp>
        <p:nvSpPr>
          <p:cNvPr id="170" name="Oval 169"/>
          <p:cNvSpPr/>
          <p:nvPr/>
        </p:nvSpPr>
        <p:spPr>
          <a:xfrm>
            <a:off x="6558076" y="515264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640372" y="512063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A84A6B"/>
                </a:solidFill>
                <a:latin typeface="Segoe UI"/>
              </a:rPr>
              <a:t>Hatsukokoro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558076" y="523951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13 865 грн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558076" y="537667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182051" y="463600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Picture 174" descr="p_d31c05a14aaad9f0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18627" y="4663439"/>
            <a:ext cx="1441094" cy="402335"/>
          </a:xfrm>
          <a:prstGeom prst="rect">
            <a:avLst/>
          </a:prstGeom>
        </p:spPr>
      </p:pic>
      <p:sp>
        <p:nvSpPr>
          <p:cNvPr id="176" name="Oval 175"/>
          <p:cNvSpPr/>
          <p:nvPr/>
        </p:nvSpPr>
        <p:spPr>
          <a:xfrm>
            <a:off x="8182051" y="515264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264347" y="512063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A84A6B"/>
                </a:solidFill>
                <a:latin typeface="Segoe UI"/>
              </a:rPr>
              <a:t>Etsu / Ittetsu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182051" y="523951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16 677 грн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182051" y="537667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9806025" y="4636007"/>
            <a:ext cx="1514246" cy="45719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1" name="Picture 180" descr="p_b78a58e2d40d3067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42601" y="4663439"/>
            <a:ext cx="1441094" cy="402335"/>
          </a:xfrm>
          <a:prstGeom prst="rect">
            <a:avLst/>
          </a:prstGeom>
        </p:spPr>
      </p:pic>
      <p:sp>
        <p:nvSpPr>
          <p:cNvPr id="182" name="Oval 181"/>
          <p:cNvSpPr/>
          <p:nvPr/>
        </p:nvSpPr>
        <p:spPr>
          <a:xfrm>
            <a:off x="9806025" y="515264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888321" y="5120639"/>
            <a:ext cx="141366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A84A6B"/>
                </a:solidFill>
                <a:latin typeface="Segoe UI"/>
              </a:rPr>
              <a:t>Yaxell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806025" y="5239511"/>
            <a:ext cx="149595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27 822 грн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9806025" y="5376671"/>
            <a:ext cx="149595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03504" y="5724144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Аналітика рахована по всіх позиціях діапазону, фото — п'ять із них. Джерело: картки товарів ProfiMax, ROKS, WildCat, Sekator, жовтень 2026. Ціна за один ніж, роздріб.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К А Т А Л О Г   ·   С Е Г М Е Н Т А Ц І Я   З А   Т И П О М   Л Е З 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Три групи, які покривають 62 % каталогу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Той самий каталог у розрізі геометрії. Тип не визначає ціну — її визначає сталь.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54480"/>
            <a:ext cx="11064240" cy="1231392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54480"/>
            <a:ext cx="41148" cy="123139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1600200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966E28"/>
                </a:solidFill>
                <a:latin typeface="Segoe UI"/>
              </a:rPr>
              <a:t>Шеф і гюто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1792224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Робочий ніж кухні, 180–240 мм. Найширший тип і головний драйвер чека.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21396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233172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744" y="21396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19 %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744" y="233172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21396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8 490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233172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медіана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213969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233172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брендів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2020824"/>
            <a:ext cx="2450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AA2B4"/>
                </a:solidFill>
                <a:latin typeface="Segoe UI"/>
              </a:rPr>
              <a:t>Tojiro 14 · HONMAMON 7 · Yaxell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161848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_e6131eedad7ef5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1645920"/>
            <a:ext cx="1170431" cy="737615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3310128" y="247040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92424" y="243840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66E28"/>
                </a:solidFill>
                <a:latin typeface="Segoe UI"/>
              </a:rPr>
              <a:t>Satake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0128" y="255727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2 099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2694431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161848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_6c4f3a060e1e32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645920"/>
            <a:ext cx="1170431" cy="737615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4663440" y="247040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5736" y="243840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66E28"/>
                </a:solidFill>
                <a:latin typeface="Segoe UI"/>
              </a:rPr>
              <a:t>Tojiro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255727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4 976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2694431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WildCat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16752" y="161848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_ee85a4a6e0903f9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1645920"/>
            <a:ext cx="1170431" cy="737615"/>
          </a:xfrm>
          <a:prstGeom prst="rect">
            <a:avLst/>
          </a:prstGeom>
        </p:spPr>
      </p:pic>
      <p:sp>
        <p:nvSpPr>
          <p:cNvPr id="41" name="Oval 40"/>
          <p:cNvSpPr/>
          <p:nvPr/>
        </p:nvSpPr>
        <p:spPr>
          <a:xfrm>
            <a:off x="6016752" y="247040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9048" y="243840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66E28"/>
                </a:solidFill>
                <a:latin typeface="Segoe UI"/>
              </a:rPr>
              <a:t>Yaxell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16752" y="255727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7 804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6752" y="2694431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70063" y="161848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_eada97a57faa51a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39" y="1645920"/>
            <a:ext cx="1170431" cy="737615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7370063" y="247040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59" y="243840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66E28"/>
                </a:solidFill>
                <a:latin typeface="Segoe UI"/>
              </a:rPr>
              <a:t>KAI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70063" y="255727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9 520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70063" y="2694431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23376" y="161848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p_61a3d4f712db7d7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9951" y="1645920"/>
            <a:ext cx="1170431" cy="737615"/>
          </a:xfrm>
          <a:prstGeom prst="rect">
            <a:avLst/>
          </a:prstGeom>
        </p:spPr>
      </p:pic>
      <p:sp>
        <p:nvSpPr>
          <p:cNvPr id="53" name="Oval 52"/>
          <p:cNvSpPr/>
          <p:nvPr/>
        </p:nvSpPr>
        <p:spPr>
          <a:xfrm>
            <a:off x="8723376" y="247040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05672" y="243840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66E28"/>
                </a:solidFill>
                <a:latin typeface="Segoe UI"/>
              </a:rPr>
              <a:t>Takamura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23376" y="255727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10 200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23376" y="2694431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76688" y="161848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p_d78c15035ef2a4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3263" y="1645920"/>
            <a:ext cx="1170431" cy="737615"/>
          </a:xfrm>
          <a:prstGeom prst="rect">
            <a:avLst/>
          </a:prstGeom>
        </p:spPr>
      </p:pic>
      <p:sp>
        <p:nvSpPr>
          <p:cNvPr id="59" name="Oval 58"/>
          <p:cNvSpPr/>
          <p:nvPr/>
        </p:nvSpPr>
        <p:spPr>
          <a:xfrm>
            <a:off x="10076688" y="247040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58984" y="243840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966E28"/>
                </a:solidFill>
                <a:latin typeface="Segoe UI"/>
              </a:rPr>
              <a:t>HONMAMON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76688" y="255727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23 990 грн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76688" y="2694431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2895600"/>
            <a:ext cx="11064240" cy="1231392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6928" y="2895600"/>
            <a:ext cx="41148" cy="123139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" y="2941319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2A7F86"/>
                </a:solidFill>
                <a:latin typeface="Segoe UI"/>
              </a:rPr>
              <a:t>Сантоку, петті, накірі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8096" y="3133344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Домашня трійця. Єдина група, де японська геометрія вже стала масовою.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8096" y="348081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77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8096" y="367284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80744" y="348081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30 %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80744" y="367284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93392" y="348081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6 671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93392" y="367284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медіана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06040" y="348081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06040" y="3672840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брендів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8096" y="3361944"/>
            <a:ext cx="2450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AA2B4"/>
                </a:solidFill>
                <a:latin typeface="Segoe UI"/>
              </a:rPr>
              <a:t>Yaxell 12 · Tojiro 10 · HONMAMON 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10128" y="2959607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p_2a7cab578ab6f12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46704" y="2987040"/>
            <a:ext cx="1170431" cy="737615"/>
          </a:xfrm>
          <a:prstGeom prst="rect">
            <a:avLst/>
          </a:prstGeom>
        </p:spPr>
      </p:pic>
      <p:sp>
        <p:nvSpPr>
          <p:cNvPr id="78" name="Oval 77"/>
          <p:cNvSpPr/>
          <p:nvPr/>
        </p:nvSpPr>
        <p:spPr>
          <a:xfrm>
            <a:off x="3310128" y="381152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92424" y="3779519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2A7F86"/>
                </a:solidFill>
                <a:latin typeface="Segoe UI"/>
              </a:rPr>
              <a:t>Kasumi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10128" y="3898391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2 390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10128" y="403555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63440" y="2959607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p_10804f1d5efbd42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016" y="2987040"/>
            <a:ext cx="1170431" cy="737615"/>
          </a:xfrm>
          <a:prstGeom prst="rect">
            <a:avLst/>
          </a:prstGeom>
        </p:spPr>
      </p:pic>
      <p:sp>
        <p:nvSpPr>
          <p:cNvPr id="84" name="Oval 83"/>
          <p:cNvSpPr/>
          <p:nvPr/>
        </p:nvSpPr>
        <p:spPr>
          <a:xfrm>
            <a:off x="4663440" y="381152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45736" y="3779519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2A7F86"/>
                </a:solidFill>
                <a:latin typeface="Segoe UI"/>
              </a:rPr>
              <a:t>Masahiro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63440" y="3898391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3 500 грн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3440" y="403555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16752" y="2959607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p_d948675fdf9d5c2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3328" y="2987040"/>
            <a:ext cx="1170431" cy="737615"/>
          </a:xfrm>
          <a:prstGeom prst="rect">
            <a:avLst/>
          </a:prstGeom>
        </p:spPr>
      </p:pic>
      <p:sp>
        <p:nvSpPr>
          <p:cNvPr id="90" name="Oval 89"/>
          <p:cNvSpPr/>
          <p:nvPr/>
        </p:nvSpPr>
        <p:spPr>
          <a:xfrm>
            <a:off x="6016752" y="381152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99048" y="3779519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2A7F86"/>
                </a:solidFill>
                <a:latin typeface="Segoe UI"/>
              </a:rPr>
              <a:t>Yaxell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16752" y="3898391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5 538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16752" y="403555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70063" y="2959607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p_35894a3250f7977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06639" y="2987040"/>
            <a:ext cx="1170431" cy="737615"/>
          </a:xfrm>
          <a:prstGeom prst="rect">
            <a:avLst/>
          </a:prstGeom>
        </p:spPr>
      </p:pic>
      <p:sp>
        <p:nvSpPr>
          <p:cNvPr id="96" name="Oval 95"/>
          <p:cNvSpPr/>
          <p:nvPr/>
        </p:nvSpPr>
        <p:spPr>
          <a:xfrm>
            <a:off x="7370063" y="381152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52359" y="3779519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2A7F86"/>
                </a:solidFill>
                <a:latin typeface="Segoe UI"/>
              </a:rPr>
              <a:t>Motokane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70063" y="3898391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7 290 грн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70063" y="403555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23376" y="2959607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p_2ffd8c46735cdf7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9951" y="2987040"/>
            <a:ext cx="1170431" cy="737615"/>
          </a:xfrm>
          <a:prstGeom prst="rect">
            <a:avLst/>
          </a:prstGeom>
        </p:spPr>
      </p:pic>
      <p:sp>
        <p:nvSpPr>
          <p:cNvPr id="102" name="Oval 101"/>
          <p:cNvSpPr/>
          <p:nvPr/>
        </p:nvSpPr>
        <p:spPr>
          <a:xfrm>
            <a:off x="8723376" y="381152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805672" y="3779519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2A7F86"/>
                </a:solidFill>
                <a:latin typeface="Segoe UI"/>
              </a:rPr>
              <a:t>KAI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723376" y="3898391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8 610 грн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723376" y="403555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76688" y="2959607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106" descr="p_eb3b0ae5dbfaf52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13263" y="2987040"/>
            <a:ext cx="1170431" cy="737615"/>
          </a:xfrm>
          <a:prstGeom prst="rect">
            <a:avLst/>
          </a:prstGeom>
        </p:spPr>
      </p:pic>
      <p:sp>
        <p:nvSpPr>
          <p:cNvPr id="108" name="Oval 107"/>
          <p:cNvSpPr/>
          <p:nvPr/>
        </p:nvSpPr>
        <p:spPr>
          <a:xfrm>
            <a:off x="10076688" y="3811523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158984" y="3779519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2A7F86"/>
                </a:solidFill>
                <a:latin typeface="Segoe UI"/>
              </a:rPr>
              <a:t>HONMAMON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76688" y="3898391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11 790 грн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076688" y="403555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" y="4236720"/>
            <a:ext cx="11064240" cy="1231392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66928" y="4236720"/>
            <a:ext cx="41148" cy="123139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68096" y="4282439"/>
            <a:ext cx="2423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554780"/>
                </a:solidFill>
                <a:latin typeface="Segoe UI"/>
              </a:rPr>
              <a:t>Односторонні: янагіба, деба, усуба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8096" y="4474463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Професійний інструмент суші-кухні. Єдина геометрія без європейського замінника.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8096" y="482193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35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8096" y="501395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позицій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380744" y="482193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14 %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380744" y="501395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каталогу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993392" y="482193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4 550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993392" y="501395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медіана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06040" y="4821935"/>
            <a:ext cx="6217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51A26"/>
                </a:solidFill>
                <a:latin typeface="Georgia"/>
              </a:rPr>
              <a:t>12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606040" y="5013959"/>
            <a:ext cx="621792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50" b="0">
                <a:solidFill>
                  <a:srgbClr val="6B7282"/>
                </a:solidFill>
                <a:latin typeface="Segoe UI"/>
              </a:rPr>
              <a:t>брендів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68096" y="4703063"/>
            <a:ext cx="245059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AA2B4"/>
                </a:solidFill>
                <a:latin typeface="Segoe UI"/>
              </a:rPr>
              <a:t>Tosa 11 · KAI 8 · HONMAMON 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310128" y="430072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Picture 125" descr="p_06b7b483cde5d03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6704" y="4328159"/>
            <a:ext cx="1170431" cy="737615"/>
          </a:xfrm>
          <a:prstGeom prst="rect">
            <a:avLst/>
          </a:prstGeom>
        </p:spPr>
      </p:pic>
      <p:sp>
        <p:nvSpPr>
          <p:cNvPr id="127" name="Oval 126"/>
          <p:cNvSpPr/>
          <p:nvPr/>
        </p:nvSpPr>
        <p:spPr>
          <a:xfrm>
            <a:off x="3310128" y="515264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392424" y="512064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54780"/>
                </a:solidFill>
                <a:latin typeface="Segoe UI"/>
              </a:rPr>
              <a:t>KAI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10128" y="523951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2 660 грн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10128" y="537667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663440" y="430072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2" name="Picture 131" descr="p_df51dc842f3e197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00016" y="4328159"/>
            <a:ext cx="1170431" cy="737615"/>
          </a:xfrm>
          <a:prstGeom prst="rect">
            <a:avLst/>
          </a:prstGeom>
        </p:spPr>
      </p:pic>
      <p:sp>
        <p:nvSpPr>
          <p:cNvPr id="133" name="Oval 132"/>
          <p:cNvSpPr/>
          <p:nvPr/>
        </p:nvSpPr>
        <p:spPr>
          <a:xfrm>
            <a:off x="4663440" y="515264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745736" y="512064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663440" y="523951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3 500 грн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63440" y="537667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16752" y="430072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Picture 137" descr="p_0ae5588269613e8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53328" y="4328159"/>
            <a:ext cx="1170431" cy="737615"/>
          </a:xfrm>
          <a:prstGeom prst="rect">
            <a:avLst/>
          </a:prstGeom>
        </p:spPr>
      </p:pic>
      <p:sp>
        <p:nvSpPr>
          <p:cNvPr id="139" name="Oval 138"/>
          <p:cNvSpPr/>
          <p:nvPr/>
        </p:nvSpPr>
        <p:spPr>
          <a:xfrm>
            <a:off x="6016752" y="515264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099048" y="512064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54780"/>
                </a:solidFill>
                <a:latin typeface="Segoe UI"/>
              </a:rPr>
              <a:t>Fukamizu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016752" y="523951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4 451 грн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016752" y="537667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370063" y="430072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p_6e76766272a82f3a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06639" y="4328159"/>
            <a:ext cx="1170431" cy="737615"/>
          </a:xfrm>
          <a:prstGeom prst="rect">
            <a:avLst/>
          </a:prstGeom>
        </p:spPr>
      </p:pic>
      <p:sp>
        <p:nvSpPr>
          <p:cNvPr id="145" name="Oval 144"/>
          <p:cNvSpPr/>
          <p:nvPr/>
        </p:nvSpPr>
        <p:spPr>
          <a:xfrm>
            <a:off x="7370063" y="515264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452359" y="512064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54780"/>
                </a:solidFill>
                <a:latin typeface="Segoe UI"/>
              </a:rPr>
              <a:t>Tosa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70063" y="523951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4 850 грн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370063" y="537667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723376" y="430072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0" name="Picture 149" descr="p_c6a8f37b3354cd0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59951" y="4328159"/>
            <a:ext cx="1170431" cy="737615"/>
          </a:xfrm>
          <a:prstGeom prst="rect">
            <a:avLst/>
          </a:prstGeom>
        </p:spPr>
      </p:pic>
      <p:sp>
        <p:nvSpPr>
          <p:cNvPr id="151" name="Oval 150"/>
          <p:cNvSpPr/>
          <p:nvPr/>
        </p:nvSpPr>
        <p:spPr>
          <a:xfrm>
            <a:off x="8723376" y="515264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805672" y="512064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54780"/>
                </a:solidFill>
                <a:latin typeface="Segoe UI"/>
              </a:rPr>
              <a:t>HONMAMON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723376" y="523951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5 490 грн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723376" y="537667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Sekator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076688" y="4300728"/>
            <a:ext cx="1243584" cy="792479"/>
          </a:xfrm>
          <a:prstGeom prst="rect">
            <a:avLst/>
          </a:prstGeom>
          <a:solidFill>
            <a:srgbClr val="FFFFFF"/>
          </a:solidFill>
          <a:ln w="635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Picture 155" descr="p_ee23ada01d2932d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13263" y="4328159"/>
            <a:ext cx="1170431" cy="737615"/>
          </a:xfrm>
          <a:prstGeom prst="rect">
            <a:avLst/>
          </a:prstGeom>
        </p:spPr>
      </p:pic>
      <p:sp>
        <p:nvSpPr>
          <p:cNvPr id="157" name="Oval 156"/>
          <p:cNvSpPr/>
          <p:nvPr/>
        </p:nvSpPr>
        <p:spPr>
          <a:xfrm>
            <a:off x="10076688" y="5152644"/>
            <a:ext cx="50292" cy="50292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158984" y="5120640"/>
            <a:ext cx="114299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554780"/>
                </a:solidFill>
                <a:latin typeface="Segoe UI"/>
              </a:rPr>
              <a:t>Sakai Takayuki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076688" y="5239512"/>
            <a:ext cx="1225295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51A26"/>
                </a:solidFill>
                <a:latin typeface="Georgia"/>
              </a:rPr>
              <a:t>7 460 грн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076688" y="5376672"/>
            <a:ext cx="12252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03504" y="5724144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Позиції, які не потрапили в жодну з трьох груп (слайсери, хлібні, бунка, фунаюкі, набори), становлять решту каталогу. Джерело: картки товарів українських магазинів, жовтень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Ц І Н О В И Й   К О Р И Д О Р   Б Р Е Н Д І 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Де кожен бренд стоїть на ціновій шкалі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Смуга — спостережений діапазон цін бренду, крапка — медіана. Лише ножі японського виробництва. У вибірці — бренди, де зібрано не менше двох позицій.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3862" y="1755648"/>
            <a:ext cx="5486" cy="40782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390" y="157276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1 000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90705" y="1755648"/>
            <a:ext cx="5486" cy="40782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3233" y="157276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2 500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4059" y="1755648"/>
            <a:ext cx="5486" cy="40782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6587" y="157276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5 000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97412" y="1755648"/>
            <a:ext cx="5486" cy="40782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9940" y="157276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10 000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50766" y="1755648"/>
            <a:ext cx="5486" cy="40782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294" y="157276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20 000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20" y="1755648"/>
            <a:ext cx="5486" cy="4078224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8" y="157276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40 000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783080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Seki Kanetsugu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57984" y="1783080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15689" y="1842516"/>
            <a:ext cx="4777173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15689" y="1842516"/>
            <a:ext cx="4777173" cy="5029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50052" y="1796796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0" y="1783080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990 – 13 900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1991563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2A7F86"/>
                </a:solidFill>
                <a:latin typeface="Segoe UI"/>
              </a:rPr>
              <a:t>Satake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57984" y="1991563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85007" y="2050999"/>
            <a:ext cx="1794080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85007" y="2050999"/>
            <a:ext cx="1794080" cy="5029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38001" y="2005279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1991563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1 149 – 3 099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200046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554780"/>
                </a:solidFill>
                <a:latin typeface="Segoe UI"/>
              </a:rPr>
              <a:t>Takanori Izumi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57984" y="2200046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9042" y="2259482"/>
            <a:ext cx="798925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69042" y="2259482"/>
            <a:ext cx="798925" cy="5029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52655" y="2213762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80" y="2200046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1 980 – 3 080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2408529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554780"/>
                </a:solidFill>
                <a:latin typeface="Segoe UI"/>
              </a:rPr>
              <a:t>Motokane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57984" y="2408529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59556" y="2467965"/>
            <a:ext cx="2166315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59556" y="2467965"/>
            <a:ext cx="2166315" cy="5029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189939" y="2422245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41280" y="2408529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2 200 – 7 290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261701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2A7F86"/>
                </a:solidFill>
                <a:latin typeface="Segoe UI"/>
              </a:rPr>
              <a:t>Hanakumagawa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57984" y="2617012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09340" y="2676448"/>
            <a:ext cx="330935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09340" y="2676448"/>
            <a:ext cx="330935" cy="5029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2581" y="2630728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41280" y="2617012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2 390 – 2 870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2825496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2A7F86"/>
                </a:solidFill>
                <a:latin typeface="Segoe UI"/>
              </a:rPr>
              <a:t>Masahiro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57984" y="2825496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16890" y="2884932"/>
            <a:ext cx="1804912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16890" y="2884932"/>
            <a:ext cx="1804912" cy="5029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62540" y="2839212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41280" y="2825496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2 400 – 6 512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3033979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554780"/>
                </a:solidFill>
                <a:latin typeface="Segoe UI"/>
              </a:rPr>
              <a:t>Tomita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57984" y="3033979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45535" y="3093415"/>
            <a:ext cx="1300538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45535" y="3093415"/>
            <a:ext cx="1300538" cy="5029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60649" y="3047695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41280" y="3033979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3 215 – 6 600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24246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554780"/>
                </a:solidFill>
                <a:latin typeface="Segoe UI"/>
              </a:rPr>
              <a:t>Fukamizu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57984" y="3242462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79899" y="3301898"/>
            <a:ext cx="609082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679899" y="3301898"/>
            <a:ext cx="609082" cy="5029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97172" y="3256178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41280" y="3242462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3 463 – 4 850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3450945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554780"/>
                </a:solidFill>
                <a:latin typeface="Segoe UI"/>
              </a:rPr>
              <a:t>Misono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57984" y="3450945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382679" y="3510381"/>
            <a:ext cx="1957759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382679" y="3510381"/>
            <a:ext cx="1957759" cy="5029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03863" y="3464661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241280" y="3450945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1 690 – 4 990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659428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Tosa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57984" y="3659428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n=22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54512" y="3718864"/>
            <a:ext cx="2049218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554512" y="3718864"/>
            <a:ext cx="2049218" cy="5029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421354" y="3673144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241280" y="3659428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3 231 – 10 035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3867912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HONMAMON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57984" y="3867912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n=24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39367" y="3927348"/>
            <a:ext cx="4840320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339367" y="3927348"/>
            <a:ext cx="4840320" cy="5029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634142" y="3881628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41280" y="3867912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1 650 – 23 990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4076395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Tojiro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57984" y="4076395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n=39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90720" y="4135831"/>
            <a:ext cx="3012088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490720" y="4135831"/>
            <a:ext cx="3012088" cy="5029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25093" y="4090111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241280" y="4076395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3 119 – 16 499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4284878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Kasumi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57984" y="4284878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n=19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79060" y="4344314"/>
            <a:ext cx="2727637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679060" y="4344314"/>
            <a:ext cx="2727637" cy="5029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889614" y="4298594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41280" y="4284878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1 991 – 8 999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4493361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554780"/>
                </a:solidFill>
                <a:latin typeface="Segoe UI"/>
              </a:rPr>
              <a:t>Sakai Takayuki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57984" y="4493361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67554" y="4552797"/>
            <a:ext cx="45720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067554" y="4552797"/>
            <a:ext cx="45720" cy="5029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7074090" y="4507077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41280" y="4493361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7 460 – 7 640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66928" y="4701844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Yaxell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57984" y="4701844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n=37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215556" y="4761280"/>
            <a:ext cx="3826015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215556" y="4761280"/>
            <a:ext cx="3826015" cy="5029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12494" y="4715560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41280" y="4701844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4 657 – 38 640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4910328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2A7F86"/>
                </a:solidFill>
                <a:latin typeface="Segoe UI"/>
              </a:rPr>
              <a:t>Takamura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57984" y="4910328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56231" y="4969764"/>
            <a:ext cx="1469348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56231" y="4969764"/>
            <a:ext cx="1469348" cy="50292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245569" y="4924044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241280" y="4910328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5 320 – 11 990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6928" y="5118811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KAI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157984" y="5118811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n=40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854864" y="5178247"/>
            <a:ext cx="6602374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854864" y="5178247"/>
            <a:ext cx="6602374" cy="5029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290219" y="5132527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241280" y="5118811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726 – 27 970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" y="5327294"/>
            <a:ext cx="1554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554780"/>
                </a:solidFill>
                <a:latin typeface="Segoe UI"/>
              </a:rPr>
              <a:t>Harukaze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157984" y="5327294"/>
            <a:ext cx="5669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n=2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849862" y="5386730"/>
            <a:ext cx="542885" cy="5029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849862" y="5386730"/>
            <a:ext cx="542885" cy="50292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356171" y="5341010"/>
            <a:ext cx="73152" cy="141732"/>
          </a:xfrm>
          <a:prstGeom prst="rect">
            <a:avLst/>
          </a:prstGeom>
          <a:solidFill>
            <a:srgbClr val="15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241280" y="5327294"/>
            <a:ext cx="13898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0">
                <a:solidFill>
                  <a:srgbClr val="1B253F"/>
                </a:solidFill>
                <a:latin typeface="Segoe UI"/>
              </a:rPr>
              <a:t>19 990 – 26 990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66928" y="5907024"/>
            <a:ext cx="5413248" cy="844905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66928" y="5907024"/>
            <a:ext cx="36576" cy="844905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04672" y="606247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ХТО ДЕ СТОЇТЬ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04672" y="6291072"/>
            <a:ext cx="4937760" cy="314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Серед японського виробництва медіану нижче 2 500 грн мають лише Seki Kanetsugu,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Satake, Takanori Izumi і Hanakumagawa. Найвищі медіани: KAI, Takamura, Yaxell.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217920" y="5907024"/>
            <a:ext cx="5413248" cy="844905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217920" y="5907024"/>
            <a:ext cx="36576" cy="844905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55664" y="6062472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ДЕ КОРИДОРИ ПЕРЕТИНАЮТЬСЯ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55664" y="6291072"/>
            <a:ext cx="4937760" cy="314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У зоні 5 000 – 12 000 грн лежать коридори щонайменше восьми брендів одразу.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Новий бренд заходить не в порожнечу, а в найгустішу частину шкали.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Е Р Е П И С   ·   З Р О Б Л Е Н О   В   Я П О Н І 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Georgia"/>
              </a:rPr>
              <a:t>П'ятдесят чотири перевірені бренди, і полиці немає в жодного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Кожна марка перевірена на країну виробництва. Позначка JP означає підтверджене японське виробництво, її колір — чим саме підтверджене.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536192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1536192"/>
            <a:ext cx="1408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1536192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РЕГІОН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1536192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15361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SKU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53619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ЦІНИ, ГРН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1682496"/>
            <a:ext cx="3602736" cy="1097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064" y="1717243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173736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173736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KAI / Shun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1136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98064" y="1748332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98064" y="175747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173736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173736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726 – 27 970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91841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191841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Yaxell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1136" y="191841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98064" y="1929384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98064" y="1938527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191841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191841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1 199 – 70 102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" y="207934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2099462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209946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Suncraft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31136" y="209946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98064" y="2110435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98064" y="2119579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2099462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97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2099462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1 199 – 18 999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228051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" y="228051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Tojiro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31136" y="228051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98064" y="2291486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98064" y="2300630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228051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81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228051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599 – 16 499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2064" y="2441448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246156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" y="246156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Satake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31136" y="246156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98064" y="2472537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98064" y="2481681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0" y="246156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64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0" y="246156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849 – 16 999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2642615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" y="2642615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Kanetsune Seki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31136" y="2642615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798064" y="2653588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98064" y="2662732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08960" y="264261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38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74720" y="2642615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150 – 16 360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2064" y="2803550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2823667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" y="2823667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Tosa / Tosauchi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31136" y="2823667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2A7F86"/>
                </a:solidFill>
                <a:latin typeface="Segoe UI"/>
              </a:rPr>
              <a:t>Тоса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98064" y="2834639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98064" y="2843783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08960" y="2823667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4720" y="2823667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2 929 – 10 035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3004718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6384" y="3004718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Miyabi (Zwilling)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31136" y="300471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798064" y="3015691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98064" y="3024835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08960" y="3004718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27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0" y="300471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5 900 – 43 020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2064" y="3165652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6928" y="3185769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" y="3185769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Seki Kanetsugu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31136" y="3185769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798064" y="3196742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98064" y="320588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08960" y="318576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24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74720" y="3185769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990 – 15 390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336682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86384" y="336682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Kasumi / Sumikama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31136" y="336682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798064" y="3377793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98064" y="3386937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08960" y="336682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21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74720" y="336682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1 180 – 15 229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2064" y="352775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66928" y="354787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6384" y="354787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Mcusta Zanmai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31136" y="354787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798064" y="3558844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798064" y="3567988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108960" y="354787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74720" y="354787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7 960 – 24 767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372892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6384" y="372892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Yoshihiro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31136" y="372892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798064" y="3739895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98064" y="3749039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08960" y="372892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74720" y="372892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3 609 – 6 747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12064" y="3889857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6928" y="390997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86384" y="390997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Takeshi Saji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31136" y="390997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A84A6B"/>
                </a:solidFill>
                <a:latin typeface="Segoe UI"/>
              </a:rPr>
              <a:t>Ечідзен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798064" y="3920947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798064" y="3930091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108960" y="390997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474720" y="390997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21 684 – 60 125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6928" y="4091025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6384" y="4091025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Masahiro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31136" y="4091025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798064" y="4101998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798064" y="4111142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108960" y="409102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74720" y="4091025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2 400 – 4 100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2064" y="4251960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66928" y="4272076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86384" y="4272076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Takamura Hamono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231136" y="4272076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A84A6B"/>
                </a:solidFill>
                <a:latin typeface="Segoe UI"/>
              </a:rPr>
              <a:t>Ечідзен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798064" y="4283049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798064" y="4292193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108960" y="4272076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474720" y="4272076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5 320 – 11 990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6928" y="4453128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86384" y="4453128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Fuji Cutlery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231136" y="445312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798064" y="4464100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798064" y="4473244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108960" y="4453128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7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74720" y="445312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1 190 – 2 850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12064" y="4614062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66928" y="4634179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86384" y="4634179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Tamahagane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231136" y="4634179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798064" y="4645152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798064" y="465429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108960" y="463417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474720" y="4634179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7 242 – 15 873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66928" y="481523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86384" y="481523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Fukamizu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231136" y="481523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2A7F86"/>
                </a:solidFill>
                <a:latin typeface="Segoe UI"/>
              </a:rPr>
              <a:t>Тоса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798064" y="4826203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798064" y="4835347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108960" y="481523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474720" y="481523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2 610 – 4 850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12064" y="4976164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66928" y="499628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19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86384" y="499628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Takanori Izumi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231136" y="499628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2798064" y="5007254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798064" y="5016398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108960" y="499628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5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474720" y="499628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1 980 – 3 080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177332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20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86384" y="517733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Tomita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231136" y="517733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2798064" y="5188305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798064" y="5197449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108960" y="5177332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474720" y="5177332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3 215 – 6 600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12064" y="5338267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66928" y="535838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86384" y="535838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Myojin (Naohito)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231136" y="535838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2798064" y="5369356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798064" y="5378500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108960" y="535838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4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474720" y="535838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13 200 – 17 450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306824" y="1536192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№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526280" y="1536192"/>
            <a:ext cx="1408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971032" y="1536192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РЕГІОН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537960" y="1536192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JP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848856" y="15361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SKU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214616" y="153619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ЦІНИ, ГРН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4306824" y="1682496"/>
            <a:ext cx="3602736" cy="1097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251960" y="1717243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4306824" y="173736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22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526280" y="173736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Shigeki Tanaka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971032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537960" y="1748332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537960" y="175747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848856" y="173736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214616" y="173736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5 203 – 19 990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306824" y="191841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526280" y="191841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Motokane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971032" y="191841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2A7F86"/>
                </a:solidFill>
                <a:latin typeface="Segoe UI"/>
              </a:rPr>
              <a:t>Тоса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6537960" y="1929384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537960" y="1938527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848856" y="191841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3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214616" y="191841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2 090 – 2 695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4251960" y="207934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4306824" y="2099462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24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526280" y="209946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Seto Iseya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971032" y="209946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537960" y="2110435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537960" y="2119579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48856" y="2099462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3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7214616" y="2099462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5 500 – 6 550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306824" y="228051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25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526280" y="228051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Hanakumagawa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971032" y="228051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6537960" y="2291486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6537960" y="2300630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848856" y="228051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214616" y="228051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2 390 – 2 790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4251960" y="2441448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4306824" y="246156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526280" y="246156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Harukaze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971032" y="246156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6537960" y="2472537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6537960" y="2481681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848856" y="246156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214616" y="246156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19 990 – 26 990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306824" y="2642615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27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526280" y="2642615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Misono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971032" y="2642615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6537960" y="2653588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537960" y="2662732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848856" y="264261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214616" y="2642615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1 690 – 4 990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4251960" y="2803550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4306824" y="2823667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28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526280" y="2823667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Nigara Hamono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971032" y="2823667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B42E3A"/>
                </a:solidFill>
                <a:latin typeface="Segoe UI"/>
              </a:rPr>
              <a:t>Хіросакі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537960" y="2834639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6537960" y="2843783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848856" y="2823667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214616" y="2823667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14 800 – 16 740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306824" y="3004718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B42E3A"/>
                </a:solidFill>
                <a:latin typeface="Segoe UI"/>
              </a:rPr>
              <a:t>29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526280" y="3004718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B42E3A"/>
                </a:solidFill>
                <a:latin typeface="Segoe UI"/>
              </a:rPr>
              <a:t>Sakai Takayuki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971032" y="300471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6537960" y="3015691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537960" y="3024835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848856" y="3004718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B42E3A"/>
                </a:solidFill>
                <a:latin typeface="Segoe UI"/>
              </a:rPr>
              <a:t>2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214616" y="300471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7 460 – 7 640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4251960" y="3165652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4306824" y="3185769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526280" y="3185769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Shimomura Kihan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5971032" y="3185769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6537960" y="3196742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537960" y="320588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848856" y="318576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7214616" y="3185769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6 140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306824" y="336682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31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526280" y="336682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Teruhide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5971032" y="336682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6537960" y="3377793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537960" y="3386937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848856" y="336682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2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214616" y="336682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8 000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4251960" y="352775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4306824" y="354787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32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526280" y="354787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Anryu Hamono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5971032" y="354787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A84A6B"/>
                </a:solidFill>
                <a:latin typeface="Segoe UI"/>
              </a:rPr>
              <a:t>Ечідзен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6537960" y="3558844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537960" y="3567988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6848856" y="354787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7214616" y="354787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н/д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4306824" y="372892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33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4526280" y="372892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Etsu / Ittetsu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71032" y="372892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A84A6B"/>
                </a:solidFill>
                <a:latin typeface="Segoe UI"/>
              </a:rPr>
              <a:t>Ечідзен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6537960" y="3739895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6537960" y="3749039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848856" y="372892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7214616" y="372892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16 677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4251960" y="3889857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4306824" y="390997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34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4526280" y="390997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Gyokucho / Kamisaku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5971032" y="390997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A84A6B"/>
                </a:solidFill>
                <a:latin typeface="Segoe UI"/>
              </a:rPr>
              <a:t>Ечідзен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6537960" y="3920947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6537960" y="3930091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6848856" y="390997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7214616" y="390997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7 300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4306824" y="4091025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35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4526280" y="4091025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Hatsukokoro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5971032" y="4091025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6537960" y="4101998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537960" y="4111142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848856" y="409102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214616" y="4091025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13 865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4251960" y="4251960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4306824" y="4272076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36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4526280" y="4272076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Higonokami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971032" y="4272076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6537960" y="4283049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6537960" y="4292193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6848856" y="4272076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214616" y="4272076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2 090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4306824" y="4453128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37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4526280" y="4453128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Hisashige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971032" y="445312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6537960" y="4464100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6537960" y="4473244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6848856" y="4453128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7214616" y="445312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3 520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251960" y="4614062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4306824" y="4634179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38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4526280" y="4634179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JCK Natures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5971032" y="4634179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6537960" y="4645152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6537960" y="465429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848856" y="463417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7214616" y="4634179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12 220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4306824" y="481523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39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4526280" y="481523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KAI Sekimagoroku Imayo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5971032" y="481523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6537960" y="4826203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6537960" y="4835347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6848856" y="481523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7214616" y="481523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2 700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251960" y="4976164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4306824" y="499628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40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4526280" y="499628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Kanetaka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5971032" y="499628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25" name="Rounded Rectangle 324"/>
          <p:cNvSpPr/>
          <p:nvPr/>
        </p:nvSpPr>
        <p:spPr>
          <a:xfrm>
            <a:off x="6537960" y="5007254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6537960" y="5016398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6848856" y="499628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7214616" y="499628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3 520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4306824" y="5177332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41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526280" y="517733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Kazuhira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5971032" y="517733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6537960" y="5188305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6537960" y="5197449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6848856" y="5177332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7214616" y="5177332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н/д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4251960" y="5338267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4306824" y="535838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526280" y="535838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Kiyokane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71032" y="535838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2A7F86"/>
                </a:solidFill>
                <a:latin typeface="Segoe UI"/>
              </a:rPr>
              <a:t>Тоса</a:t>
            </a:r>
          </a:p>
        </p:txBody>
      </p:sp>
      <p:sp>
        <p:nvSpPr>
          <p:cNvPr id="340" name="Rounded Rectangle 339"/>
          <p:cNvSpPr/>
          <p:nvPr/>
        </p:nvSpPr>
        <p:spPr>
          <a:xfrm>
            <a:off x="6537960" y="5369356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6537960" y="5378500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6848856" y="535838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214616" y="535838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4 590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8046719" y="1536192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№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8266175" y="1536192"/>
            <a:ext cx="140817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БРЕНД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9710928" y="1536192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РЕГІОН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0277855" y="1536192"/>
            <a:ext cx="29260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JP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0588751" y="1536192"/>
            <a:ext cx="3474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SKU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954511" y="1536192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6B7282"/>
                </a:solidFill>
                <a:latin typeface="Segoe UI"/>
              </a:rPr>
              <a:t>ЦІНИ, ГРН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8046719" y="1682496"/>
            <a:ext cx="3602736" cy="10972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7991855" y="1717243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046719" y="173736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43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8266175" y="173736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Mikihisa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9710928" y="173736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55" name="Rounded Rectangle 354"/>
          <p:cNvSpPr/>
          <p:nvPr/>
        </p:nvSpPr>
        <p:spPr>
          <a:xfrm>
            <a:off x="10277855" y="1748332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10277855" y="175747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0588751" y="173736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10954511" y="173736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н/д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8046719" y="191841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44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8266175" y="191841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Sakai Haruhiko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9710928" y="191841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362" name="Rounded Rectangle 361"/>
          <p:cNvSpPr/>
          <p:nvPr/>
        </p:nvSpPr>
        <p:spPr>
          <a:xfrm>
            <a:off x="10277855" y="1929384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0277855" y="1938527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0588751" y="191841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0954511" y="191841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7 040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7991855" y="207934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8046719" y="2099462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45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8266175" y="2099462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Sakai Ichiji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9710928" y="2099462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370" name="Rounded Rectangle 369"/>
          <p:cNvSpPr/>
          <p:nvPr/>
        </p:nvSpPr>
        <p:spPr>
          <a:xfrm>
            <a:off x="10277855" y="2110435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TextBox 370"/>
          <p:cNvSpPr txBox="1"/>
          <p:nvPr/>
        </p:nvSpPr>
        <p:spPr>
          <a:xfrm>
            <a:off x="10277855" y="2119579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0588751" y="2099462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0954511" y="2099462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1 999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8046719" y="228051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46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8266175" y="228051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Satake Masamune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9710928" y="228051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377" name="Rounded Rectangle 376"/>
          <p:cNvSpPr/>
          <p:nvPr/>
        </p:nvSpPr>
        <p:spPr>
          <a:xfrm>
            <a:off x="10277855" y="2291486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10277855" y="2300630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0588751" y="228051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0954511" y="228051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н/д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7991855" y="2441448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8046719" y="2461564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47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8266175" y="2461564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Shigehiro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9710928" y="2461564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Японія</a:t>
            </a:r>
          </a:p>
        </p:txBody>
      </p:sp>
      <p:sp>
        <p:nvSpPr>
          <p:cNvPr id="385" name="Rounded Rectangle 384"/>
          <p:cNvSpPr/>
          <p:nvPr/>
        </p:nvSpPr>
        <p:spPr>
          <a:xfrm>
            <a:off x="10277855" y="2472537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10277855" y="2481681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0588751" y="2461564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0954511" y="2461564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8 490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8046719" y="2642615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48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8266175" y="2642615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Tadafusa / Ohishi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9710928" y="2642615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392" name="Rounded Rectangle 391"/>
          <p:cNvSpPr/>
          <p:nvPr/>
        </p:nvSpPr>
        <p:spPr>
          <a:xfrm>
            <a:off x="10277855" y="2653588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10277855" y="2662732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0588751" y="2642615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10954511" y="2642615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5 891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7991855" y="2803550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8046719" y="2823667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49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8266175" y="2823667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Tsukasa (Hinoura)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9710928" y="2823667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400" name="Rounded Rectangle 399"/>
          <p:cNvSpPr/>
          <p:nvPr/>
        </p:nvSpPr>
        <p:spPr>
          <a:xfrm>
            <a:off x="10277855" y="2834639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10277855" y="2843783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0588751" y="2823667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0954511" y="2823667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9 900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8046719" y="3004718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50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8266175" y="3004718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Yamawaki Hamono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9710928" y="3004718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407" name="Rounded Rectangle 406"/>
          <p:cNvSpPr/>
          <p:nvPr/>
        </p:nvSpPr>
        <p:spPr>
          <a:xfrm>
            <a:off x="10277855" y="3015691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10277855" y="3024835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0588751" y="3004718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1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0954511" y="3004718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3 528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7991855" y="3165652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8046719" y="3185769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51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8266175" y="3185769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Global (Yoshikin)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9710928" y="3185769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3A7D5A"/>
                </a:solidFill>
                <a:latin typeface="Segoe UI"/>
              </a:rPr>
              <a:t>Цубаме-Са</a:t>
            </a:r>
          </a:p>
        </p:txBody>
      </p:sp>
      <p:sp>
        <p:nvSpPr>
          <p:cNvPr id="415" name="Rounded Rectangle 414"/>
          <p:cNvSpPr/>
          <p:nvPr/>
        </p:nvSpPr>
        <p:spPr>
          <a:xfrm>
            <a:off x="10277855" y="3196742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10277855" y="320588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0588751" y="3185769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н/д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10954511" y="3185769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2 618 – 13 195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8046719" y="3366820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8266175" y="3366820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HONMAMON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9710928" y="3366820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2A7F86"/>
                </a:solidFill>
                <a:latin typeface="Segoe UI"/>
              </a:rPr>
              <a:t>Тоса</a:t>
            </a:r>
          </a:p>
        </p:txBody>
      </p:sp>
      <p:sp>
        <p:nvSpPr>
          <p:cNvPr id="422" name="Rounded Rectangle 421"/>
          <p:cNvSpPr/>
          <p:nvPr/>
        </p:nvSpPr>
        <p:spPr>
          <a:xfrm>
            <a:off x="10277855" y="3377793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10277855" y="3386937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0588751" y="3366820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н/д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0954511" y="3366820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н/д</a:t>
            </a:r>
          </a:p>
        </p:txBody>
      </p:sp>
      <p:sp>
        <p:nvSpPr>
          <p:cNvPr id="426" name="Rectangle 425"/>
          <p:cNvSpPr/>
          <p:nvPr/>
        </p:nvSpPr>
        <p:spPr>
          <a:xfrm>
            <a:off x="7991855" y="3527755"/>
            <a:ext cx="3712463" cy="175564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8046719" y="3547871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53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8266175" y="3547871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Sekiryu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710928" y="3547871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966E28"/>
                </a:solidFill>
                <a:latin typeface="Segoe UI"/>
              </a:rPr>
              <a:t>Секі</a:t>
            </a:r>
          </a:p>
        </p:txBody>
      </p:sp>
      <p:sp>
        <p:nvSpPr>
          <p:cNvPr id="430" name="Rounded Rectangle 429"/>
          <p:cNvSpPr/>
          <p:nvPr/>
        </p:nvSpPr>
        <p:spPr>
          <a:xfrm>
            <a:off x="10277855" y="3558844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0277855" y="3567988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10588751" y="3547871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н/д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954511" y="3547871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1 107 – 1 638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8046719" y="3728923"/>
            <a:ext cx="21945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9AA2B4"/>
                </a:solidFill>
                <a:latin typeface="Segoe UI"/>
              </a:rPr>
              <a:t>54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266175" y="3728923"/>
            <a:ext cx="142646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51A26"/>
                </a:solidFill>
                <a:latin typeface="Segoe UI"/>
              </a:rPr>
              <a:t>Suisin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9710928" y="3728923"/>
            <a:ext cx="5486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554780"/>
                </a:solidFill>
                <a:latin typeface="Segoe UI"/>
              </a:rPr>
              <a:t>Сакаї</a:t>
            </a:r>
          </a:p>
        </p:txBody>
      </p:sp>
      <p:sp>
        <p:nvSpPr>
          <p:cNvPr id="437" name="Rounded Rectangle 436"/>
          <p:cNvSpPr/>
          <p:nvPr/>
        </p:nvSpPr>
        <p:spPr>
          <a:xfrm>
            <a:off x="10277855" y="3739895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10277855" y="3749039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0588751" y="3728923"/>
            <a:ext cx="347472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640" b="1">
                <a:solidFill>
                  <a:srgbClr val="1B253F"/>
                </a:solidFill>
                <a:latin typeface="Segoe UI"/>
              </a:rPr>
              <a:t>н/д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10954511" y="3728923"/>
            <a:ext cx="694944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60" b="0">
                <a:solidFill>
                  <a:srgbClr val="6B7282"/>
                </a:solidFill>
                <a:latin typeface="Segoe UI"/>
              </a:rPr>
              <a:t>н/д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566928" y="5650992"/>
            <a:ext cx="6400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88A3D"/>
                </a:solidFill>
                <a:latin typeface="Segoe UI"/>
              </a:rPr>
              <a:t>ПОЗНАЧКА JP БІЛЯ КОЖНОГО ВИРОБНИКА — ЯК САМЕ ПІДТВЕРДЖЕНО ЯПОНСЬКЕ ПОХОДЖЕННЯ</a:t>
            </a:r>
          </a:p>
        </p:txBody>
      </p:sp>
      <p:sp>
        <p:nvSpPr>
          <p:cNvPr id="442" name="Rounded Rectangle 441"/>
          <p:cNvSpPr/>
          <p:nvPr/>
        </p:nvSpPr>
        <p:spPr>
          <a:xfrm>
            <a:off x="566928" y="5833872"/>
            <a:ext cx="4187952" cy="73152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566928" y="5833872"/>
            <a:ext cx="36576" cy="731520"/>
          </a:xfrm>
          <a:prstGeom prst="rect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ounded Rectangle 443"/>
          <p:cNvSpPr/>
          <p:nvPr/>
        </p:nvSpPr>
        <p:spPr>
          <a:xfrm>
            <a:off x="731520" y="5934456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TextBox 444"/>
          <p:cNvSpPr txBox="1"/>
          <p:nvPr/>
        </p:nvSpPr>
        <p:spPr>
          <a:xfrm>
            <a:off x="731520" y="5943600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1078992" y="5907024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3A7D5A"/>
                </a:solidFill>
                <a:latin typeface="Segoe UI"/>
              </a:rPr>
              <a:t>ЗАВОД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2395728" y="5907024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30 брендів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731520" y="6108192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Виробника і завод встановлено
за джерелами самого виробника</a:t>
            </a:r>
          </a:p>
        </p:txBody>
      </p:sp>
      <p:sp>
        <p:nvSpPr>
          <p:cNvPr id="449" name="Rounded Rectangle 448"/>
          <p:cNvSpPr/>
          <p:nvPr/>
        </p:nvSpPr>
        <p:spPr>
          <a:xfrm>
            <a:off x="4864608" y="5833872"/>
            <a:ext cx="4187952" cy="73152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4864608" y="5833872"/>
            <a:ext cx="36576" cy="731520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ounded Rectangle 450"/>
          <p:cNvSpPr/>
          <p:nvPr/>
        </p:nvSpPr>
        <p:spPr>
          <a:xfrm>
            <a:off x="5029200" y="5934456"/>
            <a:ext cx="274320" cy="107899"/>
          </a:xfrm>
          <a:prstGeom prst="roundRect">
            <a:avLst>
              <a:gd name="adj" fmla="val 34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5029200" y="5943600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" b="1">
                <a:solidFill>
                  <a:srgbClr val="FFFFFF"/>
                </a:solidFill>
                <a:latin typeface="Segoe UI"/>
              </a:rPr>
              <a:t>JP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5376672" y="5907024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КАРТКА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6693408" y="5907024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24 бренди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5029200" y="6108192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20" b="0">
                <a:solidFill>
                  <a:srgbClr val="6B7282"/>
                </a:solidFill>
                <a:latin typeface="Segoe UI"/>
              </a:rPr>
              <a:t>Походження підтверджене карткою продавця
або профільним торговим каталогом</a:t>
            </a:r>
          </a:p>
        </p:txBody>
      </p:sp>
      <p:sp>
        <p:nvSpPr>
          <p:cNvPr id="456" name="Rounded Rectangle 455"/>
          <p:cNvSpPr/>
          <p:nvPr/>
        </p:nvSpPr>
        <p:spPr>
          <a:xfrm>
            <a:off x="9162288" y="5833872"/>
            <a:ext cx="2468880" cy="73152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9162288" y="5833872"/>
            <a:ext cx="36576" cy="73152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9326880" y="5888736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НЕ ПРОЙШЛИ ПЕРЕВІРКУ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9326880" y="6053328"/>
            <a:ext cx="22311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Kyocera, Hattori, Ittosai, Aritsugu, Sakon Shiraume,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Samura, Chang Keng, Satori · Takagi · TURWHO,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580" b="0">
                <a:solidFill>
                  <a:srgbClr val="6B7282"/>
                </a:solidFill>
                <a:latin typeface="Segoe UI"/>
              </a:rPr>
              <a:t>Inoguchi, S.K.K., Jikko, Kaneyoshi, Hokiyama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603504" y="6556248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У переписі лише марки з підтвердженим японським виробництвом. SKU — позиції в публічних каталогах, жовтень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К А Н А Л И   З Б У Т 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П'ять каналів, і японська глибина лише в одному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Де в Україні фізично можна купити ніж японського виробництва, із глибиною асортименту й цінами жовтня 2026.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554480"/>
            <a:ext cx="18745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КАНАЛ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1554480"/>
            <a:ext cx="3063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ХТО ЦЕ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1554480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ЯПОН. 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554480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ЦІНИ,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1554480"/>
            <a:ext cx="36118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ЩО ЦЕ ЗА КАНАЛ ДЛЯ ПОСТАЧАЛЬНИКА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" y="1719072"/>
            <a:ext cx="11210544" cy="566928"/>
          </a:xfrm>
          <a:prstGeom prst="roundRect">
            <a:avLst>
              <a:gd name="adj" fmla="val 14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1810512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B88A3D"/>
                </a:solidFill>
                <a:latin typeface="Segoe UI"/>
              </a:rPr>
              <a:t>Спеціалізований онлайн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1773936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ProfiMax, ROKS, WildCat, Sekator, Volod,
rezat, japan-knife, Hangiri, vodospad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1847088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B88A3D"/>
                </a:solidFill>
                <a:latin typeface="Segoe UI"/>
              </a:rPr>
              <a:t>≈ 1 000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1847088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151A26"/>
                </a:solidFill>
                <a:latin typeface="Segoe UI"/>
              </a:rPr>
              <a:t>217 – 38 640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1773936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Уся глибина країни. Малий обіг, висока компетенція.
Єдиний канал, що тримає склад японських марок.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432304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2A7F86"/>
                </a:solidFill>
                <a:latin typeface="Segoe UI"/>
              </a:rPr>
              <a:t>Великий формат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2395728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Епіцентр: 4 950 ножів,
з них японських 133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2468880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2A7F86"/>
                </a:solidFill>
                <a:latin typeface="Segoe UI"/>
              </a:rPr>
              <a:t>133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468880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151A26"/>
                </a:solidFill>
                <a:latin typeface="Segoe UI"/>
              </a:rPr>
              <a:t>2 787 – 11 271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239572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Єдиний офлайн-масштаб. Suncraft із 97 SKU доводить,
що бар'єр не в мережі й не в покупцеві.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" y="2962656"/>
            <a:ext cx="11210544" cy="566928"/>
          </a:xfrm>
          <a:prstGeom prst="roundRect">
            <a:avLst>
              <a:gd name="adj" fmla="val 14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054096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A84A6B"/>
                </a:solidFill>
                <a:latin typeface="Segoe UI"/>
              </a:rPr>
              <a:t>Монобрендові імпортери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41448" y="3017520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yaxell.com.ua, zwilling.in.ua (Miyabi),
lacocotte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3090672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A84A6B"/>
                </a:solidFill>
                <a:latin typeface="Segoe UI"/>
              </a:rPr>
              <a:t>≈ 130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3090672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151A26"/>
                </a:solidFill>
                <a:latin typeface="Segoe UI"/>
              </a:rPr>
              <a:t>2 145 – 70 102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301752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Топові слоти вже зайняті ексклюзивами.
Для нового бренду вхід закритий.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675888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B42E3A"/>
                </a:solidFill>
                <a:latin typeface="Segoe UI"/>
              </a:rPr>
              <a:t>Маркетплейси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41448" y="3639312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Rozetka, Prom, Kasta, Bigl, Shafa.
Дропшип-вітрини без складу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4688" y="3712464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B42E3A"/>
                </a:solidFill>
                <a:latin typeface="Segoe UI"/>
              </a:rPr>
              <a:t>н/д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3712464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151A26"/>
                </a:solidFill>
                <a:latin typeface="Segoe UI"/>
              </a:rPr>
              <a:t>2 618 – 13 195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9288" y="3639312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Полиця без складу: транслює чужий каталог.
Присутність без продажів і без контролю ціни.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3776" y="4206240"/>
            <a:ext cx="11210544" cy="566928"/>
          </a:xfrm>
          <a:prstGeom prst="roundRect">
            <a:avLst>
              <a:gd name="adj" fmla="val 14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297680"/>
            <a:ext cx="1810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80" b="1">
                <a:solidFill>
                  <a:srgbClr val="B42E3A"/>
                </a:solidFill>
                <a:latin typeface="Segoe UI"/>
              </a:rPr>
              <a:t>Опт HoReCa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261104"/>
            <a:ext cx="299923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80" b="0">
                <a:solidFill>
                  <a:srgbClr val="6B7282"/>
                </a:solidFill>
                <a:latin typeface="Segoe UI"/>
              </a:rPr>
              <a:t>AL-Group (523 проф. ножі), LFood,
Gastro24, Profood, System4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4334256"/>
            <a:ext cx="8412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>
                <a:solidFill>
                  <a:srgbClr val="B42E3A"/>
                </a:solidFill>
                <a:latin typeface="Segoe UI"/>
              </a:rPr>
              <a:t>2 бренди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4334256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60" b="1">
                <a:solidFill>
                  <a:srgbClr val="151A26"/>
                </a:solidFill>
                <a:latin typeface="Segoe UI"/>
              </a:rPr>
              <a:t>5 740 – 13 290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8" y="4261104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90" b="0">
                <a:solidFill>
                  <a:srgbClr val="1B253F"/>
                </a:solidFill>
                <a:latin typeface="Segoe UI"/>
              </a:rPr>
              <a:t>Практично закритий: тримають європейські марки.
Шість структурних причин — у блоці нижче.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956048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42E3A"/>
                </a:solidFill>
                <a:latin typeface="Segoe UI"/>
              </a:rPr>
              <a:t>ЧОМУ ПРОФЕСІЙНА КУХНЯ НЕ КУПУЄ ЯПОНІЮ · ШІСТЬ ПРИЧИН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175504"/>
            <a:ext cx="3602736" cy="658368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5175504"/>
            <a:ext cx="36576" cy="658368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248656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ЕКОНОМІКА ВТРАТ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413248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Плинність кухарів 40–60 % на рік. Списати 8 000 грн
так само легко, як 500 грн, неможливо.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06824" y="5175504"/>
            <a:ext cx="3602736" cy="658368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06824" y="5175504"/>
            <a:ext cx="36576" cy="658368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1416" y="5248656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ГЕОМЕТРІЯ ПРОТИ ПРОДУКТУ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1416" y="5413248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60–64 HRC викришується на кістці й замороженому.
Європейський ніж 56 HRC гнеться, японський ламається.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19" y="5175504"/>
            <a:ext cx="3602736" cy="658368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046719" y="5175504"/>
            <a:ext cx="36576" cy="658368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11311" y="5248656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НЕМАЄ СЕРВІСУ ЗАТОЧЕННЯ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1" y="5413248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Правка на водних каменях кожні 2–3 дні.
Організованого ринку заточення в Україні немає.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5907024"/>
            <a:ext cx="3602736" cy="658368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6928" y="5907024"/>
            <a:ext cx="36576" cy="658368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5980176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ЛОГІСТИКА ЗАКУПІВЛІ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6144768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Ножі купують разом із посудом одним рахунком.
Японцю доведеться будувати окремий канал.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06824" y="5907024"/>
            <a:ext cx="3602736" cy="658368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06824" y="5907024"/>
            <a:ext cx="36576" cy="658368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71416" y="5980176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ОДНОСТОРОННЄ ЗАТОЧЕННЯ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1416" y="6144768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Вимагає навички, якої лінійний кухар не має
і вчити якої ніхто не буде.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19" y="5907024"/>
            <a:ext cx="3602736" cy="658368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46719" y="5907024"/>
            <a:ext cx="36576" cy="658368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11311" y="5980176"/>
            <a:ext cx="331012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B42E3A"/>
                </a:solidFill>
                <a:latin typeface="Segoe UI"/>
              </a:rPr>
              <a:t>ШЕФ КУПУЄ СОБІ САМ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11311" y="6144768"/>
            <a:ext cx="33467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650" b="0">
                <a:solidFill>
                  <a:srgbClr val="1B253F"/>
                </a:solidFill>
                <a:latin typeface="Segoe UI"/>
              </a:rPr>
              <a:t>Часто за кордоном, не через дистриб'ютора закладу.
Він референс, а не канал збуту.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3504" y="6583680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«Японські SKU» — оцінка за публічними каталогами. Жодну з шести причин не можна зняти засобами постачальника: HoReCa не є точкою входу, лише джерелом референсів для B2C.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О Т Е Н Ц І Й Н И Й   П О С Т А Ч А Л Ь Н И К   ·   1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Georgia"/>
              </a:rPr>
              <a:t>Sakai Takayuki: хто це і чому це інший клас задачі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Профіль кандидата у постачальники за даними виробника й незалежних каталогів. Усе, що нижче, — публічна інформація, не комерційна пропозиція.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517904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17904"/>
            <a:ext cx="270662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691639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З А С Н О В А Н 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1883664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966E28"/>
                </a:solidFill>
                <a:latin typeface="Georgia"/>
              </a:rPr>
              <a:t>1950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377439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Майстерня Aokі Hamono,
родина Аокі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1517904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856" y="1517904"/>
            <a:ext cx="2706624" cy="2560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1691639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Р Е Г І О 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1883664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2A7F86"/>
                </a:solidFill>
                <a:latin typeface="Georgia"/>
              </a:rPr>
              <a:t>Сакаї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377439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Осака. 600 років
ковальської традиції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1517904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1517904"/>
            <a:ext cx="2706624" cy="25603"/>
          </a:xfrm>
          <a:prstGeom prst="rect">
            <a:avLst/>
          </a:prstGeom>
          <a:solidFill>
            <a:srgbClr val="554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691639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С Е Р І Й   У   Л І Н І Й Ц 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883664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554780"/>
                </a:solidFill>
                <a:latin typeface="Georgia"/>
              </a:rPr>
              <a:t>50+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77439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За власним каталогом
виробника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1" y="1517904"/>
            <a:ext cx="2706624" cy="1097280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5711" y="1517904"/>
            <a:ext cx="2706624" cy="25603"/>
          </a:xfrm>
          <a:prstGeom prst="rect">
            <a:avLst/>
          </a:prstGeom>
          <a:solidFill>
            <a:srgbClr val="A8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7" y="1691639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Е К С П О Р 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1883664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A84A6B"/>
                </a:solidFill>
                <a:latin typeface="Georgia"/>
              </a:rPr>
              <a:t>100+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2377439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країн збуту
за заявою виробника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2761488"/>
            <a:ext cx="1106424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802636"/>
            <a:ext cx="60853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ЩО САМЕ ВИРОБЛЯЄ SAKAI TAKAYUKI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054096"/>
            <a:ext cx="21031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ГРУПА СТАЛІ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0048" y="3054096"/>
            <a:ext cx="3017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КОНКРЕТНО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3054096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ДЕ ЦЕ В ЦІНІ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054096"/>
            <a:ext cx="3657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ХТО ВЖЕ ТРИМАЄ ЦЮ ЗОНУ В УКРАЇНІ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3776" y="3232404"/>
            <a:ext cx="11210544" cy="260603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273552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Нержавіюча базова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0048" y="3273552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Hakugin INOX, молібден-ванадій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3273552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3 000 – 7 000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82127" y="3273552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Satake, Seki Kanetsugu, Tojiro Basic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543300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VG-10 і дамаск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70048" y="3543300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17 / 33 / 45 шарів, Grand Chef SP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87568" y="3543300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7 000 – 16 000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3543300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Tojiro DP, Kasumi, KAI Shun, Yaxell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3776" y="3771900"/>
            <a:ext cx="11210544" cy="260603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3813048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Ginsan / Silver #3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70048" y="3813048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моносталь, Ginsan Warikomi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87568" y="3813048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9 000 – 20 000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3813048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Практично ніхто: 1–2 позиції в країні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4082796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554780"/>
                </a:solidFill>
                <a:latin typeface="Segoe UI"/>
              </a:rPr>
              <a:t>Вуглецева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0048" y="4082796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Aogami #2, Shirogami, Aoniko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87568" y="4082796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6 000 – 25 000 грн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82127" y="4082796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Tosa, HONMAMON, Takamura — артизанальний край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3776" y="4311396"/>
            <a:ext cx="11210544" cy="260603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4352544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A84A6B"/>
                </a:solidFill>
                <a:latin typeface="Segoe UI"/>
              </a:rPr>
              <a:t>Порошкова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70048" y="4352544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SPG2 / R2, ZA-18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87568" y="4352544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16 000 – 45 000 грн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82127" y="4352544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Yaxell Super Gou, Nigara, Hatsukokoro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4622292"/>
            <a:ext cx="204825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Honyaki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70048" y="4622292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Ginsan моносталь, Shoryu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87568" y="4622292"/>
            <a:ext cx="2139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51A26"/>
                </a:solidFill>
                <a:latin typeface="Segoe UI"/>
              </a:rPr>
              <a:t>35 000 – 70 000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82127" y="4622292"/>
            <a:ext cx="3602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>
                <a:solidFill>
                  <a:srgbClr val="6B7282"/>
                </a:solidFill>
                <a:latin typeface="Segoe UI"/>
              </a:rPr>
              <a:t>Порожньо. У країні немає жодного honyaki на складі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6928" y="5047488"/>
            <a:ext cx="5413248" cy="1012393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6928" y="5047488"/>
            <a:ext cx="36576" cy="101239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" y="5202936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ЧОМУ ЦЕЙ ПОСТАЧАЛЬНИК НЕ «ЩЕ ОДИН БРЕНД»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" y="5431536"/>
            <a:ext cx="4937760" cy="482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Sakai Takayuki закриває весь діапазон від 3 000 до 70 000 грн однією лінійкою.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Жоден із присутніх в Україні японських брендів цього не робить: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KAI і Yaxell сильні зверху, Satake і Seki Kanetsugu — знизу.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7920" y="5047488"/>
            <a:ext cx="5413248" cy="1012393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17920" y="5047488"/>
            <a:ext cx="36576" cy="1012393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55664" y="5202936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ЩО ЦЕ ОЗНАЧАЄ ДЛЯ ПЕРЕГОВОРІВ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55664" y="5431536"/>
            <a:ext cx="4937760" cy="482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Виробник із 50+ серіями і експортом у 100+ країн має готову дилерську схему,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а отже й готові вимоги: мінімальна партія, ексклюзив по території, цінова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дисципліна. Це переговори про дистрибуцію, а не разова закупівля.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3504" y="6492240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Джерело профілю: офіційний каталог виробника (sakaitakayukiknives.com), жовтень 2026. Цінові зони — перерахунок спостережених роздрібних цін в Україні на відповідні типи сталі, не прайс виробника.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О Т Е Н Ц І Й Н И Й   П О С Т А Ч А Л Ь Н И К   ·   2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Дев'ятнадцять позицій на всю країну — і лише дві справжні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Обхід 17 продавців, Prom, Rozetka й Епіцентру на 1 жовтня 2026. Кожен рядок перевірено на картці товару.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463040"/>
            <a:ext cx="270662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З Н А Й Д Е Н О   П О З И Ц І 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966E28"/>
                </a:solidFill>
                <a:latin typeface="Georgia"/>
              </a:rP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в усіх каналах
країни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9856" y="1463040"/>
            <a:ext cx="2706624" cy="2560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Р Е А Л Ь Н О   Н А   С К Л А Д 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2A7F86"/>
                </a:solidFill>
                <a:latin typeface="Georg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ProfiMax, обидві —
янагіба 24 см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2784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72784" y="1463040"/>
            <a:ext cx="2706624" cy="25603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Д Р О П Ш И П - Л І С Т И Н Г 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966E28"/>
                </a:solidFill>
                <a:latin typeface="Georgia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у пʼяти вітринах
Prom, складу немає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25711" y="1463040"/>
            <a:ext cx="2706624" cy="1115568"/>
          </a:xfrm>
          <a:prstGeom prst="rect">
            <a:avLst/>
          </a:prstGeom>
          <a:solidFill>
            <a:srgbClr val="FAF9F6"/>
          </a:solidFill>
          <a:ln w="7620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5711" y="1463040"/>
            <a:ext cx="2706624" cy="25603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5167" y="1636776"/>
            <a:ext cx="22677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6B7282"/>
                </a:solidFill>
                <a:latin typeface="Segoe UI"/>
              </a:rPr>
              <a:t>Ф А Х О В И Х   П Р О Д А В Ц І 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7" y="1828800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B42E3A"/>
                </a:solidFill>
                <a:latin typeface="Georgia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2322576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ProfiMax — єдиний,
хто тримає склад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688336"/>
            <a:ext cx="3931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ПОЗИЦІЯ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2688336"/>
            <a:ext cx="17373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ПРОДАВЕЦЬ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268833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ЦІНА,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8" y="2688336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СТАТУС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2688336"/>
            <a:ext cx="25603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ЩО ЦЕ ЗНАЧИТЬ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" y="2830068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2871216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Yanagiba Yasugi 24 см, з ножнами (07003)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2871216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2871216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7 460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8" y="287121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2A7F86"/>
                </a:solidFill>
                <a:latin typeface="Segoe UI"/>
              </a:rPr>
              <a:t>СКЛАД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8" y="2871216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Картка продавця, походження: Japan (Sakai, Osaka)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024835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Yanagiba Yasugi 24 см, для лівші (07005)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8848" y="3024835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024835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2A7F86"/>
                </a:solidFill>
                <a:latin typeface="Segoe UI"/>
              </a:rPr>
              <a:t>7 640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4928" y="3024835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2A7F86"/>
                </a:solidFill>
                <a:latin typeface="Segoe UI"/>
              </a:rPr>
              <a:t>СКЛАД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79408" y="3024835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3776" y="3137306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3178454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Chief 210мм (вінтажний)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8848" y="3178454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ROKS·Prom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317845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3 520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24928" y="317845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B42E3A"/>
                </a:solidFill>
                <a:latin typeface="Segoe UI"/>
              </a:rPr>
              <a:t>РОЗБІЖНІСТЬ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79408" y="3178454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На власному сайті продавця товару немає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3332073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Chief 240мм (вінтажний)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98848" y="3332073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ROKS·Prom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8" y="3332073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B42E3A"/>
                </a:solidFill>
                <a:latin typeface="Segoe UI"/>
              </a:rPr>
              <a:t>4 070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4928" y="3332073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B42E3A"/>
                </a:solidFill>
                <a:latin typeface="Segoe UI"/>
              </a:rPr>
              <a:t>РОЗБІЖНІСТЬ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79408" y="3332073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3776" y="3444544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8" y="3485692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Vg 10 15см (07942)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98848" y="3485692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36208" y="348569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12 550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24928" y="348569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79408" y="348569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>Термін постачання 5–10 днів, складу немає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3639312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98848" y="3639312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36208" y="363931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15 266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24928" y="363931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79408" y="363931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93776" y="3751783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3792931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Saiu Santoku 17см (VG-10)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98848" y="3792931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36208" y="3792931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24928" y="3792931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79408" y="3792931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3946550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98848" y="3946550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36208" y="3946550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24928" y="3946550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79408" y="3946550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93776" y="4059021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6928" y="4100169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Urushi Vg-10 Saiseki Kengata (7966)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98848" y="4100169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36208" y="4100169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24928" y="4100169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79408" y="4100169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4253788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Сантоку Nanairo Vg 10 Green (14576)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98848" y="4253788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36208" y="4253788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24928" y="4253788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79408" y="4253788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93776" y="4366260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6928" y="4407408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шеф-кухаря Aogami#2 Iron Kurouchi 24см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98848" y="4407408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36208" y="4407408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17 387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24928" y="4407408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79408" y="4407408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4561027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Шеф Urushi Saiseki 24см (VG-10)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498848" y="4561027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36208" y="4561027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18 415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24928" y="4561027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79408" y="4561027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93776" y="4673498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66928" y="4714646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Santoku Ginga Za 18 см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498848" y="4714646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36208" y="4714646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20 572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424928" y="4714646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79408" y="4714646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6928" y="4868265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Kasumi Shirogami 3 24см (6083)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98848" y="4868265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4868265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20 750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24928" y="4868265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79408" y="4868265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93776" y="4980736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66928" y="5021884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Silver#3 Yanagiba 27см (4231)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498848" y="5021884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502188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34 857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24928" y="502188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79408" y="5021884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66928" y="5175504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Byakko Shirogami Kiritsuke Yanagiba 27см (2204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98848" y="5175504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tech.dp.ua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36208" y="517550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44 169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24928" y="5175504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79408" y="5175504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93776" y="5287975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66928" y="5329123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Shoryu Honyaki Vg 10 Kengata Yanagiba 30см (20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498848" y="5329123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36208" y="5329123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57 903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24928" y="5329123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79408" y="5329123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66928" y="5482742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Shoryu Honyaki VG-10 Sakimaru 30см (0204)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98848" y="5482742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36208" y="548274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60 495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24928" y="5482742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979408" y="5482742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93776" y="5595213"/>
            <a:ext cx="11210544" cy="148132"/>
          </a:xfrm>
          <a:prstGeom prst="roundRect">
            <a:avLst>
              <a:gd name="adj" fmla="val 2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66928" y="5636361"/>
            <a:ext cx="38770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1B253F"/>
                </a:solidFill>
                <a:latin typeface="Segoe UI"/>
              </a:rPr>
              <a:t>Genbu Aogami 2 Sakimaru 30Cm (2245)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98848" y="5636361"/>
            <a:ext cx="16824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6B7282"/>
                </a:solidFill>
                <a:latin typeface="Segoe UI"/>
              </a:rPr>
              <a:t>Livico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36208" y="5636361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966E28"/>
                </a:solidFill>
                <a:latin typeface="Segoe UI"/>
              </a:rPr>
              <a:t>61 891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24928" y="5636361"/>
            <a:ext cx="1499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1">
                <a:solidFill>
                  <a:srgbClr val="966E28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979408" y="5636361"/>
            <a:ext cx="2505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" b="0">
                <a:solidFill>
                  <a:srgbClr val="6B7282"/>
                </a:solidFill>
                <a:latin typeface="Segoe UI"/>
              </a:rPr>
              <a:t/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66928" y="5852160"/>
            <a:ext cx="3584448" cy="684225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6928" y="5852160"/>
            <a:ext cx="36576" cy="684225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04672" y="6007608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966E28"/>
                </a:solidFill>
                <a:latin typeface="Segoe UI"/>
              </a:rPr>
              <a:t>ЧОМУ 15 326 ГРН ЧОТИРИ РАЗИ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04672" y="6236208"/>
            <a:ext cx="3108960" cy="153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Чотири моделі, одна ціна — спільний фід.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4297680" y="5852160"/>
            <a:ext cx="3584448" cy="684225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4297680" y="5852160"/>
            <a:ext cx="36576" cy="684225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535424" y="6007608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2E3A"/>
                </a:solidFill>
                <a:latin typeface="Segoe UI"/>
              </a:rPr>
              <a:t>РОЗБІЖНІСТЬ ПО ROKS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535424" y="6236208"/>
            <a:ext cx="3108960" cy="153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На Prom дві позиції, на roks.com.ua — жодної.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046720" y="5852160"/>
            <a:ext cx="3584448" cy="684225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046720" y="5852160"/>
            <a:ext cx="36576" cy="684225"/>
          </a:xfrm>
          <a:prstGeom prst="rect">
            <a:avLst/>
          </a:prstGeom>
          <a:solidFill>
            <a:srgbClr val="6B7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284464" y="6007608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6B7282"/>
                </a:solidFill>
                <a:latin typeface="Segoe UI"/>
              </a:rPr>
              <a:t>ДЕ БРЕНДУ НЕМАЄ ВЗАГАЛІ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84464" y="6236208"/>
            <a:ext cx="3108960" cy="153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Rozetka, Епіцентр, Sekator, WildCat, rezat.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03504" y="6492240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Перевірено 1 жовтня 2026. «Склад» — картка продавця з прямою наявністю і зазначеним походженням. «Під замовлення» — лістинг Prom із терміном постачання 5–10 днів. Hangiri перевірити не вдалося: сайт закритий Cloudflare.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О Т Е Н Ц І Й Н И Й   П О С Т А Ч А Л Ь Н И К   ·   3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Georgia"/>
              </a:rPr>
              <a:t>Усі дев'ятнадцять позицій бренду в країні — на одній сторінці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Фотографії з карток продавців. Зелена позначка — склад із підтвердженим походженням, жовта — лістинг під замовлення, червона — розбіжність із власним сайтом продавця.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_062701c6bdd722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563624"/>
            <a:ext cx="1361149" cy="7315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0080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40864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СКЛАД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Yanagiba Yasugi 24 см, з ножнами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2A7F86"/>
                </a:solidFill>
                <a:latin typeface="Segoe UI"/>
              </a:rPr>
              <a:t>7 460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056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7533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_56cc87b54bc0cc4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541" y="1563624"/>
            <a:ext cx="1361149" cy="73152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220685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20685" y="2340864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СКЛАД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0685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Yanagiba Yasugi 24 см, для лівші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20685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2A7F86"/>
                </a:solidFill>
                <a:latin typeface="Segoe UI"/>
              </a:rPr>
              <a:t>7 640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1661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ProfiMax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28139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p_097322211c3da4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2147" y="1563624"/>
            <a:ext cx="1361149" cy="73152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801291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01291" y="2340864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РОЗБІЖНІСТЬ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1291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Chief 210мм (вінтажний)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1291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42E3A"/>
                </a:solidFill>
                <a:latin typeface="Segoe UI"/>
              </a:rPr>
              <a:t>3 520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2267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8745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_31cbfa5f76fbf1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753" y="1563624"/>
            <a:ext cx="1361149" cy="73152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381897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81897" y="2340864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РОЗБІЖНІСТЬ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81897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Chief 240мм (вінтажний)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81897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42E3A"/>
                </a:solidFill>
                <a:latin typeface="Segoe UI"/>
              </a:rPr>
              <a:t>4 070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2873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ROKS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89350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_8c72624cb8cb4aa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358" y="1563624"/>
            <a:ext cx="1361149" cy="73152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962502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62502" y="2340864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2502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універсальний Urushi Vg 10 15см (07942)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2502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12 550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13478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69956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p_1687a41703a9aa9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3964" y="1563624"/>
            <a:ext cx="1361149" cy="73152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8543108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43108" y="2340864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3108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3108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15 266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94084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50562" y="1517904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p_e13e4aecb494f27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14570" y="1563624"/>
            <a:ext cx="1361149" cy="73152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10123714" y="2331720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23714" y="2340864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23714" y="2505456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Saiu Santoku 17см (VG-10)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23714" y="2679192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74690" y="2697480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p_20a10ffb6ac10f3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" y="2999232"/>
            <a:ext cx="1361149" cy="731520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640080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3776472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Sairen Kengata 16см (VG-10)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91056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147533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p_284ff0752eb21dc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11541" y="2999232"/>
            <a:ext cx="1361149" cy="731520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2220685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20685" y="3776472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20685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Urushi Vg-10 Saiseki Kengata (7966)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20685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71661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728139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p_de239a57651f6e4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92147" y="2999232"/>
            <a:ext cx="1361149" cy="731520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3801291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01291" y="3776472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01291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Сантоку Nanairo Vg 10 Green (14576)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01291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15 326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2267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308745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p_6fc69c5adeb0e5d8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72753" y="2999232"/>
            <a:ext cx="1361149" cy="731520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5381897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81897" y="3776472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81897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шеф-кухаря Aogami#2 Iron Kurouchi 24см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81897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17 387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32873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889350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p_7a6ca1f08184868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53358" y="2999232"/>
            <a:ext cx="1361149" cy="731520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6962502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962502" y="3776472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62502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Шеф Urushi Saiseki 24см (VG-10)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62502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18 415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13478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469956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p_870d8e72a0bc497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3964" y="2999232"/>
            <a:ext cx="1361149" cy="731520"/>
          </a:xfrm>
          <a:prstGeom prst="rect">
            <a:avLst/>
          </a:prstGeom>
        </p:spPr>
      </p:pic>
      <p:sp>
        <p:nvSpPr>
          <p:cNvPr id="100" name="Rounded Rectangle 99"/>
          <p:cNvSpPr/>
          <p:nvPr/>
        </p:nvSpPr>
        <p:spPr>
          <a:xfrm>
            <a:off x="8543108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43108" y="3776472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43108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Santoku Ginga Za 18 см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43108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20 572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94084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Techdom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50562" y="2953512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6" name="Picture 105" descr="p_9e3c84dc09761d9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4570" y="2999232"/>
            <a:ext cx="1361149" cy="731520"/>
          </a:xfrm>
          <a:prstGeom prst="rect">
            <a:avLst/>
          </a:prstGeom>
        </p:spPr>
      </p:pic>
      <p:sp>
        <p:nvSpPr>
          <p:cNvPr id="107" name="Rounded Rectangle 106"/>
          <p:cNvSpPr/>
          <p:nvPr/>
        </p:nvSpPr>
        <p:spPr>
          <a:xfrm>
            <a:off x="10123714" y="3767328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23714" y="3776472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23714" y="3941064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Kasumi Shirogami 3 24см (6083)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123714" y="4114800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20 750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074690" y="4133087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66928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p_a8884f1317e00cc0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0936" y="4434840"/>
            <a:ext cx="1361149" cy="731520"/>
          </a:xfrm>
          <a:prstGeom prst="rect">
            <a:avLst/>
          </a:prstGeom>
        </p:spPr>
      </p:pic>
      <p:sp>
        <p:nvSpPr>
          <p:cNvPr id="114" name="Rounded Rectangle 113"/>
          <p:cNvSpPr/>
          <p:nvPr/>
        </p:nvSpPr>
        <p:spPr>
          <a:xfrm>
            <a:off x="640080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0080" y="5212079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Silver#3 Yanagiba 27см (4231)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080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34 857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91056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147533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p_21440b925015ef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11541" y="4434840"/>
            <a:ext cx="1361149" cy="731520"/>
          </a:xfrm>
          <a:prstGeom prst="rect">
            <a:avLst/>
          </a:prstGeom>
        </p:spPr>
      </p:pic>
      <p:sp>
        <p:nvSpPr>
          <p:cNvPr id="121" name="Rounded Rectangle 120"/>
          <p:cNvSpPr/>
          <p:nvPr/>
        </p:nvSpPr>
        <p:spPr>
          <a:xfrm>
            <a:off x="2220685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220685" y="5212079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20685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Byakko Shirogami Kiritsuke Yanagiba 27см (2204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20685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44 169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71661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tech.dp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728139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p_f7f53c299894aac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92147" y="4434840"/>
            <a:ext cx="1361149" cy="731520"/>
          </a:xfrm>
          <a:prstGeom prst="rect">
            <a:avLst/>
          </a:prstGeom>
        </p:spPr>
      </p:pic>
      <p:sp>
        <p:nvSpPr>
          <p:cNvPr id="128" name="Rounded Rectangle 127"/>
          <p:cNvSpPr/>
          <p:nvPr/>
        </p:nvSpPr>
        <p:spPr>
          <a:xfrm>
            <a:off x="3801291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801291" y="5212079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801291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Shoryu Honyaki Vg 10 Kengata Yanagiba 30см (20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801291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57 903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752267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308745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p_2ed6ae5f98147da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72753" y="4434840"/>
            <a:ext cx="1361149" cy="731520"/>
          </a:xfrm>
          <a:prstGeom prst="rect">
            <a:avLst/>
          </a:prstGeom>
        </p:spPr>
      </p:pic>
      <p:sp>
        <p:nvSpPr>
          <p:cNvPr id="135" name="Rounded Rectangle 134"/>
          <p:cNvSpPr/>
          <p:nvPr/>
        </p:nvSpPr>
        <p:spPr>
          <a:xfrm>
            <a:off x="5381897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381897" y="5212079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381897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Shoryu Honyaki VG-10 Sakimaru 30см (0204)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381897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60 495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332873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Shopnica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889350" y="4389120"/>
            <a:ext cx="1489165" cy="1344168"/>
          </a:xfrm>
          <a:prstGeom prst="roundRect">
            <a:avLst>
              <a:gd name="adj" fmla="val 6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1" name="Picture 140" descr="p_c774391e57a98baf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53358" y="4434840"/>
            <a:ext cx="1361149" cy="731520"/>
          </a:xfrm>
          <a:prstGeom prst="rect">
            <a:avLst/>
          </a:prstGeom>
        </p:spPr>
      </p:pic>
      <p:sp>
        <p:nvSpPr>
          <p:cNvPr id="142" name="Rounded Rectangle 141"/>
          <p:cNvSpPr/>
          <p:nvPr/>
        </p:nvSpPr>
        <p:spPr>
          <a:xfrm>
            <a:off x="6962502" y="5202936"/>
            <a:ext cx="969264" cy="137160"/>
          </a:xfrm>
          <a:prstGeom prst="roundRect">
            <a:avLst>
              <a:gd name="adj" fmla="val 35000"/>
            </a:avLst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962502" y="5212079"/>
            <a:ext cx="96926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59" b="1">
                <a:solidFill>
                  <a:srgbClr val="FFFFFF"/>
                </a:solidFill>
                <a:latin typeface="Segoe UI"/>
              </a:rPr>
              <a:t>ПІД ЗАМОВЛЕННЯ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962502" y="5376672"/>
            <a:ext cx="134286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540" b="0">
                <a:solidFill>
                  <a:srgbClr val="1B253F"/>
                </a:solidFill>
                <a:latin typeface="Segoe UI"/>
              </a:rPr>
              <a:t>Genbu Aogami 2 Sakimaru 30Cm (2245)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62502" y="5550408"/>
            <a:ext cx="96926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61 891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913478" y="5568696"/>
            <a:ext cx="446749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520" b="0">
                <a:solidFill>
                  <a:srgbClr val="6B7282"/>
                </a:solidFill>
                <a:latin typeface="Segoe UI"/>
              </a:rPr>
              <a:t>Livico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66928" y="5870448"/>
            <a:ext cx="5413248" cy="687628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6928" y="5870448"/>
            <a:ext cx="36576" cy="687628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04672" y="6025896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ЩО ВИДНО НА ЦІЙ СТОРІНЦІ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04672" y="6254496"/>
            <a:ext cx="4937760" cy="157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Зі складу — лише дві янагіби 24 см. Решта, разом із сантоку й гюто, тільки під замовлення.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217920" y="5870448"/>
            <a:ext cx="5413248" cy="687628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217920" y="5870448"/>
            <a:ext cx="36576" cy="687628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455664" y="6025896"/>
            <a:ext cx="4937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ЯК ЦЕ ЧИТАТИ ПЕРЕД ПЕРЕГОВОРАМИ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455664" y="6254496"/>
            <a:ext cx="4937760" cy="157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20" b="0">
                <a:solidFill>
                  <a:srgbClr val="1B253F"/>
                </a:solidFill>
                <a:latin typeface="Segoe UI"/>
              </a:rPr>
              <a:t>Асортимент зібрано не дистрибʼютором, а дропшиперами. Брендом у країні ніхто не керує.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03504" y="6574536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Фотографії — з публічних карток товару ProfiMax і вітрин prom.ua, жовтень 2026. Наведено для ідентифікації позицій; права на зображення належать продавцям і виробнику.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П О Т Е Н Ц І Й Н И Й   П О С Т А Ч А Л Ь Н И К   ·   4   З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Куди став би цей бренд і проти кого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Позиція Sakai Takayuki на тій самій шкалі, що й решта каталогу. Зіставлення з брендами, які вже мають в Україні полицю і глибину лінійки.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1499616"/>
            <a:ext cx="722376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540763"/>
            <a:ext cx="39730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ЦІЛЬОВА ЗОНА 7 000 – 20 000 ГРН: ХТО ЇЇ ВЖЕ ТРИМАЄ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828800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Yaxell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39" y="1869948"/>
            <a:ext cx="420624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77439" y="1869948"/>
            <a:ext cx="4206240" cy="8229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19" y="1828800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151A26"/>
                </a:solidFill>
                <a:latin typeface="Segoe UI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098548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KAI / Shun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39" y="2139696"/>
            <a:ext cx="420624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39" y="2139696"/>
            <a:ext cx="3605348" cy="8229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19" y="2098548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151A26"/>
                </a:solidFill>
                <a:latin typeface="Segoe UI"/>
              </a:rP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368296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Tojiro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39" y="2409444"/>
            <a:ext cx="420624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77439" y="2409444"/>
            <a:ext cx="3605348" cy="82296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19" y="2368296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151A26"/>
                </a:solidFill>
                <a:latin typeface="Segoe UI"/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638044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Kasumi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39" y="2679191"/>
            <a:ext cx="420624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77439" y="2679191"/>
            <a:ext cx="1802674" cy="8229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19" y="2638044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151A26"/>
                </a:solidFill>
                <a:latin typeface="Segoe U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2907791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Takamura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39" y="2948939"/>
            <a:ext cx="420624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77439" y="2948939"/>
            <a:ext cx="1602377" cy="8229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19" y="2907791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151A26"/>
                </a:solidFill>
                <a:latin typeface="Segoe UI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177539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Tosa (кузні)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39" y="3218687"/>
            <a:ext cx="420624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77439" y="3218687"/>
            <a:ext cx="1602377" cy="8229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19" y="3177539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151A26"/>
                </a:solidFill>
                <a:latin typeface="Segoe U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447287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HONMAMON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39" y="3488435"/>
            <a:ext cx="420624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77439" y="3488435"/>
            <a:ext cx="1602377" cy="8229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19" y="3447287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151A26"/>
                </a:solidFill>
                <a:latin typeface="Segoe U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3717035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Seki Kanetsugu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77439" y="3758183"/>
            <a:ext cx="420624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77439" y="3758183"/>
            <a:ext cx="801188" cy="82296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19" y="3717035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151A26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3986783"/>
            <a:ext cx="17373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Sakai Takayuki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39" y="4027931"/>
            <a:ext cx="4206240" cy="8229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77439" y="4027931"/>
            <a:ext cx="400594" cy="82296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19" y="3986783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151A26"/>
                </a:solidFill>
                <a:latin typeface="Segoe UI"/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4315968"/>
            <a:ext cx="7077456" cy="1012393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" y="4315968"/>
            <a:ext cx="36576" cy="1012393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" y="4471416"/>
            <a:ext cx="6601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88A3D"/>
                </a:solidFill>
                <a:latin typeface="Segoe UI"/>
              </a:rPr>
              <a:t>ЧИТАННЯ ЦІЄЇ ШКАЛИ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" y="4700016"/>
            <a:ext cx="6601968" cy="482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105 позицій каталогу, тобто 41 % усього японського виробництва в країні,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лежать у зоні 7 000 – 20 000 грн. Зона не порожня — вона зайнята.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Sakai Takayuki тримає в ній 2 позиції з 105, тобто менше 2 %.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10144" y="1499616"/>
            <a:ext cx="3621024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56448" y="1540763"/>
            <a:ext cx="19915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ДЕ ЗОНА СПРАВДІ ПОРОЖНЯ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10144" y="1828800"/>
            <a:ext cx="3621024" cy="54864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10144" y="1828800"/>
            <a:ext cx="41148" cy="54864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74736" y="1901952"/>
            <a:ext cx="3291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40" b="1">
                <a:solidFill>
                  <a:srgbClr val="B42E3A"/>
                </a:solidFill>
                <a:latin typeface="Segoe UI"/>
              </a:rPr>
              <a:t>Honyaki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74736" y="2057400"/>
            <a:ext cx="3291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Жодної позиції в країні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10144" y="2505456"/>
            <a:ext cx="3621024" cy="54864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10144" y="2505456"/>
            <a:ext cx="41148" cy="54864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74736" y="2578608"/>
            <a:ext cx="3291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40" b="1">
                <a:solidFill>
                  <a:srgbClr val="B42E3A"/>
                </a:solidFill>
                <a:latin typeface="Segoe UI"/>
              </a:rPr>
              <a:t>Ginsan / Silver #3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74736" y="2734056"/>
            <a:ext cx="3291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1 позиція, і та дропшип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10144" y="3182112"/>
            <a:ext cx="3621024" cy="804672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10144" y="3182112"/>
            <a:ext cx="41148" cy="804672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74736" y="3255264"/>
            <a:ext cx="3291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Односторонні понад
10 000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74736" y="3566160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Немає. Стеля янагіби —
7 640 грн, і це
Sakai Takayuki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10144" y="4114800"/>
            <a:ext cx="3621024" cy="548640"/>
          </a:xfrm>
          <a:prstGeom prst="roundRect">
            <a:avLst>
              <a:gd name="adj" fmla="val 7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010144" y="4114800"/>
            <a:ext cx="41148" cy="548640"/>
          </a:xfrm>
          <a:prstGeom prst="rect">
            <a:avLst/>
          </a:prstGeom>
          <a:solidFill>
            <a:srgbClr val="966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74736" y="4187952"/>
            <a:ext cx="3291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40" b="1">
                <a:solidFill>
                  <a:srgbClr val="966E28"/>
                </a:solidFill>
                <a:latin typeface="Segoe UI"/>
              </a:rPr>
              <a:t>Wa-руків'я в
профканалі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74736" y="4498848"/>
            <a:ext cx="3291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AL-Group: 0 із 523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" y="5376672"/>
            <a:ext cx="7077456" cy="1173073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" y="5376672"/>
            <a:ext cx="36576" cy="1173073"/>
          </a:xfrm>
          <a:prstGeom prst="rect">
            <a:avLst/>
          </a:prstGeom>
          <a:solidFill>
            <a:srgbClr val="2A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77824" y="5532120"/>
            <a:ext cx="66019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2A7F86"/>
                </a:solidFill>
                <a:latin typeface="Segoe UI"/>
              </a:rPr>
              <a:t>ЩО З ЦЬОГО ВИПЛИВАЄ ДЛЯ РІШЕННЯ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7824" y="5760720"/>
            <a:ext cx="6601968" cy="642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Бренд не має в Україні ані дистриб'ютора, ані полиці, ані жодного SKU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у великому форматі й в опті HoReCa. Це означає вільну територію —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і водночас нульовий упізнаваний попит: 2 позиції за всю історію каналу</a:t>
            </a:r>
          </a:p>
          <a:p>
            <a:pPr algn="l">
              <a:lnSpc>
                <a:spcPct val="130000"/>
              </a:lnSpc>
              <a:spcAft>
                <a:spcPts val="220"/>
              </a:spcAft>
            </a:pPr>
            <a:r>
              <a:rPr sz="740" b="0">
                <a:solidFill>
                  <a:srgbClr val="1B253F"/>
                </a:solidFill>
                <a:latin typeface="Segoe UI"/>
              </a:rPr>
              <a:t>не створили впізнаваності, на яку можна спертися в першій партії.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6574536"/>
            <a:ext cx="10927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20" b="0">
                <a:solidFill>
                  <a:srgbClr val="9AA2B4"/>
                </a:solidFill>
                <a:latin typeface="Segoe UI"/>
              </a:rPr>
              <a:t>Кількість позицій у зоні 7 000 – 20 000 грн порахована за каталогом із 259 ножів японського виробництва, зібраним у цій роботі. Це не обсяг продажів, а ширина присутності на полиці.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115568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15568"/>
            <a:ext cx="12191969" cy="2286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92608"/>
            <a:ext cx="1335024" cy="577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49424" y="301752"/>
            <a:ext cx="7863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D9B165"/>
                </a:solidFill>
                <a:latin typeface="Segoe UI"/>
              </a:rPr>
              <a:t>Т Р И   С Ц Е Н А Р І Ї   В Х О Д 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493776"/>
            <a:ext cx="8046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Georgia"/>
              </a:rPr>
              <a:t>Рекомендація: вузький вхід, а не дистрибуція лінійки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402336"/>
            <a:ext cx="10058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3B4768"/>
                </a:solidFill>
                <a:latin typeface="Georgia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197864"/>
            <a:ext cx="1572768" cy="246888"/>
          </a:xfrm>
          <a:prstGeom prst="roundRect">
            <a:avLst>
              <a:gd name="adj" fmla="val 30000"/>
            </a:avLst>
          </a:prstGeom>
          <a:solidFill>
            <a:srgbClr val="FAF9F6"/>
          </a:solidFill>
          <a:ln w="9525">
            <a:solidFill>
              <a:srgbClr val="E2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95560" y="1243584"/>
            <a:ext cx="155448" cy="155448"/>
          </a:xfrm>
          <a:prstGeom prst="ellipse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5872" y="1243584"/>
            <a:ext cx="11338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1">
                <a:solidFill>
                  <a:srgbClr val="1B253F"/>
                </a:solidFill>
                <a:latin typeface="Segoe UI"/>
              </a:rPr>
              <a:t>MADE IN JAPAN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271016"/>
            <a:ext cx="9235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B7282"/>
                </a:solidFill>
                <a:latin typeface="Segoe UI"/>
              </a:rPr>
              <a:t>Три прочитання того самого ринку за умови, що розглядається лише японське виробництво. Розташовані за спаданням привабливості.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481328"/>
            <a:ext cx="11064240" cy="10972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1554480"/>
            <a:ext cx="3584448" cy="3730752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1554480"/>
            <a:ext cx="3584448" cy="45720"/>
          </a:xfrm>
          <a:prstGeom prst="rect">
            <a:avLst/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" y="1737360"/>
            <a:ext cx="292608" cy="237744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1796795"/>
            <a:ext cx="292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1448" y="1737360"/>
            <a:ext cx="1508760" cy="237744"/>
          </a:xfrm>
          <a:prstGeom prst="roundRect">
            <a:avLst>
              <a:gd name="adj" fmla="val 35000"/>
            </a:avLst>
          </a:prstGeom>
          <a:solidFill>
            <a:srgbClr val="3A7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1448" y="1796795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Segoe UI"/>
              </a:rPr>
              <a:t>РЕКОМЕНДОВАНО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084831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40" b="1">
                <a:solidFill>
                  <a:srgbClr val="151A26"/>
                </a:solidFill>
                <a:latin typeface="Georgia"/>
              </a:rPr>
              <a:t>ВУЗЬКИЙ ВХІД У ПОРОЖНІ ЗОНИ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2523744"/>
            <a:ext cx="3182112" cy="1371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65176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МАСШТАБ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2798064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3A7D5A"/>
                </a:solidFill>
                <a:latin typeface="Georgia"/>
              </a:rPr>
              <a:t>60–90 SKU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1448" y="2651760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ЦІНОВА ЗОНА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2798064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151A26"/>
                </a:solidFill>
                <a:latin typeface="Georgia"/>
              </a:rPr>
              <a:t>7 000 – 45 000 грн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" y="3127248"/>
            <a:ext cx="3182112" cy="1371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255264"/>
            <a:ext cx="31821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3A7D5A"/>
                </a:solidFill>
                <a:latin typeface="Segoe UI"/>
              </a:rPr>
              <a:t>ЛОГІКА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438144"/>
            <a:ext cx="3182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Тільки те, чого в країні немає: honyaki, Ginsan / Silver #3,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односторонні дорожчі за 10 000 грн, wa-руків'я у профканалі.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Sakai Takayuki закриває всі чотири зони однією лінійкою.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Мала партія, висока маржа, немає прямого конкурента на полиці.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" y="4443984"/>
            <a:ext cx="3182112" cy="1371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572000"/>
            <a:ext cx="31821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B42E3A"/>
                </a:solidFill>
                <a:latin typeface="Segoe UI"/>
              </a:rPr>
              <a:t>ЧИМ РИЗИКУЄМО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4754880"/>
            <a:ext cx="31821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15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· Сегмент малий: сотні ножів на рік, не тисячі</a:t>
            </a:r>
          </a:p>
          <a:p>
            <a:pPr algn="l">
              <a:lnSpc>
                <a:spcPct val="126000"/>
              </a:lnSpc>
              <a:spcAft>
                <a:spcPts val="15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· Вимагає контенту і консультації, яких немає в ціні</a:t>
            </a:r>
          </a:p>
          <a:p>
            <a:pPr algn="l">
              <a:lnSpc>
                <a:spcPct val="126000"/>
              </a:lnSpc>
              <a:spcAft>
                <a:spcPts val="15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· Окупність повільна: оборотність 2–4 рази на рік</a:t>
            </a:r>
          </a:p>
        </p:txBody>
      </p:sp>
      <p:pic>
        <p:nvPicPr>
          <p:cNvPr id="32" name="Picture 31" descr="p_4bfc2b67b1b2bc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24" y="2011680"/>
            <a:ext cx="1225296" cy="58521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270248" y="1554480"/>
            <a:ext cx="3584448" cy="3730752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0248" y="1554480"/>
            <a:ext cx="3584448" cy="45720"/>
          </a:xfrm>
          <a:prstGeom prst="rect">
            <a:avLst/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71416" y="1737360"/>
            <a:ext cx="292608" cy="237744"/>
          </a:xfrm>
          <a:prstGeom prst="roundRect">
            <a:avLst>
              <a:gd name="adj" fmla="val 35000"/>
            </a:avLst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71416" y="1796795"/>
            <a:ext cx="292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1737360"/>
            <a:ext cx="1508760" cy="237744"/>
          </a:xfrm>
          <a:prstGeom prst="roundRect">
            <a:avLst>
              <a:gd name="adj" fmla="val 35000"/>
            </a:avLst>
          </a:prstGeom>
          <a:solidFill>
            <a:srgbClr val="B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44768" y="1796795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Segoe UI"/>
              </a:rPr>
              <a:t>УМОВНО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1416" y="2084831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40" b="1">
                <a:solidFill>
                  <a:srgbClr val="151A26"/>
                </a:solidFill>
                <a:latin typeface="Georgia"/>
              </a:rPr>
              <a:t>ДИСТРИБУЦІЯ ПОВНОЇ ЛІНІЙКИ SAKAI TAKAYUKI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71416" y="2523744"/>
            <a:ext cx="3182112" cy="1371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71416" y="265176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МАСШТАБ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71416" y="2798064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88A3D"/>
                </a:solidFill>
                <a:latin typeface="Georgia"/>
              </a:rPr>
              <a:t>16–19 млн грн, ніша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4768" y="2651760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ЦІНОВА ЗОНА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798064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151A26"/>
                </a:solidFill>
                <a:latin typeface="Georgia"/>
              </a:rPr>
              <a:t>3 000 – 20 000 грн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71416" y="3127248"/>
            <a:ext cx="3182112" cy="1371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71416" y="3255264"/>
            <a:ext cx="31821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B88A3D"/>
                </a:solidFill>
                <a:latin typeface="Segoe UI"/>
              </a:rPr>
              <a:t>ЛОГІКА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71416" y="3438144"/>
            <a:ext cx="3182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Ексклюзив по території з виробником, що експортує у 100+ країн.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Бренд у країні фактично відсутній: 2 позиції на складі.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Але цільова зона 7 000 – 20 000 грн тримає 105 позицій каталогу: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там уже стоять Yaxell, KAI, Tojiro і Kasumi з полицею і глибиною.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71416" y="4443984"/>
            <a:ext cx="3182112" cy="1371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71416" y="4572000"/>
            <a:ext cx="31821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B42E3A"/>
                </a:solidFill>
                <a:latin typeface="Segoe UI"/>
              </a:rPr>
              <a:t>ЧИМ РИЗИКУЄМО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71416" y="4754880"/>
            <a:ext cx="31821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15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· Вхід у найгустішу частину шкали без упізнаваності</a:t>
            </a:r>
          </a:p>
          <a:p>
            <a:pPr algn="l">
              <a:lnSpc>
                <a:spcPct val="126000"/>
              </a:lnSpc>
              <a:spcAft>
                <a:spcPts val="15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· 10 % мита проти 0 % у європейського конкурента</a:t>
            </a:r>
          </a:p>
          <a:p>
            <a:pPr algn="l">
              <a:lnSpc>
                <a:spcPct val="126000"/>
              </a:lnSpc>
              <a:spcAft>
                <a:spcPts val="15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· Ексклюзив вимагає мінімальної партії й цінової дисципліни</a:t>
            </a:r>
          </a:p>
        </p:txBody>
      </p:sp>
      <p:pic>
        <p:nvPicPr>
          <p:cNvPr id="51" name="Picture 50" descr="p_4209e20f77cf9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2011680"/>
            <a:ext cx="1225296" cy="585216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7973567" y="1554480"/>
            <a:ext cx="3584448" cy="3730752"/>
          </a:xfrm>
          <a:prstGeom prst="roundRect">
            <a:avLst>
              <a:gd name="adj" fmla="val 10000"/>
            </a:avLst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73567" y="1554480"/>
            <a:ext cx="3584448" cy="45720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174736" y="1737360"/>
            <a:ext cx="292608" cy="237744"/>
          </a:xfrm>
          <a:prstGeom prst="roundRect">
            <a:avLst>
              <a:gd name="adj" fmla="val 35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74736" y="1796795"/>
            <a:ext cx="2926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60" b="1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48088" y="1737360"/>
            <a:ext cx="1508760" cy="237744"/>
          </a:xfrm>
          <a:prstGeom prst="roundRect">
            <a:avLst>
              <a:gd name="adj" fmla="val 35000"/>
            </a:avLst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48088" y="1796795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Segoe UI"/>
              </a:rPr>
              <a:t>НЕ РЕКОМЕНДОВАНО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4736" y="2084831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940" b="1">
                <a:solidFill>
                  <a:srgbClr val="151A26"/>
                </a:solidFill>
                <a:latin typeface="Georgia"/>
              </a:rPr>
              <a:t>ШИРОКИЙ ІМПОРТ ПРЕМІАЛЬНОЇ ЯПОНІЇ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4736" y="2523744"/>
            <a:ext cx="3182112" cy="1371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74736" y="2651760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МАСШТАБ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74736" y="2798064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42E3A"/>
                </a:solidFill>
                <a:latin typeface="Georgia"/>
              </a:rPr>
              <a:t>16–19 млн грн, не росте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48088" y="2651760"/>
            <a:ext cx="1508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6B7282"/>
                </a:solidFill>
                <a:latin typeface="Segoe UI"/>
              </a:rPr>
              <a:t>ЦІНОВА ЗОНА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48088" y="2798064"/>
            <a:ext cx="1508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9" b="1">
                <a:solidFill>
                  <a:srgbClr val="151A26"/>
                </a:solidFill>
                <a:latin typeface="Georgia"/>
              </a:rPr>
              <a:t>7 500 – 60 495 грн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74736" y="3127248"/>
            <a:ext cx="3182112" cy="1371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74736" y="3255264"/>
            <a:ext cx="31821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B42E3A"/>
                </a:solidFill>
                <a:latin typeface="Segoe UI"/>
              </a:rPr>
              <a:t>ЛОГІКА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74736" y="3438144"/>
            <a:ext cx="3182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Це сценарій, закладений у первинне формулювання задачі.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Ніша не росте: імпорт 2024 нижчий за 2022 на 13 %.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54 бренди вже присутні, топові слоти зайняті ексклюзивами.</a:t>
            </a:r>
          </a:p>
          <a:p>
            <a:pPr algn="l">
              <a:lnSpc>
                <a:spcPct val="128000"/>
              </a:lnSpc>
              <a:spcAft>
                <a:spcPts val="200"/>
              </a:spcAft>
            </a:pPr>
            <a:r>
              <a:rPr sz="700" b="0">
                <a:solidFill>
                  <a:srgbClr val="1B253F"/>
                </a:solidFill>
                <a:latin typeface="Segoe UI"/>
              </a:rPr>
              <a:t>HoReCa як канал зростання недоступна з шести структурних причин.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74736" y="4443984"/>
            <a:ext cx="3182112" cy="13716"/>
          </a:xfrm>
          <a:prstGeom prst="rect">
            <a:avLst/>
          </a:prstGeom>
          <a:solidFill>
            <a:srgbClr val="E2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74736" y="4572000"/>
            <a:ext cx="31821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B42E3A"/>
                </a:solidFill>
                <a:latin typeface="Segoe UI"/>
              </a:rPr>
              <a:t>ЧИМ РИЗИКУЄМО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74736" y="4754880"/>
            <a:ext cx="318211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15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· Три блокуючі ризики одночасно</a:t>
            </a:r>
          </a:p>
          <a:p>
            <a:pPr algn="l">
              <a:lnSpc>
                <a:spcPct val="126000"/>
              </a:lnSpc>
              <a:spcAft>
                <a:spcPts val="15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· Стеля платоспроможності 35–57 % зарплати за ніж</a:t>
            </a:r>
          </a:p>
          <a:p>
            <a:pPr algn="l">
              <a:lnSpc>
                <a:spcPct val="126000"/>
              </a:lnSpc>
              <a:spcAft>
                <a:spcPts val="150"/>
              </a:spcAft>
            </a:pPr>
            <a:r>
              <a:rPr sz="690" b="0">
                <a:solidFill>
                  <a:srgbClr val="6B7282"/>
                </a:solidFill>
                <a:latin typeface="Segoe UI"/>
              </a:rPr>
              <a:t>· Немає сервісу, який виправдав би премію</a:t>
            </a:r>
          </a:p>
        </p:txBody>
      </p:sp>
      <p:pic>
        <p:nvPicPr>
          <p:cNvPr id="70" name="Picture 69" descr="p_3a079f6caf4f15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3" y="2011680"/>
            <a:ext cx="1225296" cy="58521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66928" y="537667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B42E3A"/>
                </a:solidFill>
                <a:latin typeface="Segoe UI"/>
              </a:rPr>
              <a:t>ТРИ БЛОКУЮЧІ РИЗИКИ, СПІЛЬНІ ДЛЯ ВСІХ СЦЕНАРІЇВ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6928" y="5577840"/>
            <a:ext cx="3584448" cy="530352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" y="5577840"/>
            <a:ext cx="36576" cy="530352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9808" y="5641848"/>
            <a:ext cx="3291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42E3A"/>
                </a:solidFill>
                <a:latin typeface="Segoe UI"/>
              </a:rPr>
              <a:t>Японський сегмент не росте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" y="582472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Імпорт 2024 нижчий за 2022 на 13 % при 54 присутніх брендах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70248" y="5577840"/>
            <a:ext cx="3584448" cy="530352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70248" y="5577840"/>
            <a:ext cx="36576" cy="530352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53128" y="5641848"/>
            <a:ext cx="3291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42E3A"/>
                </a:solidFill>
                <a:latin typeface="Segoe UI"/>
              </a:rPr>
              <a:t>Професійна кухня Японію не купує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53128" y="582472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AL-Group: 2 японські бренди з 15, 523 проф. ножі в каталозі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73567" y="5577840"/>
            <a:ext cx="3584448" cy="530352"/>
          </a:xfrm>
          <a:prstGeom prst="roundRect">
            <a:avLst>
              <a:gd name="adj" fmla="val 8000"/>
            </a:avLst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973567" y="5577840"/>
            <a:ext cx="36576" cy="530352"/>
          </a:xfrm>
          <a:prstGeom prst="rect">
            <a:avLst/>
          </a:prstGeom>
          <a:solidFill>
            <a:srgbClr val="B4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56447" y="5641848"/>
            <a:ext cx="3291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40" b="1">
                <a:solidFill>
                  <a:srgbClr val="B42E3A"/>
                </a:solidFill>
                <a:latin typeface="Segoe UI"/>
              </a:rPr>
              <a:t>Структурний програш 10 пунктів мита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156447" y="582472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680" b="0">
                <a:solidFill>
                  <a:srgbClr val="1B253F"/>
                </a:solidFill>
                <a:latin typeface="Segoe UI"/>
              </a:rPr>
              <a:t>10 % на Японію проти 0 % на ЄС, плюс 20 % ПДВ на обидва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" y="6144768"/>
            <a:ext cx="11064240" cy="210312"/>
          </a:xfrm>
          <a:prstGeom prst="rect">
            <a:avLst/>
          </a:prstGeom>
          <a:solidFill>
            <a:srgbClr val="1B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3232" y="6185916"/>
            <a:ext cx="60853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Segoe UI"/>
              </a:rPr>
              <a:t>ЧЕСНА ВІДПОВІДЬ НА ПОСТАВЛЕНЕ ПИТАННЯ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3504" y="6400800"/>
            <a:ext cx="109910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30" b="0">
                <a:solidFill>
                  <a:srgbClr val="1B253F"/>
                </a:solidFill>
                <a:latin typeface="Segoe UI"/>
              </a:rPr>
              <a:t>Ринок японського виробництва — 16–19 млн грн, не росте, 54 перевірені бренди у 17 каналах. Sakai Takayuki у ньому майже відсутній: дві позиції на складі з 19 лістингів.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504" y="6556248"/>
            <a:ext cx="10991088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30" b="0">
                <a:solidFill>
                  <a:srgbClr val="1B253F"/>
                </a:solidFill>
                <a:latin typeface="Segoe UI"/>
              </a:rPr>
              <a:t>Це одночасно вільна територія і попередження — нульова впізнаваність. Рекомендація: сценарій A; B — лише після перевірки умов виробника; C закрити.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