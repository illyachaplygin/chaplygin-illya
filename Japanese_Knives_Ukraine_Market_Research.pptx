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Relationship Id="rId13" Type="http://schemas.openxmlformats.org/officeDocument/2006/relationships/image" Target="../media/image38.png"/><Relationship Id="rId14" Type="http://schemas.openxmlformats.org/officeDocument/2006/relationships/image" Target="../media/image3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Relationship Id="rId14" Type="http://schemas.openxmlformats.org/officeDocument/2006/relationships/image" Target="../media/image5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Relationship Id="rId13" Type="http://schemas.openxmlformats.org/officeDocument/2006/relationships/image" Target="../media/image74.png"/><Relationship Id="rId14" Type="http://schemas.openxmlformats.org/officeDocument/2006/relationships/image" Target="../media/image75.png"/><Relationship Id="rId15" Type="http://schemas.openxmlformats.org/officeDocument/2006/relationships/image" Target="../media/image76.png"/><Relationship Id="rId16" Type="http://schemas.openxmlformats.org/officeDocument/2006/relationships/image" Target="../media/image77.png"/><Relationship Id="rId17" Type="http://schemas.openxmlformats.org/officeDocument/2006/relationships/image" Target="../media/image78.png"/><Relationship Id="rId18" Type="http://schemas.openxmlformats.org/officeDocument/2006/relationships/image" Target="../media/image79.png"/><Relationship Id="rId19" Type="http://schemas.openxmlformats.org/officeDocument/2006/relationships/image" Target="../media/image80.png"/><Relationship Id="rId20" Type="http://schemas.openxmlformats.org/officeDocument/2006/relationships/image" Target="../media/image81.png"/><Relationship Id="rId21" Type="http://schemas.openxmlformats.org/officeDocument/2006/relationships/image" Target="../media/image82.png"/><Relationship Id="rId22" Type="http://schemas.openxmlformats.org/officeDocument/2006/relationships/image" Target="../media/image8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42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Relationship Id="rId13" Type="http://schemas.openxmlformats.org/officeDocument/2006/relationships/image" Target="../media/image56.png"/><Relationship Id="rId14" Type="http://schemas.openxmlformats.org/officeDocument/2006/relationships/image" Target="../media/image9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46.png"/><Relationship Id="rId11" Type="http://schemas.openxmlformats.org/officeDocument/2006/relationships/image" Target="../media/image4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33.png"/><Relationship Id="rId7" Type="http://schemas.openxmlformats.org/officeDocument/2006/relationships/image" Target="../media/image104.png"/><Relationship Id="rId8" Type="http://schemas.openxmlformats.org/officeDocument/2006/relationships/image" Target="../media/image105.png"/><Relationship Id="rId9" Type="http://schemas.openxmlformats.org/officeDocument/2006/relationships/image" Target="../media/image106.png"/><Relationship Id="rId10" Type="http://schemas.openxmlformats.org/officeDocument/2006/relationships/image" Target="../media/image107.png"/><Relationship Id="rId11" Type="http://schemas.openxmlformats.org/officeDocument/2006/relationships/image" Target="../media/image108.png"/><Relationship Id="rId12" Type="http://schemas.openxmlformats.org/officeDocument/2006/relationships/image" Target="../media/image109.png"/><Relationship Id="rId13" Type="http://schemas.openxmlformats.org/officeDocument/2006/relationships/image" Target="../media/image110.png"/><Relationship Id="rId14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115.png"/><Relationship Id="rId8" Type="http://schemas.openxmlformats.org/officeDocument/2006/relationships/image" Target="../media/image116.png"/><Relationship Id="rId9" Type="http://schemas.openxmlformats.org/officeDocument/2006/relationships/image" Target="../media/image117.png"/><Relationship Id="rId10" Type="http://schemas.openxmlformats.org/officeDocument/2006/relationships/image" Target="../media/image118.png"/><Relationship Id="rId11" Type="http://schemas.openxmlformats.org/officeDocument/2006/relationships/image" Target="../media/image119.png"/><Relationship Id="rId12" Type="http://schemas.openxmlformats.org/officeDocument/2006/relationships/image" Target="../media/image120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Relationship Id="rId20" Type="http://schemas.openxmlformats.org/officeDocument/2006/relationships/image" Target="../media/image1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Relationship Id="rId10" Type="http://schemas.openxmlformats.org/officeDocument/2006/relationships/image" Target="../media/image136.png"/><Relationship Id="rId11" Type="http://schemas.openxmlformats.org/officeDocument/2006/relationships/image" Target="../media/image137.png"/><Relationship Id="rId12" Type="http://schemas.openxmlformats.org/officeDocument/2006/relationships/image" Target="../media/image138.png"/><Relationship Id="rId13" Type="http://schemas.openxmlformats.org/officeDocument/2006/relationships/image" Target="../media/image139.png"/><Relationship Id="rId14" Type="http://schemas.openxmlformats.org/officeDocument/2006/relationships/image" Target="../media/image140.png"/><Relationship Id="rId15" Type="http://schemas.openxmlformats.org/officeDocument/2006/relationships/image" Target="../media/image141.png"/><Relationship Id="rId16" Type="http://schemas.openxmlformats.org/officeDocument/2006/relationships/image" Target="../media/image142.png"/><Relationship Id="rId17" Type="http://schemas.openxmlformats.org/officeDocument/2006/relationships/image" Target="../media/image143.png"/><Relationship Id="rId18" Type="http://schemas.openxmlformats.org/officeDocument/2006/relationships/image" Target="../media/image144.png"/><Relationship Id="rId19" Type="http://schemas.openxmlformats.org/officeDocument/2006/relationships/image" Target="../media/image145.png"/><Relationship Id="rId20" Type="http://schemas.openxmlformats.org/officeDocument/2006/relationships/image" Target="../media/image146.png"/><Relationship Id="rId21" Type="http://schemas.openxmlformats.org/officeDocument/2006/relationships/image" Target="../media/image1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9168" cy="6858000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59168" y="0"/>
            <a:ext cx="16459" cy="685800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682496" cy="727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792224"/>
            <a:ext cx="566928" cy="32004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02996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Японські ножі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для професійної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590288"/>
            <a:ext cx="3291840" cy="16459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60350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742432"/>
            <a:ext cx="4078224" cy="566928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 w="9525">
            <a:solidFill>
              <a:srgbClr val="4552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5907024"/>
            <a:ext cx="237744" cy="237744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7044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Georgia"/>
              </a:rPr>
              <a:t>M A D E   I N   J A P A N   O N L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0990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</a:p>
        </p:txBody>
      </p:sp>
      <p:pic>
        <p:nvPicPr>
          <p:cNvPr id="15" name="Picture 14" descr="p_743072269df032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12064"/>
            <a:ext cx="4114800" cy="2670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16368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8c342e6a18561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3374136"/>
            <a:ext cx="1207008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906256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54ae9b9a940c6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4" y="3374136"/>
            <a:ext cx="1207008" cy="914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296144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4bd94ac4fb0bd5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3374136"/>
            <a:ext cx="1207008" cy="91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1636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691–924 млн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948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948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16–19 млн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103 тис.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948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1,3 %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16368" y="5998464"/>
            <a:ext cx="4114800" cy="10972"/>
          </a:xfrm>
          <a:prstGeom prst="rect">
            <a:avLst/>
          </a:prstGeom>
          <a:solidFill>
            <a:srgbClr val="455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6368" y="6144768"/>
            <a:ext cx="41696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21 слайд · 25 продавців · 56 перевірених брендів · 259 ножів у каталозі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Г О Л О В Н 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261518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Н А   Б А З А   2 0 2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966E28"/>
                </a:solidFill>
                <a:latin typeface="Georgia"/>
              </a:rPr>
              <a:t>9,02 млн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554480"/>
            <a:ext cx="261518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,   О Ц І Н К 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2A7F86"/>
                </a:solidFill>
                <a:latin typeface="Georgia"/>
              </a:rPr>
              <a:t>691–924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554480"/>
            <a:ext cx="261518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І М П О Р Т   І З   Я П О Н І 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54780"/>
                </a:solidFill>
                <a:latin typeface="Georgia"/>
              </a:rPr>
              <a:t>103 тис.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15984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1554480"/>
            <a:ext cx="261518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A84A6B"/>
                </a:solidFill>
                <a:latin typeface="Georgia"/>
              </a:rPr>
              <a:t>16–19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2798064"/>
            <a:ext cx="261518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42E3A"/>
                </a:solidFill>
                <a:latin typeface="Georgia"/>
              </a:rP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каталогах продавців.
Сумарно 759 позицій.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798064"/>
            <a:ext cx="2615184" cy="25603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2736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2736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A7D5A"/>
                </a:solidFill>
                <a:latin typeface="Georgia"/>
              </a:rPr>
              <a:t>2 з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2736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798064"/>
            <a:ext cx="2615184" cy="2560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О   Н А   Я П О Н І 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88A3D"/>
                </a:solidFill>
                <a:latin typeface="Georgia"/>
              </a:rPr>
              <a:t>10 %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5984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5984" y="2798064"/>
            <a:ext cx="2615184" cy="25603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Н О В И Й   Р О З М А 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B253F"/>
                </a:solidFill>
                <a:latin typeface="Georgia"/>
              </a:rPr>
              <a:t>726–60 495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AA2B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966E28"/>
                </a:solidFill>
                <a:latin typeface="Segoe UI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A7F86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2E3A"/>
                </a:solidFill>
                <a:latin typeface="Segoe UI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54780"/>
                </a:solidFill>
                <a:latin typeface="Segoe UI"/>
              </a:rPr>
              <a:t>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9" name="Picture 18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3" name="Picture 22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8" name="Picture 27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Кіріцуке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2" name="Picture 31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210–300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7" name="Picture 36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150–180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1" name="Picture 40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6B7282"/>
                </a:solidFill>
                <a:latin typeface="Segoe UI"/>
              </a:rPr>
              <a:t>Петті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90–150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6" name="Picture 45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12 000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500 – 27 970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ціни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Петті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1 249 – 13 290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1 107 – 13 971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1 470 – 9 000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AA2B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3 000 – 20 000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2 500 – 27 970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Росте вдома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500–900 шт/рік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Набір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AUS-6A, AUS-8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VG-10 core, clad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6 000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Wasabi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damascus clad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12 000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101–193 шари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43 020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63–65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Секі, Гіфу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726 – 70 102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Сакаї, Осака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1 999 – 15 580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5 320 – 16 677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Тоса, Коті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2 610 – 10 035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9 900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14 800 – 16 740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  Н А   Р І 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2A7F86"/>
                </a:solidFill>
                <a:latin typeface="Georgia"/>
              </a:rPr>
              <a:t>16–19 млн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Японське виробництво
у роздрібі України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Ш Т У К   Н А   Р І 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554780"/>
                </a:solidFill>
                <a:latin typeface="Georgia"/>
              </a:rPr>
              <a:t>≈ 3 700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ножів японського
виробництва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Ч А С Т К А   Р И Н К 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966E28"/>
                </a:solidFill>
                <a:latin typeface="Georgia"/>
              </a:rPr>
              <a:t>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грошах і 0,15 %
у штуках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A84A6B"/>
                </a:solidFill>
                <a:latin typeface="Georgia"/>
              </a:rPr>
              <a:t>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25 продавців,
759 позицій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907792"/>
            <a:ext cx="70408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48940"/>
            <a:ext cx="38724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0040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КОД УКТЗЕД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4288" y="320040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НАЗВА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808" y="32004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ІМПОРТ, ТИС.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3408" y="32004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ЧАСТКА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378708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4198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8211 10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34198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Набори ножів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41985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2 339,2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3419856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26 %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71246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8211 91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04288" y="371246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столові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21808" y="371246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1 093,4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93408" y="371246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12 %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963924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00507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8211 92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40050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21808" y="400507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5 587,3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93408" y="4005072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62 %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315968"/>
            <a:ext cx="704088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4439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РАЗОМ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04288" y="444398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21808" y="444398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9 019,8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93408" y="444398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100 %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2907792"/>
            <a:ext cx="3767328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10144" y="2948940"/>
            <a:ext cx="207203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ІМПОРТ ІЗ ЯПОНІЇ · 8211 92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25526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30767" y="3296412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0767" y="3296412"/>
            <a:ext cx="1978705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80191" y="3255264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119,2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56616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30767" y="3607308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30767" y="3607308"/>
            <a:ext cx="1316370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80191" y="3566160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79,3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387705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30767" y="3918204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430767" y="3918204"/>
            <a:ext cx="1714767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80191" y="3877056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103,3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4279392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495604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3232" y="499719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266944"/>
            <a:ext cx="32004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A7F86"/>
                </a:solidFill>
                <a:latin typeface="Georgia"/>
              </a:rPr>
              <a:t>56 брендів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японського виробництва, перевірених
на країну походження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52544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352544" y="5266944"/>
            <a:ext cx="32004" cy="73152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53712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54780"/>
                </a:solidFill>
                <a:latin typeface="Georgia"/>
              </a:rPr>
              <a:t>6 регіонів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53712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Секі, Сакаї, Ечідзен, Тоса,
Сандзьо, Аоморі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38159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138159" y="5266944"/>
            <a:ext cx="32004" cy="73152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66E28"/>
                </a:solidFill>
                <a:latin typeface="Georgia"/>
              </a:rPr>
              <a:t>25 продавців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від фахових магазинів
до оптового профканалу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6928" y="6126480"/>
            <a:ext cx="11064240" cy="6944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6928" y="6126480"/>
            <a:ext cx="36576" cy="69443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2" y="628192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ЗНАЧИТЬ ДЛЯ ОЦІНКИ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6510528"/>
            <a:ext cx="10588752" cy="164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594360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d6e17fcf3d2475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33a70b88b0d74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1 149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d59826c51e9236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1 349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abc40943b88d2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Mikihisa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23652eb649de86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Misono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04ca1fd405b651c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449a0fa005f3fe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e451123c4ea3ce3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1 991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a8dda7845ccd9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b24bcd2f1c88598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Motokane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453450017d7bcce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Hanakumagawa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2468ec49793a87d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2 400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11 %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726–2 400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8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43e68bae1d5168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4fb344401d15f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2 870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797ecda963e1f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3 090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de561360f20efbd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3 215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8c9c80959cd156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97660616646e1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a318bfe8552265a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2e91ea756b0ad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4 130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9338fbf5fd17d5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Fukamizu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cc824488ee159b8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4 657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876fa17e2def4a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e4f1f50101e1ad5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Misono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26 %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2 640–4 996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88873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46227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f3989c9b25a05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8918967fa97605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aa251d8125cd55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754cc797ae3a1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6 440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eda8d124c955ab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Yoshihiro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bocho 240мм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6 747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3b0138473ac2d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Kasumi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7 199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c77e4a68891c0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d2371d536e521f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e976c7316ce0589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Santoku Damascus TADAYOSHI Tosa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7 907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9e9e46e10fb56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Shigehiro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db43e088e35fc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Seki Kanetsugu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Kiritsuke Zuiun 9302 150мм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418f52bb3af9119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Tsukasa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45 %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5 060–9 999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7018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23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464058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2b52150e4883a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10 195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91dad844d142b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02d3b3a4d1494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0827187fef7ab3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cde04470743a33c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JCK Natures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f37e18b42894173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12 999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b4d0d2f644ed9d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58b514d4c51b78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15 120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27208732ebeb99d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a9020c3c0c6b53c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Harukaze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fbf18e2e77d70d1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9f9892533a47e3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27 970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A84A6B"/>
                </a:solidFill>
                <a:latin typeface="Georgia"/>
              </a:rP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18 %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10 035–38 640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15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493776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98678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84A6B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896111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До 2 500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11680"/>
            <a:ext cx="24505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Seki Kanetsugu 8 · Satake 4 · HONMAMON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75c8d1b75469cf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441094" cy="40233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10128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1 140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35915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4102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152c4619023fe0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0678" y="1645920"/>
            <a:ext cx="1441094" cy="40233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934102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4102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5854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4102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4102" y="235915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58076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_140499d5980b14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652" y="1645920"/>
            <a:ext cx="1441094" cy="40233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558076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58076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9828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Takanori Izumi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8076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1 980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8076" y="235915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2051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_3e2b685bcef9d3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8627" y="1645920"/>
            <a:ext cx="1441094" cy="402335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8182051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82051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3803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2051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82051" y="235915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06025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1df0b9393e475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601" y="1645920"/>
            <a:ext cx="1441094" cy="402335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9806025" y="21076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06025" y="21076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7777" y="2103120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06025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6025" y="235915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256032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2560320"/>
            <a:ext cx="41148" cy="896111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8096" y="26060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2 500 – 5 000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27980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8096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" y="333756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0744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26 %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80744" y="333756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93392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93392" y="333756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06040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33756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3017520"/>
            <a:ext cx="24505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Tosa 10 · Masahiro 8 · Tojiro 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67394b62b036ed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704" y="2651760"/>
            <a:ext cx="1441094" cy="402335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3310128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10128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10128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10128" y="336499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34102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e76760d3f37cb47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0678" y="2651760"/>
            <a:ext cx="1441094" cy="402335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4934102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34102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35854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34102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3 231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34102" y="336499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58076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_ddfbc22ba73d061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4652" y="2651760"/>
            <a:ext cx="1441094" cy="402335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6558076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58076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9828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58076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3 539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8076" y="336499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82051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8dac3ccf7faf32a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8627" y="2651760"/>
            <a:ext cx="1441094" cy="402335"/>
          </a:xfrm>
          <a:prstGeom prst="rect">
            <a:avLst/>
          </a:prstGeom>
        </p:spPr>
      </p:pic>
      <p:sp>
        <p:nvSpPr>
          <p:cNvPr id="98" name="Rounded Rectangle 97"/>
          <p:cNvSpPr/>
          <p:nvPr/>
        </p:nvSpPr>
        <p:spPr>
          <a:xfrm>
            <a:off x="8182051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82051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83803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82051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4 450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2051" y="336499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06025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p_cf3aa719792dd9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601" y="2651760"/>
            <a:ext cx="1441094" cy="402335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9806025" y="311353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06025" y="311353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107777" y="310895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06025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06025" y="336499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356615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3566159"/>
            <a:ext cx="41148" cy="896111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68096" y="361187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5 000 – 10 000 грн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096" y="380390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096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8096" y="434339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80744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45 %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80744" y="434339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93392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93392" y="434339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606040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606040" y="434339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8096" y="4023359"/>
            <a:ext cx="24505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Tojiro 24 · Yaxell 23 · KAI 15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10128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p_d7c9876b54b98bd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46704" y="3657599"/>
            <a:ext cx="1441094" cy="402335"/>
          </a:xfrm>
          <a:prstGeom prst="rect">
            <a:avLst/>
          </a:prstGeom>
        </p:spPr>
      </p:pic>
      <p:sp>
        <p:nvSpPr>
          <p:cNvPr id="125" name="Rounded Rectangle 124"/>
          <p:cNvSpPr/>
          <p:nvPr/>
        </p:nvSpPr>
        <p:spPr>
          <a:xfrm>
            <a:off x="3310128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310128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611880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10128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10128" y="437083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34102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p_7c612f0bf20384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70678" y="3657599"/>
            <a:ext cx="1441094" cy="402335"/>
          </a:xfrm>
          <a:prstGeom prst="rect">
            <a:avLst/>
          </a:prstGeom>
        </p:spPr>
      </p:pic>
      <p:sp>
        <p:nvSpPr>
          <p:cNvPr id="132" name="Rounded Rectangle 131"/>
          <p:cNvSpPr/>
          <p:nvPr/>
        </p:nvSpPr>
        <p:spPr>
          <a:xfrm>
            <a:off x="4934102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934102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35854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34102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6 401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34102" y="437083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58076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0849ef6b2ab669a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94652" y="3657599"/>
            <a:ext cx="1441094" cy="402335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6558076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58076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859828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558076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58076" y="437083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182051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p_28d76dea152104d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8627" y="3657599"/>
            <a:ext cx="1441094" cy="402335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8182051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82051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83803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182051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8 050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182051" y="437083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806025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42f4ee807831e52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42601" y="3657599"/>
            <a:ext cx="1441094" cy="402335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9806025" y="411937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806025" y="411937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107777" y="411479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806025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9 470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806025" y="437083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66928" y="457199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66928" y="4571999"/>
            <a:ext cx="41148" cy="896111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68096" y="46177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A84A6B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68096" y="480974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8096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68096" y="534923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80744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18 %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80744" y="534923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93392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93392" y="534923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606040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606040" y="534923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68096" y="5029199"/>
            <a:ext cx="24505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KAI 15 · Yaxell 10 · Tojiro 8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310128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p_5b65bfe8ef210b9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46704" y="4663439"/>
            <a:ext cx="1441094" cy="402335"/>
          </a:xfrm>
          <a:prstGeom prst="rect">
            <a:avLst/>
          </a:prstGeom>
        </p:spPr>
      </p:pic>
      <p:sp>
        <p:nvSpPr>
          <p:cNvPr id="173" name="Rounded Rectangle 172"/>
          <p:cNvSpPr/>
          <p:nvPr/>
        </p:nvSpPr>
        <p:spPr>
          <a:xfrm>
            <a:off x="3310128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10128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11880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10128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310128" y="537667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934102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p_c22e46de500b8e6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70678" y="4663439"/>
            <a:ext cx="1441094" cy="402335"/>
          </a:xfrm>
          <a:prstGeom prst="rect">
            <a:avLst/>
          </a:prstGeom>
        </p:spPr>
      </p:pic>
      <p:sp>
        <p:nvSpPr>
          <p:cNvPr id="180" name="Rounded Rectangle 179"/>
          <p:cNvSpPr/>
          <p:nvPr/>
        </p:nvSpPr>
        <p:spPr>
          <a:xfrm>
            <a:off x="4934102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934102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35854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Takamura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34102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11 990 грн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34102" y="537667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558076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" name="Picture 185" descr="p_250ba5e07dfb64d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94652" y="4663439"/>
            <a:ext cx="1441094" cy="402335"/>
          </a:xfrm>
          <a:prstGeom prst="rect">
            <a:avLst/>
          </a:prstGeom>
        </p:spPr>
      </p:pic>
      <p:sp>
        <p:nvSpPr>
          <p:cNvPr id="187" name="Rounded Rectangle 186"/>
          <p:cNvSpPr/>
          <p:nvPr/>
        </p:nvSpPr>
        <p:spPr>
          <a:xfrm>
            <a:off x="6558076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558076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859828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558076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558076" y="537667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182051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3" name="Picture 192" descr="p_d31c05a14aaad9f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18627" y="4663439"/>
            <a:ext cx="1441094" cy="402335"/>
          </a:xfrm>
          <a:prstGeom prst="rect">
            <a:avLst/>
          </a:prstGeom>
        </p:spPr>
      </p:pic>
      <p:sp>
        <p:nvSpPr>
          <p:cNvPr id="194" name="Rounded Rectangle 193"/>
          <p:cNvSpPr/>
          <p:nvPr/>
        </p:nvSpPr>
        <p:spPr>
          <a:xfrm>
            <a:off x="8182051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182051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483803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182051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182051" y="537667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9806025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p_b78a58e2d40d306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42601" y="4663439"/>
            <a:ext cx="1441094" cy="402335"/>
          </a:xfrm>
          <a:prstGeom prst="rect">
            <a:avLst/>
          </a:prstGeom>
        </p:spPr>
      </p:pic>
      <p:sp>
        <p:nvSpPr>
          <p:cNvPr id="201" name="Rounded Rectangle 200"/>
          <p:cNvSpPr/>
          <p:nvPr/>
        </p:nvSpPr>
        <p:spPr>
          <a:xfrm>
            <a:off x="9806025" y="512521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806025" y="512521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107777" y="5120639"/>
            <a:ext cx="119420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806025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27 822 грн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806025" y="5376671"/>
            <a:ext cx="149595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16 охоплює 56 брендів у 25 продавців.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596083796f5dc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1 560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fac20b8a1e4ff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8382864aecd41c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4 100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a251d8125cd55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5a0943241c59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6 671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b99d1bed4318d1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f9bd757125b1f1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0e12cd6efde637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9 720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1f6dfad583b163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0d6c1054787c0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10 920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de04470743a33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JCK Natures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e07256bad34f30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26 990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19 %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1 149–26 990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14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7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73013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4ca1fd405b65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dd50e9ce39d19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2 920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1047a123d3bb31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3 247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982b36aba845b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4 362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fa3a403ceaa113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Nakiri Kanto 54x165мм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5 439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150690736f1ed1a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6 160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f30cc82e04ffdb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c77e4a68891c07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69e9e46e10fb56e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Shigehiro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de2ada46424bc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8 999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d0542d538a2f984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a9020c3c0c6b53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30 %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1 140–19 990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12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612648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53212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493776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3434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b24bcd2f1c8859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69ad419a09a1bd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6fcbe5427e2db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3 463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97660616646e1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44228ad9d8f07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e210647f2461b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f9af68a7fa6237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b33a10e2bbc7f6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47d7acc3d88e47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Tanaka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5 203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5376f73217a9bb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Masahiro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6 512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3db5b8fa0291a23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Haruhiko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d2371d536e521f9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14 %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2 016–7 640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370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12805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2313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Шеф і гюто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11680"/>
            <a:ext cx="24505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Tojiro 14 · HONMAMON 7 · Yaxell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e6131eedad7ef5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170431" cy="73761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10128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2 099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694431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6c4f3a060e1e32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1645920"/>
            <a:ext cx="1170431" cy="73761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663440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5192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4 976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2694431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16752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_ee85a4a6e0903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28" y="1645920"/>
            <a:ext cx="1170431" cy="7376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016752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16752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7 804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694431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70063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_eada97a57faa51a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39" y="1645920"/>
            <a:ext cx="1170431" cy="737615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7370063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70063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71815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70063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9 520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70063" y="2694431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23376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1a3d4f712db7d7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1" y="1645920"/>
            <a:ext cx="1170431" cy="737615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8723376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23376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25128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23376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23376" y="2694431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7668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d78c15035ef2a4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3263" y="1645920"/>
            <a:ext cx="1170431" cy="737615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0076688" y="244297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76688" y="244297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243840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7668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76688" y="2694431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289560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6928" y="2895600"/>
            <a:ext cx="41148" cy="12313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" y="29413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" y="313334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36728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80744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30 %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80744" y="36728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93392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3392" y="36728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672840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096" y="3352800"/>
            <a:ext cx="24505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Yaxell 12 · Tojiro 10 · HONMAMON 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1012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2a7cab578ab6f1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704" y="2987040"/>
            <a:ext cx="1170431" cy="737615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3310128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10128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11880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1012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10128" y="403555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63440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_10804f1d5efbd42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2987040"/>
            <a:ext cx="1170431" cy="737615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4663440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63440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65192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63440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63440" y="403555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16752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d948675fdf9d5c2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3328" y="2987040"/>
            <a:ext cx="1170431" cy="737615"/>
          </a:xfrm>
          <a:prstGeom prst="rect">
            <a:avLst/>
          </a:prstGeom>
        </p:spPr>
      </p:pic>
      <p:sp>
        <p:nvSpPr>
          <p:cNvPr id="98" name="Rounded Rectangle 97"/>
          <p:cNvSpPr/>
          <p:nvPr/>
        </p:nvSpPr>
        <p:spPr>
          <a:xfrm>
            <a:off x="6016752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16752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18504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16752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16752" y="403555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370063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p_35894a3250f7977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06639" y="2987040"/>
            <a:ext cx="1170431" cy="737615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7370063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70063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71815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70063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70063" y="403555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23376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p_2ffd8c46735cdf7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9951" y="2987040"/>
            <a:ext cx="1170431" cy="737615"/>
          </a:xfrm>
          <a:prstGeom prst="rect">
            <a:avLst/>
          </a:prstGeom>
        </p:spPr>
      </p:pic>
      <p:sp>
        <p:nvSpPr>
          <p:cNvPr id="112" name="Rounded Rectangle 111"/>
          <p:cNvSpPr/>
          <p:nvPr/>
        </p:nvSpPr>
        <p:spPr>
          <a:xfrm>
            <a:off x="8723376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723376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025128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23376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8 610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723376" y="403555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7668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p_eb3b0ae5dbfaf52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13263" y="2987040"/>
            <a:ext cx="1170431" cy="737615"/>
          </a:xfrm>
          <a:prstGeom prst="rect">
            <a:avLst/>
          </a:prstGeom>
        </p:spPr>
      </p:pic>
      <p:sp>
        <p:nvSpPr>
          <p:cNvPr id="119" name="Rounded Rectangle 118"/>
          <p:cNvSpPr/>
          <p:nvPr/>
        </p:nvSpPr>
        <p:spPr>
          <a:xfrm>
            <a:off x="10076688" y="3784091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076688" y="3784091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378440" y="3779519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7668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76688" y="403555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6928" y="423672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66928" y="4236720"/>
            <a:ext cx="41148" cy="12313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8096" y="42824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68096" y="44744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68096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68096" y="501395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380744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14 %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380744" y="501395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993392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993392" y="501395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606040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06040" y="5013959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8096" y="4693920"/>
            <a:ext cx="24505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Tosa 11 · KAI 8 · HONMAMON 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31012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06b7b483cde5d03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704" y="4328159"/>
            <a:ext cx="1170431" cy="737615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3310128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310128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611880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31012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2 660 грн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310128" y="537667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663440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p_df51dc842f3e197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00016" y="4328159"/>
            <a:ext cx="1170431" cy="737615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4663440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663440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65192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63440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63440" y="537667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016752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0ae5588269613e8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53328" y="4328159"/>
            <a:ext cx="1170431" cy="737615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6016752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016752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318504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16752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016752" y="537667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370063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p_6e76766272a82f3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06639" y="4328159"/>
            <a:ext cx="1170431" cy="737615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7370063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70063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71815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370063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370063" y="537667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723376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p_c6a8f37b3354cd0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9951" y="4328159"/>
            <a:ext cx="1170431" cy="737615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8723376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23376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25128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723376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723376" y="537667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007668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3" name="Picture 172" descr="p_ee23ada01d2932d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3263" y="4328159"/>
            <a:ext cx="1170431" cy="737615"/>
          </a:xfrm>
          <a:prstGeom prst="rect">
            <a:avLst/>
          </a:prstGeom>
        </p:spPr>
      </p:pic>
      <p:sp>
        <p:nvSpPr>
          <p:cNvPr id="174" name="Rounded Rectangle 173"/>
          <p:cNvSpPr/>
          <p:nvPr/>
        </p:nvSpPr>
        <p:spPr>
          <a:xfrm>
            <a:off x="10076688" y="5125212"/>
            <a:ext cx="256032" cy="117043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076688" y="5125212"/>
            <a:ext cx="256032" cy="1170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378440" y="5120640"/>
            <a:ext cx="92354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07668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7 460 грн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076688" y="5376672"/>
            <a:ext cx="1225295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14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7525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6235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95339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5790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4894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5877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4981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Sekiryu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43525" y="1783080"/>
            <a:ext cx="2211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6592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Fuji Cutlery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84333" y="1952243"/>
            <a:ext cx="4929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05205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21664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36592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Kanetsune Seki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84831" y="2121408"/>
            <a:ext cx="20222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35632" y="209946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52092" y="210677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Ichiji</a:t>
            </a:r>
          </a:p>
        </p:txBody>
      </p:sp>
      <p:sp>
        <p:nvSpPr>
          <p:cNvPr id="37" name="Oval 36"/>
          <p:cNvSpPr/>
          <p:nvPr/>
        </p:nvSpPr>
        <p:spPr>
          <a:xfrm>
            <a:off x="2626805" y="225948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638693" y="2271369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36592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Inoguchi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78970" y="2459736"/>
            <a:ext cx="23109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Higonokami</a:t>
            </a:r>
          </a:p>
        </p:txBody>
      </p:sp>
      <p:sp>
        <p:nvSpPr>
          <p:cNvPr id="44" name="Oval 43"/>
          <p:cNvSpPr/>
          <p:nvPr/>
        </p:nvSpPr>
        <p:spPr>
          <a:xfrm>
            <a:off x="2651932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63819" y="260969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36592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Motokane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02224" y="2798064"/>
            <a:ext cx="143496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36592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Takanori Izumi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1707" y="2967228"/>
            <a:ext cx="249382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36592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Hanakumagawa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77930" y="3136392"/>
            <a:ext cx="87344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36592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Sekimagoroku Imayo</a:t>
            </a:r>
          </a:p>
        </p:txBody>
      </p:sp>
      <p:sp>
        <p:nvSpPr>
          <p:cNvPr id="57" name="Oval 56"/>
          <p:cNvSpPr/>
          <p:nvPr/>
        </p:nvSpPr>
        <p:spPr>
          <a:xfrm>
            <a:off x="2796475" y="327446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808362" y="3286353"/>
            <a:ext cx="76809" cy="76809"/>
          </a:xfrm>
          <a:prstGeom prst="ellipse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36592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Misono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82320" y="3474720"/>
            <a:ext cx="611109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2271" y="345277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78730" y="346008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36592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0287" y="3643884"/>
            <a:ext cx="30226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36592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084831" y="3813048"/>
            <a:ext cx="1783575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0704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2350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36592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Kanetaka</a:t>
            </a:r>
          </a:p>
        </p:txBody>
      </p:sp>
      <p:sp>
        <p:nvSpPr>
          <p:cNvPr id="74" name="Oval 73"/>
          <p:cNvSpPr/>
          <p:nvPr/>
        </p:nvSpPr>
        <p:spPr>
          <a:xfrm>
            <a:off x="2946166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958053" y="3963009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36592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Hisashige</a:t>
            </a:r>
          </a:p>
        </p:txBody>
      </p:sp>
      <p:sp>
        <p:nvSpPr>
          <p:cNvPr id="78" name="Oval 77"/>
          <p:cNvSpPr/>
          <p:nvPr/>
        </p:nvSpPr>
        <p:spPr>
          <a:xfrm>
            <a:off x="2946166" y="412028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958053" y="4132173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36592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Yamawaki Hamono</a:t>
            </a:r>
          </a:p>
        </p:txBody>
      </p:sp>
      <p:sp>
        <p:nvSpPr>
          <p:cNvPr id="82" name="Oval 81"/>
          <p:cNvSpPr/>
          <p:nvPr/>
        </p:nvSpPr>
        <p:spPr>
          <a:xfrm>
            <a:off x="2947448" y="428945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959335" y="430133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36592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827632" y="4489703"/>
            <a:ext cx="34973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976896" y="446775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93356" y="447507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36592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80476" y="4658867"/>
            <a:ext cx="154865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029201" y="463692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45661" y="464423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36592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193754" y="4828031"/>
            <a:ext cx="176819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52249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68708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36592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Kasumi / Sumikama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379569" y="4997195"/>
            <a:ext cx="1443628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075780" y="497525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092240" y="498256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36592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105416" y="5166359"/>
            <a:ext cx="206091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110270" y="514441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126729" y="515172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36592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Kiyokane</a:t>
            </a:r>
          </a:p>
        </p:txBody>
      </p:sp>
      <p:sp>
        <p:nvSpPr>
          <p:cNvPr id="111" name="Oval 110"/>
          <p:cNvSpPr/>
          <p:nvPr/>
        </p:nvSpPr>
        <p:spPr>
          <a:xfrm>
            <a:off x="3095976" y="530443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107863" y="5316321"/>
            <a:ext cx="76809" cy="76809"/>
          </a:xfrm>
          <a:prstGeom prst="ellipse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36592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945302" y="5504687"/>
            <a:ext cx="405959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122679" y="548274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9138" y="549005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736592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Suncraft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88585" y="5673851"/>
            <a:ext cx="15594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142710" y="565190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59169" y="565922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36592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Yoshihiro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010552" y="5843015"/>
            <a:ext cx="353143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161520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177980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36592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10293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99397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63037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31948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309934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999038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30021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619125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15600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91072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Tosa / Tosauchi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616861" y="1783080"/>
            <a:ext cx="69504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38780" y="176113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955239" y="176844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460736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291072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Global (Yoshikin)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553503" y="1952243"/>
            <a:ext cx="912920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84360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000819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460736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91072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Tadafusa / Ohishi</a:t>
            </a:r>
          </a:p>
        </p:txBody>
      </p:sp>
      <p:sp>
        <p:nvSpPr>
          <p:cNvPr id="149" name="Oval 148"/>
          <p:cNvSpPr/>
          <p:nvPr/>
        </p:nvSpPr>
        <p:spPr>
          <a:xfrm>
            <a:off x="8960970" y="209031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972858" y="2102205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460736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91072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Seto Iseya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972499" y="2290572"/>
            <a:ext cx="98615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460736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291072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Shimomura Kihan</a:t>
            </a:r>
          </a:p>
        </p:txBody>
      </p:sp>
      <p:sp>
        <p:nvSpPr>
          <p:cNvPr id="156" name="Oval 155"/>
          <p:cNvSpPr/>
          <p:nvPr/>
        </p:nvSpPr>
        <p:spPr>
          <a:xfrm>
            <a:off x="8984337" y="242864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996224" y="2440533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460736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291072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Yoshiharu</a:t>
            </a:r>
          </a:p>
        </p:txBody>
      </p:sp>
      <p:sp>
        <p:nvSpPr>
          <p:cNvPr id="160" name="Oval 159"/>
          <p:cNvSpPr/>
          <p:nvPr/>
        </p:nvSpPr>
        <p:spPr>
          <a:xfrm>
            <a:off x="9005979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9017866" y="260969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460736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291072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Haruhiko</a:t>
            </a:r>
          </a:p>
        </p:txBody>
      </p:sp>
      <p:sp>
        <p:nvSpPr>
          <p:cNvPr id="164" name="Oval 163"/>
          <p:cNvSpPr/>
          <p:nvPr/>
        </p:nvSpPr>
        <p:spPr>
          <a:xfrm>
            <a:off x="9061541" y="276697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9073429" y="2778861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460736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91072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Gyokucho / Kamisaku</a:t>
            </a:r>
          </a:p>
        </p:txBody>
      </p:sp>
      <p:sp>
        <p:nvSpPr>
          <p:cNvPr id="168" name="Oval 167"/>
          <p:cNvSpPr/>
          <p:nvPr/>
        </p:nvSpPr>
        <p:spPr>
          <a:xfrm>
            <a:off x="9082011" y="293613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093898" y="294802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460736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36208" y="3065068"/>
            <a:ext cx="5486400" cy="1691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291072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144540" y="3136392"/>
            <a:ext cx="13457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460736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91072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Takamura Hamono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953718" y="3305556"/>
            <a:ext cx="458653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157441" y="328361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173900" y="329092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460736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291072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Teruhide</a:t>
            </a:r>
          </a:p>
        </p:txBody>
      </p:sp>
      <p:sp>
        <p:nvSpPr>
          <p:cNvPr id="181" name="Oval 180"/>
          <p:cNvSpPr/>
          <p:nvPr/>
        </p:nvSpPr>
        <p:spPr>
          <a:xfrm>
            <a:off x="9133694" y="344363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145581" y="345551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460736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91072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Shigehiro</a:t>
            </a:r>
          </a:p>
        </p:txBody>
      </p:sp>
      <p:sp>
        <p:nvSpPr>
          <p:cNvPr id="185" name="Oval 184"/>
          <p:cNvSpPr/>
          <p:nvPr/>
        </p:nvSpPr>
        <p:spPr>
          <a:xfrm>
            <a:off x="9167248" y="361279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179135" y="362468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460736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291072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112729" y="3813048"/>
            <a:ext cx="22963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23530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25176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460736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291072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Tsukasa (Hinoura)</a:t>
            </a:r>
          </a:p>
        </p:txBody>
      </p:sp>
      <p:sp>
        <p:nvSpPr>
          <p:cNvPr id="194" name="Oval 193"/>
          <p:cNvSpPr/>
          <p:nvPr/>
        </p:nvSpPr>
        <p:spPr>
          <a:xfrm>
            <a:off x="9253970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265857" y="3963009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460736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291072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Tamahagane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9127801" y="4151375"/>
            <a:ext cx="442918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9323657" y="412943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340116" y="413674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60736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Shigeki Tanaka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41166" y="4320539"/>
            <a:ext cx="9291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380152" y="429859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396611" y="430590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60736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291072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JCK Natures</a:t>
            </a:r>
          </a:p>
        </p:txBody>
      </p:sp>
      <p:sp>
        <p:nvSpPr>
          <p:cNvPr id="208" name="Oval 207"/>
          <p:cNvSpPr/>
          <p:nvPr/>
        </p:nvSpPr>
        <p:spPr>
          <a:xfrm>
            <a:off x="9372804" y="445861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384691" y="447050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0460736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291072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Hatsukokoro</a:t>
            </a:r>
          </a:p>
        </p:txBody>
      </p:sp>
      <p:sp>
        <p:nvSpPr>
          <p:cNvPr id="212" name="Oval 211"/>
          <p:cNvSpPr/>
          <p:nvPr/>
        </p:nvSpPr>
        <p:spPr>
          <a:xfrm>
            <a:off x="9444087" y="462777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455975" y="4639665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460736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291072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Mcusta Zanmai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181157" y="4828031"/>
            <a:ext cx="64067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9475890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492349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460736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1072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Myojin (Naohito)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66637" y="4997195"/>
            <a:ext cx="157544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0460736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291072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Nigara Hamono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531214" y="5166359"/>
            <a:ext cx="69522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460736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6291072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Miyabi (Zwilling)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9012124" y="5335523"/>
            <a:ext cx="112135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547198" y="531357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563657" y="532089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460736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291072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Etsu / Ittetsu</a:t>
            </a:r>
          </a:p>
        </p:txBody>
      </p:sp>
      <p:sp>
        <p:nvSpPr>
          <p:cNvPr id="232" name="Oval 231"/>
          <p:cNvSpPr/>
          <p:nvPr/>
        </p:nvSpPr>
        <p:spPr>
          <a:xfrm>
            <a:off x="9548316" y="547359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560203" y="548548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0460736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291072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Harukaze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9700883" y="5673851"/>
            <a:ext cx="16946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460736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291072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Takeshi Saji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9746795" y="5843015"/>
            <a:ext cx="575631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0009008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0025467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460736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66928" y="6181344"/>
            <a:ext cx="20116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4124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Секі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792224" y="6181344"/>
            <a:ext cx="20116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066543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Сакаї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017520" y="6181344"/>
            <a:ext cx="201168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91839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Ечідзен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242816" y="6181344"/>
            <a:ext cx="20116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517136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Тоса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68112" y="6181344"/>
            <a:ext cx="201168" cy="6858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742431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Сандзьо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693407" y="6181344"/>
            <a:ext cx="201168" cy="685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6772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Аоморі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918704" y="6181344"/>
            <a:ext cx="201168" cy="68580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8193024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регіон не вказано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9125712" y="6164884"/>
            <a:ext cx="21945" cy="89611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9235440" y="614476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середина</a:t>
            </a:r>
          </a:p>
        </p:txBody>
      </p:sp>
      <p:sp>
        <p:nvSpPr>
          <p:cNvPr id="259" name="Oval 258"/>
          <p:cNvSpPr/>
          <p:nvPr/>
        </p:nvSpPr>
        <p:spPr>
          <a:xfrm>
            <a:off x="10460736" y="6164884"/>
            <a:ext cx="89611" cy="89611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0607040" y="6144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одна ціна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03504" y="647395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марки, жовтень 2026; це не прайс виробника. Кружок замість смуги означає одну знайдену ціну. Шість марок без публічних цін у графік не входять.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/ Shun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1136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8064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98064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8064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Suncraft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8064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8064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98064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Kanetsune Seki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31136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98064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98064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1136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8064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98064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Miyabi (Zwilling)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31136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98064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98064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 Kanetsugu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1136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8064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98064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Kasumi / Sumikama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98064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98064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Mcusta Zanmai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98064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98064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Yoshihiro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31136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98064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98064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Takeshi Saji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98064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98064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Masahiro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31136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8064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8064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Takamura Hamono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1136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98064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98064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Fuji Cutlery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31136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8064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98064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Tamahagane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1136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98064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98064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Fukamizu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31136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8064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98064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Takanori Izumi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1136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98064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98064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Tomita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31136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98064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798064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231136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798064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98064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71032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7960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Shigeki Tanaka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971032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537960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37960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Motokane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971032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537960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537960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Seto Iseya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971032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537960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537960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Hanakumagawa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971032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537960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537960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Harukaze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6537960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537960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Inoguchi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71032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537960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Misono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971032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537960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537960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Nigara Hamono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971032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B42E3A"/>
                </a:solidFill>
                <a:latin typeface="Segoe UI"/>
              </a:rPr>
              <a:t>Хіросакі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37960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537960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B42E3A"/>
                </a:solidFill>
                <a:latin typeface="Segoe UI"/>
              </a:rPr>
              <a:t>30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971032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537960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537960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Yoshiharu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71032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6537960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537960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Shimomura Kihan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6537960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537960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Teruhide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6537960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Anryu Hamono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971032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537960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37960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Etsu / Ittetsu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971032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6537960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537960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Gyokucho / Kamisaku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971032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6537960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537960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37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Hatsukokoro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71032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6537960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6537960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Higonokami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71032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6537960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537960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39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Hisashige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971032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6537960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537960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JCK Natures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971032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6537960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537960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41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Sekimagoroku Imayo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71032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537960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537960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42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Kanetaka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971032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6537960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6537960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710928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277855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Kazuhira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710928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0277855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277855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44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Kiyokane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710928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277855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277855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45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Mikihisa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10277855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277855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Haruhiko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10277855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277855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47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Ichiji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710928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10277855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0277855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48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 Masamune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710928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10277855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0277855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49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Shigehiro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9710928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0277855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277855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Tadafusa / Ohishi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9710928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07" name="Rounded Rectangle 406"/>
          <p:cNvSpPr/>
          <p:nvPr/>
        </p:nvSpPr>
        <p:spPr>
          <a:xfrm>
            <a:off x="10277855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0277855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51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Tsukasa (Hinoura)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9710928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10277855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10277855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Yamawaki Hamono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22" name="Rounded Rectangle 421"/>
          <p:cNvSpPr/>
          <p:nvPr/>
        </p:nvSpPr>
        <p:spPr>
          <a:xfrm>
            <a:off x="10277855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277855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53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Global (Yoshikin)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710928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30" name="Rounded Rectangle 429"/>
          <p:cNvSpPr/>
          <p:nvPr/>
        </p:nvSpPr>
        <p:spPr>
          <a:xfrm>
            <a:off x="10277855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0277855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HONMAMON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9710928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437" name="Rounded Rectangle 436"/>
          <p:cNvSpPr/>
          <p:nvPr/>
        </p:nvSpPr>
        <p:spPr>
          <a:xfrm>
            <a:off x="10277855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10277855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55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Sekiryu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710928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10277855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10277855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56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Suisin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9710928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52" name="Rounded Rectangle 451"/>
          <p:cNvSpPr/>
          <p:nvPr/>
        </p:nvSpPr>
        <p:spPr>
          <a:xfrm>
            <a:off x="10277855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10277855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6928" y="5650992"/>
            <a:ext cx="6400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56692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66928" y="5833872"/>
            <a:ext cx="36576" cy="73152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ounded Rectangle 458"/>
          <p:cNvSpPr/>
          <p:nvPr/>
        </p:nvSpPr>
        <p:spPr>
          <a:xfrm>
            <a:off x="73152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3152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07899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ЗАВОД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39572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30 брендів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73152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486460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4864608" y="5833872"/>
            <a:ext cx="36576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502920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502920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37667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КАРТКА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69340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26 брендів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02920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Походження підтверджене карткою продавця
або профільним торговим каталогом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9162288" y="5833872"/>
            <a:ext cx="2468880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62288" y="5833872"/>
            <a:ext cx="36576" cy="73152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326880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 ПРОЙШЛИ ПЕРЕВІРКУ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9326880" y="6053328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XINZUO, HEZHEN, Tokisu, Hasaki, S.K.K., Jikko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603504" y="65562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Н А Л И   З Б У Т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КАНАЛ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ЯПОН. 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88A3D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88A3D"/>
                </a:solidFill>
                <a:latin typeface="Segoe UI"/>
              </a:rPr>
              <a:t>≈ 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217 – 38 640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2A7F8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2A7F86"/>
                </a:solidFill>
                <a:latin typeface="Segoe UI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2 787 – 11 271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A84A6B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A84A6B"/>
                </a:solidFill>
                <a:latin typeface="Segoe UI"/>
              </a:rPr>
              <a:t>≈ 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2 145 – 70 102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Опт HoReCa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2 бренди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5 740 – 13 290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А С Н О В А Н 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966E28"/>
                </a:solidFill>
                <a:latin typeface="Georgia"/>
              </a:rPr>
              <a:t>1950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17904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Г І О 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2A7F86"/>
                </a:solidFill>
                <a:latin typeface="Georgia"/>
              </a:rPr>
              <a:t>Сакаї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17904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С Е Р І Й   У   Л І Н І Й Ц 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54780"/>
                </a:solidFill>
                <a:latin typeface="Georgia"/>
              </a:rPr>
              <a:t>50+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17904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Е К С П О Р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A84A6B"/>
                </a:solidFill>
                <a:latin typeface="Georgia"/>
              </a:rPr>
              <a:t>100+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ГРУПА СТАЛІ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КОНКРЕТНО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В ЦІНІ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7 000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і дамаск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Ginsan / Silver #3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Вуглецева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SPG2 / R2, ZA-18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Н А Й Д Е Н О   П О З И Ц І 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463040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2A7F86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Д Р О П Ш И П - Л І С Т И Н Г 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463040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B42E3A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ПОЗИЦІЯ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ПРОДАВЕЦЬ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СТАТУС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Є на вітрині Prom, на сайті продавця —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2E3A"/>
                </a:solidFill>
                <a:latin typeface="Segoe UI"/>
              </a:rPr>
              <a:t>ЩО ТАКЕ «ТІЛЬКИ НА PROM»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Товар є на вітрині продавця в Prom, але на його власному сайті його немає.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2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20685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1291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81897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2502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3108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23714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20685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9" name="Rounded Rectangle 78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01291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81897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62502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3108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23714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1" name="Rounded Rectangle 120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20685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01291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5" name="Rounded Rectangle 134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81897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2502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6928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4672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4672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217920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5870448"/>
            <a:ext cx="36576" cy="68762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455664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55664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Асортимент зібрано не дистрибʼютором, а дропшиперами. Брендом у країні ніхто не керує.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Цільова зона зайнята дванадцятьма брендами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Л Ь О В А   З О Н 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554780"/>
                </a:solidFill>
                <a:latin typeface="Georgia"/>
              </a:rPr>
              <a:t>7 000 – 20 000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Сюди потрапляє
основна лінійка бренду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966E28"/>
                </a:solidFill>
                <a:latin typeface="Georgia"/>
              </a:rP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із 259 каталогу,
тобто 41 %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  Н И Х   S A K A I   T A K A Y U K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B42E3A"/>
                </a:solidFill>
                <a:latin typeface="Georg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менше ніж 2 %
зайнятої зони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Б Р Е Н Д І В   У   З О Н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2A7F86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усі з полицею
і глибиною лінійки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871216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12364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ХТО ВЖЕ ТРИМАЄ ЗОНУ: 12 БРЕНДІВ, 105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32186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4015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3248" y="34015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670401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3670401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13248" y="36319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862425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900830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3120" y="3900830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13248" y="386242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092854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4131259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03120" y="4131259"/>
            <a:ext cx="1371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13248" y="409285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323283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03120" y="4361688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03120" y="4361688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13248" y="43232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5537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592116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03120" y="4592116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3248" y="45537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4784140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4822545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03120" y="4822545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3248" y="47841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5014569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5052974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03120" y="5052974"/>
            <a:ext cx="609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13248" y="501456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2064" y="5212994"/>
            <a:ext cx="5687568" cy="2103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24499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5283403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03120" y="5283403"/>
            <a:ext cx="304800" cy="77724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13248" y="524499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19088" y="2871216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65392" y="2912364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31638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22208" y="316382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ДВАНАДЦЯТЬ У ЗОНІ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68128" y="316382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SAKAI TAKAYUKI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345936" y="3342132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19088" y="33832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Позицій у зоні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4 – 21 у кожного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68128" y="33832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80390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Хто завозить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3803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є імпортер або
фаховий магазин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68128" y="38039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немає нікого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345936" y="4183380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9088" y="422452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2245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Suncraft, Tojiro, KAI
стоять в Епіцентрі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68128" y="42245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19088" y="46451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Опт HoReCa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22208" y="464515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у каталозі
AL-Group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68128" y="46451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345936" y="5024628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19088" y="506577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Впізнаваність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22208" y="506577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роками на полиці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68128" y="50657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фактично нульова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Але вільна вона тому, що попиту на неї ніхто не створював: дві позиції за всю історію каналу не дали впізнаваності, на яку можна спертися в першій партії.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виробництва. Це ширина присутності на полиці, а не обсяг продажів.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