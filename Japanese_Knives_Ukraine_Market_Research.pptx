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42.png"/><Relationship Id="rId13" Type="http://schemas.openxmlformats.org/officeDocument/2006/relationships/image" Target="../media/image43.png"/><Relationship Id="rId14" Type="http://schemas.openxmlformats.org/officeDocument/2006/relationships/image" Target="../media/image4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image" Target="../media/image54.png"/><Relationship Id="rId13" Type="http://schemas.openxmlformats.org/officeDocument/2006/relationships/image" Target="../media/image55.png"/><Relationship Id="rId14" Type="http://schemas.openxmlformats.org/officeDocument/2006/relationships/image" Target="../media/image5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63.png"/><Relationship Id="rId10" Type="http://schemas.openxmlformats.org/officeDocument/2006/relationships/image" Target="../media/image64.png"/><Relationship Id="rId11" Type="http://schemas.openxmlformats.org/officeDocument/2006/relationships/image" Target="../media/image65.png"/><Relationship Id="rId12" Type="http://schemas.openxmlformats.org/officeDocument/2006/relationships/image" Target="../media/image66.png"/><Relationship Id="rId13" Type="http://schemas.openxmlformats.org/officeDocument/2006/relationships/image" Target="../media/image67.png"/><Relationship Id="rId14" Type="http://schemas.openxmlformats.org/officeDocument/2006/relationships/image" Target="../media/image6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69.png"/><Relationship Id="rId5" Type="http://schemas.openxmlformats.org/officeDocument/2006/relationships/image" Target="../media/image35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Relationship Id="rId10" Type="http://schemas.openxmlformats.org/officeDocument/2006/relationships/image" Target="../media/image74.png"/><Relationship Id="rId11" Type="http://schemas.openxmlformats.org/officeDocument/2006/relationships/image" Target="../media/image75.png"/><Relationship Id="rId12" Type="http://schemas.openxmlformats.org/officeDocument/2006/relationships/image" Target="../media/image76.png"/><Relationship Id="rId13" Type="http://schemas.openxmlformats.org/officeDocument/2006/relationships/image" Target="../media/image77.png"/><Relationship Id="rId14" Type="http://schemas.openxmlformats.org/officeDocument/2006/relationships/image" Target="../media/image6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Relationship Id="rId6" Type="http://schemas.openxmlformats.org/officeDocument/2006/relationships/image" Target="../media/image4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Relationship Id="rId9" Type="http://schemas.openxmlformats.org/officeDocument/2006/relationships/image" Target="../media/image83.png"/><Relationship Id="rId10" Type="http://schemas.openxmlformats.org/officeDocument/2006/relationships/image" Target="../media/image84.png"/><Relationship Id="rId11" Type="http://schemas.openxmlformats.org/officeDocument/2006/relationships/image" Target="../media/image85.png"/><Relationship Id="rId12" Type="http://schemas.openxmlformats.org/officeDocument/2006/relationships/image" Target="../media/image86.png"/><Relationship Id="rId13" Type="http://schemas.openxmlformats.org/officeDocument/2006/relationships/image" Target="../media/image87.png"/><Relationship Id="rId14" Type="http://schemas.openxmlformats.org/officeDocument/2006/relationships/image" Target="../media/image8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38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Relationship Id="rId10" Type="http://schemas.openxmlformats.org/officeDocument/2006/relationships/image" Target="../media/image94.png"/><Relationship Id="rId11" Type="http://schemas.openxmlformats.org/officeDocument/2006/relationships/image" Target="../media/image95.png"/><Relationship Id="rId12" Type="http://schemas.openxmlformats.org/officeDocument/2006/relationships/image" Target="../media/image96.png"/><Relationship Id="rId13" Type="http://schemas.openxmlformats.org/officeDocument/2006/relationships/image" Target="../media/image97.png"/><Relationship Id="rId14" Type="http://schemas.openxmlformats.org/officeDocument/2006/relationships/image" Target="../media/image9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99.png"/><Relationship Id="rId5" Type="http://schemas.openxmlformats.org/officeDocument/2006/relationships/image" Target="../media/image36.png"/><Relationship Id="rId6" Type="http://schemas.openxmlformats.org/officeDocument/2006/relationships/image" Target="../media/image100.png"/><Relationship Id="rId7" Type="http://schemas.openxmlformats.org/officeDocument/2006/relationships/image" Target="../media/image101.png"/><Relationship Id="rId8" Type="http://schemas.openxmlformats.org/officeDocument/2006/relationships/image" Target="../media/image102.png"/><Relationship Id="rId9" Type="http://schemas.openxmlformats.org/officeDocument/2006/relationships/image" Target="../media/image103.png"/><Relationship Id="rId10" Type="http://schemas.openxmlformats.org/officeDocument/2006/relationships/image" Target="../media/image104.png"/><Relationship Id="rId11" Type="http://schemas.openxmlformats.org/officeDocument/2006/relationships/image" Target="../media/image105.png"/><Relationship Id="rId12" Type="http://schemas.openxmlformats.org/officeDocument/2006/relationships/image" Target="../media/image106.png"/><Relationship Id="rId13" Type="http://schemas.openxmlformats.org/officeDocument/2006/relationships/image" Target="../media/image85.png"/><Relationship Id="rId14" Type="http://schemas.openxmlformats.org/officeDocument/2006/relationships/image" Target="../media/image6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Relationship Id="rId6" Type="http://schemas.openxmlformats.org/officeDocument/2006/relationships/image" Target="../media/image110.png"/><Relationship Id="rId7" Type="http://schemas.openxmlformats.org/officeDocument/2006/relationships/image" Target="../media/image111.png"/><Relationship Id="rId8" Type="http://schemas.openxmlformats.org/officeDocument/2006/relationships/image" Target="../media/image112.png"/><Relationship Id="rId9" Type="http://schemas.openxmlformats.org/officeDocument/2006/relationships/image" Target="../media/image65.png"/><Relationship Id="rId10" Type="http://schemas.openxmlformats.org/officeDocument/2006/relationships/image" Target="../media/image66.png"/><Relationship Id="rId11" Type="http://schemas.openxmlformats.org/officeDocument/2006/relationships/image" Target="../media/image113.png"/><Relationship Id="rId12" Type="http://schemas.openxmlformats.org/officeDocument/2006/relationships/image" Target="../media/image114.png"/><Relationship Id="rId13" Type="http://schemas.openxmlformats.org/officeDocument/2006/relationships/image" Target="../media/image115.png"/><Relationship Id="rId14" Type="http://schemas.openxmlformats.org/officeDocument/2006/relationships/image" Target="../media/image6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Relationship Id="rId5" Type="http://schemas.openxmlformats.org/officeDocument/2006/relationships/image" Target="../media/image118.png"/><Relationship Id="rId6" Type="http://schemas.openxmlformats.org/officeDocument/2006/relationships/image" Target="../media/image119.png"/><Relationship Id="rId7" Type="http://schemas.openxmlformats.org/officeDocument/2006/relationships/image" Target="../media/image120.png"/><Relationship Id="rId8" Type="http://schemas.openxmlformats.org/officeDocument/2006/relationships/image" Target="../media/image121.png"/><Relationship Id="rId9" Type="http://schemas.openxmlformats.org/officeDocument/2006/relationships/image" Target="../media/image122.png"/><Relationship Id="rId10" Type="http://schemas.openxmlformats.org/officeDocument/2006/relationships/image" Target="../media/image123.png"/><Relationship Id="rId11" Type="http://schemas.openxmlformats.org/officeDocument/2006/relationships/image" Target="../media/image124.png"/><Relationship Id="rId12" Type="http://schemas.openxmlformats.org/officeDocument/2006/relationships/image" Target="../media/image125.png"/><Relationship Id="rId13" Type="http://schemas.openxmlformats.org/officeDocument/2006/relationships/image" Target="../media/image126.png"/><Relationship Id="rId14" Type="http://schemas.openxmlformats.org/officeDocument/2006/relationships/image" Target="../media/image127.png"/><Relationship Id="rId15" Type="http://schemas.openxmlformats.org/officeDocument/2006/relationships/image" Target="../media/image1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1.png"/><Relationship Id="rId4" Type="http://schemas.openxmlformats.org/officeDocument/2006/relationships/image" Target="../media/image132.png"/><Relationship Id="rId5" Type="http://schemas.openxmlformats.org/officeDocument/2006/relationships/image" Target="../media/image133.png"/><Relationship Id="rId6" Type="http://schemas.openxmlformats.org/officeDocument/2006/relationships/image" Target="../media/image1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Relationship Id="rId6" Type="http://schemas.openxmlformats.org/officeDocument/2006/relationships/image" Target="../media/image143.png"/><Relationship Id="rId7" Type="http://schemas.openxmlformats.org/officeDocument/2006/relationships/image" Target="../media/image14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5.png"/><Relationship Id="rId4" Type="http://schemas.openxmlformats.org/officeDocument/2006/relationships/image" Target="../media/image146.png"/><Relationship Id="rId5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51d1ad7b2afeb1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48 слайдів · 17 продавців · 55 японських брендів · 300 ножів у каталозі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БРЕНДІВ ЗРОБЛЕНО В ЯПОНІЇ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каталогах 17 продавців.
Сумарно 708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175–40 140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ніж. Розрив
у 229 разів усередині категорії.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Справжня Японія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1 · ГЕОМЕТРІЯ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2 · СТАЛЬ І КОНСТРУКЦІЯ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Справжні цінові сходи — не бренд, а сталь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японського ножа на 70 % визначається маркою сталі й кількістю шарів. Це єдина вісь, яку можна перевірити лабораторно.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ТВЕРДІСТЬ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5727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17922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AUS-8, 8Cr13MoV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 HRC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7922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Saku, Kasumi Tora, Seki Kanetsugu базові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833372"/>
            <a:ext cx="16495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06654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06654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06654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206654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6654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Satake Sakura, KAI Wasabi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81360" y="2107691"/>
            <a:ext cx="28492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6" y="229971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4086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 шарів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234086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damascus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408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34086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34086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Damascus, Yaxell Zen/Ran, KAI Shun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81360" y="2382011"/>
            <a:ext cx="434888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518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61518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61518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 HRC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261518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40 140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261518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 / Super Gou / Ypsilon, Miyabi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81360" y="2656331"/>
            <a:ext cx="749808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" y="284835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8950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28895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288950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 HRC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6168" y="288950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15 000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3488" y="288950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Takayuki, Kaneyoshi, Yoshihiro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81360" y="2930651"/>
            <a:ext cx="337413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1638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Швидкорізальна / спец.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6382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FAX-18 HSS, Chromax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47488" y="316382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61–64 HRC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16382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20 000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16382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FAX-18, Takamura Chromax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204971"/>
            <a:ext cx="38990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81360" y="1572768"/>
            <a:ext cx="749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ВІДН. ЦІНА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584448"/>
            <a:ext cx="2340864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724b2936515eb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194560" cy="102412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13232" y="4754880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Дамаск, 32–69 шарів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" y="4919472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VG-10 у серцевині, 60–61 HRC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84" y="358444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РУКІВ'Я — ЩО ВОНО ГОВОРИТЬ ПРО КАНАЛ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2384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5504" y="3822191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МАТЕРІАЛ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5783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ЗУСТРІЧАЄТЬСЯ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99232" y="3982212"/>
            <a:ext cx="6272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384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Wa — японське восьмигранне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75504" y="402336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магнолія, пакка, стабілізоване дерево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5783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Тільки спеціалізовані магазини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72384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Yo — західне клепане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75504" y="429768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мікарта, POM, ламінат, сталь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5783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Усе, що доходить до полиці та HoReCa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184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25db2918203bf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657600"/>
            <a:ext cx="896111" cy="13716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10588752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6627fa7684885d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3657600"/>
            <a:ext cx="896111" cy="13716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473184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wa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88752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358384"/>
            <a:ext cx="36576" cy="104302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ЦЯ ВІСЬ ВАЖЛИВІША ЗА 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можна перевірити: твердомір, XRF-аналізатор, різ по канату. Бренд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можна. У категорії, де 3 000+ пропозицій на Prom підписані «японська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AUS-8», сталь — єдина основа для порівняння.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358384"/>
            <a:ext cx="36576" cy="10430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 ТВЕРДОСТІ ПОНАД 60 HRC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Чим вища твердість, тим довше тримає кромку — і тим легше вона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викришується на кістці й замороженому продукті. Ножі 62–64 HRC вимагають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водних каменів і навички, а сервісу заточення в Україні немає.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3 · РЕГІОН ВИРОБНИЦТВА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Шість японських центрів, і лише один із них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Для японського ножа регіон — це не географія, а технологія, ціна й тип покупця. Шість центрів, кожен зі своїм почерком.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Секі, Гіфу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4820A"/>
                </a:solidFill>
                <a:latin typeface="Segoe UI"/>
              </a:rPr>
              <a:t>726 – 70 102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10 брендів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/ Shun · Yaxell · Suncraft · Satake · Miyabi · Kasumi · Seki Kanetsugu · Kanetsune · Global · Masahiro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Сюди йде 90 % грошей категорії в Україні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Сакаї, Осака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7141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5D4B96"/>
                </a:solidFill>
                <a:latin typeface="Segoe UI"/>
              </a:rPr>
              <a:t>1 999 – 15 580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7 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141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· Yamawaki · Suisin · Myojin · Yoshihiro · Sakai Haruhiko · Sakai Ichiji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Професійна суші-кухня. В Україні — одиничні позиції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3567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7473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4F7C"/>
                </a:solidFill>
                <a:latin typeface="Segoe UI"/>
              </a:rPr>
              <a:t>5 320 – 16 677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3 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 · Anryu · Etsu / Ittetsu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Найвища ціна за грам. Купує тільки ентузіаст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767328"/>
            <a:ext cx="3584448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Тоса, Коті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2 610 – 10 035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635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4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 / Tosauchi · HONMAMON · Fukamizu · Hokiyama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Куроучі-естетика. Найглибша артизанальна лінія в Україні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024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0248" y="3767328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141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141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7141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7141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7A169"/>
                </a:solidFill>
                <a:latin typeface="Segoe UI"/>
              </a:rPr>
              <a:t>9 900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967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 брендів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141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Tsukasa (Hinoura) · Shimomura Kihan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Дві позиції на всю країну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3567" y="3767328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7473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03B4B"/>
                </a:solidFill>
                <a:latin typeface="Segoe UI"/>
              </a:rPr>
              <a:t>14 800 – 16 740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 брендів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Nigara Hamono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Два ножі на всю країну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035040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ЗАКУПІВЛІ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вам контейнер. Сакаї, Тоса й Аоморі — ні: там кують поштучно.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6035040"/>
            <a:ext cx="36576" cy="69103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Масштабований постачальник в Україні може бути тільки з Секі. Решта — вітрина.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ЦІЄЇ РОБОТИ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Що ми рахуємо і що свідомо не рахуємо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Під вивіскою «японський ніж» в Україні продають три різні товари. Ця колода рахує тільки перший — зроблений у Японії.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6638544" cy="36576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6638544" cy="5486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19072"/>
            <a:ext cx="310896" cy="256032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55648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737360"/>
            <a:ext cx="1536192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0" y="1787651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ПРЕДМЕТ КОЛОДИ</a:t>
            </a:r>
          </a:p>
        </p:txBody>
      </p:sp>
      <p:pic>
        <p:nvPicPr>
          <p:cNvPr id="17" name="Picture 16" descr="p_4940c2a920fdd4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103120"/>
            <a:ext cx="3108960" cy="1005840"/>
          </a:xfrm>
          <a:prstGeom prst="rect">
            <a:avLst/>
          </a:prstGeom>
        </p:spPr>
      </p:pic>
      <p:pic>
        <p:nvPicPr>
          <p:cNvPr id="18" name="Picture 17" descr="p_e0b7ca9760c1a7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208" y="2103120"/>
            <a:ext cx="3054096" cy="1005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8096" y="3255264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40156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3255264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ШТУК НА РІК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5728" y="340156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D4B96"/>
                </a:solidFill>
                <a:latin typeface="Segoe UI"/>
              </a:rPr>
              <a:t>≈ 3 700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55264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ЧАСТКА РИНКУ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40156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4820A"/>
                </a:solidFill>
                <a:latin typeface="Segoe UI"/>
              </a:rPr>
              <a:t>2 % у грошах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0992" y="3255264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992" y="340156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94F7C"/>
                </a:solidFill>
                <a:latin typeface="Segoe UI"/>
              </a:rPr>
              <a:t>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" y="3785615"/>
            <a:ext cx="6236208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3895344"/>
            <a:ext cx="6236208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Критерій: країна виробництва — Японія, підтверджена митним кодом або карткою товару продавця.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KAI / Shun, Yaxell, Suncraft, Tojiro, Satake, Kasumi, Miyabi, Seki Kanetsugu, Tosa, Takamura,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Sakai Takayuki, Misono, Masahiro, HONMAMON і ще 41 марка — усі в переписі далі.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Джерело розміру: митна статистика коду 8211 92, напрям Японія, 2024 рік.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43216" y="1517904"/>
            <a:ext cx="4187952" cy="1773936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43216" y="1517904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26096" y="1682495"/>
            <a:ext cx="274320" cy="219456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6096" y="1732787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91856" y="17007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ЯПОНСЬКИЙ БРЕНД, АЗІЙСЬКИЙ ЗАВОД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6096" y="2048255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9FA9C4"/>
                </a:solidFill>
                <a:latin typeface="Segoe UI"/>
              </a:rPr>
              <a:t>₴150–230 млн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2084831"/>
            <a:ext cx="1389888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2125980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6096" y="2359152"/>
            <a:ext cx="38221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Назва й номенклатура японські, виробництво — ні.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Інший товар, інша маржа, інший постачальник.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 каталогу, графіків і переписів цієї колоди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видалено повністю.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43216" y="3456432"/>
            <a:ext cx="4187952" cy="1773936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43216" y="3456432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626096" y="3621024"/>
            <a:ext cx="274320" cy="219456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26096" y="3671316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36393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ЯПОНСЬКА ФОРМА БУДЬ-ЯКОГО ПОХОДЖЕННЯ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6096" y="398678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9FA9C4"/>
                </a:solidFill>
                <a:latin typeface="Segoe UI"/>
              </a:rPr>
              <a:t>₴140–260 млн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58400" y="4023360"/>
            <a:ext cx="1389888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406450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6096" y="4297680"/>
            <a:ext cx="38221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й накірі європейських і турецьких марок.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Конкурує за ту саму полицю, але це не наша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категорія: тут немає японського постачальника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 принципі.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30352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03520"/>
            <a:ext cx="36576" cy="858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545896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ЦЕЙ СЛАЙД ЗАЛИШЕНО В КОЛОДІ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" y="568756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Без нього цифру ₴16–19 млн легко переплутати з розміром усієї категорії кухонних ножів — а це ₴691–924 млн, у 40 разів більше.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B і C названо один раз саме для того, щоб далі жодна цифра колоди їх не містила: каталог, цінові графіки, перепис брендів і сегменти рахують тільки A.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Оцінки B і C — власний розрахунок за SKU-аудитом; вони наведені лише як межа, від якої відмежовано предмет роботи, і далі ніде не використовуються. Оцінка A спирається на митну статистику.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9,02 млн $ імпорту — і 1,3 % із них із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Останній повний рік у Comtrade — 2024. Дані за 2025 рік ще не опубліковані, тому вся митна частина колоди — це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МИТНІ КОДИ КАТЕГОРІЇ, ІМПОРТ 2024, ТИС. $ CIF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7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7" y="1810512"/>
            <a:ext cx="2057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ГОЛОВНЕ 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1810512"/>
            <a:ext cx="2926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98882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2996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8211 10 00 00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299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0299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7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7" y="202996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2 021,3 (86 %)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20299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Подарунковий сегмент. Майже повністю Китай.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8211 91 00 00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230428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230428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7" y="230428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7" y="230428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969,6 (89 %)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230428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Столові набори, HoReCa-сервіровка.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53746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57860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8211 92 00 00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5786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7" y="25786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6167" y="257860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7" y="257860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3 555,9 (64 %)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57860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Тут і кухонні, і мисливські, і польові.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71215"/>
            <a:ext cx="1106424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80944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298094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7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7" y="298094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7" y="2980944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Китай 6 546,7 (73 %)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2980944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 — 117,5 тис. $, або 1,3 %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КОД 8211 92, ТИС. $ CIF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493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07007" y="3534156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7" y="3534156"/>
            <a:ext cx="276683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15967" y="34930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0390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07007" y="3845052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7007" y="3845052"/>
            <a:ext cx="184068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7" y="380390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114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007" y="4155948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007" y="4155948"/>
            <a:ext cx="239776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7" y="41148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517136"/>
            <a:ext cx="5413248" cy="17007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4517136"/>
            <a:ext cx="36576" cy="17007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46725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ЦЯ ДИНАМІКА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4901184"/>
            <a:ext cx="493776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імпорт у 2024 році на 13 % нижчий за 2022 рік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урахуванням доларової інфляції падіння реальне і суттєвіше.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Стрибок 2023→2024 (+30 %) — це відновлення після провалу, а не тренд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Висновок: у цій ніші немає імпортної хвилі, на яку можна сісти.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ТОП-10 КРАЇН-ПОСТАЧАЛЬНИКІВ, 8211 92, 2024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347472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760" y="3515868"/>
            <a:ext cx="3070875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60" y="347472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3 556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7307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3771900"/>
            <a:ext cx="37376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0" y="373075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8678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4027932"/>
            <a:ext cx="290515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24160" y="398678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24281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Бразилія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283964"/>
            <a:ext cx="22997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24160" y="424281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4988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23760" y="4539996"/>
            <a:ext cx="17220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24160" y="44988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475488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Швеція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23760" y="4796028"/>
            <a:ext cx="12384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0" y="47548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01091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5052060"/>
            <a:ext cx="8920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50109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26694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5308092"/>
            <a:ext cx="74183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52669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229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564124"/>
            <a:ext cx="6071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24160" y="552297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7790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Швейцарія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5820156"/>
            <a:ext cx="5432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24160" y="5779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63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World Bank WITS / UN Comtrade, імпорт України, 2022–2024, коди 8211 10, 8211 91, 8211 92. Сума по Японії: 103,3 (8211 92) + 14,3 (8211 91) = 117,5 тис. $; у наборах 8211 10 Японія не потрапила в опубліковані рядки.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 РАХУВАЛИ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9,02 млн $ митниці до 691–924 млн грн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крок — це припущення. Показую всі, щоб можна було не погодитись із конкретним, а не з результатом.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717890"/>
                </a:solidFill>
                <a:latin typeface="Segoe UI"/>
              </a:rPr>
              <a:t>9 020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митна база
8211 10+91+92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4016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4820A"/>
                </a:solidFill>
                <a:latin typeface="Segoe UI"/>
              </a:rPr>
              <a:t>6 600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кухонна частка:
55–70 % коду 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E9EA6"/>
                </a:solidFill>
                <a:latin typeface="Segoe UI"/>
              </a:rPr>
              <a:t>7 130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+8 % сірий імпорт
і локальне пакування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2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5D4B96"/>
                </a:solidFill>
                <a:latin typeface="Segoe UI"/>
              </a:rPr>
              <a:t>×1,30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мито + ПДВ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10 % Китай/Японія,
0 % ЄС; ПДВ 20 %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1583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94F7C"/>
                </a:solidFill>
                <a:latin typeface="Segoe UI"/>
              </a:rPr>
              <a:t>×1,8–2,4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583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торгова націнка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маса 1,7–2,0;
спеціалізація 2,0–2,6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02367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4867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37A169"/>
                </a:solidFill>
                <a:latin typeface="Segoe UI"/>
              </a:rPr>
              <a:t>691–924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млн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роздріб на рік
= 15,4–20,6 млн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9443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ПЕРЕРАХУНОК У ШТУКИ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8211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СЕГМЕНТ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3182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СЕРЕДНЯ ЦІНА CIF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3182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ОЦІНКА ШТУК НА РІК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34213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38328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Китай, масовий сегмент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33832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1,2–2,5 $/шт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≈ 1 900–2 400 тис. шт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65760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Європа, середній і проф.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36576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6–12 $/шт CIF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65760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≈ 90–140 тис. шт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89077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319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Японія, преміум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31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25–45 $/шт CIF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39319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≈ 3–4 тис. шт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297680"/>
            <a:ext cx="5577840" cy="6400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4443984"/>
            <a:ext cx="2377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РАЗОМ, ШТУК НА РІК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" y="462686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C2235"/>
                </a:solidFill>
                <a:latin typeface="Segoe UI"/>
              </a:rPr>
              <a:t>2,0–2,6 млн ножів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4988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≈ 0,17–0,22 ножа
на домогосподарство на рік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2944368"/>
            <a:ext cx="5321808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09360" y="2944368"/>
            <a:ext cx="36576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47104" y="30998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ПЕРЕВІРКА НА ЗДОРОВИЙ ГЛУЗД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7104" y="3328416"/>
            <a:ext cx="484632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11–12 млн домогосподарств × 0,2 ножа на рік = цикл заміни 5 років на 1 ніж.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відповідає поведінці масового покупця: ніж змінюють, коли він перестав різати,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не за графіком. Порядок величини правдоподібний.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09360" y="4572000"/>
            <a:ext cx="5321808" cy="16642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4572000"/>
            <a:ext cx="36576" cy="16642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47104" y="4727448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ЦЯ МОДЕЛЬ НАЙБІЛЬШЕ МОЖЕ ПОМИЛЯТИСЬ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47104" y="4956048"/>
            <a:ext cx="4846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Частка кухонних ножів у коді 8211 92 — головна невизначеність. Війна підняла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    попит на польові й тактичні ножі, тому реальна частка може бути ближче до 50 %.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Торгова націнка 1,8–2,4 — галузева конвенція, а не виміряна маржа.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Середні ціни CIF по сегментах — експертна оцінка, не митні дані по вагах.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Курс НБУ 44,86 грн/$ станом на 30.09.2026. Діапазон 691–924 млн грн = 15,4–20,6 млн $. Середина діапазону ≈ 18 млн $ або 807 млн грн.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МИТО І СОБІВАРТІСТЬ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Японія платить 10 % там, де ЄС платить 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Угоди про вільну торгівлю між Україною та Японією немає. Це не деталь оформлення — це 10 пунктів собівартості назавжди.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СТАВКИ ДЛЯ КОДУ 8211 92 00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МИТО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ПДВ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МНОЖНИК НА CIF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1810512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88820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299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202996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02996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× 1,32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202996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Режим найбільшого сприяння СОТ. FTA немає.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8600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Китай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1448" y="2286000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228600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1648" y="228600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× 1,32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2860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Той самий режим, що й Японія.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500884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4203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ЄС (Польща, Іспанія, Італія)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41448" y="2542032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54203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254203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25420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Поглиблена ЗВТ Україна–ЄС.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9806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1448" y="279806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279806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279806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9806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ЗВТ, з 01.04.2026.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3012948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054096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Канада, ЄАВТ, Ізраїль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41448" y="3054096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3054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41648" y="3054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58968" y="305409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Чинні угоди про вільну торгівлю.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012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ОАЕ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41448" y="331012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6,7 %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3310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41648" y="3310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× 1,28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331012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Перехідна ставка на 2026 рік.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712463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І ТОЙ САМИЙ САНТОКУ, ДВА ПОХОДЖЕННЯ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95020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СТАТТЯ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84448" y="39502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38928" y="39502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ЄС, СОЛІНГЕН / ТОЛЕДО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110228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1513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EXW / FOB постачальника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38928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40740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Фрахт і страхування до кордону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444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+2,40 $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440740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+1,00 $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622292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66344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CIF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4448" y="46634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22,40 $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38928" y="46634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94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Мито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49194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+2,24 $ (10 %)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38928" y="49194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0,00 $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5134356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517550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База ПДВ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44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38928" y="51755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54315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Собівартість на складі, без ПДВ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84448" y="54315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38928" y="543153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3776" y="5646420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6875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Роздріб при націнці ×2,2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84448" y="56875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2 432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568756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2 072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6800" y="1810512"/>
            <a:ext cx="294436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1810512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24544" y="1965960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4544" y="2194560"/>
            <a:ext cx="246888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приїжджає на полицю на 17 % дорожче за європейський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аналог тієї самої закупівельної ціни.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 полиці це 360 грн різниці на кожному ножі за 2 000 грн.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86800" y="4041648"/>
            <a:ext cx="294436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8680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24544" y="4197096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ЦЕ ЗМІНЮЄ В СТРАТЕГІЇ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24544" y="4425696"/>
            <a:ext cx="246888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треба продавати як цінність, а не як характеристику.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Якщо покупець не платить премію за напис «Made in Seki»,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постачальник програє європейському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ще до першої продажі.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Ставки: УКТЗЕД 8211 92 00 00, повна (РНС) ставка 10 % із 01.01.2023, ПДВ 20 %. Преференційні ставки 0 % — ЄС, ЄАВТ, Канада, Ізраїль, Північна Македонія, Велика Британія. Приклад розрахунку умовний.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Нижній діапазон каталогу. Саме тут лежить обсяг ринку — і саме тут японське виробництво представлене найгірше.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f69a98636c839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овочевий з ножнами KAI DG · 3002, 95мм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726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433f6d1871e58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582ad999d3a9f8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Satake Saku 802 · 369 Air Holes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1 349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b079718c0d53bcb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Mikihisa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1 650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f4d942a4a9cd0d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Misono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1 690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53414e49f21fc6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1 760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8dc075f7679255b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1 905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a83efe47d2cae4e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6715Y Янагіба, 15см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2 016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f14dcecf95a3c07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2 184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88c590c35d78bdb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KASUMI / Касумі Titanium K · 22008GR,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2 280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d28c3cac44967ae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Hanakumagawa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8149c7d4b6c8596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2 400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4820A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11 %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1 790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726–2 400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20700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20700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9098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9098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 або базова VG-10, штамповка, західне руків'я. Японія сюди дістає лише Satake, Seki Kanetsugu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Увесь каталог цієї колоди — лише ножі японського виробництва. Бренди з японською назвою й азійським заводом не рахуються ніде: ані у фото, ані в цифрах сегментів.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29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Перший діапазон, де японське виробництво стає нормою, а не винятком. 70 позицій каталогу, 27 %.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99151621e4ae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Takanori Izumi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AUS · 10M damascus сантоку ніж 170 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2 640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c5106792e19d0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2 833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d879a2bc9ad8a3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Takanori Izumi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AUS · 10M damascus шеф ніж 210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3 080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0c24a26e64ffde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Tomita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c77b1a474cf8d8f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3 499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3879c817dcc35f7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e1047b602e0209e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MC · 700 10371 165мм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3 850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720a5b5df86d532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Sakai Ichiji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Santoku,Sakai Ich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4 290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89749cffece9fb4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Funayuki, 165 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4 490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404f2fe2baba686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Yaxell RAN 36002, 120мм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4 657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6009bff72b211de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Kurouchi Inasa Bocho 165мм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4 881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6339a60440c5d0a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Yaxell ZEN 35502, 120мм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4 996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1E9EA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E9EA6"/>
                </a:solidFill>
                <a:latin typeface="Segoe UI"/>
              </a:rPr>
              <a:t>67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26 %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3 539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2 640–4 996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15 %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Masahiro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920240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682495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1682495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1444752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VG-10 у три шари, перші куроучі з Тоса, артизанальні ножі з вуглецевої сталі. Тут з'являються імена кузень, а не лише бренди.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67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Найгустіший діапазон каталогу — 110 позицій, 42 %. Сюди цілиться більшість спеціалізованих продавців.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e6e2976fb0ba73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W2 240мм японський кух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5 060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3ea1e34b0d0427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Damascus Ajikiri 120мм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5 467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bdd88f0407e2c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овочевий Tojiro Shippu Black FD · 1591, 9см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5 699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6f1bcac45cd5a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6 160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9d3bc7ffbefea6f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Yaxell ZEN 35501, 165мм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6 671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cb65c59ca0dc971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Kasumi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7 199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386718d2c048b7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Yaxell RAN 36001, 165мм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7 426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17e21fd06fe7eb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RAN 36000, 200мм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ccd649852536bf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RAN 36000G з рифленням 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8 307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234b0216a0ba930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Накірі Tojiro DP Damascus F · 660, 16.5см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8 899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3a62cde64ac0720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0723 Кухарський Шеф, 15см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9 520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adef0362c3a8d00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обвалочний Tojiro Flash FF · BO150, 15см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9 999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116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45 %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7 290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5 060–9 999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21 %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22966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20 %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50418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11079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11079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 32–69 шарів поверх VG-10, куроучі Тоса, Takamura Chromax, Tojiro DP Damascus. Твердість 60–61 HRC.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Тут найбільша щільність позицій — і найбільша конкуренція між продавцями за одного покупця. Новий бренд без історії тут не має аргументу.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116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Верхній діапазон — 44 позиції, 17 % каталогу. Тут платять за сталь, кількість шарів і підпис майстра.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03beca3eae9669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Chief Damascus TADAYOSHI Tosa 240мм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10 035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25231c3c364e20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10 220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30131eded8c95f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Shippu Black FD · 1594,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10 799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cc19c7b6f35c21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0705 хлібний, 23см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11 200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c07aa14169ef91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JCK Natures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12 220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068f5ff3e07955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12 999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a20d9f5d9d6f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Seki Kanetsugu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Kiritsuke Zuiun 9305 210мм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13 900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7317c29c260df1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15 120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7b88a0fa2cabf69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 · х ножів KAI SHUN CLASSIC DMS · 220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17 010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e704c2ed970bb29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ножів KAI Shun Premier Tim Malzer TDMS ·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20 300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215a7b3e8b8fe86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Harukaze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26 990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fc0b454179225fc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Yaxell Super Gou 37101 · 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38 640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94F7C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94F7C"/>
                </a:solidFill>
                <a:latin typeface="Segoe UI"/>
              </a:rP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18 %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13 500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10 035–38 640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32 %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60324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21 %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28625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17 %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49377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49377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SG-2 і R2 порошкові сталі, 101–193 шари, ZDP-189 при 65–67 HRC, honyaki. Yaxell Super Gou,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47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Шеф і гюто: 55 позицій, найбільший тип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Робочий ніж кухні, 180–240 мм. Найширше представлений тип у каталозі й головний драйвер середнього чека.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d433f6d1871e5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cc03667accb2a2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Satake Swordsmith Black 805 ·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2 099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d879a2bc9ad8a3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Takanori Izumi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AUS · 10M damascus шеф ніж 210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3 080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76bc5225073e1f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Basic Damascus F · 332,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5 499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3d382306b23fc8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· Ніж TOJIRO DP F · 810, 27см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6 199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0ace7999a552cc4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Takamura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7 950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837a29c02e099f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DP Damascus F · 654, 18с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8 845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a695ef50d68776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Gyuto/Petty серії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9 950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3007a37f0cfa19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KETU 34900, 200мм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10 572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d3b10b8f13d3a90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10 920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5bf6da9881aca6a7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Flash FF · CH210, 21см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14 499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215a7b3e8b8fe86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Harukaze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26 990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4820A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4820A"/>
                </a:solidFill>
                <a:latin typeface="Segoe UI"/>
              </a:rPr>
              <a:t>49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19 %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8 490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1 149–26 990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29 %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20700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867373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6975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6975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робочий ніж: м'ясо, овочі, риба. Купують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в цьому типі найширший ціновий розкид — від 1 199 до 38 640 грн, тобто у 32 рази. Тип не визначає ціну; її визначає сталь.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49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74 позиції разом. Три типи, які купує домашня кухня, і які формують уявлення про «японський ніж» у масовому покупця.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8a8cc9dc2a242a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Seki Kanetsugu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Petty 2001 120мм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035791ace92f3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Kasumi TORA 36845, 15см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c385448d820bc3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Shirogami Kasumi Петті ніж 120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3 119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720a5b5df86d53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Sakai Ichiji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Santoku,Sakai Ich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4 290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1b00785cfaf3ec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5 299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fd6f758a85c2af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Сантоку Tojiro DP F · 503, 17см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5 899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4f3caf9f4f7ac4a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6 999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7e225017400bcd8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Santoku , HSS R2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7 490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7d3f633cc134593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Tadayoshi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Tokaji Santoku · Blue Steel 185mm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8 480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13364d8119f9efc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Tsuchime VG10 Petty 150 мм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9 275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11823a8fb3d9b60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Migaki SG2 170мм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10 200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d160ceedb391175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Harukaze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19 990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1E9EA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E9EA6"/>
                </a:solidFill>
                <a:latin typeface="Segoe UI"/>
              </a:rPr>
              <a:t>78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30 %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6 671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1 140–19 990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15 %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99948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80136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160324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14051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78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33 позиції, 13 % каталогу. Єдина геометрія, де японське виробництво не має європейського замінника.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a83efe47d2cae4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6715Y Янагіба, 15см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2 016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b65f5ff7e2be7d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Sashimi Hocho, 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2 695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055af49fce4891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3 463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3879c817dcc35f7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3a1fda044edb818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3 999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52f5ff0adc7c27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4 400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97020e8401add6b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Deba 165мм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4 643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25062d75bbf229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W2 270мм японський кух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4 900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e0616acb93cc826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Sashimi Hocho, 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5 225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cdad4d2f286701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Masahiro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Янагіба Masahiro 16220 Yanagiba, 27см сталь Ki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6 512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46f7ff8401b6b42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ніж Tosauchi White 2 Deba 185 мм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7 360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97bfc2a3a6a5b42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7 640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35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14 %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4 550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2 016–7 640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31 %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747335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23 %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666680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Tomita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Fukamizu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35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СТАЛІ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Вуглецева сталь: Aogami, Shirogami, Hagane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Окремий зріз за матеріалом клинка. Вуглець тримає кромку довше за нержавійку — і іржавіє, якщо ніж не витерти насухо.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d28c3cac44967a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Hanakumagawa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0b31b88dbd8504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Hanakumagawa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Funayuki ніж Shirogami 2 Steel 166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2 790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0c24a26e64ffdeb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3 215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4b4d0c04f85d216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3 247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9c8b55acafe58d1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Hisashige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Honyaki ніж із вуглецевої сталі 150мм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3 520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f5c4c53e9dcf5a8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4 362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5220b992792993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Kurouchi Bunka 165мм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b607d35558bd2b8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Shirogami Kasumi Шеф ніж, 180 мм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4 976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fc0893b22d31571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Deba, Shirogami #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8ceaaf42caf42f2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7 040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7d3f633cc134593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Tadayoshi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Tokaji Santoku · Blue Steel 185mm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8 480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c07aa14169ef918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JCK Natures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12 220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9 %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4 590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2 390–12 220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Tomita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17 %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Hanakumagawa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8013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8013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18013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Kanetaka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6126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4 %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Вуглецева сталь — це вибір проти зручності: вища твердість і довша кромка ціною обов'язкового догляду після кожного різання.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Європейські виробники сюди не йдуть узагалі. Це єдиний матеріальний сегмент, де японське походження не має замінника — і водночас найменш придатний для масового покупця.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23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Набори: 29 позицій і подарунковий двигун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Набори з 2–5 предметів. У митній статистиці це окремий код 8211 10 — 26 % усієї митної бази категорії.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dc640cd3e6dd3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Satake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із 2 · х кухонних ножів Satake Swordsmit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3 099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52f59bed9876c5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KAI WASABI Black 67S · 310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7 280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032c52bf20085f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2х кухонних ножів Tojiro DP · GIFTSET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9 470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8de5df452eb94a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2х ножів Yaxell RAN 36000 · 902 (36000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12 209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f09b37373f363c7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2х кухонних ножів Tojiro Damascus DP 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12 499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b9151a156b7f8d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3х ножів Yaxell ZEN 35500 · 803 (35500,3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15 229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7b88a0fa2cabf69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 · х ножів KAI SHUN CLASSIC DMS · 220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17 010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e704c2ed970bb2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ножів KAI Shun Premier Tim Malzer TDMS 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20 300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72d698845fb1b3b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KAI SHUN CLASSIC DMS · 310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23 490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f239debcf35570d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KAI Shun Premier Tim Malze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27 350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52542ae830f015f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 · х ножів Yaxell GOU 37000 · 902 (37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27 822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fc0b454179225fc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Yaxell Super Gou 37101 · 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38 640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94F7C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94F7C"/>
                </a:solidFill>
                <a:latin typeface="Segoe UI"/>
              </a:rP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7 %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17 010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3 099–38 640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56 %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20700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49377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11 %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256032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Купують не для себе. Пік продажів — грудень і березень. Коробка, підкладка й гравіювання важать більше за марку сталі.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Найвищий середній чек у категорії при найнижчій вимозі до продукту. Для входу це найдешевший спосіб купити місце на полиці.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18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ПРЕДСТАВЛЕНО · ТИП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Три типи леза дають половину всього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Розбір 259 карток товарів японського виробництва з каталогів ProfiMax, ROKS, WildCat і Sekator. Це представленість на полиці, а не продажі — панелі продажів у категорії не існує.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ПОЗИЦІЙ У КАТАЛОГАХ, ШТ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ЦІНОВИЙ КОРИДОР ТИПУ,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79222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Шеф / гюто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57984" y="1833372"/>
            <a:ext cx="3035808" cy="914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6" y="1792224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179222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22 %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5957" y="1851660"/>
            <a:ext cx="242578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60926" y="1815084"/>
            <a:ext cx="64008" cy="1234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0384" y="1792224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1 149 – 26 990   мед. 8 490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19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7984" y="2103120"/>
            <a:ext cx="2112077" cy="914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48656" y="2061972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206197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15 %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05594" y="2121408"/>
            <a:ext cx="164370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39592" y="2084831"/>
            <a:ext cx="64008" cy="1234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0384" y="2061972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1 590 – 13 499   мед. 7 250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3172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Петті / універсальний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57984" y="2372868"/>
            <a:ext cx="1804167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8656" y="2331720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33172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9914" y="2391156"/>
            <a:ext cx="2201106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32586" y="2354579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2331720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1 140 – 19 990   мед. 5 538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6014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57984" y="2642615"/>
            <a:ext cx="1126764" cy="9144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8656" y="2601468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260146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441" y="2660903"/>
            <a:ext cx="193905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94958" y="2624327"/>
            <a:ext cx="64008" cy="12344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30384" y="2601468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3 099 – 38 640   мед. 17 010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7984" y="2912363"/>
            <a:ext cx="1003600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48656" y="287121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287121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7 %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88019" y="2930651"/>
            <a:ext cx="102384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81573" y="2894075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0384" y="287121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2 016 – 7 640   мед. 4 550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1409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57984" y="3182111"/>
            <a:ext cx="880436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48656" y="3140963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0" y="314096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34060" y="3200399"/>
            <a:ext cx="144736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77815" y="3163823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30384" y="3140963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1 650 – 10 850   мед. 6 690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4107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Слайсер / нарізка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57984" y="3451859"/>
            <a:ext cx="818854" cy="9144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48656" y="3410711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341071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83657" y="3470147"/>
            <a:ext cx="163520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5225" y="3433571"/>
            <a:ext cx="64008" cy="12344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30384" y="3410711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1 760 – 14 778   мед. 7 399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68045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Овочевий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57984" y="3721607"/>
            <a:ext cx="757272" cy="914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48656" y="3680459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60720" y="3680459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5 %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03146" y="3739896"/>
            <a:ext cx="159683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90519" y="3703320"/>
            <a:ext cx="64008" cy="1234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30384" y="3680459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726 – 5 799   мед. 5 243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950207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Сашимі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157984" y="3991355"/>
            <a:ext cx="634108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8656" y="3950207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720" y="3950207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11098" y="4009644"/>
            <a:ext cx="705241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89972" y="3973068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930384" y="3950207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2 695 – 6 747   мед. 4 600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21995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Кіріцуке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57984" y="4261103"/>
            <a:ext cx="572526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48656" y="421995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0720" y="421995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36035" y="4279392"/>
            <a:ext cx="73576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541957" y="4242816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930384" y="421995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5 336 – 13 900   мед. 8 283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48970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157984" y="4530851"/>
            <a:ext cx="510944" cy="914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48656" y="4489703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0" y="4489703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55140" y="4549140"/>
            <a:ext cx="95167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97122" y="4512564"/>
            <a:ext cx="64008" cy="1234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930384" y="4489703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2 200 – 7 590   мед. 4 643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75945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Хліб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157984" y="4800599"/>
            <a:ext cx="326198" cy="9144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248656" y="4759451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4759451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28183" y="4818888"/>
            <a:ext cx="69288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773817" y="4782312"/>
            <a:ext cx="64008" cy="12344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30384" y="4759451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7 804 – 19 226   мед. 11 200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502919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Фунаюкі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157984" y="5070347"/>
            <a:ext cx="326198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48656" y="5029199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60720" y="5029199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618798" y="5088636"/>
            <a:ext cx="48457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705717" y="5052059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30384" y="5029199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2 390 – 4 490   мед. 2 790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5298947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Бунка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157984" y="5340095"/>
            <a:ext cx="203034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248656" y="5298947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60720" y="5298947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1 %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911953" y="5358383"/>
            <a:ext cx="11998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30642" y="5321807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30384" y="5298947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3 500 – 16 677   мед. 4 850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55686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FA9C4"/>
                </a:solidFill>
                <a:latin typeface="Segoe UI"/>
              </a:rPr>
              <a:t>Усуба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157984" y="5609843"/>
            <a:ext cx="79870" cy="914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248656" y="5568695"/>
            <a:ext cx="4754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FA9C4"/>
                </a:solidFill>
                <a:latin typeface="Segoe U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760720" y="5568695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0 %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16638" y="5628131"/>
            <a:ext cx="36576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184634" y="5591555"/>
            <a:ext cx="64008" cy="12344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930384" y="5568695"/>
            <a:ext cx="17007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5 203 – 5 203   мед. 5 203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49220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766340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1k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793490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610610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3k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718729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35849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10k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562999" y="1755648"/>
            <a:ext cx="5486" cy="404621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380119" y="5856731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FA9C4"/>
                </a:solidFill>
                <a:latin typeface="Segoe UI"/>
              </a:rPr>
              <a:t>30k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66928" y="588873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66928" y="588873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04672" y="60441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" y="627278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Шеф, петті й сантоку — 116 позицій із 260, 45 %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Решта п'ятнадцять типів ділять другу половину.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17920" y="588873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217920" y="5888736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55664" y="60441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ОДНОСТОРОННІ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55664" y="627278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Янагіба, сашимі, деба, усуба — 33 позиції, 13 %.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весь професійний суші-інструмент країни.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ПРЕДСТАВЛЕНО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Ринок зібраний у коридорі 2 500 – 10 000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позицій японського виробництва за ціною. Це розподіл асортименту, а не продажів: дорогі позиції стоять у каталозі довше за дешеві.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РОЗПОДІЛ ПОЗИЦІЙ ЗА ЦІНОЮ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847581"/>
            <a:ext cx="746760" cy="53602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64701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до 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4040" y="4177546"/>
            <a:ext cx="746760" cy="72363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52599" y="3994666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599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1 000–
2 499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599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3680" y="3105491"/>
            <a:ext cx="746760" cy="17956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82240" y="2922611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224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2 500–
4 999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224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03320" y="1792223"/>
            <a:ext cx="746760" cy="3108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1609343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116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79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5 000–
9 999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79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45 %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32960" y="3909532"/>
            <a:ext cx="746760" cy="991651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1520" y="3726652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52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10 000–
19 999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152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62600" y="4633170"/>
            <a:ext cx="746760" cy="268013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71160" y="4450290"/>
            <a:ext cx="929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71160" y="4974336"/>
            <a:ext cx="929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20 000 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71160" y="5266944"/>
            <a:ext cx="929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4 %</a:t>
            </a:r>
          </a:p>
        </p:txBody>
      </p:sp>
      <p:sp>
        <p:nvSpPr>
          <p:cNvPr id="35" name="Oval 34"/>
          <p:cNvSpPr/>
          <p:nvPr/>
        </p:nvSpPr>
        <p:spPr>
          <a:xfrm>
            <a:off x="1242059" y="4831456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883" y="4657720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1 %</a:t>
            </a:r>
          </a:p>
        </p:txBody>
      </p:sp>
      <p:sp>
        <p:nvSpPr>
          <p:cNvPr id="37" name="Oval 36"/>
          <p:cNvSpPr/>
          <p:nvPr/>
        </p:nvSpPr>
        <p:spPr>
          <a:xfrm>
            <a:off x="2171700" y="4507356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87780" y="48771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354182" y="485402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20585" y="48308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86988" y="480772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53391" y="47845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19794" y="476142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86197" y="47382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52599" y="471512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19002" y="46919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85405" y="466882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951808" y="46456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018211" y="462252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084614" y="45993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51017" y="457622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06524" y="4333620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11 %</a:t>
            </a:r>
          </a:p>
        </p:txBody>
      </p:sp>
      <p:sp>
        <p:nvSpPr>
          <p:cNvPr id="53" name="Oval 52"/>
          <p:cNvSpPr/>
          <p:nvPr/>
        </p:nvSpPr>
        <p:spPr>
          <a:xfrm>
            <a:off x="3101340" y="3703108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7420" y="45530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83822" y="449563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350225" y="443818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16628" y="438073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83031" y="432329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49434" y="426584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615837" y="420839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82240" y="415095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8642" y="409350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15045" y="403605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81448" y="397861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47851" y="392116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14254" y="386372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080657" y="380627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36164" y="352937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37 %</a:t>
            </a:r>
          </a:p>
        </p:txBody>
      </p:sp>
      <p:sp>
        <p:nvSpPr>
          <p:cNvPr id="69" name="Oval 68"/>
          <p:cNvSpPr/>
          <p:nvPr/>
        </p:nvSpPr>
        <p:spPr>
          <a:xfrm>
            <a:off x="4030980" y="2310678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47060" y="374882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213462" y="364936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79865" y="354990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46268" y="345045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412671" y="335099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479074" y="325153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545477" y="315207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11879" y="305261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678282" y="295315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744685" y="285369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811088" y="275423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77491" y="265477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43894" y="255531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010297" y="245585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65804" y="213694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82 %</a:t>
            </a:r>
          </a:p>
        </p:txBody>
      </p:sp>
      <p:sp>
        <p:nvSpPr>
          <p:cNvPr id="85" name="Oval 84"/>
          <p:cNvSpPr/>
          <p:nvPr/>
        </p:nvSpPr>
        <p:spPr>
          <a:xfrm>
            <a:off x="4960620" y="1866541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076699" y="235639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143102" y="232467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09505" y="229295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275908" y="226122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342311" y="222950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408714" y="219777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475117" y="216605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41520" y="213432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607922" y="210260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74325" y="207088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740728" y="2039157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07131" y="2007433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873534" y="1975709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9937" y="1943985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695444" y="1692805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96 %</a:t>
            </a:r>
          </a:p>
        </p:txBody>
      </p:sp>
      <p:sp>
        <p:nvSpPr>
          <p:cNvPr id="101" name="Oval 100"/>
          <p:cNvSpPr/>
          <p:nvPr/>
        </p:nvSpPr>
        <p:spPr>
          <a:xfrm>
            <a:off x="5890260" y="1746504"/>
            <a:ext cx="91440" cy="91440"/>
          </a:xfrm>
          <a:prstGeom prst="ellipse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06340" y="1912261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072742" y="190368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39145" y="189511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205548" y="188653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271951" y="187796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338354" y="186939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404757" y="186081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471160" y="185224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537562" y="184366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03965" y="1835094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70368" y="1826520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736771" y="1817946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803174" y="1809372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869577" y="1800798"/>
            <a:ext cx="77375" cy="20116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625084" y="1572768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C2235"/>
                </a:solidFill>
                <a:latin typeface="Segoe UI"/>
              </a:rPr>
              <a:t>100 %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5468112"/>
            <a:ext cx="5852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9FA9C4"/>
                </a:solidFill>
                <a:latin typeface="Segoe UI"/>
              </a:rPr>
              <a:t>Чорна лінія — накопичена частка позицій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675120" y="1792224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76288" y="1920240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ПОЗИЦІЙ У ВИБІРЦІ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76288" y="2103120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C4820A"/>
                </a:solidFill>
                <a:latin typeface="Segoe UI"/>
              </a:rPr>
              <a:t>259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76288" y="2468880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карток із фото, моделлю і ціною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675120" y="2816352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876288" y="2944368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МЕДІАНА КАТАЛОГУ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76288" y="3127248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E9EA6"/>
                </a:solidFill>
                <a:latin typeface="Segoe UI"/>
              </a:rPr>
              <a:t>5 899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76288" y="3493008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грн. Половина ножів дорожча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675120" y="3840480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876288" y="3968496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ЯДРО РИНКУ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76288" y="4151376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5D4B96"/>
                </a:solidFill>
                <a:latin typeface="Segoe UI"/>
              </a:rPr>
              <a:t>69 %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76288" y="4517136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позицій у коридорі 2 500 – 10 000 грн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675120" y="4864608"/>
            <a:ext cx="4956048" cy="9326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876288" y="4992624"/>
            <a:ext cx="455371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ДЕШЕВШЕ 2 500 ГРН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876288" y="5175504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C03B4B"/>
                </a:solidFill>
                <a:latin typeface="Segoe UI"/>
              </a:rPr>
              <a:t>14 %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76288" y="5541264"/>
            <a:ext cx="4553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Справжньої Японії нижче майже немає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980176"/>
            <a:ext cx="11064240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6928" y="5980176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4672" y="613562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" y="6364224"/>
            <a:ext cx="10588752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Асортимент зібраний там, де масовий покупець уже не ходить, а ентузіаст ще не платить премію: 2 500 – 10 000 грн. Нижче 2 500 грн японського виробництва майже немає — і саме там лежить обсяг ринку.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ЦІНОВИЙ КОРИДОР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Смуга — спостережений діапазон цін бренду, крапка — медіана. Лише ножі японського виробництва. У вибірці — бренди, де зібрано не менше двох позицій.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386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90705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2 500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4059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5 000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741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10 000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50766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20 000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40 000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78308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7984" y="178308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52" y="179679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178308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990 – 13 900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15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Satake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991563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38001" y="2005279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0" y="199156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1 149 – 3 099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20004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7984" y="220004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2655" y="221376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220004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1 980 – 3 080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0852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57984" y="240852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89939" y="242224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240852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2 200 – 7 290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26170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Hanakumagawa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57984" y="26170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52581" y="26307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0" y="26170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2 390 – 2 870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2549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57984" y="282549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2540" y="283921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1280" y="282549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2 400 – 6 512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303397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57984" y="303397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60649" y="304769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0" y="303397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3 215 – 6 600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324246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7984" y="324246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97172" y="325617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0" y="324246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3 463 – 4 850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45094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Misono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57984" y="345094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3863" y="346466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41280" y="345094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1 690 – 4 990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594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Tosa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57984" y="36594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21354" y="36731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41280" y="36594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3 231 – 10 035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38679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57984" y="38679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634142" y="38816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41280" y="38679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1 650 – 23 990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0763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57984" y="407639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25093" y="409011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41280" y="407639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3 119 – 16 499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28487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57984" y="428487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889614" y="429859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41280" y="428487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1 991 – 8 999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49336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57984" y="449336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074090" y="450707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49336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7 460 – 7 640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7018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57984" y="470184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112494" y="471556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41280" y="47018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4 657 – 38 640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9103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57984" y="49103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n=9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245569" y="49240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41280" y="49103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5 320 – 11 990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51188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57984" y="511881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290219" y="513252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241280" y="511881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726 – 27 970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32729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Harukaze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157984" y="532729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356171" y="534101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41280" y="532729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19 990 – 26 990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66928" y="5907024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4672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4672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 японського виробництва медіану нижче 2 500 грн мають лише Seki Kanetsugu,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Takanori Izumi і Hanakumagawa. Найвищі медіани: KAI, Takamura, Yaxell.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17920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217920" y="5907024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55664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КОРИДОРИ ПЕРЕТИНАЮТЬСЯ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55664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зоні 5 000 – 12 000 грн лежать коридори щонайменше восьми брендів одразу.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Новий бренд заходить не в порожнечу, а в найгустішу частину шкали.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ДЕ КОНЦЕНТРУЄТЬСЯ АСОРТИМЕНТ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Матриця: тип леза проти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у каталогах припадає на цей тип у цьому ціновому діапазоні. Темніше — густіше.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 1 000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1 000–
2 499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4416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2 500–
4 999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4304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5 000–
9 999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10 000–
19 999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20 000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1226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Шеф / гюто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71216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50992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DB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14416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4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0767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697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4192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0655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10544" y="211226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47802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Петті / універсальний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71216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61104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0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8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50992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3A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14416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40880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737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04304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7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20655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10544" y="247802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84378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71216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261104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24528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50992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AA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14416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40880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394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04304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30767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0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192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20655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10544" y="284378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20954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Набір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71216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261104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650992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14416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40880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04304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30767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94192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5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3A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84080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0544" y="320954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57530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Янагіба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871216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261104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24528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50992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AA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14416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040880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4304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30767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820655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10544" y="357530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94106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Накірі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871216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261104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24528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50992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14416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040880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3A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04304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430767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94192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20655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210544" y="394106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30682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Овочевий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71216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34640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61104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24528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650992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14416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040880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004304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430767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820655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210544" y="430682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67258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Слайсер / нарізка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871216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261104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24528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650992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14416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040880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09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04304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430767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94192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820655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210544" y="467258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503834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Кіріцуке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871216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261104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650992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7040880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DB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004304" y="50383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30767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394192" y="50383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820655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210544" y="503834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40410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71216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261104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224528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50992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AC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14416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040880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004304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30767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9820655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210544" y="540410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210544" y="1810512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717890"/>
                </a:solidFill>
                <a:latin typeface="Segoe UI"/>
              </a:rPr>
              <a:t>УСЬОГО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85216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6928" y="5852160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4672" y="600760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ГУСТО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" y="623620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Шеф-ніж за 5 000 – 10 000 грн — найщільніша клітинка ринку.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й петті концентруються там само.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17920" y="585216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217920" y="5852160"/>
            <a:ext cx="36576" cy="84490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455664" y="600760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ПОРОЖНЬО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55664" y="623620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Уся ліва колонка: до 1 000 грн японського виробництва немає взагалі.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не опускаються нижче 2 500 грн.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ЗАСНОВАНО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1950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E9EA6"/>
                </a:solidFill>
                <a:latin typeface="Segoe UI"/>
              </a:rPr>
              <a:t>Сакаї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D4B96"/>
                </a:solidFill>
                <a:latin typeface="Segoe UI"/>
              </a:rPr>
              <a:t>50+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1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ЕКСПОРТ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94F7C"/>
                </a:solidFill>
                <a:latin typeface="Segoe UI"/>
              </a:rPr>
              <a:t>100+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ГРУПА СТАЛІ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КОНКРЕТНО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ЦЕ В ЦІНІ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7 000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і дамаск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Ginsan / Silver #3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9 000 – 20 000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Вуглецева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25 000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SPG2 / R2, ZA-18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Суцільний обхід 17 продавців, Prom, Rozetka й Епіцентру станом на 1 жовтня 2026. Кожен рядок перевірено на картці товару, а не в пошуковій видачі.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ЗНАЙДЕНО 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РЕАЛЬНО НА СКЛАДІ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ДРОПШИП-ЛІСТИНГИ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«поставка зі складу
5–10 днів»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1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ПРОДАВЦІВ З БРЕНДОМ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03B4B"/>
                </a:solidFill>
                <a:latin typeface="Segoe U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фаховий магазин,
що тримає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72491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27249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272491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8" y="27249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724912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903220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94436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29443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29443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8" y="29443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294436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5468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98848" y="315468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1546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4928" y="31546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9408" y="315468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323844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3649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210 мм, вінтажна серія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98848" y="33649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33649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3649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9408" y="33649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 власному сайті продавця товару немає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753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240 мм, вінтажна серія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5753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35753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4928" y="35753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35753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3744468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37856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Saiu Santoku 17 см, VG-10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98848" y="37856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37856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4928" y="37856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79408" y="37856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9592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Sairen Kengata 16 см, VG-10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98848" y="39959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8" y="39959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24928" y="39959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79408" y="399592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3776" y="4165092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420624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Saiseki Kengata (7966), VG-10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98848" y="420624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36208" y="420624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24928" y="4206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79408" y="420624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41655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Nanairo Santoku Green (14576), VG-10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8848" y="441655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36208" y="441655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24928" y="441655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79408" y="441655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585716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62686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Kasumi Shirogami #3, 24 см (6083)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98848" y="462686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462686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928" y="462686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79408" y="462686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83717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Silver #3 Yanagiba 27 см (4231)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98848" y="483717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36208" y="483717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24928" y="48371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79408" y="483717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5006340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0474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Byakko Shirogami Kiritsuke Yanagiba 27 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98848" y="50474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36208" y="50474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24928" y="50474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79408" y="50474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25780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VG-10 Kengata Yanagiba 30 см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8848" y="525780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525780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24928" y="52578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79408" y="525780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93776" y="5426964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6928" y="54681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VG-10 Sakimaru 30 см (0204)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98848" y="54681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36208" y="54681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24928" y="54681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9408" y="54681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66928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66928" y="5724144"/>
            <a:ext cx="36576" cy="83809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4672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Чотири різні моделі у двох продавців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однакова ціна. Це спільний фід, не склад.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297680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297680" y="5724144"/>
            <a:ext cx="36576" cy="83809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35424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РОЗБІЖНІСТЬ ПО ROKS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35424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Вітрина на Prom показує дві позиції.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Власний сайт roks.com.ua — жодної.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046720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46720" y="5724144"/>
            <a:ext cx="36576" cy="838098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84464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84464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Rozetka (API: 0), Епіцентр, Sekator, WildCat,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rezat, volod, Kagura, AL-Group.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Усі тринадцять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aea85c40997a9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82496"/>
            <a:ext cx="1361149" cy="107899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3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47533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_8708ea90b3918c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682496"/>
            <a:ext cx="1361149" cy="107899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220685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0685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20685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0685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89949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28139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_abdd23921eef82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682496"/>
            <a:ext cx="1361149" cy="1078992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3801291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01291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1291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Кухонний ніж Chief 210мм (вінтажний)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01291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0555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8745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_cd48159923409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682496"/>
            <a:ext cx="1361149" cy="107899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381897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81897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81897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Кухонний ніж Chief 240мм (вінтажний)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1897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1161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9350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876eaee6495915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682496"/>
            <a:ext cx="1361149" cy="1078992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962502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2502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2502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2502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1766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69956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_4c9e84967203c78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682496"/>
            <a:ext cx="1361149" cy="1078992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543108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3108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3108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3108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12372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50562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7f0dd6bfec2c98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682496"/>
            <a:ext cx="1361149" cy="1078992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0123714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23714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23714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3714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92978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_cdb7790b52ecea0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3822191"/>
            <a:ext cx="1361149" cy="1078992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080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Nanairo Vg 10 Green (14576)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9343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47533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7fd7b56a995a721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3822191"/>
            <a:ext cx="1361149" cy="1078992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2220685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220685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20685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20685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89949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8139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p_076154df8814953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3822191"/>
            <a:ext cx="1361149" cy="107899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3801291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801291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01291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01291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70555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8745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_bfa9688130eb9c8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3822191"/>
            <a:ext cx="1361149" cy="1078992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5381897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81897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81897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Byakko Shirogami Kiritsuke Yanagiba 27см (2204)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81897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1161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89350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a2e34c432a6c0757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3822191"/>
            <a:ext cx="1361149" cy="1078992"/>
          </a:xfrm>
          <a:prstGeom prst="rect">
            <a:avLst/>
          </a:prstGeom>
        </p:spPr>
      </p:pic>
      <p:sp>
        <p:nvSpPr>
          <p:cNvPr id="89" name="Rounded Rectangle 88"/>
          <p:cNvSpPr/>
          <p:nvPr/>
        </p:nvSpPr>
        <p:spPr>
          <a:xfrm>
            <a:off x="6962502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62502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62502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Shoryu Honyaki Vg 10 Kengata Yanagiba 30см (203)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62502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31766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469956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81389a13d1c8019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3822191"/>
            <a:ext cx="1361149" cy="1078992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543108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543108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543108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43108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12372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6928" y="5687568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04672" y="58430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4672" y="6071616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Дві позиції зі складу — обидві янагіба 24 см. Жодного гюто,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чи петті бренду в Україні купити сьогодні неможливо.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217920" y="5687568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5687568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55664" y="58430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55664" y="6071616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Асортимент, який бачить український покупець, зібрано не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дистриб'ютором, а дропшиперами. Брендом у країні ніхто не керує.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Куди став би цей бренд і проти кого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Позиція Sakai Takayuki на тій самій шкалі, що й решта каталогу. Зіставлення з брендами, які вже мають в Україні полицю і глибину лінійки.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499616"/>
            <a:ext cx="722376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40763"/>
            <a:ext cx="39730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ЦІЛЬОВА ЗОНА 7 000 – 20 000 ГРН: ХТО ЇЇ ВЖЕ ТРИМАЄ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19" y="1828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98548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/ Shun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2139696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39" y="2139696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0985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368296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2409444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39" y="2409444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23682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38044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267919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77439" y="2679191"/>
            <a:ext cx="180267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26380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907791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39" y="2948939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77439" y="2948939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19" y="290779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177539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(кузні)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3218687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77439" y="3218687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19" y="317753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447287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39" y="3488435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39" y="3488435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19" y="3447287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17035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3758183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77439" y="3758183"/>
            <a:ext cx="801188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19" y="371703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986783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402793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77439" y="4027931"/>
            <a:ext cx="40059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19" y="398678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4315968"/>
            <a:ext cx="7077456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43159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" y="4471416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ЧИТАННЯ ЦІЄЇ ШКАЛИ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" y="4700016"/>
            <a:ext cx="6601968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105 позицій каталогу, тобто 41 % усього японського виробництва в країні,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лежать у зоні 7 000 – 20 000 грн. Зона не порожня — вона зайнята.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тримає в ній 2 позиції з 105, тобто менше 2 %.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0144" y="1499616"/>
            <a:ext cx="3621024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6448" y="1540763"/>
            <a:ext cx="19915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ДЕ ЗОНА СПРАВДІ ПОРОЖНЯ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10144" y="1828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10144" y="1828800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1901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05740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Жодної позиції в країні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10144" y="2505456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10144" y="2505456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2578608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Ginsan / Silver #3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273405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 позиція, і та дропшип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0144" y="3182112"/>
            <a:ext cx="3621024" cy="804672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10144" y="3182112"/>
            <a:ext cx="41148" cy="8046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325526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Односторонні понад
10 000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356616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Немає. Стеля янагіби —
7 640 грн, і це
Sakai Takayuki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10144" y="4114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10144" y="4114800"/>
            <a:ext cx="41148" cy="5486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74736" y="4187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Wa-руків'я в
профканалі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74736" y="44988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0 із 523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" y="5376672"/>
            <a:ext cx="7077456" cy="117307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0080" y="5376672"/>
            <a:ext cx="36576" cy="117307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7824" y="5532120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7824" y="5760720"/>
            <a:ext cx="6601968" cy="642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не має в Україні ані дистриб'ютора, ані полиці, ані жодного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великому форматі й в опті HoReCa. Це означає вільну територію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водночас нульовий упізнаваний попит: 2 позиції за всю історію каналу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створили впізнаваності, на яку можна спертися в першій партії.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виробництва, зібраним у цій роботі. Це не обсяг продажів, а ширина присутності на полиці.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ЦІНОВІ ДІАПАЗОНИ ЯПОНСЬКОГО ВИРОБНИЦТВА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45 % полиці і 45 % грошей лежать в одному діапазоні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порахований за каталогом із 259 ножів японського виробництва, зібраним у цій роботі. Частка в грошах — за сумою цін позицій, не за продажами.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ЧАСТКА ПОЗИЦІЙ НА ПОЛИЦІ · ЧАСТКА У ВАРТОСТІ КАТАЛОГУ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ГРН ЗА НІЖ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18105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18105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181051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1810512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00710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48256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Вхідний у Японію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4825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до 2 499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204825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1 790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36408" y="204825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Satake Saku, Seki Kanetsugu базові, KAI Wasabi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3048" y="2089404"/>
            <a:ext cx="268224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11 %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58968" y="2089404"/>
            <a:ext cx="7315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0256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22576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Робочий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50008" y="232257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4 999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232257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3 539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232257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Tojiro DP, Satake Sakura, Tosa куроучі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3048" y="2363724"/>
            <a:ext cx="633983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4336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26 %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58968" y="2363724"/>
            <a:ext cx="316991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0256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5557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596896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Ядро асортименту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0008" y="259689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9 999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8" y="259689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7 290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36408" y="25968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Kasumi Damascus, Yaxell Ran, KAI Shun, Takamura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13048" y="2638044"/>
            <a:ext cx="109728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74336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45 %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58968" y="2638044"/>
            <a:ext cx="109728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0256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Преміум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50008" y="2871215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10 000 – 19 999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3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12 499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36408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Yaxell Gou, Miyabi, Myojin, Seki Kanetsugu Saiun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13048" y="2912363"/>
            <a:ext cx="341376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74336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14 %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58968" y="2912363"/>
            <a:ext cx="609600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0256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25 %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3104387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145535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Ультра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50008" y="3145535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20 000 і вище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13448" y="314553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26 990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36408" y="314553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Yaxell Super Gou / Ypsilon, Nigara, Harukaze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13048" y="3186683"/>
            <a:ext cx="97536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74336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58968" y="3186683"/>
            <a:ext cx="341376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20256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14 %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3749039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8096" y="3904487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ЦІНА ПОЗИЦІЇ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" y="411480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7 351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8096" y="459028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По 259 ножах японського
виробництва в каталозі.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383280" y="3749039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84448" y="3904487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ЗАРПЛАТА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84448" y="411480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30 926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84448" y="459028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Держстат, грудень 2025.
Повна зайнятість.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9632" y="3749039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3904487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ШЕФ-НІЖ KAI SHUN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411480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94F7C"/>
                </a:solidFill>
                <a:latin typeface="Segoe UI"/>
              </a:rPr>
              <a:t>35 %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459028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10 710 грн за один ніж.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015984" y="3749039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217152" y="3904487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YAXELL SUPER GOU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17152" y="411480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03B4B"/>
                </a:solidFill>
                <a:latin typeface="Segoe UI"/>
              </a:rPr>
              <a:t>57 %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17152" y="459028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17 746 грн за один ніж.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04748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04748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СТЕЛЯ ДОСТУПНОСТІ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43153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сегмент обмежений не смаком, а доходом. При середній зарплаті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30,9 тис. грн ніж за 10–18 тис. грн — це покупка рівня побутової техніки,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яку роблять раз на кілька років і переважно як подарунок.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04748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04748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КОНЦЕНТРАЦІЯ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43153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Діапазон 5 000 – 10 000 грн дає 45 % позицій і 45 % вартості каталогу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зона, де продавець може зібрати повну лінійку. Нижче 2 500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японське виробництво майже відсутнє: 11 % позицій і 3 % вартості.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«Частка у вартості» — сума роздрібних цін позицій діапазону, поділена на суму цін усього каталогу. Це міра того, де сконцентрована пропозиція, а не виміряні продажі: даних sell-through по категорії в Україні немає.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РИНКУ · ПОКУПЕЦЬ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покупців, і лише два з них купують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Сегментація за тим, хто платить і за що. Вона визначає канал, комунікацію і повернення на маркетинг.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ЧЕК,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727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ВИРІШУЄ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КУПУЄ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2248" y="1572768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ПОРТРЕТ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B2C · масовий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792224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179222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Форма леза, ціна, знижка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792224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1792224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знає брендів. Купує сантоку, бо «японський»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B2C · просьюмер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08026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6 000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08026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Марка сталі, огляди, HRC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2080260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2080260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Tojiro, Kasumi Tora. Читає перед покупкою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B2C · ентузіаст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2368296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40 140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23682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Ковалі, серії, колекція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сірий імпорт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368296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2368296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Gou, Shun, одностороннє вуглецеве. 2–4 тис. людей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B2C · подарунок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2656332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26563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Коробка, гравіювання, набір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656332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2656332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Пік у грудні та березні. Купує не для себе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B2B · лінійний кухар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2944368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29443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Зносостійкість, ціна заміни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6188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8" y="2944368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2944368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Arcos, Tramontina, Pirge. Ніж — витратний матеріал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B2B · шеф і суші-майстер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3232403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2 000 – 15 000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0208" y="32324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Особистий набір, геометрія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Купує сам, часто за кордоном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3232403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2248" y="3232403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професіонал, що платить за Японію. Але не через дистриб'ютора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B2B · інституційний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0048" y="3520439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200 – 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50208" y="35204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HACCP, кольорове кодування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Тендер, опт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5008" y="3520439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2248" y="3520439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Їдальні, кейтеринг, харчові виробництва. Європа за замовчуванням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4041648"/>
            <a:ext cx="36576" cy="21945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ЄДИНІ ДВА, ХТО ПЛАТИТЬ ЗА ЯПОНІЮ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Просьюмер і ентузіаст. Разом це, за оцінкою, 15–25 тис. активних покупців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Подарунковий покупець платить за коробку, а не за походження: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його однаково влаштує Solingen.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768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768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3542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ПАРАДОКС ШЕФА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Шеф-кухар — найкваліфікованіший покупець японського ножа в країні.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саме він найгірший клієнт для дистриб'ютора: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він купує один ніж раз на 3–5 років, обирає сам, часто привозить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із-за кордону або замовляє напряму. Він не канал — він референс.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6720" y="4041648"/>
            <a:ext cx="36576" cy="21945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8446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РЕАЛЬНІ ГРОШІ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446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Масовий B2C і лінійний кухар — це 80 % штук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не купують Японію і не збираються.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Будь-яка модель, побудована на японському походженні,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визначенням відрізає себе від 80 % ринку.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КАНАЛІВ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каналів, і японська глибина тільки в двох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Аудит публічних каталогів, вересень 2026. SKU — це ширина асортименту, а не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ГРАВЦІ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ГЛИБИНА ЯПОНІЇ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77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73936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2880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8288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japan-knife, ProfiMax, ROKS, Volod, Rezat,
Hangiri, Nojaro, Smart-Kitchen, Europosud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4728" y="182880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Максимальна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2880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1 000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182880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просьюмер, подарунок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9608" y="182880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Авторитет категорії. Малий обіг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32304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432304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arcos.com.ua, lacocotte.com.ua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4728" y="243230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Ексклюзив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2432304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2 895 – 40 140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243230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B2C, подарунок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9608" y="243230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Слоти топ-брендів уже зайняті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980944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3035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SKU ножів,
з них японських — Suncraft 97, KAI 6, Tojiro 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3035808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Дрібна, але справжня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3035808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8" y="303580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8" y="30358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Єдиний офлайн-масштаб Японії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39312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639312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Rozetka, Prom, Kasta, Bigl, Shafa.
Японського виробництва — Global і поодинокі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36393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Майже нульова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42048" y="3639312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8" y="363931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B2C, мисливець за ціною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8" y="363931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Дропшип без складу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4187952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42816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Опт HoReCa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4242816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 Gastro24,
Profood, Новий Проект, System4, Kareho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4728" y="4242816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Майже нульова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048" y="424281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296 – 13 290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59368" y="4242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Ресторани, кейтеринг, виробництва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79608" y="424281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Тримають європейські бренди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Сірий / особистий імпорт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484632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Meest, Nova Poshta Global, Amazon,
mygoodknife, eBay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24728" y="4846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Будь-яка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484632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до 150 € без мита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59368" y="48463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шеф-кухар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9608" y="484632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Витік найдорожчого попиту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504688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СТРУКТУРА, ЯКА ВИЗНАЧАЄ ВСЕ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і глибина Японії розведені по різних каналах. Там, де є обіг (Епіцентр,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маркетплейси), японського майже немає. Там, де є Японія, немає обігу.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5504688"/>
            <a:ext cx="36576" cy="87213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ВХОДУ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Новий гравець мусить обрати: або ставати шостим спеціалістом у ніші на 16–19 млн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або будувати японську глибину там, де її зараз немає — у великому форматі й в опті HoReCa.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1 · СПЕЦІАЛІЗОВАНИЙ ОНЛАЙН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магазинів тримають усе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вся категорія «зроблено в Японії» в Україні. Разом — близько 1 000 японських SKU і оцінно 16–19 млн грн роздрібу на рік.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МАГАЗИН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72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ГЕО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АСОРТИМЕНТ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7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БРЕНДИ І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6807" y="15727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profimax.com.ua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1792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12 япон. брендів, ~700 япон.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7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1 041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 103, KAI 140, Tojiro 86, Suncraft 79, Satake 64, Kasumi 21, Sakai Takayuki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1792224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каталог країни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roks.in.ua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06197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24 япон. бренди, 137 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7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80 – 16 740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7" y="206197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Tosa 26, Kanetsugu 17, Masahiro 16, Yoshihiro 15, Takamura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061972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Найрідкісніші ковалі. Дилерства не заявляє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233172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Київ,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 брендів + камені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7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899 – 9 999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7" y="233172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Yaxell, KAI, Kasumi, Tojiro, Suncraft + камені Shapton, Naniwa, 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331720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Ніж + заточення в одному місці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volod.in.ua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260146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18 SKU, японська секція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7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7" y="26014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Kasumi Damascus 13, Tora 10, Kuro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1468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одному бренду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rezat.com.ua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41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44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300+ позицій япон. категорії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7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570 – 1 150 (масова полиця)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7767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KAI, Satake, Kanetsugu, Tojiro, Masahiro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871215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Найдоступніший вхід у категорію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hangiri.com.ua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3140963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644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для суші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87767" y="314096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Sekiryu, Sakai Takayuki, KAI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140963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профільний суші-магазин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smart-kitchen.com.ua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41448" y="3410711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644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«для суші»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96127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7" y="3410711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 та ін.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3410711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спеціалізація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nojaro.com.ua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41448" y="368045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сантоку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96127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7" y="368045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Змішаний асортимент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3680459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Нішевий агрегатор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950207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europosud.ua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41448" y="3950207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64408" y="39502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Серія «японські ножі»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96127" y="3950207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7767" y="3950207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Tojiro, Satake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78440" y="3950207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Посуд + ножі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78440" y="1572768"/>
            <a:ext cx="1252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4315968"/>
            <a:ext cx="36576" cy="19202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КАНАЛ НЕ МАСШТАБУЄТЬСЯ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Дев'ять магазинів на 33 млн населення — це не недорозвиненість,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рівновага. Ринок, який вони обслуговують, замалий для десятого.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офлайн-мережі: усе працює через Нову пошту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одного київського складу.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7680" y="4315968"/>
            <a:ext cx="36576" cy="19202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542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ЦЕЙ КАНАЛ РОБИТЬ ДОБРЕ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Продає складний товар складному покупцю: описи сталі, HRC,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кількість шарів, походження заводу.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єдиний канал, де маржа виправдовує консультацію.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Тут можна запустити новий бренд — але не можна заробити обсяг.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04672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046720" y="4315968"/>
            <a:ext cx="36576" cy="1920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8446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ЗАУВАЖЕННЯ ПРО ДОСТОВІРНІСТЬ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8446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ROKS прямо не заявляє статусу офіційного дилера, хоча продає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24 японські бренди. japan-knife працює через Prom.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покупця це означає, що гарантія і походження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тримаються на слові продавця, а не на дилерському договорі.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2 · МОНОБРЕНДОВІ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Найкращі бренди вже мають ексклюзивного партнера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головна перешкода входу, яку зазвичай помічають надто пізно: вільних топ-брендів на ринку немає.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5727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572768"/>
            <a:ext cx="2514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1572768"/>
            <a:ext cx="3246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 ДИСТРИБУЦІЇ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15727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647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1810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1810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yaxell.com.ua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1810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Ексклюзивний імпортер, шоурум у Києві
(Борщагівська 154а, ТЦ Аркадія)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1810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18520" y="1792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1819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267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Miyabi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2267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 (Zwilling)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2267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lacocotte.com.ua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267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Офіційне представництво Zwilling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9528" y="2267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2249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2276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6791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724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724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2724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japan-knife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2724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продавців, дистриб'ютор не афішується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724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18520" y="2706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18520" y="2734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1821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31821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3 заводи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8808" y="31821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31821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9528" y="31821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18520" y="31638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18520" y="31912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5935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6393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36393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8808" y="36393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 (97 SKU)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3408" y="36393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Присутній у великому форматі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39528" y="36393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18520" y="36210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18520" y="36484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96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50008" y="4096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Секі, з 1947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8808" y="4096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4096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Розсіяний, без явного ексклюзиву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9528" y="4096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018520" y="4078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20" y="4105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5079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553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0008" y="4553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4553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japan-knife, 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3408" y="4553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9528" y="4553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018520" y="4535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20" y="4562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5010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50008" y="5010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78808" y="5010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arcos.com.ua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93408" y="5010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Офіційний сайт бренду в Україні, 311 SKU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9528" y="5010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018520" y="4992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18520" y="5020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18520" y="1572768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СЛОТ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504688"/>
            <a:ext cx="36576" cy="8778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ЗАЛИШИЛОСЬ ВІЛЬНИМ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і Kasumi — єдині серйозні японські бренди без явного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— середній ціновий сегмент. Верхній сегмент закритий повністю.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504688"/>
            <a:ext cx="36576" cy="8778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АЛЬТЕРНАТИВА ДИСТРИБУЦІЇ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Власна торгова марка з японського заводу (OEM) обходить питання слотів,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додає вартість побудови бренду до вже наявних 10 % мита.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Статус дистрибуції визначено за наявністю окремого брендового сайту з українською доменною зоною та заявою про ексклюзив; це непрямий індикатор, а не перевірені дилерські договори.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3 · ВЕЛИКИЙ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Епіцентр: 133 японські ножі з 4 950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Найбільша офлайн-полиця кухонних ножів в Україні — і єдине місце, де японське виробництво стоїть у масштабі, а не поштучно.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ЯПОНСЬКЕ ВИРОБНИЦТВО НА ПОЛИЦІ ЄПІЦЕНТРУ · SKU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00784"/>
            <a:ext cx="8284464" cy="512064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57984" y="1851660"/>
            <a:ext cx="3017520" cy="1005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85232" y="181051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10512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0608" y="1810512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Senzo Classic, Twisted Octagon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304288"/>
            <a:ext cx="8284464" cy="512064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14016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57984" y="2455164"/>
            <a:ext cx="933253" cy="1005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85232" y="241401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E9EA6"/>
                </a:solidFill>
                <a:latin typeface="Segoe UI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5312" y="2414016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0608" y="2414016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DP, Basic, Shippu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907792"/>
            <a:ext cx="8284464" cy="512064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1752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57984" y="3058668"/>
            <a:ext cx="186650" cy="1005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85232" y="301752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3017520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3017520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Wasabi, Shun Classic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657600"/>
            <a:ext cx="813816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22192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717890"/>
                </a:solidFill>
                <a:latin typeface="Segoe UI"/>
              </a:rPr>
              <a:t>Решта полиці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57984" y="3863340"/>
            <a:ext cx="3017520" cy="10058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85232" y="38221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717890"/>
                </a:solidFill>
                <a:latin typeface="Segoe UI"/>
              </a:rPr>
              <a:t>4 817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25312" y="3822192"/>
            <a:ext cx="2788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Поза обсягом цієї роботи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3104" y="1810512"/>
            <a:ext cx="279806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34272" y="1965960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УСЬОГО SKU В КАТЕГОРІЇ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217627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4820A"/>
                </a:solidFill>
                <a:latin typeface="Segoe UI"/>
              </a:rPr>
              <a:t>4 950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26517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Ножі кухонні, Епіцентр,
вересень 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33104" y="2980944"/>
            <a:ext cx="279806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34272" y="3136391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ЯПОНСЬКЕ ВИРОБНИЦТВО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34670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9EA6"/>
                </a:solidFill>
                <a:latin typeface="Segoe UI"/>
              </a:rPr>
              <a:t>133 SKU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34272" y="3822191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Suncraft 97 + Tojiro 30 + KAI 6.
2,7 % полиці.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33104" y="4151376"/>
            <a:ext cx="279806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34272" y="4306824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ЦІНИ ЯПОНСЬКОЇ ПОЛИЦІ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4272" y="4517136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D4B96"/>
                </a:solidFill>
                <a:latin typeface="Segoe UI"/>
              </a:rPr>
              <a:t>2 787 – 11 271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499262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Увесь японський
асортимент мережі.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33104" y="5321808"/>
            <a:ext cx="279806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34272" y="5477256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ЯПОНСЬКИХ БРЕНДІВ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34272" y="568756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03B4B"/>
                </a:solidFill>
                <a:latin typeface="Segoe UI"/>
              </a:rPr>
              <a:t>3 з 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616305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що присутні в країні.
Решта 52 полиці не мають.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6928" y="4370832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6928" y="4370832"/>
            <a:ext cx="36576" cy="12070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672" y="4526280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ДОВОДИТЬ SUNCRAFT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" y="4754880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97 SKU однієї японської марки в мережі — це не тест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не подарункова вітрина, а повноцінна лінійка.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Отже бар'єр не в мережі й не в покупцеві.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18304" y="4370832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18304" y="4370832"/>
            <a:ext cx="36576" cy="120700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56048" y="4526280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ВІДКРИВАЄ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56048" y="4754880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Решта 52 японські бренди в цю мережу не зайшли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жодною позицією. Великий формат — єдиний канал,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 японський асортимент може отримати обіг.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публічний каталог epicentrk.ua, фільтр «Кухонні ножі», вересень 2026. Кількість SKU відображає ширину асортименту, а не продажі. Асортимент неяпонського походження показано одним агрегованим рядком і далі в колоді не розглядається.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4 · МАРКЕТПЛЕЙСИ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Полиця без складу: японські позиції є, товару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Перевірка механіки каналу на конкретному бренді. Висновок переноситься на всі японські марки: маркетплейс показує каталог постачальника, а не залишок.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3408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55648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50" b="1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157984"/>
            <a:ext cx="31455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Пошук за брендом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03B4B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8" y="243230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303A5D"/>
                </a:solidFill>
                <a:latin typeface="Segoe UI"/>
              </a:rPr>
              <a:t>Sakai Takayuki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274320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871216"/>
            <a:ext cx="3145536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API пошуку Rozetka на запит «Sakai Takayuki» повертає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goods_quantity_found = 0. Жодної позиції бренду в країні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 найбільшому майданчику роздрібу.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554480"/>
            <a:ext cx="3584448" cy="23408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1755648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50" b="1">
                <a:solidFill>
                  <a:srgbClr val="1C2235"/>
                </a:solidFill>
                <a:latin typeface="Segoe UI"/>
              </a:rPr>
              <a:t>PROM.UA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2157984"/>
            <a:ext cx="31455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Знайдено лістингів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32257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4820A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4728" y="243230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303A5D"/>
                </a:solidFill>
                <a:latin typeface="Segoe UI"/>
              </a:rPr>
              <a:t>у трьох вітрин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74320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871216"/>
            <a:ext cx="3145536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Усі 11 — із терміном «поставка зі складу 5–10 днів».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Чотири різні моделі у двох різних продавців мають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однакову ціну 15 326 грн.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1554480"/>
            <a:ext cx="3584448" cy="23408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755648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50" b="1">
                <a:solidFill>
                  <a:srgbClr val="1C2235"/>
                </a:solidFill>
                <a:latin typeface="Segoe UI"/>
              </a:rPr>
              <a:t>ВЛАСНІ САЙТИ ТИХ САМИХ ПРОДАВЦІВ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3" y="2157984"/>
            <a:ext cx="31455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Підтверджено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32257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03B4B"/>
                </a:solidFill>
                <a:latin typeface="Segoe UI"/>
              </a:rPr>
              <a:t>0 з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8047" y="243230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303A5D"/>
                </a:solidFill>
                <a:latin typeface="Segoe UI"/>
              </a:rPr>
              <a:t>вітрин ROKS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93023" y="274320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3023" y="2871216"/>
            <a:ext cx="3145536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Вітрина ROKS на Prom показує дві позиції бренду.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Власний сайт roks.com.ua за тими самими запитами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не знаходить жодної.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059936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ФІД, ЧОТИРИ РІЗНІ НОЖІ, ОДНА ЦІНА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97680"/>
            <a:ext cx="4572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8928" y="42976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ВІТРИНА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4297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8" y="4297680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445770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498848"/>
            <a:ext cx="4517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 Urushi Saiu Santoku 17 см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38928" y="44988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3408" y="44988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15 326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2128" y="4498848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Ціна з формули, не із залишку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754880"/>
            <a:ext cx="4517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 Urushi Sairen Kengata 16 см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7548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93408" y="47548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15 326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82128" y="4754880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" y="49697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5010912"/>
            <a:ext cx="4517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 Urushi Saiseki Kengata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38928" y="50109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93408" y="50109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15 326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82128" y="5010912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5266944"/>
            <a:ext cx="4517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 Nanairo Santoku Green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38928" y="526694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26694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15 326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82128" y="5266944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Маркетплейс не дає ані полиці, ані обігу, ані контролю ціни: він транслює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чужий каталог. Для бренду це означає присутність без продажів.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НАСЛІДОК ДЛЯ ПЕРЕГОВОРІВ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виробник, який побачить свої моделі на Prom за 15 326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вважатиме ринок зайнятим. Це треба знімати до першої розмови.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Перевірено 1 жовтня 2026: API пошуку Rozetka, видача prom.ua, картки товарів і власні сайти продавців. Механіка показана на Sakai Takayuki — бренді, для якого вдалося зіставити всі три джерела.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5 · ОПТ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523 професійні ножі — і два японські бренди серед них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головний негативний результат дослідження. Професійний канал в Україні японські ножі не продає.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AL-GROUP · ОПТ ПРОФЕСІЙНИХ НОЖІВ ДЛЯ HORECA · 523 ПОЗИЦІЇ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Arcos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Tramontina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Pirge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Туреччина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Sanelli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Hendi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Нідерланди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Stalgast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Польща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2571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Paderno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Lacor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93392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93392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Giesser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19856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9856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WAS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GI.Metall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Chef-1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0464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ЄВРОПА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0464" y="19751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13 брендів
із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ЯПОНСЬКІ ПОЗИЦІЇ В ЦЬОМУ КАТАЛОЗІ — ВСЬОГО ТРИ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089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310896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310896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0368" y="31089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26898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3101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9968" y="33101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165 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1648" y="33101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8 004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33101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5844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Kaneyoshi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29968" y="35844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41648" y="35844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358444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381762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587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Ketu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8587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Накірі 165 мм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1648" y="38587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13 290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0368" y="38587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23760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p_834b41037720a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926080"/>
            <a:ext cx="1956815" cy="100584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4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Європа на профкухні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4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Arcos, Tramontina, Pirge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28048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3f769ecb739067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926080"/>
            <a:ext cx="1956815" cy="10058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674352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«Японський» в опті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= форма леза, не походження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517136"/>
            <a:ext cx="44074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0" y="4517136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61504" y="4672584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LFOOD.COM.UA · КАТЕГОРІЯ «ЯПОНСЬКІ НОЖІ»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1504" y="4901184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28 позицій, 1 274 – 5 907 грн. Бренди: DICK (Німеччина, 13),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ICEL (Португалія, 8), Hendi (6), Stalgast (1).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Японських брендів — жодного.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«Японський ніж» у профканалі означає форму леза.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041648"/>
            <a:ext cx="321868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6928" y="4041648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" y="4197096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ЄВРОПА ВИГРАЛА ЦЕЙ КАНАЛ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4425696"/>
            <a:ext cx="274320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Ціна заміни. Arcos і Tramontina — 300–900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ніж, це списується без болю.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Логістика. Ножі приїжджають разом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 каструлями, дошками і формою.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Ніж — рядок у накладній, а не окрема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закупівля.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31920" y="4041648"/>
            <a:ext cx="30358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31920" y="4041648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69663" y="4197096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МОДЕЛІ ВХОДУ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9663" y="4425696"/>
            <a:ext cx="25603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Продати японський ніж у HoReCa через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існуючий опт не вийде: у цих каталогів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немає ні полиці, ні аргументу, ні сервісу.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Єдиний виняток — односторонні ножі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суші, але це 500–900 штук на рік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Японське виробництво, преміум: ₴7 000 – 40 140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Бренди з підтвердженим японським виробництвом у верхньому ціновому діапазоні. Усі мають робочий канал в Україні.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5727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СЕРІЇ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8524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 НА РИНКУ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5107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17922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Zen 37, Ran 69, Gou 101, Super Gou 161,
Ypsilon 193 шари, Ketu, Taishi, Rei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Ексклюзив + ProfiMax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Верх ринку. SG-2 порошок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0894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KAI / Shun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0894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0894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20894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Shun Classic 42, Premier Tim Mälzer 18,
Wasabi Black 20, Seki Magoroku 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894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Найвідоміше ім'я. Шеф 20 см — 10 710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34543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865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Miyabi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3865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 (Zwilling)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7288" y="23865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23865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Традиційні японські серії
під німецьким власником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8" y="23865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Найдорожчий бренд у роздрібі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6837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Kasumi / Sumikama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6837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26837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 – 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6837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Damascus 32 шари VG-10 61 HRC,
Kuro 32 шари, Tora AUS-6A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2208" y="26837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524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293979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9809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Suncraft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7288" y="29809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79 – 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9809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Elegancia, Senzo Black / Classic /
Professional / Clad / Retro, MU Bamboo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29809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преміум у великому форматі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2781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Kanetsugu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2781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47288" y="32781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456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1 290 – 8 890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44768" y="32781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Saiun, Pro-M, Miyabi Isshin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32781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ROKS, ProfiMax, РіЗ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524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Недооцінений. Saiun 8 290 – 8 890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53415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5753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Global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2848" y="35753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 (Yoshikin)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47288" y="35753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4456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4768" y="35753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Суцільнометалевий корпус,
упізнаваний дизайн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35753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Rozetka, m.ua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524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Іконічний дизайн, слабка присутність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8724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2848" y="38724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Сакаї, Японія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47288" y="38724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4456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38724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Ковані односторонні,
вуглецева Yellow Steel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38724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Hangiri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Традиційна ковка. Ніша суші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412851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1696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Yoshihiro / Takamura / Tosa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12848" y="41696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ковалі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47288" y="41696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/ 8 /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4456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16 740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41696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Дрібносерійні та ковальські лінії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22208" y="41696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524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Довгий хвіст для колекціонерів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668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Masahiro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12848" y="44668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47288" y="44668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– 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4456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44768" y="44668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лінії, точильні камені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4668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ROKS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8524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Історичний бренд, слабка дистрибуція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19088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_4b3c700b00dc8c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901184"/>
            <a:ext cx="1115568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565392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 Super Gou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17 746 грн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735823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272761f443e37e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5" y="4901184"/>
            <a:ext cx="1115568" cy="91440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882127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Kasumi Damascus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82127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7 400 грн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52559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8389d55acc887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5711" y="4901184"/>
            <a:ext cx="1115568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198863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 Ran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98863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7 426 грн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369295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p_dee392611edd8a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2447" y="4901184"/>
            <a:ext cx="1115568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515599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Преміум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15599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10–28 тис. грн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4828032"/>
            <a:ext cx="5650992" cy="172659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4828032"/>
            <a:ext cx="36576" cy="172659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4983480"/>
            <a:ext cx="51755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ЦЕЙ СЕГМЕНТ ГОВОРИТЬ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5212080"/>
            <a:ext cx="5175504" cy="1196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верхній поверх. Повний перепис (слайди 34–37) дає 55 брендів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виробництва на ринок обсягом 16–19 млн грн — щільність, яка давно перевищує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економічну доцільність. Yaxell і Miyabi мають ексклюзивних партнерів; KAI,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Tojiro і Suncraft продаються кількома продавцями паралельно.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в Україні сервісу заточення чи відновлення кромки: ніж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10–18 тис. грн продається як коробка.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Японське виробництво, доступне: ₴900 – 7 500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сегмент, де японське походження зустрічається з ціною, яку платить масовий покупець. І він майже порожній.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54480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ОПОРНІ ПОЗИЦІЇ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5100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ВАЖЛИВИЙ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32788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7393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з 1947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17739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77393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Saku універсальний 979 · Saku накірі 1 249 ·
Satoru сантоку 1 599 · Sakura шеф 2 999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1007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японець
у масовій ціні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1671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Tojiro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167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заводи, з 1953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167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 – 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16712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2167128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Basic F-318 2 599 · DP F-807 шеф 18 см 5 999 ·
DP Damascus F-659 сантоку 7 499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1671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51007" y="216712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Стандарт «першого
серйозного ножа»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519172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5603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56032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56032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25603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2560320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SR-400 янагіба 1 107 · SR-240S 24 см 1 638 ·
деба 15 см 1 470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25603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Hangiri, Smart-Kitchen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51007" y="25603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Найдешевший вхід
у односторонні ножі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9535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KAI Wasabi 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953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2953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2 520 – 3 499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1888" y="2953512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16,5 см 2 730 · шеф 20 см 3 499 ·
янагіба 15,5 см 2 520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Найдоступніша лінія
великого бренду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305556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3467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34670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0168" y="334670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33467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3 000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34670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AUS-6A моносталь, 56–58 HRC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33467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7" y="33467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Вхід у бренд 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73989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Kaneyoshi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7398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30168" y="37398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37398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73989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 5 740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96528" y="37398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AL-Group (опт HoReCa)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51007" y="37398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японець
у профканалі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602e9dd50399b5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42816"/>
            <a:ext cx="1271016" cy="82296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713232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Satoru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1 599 грн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39112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826c3391179f4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2264" y="4242816"/>
            <a:ext cx="1271016" cy="82296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185416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85416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накірі · 1 249 грн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11296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14672108e1315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4242816"/>
            <a:ext cx="1271016" cy="82296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657600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Sakura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0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2 999 грн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83480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64897f7ec23107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4242816"/>
            <a:ext cx="1271016" cy="82296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129784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29784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від 1 180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55664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f470a6d3833e8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4242816"/>
            <a:ext cx="1271016" cy="82296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601968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янагіба · 1 107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36992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38160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ВХІДНА ЦІНА СПРАВЖНЬОЇ ЯПОНІЇ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38160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9A50B"/>
                </a:solidFill>
                <a:latin typeface="Segoe UI"/>
              </a:rPr>
              <a:t>979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38160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Satake Saku. Нижче
Японії на ринку немає.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20656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021824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ГЛИБИНА ЦЬОГО СЕГМЕНТА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21824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3B4B"/>
                </a:solidFill>
                <a:latin typeface="Segoe UI"/>
              </a:rPr>
              <a:t>4 бренди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21824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Satake, Seki Kanetsugu,
KAI Wasabi, Tojiro Basic.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14416"/>
            <a:ext cx="11064240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14416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6986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ГОЛОВНИЙ ВИСНОВОК ЦЬОГО СЕГМЕНТА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5998464"/>
            <a:ext cx="10588752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доводить, що японський ніж може коштувати 979 грн і продаватися в Україні. Але Satake один, у нього 64 SKU, і він не має ані маркетингу, ані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неохоронювана ділянка японської матриці — і найтонша за юніт-економікою: при ціні 1 000–3 000 грн націнка не покриває консультації, якої вимагає товар.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55 брендів, а не десять: промислові марки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Поглиблений обхід 17 продавців у жовтні 2026. Промислові бренди — серійне виробництво, стабільна якість, західні руків'я.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1554480"/>
            <a:ext cx="4754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ЗАСН.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7" y="15544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UA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7" y="1554480"/>
            <a:ext cx="14447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544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55448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47504" y="1554480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17556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39" y="17556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7" y="17556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7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17556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дамаск, VG-MAX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17556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japan-knife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17556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Найвідоміше японське ім'я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1976932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197693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39" y="1976932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7" y="1976932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7" y="1976932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70 102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19" y="1976932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VG-10, 37–193 шари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1976932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 · ProfiMax · AL-Group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4" y="1976932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Ексклюзивний імпортер, шоурум у Києві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3776" y="2157069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19821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219821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39" y="219821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7" y="219821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7" y="219821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18 999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19" y="219821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дамаск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219821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 · ProfiMax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7504" y="219821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японський преміум у великому форматі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419502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241950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39" y="2419502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7327" y="2419502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7" y="2419502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19" y="2419502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Shirogami, FAX-18 HSS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1" y="2419502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WildCat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47504" y="2419502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Найширша присутність по каналах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2599639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26407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3120" y="26407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39" y="26407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67327" y="26407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7" y="26407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849 – 16 999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19" y="26407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Мо-ванадій, VG-10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26407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rezat ·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47504" y="26407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Найдоступніша справжня Японія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2862072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286207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39" y="2862072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67327" y="2862072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7" y="2862072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0719" y="2862072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Shirogami, VG-10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71231" y="2862072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ibis.net.ua · x-gear · WildCat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47504" y="2862072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Через збройові магазини, не кухонні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3776" y="3042208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3083356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03120" y="308335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91839" y="308335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2004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67327" y="3083356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5967" y="3083356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0719" y="3083356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MC63, дамаск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71231" y="3083356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zwilling.in.ua · lacocotte · ROKS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47504" y="3083356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Найдорожчий бренд масового роздрібу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304641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03120" y="330464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1839" y="3304641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67327" y="3304641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15967" y="3304641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15 229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19" y="3304641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+ 32 шари, AUS-6A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71231" y="3304641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Volod · japan-knife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47504" y="3304641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3484778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525926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03120" y="352592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39" y="352592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67327" y="3525926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15967" y="3525926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13 900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19" y="3525926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Saiun, Zuiun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71231" y="3525926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 · WildCat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47504" y="3525926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Недооцінений у профканалі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3747211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03120" y="374721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39" y="3747211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67327" y="3747211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15967" y="3747211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2 400 – 4 100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60719" y="3747211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MRS-30, мо-ванадій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71231" y="3747211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47504" y="3747211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Історичний бренд, мала присутність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93776" y="3927348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" y="3968496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Misono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396849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91839" y="396849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767327" y="3968496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15967" y="3968496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1 690 – 4 990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19" y="3968496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MV, молібден-ванадій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71231" y="3968496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3968496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професійної кухні Японії; в Україні 2 позиції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189780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Shimomura Kihan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3120" y="41897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91839" y="41897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67327" y="4189780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5967" y="4189780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60719" y="41897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71231" y="4189780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WildCat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47504" y="4189780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 в каталозі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" y="4369917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6928" y="4411065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 Masamune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03120" y="44110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39" y="4411065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67327" y="4411065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315967" y="4411065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60719" y="4411065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71231" y="4411065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747504" y="4411065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окрема лінія Satake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4632350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Sekimagoroku Imayo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03120" y="46323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91839" y="463235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767327" y="4632350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15967" y="4632350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60719" y="463235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DSR1K6, hammered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571231" y="4632350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747504" y="4632350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Продавець заявляє ексклюзив на ринку України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93776" y="4812487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66928" y="4853635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Higonokami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03120" y="48536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91839" y="4853635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767327" y="4853635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315967" y="4853635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760719" y="4853635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латунь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571231" y="4853635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vodospad.net.ua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747504" y="4853635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Класичний складаний ніж, не кухонний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6928" y="5074920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Global (Yoshikin)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03120" y="507492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91839" y="507492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767327" y="5074920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15967" y="5074920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760719" y="507492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CROMOVA 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571231" y="5074920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· m.ua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747504" y="5074920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Іконічний дизайн, слабка дистрибуція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66928" y="534009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66928" y="534009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04672" y="549554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ЗМІНИВ ГЛИБШИЙ ОБХІД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04672" y="572414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Перший зріз давав 10 японських брендів. Повний обхід 17 продавців дав 55: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16 промислових, 6 збірних, 12 родинних кузень і 21 іменного коваля.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17920" y="534009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217920" y="5340096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55664" y="549554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КОНЦЕНТРАЦІЯ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455664" y="572414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15 промислових брендів дають 604 позиції із 708, тобто 85 %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П'ять марок — KAI, Yaxell, Suncraft, Tojiro, Satake — це 486 позицій, 69 %.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SKU — кількість позицій у публічних каталогах українських продавців, жовтень 2026. «н/д» — бренд присутній, але кількість або ціну з каталогу витягти не вдалося.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Родинні кузні та збірні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Родинна кузня — виробництво з іменем і спадковістю, але без серії. Збірний бренд — торгова марка, під якою кілька ковалів.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Хіросакі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Anmon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350 років, 8 поколінь, ковалі клану Цуґару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12 220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японського трейдера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11 990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R2/SG-2, Chromax, VG-10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Піонер порошкової сталі, «лазерний» спуск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2 929 – 10 035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Shirogami, куроучі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Найглибша артизанальна лінія в Україні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7 460 – 7 640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Yasugi, VG-10, Ginsan, Aogami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Кандидат у постачальники. На складі лише 2 янагіби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Gyokucho / Kamisaku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7 300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AUS-8A, 3 шари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Tamatori Industry, місто Ечідзен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Yoshihiro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3 609 – 6 747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вуглець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11 позицій, друга за глибиною артизанальна лінія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Seto Iseya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5 500 – 6 550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ручна ковка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Santoku / Petty / Paring, ковані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Kaneyoshi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японець в оптовому профканалі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Yamawaki Hamono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SK5, мідзу-хоньякі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 хоньякі, 100 років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392734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Ichiji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396849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39684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39684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396849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395020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397764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18978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Sekiryu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1897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18978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1897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18978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Нержавіюча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18978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Hangiri · Smart-Kitchen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18978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Найдешевший вхід в односторонні ножі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17149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19892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369917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41106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Anryu Hamono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4110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411065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41106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411065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 дамаск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411065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411065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Майстерня Такефу Найф Вілідж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3927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4202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63235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6323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63235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63235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63235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#2, Shirogami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63235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 · IzzaBugra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63235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ковалів Тоса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61406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64149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4812487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48536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Hokiyama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48536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4853635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48536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4853635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Tosa-Ichi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4853635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4853635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Згаданий у каталозі, позицій не знайдено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483534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486277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0749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Inoguchi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074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0749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0749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0749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0749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0749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Чотири позиції, бренд не розкритий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0566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0840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93776" y="5255056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66928" y="52962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S.K.K. Cutlery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167128" y="52962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453128" y="529620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956048" y="52962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419088" y="529620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430767" y="52962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65207" y="52962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Сашимі 240 мм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721608" y="527791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721608" y="530534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66928" y="551748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Suisin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167128" y="551748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453128" y="551748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56048" y="551748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419088" y="551748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430767" y="551748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665207" y="551748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Сакаї серед шефів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3721608" y="549920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721608" y="552663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566928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6928" y="583021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804672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ТАКЕ РОДИННА КУЗНЯ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04672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Виробництво на 5–30 людей зі спадковою технологією.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Nigara — 350 років і 8 поколінь, Yamawaki — 100 років.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4270248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270248" y="5830214"/>
            <a:ext cx="36576" cy="851712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4507992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ЩО ТАКЕ ЗБІРНИЙ БРЕНД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507992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6 брендів. HONMAMON, JCK Natures — японські трейдери,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що продають вироби різних ковалів під своєю маркою.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7973567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973567" y="583021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211311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НЕ МАСШТАБУЄТЬСЯ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211311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дає 29 позицій, решта — від 1 до 11.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Партію під замовлення тут не зробить ніхто.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верхня половина за ціною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Ножі, підписані іменем конкретної людини. Це верхній край ринку за ціною і нижній — за обсягом.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Harukaze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19 990 – 26 990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Найдорожчі позиції Sekator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16 677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 дамаск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Найдорожча одинична позиція артизанів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13 200 – 15 580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Cobalt Special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Іменний коваль, найдорожчий сегмент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13 865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ZDP-189, 65–67 HRC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Найтвердіша сталь на ринку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Tsukasa (Hinoura)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Третє покоління ковалів Сандзьо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Shigehiro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Special Petty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Tadayoshi Tokaji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8 480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Hagane, вуглець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 · 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210 мм, одностороння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240 мм, одностороння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Tomita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3 215 – 6 600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 / Super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сантоку, універсальні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392734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Tanaka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396849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5 203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39684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39684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396849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Усуба камаґата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395020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397764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6692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6928" y="5340096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0467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ЦЕ НЕ БРЕНДИ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467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імена людей. Myojin Naohito, Tsukasa Hinoura, Tomita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кує сам, партій не існує.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27024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270248" y="534009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0799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0799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Від 1 980 грн (Takanori Izumi) до 16 677 грн (Etsu).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Hatsukokoro ZDP-189, 65–67 HRC — найтвердіша сталь ринку.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973567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973567" y="5340096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211311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ХТО ЦЕ КУПУЄ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11311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Кілька сотень людей на країну. Для постачальника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сегмент, а вітрина для репутації.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нижня половина за ціною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Продовження переліку. Ці майстри доступніші за ціною, але представлені так само поодинокими позиціями.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4 850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Куроучі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П'ять позицій, вхідний артизан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Kiyokane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4 590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Super, куроучі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Петті куроучі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Hisashige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за 3 520 грн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Takanori Izumi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1 980 – 3 080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AUS-10M дамаск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Найдоступніший артизан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Hanakumagawa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2 390 – 2 790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Motokane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 – 2 695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Продається під маркою Honmamon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Kazuhira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Універсальний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Mikihisa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Макірі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Вуглецева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6692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340096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ДОСТУПНІ АРТИЗАНИ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Takanori Izumi від 1 980 грн, Motokane від 2 090 грн.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Вуглецева сталь дешевша за дамаск, але вимагає догляду.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27024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270248" y="534009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0799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ПРОДАЮТЬСЯ ПІД ЧУЖОЮ МАРКОЮ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0799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Motokane, Kiyokane, Shigehiro йдуть на полиці як Honmamon.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Покупець бачить збірний бренд, а не ім'я коваля.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973567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973567" y="5340096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211311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11311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Ці імена не формують попит в Україні — їх ніхто не просуває.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є на полиці, але не є брендами для покупця.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ЦЕ ПРОДАЄ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Сімнадцять продавців, два з них тримають нішу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каналів, де в Україні можна купити ніж японського виробництва, із глибиною й цінами жовтня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 КАНАЛУ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55448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БРЕНДІВ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5448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5544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Sekator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6128" y="177393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177393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1 650 – 26 990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177393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Honmamon, Misono, Hanakumagawa, Mikihisa, Kasumi. Усі позиції марковані «(Японія)»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3128" y="1815084"/>
            <a:ext cx="168510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177393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0007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200070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200070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200070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1 700 – 8 600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00070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KAI Sekimagoroku, Satake, Sekiryu, Shimomura, Teruhide, Gyokucho, Seto Iseya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53128" y="2041855"/>
            <a:ext cx="192024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93792" y="200070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186330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22747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vodospad.net.ua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222747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Садовий + кухня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6128" y="222747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2227478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 – 2 390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22747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Honmamon, Hanakumagawa, Higonokami. Японія в непрофільному магазині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53128" y="2268626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2227478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45424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WildCat / IzzaBugra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8648" y="245424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245424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245424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970 – 16 677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245424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Найширша артизанальна добірка країни. Прямий закуп у Японії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3128" y="2495397"/>
            <a:ext cx="685800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3792" y="245424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28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2639872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6810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ROKS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98648" y="26810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268102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268102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16 740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268102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із Nigara і Myojin. Дилерства не заявляє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53128" y="2722168"/>
            <a:ext cx="215537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93792" y="268102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290779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98648" y="29077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96128" y="290779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56248" y="290779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38 640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2208" y="290779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промисловий асортимент. Країну маркує сам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53128" y="2948940"/>
            <a:ext cx="286076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93792" y="290779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11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093415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1345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Епіцентр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98648" y="313456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96128" y="313456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6248" y="3134563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3134563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Suncraft 97, Tojiro 30, KAI 6. Єдиний офлайн-масштаб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53128" y="3175711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93792" y="3134563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36133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yaxell.com.ua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98648" y="336133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96128" y="336133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100+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6248" y="336133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22208" y="336133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Ексклюзивний імпортер Yaxell, шоурум Київ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53128" y="3402482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93792" y="336133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3546957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358810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zwilling.in.ua / LaCocotte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98648" y="358810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96128" y="358810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56248" y="358810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358810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Miyabi через представництво Zwilling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53128" y="3629253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93792" y="358810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381487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rezat.com.ua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98648" y="38148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96128" y="38148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56248" y="381487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217 – 3 757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381487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Найнижчі ціни на справжню Японію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53128" y="3856024"/>
            <a:ext cx="144997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93792" y="381487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93776" y="4000500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404164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volod.in.ua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98648" y="4041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96128" y="404164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6248" y="4041648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24 038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404164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Kasumi, традиційні ножі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53128" y="4082796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93792" y="4041648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426841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8648" y="426841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96128" y="426841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56248" y="426841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9 999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22208" y="426841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+ водні камені в одному місці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53128" y="4309567"/>
            <a:ext cx="192024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193792" y="426841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93776" y="4454042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6928" y="449519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Hangiri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8648" y="449519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Суші-спеціаліст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96128" y="449519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56248" y="449519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22208" y="449519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Sekiryu, Sakai Takayuki, KAI. Односторонні (не верифіковано: Cloudflare)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53128" y="4536338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93792" y="449519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472196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ibis.net.ua / x-gear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8648" y="47219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Збройовий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96128" y="472196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56248" y="472196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22208" y="472196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Kanetsune через збройовий канал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453128" y="4763109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93792" y="472196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93776" y="4907584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66928" y="494873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Kagura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98648" y="49487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+ роздріб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596128" y="49487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56248" y="494873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22208" y="49487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Заявляє опт — єдиний такий канал у японській ніші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453128" y="4989880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93792" y="494873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517550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Rozetka / m.ua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986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596128" y="517550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56248" y="517550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522208" y="517550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Global і фільтр «країна: Японія»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53128" y="5216652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193792" y="517550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93776" y="5361127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6928" y="540227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898648" y="54022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596128" y="540227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556248" y="540227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22208" y="540227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Yaxell і Kaneyoshi серед 523 проф. ножів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453128" y="5443423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93792" y="540227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69280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69280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2472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КОНЦЕНТРАЦІЯ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53328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WildCat, ROKS і Sekator — 42 бренди з 55.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них ніша складається з п'яти марок.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669280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669280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582472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РОЗКИД НА ТОЙ САМИЙ БРЕНД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053328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Tojiro: 599 грн у ProfiMax проти 13 799 грн у WildCat.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Різні лінійки, один бренд.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669280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669280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582472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ЄДИНИЙ ОПТ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053328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Kagura заявляє гуртові умови. Це єдиний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оптовий канал у японській ніші.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«Японських брендів» — кількість марок японського виробництва в каталозі продавця. SKU — сумарна кількість японських позицій, оцінка за публічним каталогом.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ШИРИНА ПРОТИ ГЛИБИНИ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П'ятдесят п'ять брендів, але полиці немає у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бренд — точка: горизонталь — скільки позицій у країні, вертикаль — медіанна ціна. Логарифмічна шкала по обох осях.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700784"/>
            <a:ext cx="6675120" cy="3749039"/>
          </a:xfrm>
          <a:prstGeom prst="rect">
            <a:avLst/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2456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988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871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228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111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9704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8536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2105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60937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524222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517821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422015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15614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3100068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303606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2077999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20139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687568"/>
            <a:ext cx="6675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ПОЗИЦІЙ У КАТАЛОГАХ УКРАЇНИ, ШТ (лог)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49961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МЕДІАННА ЦІНА, ГРН (лог)</a:t>
            </a:r>
          </a:p>
        </p:txBody>
      </p:sp>
      <p:sp>
        <p:nvSpPr>
          <p:cNvPr id="31" name="Oval 30"/>
          <p:cNvSpPr/>
          <p:nvPr/>
        </p:nvSpPr>
        <p:spPr>
          <a:xfrm>
            <a:off x="7615433" y="268647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627" y="183973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914428" y="3168192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45360" y="301317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12646" y="3128254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07004" y="219020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185047" y="320645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14340" y="329683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944816" y="320075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099580" y="406796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172717" y="3283801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84732" y="4520114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312164" y="337630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284732" y="3991610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200149" y="2711185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56657" y="3634655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948689" y="3156728"/>
            <a:ext cx="155448" cy="155448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312164" y="2573964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98549" y="3425693"/>
            <a:ext cx="155448" cy="155448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374003" y="3967244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312164" y="3059126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172717" y="2598557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374003" y="4328387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374003" y="3712003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12164" y="274576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12164" y="286325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312164" y="365760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12164" y="320316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200149" y="430658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312164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312164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172717" y="4042555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84732" y="3315128"/>
            <a:ext cx="155448" cy="155448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692156" y="3493711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284732" y="4240453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200149" y="3257373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2719588" y="4380374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312164" y="3774227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312164" y="3202067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2200149" y="225528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284732" y="4478699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39845" y="269104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59039" y="184430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9772" y="301775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8840" y="317276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7058" y="284936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41412" y="334705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95145" y="3571997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03600" y="21947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81643" y="377795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10936" y="259274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45285" y="316130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69313" y="2688325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69313" y="2461397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69313" y="2232426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Harukaze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81328" y="283456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81328" y="3006365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1328" y="326559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89" name="Oval 88"/>
          <p:cNvSpPr/>
          <p:nvPr/>
        </p:nvSpPr>
        <p:spPr>
          <a:xfrm>
            <a:off x="1234440" y="5852160"/>
            <a:ext cx="100584" cy="100584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8988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Секі</a:t>
            </a:r>
          </a:p>
        </p:txBody>
      </p:sp>
      <p:sp>
        <p:nvSpPr>
          <p:cNvPr id="91" name="Oval 90"/>
          <p:cNvSpPr/>
          <p:nvPr/>
        </p:nvSpPr>
        <p:spPr>
          <a:xfrm>
            <a:off x="2203704" y="585216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5915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Сакаї</a:t>
            </a:r>
          </a:p>
        </p:txBody>
      </p:sp>
      <p:sp>
        <p:nvSpPr>
          <p:cNvPr id="93" name="Oval 92"/>
          <p:cNvSpPr/>
          <p:nvPr/>
        </p:nvSpPr>
        <p:spPr>
          <a:xfrm>
            <a:off x="3172968" y="5852160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328416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Ечідзен</a:t>
            </a:r>
          </a:p>
        </p:txBody>
      </p:sp>
      <p:sp>
        <p:nvSpPr>
          <p:cNvPr id="95" name="Oval 94"/>
          <p:cNvSpPr/>
          <p:nvPr/>
        </p:nvSpPr>
        <p:spPr>
          <a:xfrm>
            <a:off x="4142232" y="5852160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97680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Тоса</a:t>
            </a:r>
          </a:p>
        </p:txBody>
      </p:sp>
      <p:sp>
        <p:nvSpPr>
          <p:cNvPr id="97" name="Oval 96"/>
          <p:cNvSpPr/>
          <p:nvPr/>
        </p:nvSpPr>
        <p:spPr>
          <a:xfrm>
            <a:off x="5111496" y="5852160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66944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Сандзьо</a:t>
            </a:r>
          </a:p>
        </p:txBody>
      </p:sp>
      <p:sp>
        <p:nvSpPr>
          <p:cNvPr id="99" name="Oval 98"/>
          <p:cNvSpPr/>
          <p:nvPr/>
        </p:nvSpPr>
        <p:spPr>
          <a:xfrm>
            <a:off x="6080760" y="5852160"/>
            <a:ext cx="100584" cy="100584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3620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Аоморі</a:t>
            </a:r>
          </a:p>
        </p:txBody>
      </p:sp>
      <p:sp>
        <p:nvSpPr>
          <p:cNvPr id="101" name="Oval 100"/>
          <p:cNvSpPr/>
          <p:nvPr/>
        </p:nvSpPr>
        <p:spPr>
          <a:xfrm>
            <a:off x="7050024" y="5852160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0547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регіон н/д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138160" y="170078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138160" y="1700784"/>
            <a:ext cx="36576" cy="17373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75904" y="185623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ПОКАЗУЄ ЦЕЙ ГРАФІК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75904" y="208483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нижній кут — промисловість: багато позицій, доступна ціна.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Там п'ять марок, і вони тримають ринок.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Увесь лівий край — по одній-дві позиції на бренд.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не асортимент, це вітрина для ентузіаста.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138160" y="362102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38160" y="3621024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75904" y="377647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ПОРОЖНІЙ КВАДРАНТ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75904" y="400507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верхній кут — багато позицій за високою ціною — порожній.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преміальний японський бренд не має в Україні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глибини лінійки, ані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відповідь, чому ніша не росте.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03504" y="616305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На графіку — 24 бренди, для яких вдалося встановити і кількість позицій, і ціну. Медіанна ціна = середина спостереженого діапазону, а не зважена медіана продажів.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РЕАЛЬНО ТРИМАЄ ПОЛИЦЮ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японських брендів тримають 78 % японської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Ширина асортименту японських марок в українських каталогах. Це не частка ринку, але це те, що бачить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ШИРИНА АСОРТИМЕНТУ В УКРАЇНСЬКИХ КАТАЛОГАХ,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18105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1851660"/>
            <a:ext cx="329184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8105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105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· Епіцентр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105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Найширший японець країни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5922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205922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2100376"/>
            <a:ext cx="2445366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05922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5922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yaxell.com.ua · ProfiMax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5922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SG-2, є імпортер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07945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307945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328" y="2349093"/>
            <a:ext cx="228077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230794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307945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 · ProfiMax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07945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японець у великому форматі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55666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255666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2597810"/>
            <a:ext cx="190456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0608" y="255666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55666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· Епіцентр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55666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преміум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80537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280537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2846527"/>
            <a:ext cx="1504841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280537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80537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· rezat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80537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Доступна Японія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0540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Kanetsune Seki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3" y="30540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3095244"/>
            <a:ext cx="893499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0608" y="30540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0540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ibis.net.ua · x-gear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0540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Через збройовий канал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3028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Tosa / Tosauchi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33028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67328" y="3343960"/>
            <a:ext cx="681881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0608" y="33028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3028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3028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Ручні кузні, куроучі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55152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Miyabi (Zwilling)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55152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67328" y="3592677"/>
            <a:ext cx="634854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355152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55152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zwilling.in.ua · lacocotte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355152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Представництво Zwilling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80024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66543" y="380024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67328" y="3841394"/>
            <a:ext cx="49377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0608" y="380024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80024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· Volod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80024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048963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Seki Kanetsugu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66543" y="4048963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7328" y="4090111"/>
            <a:ext cx="399723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0608" y="404896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4048963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 · ProfiMax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4048963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Недооцінений у профканалі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297680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Yoshihiro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429768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67328" y="4338828"/>
            <a:ext cx="258644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50608" y="42976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297680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4297680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Сакаї, поодинокі позиції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45463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Sakai Takayuki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66543" y="45463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67328" y="4587544"/>
            <a:ext cx="47026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50608" y="45463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03B4B"/>
                </a:solidFill>
                <a:latin typeface="Segoe UI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63840" y="45463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5463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Кандидат у постачальники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864608"/>
            <a:ext cx="5413248" cy="9692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6384" y="5029200"/>
            <a:ext cx="4974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СІМ ПЕРШИХ МАРОК ІЗ 55 У ПЕРЕПИСІ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6384" y="524865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553 із 708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0" y="5212080"/>
            <a:ext cx="223113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позицій японського
виробництва, тобто 78 %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17920" y="4864608"/>
            <a:ext cx="5413248" cy="13350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217920" y="4864608"/>
            <a:ext cx="36576" cy="13350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55664" y="50200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55664" y="5248656"/>
            <a:ext cx="49377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— це ставка дистриб'ютора, а не попит покупця.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140 SKU KAI у спеціалізованому магазині означають, що власник готовий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тримати капітал у складі заради статусу категорійного експерта.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Решта 43 марки мають по 1–9 позицій: це вітрина, а не лінійка.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63459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Дані з різних каталогів не є прямо порівнюваними: Епіцентр — мережевий рітейл, ProfiMax — спеціалізований онлайн. Порівняння показує доступність бренду покупцю, а не обсяг продажів. Показано лише бренди японського виробництва.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Від 726 до 60 495 грн: японське виробництво на одній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Спостережені роздрібні ціни за один ніж японського виробництва, жовтень 2026. Набори виключені. Шкала логарифмічна за змістом, не за побудовою.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726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KAI, нижня межа лінійки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5440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849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186354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Satake, вхідна позиція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209031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3603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979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14518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універсальний — вхід у японське 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1767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1 199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242681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Yaxell, нижня межа лінійки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653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699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1 249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2708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накірі 170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98094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1 599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299008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Satoru, сантоку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3216859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262579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1 650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3271723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HONMAMON, вхідна позиція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54421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1 991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355335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Kasumi, нижня межа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" y="3780129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825849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2 400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3834993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Masahiro, вхідна позиція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10748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2 599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7048" y="411662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Basic F-318, шеф 18 см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2816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2 730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Wasabi Black, сантоку 16,5 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185440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2 895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186354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Blue Breeze 34602, овочевий 12 см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42816" y="209031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213603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3 119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214518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Tojiro, медіанний вхід у дамаск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41767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3 231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242681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Tosa, вхід у куроучі ручної кузні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42816" y="2653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2699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4 190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2708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Seki Kanetsugu Pro-M 7003, сантоку 17 см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298094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5 320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299008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 Chromax, вхідна позиція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42816" y="3216859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3262579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5 999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271723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F-807, шеф 18 см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354421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7 426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7800" y="355335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Ran 36001, сантоку 165 мм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42816" y="3780129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97680" y="3825849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7 460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3834993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07003, янагіба 24 см — кандидат у постачальники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410748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7 499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7800" y="411662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Damascus F-659, сантоку 17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73567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1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8 290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Seki Kanetsugu Saiun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1" y="185440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9 999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8552" y="186354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Suncraft Elegancia KSK-01, шеф 20 см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3567" y="209031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28431" y="213603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10 710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214518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Shun Classic DM-0706, шеф 20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2417673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13 200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242681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Myojin Naohito, іменний коваль із Сакаї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7" y="2653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1" y="2699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16 499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2708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Flash FF-CH240, шеф 24 см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28431" y="298094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17 746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88552" y="2990087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Super Gou 37100, шеф 20 см, SG-2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73567" y="3216859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28431" y="3262579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26 990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88552" y="3271723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Harukaze, дамаск — верх спеціалізованого роздрібу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28431" y="354421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43 020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88552" y="355335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Miyabi, верхня межа монобренду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3567" y="3780129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8431" y="3825849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60 495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3834993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Shoryu Honyaki 30 см — під замовлення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6928" y="4626864"/>
            <a:ext cx="36576" cy="16093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ВИДНО НА ЦІЙ ШКАЛІ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1. Розрив у 83 рази всередині самого лише японського виробництва.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2. Японія починається з 726 грн (KAI) — не з 3 000, як прийнято вважати.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3. Зона 5 000–10 000 грн — ядро: 45 % позицій і 45 % вартості каталогу.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4. Вище 20 000 грн лишається 10 позицій на всю країну, і майже всі — під замовлення.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5. Sakai Takayuki присутній у двох точках шкали й відсутній у всьому проміжку між ними.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17920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217920" y="4626864"/>
            <a:ext cx="36576" cy="16093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55664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БИ СТАВ НОВИЙ ГРАВЕЦЬ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55664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Вільних цінових точок у японському виробництві фактично дві: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1 500–2 500 грн — між Satake Satoru і Tojiro Basic, тут майже нікого;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20 000–45 000 грн — honyaki і порошкова сталь, лише 10 позицій у країні.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Перша вимагає заводу, готового на OEM. Друга — не вимагає обсягу, але й не дає його.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 У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Що саме отримує покупець на кожному щаблі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Японське виробництво в п'яти цінових діапазонах. Різниця, яку покупець бачить на полиці, і різниця, яку він не бачить.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15798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2157984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1719072"/>
            <a:ext cx="1865376" cy="201168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760219"/>
            <a:ext cx="18653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ВХІД У ЯПОНІЮ</a:t>
            </a:r>
          </a:p>
        </p:txBody>
      </p:sp>
      <p:pic>
        <p:nvPicPr>
          <p:cNvPr id="14" name="Picture 13" descr="p_1d792bcad764a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011680"/>
            <a:ext cx="1901952" cy="12252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346704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717890"/>
                </a:solidFill>
                <a:latin typeface="Segoe UI"/>
              </a:rPr>
              <a:t>до 2 499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602736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712463"/>
            <a:ext cx="1865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Мо-ванадій, 56–58 HRC.
Satake Saku, Seki Kanetsugu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224528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334256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11 % позицій
3 % вартості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98064" y="1554480"/>
            <a:ext cx="215798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98064" y="1554480"/>
            <a:ext cx="2157984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944368" y="1719072"/>
            <a:ext cx="1865376" cy="201168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44368" y="1760219"/>
            <a:ext cx="18653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РОБОЧИЙ</a:t>
            </a:r>
          </a:p>
        </p:txBody>
      </p:sp>
      <p:pic>
        <p:nvPicPr>
          <p:cNvPr id="24" name="Picture 23" descr="p_322feb48fc28ca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2011680"/>
            <a:ext cx="1901952" cy="12252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944368" y="3346704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2 500 – 4 999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8" y="3602736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44368" y="3712463"/>
            <a:ext cx="1865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 моно або 3 шари.
Satake Sakura, KAI Wasabi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44368" y="4224528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44368" y="4334256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26 % позицій
13 % вартості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0" y="1554480"/>
            <a:ext cx="215798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0" y="1554480"/>
            <a:ext cx="2157984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175504" y="1719072"/>
            <a:ext cx="1865376" cy="201168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75504" y="1760219"/>
            <a:ext cx="18653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ЯДРО</a:t>
            </a:r>
          </a:p>
        </p:txBody>
      </p:sp>
      <p:pic>
        <p:nvPicPr>
          <p:cNvPr id="34" name="Picture 33" descr="p_993453d4a3a4f4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2011680"/>
            <a:ext cx="1901952" cy="12252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175504" y="3346704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5 000 – 9 999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75504" y="3602736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3712463"/>
            <a:ext cx="1865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 + дамаск 32–69 шарів.
Tojiro DP, Suncraft Senzo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4224528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75504" y="4334256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45 % позицій
45 % вартості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1554480"/>
            <a:ext cx="215798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0336" y="1554480"/>
            <a:ext cx="2157984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06640" y="1719072"/>
            <a:ext cx="1865376" cy="201168"/>
          </a:xfrm>
          <a:prstGeom prst="roundRect">
            <a:avLst>
              <a:gd name="adj" fmla="val 3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1760219"/>
            <a:ext cx="18653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ПРЕМІУМ</a:t>
            </a:r>
          </a:p>
        </p:txBody>
      </p:sp>
      <p:pic>
        <p:nvPicPr>
          <p:cNvPr id="44" name="Picture 43" descr="p_2c41e45062b456d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2" y="2011680"/>
            <a:ext cx="1901952" cy="12252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406640" y="3346704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10 000 – 19 999 грн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06640" y="3602736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3712463"/>
            <a:ext cx="1865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Дамаск 69+, Chromax.
Kasumi, Yaxell Ran, KAI Shun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06640" y="4224528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0" y="4334256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14 % позицій
25 % вартості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1472" y="1554480"/>
            <a:ext cx="215798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91472" y="1554480"/>
            <a:ext cx="2157984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37776" y="1719072"/>
            <a:ext cx="1865376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37776" y="1760219"/>
            <a:ext cx="18653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УЛЬТРА</a:t>
            </a:r>
          </a:p>
        </p:txBody>
      </p:sp>
      <p:pic>
        <p:nvPicPr>
          <p:cNvPr id="54" name="Picture 53" descr="p_a126aca848c12e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9488" y="2011680"/>
            <a:ext cx="1901952" cy="122529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637776" y="3346704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03B4B"/>
                </a:solidFill>
                <a:latin typeface="Segoe UI"/>
              </a:rPr>
              <a:t>20 000 грн і вище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37776" y="3602736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37776" y="3712463"/>
            <a:ext cx="1865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Порошкова SG-2, 101–193 шари.
Yaxell Super Gou, Miyabi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37776" y="4224528"/>
            <a:ext cx="186537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37776" y="4334256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4 % позицій
14 % вартості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66928" y="5010912"/>
            <a:ext cx="36576" cy="1316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2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ПОКУПЕЦЬ БАЧИТЬ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700 і 7 500 грн видно: дамаск, товщина обуха, якість 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7 500 і 40 000 грн на фото не видно — там платять за марку сталі,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кількість шарів і твердість, які неможливо перевірити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визначає, скільки коштує комунікація в кожному діапазоні.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17920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5010912"/>
            <a:ext cx="36576" cy="131673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10 000 грн фотографія не продає різницю: сантоку за 2 500 і за 9 000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 полиці виглядають однаково. Конкуренція тут іде не за якістю продукту,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 за шириною лінійки і місцем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Різниця стає видимою лише вище 10 000 грн — на дамаску й порошковій сталі.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— картки товарів українських магазинів (volod.in.ua, rezat.com.ua, yaxell.com.ua, arcos.com.ua). Наведені як ілюстрація цінових діапазонів; конкретні моделі можуть відрізнятись від типових для діапазону.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РОЗМІР І МОДЕЛЬ ПОПИТУ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180–220 тисяч професійних ножів на рік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Прямої статистики закупівель ножів у HoReCa не існує. Нижче — модель із трьох параметрів; кожен із них оцінка.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ВИРУЧКА РЕСТОРАННОГО РИНКУ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246,7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млрд грн, +21,7 % р/р.
Ресторани +26,9 %, кафе +20,5 %.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ЧИСТИЙ ПРИРІСТ ФОП У ХАРЧУВАННІ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37A169"/>
                </a:solidFill>
                <a:latin typeface="Segoe UI"/>
              </a:rPr>
              <a:t>+2 728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13 373 відкрилось,
10 645 закрилось.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25–30 тис.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Оцінка. Без кав'ярень
і барів без кухні.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ЯПОНСЬКА КУХНЯ, КИЇВ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D4B96"/>
                </a:solidFill>
                <a:latin typeface="Segoe UI"/>
              </a:rPr>
              <a:t>130–200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закладів, менш як 10 % міста.
Було ≈15 % у 2015 році.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5292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МОДЕЛЬ ПОПИТУ НА ПРОФЕСІЙНІ НОЖІ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7238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0723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3072384"/>
            <a:ext cx="2423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ОБҐРУНТУВАННЯ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323240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7355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327355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25 000 – 30 000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27355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Оцінка на базі динаміки ФОП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4787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Ножів в активній ротації на кухню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5478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354787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Шеф, лінія, заготівля, м'ясо, риба, хліб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378104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82219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382219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Викришування, втрати, знос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09651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попит, штук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0965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180 000 – 220 000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09651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25 000 × 11 ÷ 1,5 року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432968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7083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 ціна закупівлі,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437083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437083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Рівень Arcos / Tramontina / Pirge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64515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Обсяг каналу, грн на 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64515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– 120 млн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3208" y="464515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= 2,2 – 2,7 млн $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87832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91947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З них японських, оцінка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91947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&lt; 3 %   ≈ 3 – 4 млн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3208" y="491947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 часткою позицій у профкаталогах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285292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ВУЗЬКИЙ СЕГМЕНТ: НОЖІ ДЛЯ СУШІ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723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8128" y="30723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7536" y="323240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0688" y="327355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японської кухні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8128" y="32735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600 –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90688" y="35478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/ деба на кухню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81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2 – 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17536" y="378104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90688" y="38221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8128" y="38221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3 роки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0688" y="40965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81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500 – 900 ножів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17536" y="4329683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43708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Обсяг, грн на рік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68128" y="43708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1,0 – 3,5 млн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90688" y="4754880"/>
            <a:ext cx="3840480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90688" y="4754880"/>
            <a:ext cx="36576" cy="148132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28431" y="4910328"/>
            <a:ext cx="3364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ЧОМУ ЦЕ ВБИВЧА ЦИФРА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8431" y="5138928"/>
            <a:ext cx="33649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500–900 ножів на рік — це один піддон.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японський завод не відкриє рахунок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такий обсяг, і жоден дистриб'ютор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окупить під нього окремий канал.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230368"/>
            <a:ext cx="6949440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2303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385816"/>
            <a:ext cx="64739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ЦЯ МОДЕЛЬ ГОВОРИТЬ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614416"/>
            <a:ext cx="6473952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Канал HoReCa у грошах у 7 разів менший за роздріб, а японська частка в ньому ще нижча.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подвоїти японську частку з 3 % до 6 %, приріст становитиме 3–4 млн грн на рік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менше за вартість побудови окремого каналу продажу.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 фактів: Держстат / профільні огляди ресторанного ринку 2025, дані про реєстрацію ФОП у сфері харчування, LunchPoint (заклади японської кухні в Києві). Модель попиту — авторський розрахунок.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ДІАГНОЗ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причин, чому професійна кухня не купує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не питання обізнаності чи маркетингу. Це операційна економіка кухні, і вона не змінюється від зміни постачальника.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Ніж на професійній кухні губиться, ламається, йде з кухарем.
При плинності персоналу 40–60 % на рік списувати 8 000 грн так само легко,
як 500 грн,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Твердість 60–64 HRC і тонке зведення викришуються на кістці,
замороженому продукті й скляній дошці. Європейський ніж 56 HRC
гнеться там, де японський ламається.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889504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6384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треба правити на водних каменях кожні 2–3 дні.
В Україні немає організованого ринку професійного заточення —
ані сервісу при дистриб'юторі, ані навчання.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889504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Ножі купуються разом із посудом, дошками і формою одним рахунком.
Японський постачальник не може бути рядком у цій накладній —
йому доведеться створювати окремий канал.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6384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 і деба вимагають окремої навички. Лінійний кухар нею не володіє,
а вчити його ніхто не буде: він піде через пів року.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37376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Єдиний професіонал, який реально хоче японський ніж, купує його
особисто, часто за кордоном, і не через дистриб'ютора закладу.
Він референс, а не канал збуту.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Жодну з шести причин не можна зняти комерційними засобами постачальника. Дві з них — заточення і навчання — теоретично розв'язні, але вимагають побудови сервісної інфраструктури,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вартість якої непорівнянна з сегментом на 3–4 млн грн. Висновок однозначний: HoReCa не може бути точкою входу в цю категорію в Україні. Вона може бути тільки джерелом референсів для B2C.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РИЗИКИ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ризиків, три з них блокуючі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Оцінка ймовірності та впливу — авторська, за шкалою від низького до високого. Блокуючий = ризик, що ставить під питання саму модель.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 ЧОМУ ҐРУНТУЄТЬСЯ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157276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ЙМОВІРНІСТЬ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15727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24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Японський сегмент не росте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1792224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Імпорт 2024 нижчий за 2022 на 13 % при 55 брендах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79222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17922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176936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80136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80260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HoReCa не є доступним каналом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080260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японські бренди з 15 в опті; 6 структурних причин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208026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08026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2057400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4120" y="208940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6829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Ніша перенаселена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36829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55 брендів на 16–19 млн грн; Yaxell і Miyabi — ексклюзиви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236829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36829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45436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237744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5633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Мито 10 % проти 0 % у ЄС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65633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Немає FTA Україна–Японія; переговорів про неї немає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65633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Визначений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6563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263347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266547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44368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Стеля платоспроможності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29443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Шеф-ніж KAI = 35 % місячної зарплати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29443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294436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04120" y="2921508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2953512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2403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інфраструктури заточення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3232403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Претензії на викришування в преміумі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232403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3240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04120" y="320954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04120" y="324154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520439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Дропшип-лістинги без складу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58768" y="3520439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11 позицій Sakai Takayuki на Prom, жодної на складі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9288" y="3520439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352043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04120" y="3497579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04120" y="352958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80847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Розмивання категорії формою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58768" y="380847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Покупець не відрізняє японське виробництво від японської геометрії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9288" y="380847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2288" y="38084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04120" y="3785615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81762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Частково керований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0553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09651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Валютний і логістичний ризик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58768" y="409651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Гривня 44,86/$ у вересні 2026; морський фрахт з Азії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9288" y="409651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2288" y="409651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Низький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104120" y="407365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20" y="41056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4407408"/>
            <a:ext cx="36576" cy="182880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ОЗНАЧАЮТЬ ТРИ БЛОКУЮЧІ РИЗИКИ РАЗОМ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додаються — вони перемножуються. Ніша, що не росте, без доступу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професійного каналу і без вільних топ-брендів, не залишає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жодної точки опори для нового імпортера японських ножів.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 на питання «чи варто туди йти» у формулюванні,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якому воно було поставлене.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17920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4407408"/>
            <a:ext cx="36576" cy="18288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5664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ЗМІНИЛО Б ОЦІНКУ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55664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Угода про вільну торгівлю Україна–Японія або скасування мита на 8211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Обовʼязкове маркування країни виробництва в картці товару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Партнер із національною мережею заточення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Пропозиція категорійного капітанства від Епіцентру або Rozetka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Поява японського заводу, готового на OEM від 5 000 штук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із цих тригерів окремо не знімає блокування. Два разом — знімають.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Рекомендація: не заходити як імпортер японських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ринку. Розташовані за спаданням привабливості, а не за звичністю.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ВЛАСНИЙ БРЕНД У ЦІНОВІЙ ЗОНІ SAMURA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₴150–230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700 – 2 500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Своя ТМ японського типу з чесним походженням і україномовною упаковкою.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Постачальник — японський завод на OEM або ЄС (0 % мита).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Уразливість конкурента — не продукт, а походження бренду.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Потрібно 40–60 тис. штук на рік для точки беззбитковості.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Ризик стати дванадцятим me-too брендом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Європейські марки вже захищають цю ціну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Побудова бренду коштує дорожче за закупівлю</a:t>
            </a:r>
          </a:p>
        </p:txBody>
      </p:sp>
      <p:pic>
        <p:nvPicPr>
          <p:cNvPr id="28" name="Picture 27" descr="p_f0b3d5a8cd0ae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ДОСТУПНА СПРАВЖНЯ ЯПОНІЯ 1 500–4 000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₴8–12 млн сьогодні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1 500 – 4 000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Єдина неохоронювана ділянка японської матриці, де стоїть лише Satake.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Потрібен завод у Секі, готовий на OEM або дилерство.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Захищено автентичністю: історію не скопіювати закупівлею.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Потенціал зростання сегмента до 25–35 млн грн за 3–4 роки.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 навіть після зростання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</p:txBody>
      </p:sp>
      <p:pic>
        <p:nvPicPr>
          <p:cNvPr id="47" name="Picture 46" descr="p_cd7e51fe466c5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7 500 – 40 140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55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566928" y="5870448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870448"/>
            <a:ext cx="36576" cy="858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6254496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У поставленому формулюванні — преміальний японський продукт для професійної та домашньої кухні — ринок становить 16–19 млн грн, не росте і вже обслуговується 55 брендами з 17 каналів.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Гроші лежать не там, де написано «Японія», а там, де написано «сантоку». Рекомендація: сценарій A; B — лише за наявності заводу в Секі на OEM; C закрити.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