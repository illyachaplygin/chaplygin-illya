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40.png"/><Relationship Id="rId11" Type="http://schemas.openxmlformats.org/officeDocument/2006/relationships/image" Target="../media/image41.png"/><Relationship Id="rId12" Type="http://schemas.openxmlformats.org/officeDocument/2006/relationships/image" Target="../media/image42.png"/><Relationship Id="rId13" Type="http://schemas.openxmlformats.org/officeDocument/2006/relationships/image" Target="../media/image43.png"/><Relationship Id="rId14" Type="http://schemas.openxmlformats.org/officeDocument/2006/relationships/image" Target="../media/image44.png"/><Relationship Id="rId15" Type="http://schemas.openxmlformats.org/officeDocument/2006/relationships/image" Target="../media/image45.png"/><Relationship Id="rId16" Type="http://schemas.openxmlformats.org/officeDocument/2006/relationships/image" Target="../media/image46.png"/><Relationship Id="rId17" Type="http://schemas.openxmlformats.org/officeDocument/2006/relationships/image" Target="../media/image47.png"/><Relationship Id="rId18" Type="http://schemas.openxmlformats.org/officeDocument/2006/relationships/image" Target="../media/image48.png"/><Relationship Id="rId19" Type="http://schemas.openxmlformats.org/officeDocument/2006/relationships/image" Target="../media/image49.png"/><Relationship Id="rId20" Type="http://schemas.openxmlformats.org/officeDocument/2006/relationships/image" Target="../media/image5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Relationship Id="rId10" Type="http://schemas.openxmlformats.org/officeDocument/2006/relationships/image" Target="../media/image58.png"/><Relationship Id="rId11" Type="http://schemas.openxmlformats.org/officeDocument/2006/relationships/image" Target="../media/image59.png"/><Relationship Id="rId12" Type="http://schemas.openxmlformats.org/officeDocument/2006/relationships/image" Target="../media/image60.png"/><Relationship Id="rId13" Type="http://schemas.openxmlformats.org/officeDocument/2006/relationships/image" Target="../media/image61.png"/><Relationship Id="rId14" Type="http://schemas.openxmlformats.org/officeDocument/2006/relationships/image" Target="../media/image62.png"/><Relationship Id="rId15" Type="http://schemas.openxmlformats.org/officeDocument/2006/relationships/image" Target="../media/image63.png"/><Relationship Id="rId16" Type="http://schemas.openxmlformats.org/officeDocument/2006/relationships/image" Target="../media/image64.png"/><Relationship Id="rId17" Type="http://schemas.openxmlformats.org/officeDocument/2006/relationships/image" Target="../media/image65.png"/><Relationship Id="rId18" Type="http://schemas.openxmlformats.org/officeDocument/2006/relationships/image" Target="../media/image66.png"/><Relationship Id="rId19" Type="http://schemas.openxmlformats.org/officeDocument/2006/relationships/image" Target="../media/image67.png"/><Relationship Id="rId20" Type="http://schemas.openxmlformats.org/officeDocument/2006/relationships/image" Target="../media/image6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png"/><Relationship Id="rId13" Type="http://schemas.openxmlformats.org/officeDocument/2006/relationships/image" Target="../media/image79.png"/><Relationship Id="rId14" Type="http://schemas.openxmlformats.org/officeDocument/2006/relationships/image" Target="../media/image80.png"/><Relationship Id="rId15" Type="http://schemas.openxmlformats.org/officeDocument/2006/relationships/image" Target="../media/image81.png"/><Relationship Id="rId16" Type="http://schemas.openxmlformats.org/officeDocument/2006/relationships/image" Target="../media/image82.png"/><Relationship Id="rId17" Type="http://schemas.openxmlformats.org/officeDocument/2006/relationships/image" Target="../media/image83.png"/><Relationship Id="rId18" Type="http://schemas.openxmlformats.org/officeDocument/2006/relationships/image" Target="../media/image84.png"/><Relationship Id="rId19" Type="http://schemas.openxmlformats.org/officeDocument/2006/relationships/image" Target="../media/image85.png"/><Relationship Id="rId20" Type="http://schemas.openxmlformats.org/officeDocument/2006/relationships/image" Target="../media/image8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Relationship Id="rId7" Type="http://schemas.openxmlformats.org/officeDocument/2006/relationships/image" Target="../media/image91.png"/><Relationship Id="rId8" Type="http://schemas.openxmlformats.org/officeDocument/2006/relationships/image" Target="../media/image92.png"/><Relationship Id="rId9" Type="http://schemas.openxmlformats.org/officeDocument/2006/relationships/image" Target="../media/image93.png"/><Relationship Id="rId10" Type="http://schemas.openxmlformats.org/officeDocument/2006/relationships/image" Target="../media/image94.png"/><Relationship Id="rId11" Type="http://schemas.openxmlformats.org/officeDocument/2006/relationships/image" Target="../media/image95.png"/><Relationship Id="rId12" Type="http://schemas.openxmlformats.org/officeDocument/2006/relationships/image" Target="../media/image96.png"/><Relationship Id="rId13" Type="http://schemas.openxmlformats.org/officeDocument/2006/relationships/image" Target="../media/image97.png"/><Relationship Id="rId14" Type="http://schemas.openxmlformats.org/officeDocument/2006/relationships/image" Target="../media/image98.png"/><Relationship Id="rId15" Type="http://schemas.openxmlformats.org/officeDocument/2006/relationships/image" Target="../media/image99.png"/><Relationship Id="rId16" Type="http://schemas.openxmlformats.org/officeDocument/2006/relationships/image" Target="../media/image100.png"/><Relationship Id="rId17" Type="http://schemas.openxmlformats.org/officeDocument/2006/relationships/image" Target="../media/image101.png"/><Relationship Id="rId18" Type="http://schemas.openxmlformats.org/officeDocument/2006/relationships/image" Target="../media/image102.png"/><Relationship Id="rId19" Type="http://schemas.openxmlformats.org/officeDocument/2006/relationships/image" Target="../media/image103.png"/><Relationship Id="rId20" Type="http://schemas.openxmlformats.org/officeDocument/2006/relationships/image" Target="../media/image10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5.png"/><Relationship Id="rId4" Type="http://schemas.openxmlformats.org/officeDocument/2006/relationships/image" Target="../media/image106.png"/><Relationship Id="rId5" Type="http://schemas.openxmlformats.org/officeDocument/2006/relationships/image" Target="../media/image107.png"/><Relationship Id="rId6" Type="http://schemas.openxmlformats.org/officeDocument/2006/relationships/image" Target="../media/image108.png"/><Relationship Id="rId7" Type="http://schemas.openxmlformats.org/officeDocument/2006/relationships/image" Target="../media/image109.png"/><Relationship Id="rId8" Type="http://schemas.openxmlformats.org/officeDocument/2006/relationships/image" Target="../media/image110.png"/><Relationship Id="rId9" Type="http://schemas.openxmlformats.org/officeDocument/2006/relationships/image" Target="../media/image111.png"/><Relationship Id="rId10" Type="http://schemas.openxmlformats.org/officeDocument/2006/relationships/image" Target="../media/image112.png"/><Relationship Id="rId11" Type="http://schemas.openxmlformats.org/officeDocument/2006/relationships/image" Target="../media/image113.png"/><Relationship Id="rId12" Type="http://schemas.openxmlformats.org/officeDocument/2006/relationships/image" Target="../media/image114.png"/><Relationship Id="rId13" Type="http://schemas.openxmlformats.org/officeDocument/2006/relationships/image" Target="../media/image115.png"/><Relationship Id="rId14" Type="http://schemas.openxmlformats.org/officeDocument/2006/relationships/image" Target="../media/image116.png"/><Relationship Id="rId15" Type="http://schemas.openxmlformats.org/officeDocument/2006/relationships/image" Target="../media/image117.png"/><Relationship Id="rId16" Type="http://schemas.openxmlformats.org/officeDocument/2006/relationships/image" Target="../media/image118.png"/><Relationship Id="rId17" Type="http://schemas.openxmlformats.org/officeDocument/2006/relationships/image" Target="../media/image119.png"/><Relationship Id="rId18" Type="http://schemas.openxmlformats.org/officeDocument/2006/relationships/image" Target="../media/image120.png"/><Relationship Id="rId19" Type="http://schemas.openxmlformats.org/officeDocument/2006/relationships/image" Target="../media/image121.png"/><Relationship Id="rId20" Type="http://schemas.openxmlformats.org/officeDocument/2006/relationships/image" Target="../media/image1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3.png"/><Relationship Id="rId4" Type="http://schemas.openxmlformats.org/officeDocument/2006/relationships/image" Target="../media/image124.png"/><Relationship Id="rId5" Type="http://schemas.openxmlformats.org/officeDocument/2006/relationships/image" Target="../media/image125.png"/><Relationship Id="rId6" Type="http://schemas.openxmlformats.org/officeDocument/2006/relationships/image" Target="../media/image126.png"/><Relationship Id="rId7" Type="http://schemas.openxmlformats.org/officeDocument/2006/relationships/image" Target="../media/image127.png"/><Relationship Id="rId8" Type="http://schemas.openxmlformats.org/officeDocument/2006/relationships/image" Target="../media/image128.png"/><Relationship Id="rId9" Type="http://schemas.openxmlformats.org/officeDocument/2006/relationships/image" Target="../media/image129.png"/><Relationship Id="rId10" Type="http://schemas.openxmlformats.org/officeDocument/2006/relationships/image" Target="../media/image130.png"/><Relationship Id="rId11" Type="http://schemas.openxmlformats.org/officeDocument/2006/relationships/image" Target="../media/image131.png"/><Relationship Id="rId12" Type="http://schemas.openxmlformats.org/officeDocument/2006/relationships/image" Target="../media/image132.png"/><Relationship Id="rId13" Type="http://schemas.openxmlformats.org/officeDocument/2006/relationships/image" Target="../media/image133.png"/><Relationship Id="rId14" Type="http://schemas.openxmlformats.org/officeDocument/2006/relationships/image" Target="../media/image134.png"/><Relationship Id="rId15" Type="http://schemas.openxmlformats.org/officeDocument/2006/relationships/image" Target="../media/image135.png"/><Relationship Id="rId16" Type="http://schemas.openxmlformats.org/officeDocument/2006/relationships/image" Target="../media/image136.png"/><Relationship Id="rId17" Type="http://schemas.openxmlformats.org/officeDocument/2006/relationships/image" Target="../media/image137.png"/><Relationship Id="rId18" Type="http://schemas.openxmlformats.org/officeDocument/2006/relationships/image" Target="../media/image138.png"/><Relationship Id="rId19" Type="http://schemas.openxmlformats.org/officeDocument/2006/relationships/image" Target="../media/image139.png"/><Relationship Id="rId20" Type="http://schemas.openxmlformats.org/officeDocument/2006/relationships/image" Target="../media/image1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1.png"/><Relationship Id="rId4" Type="http://schemas.openxmlformats.org/officeDocument/2006/relationships/image" Target="../media/image142.png"/><Relationship Id="rId5" Type="http://schemas.openxmlformats.org/officeDocument/2006/relationships/image" Target="../media/image143.png"/><Relationship Id="rId6" Type="http://schemas.openxmlformats.org/officeDocument/2006/relationships/image" Target="../media/image144.png"/><Relationship Id="rId7" Type="http://schemas.openxmlformats.org/officeDocument/2006/relationships/image" Target="../media/image145.png"/><Relationship Id="rId8" Type="http://schemas.openxmlformats.org/officeDocument/2006/relationships/image" Target="../media/image146.png"/><Relationship Id="rId9" Type="http://schemas.openxmlformats.org/officeDocument/2006/relationships/image" Target="../media/image147.png"/><Relationship Id="rId10" Type="http://schemas.openxmlformats.org/officeDocument/2006/relationships/image" Target="../media/image148.png"/><Relationship Id="rId11" Type="http://schemas.openxmlformats.org/officeDocument/2006/relationships/image" Target="../media/image149.png"/><Relationship Id="rId12" Type="http://schemas.openxmlformats.org/officeDocument/2006/relationships/image" Target="../media/image150.png"/><Relationship Id="rId13" Type="http://schemas.openxmlformats.org/officeDocument/2006/relationships/image" Target="../media/image151.png"/><Relationship Id="rId14" Type="http://schemas.openxmlformats.org/officeDocument/2006/relationships/image" Target="../media/image152.png"/><Relationship Id="rId15" Type="http://schemas.openxmlformats.org/officeDocument/2006/relationships/image" Target="../media/image15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4.png"/><Relationship Id="rId4" Type="http://schemas.openxmlformats.org/officeDocument/2006/relationships/image" Target="../media/image155.png"/><Relationship Id="rId5" Type="http://schemas.openxmlformats.org/officeDocument/2006/relationships/image" Target="../media/image156.png"/><Relationship Id="rId6" Type="http://schemas.openxmlformats.org/officeDocument/2006/relationships/image" Target="../media/image157.png"/><Relationship Id="rId7" Type="http://schemas.openxmlformats.org/officeDocument/2006/relationships/image" Target="../media/image158.png"/><Relationship Id="rId8" Type="http://schemas.openxmlformats.org/officeDocument/2006/relationships/image" Target="../media/image159.png"/><Relationship Id="rId9" Type="http://schemas.openxmlformats.org/officeDocument/2006/relationships/image" Target="../media/image160.png"/><Relationship Id="rId10" Type="http://schemas.openxmlformats.org/officeDocument/2006/relationships/image" Target="../media/image161.png"/><Relationship Id="rId11" Type="http://schemas.openxmlformats.org/officeDocument/2006/relationships/image" Target="../media/image162.png"/><Relationship Id="rId12" Type="http://schemas.openxmlformats.org/officeDocument/2006/relationships/image" Target="../media/image163.png"/><Relationship Id="rId13" Type="http://schemas.openxmlformats.org/officeDocument/2006/relationships/image" Target="../media/image164.png"/><Relationship Id="rId14" Type="http://schemas.openxmlformats.org/officeDocument/2006/relationships/image" Target="../media/image165.png"/><Relationship Id="rId15" Type="http://schemas.openxmlformats.org/officeDocument/2006/relationships/image" Target="../media/image166.png"/><Relationship Id="rId16" Type="http://schemas.openxmlformats.org/officeDocument/2006/relationships/image" Target="../media/image167.png"/><Relationship Id="rId17" Type="http://schemas.openxmlformats.org/officeDocument/2006/relationships/image" Target="../media/image168.png"/><Relationship Id="rId18" Type="http://schemas.openxmlformats.org/officeDocument/2006/relationships/image" Target="../media/image169.png"/><Relationship Id="rId19" Type="http://schemas.openxmlformats.org/officeDocument/2006/relationships/image" Target="../media/image17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1.png"/><Relationship Id="rId4" Type="http://schemas.openxmlformats.org/officeDocument/2006/relationships/image" Target="../media/image172.png"/><Relationship Id="rId5" Type="http://schemas.openxmlformats.org/officeDocument/2006/relationships/image" Target="../media/image173.png"/><Relationship Id="rId6" Type="http://schemas.openxmlformats.org/officeDocument/2006/relationships/image" Target="../media/image174.png"/><Relationship Id="rId7" Type="http://schemas.openxmlformats.org/officeDocument/2006/relationships/image" Target="../media/image175.png"/><Relationship Id="rId8" Type="http://schemas.openxmlformats.org/officeDocument/2006/relationships/image" Target="../media/image176.png"/><Relationship Id="rId9" Type="http://schemas.openxmlformats.org/officeDocument/2006/relationships/image" Target="../media/image177.png"/><Relationship Id="rId10" Type="http://schemas.openxmlformats.org/officeDocument/2006/relationships/image" Target="../media/image178.png"/><Relationship Id="rId11" Type="http://schemas.openxmlformats.org/officeDocument/2006/relationships/image" Target="../media/image179.png"/><Relationship Id="rId12" Type="http://schemas.openxmlformats.org/officeDocument/2006/relationships/image" Target="../media/image180.png"/><Relationship Id="rId13" Type="http://schemas.openxmlformats.org/officeDocument/2006/relationships/image" Target="../media/image181.png"/><Relationship Id="rId14" Type="http://schemas.openxmlformats.org/officeDocument/2006/relationships/image" Target="../media/image182.png"/><Relationship Id="rId15" Type="http://schemas.openxmlformats.org/officeDocument/2006/relationships/image" Target="../media/image183.png"/><Relationship Id="rId16" Type="http://schemas.openxmlformats.org/officeDocument/2006/relationships/image" Target="../media/image184.png"/><Relationship Id="rId17" Type="http://schemas.openxmlformats.org/officeDocument/2006/relationships/image" Target="../media/image185.png"/><Relationship Id="rId18" Type="http://schemas.openxmlformats.org/officeDocument/2006/relationships/image" Target="../media/image186.png"/><Relationship Id="rId19" Type="http://schemas.openxmlformats.org/officeDocument/2006/relationships/image" Target="../media/image187.png"/><Relationship Id="rId20" Type="http://schemas.openxmlformats.org/officeDocument/2006/relationships/image" Target="../media/image18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9.png"/><Relationship Id="rId4" Type="http://schemas.openxmlformats.org/officeDocument/2006/relationships/image" Target="../media/image190.png"/><Relationship Id="rId5" Type="http://schemas.openxmlformats.org/officeDocument/2006/relationships/image" Target="../media/image191.png"/><Relationship Id="rId6" Type="http://schemas.openxmlformats.org/officeDocument/2006/relationships/image" Target="../media/image192.png"/><Relationship Id="rId7" Type="http://schemas.openxmlformats.org/officeDocument/2006/relationships/image" Target="../media/image19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4.png"/><Relationship Id="rId4" Type="http://schemas.openxmlformats.org/officeDocument/2006/relationships/image" Target="../media/image195.png"/><Relationship Id="rId5" Type="http://schemas.openxmlformats.org/officeDocument/2006/relationships/image" Target="../media/image196.png"/><Relationship Id="rId6" Type="http://schemas.openxmlformats.org/officeDocument/2006/relationships/image" Target="../media/image19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8.png"/><Relationship Id="rId4" Type="http://schemas.openxmlformats.org/officeDocument/2006/relationships/image" Target="../media/image199.png"/><Relationship Id="rId5" Type="http://schemas.openxmlformats.org/officeDocument/2006/relationships/image" Target="../media/image200.png"/><Relationship Id="rId6" Type="http://schemas.openxmlformats.org/officeDocument/2006/relationships/image" Target="../media/image20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2.png"/><Relationship Id="rId4" Type="http://schemas.openxmlformats.org/officeDocument/2006/relationships/image" Target="../media/image203.png"/><Relationship Id="rId5" Type="http://schemas.openxmlformats.org/officeDocument/2006/relationships/image" Target="../media/image204.png"/><Relationship Id="rId6" Type="http://schemas.openxmlformats.org/officeDocument/2006/relationships/image" Target="../media/image205.png"/><Relationship Id="rId7" Type="http://schemas.openxmlformats.org/officeDocument/2006/relationships/image" Target="../media/image206.png"/><Relationship Id="rId8" Type="http://schemas.openxmlformats.org/officeDocument/2006/relationships/image" Target="../media/image20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8.png"/><Relationship Id="rId4" Type="http://schemas.openxmlformats.org/officeDocument/2006/relationships/image" Target="../media/image209.png"/><Relationship Id="rId5" Type="http://schemas.openxmlformats.org/officeDocument/2006/relationships/image" Target="../media/image21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6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223760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223760" y="0"/>
            <a:ext cx="32004" cy="6858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75488"/>
            <a:ext cx="1773936" cy="766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213969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C95C"/>
                </a:solidFill>
                <a:latin typeface="Segoe UI"/>
              </a:rPr>
              <a:t>ДОСЛІДЖЕННЯ РИНКУ ТА ОЦІНКА ДОЦІЛЬНОСТІ ВХОДУ · ВЕРЕСЕНЬ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542032"/>
            <a:ext cx="69494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Японські ножі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для професійної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та домашньої кухні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773168"/>
            <a:ext cx="5394960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5010912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Україна · роздріб, маркетплейси, HoReCa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Попередня робота до пошуку постачальника: хто вже на ринку,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скільки він коштує в грошах і штуках, і чи є туди сенс іти</a:t>
            </a:r>
          </a:p>
        </p:txBody>
      </p:sp>
      <p:pic>
        <p:nvPicPr>
          <p:cNvPr id="11" name="Picture 10" descr="p_591b78bcdd90d9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2944" y="566928"/>
            <a:ext cx="4069080" cy="2304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52944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_95ce8b7c022e05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6952" y="3044952"/>
            <a:ext cx="1152144" cy="9326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915400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0a79080f794a1d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08" y="3044952"/>
            <a:ext cx="1152144" cy="9326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277856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eced8cc3671657b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41864" y="3044952"/>
            <a:ext cx="1152144" cy="93268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552944" y="4224528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9248" y="4352544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₴691–924 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464515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роздріб кухонних ножів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19488" y="4224528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5792" y="4352544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₴16–19 млн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65792" y="464515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справжня Японія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52944" y="5065776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9248" y="519379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103 тис. $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548640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імпорт із Японії, 2024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19488" y="5065776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5792" y="519379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1,3 %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548640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частка Японії в митній базі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52944" y="6144768"/>
            <a:ext cx="44531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ЗМІСТ РОБОТИ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52944" y="6345936"/>
            <a:ext cx="4453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00" b="0">
                <a:solidFill>
                  <a:srgbClr val="9FA9C4"/>
                </a:solidFill>
                <a:latin typeface="Segoe UI"/>
              </a:rPr>
              <a:t>48 слайдів · 14 продавців · 45 японських брендів · 162 ножі у каталозі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00" b="0">
                <a:solidFill>
                  <a:srgbClr val="9FA9C4"/>
                </a:solidFill>
                <a:latin typeface="Segoe UI"/>
              </a:rPr>
              <a:t>4 роки митної статистики · модель попиту HoReCa · 3 сценарії входу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ціни в колоді — роздрібні, за один ніж, станом на вересень 2026. Курс НБУ 44,86 грн/$ (30.09.2026).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МИТНА БАЗА КАТЕГОРІЇ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4820A"/>
                </a:solidFill>
                <a:latin typeface="Segoe UI"/>
              </a:rPr>
              <a:t>9,02 млн 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Кухонні + столові ножі та
набори, CIF. Останній повний рік.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РОЗДРІБ, ОЦІНКА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1E9EA6"/>
                </a:solidFill>
                <a:latin typeface="Segoe UI"/>
              </a:rPr>
              <a:t>691–924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рік. Розрахунок
через імпорт × 2,34–3,12.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ІМПОРТ ІЗ ЯПОНІЇ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5D4B96"/>
                </a:solidFill>
                <a:latin typeface="Segoe UI"/>
              </a:rPr>
              <a:t>103 тис. $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CIF 2024, код 8211 92.
Нижче за рівень 2022 року.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СПРАВЖНЯ ЯПОНІЯ В РОЗДРІБІ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94F7C"/>
                </a:solidFill>
                <a:latin typeface="Segoe UI"/>
              </a:rPr>
              <a:t>16–19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рік. Це 2 % ринку
в грошах і 0,15 % у штуках.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НАЙБІЛЬШИЙ «ЯПОНСЬКИЙ» БРЕНД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287 SKU в Епіцентрі. Засновано
для ринку РФ, вироблено в Китаї.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448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ЯПОНЦІ В ПРОФ. ОПТІ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84448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7A169"/>
                </a:solidFill>
                <a:latin typeface="Segoe UI"/>
              </a:rPr>
              <a:t>2 з 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84448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брендів у каталозі опту HoReCa.
523 ножі, японських — одиниці.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9632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МИТО НА ЯПОНІЮ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9A50B"/>
                </a:solidFill>
                <a:latin typeface="Segoe UI"/>
              </a:rPr>
              <a:t>10 %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+20 % ПДВ. З ЄС — 0 % мита.
Структурний програш 10 пунктів.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15984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17152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ЦІНОВИЙ РОЗМАХ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7152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03A5D"/>
                </a:solidFill>
                <a:latin typeface="Segoe UI"/>
              </a:rPr>
              <a:t>175–40 140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7152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 за один ніж. Розрив
у 229 разів усередині категорії.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" y="4169663"/>
            <a:ext cx="36576" cy="157276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ОЗНАЧАЄ ДЛЯ РІШЕННЯ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Ринок кухонних ножів в Україні великий — але «японського» в ньому майже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Справжня Японія — це нішa на 16–19 млн грн, яка за три роки не виросла.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Гроші під вивіскою «японський ніж» заробляє Китай: 64 % митної бази.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4. Професійна кухня японські ножі не купує — і структурних причин для зміни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5. Найбільша комерційна можливість категорії не потребує японського постачальника.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0" y="4169663"/>
            <a:ext cx="36576" cy="157276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FA9C4"/>
                </a:solidFill>
                <a:latin typeface="Segoe UI"/>
              </a:rPr>
              <a:t>ЧОГО В ЦІЙ КОЛОДІ НЕМАЄ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Немає даних продажів: в Україні для цієї категорії немає панелі Nielsen/GfK.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Немає митної статистики за 2025 рік — вона ще не опублікована в Comtrade.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Немає оптових цін: їх не отримати без акаунта постачальника.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4. Немає точної частки кухонних ножів у коді 8211 92 — це припущення 55–70 %.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5. Немає прямої оцінки сірого імпорту до 150 € — він для митниці невидимий.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ВИЗНАЧЕННЯ КАТЕГОРІЇ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Три різні «японські ножі», які відрізняються у 15 разів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Перед тим як рахувати ринок, треба домовитись, що саме ми рахуємо. Від визначення залежить і розмір, і стратегія.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36192"/>
            <a:ext cx="3547872" cy="3163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36192"/>
            <a:ext cx="3547872" cy="457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" y="1719072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778507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" y="175564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ЗРОБЛЕНО В ЯПОНІЇ</a:t>
            </a:r>
          </a:p>
        </p:txBody>
      </p:sp>
      <p:pic>
        <p:nvPicPr>
          <p:cNvPr id="15" name="Picture 14" descr="p_52ed752ac25240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2011680"/>
            <a:ext cx="3145536" cy="7863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8096" y="2852928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E9EA6"/>
                </a:solidFill>
                <a:latin typeface="Segoe UI"/>
              </a:rPr>
              <a:t>₴16–19 млн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8336" y="2926080"/>
            <a:ext cx="1225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≈ 3 700 шт/рік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" y="3182112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291840"/>
            <a:ext cx="3145536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Країна походження — Японія, підтверджена митним кодом.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Yaxell, KAI Shun, Kasumi, Tojiro, Satake,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Suncraft, Kanetsugu, Miyabi, Sakai Takayuki.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Джерело: митна статистика 8211 92, Японія, 2024.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8096" y="431596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4425696"/>
            <a:ext cx="31455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2 % ринку в грошах, 0,15 % у штуках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0248" y="1536192"/>
            <a:ext cx="3547872" cy="3163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0248" y="1536192"/>
            <a:ext cx="3547872" cy="45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471416" y="1719072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71416" y="1778507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55464" y="175564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ЯПОНСЬКИЙ БРЕНД</a:t>
            </a:r>
          </a:p>
        </p:txBody>
      </p:sp>
      <p:pic>
        <p:nvPicPr>
          <p:cNvPr id="27" name="Picture 26" descr="p_b9e6dbc59ad140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416" y="2011680"/>
            <a:ext cx="3145536" cy="7863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471416" y="2852928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D4B96"/>
                </a:solidFill>
                <a:latin typeface="Segoe UI"/>
              </a:rPr>
              <a:t>₴150–230 млн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1656" y="2926080"/>
            <a:ext cx="1225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≈ 120–200 тис. шт/рік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71416" y="3182112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71416" y="3291840"/>
            <a:ext cx="3145536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Бренд подається як японський, виробництво — інше.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Samura (Китай), Sekiryu, Satori, Takagi,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плюс безіменні «японські» пропозиції.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Джерело: SKU-аудит Епіцентр, Rozetka, Prom, ProfiMax.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71416" y="431596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71416" y="4425696"/>
            <a:ext cx="31455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17–25 % ринку в грошах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73567" y="1536192"/>
            <a:ext cx="3547872" cy="3163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3567" y="1536192"/>
            <a:ext cx="3547872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174736" y="1719072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74736" y="1778507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58784" y="1755648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ЯПОНСЬКА ФОРМА</a:t>
            </a:r>
          </a:p>
        </p:txBody>
      </p:sp>
      <p:pic>
        <p:nvPicPr>
          <p:cNvPr id="39" name="Picture 38" descr="p_42251fe95197c2b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2011680"/>
            <a:ext cx="3145536" cy="78638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174736" y="2852928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9A50B"/>
                </a:solidFill>
                <a:latin typeface="Segoe UI"/>
              </a:rPr>
              <a:t>₴140–260 млн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4976" y="2926080"/>
            <a:ext cx="1225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≈ 400–700 тис. шт/рік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74736" y="3182112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74736" y="3291840"/>
            <a:ext cx="3145536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Сантоку / накірі / гюто будь-якого походження.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Fissman, Krauff, Ardesto, Vinzer, Maestro,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DICK, ICEL, Hendi, Tramontina, Victorinox.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Джерело: фільтр «японський ніж (сантоку)» в роздробі.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4736" y="431596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74736" y="4425696"/>
            <a:ext cx="314553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Сантоку став другим ножем у масовій рознічі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846320"/>
            <a:ext cx="5532120" cy="13898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4846320"/>
            <a:ext cx="36576" cy="138988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5001768"/>
            <a:ext cx="5056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НАЙВАЖЛИВІШИЙ СЛАЙД У КОЛОДІ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" y="5230368"/>
            <a:ext cx="505663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Питання «який обсяг ринку японських ножів» не має однієї відповіді.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Різниця між визначенням A і B — 12 разів у грошах і 40 разів у штуках.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Постачальник із Секі і постачальник із Янцзяна конкурують у різних всесвітах,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хоча на полиці Епіцентру стоять поруч і обидва підписані «японський ніж».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17920" y="4846320"/>
            <a:ext cx="5413248" cy="138988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17920" y="4846320"/>
            <a:ext cx="36576" cy="138988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55664" y="500176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FA9C4"/>
                </a:solidFill>
                <a:latin typeface="Segoe UI"/>
              </a:rPr>
              <a:t>НАСЛІДОК ДЛЯ ВХОДУ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55664" y="5230368"/>
            <a:ext cx="493776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Вибір визначення = вибір бізнес-моделі.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A — імпорт преміуму з 10 % митом у ніші, що не росте.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B — брендинг і контрактне виробництво, де вже сидить Samura.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C — товарна війна цінників із Fissman і Krauff.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Змішувати їх в одній фінмоделі не можна.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Оцінки B і C — власний розрахунок на основі SKU-аудиту та припущень про оборотність; вони мають нижчу надійність, ніж A, яка спирається на митну статистику. Див. слайд 45.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ОБСЯГ РИНКУ · МИТНА 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9,02 млн $ імпорту — і 1,3 % із них із Японії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Останній повний рік у Comtrade — 2024. Дані за 2025 рік ще не опубліковані, тому вся митна частина колоди — це 2024.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МИТНІ КОДИ КАТЕГОРІЇ, ІМПОРТ 2024, ТИС. $ CIF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КОД УКТЗЕД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0008" y="1810512"/>
            <a:ext cx="2331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НАЗВА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7" y="1810512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ІМПОРТ, ТИС.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6167" y="18105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7" y="1810512"/>
            <a:ext cx="2057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ГОЛОВНЕ ДЖЕРЕЛО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05088" y="1810512"/>
            <a:ext cx="2926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КОМЕНТАР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1988820"/>
            <a:ext cx="11210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02996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8211 10 00 00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0008" y="202996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Набори ножів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7" y="202996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2 339,2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16167" y="202996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26 %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7" y="202996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2 021,3 (86 %)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5088" y="202996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Подарунковий сегмент. Майже повністю Китай.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30428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8211 91 00 00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50008" y="230428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 столові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1727" y="230428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1 093,4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16167" y="230428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12 %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47687" y="230428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969,6 (89 %)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5088" y="230428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Столові набори, HoReCa-сервіровка.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2537460"/>
            <a:ext cx="11210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57860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8211 92 00 00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50008" y="257860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 з фіксованим лезом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1727" y="257860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5 587,3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16167" y="257860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62 %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7687" y="257860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3 555,9 (64 %)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05088" y="257860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Тут і кухонні, і мисливські, і польові.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2871215"/>
            <a:ext cx="11064240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980944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РАЗОМ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50008" y="298094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Митна база категорії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1727" y="298094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9 019,8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16167" y="298094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100 %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47687" y="2980944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Китай 6 546,7 (73 %)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05088" y="2980944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Японія — 117,5 тис. $, або 1,3 %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21868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ІМПОРТ ІЗ ЯПОНІЇ, КОД 8211 92, ТИС. $ CIF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49300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07007" y="3534156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207007" y="3534156"/>
            <a:ext cx="2766833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15967" y="349300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119,2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80390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07007" y="3845052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207007" y="3845052"/>
            <a:ext cx="1840687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15967" y="380390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79,3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411480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07007" y="4155948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07007" y="4155948"/>
            <a:ext cx="2397767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15967" y="411480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103,3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6928" y="4517136"/>
            <a:ext cx="5413248" cy="170078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6928" y="4517136"/>
            <a:ext cx="36576" cy="170078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4672" y="4672584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ЩО ГОВОРИТЬ ЦЯ ДИНАМІКА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4672" y="4901184"/>
            <a:ext cx="493776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Японський імпорт у 2024 році на 13 % нижчий за 2022 рік у номінальних доларах.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 урахуванням доларової інфляції падіння реальне і суттєвіше.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Стрибок 2023→2024 (+30 %) — це відновлення після провалу, а не тренд зростання.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Висновок: у цій ніші немає імпортної хвилі, на яку можна сісти.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321868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ТОП-10 КРАЇН-ПОСТАЧАЛЬНИКІВ, 8211 92, 2024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17920" y="347472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23760" y="3515868"/>
            <a:ext cx="3070875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24160" y="347472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3 556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17920" y="37307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Польща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223760" y="3771900"/>
            <a:ext cx="373766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424160" y="373075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433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986784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Іспанія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23760" y="4027932"/>
            <a:ext cx="290515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24160" y="398678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336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424281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Бразилія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223760" y="4283964"/>
            <a:ext cx="229976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424160" y="424281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266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17920" y="449884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Німеччина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223760" y="4539996"/>
            <a:ext cx="172201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424160" y="449884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17920" y="475488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Швеція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223760" y="4796028"/>
            <a:ext cx="123840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424160" y="475488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17920" y="501091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Японія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223760" y="5052060"/>
            <a:ext cx="89209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424160" y="501091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103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17920" y="5266944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Італія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223760" y="5308092"/>
            <a:ext cx="74183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24160" y="526694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17920" y="55229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Франція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223760" y="5564124"/>
            <a:ext cx="60711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424160" y="552297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70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17920" y="577900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Швейцарія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223760" y="5820156"/>
            <a:ext cx="54320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424160" y="577900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63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Джерело: World Bank WITS / UN Comtrade, імпорт України, 2022–2024, коди 8211 10, 8211 91, 8211 92. Сума по Японії: 103,3 (8211 92) + 14,3 (8211 91) = 117,5 тис. $; у наборах 8211 10 Японія не потрапила в опубліковані рядки.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ЯК РАХУВАЛИ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Від 9,02 млн $ митниці до 691–924 млн грн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Кожен крок — це припущення. Показую всі, щоб можна було не погодитись із конкретним, а не з результатом.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717890"/>
                </a:solidFill>
                <a:latin typeface="Segoe UI"/>
              </a:rPr>
              <a:t>9 020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тис. $ CIF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митна база
8211 10+91+92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9696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14016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0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C4820A"/>
                </a:solidFill>
                <a:latin typeface="Segoe UI"/>
              </a:rPr>
              <a:t>6 600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тис. $ CIF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кухонна частка:
55–70 % коду 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86784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61104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1E9EA6"/>
                </a:solidFill>
                <a:latin typeface="Segoe UI"/>
              </a:rPr>
              <a:t>7 130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тис. $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07408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+8 % сірий імпорт
і локальне пакування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33872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08192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5D4B96"/>
                </a:solidFill>
                <a:latin typeface="Segoe UI"/>
              </a:rPr>
              <a:t>×1,30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мито + ПДВ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10 % Китай/Японія,
0 % ЄС; ПДВ 20 %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79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01583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C94F7C"/>
                </a:solidFill>
                <a:latin typeface="Segoe UI"/>
              </a:rPr>
              <a:t>×1,8–2,4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01583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торгова націнка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01583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маса 1,7–2,0;
спеціалізація 2,0–2,6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029968"/>
            <a:ext cx="182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02367" y="1554480"/>
            <a:ext cx="16642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48672" y="170078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37A169"/>
                </a:solidFill>
                <a:latin typeface="Segoe UI"/>
              </a:rPr>
              <a:t>691–924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48672" y="202996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717890"/>
                </a:solidFill>
                <a:latin typeface="Segoe UI"/>
              </a:rPr>
              <a:t>млн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48672" y="2231136"/>
            <a:ext cx="13898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роздріб на рік
= 15,4–20,6 млн $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29443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ПЕРЕРАХУНОК У ШТУКИ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182112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СЕГМЕНТ ПОХОДЖЕННЯ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44368" y="31821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СЕРЕДНЯ ЦІНА CIF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98848" y="31821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ОЦІНКА ШТУК НА РІК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" y="3342132"/>
            <a:ext cx="57241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338328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Китай, масовий сегмент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338328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1,2–2,5 $/шт CIF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8848" y="338328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≈ 1 900–2 400 тис. шт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65760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Європа, середній і проф.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44368" y="365760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6–12 $/шт CIF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98848" y="365760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≈ 90–140 тис. шт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3890772"/>
            <a:ext cx="57241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93192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Японія, преміум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44368" y="39319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25–45 $/шт CIF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98848" y="393192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≈ 3–4 тис. шт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4297680"/>
            <a:ext cx="5577840" cy="6400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8096" y="4443984"/>
            <a:ext cx="2377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РАЗОМ, ШТУК НА РІК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" y="4626864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C2235"/>
                </a:solidFill>
                <a:latin typeface="Segoe UI"/>
              </a:rPr>
              <a:t>2,0–2,6 млн ножів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40480" y="449884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≈ 0,17–0,22 ножа
на домогосподарство на рік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09360" y="2944368"/>
            <a:ext cx="5321808" cy="14813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09360" y="2944368"/>
            <a:ext cx="36576" cy="148132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47104" y="3099816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ПЕРЕВІРКА НА ЗДОРОВИЙ ГЛУЗД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47104" y="3328416"/>
            <a:ext cx="4846320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11–12 млн домогосподарств × 0,2 ножа на рік = цикл заміни 5 років на 1 ніж.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відповідає поведінці масового покупця: ніж змінюють, коли він перестав різати,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 не за графіком. Порядок величини правдоподібний.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09360" y="4572000"/>
            <a:ext cx="5321808" cy="16642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309360" y="4572000"/>
            <a:ext cx="36576" cy="166420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47104" y="4727448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ДЕ ЦЯ МОДЕЛЬ НАЙБІЛЬШЕ МОЖЕ ПОМИЛЯТИСЬ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47104" y="4956048"/>
            <a:ext cx="4846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Частка кухонних ножів у коді 8211 92 — головна невизначеність. Війна підняла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    попит на польові й тактичні ножі, тому реальна частка може бути ближче до 50 %.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Торгова націнка 1,8–2,4 — галузева конвенція, а не виміряна маржа.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Середні ціни CIF по сегментах — експертна оцінка, не митні дані по вагах.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Курс НБУ 44,86 грн/$ станом на 30.09.2026. Діапазон 691–924 млн грн = 15,4–20,6 млн $. Середина діапазону ≈ 18 млн $ або 807 млн грн.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МИТО І СОБІВАРТІСТЬ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Японія платить 10 % там, де ЄС платить 0 %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Угоди про вільну торгівлю між Україною та Японією немає. Це не деталь оформлення — це 10 пунктів собівартості назавжди.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СТАВКИ ДЛЯ КОДУ 8211 92 00 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1810512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МИТО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18105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ПДВ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41648" y="1810512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МНОЖНИК НА CIF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58968" y="1810512"/>
            <a:ext cx="3063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988820"/>
            <a:ext cx="8101583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029968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Японія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1448" y="2029968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202996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1648" y="202996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× 1,32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58968" y="2029968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Режим найбільшого сприяння СОТ. FTA немає.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286000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Китай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41448" y="2286000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0128" y="2286000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41648" y="2286000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× 1,32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8968" y="2286000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Той самий режим, що й Японія.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500884"/>
            <a:ext cx="8101583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54203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ЄС (Польща, Іспанія, Італія)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41448" y="2542032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0128" y="254203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41648" y="254203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× 1,20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2542032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Поглиблена ЗВТ Україна–ЄС.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2798064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Велика Британія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41448" y="2798064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10128" y="279806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41648" y="2798064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× 1,20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58968" y="2798064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ЗВТ, з 01.04.2026.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3776" y="3012948"/>
            <a:ext cx="8101583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3054096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Канада, ЄАВТ, Ізраїль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41448" y="3054096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10128" y="30540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41648" y="30540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× 1,20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58968" y="3054096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Чинні угоди про вільну торгівлю.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310128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ОАЕ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41448" y="3310128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6,7 %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10128" y="331012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41648" y="331012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× 1,28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58968" y="3310128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Перехідна ставка на 2026 рік.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712463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ОДИН І ТОЙ САМИЙ САНТОКУ, ДВА ПОХОДЖЕННЯ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3950208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СТАТТЯ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84448" y="395020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38928" y="395020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ЄС, СОЛІНГЕН / ТОЛЕДО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4110228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415137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Ціна EXW / FOB постачальника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84448" y="415137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20,00 $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38928" y="415137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20,00 $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440740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Фрахт і страхування до кордону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84448" y="440740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+2,40 $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38928" y="440740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+1,00 $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4622292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4663440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CIF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84448" y="466344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22,40 $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38928" y="466344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21,00 $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91947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Мито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84448" y="491947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+2,24 $ (10 %)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38928" y="491947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0,00 $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93776" y="5134356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517550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База ПДВ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84448" y="51755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24,64 $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38928" y="517550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21,00 $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543153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Собівартість на складі, без ПДВ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84448" y="54315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24,64 $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38928" y="543153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21,00 $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93776" y="5646420"/>
            <a:ext cx="6638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568756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Роздріб при націнці ×2,2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84448" y="568756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2 432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38928" y="568756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2 072 грн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86800" y="1810512"/>
            <a:ext cx="2944368" cy="21031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86800" y="1810512"/>
            <a:ext cx="36576" cy="21031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924544" y="1965960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НАСЛІДОК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24544" y="2194560"/>
            <a:ext cx="2468880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ніж приїжджає на полицю на 17 % дорожче за європейський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аналог тієї самої закупівельної ціни.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На полиці це 360 грн різниці на кожному ножі за 2 000 грн.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686800" y="4041648"/>
            <a:ext cx="294436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686800" y="4041648"/>
            <a:ext cx="36576" cy="21945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924544" y="4197096"/>
            <a:ext cx="2468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ЩО ЦЕ ЗМІНЮЄ В СТРАТЕГІЇ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24544" y="4425696"/>
            <a:ext cx="246888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Японське походження треба продавати як цінність, а не як характеристику.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Якщо покупець не платить премію за напис «Made in Seki»,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постачальник програє європейському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ще до першої продажі.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Ставки: УКТЗЕД 8211 92 00 00, повна (РНС) ставка 10 % із 01.01.2023, ПДВ 20 %. Преференційні ставки 0 % — ЄС, ЄАВТ, Канада, Ізраїль, Північна Македонія, Велика Британія. Приклад розрахунку умовний.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1 · ГЕОМЕТРІЯ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типів леза, з яких ринок купує три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Профілі накреслені в один масштаб за реальними довжинами клинка. Рукав'я умовне: чорне клепане — західне (yo), дерев'яне — японське (wa).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36192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ПРОФІЛІ КЛИНКА В ЄДИНОМУ МАСШТАБІ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" y="1746504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81965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Гюто / шеф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8424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180–240 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14884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Робочий ніж кухні</a:t>
            </a:r>
          </a:p>
        </p:txBody>
      </p:sp>
      <p:pic>
        <p:nvPicPr>
          <p:cNvPr id="15" name="Picture 14" descr="gyu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1778507"/>
            <a:ext cx="2740152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2468879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63347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165–180 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7980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Універсал, драйвер обсягу</a:t>
            </a:r>
          </a:p>
        </p:txBody>
      </p:sp>
      <p:pic>
        <p:nvPicPr>
          <p:cNvPr id="19" name="Picture 18" descr="santok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435352"/>
            <a:ext cx="2423160" cy="569976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493776" y="3044952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118103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28269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165–180 мм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44728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Овочі, шаткування</a:t>
            </a:r>
          </a:p>
        </p:txBody>
      </p:sp>
      <p:pic>
        <p:nvPicPr>
          <p:cNvPr id="24" name="Picture 23" descr="nakir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069336"/>
            <a:ext cx="2383536" cy="600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66928" y="376732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Кіріцуке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9319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180–240 мм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40965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Гібрид, статусний</a:t>
            </a:r>
          </a:p>
        </p:txBody>
      </p:sp>
      <p:pic>
        <p:nvPicPr>
          <p:cNvPr id="28" name="Picture 27" descr="kiritsu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733800"/>
            <a:ext cx="2740152" cy="569976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493776" y="4343400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4165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58114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210–300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7457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Сашимі, одностороннє</a:t>
            </a:r>
          </a:p>
        </p:txBody>
      </p:sp>
      <p:pic>
        <p:nvPicPr>
          <p:cNvPr id="33" name="Picture 32" descr="yanagib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439412"/>
            <a:ext cx="3215640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" y="50657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2303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150–180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9496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Розбирання риби</a:t>
            </a:r>
          </a:p>
        </p:txBody>
      </p:sp>
      <p:pic>
        <p:nvPicPr>
          <p:cNvPr id="37" name="Picture 36" descr="deb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7632" y="5024628"/>
            <a:ext cx="2383536" cy="585216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493776" y="5641848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571500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Петті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8795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90–150 мм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04418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Дрібна робота</a:t>
            </a:r>
          </a:p>
        </p:txBody>
      </p:sp>
      <p:pic>
        <p:nvPicPr>
          <p:cNvPr id="42" name="Picture 41" descr="pet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5760720"/>
            <a:ext cx="2026920" cy="4114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419088" y="1536192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26096" y="1536192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96528" y="15361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49840" y="1536192"/>
            <a:ext cx="1481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 У КАТЕГОРІЇ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45936" y="1714500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19088" y="1755648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26096" y="1755648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175 – 12 000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96528" y="1755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9840" y="1755648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Драйвер обсягу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19088" y="20299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4820A"/>
                </a:solidFill>
                <a:latin typeface="Segoe UI"/>
              </a:rPr>
              <a:t>Гюто / шеф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26096" y="20299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500 – 27 970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96528" y="20299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49840" y="20299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Драйвер ціни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45936" y="226313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9088" y="23042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Петті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26096" y="23042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175 – 5 000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96528" y="23042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9840" y="23042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Часта купівля, малий чек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57860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6096" y="257860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1 249 – 13 290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96528" y="257860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Спеціаліст, Епіцентр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257860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Зростає вдома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345936" y="281177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19088" y="285292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26096" y="285292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1 107 – 13 971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96528" y="285292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285292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Вузький HoReCa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312724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6096" y="312724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1 470 – 9 000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96528" y="312724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49840" y="312724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Вузький HoReCa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45936" y="336041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19088" y="34015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FA9C4"/>
                </a:solidFill>
                <a:latin typeface="Segoe UI"/>
              </a:rPr>
              <a:t>Кіріцуке, бунка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6096" y="34015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3 000 – 20 000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96528" y="34015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Тільки спеціаліст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49840" y="34015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Довгий хвіст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19088" y="36758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94F7C"/>
                </a:solidFill>
                <a:latin typeface="Segoe UI"/>
              </a:rPr>
              <a:t>Набори 2–5 шт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26096" y="36758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2 500 – 27 970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96528" y="36758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Усюди, пік у грудні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49840" y="36758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419088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p_4d367364e4ca0e9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2240" y="4114800"/>
            <a:ext cx="1499616" cy="932688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6565392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65392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Росте вдома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174736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d55507e899775b1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7888" y="4114800"/>
            <a:ext cx="1499616" cy="932688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8321040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1040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500–900 шт/рік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930384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a5500e2d77c6055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03536" y="4114800"/>
            <a:ext cx="1499616" cy="93268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0076688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Набір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076688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419088" y="5541264"/>
            <a:ext cx="5212080" cy="991971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419088" y="5541264"/>
            <a:ext cx="36576" cy="99197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656831" y="5696712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КУПУЮТЬ НАСПРАВДІ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656831" y="5925312"/>
            <a:ext cx="4736592" cy="4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Сантоку в Україні перестав бути японським ножем і став формою леза: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у Fissman 61 SKU сантоку на Rozetka. Покупець купує геометрію,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походження він не перевіряє.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3504" y="652881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Профілі — схематичні креслення за типовими пропорціями, а не зображення конкретних моделей. Фото — картки товарів українських магазинів, вересень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2 · СТАЛЬ І КОНСТРУКЦІЯ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Справжні цінові сходи — не бренд, а сталь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Ціна японського ножа на 70 % визначається маркою сталі й кількістю шарів. Це єдина вісь, яку можна перевірити лабораторно.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КОНСТРУКЦІЯ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7248" y="157276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7488" y="157276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ТВЕРДІСТЬ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157276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РОЗДРІБ,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1572768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ХТО ТУТ СТОЇТЬ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51076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79222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Мо-ванадієва моносталь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7248" y="179222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AUS-6A, AUS-8, 8Cr13MoV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7488" y="1792224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56–58 HRC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1792224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700 – 2 500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3488" y="1792224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Samura Harakiri, Kasumi Tora, Satake Saku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1360" y="1833372"/>
            <a:ext cx="164957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06654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VG-10 моно або 3 шари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27248" y="206654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VG-10 core, clad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7488" y="206654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60–61 HRC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16168" y="206654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2 500 – 6 000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206654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Tojiro DP, Satake Sakura, KAI Wasabi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881360" y="2107691"/>
            <a:ext cx="28492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93776" y="2299715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34086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VG-10 + дамаск 32–69 шарів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27248" y="234086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VG-10 core, damascus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234086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60–61 HRC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16168" y="234086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5 000 – 12 000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33488" y="234086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Kasumi Damascus, Yaxell Zen/Ran, KAI Shun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881360" y="2382011"/>
            <a:ext cx="434888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261518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Порошкова SG-2 / R2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27248" y="261518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101–193 шари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261518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62–64 HRC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16168" y="261518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12 000 – 40 140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33488" y="261518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Gou / Super Gou / Ypsilon, Miyabi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81360" y="2656331"/>
            <a:ext cx="749808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93776" y="2848355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88950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Вуглецева Сіроґамі / Аоґамі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27248" y="288950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47488" y="288950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62–65 HRC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16168" y="288950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15 000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33488" y="288950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Sakai Takayuki, Kaneyoshi, Yoshihiro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881360" y="2930651"/>
            <a:ext cx="337413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316382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Кераміка ZrO₂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27248" y="316382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цирконій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47488" y="316382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16168" y="316382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175 – 1 900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33488" y="316382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Ardesto, Samura Inca, Fissman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881360" y="3204971"/>
            <a:ext cx="74980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881360" y="1572768"/>
            <a:ext cx="7498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ВІДН. ЦІНА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3584448"/>
            <a:ext cx="2340864" cy="151790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p_6724b2936515eb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0"/>
            <a:ext cx="2194560" cy="1024127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13232" y="4754880"/>
            <a:ext cx="2048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Дамаск, 32–69 шарів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3232" y="4919472"/>
            <a:ext cx="2048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VG-10 у серцевині, 60–61 HRC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72384" y="358444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ВІСЬ 3 · РУКІВ'Я — ЩО ВОНО ГОВОРИТЬ ПРО КАНАЛ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72384" y="3822191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75504" y="3822191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МАТЕРІАЛ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15783" y="3822191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ЗУСТРІЧАЄТЬСЯ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999232" y="3982212"/>
            <a:ext cx="6272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384" y="40233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Wa — японське восьмигранне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75504" y="4023360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магнолія, пакка, стабілізоване дерево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15783" y="40233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Тільки спеціалізовані магазини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72384" y="429768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Yo — західне клепане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75504" y="4297680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мікарта, POM, ламінат, сталь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5783" y="429768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Усе, що доходить до полиці та HoReCa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473184" y="3584448"/>
            <a:ext cx="1042415" cy="151790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925db2918203bf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36" y="3657600"/>
            <a:ext cx="896111" cy="1371600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10588752" y="3584448"/>
            <a:ext cx="1042415" cy="151790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p_6627fa7684885d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1904" y="3657600"/>
            <a:ext cx="896111" cy="13716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473184" y="5157216"/>
            <a:ext cx="104241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wa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88752" y="5157216"/>
            <a:ext cx="104241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yo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5358384"/>
            <a:ext cx="5413248" cy="104302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5358384"/>
            <a:ext cx="36576" cy="104302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551383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ЦЯ ВІСЬ ВАЖЛИВІША ЗА БРЕНД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5742432"/>
            <a:ext cx="4937760" cy="5126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Сталь можна перевірити: твердомір, XRF-аналізатор, різ по канату. Бренд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не можна. У категорії, де 3 000+ пропозицій на Prom підписані «японська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сталь AUS-8», сталь — єдина основа для порівняння.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5358384"/>
            <a:ext cx="5413248" cy="104302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17920" y="5358384"/>
            <a:ext cx="36576" cy="1043025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55664" y="551383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РИЗИК ТВЕРДОСТІ ПОНАД 60 HRC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55664" y="5742432"/>
            <a:ext cx="4937760" cy="5126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Чим вища твердість, тим довше тримає кромку — і тим легше вона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викришується на кістці й замороженому продукті. Ножі 62–64 HRC вимагають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водних каменів і навички, а сервісу заточення в Україні немає.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4 · ЦІНОВІ ДІАПАЗОНИ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Половина штук дає 12 % грошей, 4 % штук дають 24 %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Розподіл — власна оцінка на основі структури асортименту й спостережених цін. Це модель, а не виміряні продажі.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ЦІНОВІ ДІАПАЗОНИ · ЧАСТКА У ШТУКАХ І В ГРОШАХ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8568" y="1810512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ГРН ЗА НІЖ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1810512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ШТУКИ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04688" y="1810512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ГРОШІ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1810512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ТИПОВІ БРЕНДИ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05288" y="1810512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200710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04825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Вхідний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20482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175 – 699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204825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Ardesto, Kamille, Maestro, Vinzer, no-name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05288" y="204825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Маркетплейс, Епіцентр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21608" y="2089404"/>
            <a:ext cx="1188720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6048" y="204825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50 %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04688" y="2089404"/>
            <a:ext cx="57058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39128" y="204825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12 %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32257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Цінність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58568" y="23225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700 – 1 499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7768" y="232257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Samura Harakiri, Krauff, Fissman, Satake Saku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232257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Епіцентр, Rozetka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21608" y="2363724"/>
            <a:ext cx="641908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6048" y="232257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04688" y="2363724"/>
            <a:ext cx="950976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39128" y="232257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20 %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3776" y="25557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259689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Середній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58568" y="25968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1 500 – 3 499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87768" y="25968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 Satoru/Sakura, Samura Mo-V, KAI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05288" y="2596896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Епіцентр, спеціалізація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21608" y="2638044"/>
            <a:ext cx="30906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56048" y="259689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13 %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04688" y="2638044"/>
            <a:ext cx="1046073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39128" y="259689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22 %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87121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Верхній середній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58568" y="287121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3 500 – 7 499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87768" y="287121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Tojiro DP, Suncraft Senzo, Kasumi Damascus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05288" y="287121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Спеціалізація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21608" y="2912363"/>
            <a:ext cx="142646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56048" y="287121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6 %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04688" y="2912363"/>
            <a:ext cx="1046073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39128" y="287121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22 %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3776" y="3104387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314553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Преміум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58568" y="314553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7 500 – 14 999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87768" y="314553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Ran, KAI Shun, Kanetsugu Saiun, Miyabi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05288" y="314553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Спеціалізація, монобренд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21608" y="3186683"/>
            <a:ext cx="71323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56048" y="314553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04688" y="3186683"/>
            <a:ext cx="713232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39128" y="314553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15 %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341985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Ультра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58568" y="341985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15 000 – 40 140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87768" y="341985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Super Gou / Ypsilon, Shun сети, Miyabi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05288" y="341985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Монобренд, під замовлення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721608" y="3461003"/>
            <a:ext cx="23774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56048" y="341985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04688" y="3461003"/>
            <a:ext cx="427939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39128" y="341985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9 %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66928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8096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СЕРЕДНІЙ ЧЕК КАТЕГОРІЇ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4820A"/>
                </a:solidFill>
                <a:latin typeface="Segoe UI"/>
              </a:rPr>
              <a:t>≈ 330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8096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807 млн грн / 2,4 млн шт.
Домінує вхідний сегмент.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383280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584448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СЕРЕДНЯ ЗАРПЛАТА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84448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30 926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84448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Держстат, грудень 2025.
Повна зайнятість.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99632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0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ШЕФ-НІЖ KAI SHUN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0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94F7C"/>
                </a:solidFill>
                <a:latin typeface="Segoe UI"/>
              </a:rPr>
              <a:t>35 %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0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від місячної зарплати.
10 710 грн за один ніж.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15984" y="3840480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217152" y="3995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YAXELL SUPER GOU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17152" y="4206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03B4B"/>
                </a:solidFill>
                <a:latin typeface="Segoe UI"/>
              </a:rPr>
              <a:t>57 %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17152" y="4681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від місячної зарплати.
17 746 грн за один ніж.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66928" y="5138928"/>
            <a:ext cx="5413248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66928" y="5138928"/>
            <a:ext cx="36576" cy="109728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04672" y="529437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СТЕЛЯ ДОСТУПНОСТІ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04672" y="5522976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Преміум-сегмент в Україні обмежений не смаком, а доходом. При середній зарплаті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30,9 тис. грн ніж за 10–18 тис. грн — це покупка рівня побутової техніки,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яку роблять раз на кілька років і переважно як подарунок.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217920" y="5138928"/>
            <a:ext cx="5413248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217920" y="5138928"/>
            <a:ext cx="36576" cy="10972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55664" y="529437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ДЕ ГРОШІ, А ДЕ ОБСЯГ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455664" y="5522976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Обсяг живе до 1 500 грн, гроші — від 1 500 до 7 500 грн. Діапазон 1 500–7 500 грн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дає 44 % грошей при 19 % штук. Це найпривабливіша зона за співвідношенням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маржі й оборотності — і саме там сидить Samura.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Розподіл часток — авторська оцінка на базі структури асортименту (SKU-аудит Епіцентр, Rozetka, ProfiMax, Prom) і спостережених цін. Прямих даних sell-through по категорії в Україні немає.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5 · ПОКУПЕЦЬ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Сім покупців, і лише два з них купують Японію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Сегментація за тим, хто платить і за що. Вона визначає канал, комунікацію і повернення на маркетинг.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ПОКУПЕЦЬ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0048" y="157276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ЧЕК, ГРН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0208" y="157276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ВИРІШУЄ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КУПУЄ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5727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ЯПОНІЯ?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42248" y="1572768"/>
            <a:ext cx="2743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ПОРТРЕТ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9222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B2C · масовий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0048" y="1792224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300 – 1 500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1792224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Форма леза, ціна, знижка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1888" y="179222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Маркетплейс, Епіцентр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1792224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2248" y="1792224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Не знає брендів. Купує сантоку, бо «японський»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0802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B2C · просьюмер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2080260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1 500 – 6 000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0208" y="208026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Марка сталі, огляди, HRC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61888" y="20802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65008" y="2080260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2248" y="2080260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Satake, Tojiro, Kasumi Tora. Читає перед покупкою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3271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3682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B2C · ентузіаст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70048" y="2368296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6 000 – 40 140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50208" y="236829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Ковалі, серії, колекція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61888" y="23682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Монобренд, сірий імпорт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5008" y="2368296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42248" y="2368296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Gou, Shun, одностороннє вуглецеве. 2–4 тис. людей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65633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B2C · подарунок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2656332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20 000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50208" y="265633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Коробка, гравіювання, набір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61888" y="265633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Спеціалізація, монобренд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008" y="2656332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42248" y="2656332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Пік у грудні та березні. Купує не для себе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90322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94436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B2B · лінійний кухар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70048" y="2944368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300 – 1 500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50208" y="294436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Зносостійкість, ціна заміни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61888" y="294436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Опт HoReCa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5008" y="2944368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42248" y="2944368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Arcos, Tramontina, Pirge. Ніж — витратний матеріал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232403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B2B · шеф і суші-майстер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70048" y="3232403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2 000 – 15 000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50208" y="3232403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Особистий набір, геометрія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61888" y="3232403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Купує сам, часто за кордоном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65008" y="3232403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Так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42248" y="3232403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 професіонал, що платить за Японію. Але не через дистриб'ютора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3479291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3520439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B2B · інституційний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70048" y="3520439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200 – 800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50208" y="3520439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HACCP, кольорове кодування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61888" y="3520439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Тендер, опт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65008" y="3520439"/>
            <a:ext cx="722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42248" y="3520439"/>
            <a:ext cx="2688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Їдальні, кейтеринг, харчові виробництва. Європа за замовчуванням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4041648"/>
            <a:ext cx="358444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66928" y="4041648"/>
            <a:ext cx="36576" cy="21945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4672" y="41970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ЄДИНІ ДВА, ХТО ПЛАТИТЬ ЗА ЯПОНІЮ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" y="4425696"/>
            <a:ext cx="310896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Просьюмер і ентузіаст. Разом це, за оцінкою, 15–25 тис. активних покупців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на всю країну.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Подарунковий покупець платить за коробку, а не за походження: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його однаково влаштує Solingen.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97680" y="4041648"/>
            <a:ext cx="358444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97680" y="4041648"/>
            <a:ext cx="36576" cy="21945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35424" y="41970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ПАРАДОКС ШЕФА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35424" y="4425696"/>
            <a:ext cx="310896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Шеф-кухар — найкваліфікованіший покупець японського ножа в країні.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 саме він найгірший клієнт для дистриб'ютора: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він купує один ніж раз на 3–5 років, обирає сам, часто привозить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із-за кордону або замовляє напряму. Він не канал — він референс.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46720" y="4041648"/>
            <a:ext cx="3584448" cy="21945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46720" y="4041648"/>
            <a:ext cx="36576" cy="21945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84464" y="419709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ДЕ РЕАЛЬНІ ГРОШІ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84464" y="4425696"/>
            <a:ext cx="3108960" cy="1664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Масовий B2C і лінійний кухар — це 80 % штук категорії.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Обидва не купують Японію і не збираються.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Будь-яка модель, побудована на японському походженні,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 визначенням відрізає себе від 80 % ринку.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КАРТА КАНАЛІВ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каналів, і японська глибина тільки в двох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Аудит публічних каталогів, вересень 2026. SKU — це ширина асортименту, а не продажі.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0048" y="1572768"/>
            <a:ext cx="3154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ГРАВЦІ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4728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ГЛИБИНА ЯПОНІЇ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87768" y="157276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5088" y="157276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ПОКУПЕЦЬ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25328" y="157276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73936"/>
            <a:ext cx="11155680" cy="548640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2880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Спеціалізований онлайн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0048" y="1828800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japan-knife, ProfiMax, ROKS, Volod, Rezat,
Hangiri, Nojaro, Smart-Kitchen, Europosud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24728" y="182880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Максимальна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1828800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1 000 – 38 640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1828800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Ентузіаст, просьюмер, подарунок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79608" y="1828800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Авторитет категорії. Малий обіг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432304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C94F7C"/>
                </a:solidFill>
                <a:latin typeface="Segoe UI"/>
              </a:rPr>
              <a:t>Монобрендові імпортери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2432304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yaxell.com.ua, zwilling.in.ua (Miyabi),
arcos.com.ua, lacocotte.com.ua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24728" y="2432304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94F7C"/>
                </a:solidFill>
                <a:latin typeface="Segoe UI"/>
              </a:rPr>
              <a:t>Ексклюзив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42048" y="2432304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2 895 – 40 140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9368" y="2432304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 B2C, подарунок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79608" y="2432304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Слоти топ-брендів уже зайняті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980944"/>
            <a:ext cx="11155680" cy="548640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3035808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70048" y="3035808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Епіцентр: 4 950 SKU ножів,
з них Samura 287, Suncraft 97, Tojiro 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24728" y="3035808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Дрібна, але справжня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42048" y="3035808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 – 56 242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9368" y="3035808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 B2C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79608" y="303580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Основний обсяг. Домінує Samura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639312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F9A50B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3639312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Rozetka (Samura 218 SKU), Prom (3 000+
«японських»), Kasta, Bigl, Shafa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24728" y="3639312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F9A50B"/>
                </a:solidFill>
                <a:latin typeface="Segoe UI"/>
              </a:rPr>
              <a:t>Широка, непідтверджена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42048" y="3639312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175 – 9 499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59368" y="3639312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 B2C, мисливець за ціною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8" y="3639312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Цінова війна. Потік no-name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4187952"/>
            <a:ext cx="11155680" cy="548640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242816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Опт HoReCa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70048" y="4242816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AL-Group (523 проф. ножі), LFood, Gastro24,
Profood, Новий Проект, System4, Kareho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24728" y="4242816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Майже нульова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048" y="4242816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296 – 13 290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59368" y="4242816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Ресторани, кейтеринг, виробництва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79608" y="4242816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Тримають європейські бренди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Сірий / особистий імпорт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70048" y="4846320"/>
            <a:ext cx="30906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Meest, Nova Poshta Global, Amazon,
mygoodknife, eBay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24728" y="4846320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Будь-яка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42048" y="4846320"/>
            <a:ext cx="13533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до 150 € без мита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59368" y="4846320"/>
            <a:ext cx="18470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Ентузіаст, шеф-кухар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79608" y="4846320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Витік найдорожчого попиту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5504688"/>
            <a:ext cx="5413248" cy="87213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66928" y="5504688"/>
            <a:ext cx="36576" cy="87213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4672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СТРУКТУРА, ЯКА ВИЗНАЧАЄ ВСЕ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4672" y="5888736"/>
            <a:ext cx="4937760" cy="341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Обсяг і глибина Японії розведені по різних каналах. Там, де є обіг (Епіцентр,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маркетплейси), японського майже немає. Там, де є Японія, немає обігу.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17920" y="5504688"/>
            <a:ext cx="5413248" cy="87213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217920" y="5504688"/>
            <a:ext cx="36576" cy="872134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55664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ЦЕ ЗНАЧИТЬ ДЛЯ ВХОДУ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55664" y="5888736"/>
            <a:ext cx="4937760" cy="341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Новий гравець мусить обрати: або ставати шостим спеціалістом у ніші на 16–19 млн грн,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або битися за полицю Епіцентру — де японського походження ніхто не вимагає.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1 · СПЕЦІАЛІЗОВАНИЙ ОНЛАЙН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Дев'ять магазинів тримають усю справжню Японію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вся категорія «зроблено в Японії» в Україні. Разом — близько 1 000 японських SKU і оцінно 16–19 млн грн роздрібу на рік.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МАГАЗИН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157276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ГЕО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1572768"/>
            <a:ext cx="2331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АСОРТИМЕНТ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7" y="157276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7767" y="1572768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КЛЮЧОВІ БРЕНДИ І 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36807" y="157276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92224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profimax.com.ua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1448" y="1792224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4408" y="179222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12 япон. брендів, ~700 япон. SKU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7" y="1792224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1 041 – 38 640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7767" y="1792224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Yaxell 103, KAI 140, Samura 206, Tojiro 86, Suncraft 79, Satake 64, Kasumi 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78440" y="1792224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Найширший каталог країни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06197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roks.in.ua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41448" y="2061972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64408" y="2061972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24 япон. бренди, 137 SKU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96127" y="206197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80 – 16 740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7767" y="206197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Tosa 26, Kanetsugu 17, Masahiro 16, Yoshihiro 15, Takamura 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78440" y="2061972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Найрідкісніші ковалі. Дилерства не заявляє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290572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331720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japan-knife.com.ua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41448" y="233172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Київ, Prom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64408" y="2331720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 брендів + камені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96127" y="2331720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899 – 9 999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7767" y="2331720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Yaxell, KAI, Kasumi, Tojiro, Samura, Suncraft + Shapton, Naniwa, King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78440" y="2331720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Ніж + заточення в одному місці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601468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volod.in.ua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41448" y="2601468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64408" y="260146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Kasumi 18 SKU, японська секція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6127" y="2601468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10 870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87767" y="2601468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Kasumi Damascus 13, Tora 10, Kuro 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78440" y="2601468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Глибина по одному бренду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83006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871215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rezat.com.ua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41448" y="2871215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64408" y="2871215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300+ позицій япон. категорії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96127" y="287121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570 – 1 150 (масова полиця)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87767" y="2871215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KAI, Samura, Satake, Kanetsugu, Tojiro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78440" y="2871215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Найдоступніший вхід у категорію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14096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hangiri.com.ua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3140963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64408" y="3140963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Односторонні ножі для суші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96127" y="3140963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4 420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87767" y="3140963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Sekiryu, Sakai Takayuki, KAI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78440" y="3140963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профільний суші-магазин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3369563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341071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smart-kitchen.com.ua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41448" y="3410711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64408" y="3410711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Секція «для суші»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96127" y="3410711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87767" y="3410711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Sekiryu та ін.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3410711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Кухонна спеціалізація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3680459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nojaro.com.ua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441448" y="3680459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64408" y="3680459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Секція сантоку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96127" y="3680459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87767" y="3680459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Змішаний асортимент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78440" y="3680459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Нішевий агрегатор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3909059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3950207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europosud.ua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441448" y="3950207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64408" y="3950207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Серія «японські ножі»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96127" y="3950207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87767" y="3950207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Samura, Tojiro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78440" y="3950207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Посуд + ножі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78440" y="1572768"/>
            <a:ext cx="1252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4315968"/>
            <a:ext cx="36576" cy="192024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ЦЕЙ КАНАЛ НЕ МАСШТАБУЄТЬСЯ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Дев'ять магазинів на 33 млн населення — це не недорозвиненість,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 рівновага. Ринок, який вони обслуговують, замалий для десятого.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Жоден із них не має офлайн-мережі: усе працює через Нову пошту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 одного київського складу.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297680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297680" y="4315968"/>
            <a:ext cx="36576" cy="19202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35424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ЦЕЙ КАНАЛ РОБИТЬ ДОБРЕ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35424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Продає складний товар складному покупцю: описи сталі, HRC,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кількість шарів, походження заводу.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єдиний канал, де маржа виправдовує консультацію.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Тут можна запустити новий бренд — але не можна заробити обсяг.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046720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046720" y="4315968"/>
            <a:ext cx="36576" cy="1920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84464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ЗАУВАЖЕННЯ ПРО ДОСТОВІРНІСТЬ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84464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ROKS прямо не заявляє статусу офіційного дилера, хоча продає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24 японські бренди. japan-knife працює через Prom.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Для покупця це означає, що гарантія і походження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тримаються на слові продавця, а не на дилерському договорі.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2 · МОНОБРЕНДОВІ ІМПОРТЕРИ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Найкращі бренди вже мають ексклюзивного партнера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головна перешкода входу, яку зазвичай помічають надто пізно: вільних топ-брендів на ринку немає.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0008" y="1572768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8808" y="1572768"/>
            <a:ext cx="2514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 В УКРАЇНІ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408" y="1572768"/>
            <a:ext cx="3246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СТАТУС ДИСТРИБУЦІЇ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9528" y="1572768"/>
            <a:ext cx="13258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647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8105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Yaxell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0008" y="18105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8808" y="18105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yaxell.com.ua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8" y="18105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Ексклюзивний імпортер, шоурум у Києві
(Борщагівська 154а, ТЦ Аркадія)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39528" y="18105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2 895 – 38 640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018520" y="17922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18520" y="18196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Зайнято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2677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Miyabi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50008" y="22677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 (Zwilling)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808" y="22677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zwilling.in.ua, lacocotte.com.ua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3408" y="22677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Офіційне представництво Zwilling в Україні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9528" y="22677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7 220 – 40 140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018520" y="22494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18520" y="22768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Зайнято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26791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7249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KAI / Shun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50008" y="27249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8808" y="27249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Епіцентр, japan-knife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27249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Кілька продавців, дистриб'ютор не афішується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9528" y="27249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27 970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18520" y="27066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18520" y="27340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Напівзайнято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31821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50008" y="31821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3 заводи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8808" y="31821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Епіцентр, europosud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3408" y="31821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Кілька продавців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9528" y="31821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599 – 16 499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018520" y="31638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018520" y="31912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Напівзайнято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3776" y="35935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36393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50008" y="36393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8808" y="36393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 (97 SKU)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93408" y="36393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Присутній у великому форматі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39528" y="36393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3 299 – 18 999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018520" y="36210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018520" y="36484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Напівзайнято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40965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Satake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50008" y="40965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Секі, з 1947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78808" y="40965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rezat, Prom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93408" y="40965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Розсіяний, без явного ексклюзиву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39528" y="40965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979 – 16 999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018520" y="40782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018520" y="41056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Вільніше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4507992"/>
            <a:ext cx="11155680" cy="402336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45537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Kasumi / Sumikama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0008" y="45537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78808" y="45537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volod, japan-knife, profimax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93408" y="45537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Розсіяний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39528" y="45537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10 870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1018520" y="45354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018520" y="45628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Вільніше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501091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Arcos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50008" y="5010912"/>
            <a:ext cx="17647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78808" y="5010912"/>
            <a:ext cx="2450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arcos.com.ua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93408" y="5010912"/>
            <a:ext cx="3182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Офіційний сайт бренду в Україні, 311 SKU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39528" y="5010912"/>
            <a:ext cx="12618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018520" y="4992624"/>
            <a:ext cx="612648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018520" y="5020056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Зайнято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18520" y="1572768"/>
            <a:ext cx="6126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СЛОТ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5504688"/>
            <a:ext cx="5413248" cy="877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5504688"/>
            <a:ext cx="36576" cy="8778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ЗАЛИШИЛОСЬ ВІЛЬНИМ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5888736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Satake і Kasumi — єдині серйозні японські бренди без явного ексклюзивного партнера.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Обидва — середній ціновий сегмент. Верхній сегмент закритий повністю.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5504688"/>
            <a:ext cx="5413248" cy="8778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17920" y="5504688"/>
            <a:ext cx="36576" cy="8778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55664" y="56601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АЛЬТЕРНАТИВА ДИСТРИБУЦІЇ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55664" y="5888736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Власна торгова марка з японського заводу (OEM) обходить питання слотів,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але додає вартість побудови бренду до вже наявних 10 % мита.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Статус дистрибуції визначено за наявністю окремого брендового сайту з українською доменною зоною та заявою про ексклюзив; це непрямий індикатор, а не перевірені дилерські договори.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3 · ВЕЛИКИЙ ФОРМАТ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Епіцентр: 4 950 ножів, і третій бренд у ньому — Samura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Найбільша офлайн-полиця кухонних ножів в Україні. Саме вона визначає, що більшість людей вважає нормальною ціною.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БРЕНДИ ЗА ШИРИНОЮ АСОРТИМЕНТУ · КАТЕГОРІЯ «КУХОННІ НОЖІ»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Victorinox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93392" y="1851660"/>
            <a:ext cx="279566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9472" y="181051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789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1810512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Швейцарія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і масовий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066543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Tramontina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93392" y="2107691"/>
            <a:ext cx="223936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19472" y="2066543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632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2066543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Бразилія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066543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Масовий, HoReCa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322576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Samura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93392" y="2363724"/>
            <a:ext cx="1016927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9472" y="2322576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287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322576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«Японія» / Китай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232257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Масовий, середній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578608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Fissman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93392" y="2619756"/>
            <a:ext cx="846848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9472" y="2578608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239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2578608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Латвія / Китай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78040" y="257860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283464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Maestro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93392" y="2875788"/>
            <a:ext cx="425196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19472" y="2834640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2834640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283464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Вхідний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090672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Tescoma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93392" y="3131820"/>
            <a:ext cx="400392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19472" y="309067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3090672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Чехія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78040" y="309067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34670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Vinzer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93392" y="3387852"/>
            <a:ext cx="38976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19472" y="3346704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2120" y="3346704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78040" y="334670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602736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Krauff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93392" y="3643884"/>
            <a:ext cx="361416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19472" y="3602736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32120" y="3602736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Німеччина / Китай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78040" y="360273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3858768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93392" y="3899916"/>
            <a:ext cx="343700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19472" y="3858768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97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32120" y="3858768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78040" y="385876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 і преміум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114800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1C2235"/>
                </a:solidFill>
                <a:latin typeface="Segoe UI"/>
              </a:rPr>
              <a:t>Kamille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93392" y="4155948"/>
            <a:ext cx="31535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19472" y="4114800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32120" y="4114800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78040" y="411480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Вхідний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4370832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93392" y="4411980"/>
            <a:ext cx="106299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919472" y="437083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32120" y="4370832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78040" y="437083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4626864"/>
            <a:ext cx="1371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KAI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993392" y="4668012"/>
            <a:ext cx="21259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919472" y="4626864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32120" y="4626864"/>
            <a:ext cx="1600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78040" y="462686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833104" y="1810512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034272" y="1965960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УСЬОГО SKU В КАТЕГОРІЇ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34272" y="2176272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C4820A"/>
                </a:solidFill>
                <a:latin typeface="Segoe UI"/>
              </a:rPr>
              <a:t>4 950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34272" y="265176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Ножі кухонні, Епіцентр,
вересень 2026.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833104" y="2926080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034272" y="3081528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ЦІНОВИЙ РОЗМАХ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34272" y="3291840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E9EA6"/>
                </a:solidFill>
                <a:latin typeface="Segoe UI"/>
              </a:rPr>
              <a:t>8 – 56 242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34272" y="3767328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грн. Основна маса —
79–699 грн.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833104" y="4041648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034272" y="4197096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СПРАВЖНЯ ЯПОНІЯ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34272" y="440740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5D4B96"/>
                </a:solidFill>
                <a:latin typeface="Segoe UI"/>
              </a:rPr>
              <a:t>133 SKU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34272" y="4882896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Suncraft 97 + Tojiro 30 + KAI 6.
2,7 % полиці.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833104" y="5157216"/>
            <a:ext cx="2798064" cy="1024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034272" y="5312664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«ЯПОНІЯ» З КИТАЮ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34272" y="5522976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C03B4B"/>
                </a:solidFill>
                <a:latin typeface="Segoe UI"/>
              </a:rPr>
              <a:t>287 SKU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034272" y="5998464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Тільки Samura.
У 2,2 раза більше за всю Японію.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66928" y="5029200"/>
            <a:ext cx="4005072" cy="12070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66928" y="5029200"/>
            <a:ext cx="36576" cy="120700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04672" y="5184648"/>
            <a:ext cx="3529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ГОЛОВНИЙ ФАКТ ЦІЄЇ ПОЛИЦІ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04672" y="5413248"/>
            <a:ext cx="352958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Найбільша мережа країни продає під вивіскою японського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ножа у 2,2 раза більше SKU бренду з Китаю, ніж усіх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справжніх японців разом. Покупець різниці не бачить.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718304" y="5029200"/>
            <a:ext cx="4005072" cy="12070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718304" y="5029200"/>
            <a:ext cx="36576" cy="120700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56048" y="5184648"/>
            <a:ext cx="3529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ЩО ЦЕ ВІДКРИВАЄ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56048" y="5413248"/>
            <a:ext cx="352958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Suncraft із 97 SKU — не тест, а повноцінна лінійка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справжньої Японії у великому форматі. Бар'єр не в мережі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й не в покупцеві, а в тому, хто зайде з пропозицією.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Джерело: публічний каталог epicentrk.ua, фільтр «Кухонні ножі», вересень 2026. Кількість SKU відображає ширину асортименту, а не продажі. Походження вказано за даними виробників і публічних джерел.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4 · МАРКЕТПЛЕЙСИ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3 000+ «японських ножів», з яких японських — одиниці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Тут формується уявлення покупця про ціну. І тут же — найбільший ризик для будь-якого бренду, який хоче тримати позиціювання.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22494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175564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235"/>
                </a:solidFill>
                <a:latin typeface="Segoe UI"/>
              </a:rPr>
              <a:t>ROZETKA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048256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Samura — 218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494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Fissman сантоку — 61 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48716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175 – 9 499 грн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" y="276148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2889504"/>
            <a:ext cx="314553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Найбільший трафік категорії в Україні.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Фільтр «японський ніж (сантоку)» — це тип леза,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а не походження. Global присутній, 2 618 – 13 195 грн.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0248" y="1554480"/>
            <a:ext cx="3584448" cy="22494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9704" y="175564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235"/>
                </a:solidFill>
                <a:latin typeface="Segoe UI"/>
              </a:rPr>
              <a:t>PROM.UA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9704" y="2048256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3 000+ пропозицій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22494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29 на першій сторінці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248716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399 – 6 200 грн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9704" y="276148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9704" y="2889504"/>
            <a:ext cx="314553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Продавці: KnivaX, Ukrmaga, City Home, Rubanok,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Комплекс Маркет. Бренди: Satake, Takagi, Satori,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Suncraft Senzo, Vinzer, SONMELONY, TURWHO.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3567" y="1554480"/>
            <a:ext cx="3584448" cy="22494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3023" y="175564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235"/>
                </a:solidFill>
                <a:latin typeface="Segoe UI"/>
              </a:rPr>
              <a:t>ІНШІ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3023" y="2048256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717890"/>
                </a:solidFill>
                <a:latin typeface="Segoe UI"/>
              </a:rPr>
              <a:t>Kasta, Bigl, Shafa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3023" y="22494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Shafa — вторинний ринок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3023" y="2487168"/>
            <a:ext cx="31455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1 999 – 2 979 грн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93023" y="2761488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93023" y="2889504"/>
            <a:ext cx="314553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Shafa продає «професійний японський кіріцуке»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за 2 979 грн без бренду взагалі.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Вторинний ринок japanese-style уже сформувався.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968496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ЩО РЕАЛЬНО ПРОДАЄТЬСЯ ПІД СЛОВОМ «ЯПОНСЬКИЙ»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206240"/>
            <a:ext cx="3840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420624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МАЙДАНЧИК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4206240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84848" y="4206240"/>
            <a:ext cx="4800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НАСПРАВДІ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436626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407408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TURWHO шеф 8″, дамаск VG-10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07408" y="440740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41848" y="4407408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2 870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4848" y="4407408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Китай, бренд без історії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4663440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без бренду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7408" y="466344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41848" y="4663440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1 586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84848" y="4663440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Походження не вказано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3776" y="4878324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19472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Кіріцуке «професійний»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07408" y="491947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Shafa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41848" y="4919472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2 979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84848" y="4919472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Вторинний ринок, без бренду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5175504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 Saku накірі 170 мм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07408" y="51755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41848" y="5175504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1 249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84848" y="5175504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Секі, Японія, з 1947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539038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431536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Sekiryu SR-400 янагіба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07408" y="543153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Hangiri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41848" y="5431536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84848" y="5431536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Японський бренд, бюджетна лінія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687568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Krauff Luxus сантоку 17,7 см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07408" y="568756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41848" y="5687568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540 (з 720)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84848" y="5687568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Німецький бренд, Китай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776" y="5902452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5943600"/>
            <a:ext cx="3785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Fissman Elegance сантоку 13 см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07408" y="594360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41848" y="5943600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84848" y="5943600"/>
            <a:ext cx="4745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Латвійський бренд, Китай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3504" y="6327648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Ціни зібрані з публічних сторінок магазинів у вересні 2026 і включають промо-знижки. Вони не є середніми цінами продажу.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5 · ОПТ HORECA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523 професійні ножі — і два японські бренди серед них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головний негативний результат дослідження. Професійний канал в Україні японські ножі не продає.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AL-GROUP · ОПТ ПРОФЕСІЙНИХ НОЖІВ ДЛЯ HORECA · 523 ПОЗИЦІЇ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Arcos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93392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93392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Tramontina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93392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Бразилія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19856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9856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Pirge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9856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Туреччина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Sanelli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2784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2784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Hendi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4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Нідерланди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99248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99248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Stalgast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8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Польща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25712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25712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Paderno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25712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Lacor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93392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93392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Giesser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93392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Німеччина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19856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19856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Forest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19856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46320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46320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WAS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0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Німеччина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72784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2784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GI.Metall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72784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248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99248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Chef-1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99248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70464" y="18105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ЄВРОПА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70464" y="19751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E9EA6"/>
                </a:solidFill>
                <a:latin typeface="Segoe UI"/>
              </a:rPr>
              <a:t>13 брендів
із 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2871216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ЯПОНСЬКІ ПОЗИЦІЇ В ЦЬОМУ КАТАЛОЗІ — ВСЬОГО ТРИ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10896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29968" y="310896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41648" y="310896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30368" y="310896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3268980"/>
            <a:ext cx="654710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331012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29968" y="331012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165 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41648" y="331012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8 004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30368" y="331012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35844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Kaneyoshi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29968" y="35844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210 мм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41648" y="358444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30368" y="358444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776" y="3817620"/>
            <a:ext cx="654710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385876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Ketu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29968" y="385876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Накірі 165 мм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41648" y="385876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13 290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30368" y="385876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Лінія Yaxell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223760" y="2852928"/>
            <a:ext cx="2103120" cy="148132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p_834b41037720a5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6912" y="2926080"/>
            <a:ext cx="1956815" cy="100584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7370064" y="4005072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Європа на профкухні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70064" y="4169664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Arcos, Tramontina, Pirge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528048" y="2852928"/>
            <a:ext cx="2103120" cy="148132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p_3f769ecb739067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2926080"/>
            <a:ext cx="1956815" cy="100584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9674352" y="4005072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«Японський» в опті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74352" y="4169664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= форма леза, не походження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223760" y="4517136"/>
            <a:ext cx="44074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223760" y="4517136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61504" y="4672584"/>
            <a:ext cx="3931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LFOOD.COM.UA · КАТЕГОРІЯ «ЯПОНСЬКІ НОЖІ»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61504" y="4901184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28 позицій, 1 274 – 5 907 грн. Бренди: DICK (Німеччина, 13),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ICEL (Португалія, 8), Hendi (6), Stalgast (1).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Японських брендів — жодного.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«Японський ніж» у профканалі означає форму леза.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041648"/>
            <a:ext cx="321868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66928" y="4041648"/>
            <a:ext cx="36576" cy="17373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04672" y="4197096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ЄВРОПА ВИГРАЛА ЦЕЙ КАНАЛ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" y="4425696"/>
            <a:ext cx="274320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Ціна заміни. Arcos і Tramontina — 300–900 грн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 ніж, це списується без болю.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Логістика. Ножі приїжджають разом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із каструлями, дошками і формою.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Ніж — рядок у накладній, а не окрема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закупівля.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931920" y="4041648"/>
            <a:ext cx="303580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31920" y="4041648"/>
            <a:ext cx="36576" cy="17373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169663" y="4197096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ЦЕ ЗНАЧИТЬ ДЛЯ МОДЕЛІ ВХОДУ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69663" y="4425696"/>
            <a:ext cx="256032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Продати японський ніж у HoReCa через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існуючий опт не вийде: у цих каталогів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немає ні полиці, ні аргументу, ні сервісу.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Єдиний виняток — односторонні ножі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для суші, але це 500–900 штук на рік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на всю країну.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1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Справжня Японія, преміум: ₴7 000 – 40 140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Бренди з підтвердженим японським виробництвом у верхньому ціновому діапазоні. Усі мають робочий канал в Україні.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572768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ЗАВОД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1572768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 В УКРАЇНІ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572768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1572768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КЛЮЧОВІ СЕРІЇ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2208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85248" y="1572768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 НА РИНКУ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175107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79222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179222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Японія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7288" y="179222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17922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2 895 – 38 640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179222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Zen 37, Ran 69, Gou 101, Super Gou 161,
Ypsilon 193 шари, Ketu, Taishi, Rei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22208" y="179222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Ексклюзив + ProfiMax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85248" y="17922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Верх ринку. SG-2 порошок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0894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KAI / Shun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12848" y="20894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Японія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7288" y="208940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4568" y="20894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27 970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44768" y="208940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Shun Classic 42, Premier Tim Mälzer 18,
Wasabi Black 20, Seki Magoroku 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2208" y="208940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85248" y="20894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Найвідоміше ім'я. Шеф 20 см — 10 710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234543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38658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Miyabi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12848" y="23865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 (Zwilling)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7288" y="238658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23865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7 220 – 40 140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44768" y="238658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Традиційні японські серії
під німецьким власником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2208" y="238658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zwilling.in.ua, lacocotte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85248" y="23865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Найдорожчий бренд у роздрібі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68376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Kasumi / Sumikama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12848" y="268376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Японія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47288" y="268376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18 – 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44568" y="26837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10 870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44768" y="268376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Damascus 32 шари VG-10 61 HRC,
Kuro 32 шари, Tora AUS-6A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22208" y="268376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Volod, japan-knife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85248" y="26837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Дамаск за доступною ціною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" y="293979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298094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Suncraft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298094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47288" y="298094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79 – 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44568" y="29809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3 299 – 18 999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44768" y="298094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Elegancia, Senzo Black / Classic /
Professional / Clad / Retro, MU Bamboo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22208" y="298094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85248" y="29809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преміум у великому форматі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27812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Kanetsugu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12848" y="327812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47288" y="327812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44568" y="32781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1 290 – 8 890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44768" y="327812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Saiun, Pro-M, Miyabi Isshin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22208" y="327812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ROKS, ProfiMax, РіЗ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85248" y="327812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Недооцінений. Saiun 8 290 – 8 890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93776" y="353415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6928" y="35753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Global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12848" y="35753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 (Yoshikin)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47288" y="357530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44568" y="35753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2 618 – 13 195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44768" y="357530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Суцільнометалевий корпус,
упізнаваний дизайн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22208" y="357530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Rozetka, m.ua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85248" y="35753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Іконічний дизайн, слабка присутність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387248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Sakai Takayuki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12848" y="38724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Сакаї, Японія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47288" y="387248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44568" y="38724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4 420 +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387248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Ковані односторонні,
вуглецева Yellow Steel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22208" y="387248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Hangiri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985248" y="38724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Традиційна ковка. Ніша суші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93776" y="4128516"/>
            <a:ext cx="11164824" cy="25603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6928" y="416966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Yoshihiro / Takamura / Tosa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12848" y="416966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ковалі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47288" y="416966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 / 8 / 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44568" y="41696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до 16 740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44768" y="416966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Дрібносерійні та ковальські лінії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522208" y="416966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ROKS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85248" y="416966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Довгий хвіст для колекціонерів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446684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Masahiro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212848" y="446684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47288" y="4466844"/>
            <a:ext cx="10424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– 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44568" y="44668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44768" y="446684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лінії, точильні камені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22208" y="446684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ROKS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985248" y="446684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Історичний бренд, слабка дистрибуція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419088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p_4b3c700b00dc8c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4901184"/>
            <a:ext cx="1115568" cy="91440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6565392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Yaxell Super Gou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65392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шеф · 17 746 грн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735823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p_272761f443e37e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75" y="4901184"/>
            <a:ext cx="1115568" cy="914400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7882127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Kasumi Damascus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882127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сантоку · 7 400 грн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052559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p_58389d55acc887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5711" y="4901184"/>
            <a:ext cx="1115568" cy="91440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9198863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Yaxell Ran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98863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сантоку · 7 426 грн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0369295" y="4828032"/>
            <a:ext cx="1261872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p_dee392611edd8a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42447" y="4901184"/>
            <a:ext cx="1115568" cy="91440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515599" y="5888736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Преміум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515599" y="6053328"/>
            <a:ext cx="96926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10–28 тис. грн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566928" y="4828032"/>
            <a:ext cx="5650992" cy="172659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66928" y="4828032"/>
            <a:ext cx="36576" cy="172659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04672" y="4983480"/>
            <a:ext cx="51755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94F7C"/>
                </a:solidFill>
                <a:latin typeface="Segoe UI"/>
              </a:rPr>
              <a:t>ЩО ЦЕЙ СЕГМЕНТ ГОВОРИТЬ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04672" y="5212080"/>
            <a:ext cx="5175504" cy="1196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верхній поверх. Повний перепис (слайди 19–21) дає 45 брендів японського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виробництва на ринок обсягом 16–19 млн грн — щільність, яка давно перевищує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економічну доцільність. Yaxell і Miyabi мають ексклюзивних партнерів; KAI,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Tojiro і Suncraft продаються кількома продавцями паралельно.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Жоден із них не має в Україні сервісу заточення чи відновлення кромки: ніж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 10–18 тис. грн продається як коробка.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2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Справжня Японія, доступна: ₴900 – 7 500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Єдиний сегмент, де японське походження зустрічається з ціною, яку платить масовий покупець. І він майже порожній.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554480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ЗАВОД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1554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1554480"/>
            <a:ext cx="2834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ОПОРНІ ПОЗИЦІЇ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51007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ЧОМУ ВАЖЛИВИЙ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1732788"/>
            <a:ext cx="11164824" cy="35204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77393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177393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Секі, з 1947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0168" y="177393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177393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979 – 16 999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1888" y="1773936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Saku універсальний 979 · Saku накірі 1 249 ·
Satoru сантоку 1 599 · Sakura шеф 2 999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739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Rezat, Prom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51007" y="177393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справжній японець
у масовій ціні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167128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Tojiro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12848" y="2167128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заводи, з 1953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0168" y="216712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81 – 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216712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599 – 16 499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1888" y="2167128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Basic F-318 2 599 · DP F-807 шеф 18 см 5 999 ·
DP Damascus F-659 сантоку 7 499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216712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Епіцентр, Europosud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51007" y="216712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Стандарт «першого
серйозного ножа»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2519172"/>
            <a:ext cx="11164824" cy="35204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56032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Sekiryu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12848" y="2560320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560320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1688" y="256032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1 638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61888" y="2560320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SR-400 янагіба 1 107 · SR-240S 24 см 1 638 ·
деба 15 см 1 470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96528" y="25603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Hangiri, Smart-Kitchen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51007" y="256032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Найдешевший вхід
у односторонні ножі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9535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KAI Wasabi Black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12848" y="2953512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0168" y="2953512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61688" y="295351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2 520 – 3 499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61888" y="2953512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16,5 см 2 730 · шеф 20 см 3 499 ·
янагіба 15,5 см 2 520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96528" y="29535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ProfiMax, Епіцентр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7" y="295351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Найдоступніша лінія
великого бренду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" y="3305556"/>
            <a:ext cx="11164824" cy="35204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33467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Kasumi Tora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3346704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30168" y="334670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61688" y="33467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3 000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61888" y="3346704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AUS-6A моносталь, 56–58 HRC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96528" y="33467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Volod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51007" y="33467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Вхід у бренд Kasumi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73989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Kaneyoshi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12848" y="3739896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30168" y="3739896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61688" y="373989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61888" y="3739896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210 мм 5 740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96528" y="37398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AL-Group (опт HoReCa)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51007" y="373989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японець
у профканалі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602e9dd50399b5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42816"/>
            <a:ext cx="1271016" cy="82296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713232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 Satoru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3232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сантоку · 1 599 грн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039112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826c3391179f4c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2264" y="4242816"/>
            <a:ext cx="1271016" cy="82296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185416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85416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накірі · 1 249 грн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511296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414672108e1315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4448" y="4242816"/>
            <a:ext cx="1271016" cy="82296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3657600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Satake Sakura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0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шеф · 2 999 грн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983480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p_64897f7ec23107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6632" y="4242816"/>
            <a:ext cx="1271016" cy="82296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5129784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Kasumi Tora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29784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шеф · від 1 180 грн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455664" y="4169663"/>
            <a:ext cx="1417320" cy="13167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p_f470a6d3833e8de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4242816"/>
            <a:ext cx="1271016" cy="82296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6601968" y="5138928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Sekiryu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01968" y="5303520"/>
            <a:ext cx="11247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янагіба · 1 107 грн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936992" y="4169663"/>
            <a:ext cx="1792224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138160" y="4325112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ВХІДНА ЦІНА СПРАВЖНЬОЇ ЯПОНІЇ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38160" y="4535424"/>
            <a:ext cx="13898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9A50B"/>
                </a:solidFill>
                <a:latin typeface="Segoe UI"/>
              </a:rPr>
              <a:t>979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38160" y="5010912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Satake Saku. Нижче
Японії на ринку немає.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820656" y="4169663"/>
            <a:ext cx="1792224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021824" y="4325112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ЩО ВИБИРАЄ ПОКУПЕЦЬ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21824" y="4535424"/>
            <a:ext cx="13898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21824" y="5010912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287 SKU проти 64 у Satake.
Ширина перемагає походження.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66928" y="5614416"/>
            <a:ext cx="11064240" cy="87213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66928" y="5614416"/>
            <a:ext cx="36576" cy="87213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4672" y="5769864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ГОЛОВНИЙ ВИСНОВОК ЦЬОГО СЕГМЕНТА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" y="5998464"/>
            <a:ext cx="10588752" cy="341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Satake доводить, що справжній японський ніж може коштувати 979 грн і продаватися в Україні. Але Satake один, у нього 64 SKU, і він не має ані маркетингу, ані ексклюзивного партнера.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єдина неохоронювана ділянка матриці справжньої Японії — і найтонша за юніт-економікою: при ціні 1 000–3 000 грн націнка не покриває консультації, якої вимагає товар.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 · 1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45 брендів, а не десять: промислові марки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Поглиблений обхід 14 продавців у жовтні 2026. Промислові бренди — серійне виробництво, стабільна якість, західні руків'я.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5361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5544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39" y="1554480"/>
            <a:ext cx="4754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ЗАСН.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7327" y="155448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 UA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7" y="1554480"/>
            <a:ext cx="144475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19" y="15544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155448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47504" y="1554480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КОМЕНТАР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14500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75564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KAI / Shun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175564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39" y="175564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7327" y="175564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5967" y="175564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27 970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175564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 дамаск, VG-MAX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175564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Епіцентр · japan-knife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47504" y="175564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Найвідоміше японське ім'я в Україні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00710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200710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39" y="200710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67327" y="200710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15967" y="200710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1 199 – 70 102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19" y="200710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SG-2, VG-10, 37–193 шари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1231" y="200710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yaxell.com.ua · ProfiMax · AL-Group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7504" y="200710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Ексклюзивний імпортер, шоурум у Києві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3776" y="2217420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225856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Suncraft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20" y="225856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39" y="225856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67327" y="225856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7" y="225856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1 199 – 18 999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719" y="225856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VG-10, дамаск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71231" y="225856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Епіцентр · ProfiMax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47504" y="225856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Єдиний японський преміум у великому форматі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251002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Tojiro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03120" y="251002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39" y="251002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67327" y="251002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15967" y="251002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599 – 16 499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60719" y="251002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VG-10, Shirogami, FAX-18 HSS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71231" y="251002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Епіцентр · WildCat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47504" y="251002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Найширша присутність по каналах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3776" y="2720339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276148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03120" y="276148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91839" y="276148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1947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67327" y="276148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15967" y="276148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849 – 16 999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60719" y="276148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Мо-ванадій, VG-10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71231" y="276148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rezat · Prom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47504" y="276148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Найдоступніша справжня Японія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01294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Kanetsune Seki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03120" y="301294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91839" y="301294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67327" y="301294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15967" y="301294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150 – 16 360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760719" y="301294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Shirogami, VG-10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71231" y="301294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ibis.net.ua · x-gear · WildCat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47504" y="301294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Через збройові магазини, не кухонні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93776" y="3223259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326440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Miyabi (Zwilling)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03120" y="326440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91839" y="326440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2004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67327" y="326440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15967" y="326440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5 900 – 43 020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760719" y="326440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SG-2, MC63, дамаск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571231" y="326440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zwilling.in.ua · lacocotte · ROKS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747504" y="326440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Найдорожчий бренд масового роздрібу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351586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Kasumi / Sumikama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103120" y="351586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91839" y="351586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767327" y="351586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315967" y="351586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15 229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60719" y="351586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 + 32 шари, AUS-6A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71231" y="351586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Volod · japan-knife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747504" y="351586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Дамаск за доступною ціною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93776" y="3726179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376732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03120" y="376732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91839" y="376732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1899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767327" y="376732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15967" y="376732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990 – 13 900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19" y="376732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VG-10, Saiun, Zuiun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71231" y="376732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ProfiMax · WildCat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47504" y="376732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Недооцінений у профканалі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6928" y="401878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Masahiro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03120" y="401878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91839" y="401878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67327" y="401878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315967" y="401878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2 400 – 4 100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760719" y="401878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MRS-30, мо-ванадій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571231" y="401878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ProfiMax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47504" y="401878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Історичний бренд, мала присутність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93776" y="4229100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66928" y="427024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Shimomura Kihan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03120" y="427024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Цубаме-Сандзьо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91839" y="427024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767327" y="427024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315967" y="427024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760719" y="427024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Мо-ванадій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571231" y="427024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WildCat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747504" y="427024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Одна позиція в каталозі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6928" y="452170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Satake Masamune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03120" y="452170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291839" y="452170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767327" y="452170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315967" y="452170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60719" y="452170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571231" y="452170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747504" y="452170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Деба, окрема лінія Satake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93776" y="4732020"/>
            <a:ext cx="11164824" cy="25146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66928" y="477316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Global (Yoshikin)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03120" y="477316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291839" y="477316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767327" y="477316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315967" y="477316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2 618 – 13 195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760719" y="477316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CROMOVA 18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571231" y="477316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Rozetka · m.ua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747504" y="477316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Іконічний дизайн, слабка дистрибуція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66928" y="526694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566928" y="5266944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04672" y="542239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ЗМІНИВ ГЛИБШИЙ ОБХІД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04672" y="565099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Перший зріз давав 10 японських брендів. Повний обхід 14 продавців дав 45: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13 промислових, 6 збірних, 10 родинних кузень і 16 іменних ковалів.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217920" y="526694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217920" y="5266944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455664" y="542239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ДЕ КОНЦЕНТРАЦІЯ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455664" y="565099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13 промислових брендів дають 600 позицій із 691, тобто 87 % асортименту.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П'ять марок — KAI, Yaxell, Suncraft, Tojiro, Satake — це 486 позицій, 70 %.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SKU — кількість позицій у публічних каталогах українських продавців, жовтень 2026. «н/д» — бренд присутній, але кількість або ціну з каталогу витягти не вдалося.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 · 2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Родинні кузні та збірні бренди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Родинна кузня — виробництво з іменем і спадковістю, але без серії. Збірний бренд — торгова марка, під якою кілька ковалів.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1554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5448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5544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 / КОНСТРУКЦІЯ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7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5207" y="1554480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14500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75564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Nigara Hamono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67128" y="17556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Хіросакі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1755648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8" y="17556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14 800 – 16 740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17556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SG-2, Anmon дамаск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0767" y="175564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65207" y="175564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350 років, 8 поколінь, ковалі клану Цуґару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21608" y="1741932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21608" y="1769364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199522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Sakai Takayuki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7128" y="19952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8" y="199522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6048" y="199522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4 420 – 15 229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199522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Yellow Steel, Shirogami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0767" y="199522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Hangiri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5207" y="199522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Традиційна ковка, ніша суші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21608" y="198150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1608" y="200893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2193645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234793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JCK Natures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67128" y="223479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2234793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6048" y="2234793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12 220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19088" y="2234793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Super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7" y="2234793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65207" y="223479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Збірний бренд японського трейдера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21608" y="2221077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21608" y="2248509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247436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Takamura Hamono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67128" y="247436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Ечідзен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53128" y="247436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56048" y="247436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5 320 – 11 990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19088" y="247436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R2/SG-2, Chromax, VG-10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30767" y="247436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WildCat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65207" y="247436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Піонер порошкової сталі, «лазерний» спуск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721608" y="2460650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21608" y="2488082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3776" y="2672791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2713939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Tosa / Tosauchi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67128" y="271393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53128" y="2713939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56048" y="2713939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2 929 – 10 035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713939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Aogami, Shirogami, куроучі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0767" y="2713939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WildCat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65207" y="2713939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Найглибша артизанальна лінія в Україні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721608" y="270022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721608" y="272765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295351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Yoshihiro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67128" y="29535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53128" y="295351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56048" y="295351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3 609 – 6 747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295351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Дамаск, вуглець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30767" y="295351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65207" y="295351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11 позицій, друга за глибиною артизанальна лінія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21608" y="2939796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721608" y="2967228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3151936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31930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Kaneyoshi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67128" y="319308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53128" y="3193084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56048" y="319308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19088" y="3193084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30767" y="31930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AL-Group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65207" y="319308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Єдиний японець в оптовому профканалі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721608" y="317936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21608" y="320680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343265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Yamawaki Hamono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67128" y="343265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53128" y="343265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56048" y="343265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3 528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19088" y="343265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SK5, мідзу-хоньякі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30767" y="343265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65207" y="343265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Майстер хоньякі, 100 років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721608" y="3418941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721608" y="3446373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3631082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367223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Sakai Ichiji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67128" y="367223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453128" y="367223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56048" y="367223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1 999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19088" y="367223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30767" y="367223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65207" y="367223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Одна позиція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21608" y="365851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721608" y="368594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911803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Sekiryu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67128" y="391180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453128" y="3911803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56048" y="3911803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1 638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19088" y="3911803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Нержавіюча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30767" y="3911803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Hangiri · Smart-Kitchen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65207" y="391180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Найдешевший вхід в односторонні ножі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721608" y="3898087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721608" y="3925519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93776" y="4110228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66928" y="415137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Anryu Hamono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167128" y="415137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Ечідзен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53128" y="415137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956048" y="41513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419088" y="415137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 #2 дамаск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30767" y="415137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665207" y="415137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Майстерня Такефу Найф Вілідж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721608" y="4137660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721608" y="4165092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66928" y="439094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HONMAMON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167128" y="43909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453128" y="4390948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956048" y="43909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19088" y="43909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#2, Shirogami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30767" y="439094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 · IzzaBugra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65207" y="439094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Збірний бренд ковалів Тоса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721608" y="4377232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721608" y="4404664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93776" y="4589373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928" y="463052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Hokiyama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167128" y="463052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453128" y="463052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956048" y="463052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19088" y="463052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Tosa-Ichi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430767" y="463052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665207" y="463052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Згаданий у каталозі, позицій не знайдено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721608" y="4616805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721608" y="4644237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66928" y="487009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Inoguchi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167128" y="487009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453128" y="4870094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956048" y="487009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19088" y="4870094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430767" y="487009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665207" y="487009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Чотири позиції, бренд не розкритий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721608" y="485637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721608" y="488381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93776" y="5068519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66928" y="510966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S.K.K. Cutlery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167128" y="510966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453128" y="510966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956048" y="510966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419088" y="510966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30767" y="510966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665207" y="510966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Сашимі 240 мм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721608" y="5095951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3721608" y="5123383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66928" y="534924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Suisin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167128" y="534924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453128" y="534924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956048" y="534924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19088" y="534924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Хоньякі вуглець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430767" y="534924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665207" y="534924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Еталон Сакаї серед шефів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3721608" y="533552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3721608" y="536295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566928" y="571682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566928" y="5716828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04672" y="587227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ТАКЕ РОДИННА КУЗНЯ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04672" y="610087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Виробництво на 5–30 людей зі спадковою технологією.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Nigara — 350 років і 8 поколінь, Yamawaki — 100 років.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4270248" y="571682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270248" y="5716828"/>
            <a:ext cx="36576" cy="851712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4507992" y="587227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717890"/>
                </a:solidFill>
                <a:latin typeface="Segoe UI"/>
              </a:rPr>
              <a:t>ЩО ТАКЕ ЗБІРНИЙ БРЕНД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507992" y="610087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6 брендів. HONMAMON, JCK Natures — японські трейдери,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що продають вироби різних ковалів під своєю маркою.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7973567" y="571682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973567" y="5716828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8211311" y="587227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 НЕ МАСШТАБУЄТЬСЯ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211311" y="610087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Tosa дає 29 позицій, решта — від 1 до 11.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Партію під замовлення тут не зробить ніхто.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 · 3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Іменні ковалі: шістнадцять майстрів, двадцять ножів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Ножі, підписані іменем конкретної людини. Це верхній край ринку за ціною і нижній — за обсягом.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1554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5448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5544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 / КОНСТРУКЦІЯ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7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5207" y="1554480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14500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75564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Etsu / Ittetsu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67128" y="17556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Ечідзен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1755648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8" y="17556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16 677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17556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R2 дамаск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0767" y="175564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65207" y="175564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Найдорожча одинична позиція артизанів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21608" y="1741932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21608" y="1769364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199522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Myojin (Naohito)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7128" y="19952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8" y="199522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6048" y="199522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13 200 – 15 580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199522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Cobalt Special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0767" y="199522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5207" y="199522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Іменний коваль, найдорожчий сегмент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21608" y="198150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1608" y="200893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2193645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234793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Hatsukokoro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67128" y="223479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2234793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6048" y="2234793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13 865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19088" y="2234793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ZDP-189, 65–67 HRC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7" y="2234793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65207" y="223479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Найтвердіша сталь на ринку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21608" y="2221077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21608" y="2248509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247436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Tsukasa (Hinoura)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67128" y="247436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Цубаме-Сандзьо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53128" y="247436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56048" y="247436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9 900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19088" y="247436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Super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30767" y="247436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65207" y="247436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Третє покоління ковалів Сандзьо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721608" y="2460650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21608" y="2488082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3776" y="2672791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2713939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Tadayoshi Tokaji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67128" y="271393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53128" y="2713939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56048" y="2713939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8 480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713939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0767" y="2713939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65207" y="2713939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Сантоку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721608" y="270022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721608" y="272765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295351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Sakai Haruhiko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67128" y="29535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53128" y="295351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56048" y="295351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7 040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295351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 #2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30767" y="295351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65207" y="295351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Янагіба 240 мм, одностороння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21608" y="2939796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721608" y="2967228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3151936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319308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Tomita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67128" y="319308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53128" y="3193084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56048" y="319308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3 215 – 6 600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19088" y="3193084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#2 / Super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30767" y="31930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65207" y="319308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Деба, сантоку, універсальні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721608" y="317936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21608" y="320680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343265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Tanaka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67128" y="343265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53128" y="343265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56048" y="343265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5 203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19088" y="343265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Super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30767" y="343265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65207" y="343265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Усуба камаґата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721608" y="3418941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721608" y="3446373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3631082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367223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Fukamizu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67128" y="367223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453128" y="367223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56048" y="367223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2 610 – 4 850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19088" y="367223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Куроучі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30767" y="367223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65207" y="367223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П'ять позицій, вхідний артизан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21608" y="365851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721608" y="368594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911803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Hisashige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67128" y="391180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453128" y="3911803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56048" y="3911803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19088" y="3911803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Хоньякі вуглець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30767" y="3911803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65207" y="391180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Хоньякі за 3 520 грн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721608" y="3898087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721608" y="3925519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93776" y="4110228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66928" y="415137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Kanetaka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167128" y="415137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53128" y="415137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956048" y="415137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3 520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419088" y="415137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Yasukihagane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30767" y="415137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665207" y="415137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Фунаюкі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721608" y="4137660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721608" y="4165092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66928" y="439094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Takanori Izumi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167128" y="43909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453128" y="4390948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956048" y="43909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1 980 – 3 080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19088" y="43909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AUS-10M дамаск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30767" y="439094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65207" y="439094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Найдоступніший артизан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721608" y="4377232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721608" y="4404664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93776" y="4589373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928" y="463052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Hanakumagawa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167128" y="463052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453128" y="463052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956048" y="463052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2 390 – 2 790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19088" y="463052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 #2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430767" y="463052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665207" y="463052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Фунаюкі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721608" y="4616805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721608" y="4644237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66928" y="487009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Kazuhira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167128" y="487009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453128" y="4870094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956048" y="487009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19088" y="4870094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Yasukihagane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430767" y="487009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665207" y="487009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Універсальний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721608" y="485637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721608" y="488381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93776" y="5068519"/>
            <a:ext cx="11164824" cy="23957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66928" y="510966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Mikihisa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167128" y="510966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453128" y="510966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956048" y="510966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419088" y="510966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30767" y="510966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665207" y="510966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Макірі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721608" y="5095951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3721608" y="5123383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66928" y="534924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Teruhide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167128" y="534924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453128" y="534924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956048" y="534924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19088" y="534924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Вуглецева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430767" y="534924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665207" y="534924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Деба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3721608" y="533552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3721608" y="536295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566928" y="571682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566928" y="5716828"/>
            <a:ext cx="36576" cy="8517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04672" y="587227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ЦЕ НЕ БРЕНДИ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04672" y="610087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імена людей. Myojin Naohito, Tsukasa Hinoura, Tomita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кожен кує сам, партій не існує.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4270248" y="571682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270248" y="5716828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4507992" y="587227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507992" y="610087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Від 1 980 грн (Takanori Izumi) до 16 677 грн (Etsu).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Hatsukokoro ZDP-189, 65–67 HRC — найтвердіша сталь ринку.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7973567" y="571682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973567" y="5716828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8211311" y="587227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ХТО ЦЕ КУПУЄ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211311" y="610087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Кілька сотень людей на країну. Для постачальника це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не сегмент, а вітрина для репутації.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СЕГМЕНТАЦІЯ · ВІСЬ 6 · РЕГІОН ВИРОБНИЦТВА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Шість японських центрів, і лише один із них тримає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Для японського ножа регіон — це не географія, а технологія, ціна й тип покупця. Вісь, якої не було в першій версії дослідження.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719072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Секі, Гіфу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1956816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Промисловий центр. Серійне виробництво, західні руків'я, стабільна якість.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" y="243230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4203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4820A"/>
                </a:solidFill>
                <a:latin typeface="Segoe UI"/>
              </a:rPr>
              <a:t>726 – 70 102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2596896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10 брендів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2852928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 / Shun · Yaxell · Suncraft · Satake · Miyabi · Kasumi · Seki Kanetsugu · Kanetsune · Global · Masahiro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34670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C4820A"/>
                </a:solidFill>
                <a:latin typeface="Segoe UI"/>
              </a:rPr>
              <a:t>Сюди йде 90 % грошей категорії в Україні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0248" y="1554480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71416" y="1719072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Сакаї, Осака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1416" y="1956816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600+ років. Розподіл праці: коваль, точильник, монтажник. Односторонні ножі.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71416" y="243230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71416" y="254203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5D4B96"/>
                </a:solidFill>
                <a:latin typeface="Segoe UI"/>
              </a:rPr>
              <a:t>1 999 – 15 580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2596896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7 брендів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1416" y="2852928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Sakai Takayuki · Yamawaki · Suisin · Myojin · Yoshihiro · Sakai Haruhiko · Sakai Ichiji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1416" y="334670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Професійна суші-кухня. В Україні — одиничні позиції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73567" y="1554480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74736" y="1719072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Ечідзен, Фукуї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4736" y="1956816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700 років. Takefu Knife Village. Піонери порошкових сталей.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74736" y="243230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74736" y="254203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4F7C"/>
                </a:solidFill>
                <a:latin typeface="Segoe UI"/>
              </a:rPr>
              <a:t>5 320 – 16 677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22992" y="2596896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3 брендів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74736" y="2852928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Takamura · Anryu · Etsu / Ittetsu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74736" y="334670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C94F7C"/>
                </a:solidFill>
                <a:latin typeface="Segoe UI"/>
              </a:rPr>
              <a:t>Найвища ціна за грам. Купує тільки ентузіаст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3767328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3767328"/>
            <a:ext cx="3584448" cy="457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" y="3931920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Тоса, Коті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" y="4169664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400+ років. Вільна ковка: один коваль веде ніж від заготовки до кромки.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" y="4645152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8096" y="47548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E9EA6"/>
                </a:solidFill>
                <a:latin typeface="Segoe UI"/>
              </a:rPr>
              <a:t>2 610 – 10 035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16352" y="4809744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4 брендів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5065776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 / Tosauchi · HONMAMON · Fukamizu · Hokiyama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" y="5559552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Куроучі-естетика. Найглибша артизанальна лінія в Україні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70248" y="3767328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70248" y="3767328"/>
            <a:ext cx="3584448" cy="457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71416" y="3931920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Цубаме-Сандзьо, Ніїґата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71416" y="4169664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700 років, Ніїґата. Ковальські майстерні та інструмент.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71416" y="4645152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71416" y="47548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37A169"/>
                </a:solidFill>
                <a:latin typeface="Segoe UI"/>
              </a:rPr>
              <a:t>9 900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9672" y="4809744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 брендів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1416" y="5065776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Tsukasa (Hinoura) · Shimomura Kihan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1416" y="5559552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37A169"/>
                </a:solidFill>
                <a:latin typeface="Segoe UI"/>
              </a:rPr>
              <a:t>Дві позиції на всю країну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73567" y="3767328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973567" y="3767328"/>
            <a:ext cx="3584448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4736" y="3931920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Хіросакі, Аоморі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74736" y="4169664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Nigara Hamono: 350 років, ковалі клану Цуґару, 8 поколінь.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74736" y="4645152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74736" y="47548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03B4B"/>
                </a:solidFill>
                <a:latin typeface="Segoe UI"/>
              </a:rPr>
              <a:t>14 800 – 16 740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22992" y="4809744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 брендів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74736" y="5065776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Nigara Hamono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74736" y="5559552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Два ножі на всю країну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6928" y="6035040"/>
            <a:ext cx="5413248" cy="69103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6928" y="6035040"/>
            <a:ext cx="36576" cy="69103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2" y="619048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ВАЖЛИВО ДЛЯ ЗАКУПІВЛІ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4672" y="6419088"/>
            <a:ext cx="4937760" cy="160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Секі продасть вам контейнер. Сакаї, Тоса й Аоморі — ні: там кують поштучно.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17920" y="6035040"/>
            <a:ext cx="5413248" cy="69103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217920" y="6035040"/>
            <a:ext cx="36576" cy="69103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55664" y="619048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НАСЛІДОК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55664" y="6419088"/>
            <a:ext cx="4937760" cy="160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Масштабований постачальник в Україні може бути тільки з Секі. Решта — вітрина.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ХТО ЦЕ ПРОДАЄ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Чотирнадцять продавців, два з них тримають нішу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Повний перелік каналів, де в Україні можна купити ніж японського виробництва, із глибиною й цінами жовтня 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2331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864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 КАНАЛУ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1554480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ЯПОН. БРЕНДІВ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155448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ЯПОН.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554480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2208" y="1554480"/>
            <a:ext cx="3063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ЗА КАНАЛ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32788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73936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WildCat / IzzaBugra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8648" y="17739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96128" y="177393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1773936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970 – 16 677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1773936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Найширша артизанальна добірка країни. Прямий закуп у Японії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3128" y="1819656"/>
            <a:ext cx="685800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93792" y="1773936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066543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ROKS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206654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96128" y="2066543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83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2066543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990 – 16 740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2208" y="2066543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із Nigara і Myojin. Дилерства не заявляє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53128" y="2112263"/>
            <a:ext cx="215537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93792" y="2066543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" y="2318003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2359151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ProfiMax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98648" y="235915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96128" y="2359151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56248" y="2359151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38 640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2208" y="2359151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Найширший промисловий асортимент. Країну маркує сам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53128" y="2404871"/>
            <a:ext cx="2860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93792" y="2359151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2651759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Епіцентр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98648" y="265175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96128" y="2651759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56248" y="2651759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2 787 – 11 271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2651759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Suncraft 97, Tojiro 30, KAI 6. Єдиний офлайн-масштаб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53128" y="2697479"/>
            <a:ext cx="97971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3792" y="2651759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3776" y="2903219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2944367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yaxell.com.ua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98648" y="294436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96128" y="2944367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100+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56248" y="2944367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2 145 – 70 102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22208" y="2944367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Ексклюзивний імпортер Yaxell, шоурум Київ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453128" y="2990087"/>
            <a:ext cx="5094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93792" y="2944367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3236975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zwilling.in.ua / LaCocotte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98648" y="323697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96128" y="3236975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56248" y="3236975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5 900 – 43 020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22208" y="3236975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Miyabi через представництво Zwilling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53128" y="3282695"/>
            <a:ext cx="5094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193792" y="3236975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3776" y="3488435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529583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rezat.com.ua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98648" y="352958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96128" y="3529583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300+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56248" y="3529583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217 – 3 757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22208" y="3529583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Найнижчі ціни на справжню Японію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453128" y="3575303"/>
            <a:ext cx="14499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93792" y="3529583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" y="3822191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volod.in.ua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898648" y="382219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96128" y="3822191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40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56248" y="3822191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24 038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22208" y="3822191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Глибина по Kasumi, традиційні ножі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53128" y="3867911"/>
            <a:ext cx="74458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193792" y="3822191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93776" y="4073651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6928" y="4114799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japan-knife.com.ua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898648" y="411479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96128" y="4114799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60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56248" y="4114799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399 – 9 999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22208" y="4114799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Ножі + водні камені в одному місці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453128" y="4160519"/>
            <a:ext cx="192024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93792" y="4114799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" y="4407407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Hangiri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898648" y="440740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Суші-спеціаліст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596128" y="4407407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56248" y="4407407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4 420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22208" y="4407407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Sekiryu, Sakai Takayuki, KAI. Односторонні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53128" y="4453127"/>
            <a:ext cx="97971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193792" y="4407407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93776" y="4658868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66928" y="4700016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ibis.net.ua / x-gear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898648" y="47000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Збройовий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96128" y="470001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56248" y="4700016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150 – 16 360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22208" y="4700016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Kanetsune через збройовий канал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453128" y="4745736"/>
            <a:ext cx="5094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193792" y="4700016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6928" y="499262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Kagura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98648" y="499262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Опт + роздріб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596128" y="4992624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56248" y="4992624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22208" y="4992624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Заявляє опт — єдиний такий канал у японській ніші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53128" y="5038344"/>
            <a:ext cx="50945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193792" y="4992624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93776" y="5244084"/>
            <a:ext cx="11164824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66928" y="5285232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Rozetka / m.ua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98648" y="528523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596128" y="5285232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556248" y="5285232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2 618 – 13 195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522208" y="5285232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Global і фільтр «країна: Японія»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453128" y="5330952"/>
            <a:ext cx="74458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93792" y="5285232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" y="5577840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AL-Group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898648" y="557784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Опт HoReCa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596128" y="5577840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556248" y="5577840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 – 13 290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22208" y="5577840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Yaxell і Kaneyoshi серед 523 проф. ножів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453128" y="5623560"/>
            <a:ext cx="74458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193792" y="5577840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66928" y="568756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66928" y="5687568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04672" y="58430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КОНЦЕНТРАЦІЯ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04672" y="607161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WildCat і ROKS — 36 брендів із 45.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Без них ніша складається з п'яти марок.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4297680" y="568756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297680" y="5687568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535424" y="58430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ЦІНОВИЙ РОЗКИД НА ТОЙ САМИЙ БРЕНД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535424" y="607161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Tojiro: 599 грн у ProfiMax проти 13 799 грн у WildCat.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Різні лінійки, один бренд.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8046720" y="5687568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8046720" y="5687568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284464" y="58430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ЄДИНИЙ ОПТ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84464" y="6071616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Kagura заявляє гуртові умови. Це єдиний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оптовий канал у японській ніші.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03504" y="645566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«Японських брендів» — кількість марок японського виробництва в каталозі продавця. SKU — сумарна кількість японських позицій, оцінка за публічним каталогом.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ШИРИНА ПРОТИ ГЛИБИНИ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Сорок п'ять брендів, але полиці немає у жодного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Кожен бренд — точка: горизонталь — скільки позицій у країні, вертикаль — медіанна ціна. Логарифмічна шкала по обох осях.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1700784"/>
            <a:ext cx="6675120" cy="3749039"/>
          </a:xfrm>
          <a:prstGeom prst="rect">
            <a:avLst/>
          </a:prstGeom>
          <a:solidFill>
            <a:srgbClr val="F7F8FB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4440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98000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96832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01921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00753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5482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64314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69403" y="1700784"/>
            <a:ext cx="7315" cy="3749039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68235" y="5504688"/>
            <a:ext cx="4023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34440" y="5242227"/>
            <a:ext cx="6675120" cy="7315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" y="5178219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34440" y="4220157"/>
            <a:ext cx="6675120" cy="7315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156149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34440" y="3100068"/>
            <a:ext cx="6675120" cy="7315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" y="3036060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34440" y="2077999"/>
            <a:ext cx="6675120" cy="7315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" y="2013991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30k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687568"/>
            <a:ext cx="6675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ПОЗИЦІЙ У КАТАЛОГАХ УКРАЇНИ, ШТ (лог)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1499616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МЕДІАННА ЦІНА, ГРН (лог)</a:t>
            </a:r>
          </a:p>
        </p:txBody>
      </p:sp>
      <p:sp>
        <p:nvSpPr>
          <p:cNvPr id="31" name="Oval 30"/>
          <p:cNvSpPr/>
          <p:nvPr/>
        </p:nvSpPr>
        <p:spPr>
          <a:xfrm>
            <a:off x="7739924" y="2686472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43928" y="1839732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10958" y="3168192"/>
            <a:ext cx="155448" cy="155448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251101" y="3013179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697139" y="3128254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547398" y="2190209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212599" y="3206458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931095" y="3296830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02673" y="3200750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083837" y="4067968"/>
            <a:ext cx="155448" cy="155448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080119" y="3038817"/>
            <a:ext cx="155448" cy="155448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56716" y="4520114"/>
            <a:ext cx="155448" cy="155448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84148" y="3376300"/>
            <a:ext cx="100584" cy="100584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56716" y="3991610"/>
            <a:ext cx="155448" cy="155448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107551" y="2711185"/>
            <a:ext cx="100584" cy="100584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351168" y="3634655"/>
            <a:ext cx="155448" cy="155448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926927" y="3156728"/>
            <a:ext cx="155448" cy="155448"/>
          </a:xfrm>
          <a:prstGeom prst="ellipse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84148" y="2573964"/>
            <a:ext cx="100584" cy="100584"/>
          </a:xfrm>
          <a:prstGeom prst="ellipse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642595" y="3425693"/>
            <a:ext cx="155448" cy="155448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328225" y="3967244"/>
            <a:ext cx="100584" cy="100584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84148" y="3059126"/>
            <a:ext cx="100584" cy="100584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080119" y="2598557"/>
            <a:ext cx="155448" cy="155448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328225" y="4328387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328225" y="3712003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84148" y="2745761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84148" y="2863256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84148" y="3657606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84148" y="3203164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107551" y="4306581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84148" y="4021154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84148" y="4021154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64336" y="2691044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KAI / Shun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68340" y="1844304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75513" y="3017751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Suncraft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35370" y="3172764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717890"/>
                </a:solidFill>
                <a:latin typeface="Segoe UI"/>
              </a:rPr>
              <a:t>Tojiro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21551" y="2821930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99269" y="3360770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Kanetsune Seki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39191" y="3585713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1E9EA6"/>
                </a:solidFill>
                <a:latin typeface="Segoe UI"/>
              </a:rPr>
              <a:t>Tosa / Tosauchi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743994" y="2194781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Miyabi (Zwilling)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09195" y="3211030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Kasumi / Sumikama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27691" y="3301402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23523" y="3161300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94F7C"/>
                </a:solidFill>
                <a:latin typeface="Segoe UI"/>
              </a:rPr>
              <a:t>Takamura Hamono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76715" y="2688325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5D4B96"/>
                </a:solidFill>
                <a:latin typeface="Segoe UI"/>
              </a:rPr>
              <a:t>Myojin (Naohito)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76715" y="2447681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03B4B"/>
                </a:solidFill>
                <a:latin typeface="Segoe UI"/>
              </a:rPr>
              <a:t>Nigara Hamono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353312" y="2240208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C94F7C"/>
                </a:solidFill>
                <a:latin typeface="Segoe UI"/>
              </a:rPr>
              <a:t>Etsu / Ittetsu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353312" y="2878349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717890"/>
                </a:solidFill>
                <a:latin typeface="Segoe UI"/>
              </a:rPr>
              <a:t>Hatsukokoro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53312" y="3151292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717890"/>
                </a:solidFill>
                <a:latin typeface="Segoe UI"/>
              </a:rPr>
              <a:t>JCK Natures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5852160"/>
            <a:ext cx="100584" cy="100584"/>
          </a:xfrm>
          <a:prstGeom prst="ellipse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389888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Секі</a:t>
            </a:r>
          </a:p>
        </p:txBody>
      </p:sp>
      <p:sp>
        <p:nvSpPr>
          <p:cNvPr id="80" name="Oval 79"/>
          <p:cNvSpPr/>
          <p:nvPr/>
        </p:nvSpPr>
        <p:spPr>
          <a:xfrm>
            <a:off x="2203704" y="5852160"/>
            <a:ext cx="100584" cy="100584"/>
          </a:xfrm>
          <a:prstGeom prst="ellipse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359152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Сакаї</a:t>
            </a:r>
          </a:p>
        </p:txBody>
      </p:sp>
      <p:sp>
        <p:nvSpPr>
          <p:cNvPr id="82" name="Oval 81"/>
          <p:cNvSpPr/>
          <p:nvPr/>
        </p:nvSpPr>
        <p:spPr>
          <a:xfrm>
            <a:off x="3172968" y="5852160"/>
            <a:ext cx="100584" cy="100584"/>
          </a:xfrm>
          <a:prstGeom prst="ellipse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28416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Ечідзен</a:t>
            </a:r>
          </a:p>
        </p:txBody>
      </p:sp>
      <p:sp>
        <p:nvSpPr>
          <p:cNvPr id="84" name="Oval 83"/>
          <p:cNvSpPr/>
          <p:nvPr/>
        </p:nvSpPr>
        <p:spPr>
          <a:xfrm>
            <a:off x="4142232" y="5852160"/>
            <a:ext cx="100584" cy="100584"/>
          </a:xfrm>
          <a:prstGeom prst="ellipse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297680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Тоса</a:t>
            </a:r>
          </a:p>
        </p:txBody>
      </p:sp>
      <p:sp>
        <p:nvSpPr>
          <p:cNvPr id="86" name="Oval 85"/>
          <p:cNvSpPr/>
          <p:nvPr/>
        </p:nvSpPr>
        <p:spPr>
          <a:xfrm>
            <a:off x="5111496" y="5852160"/>
            <a:ext cx="100584" cy="100584"/>
          </a:xfrm>
          <a:prstGeom prst="ellipse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266944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Сандзьо</a:t>
            </a:r>
          </a:p>
        </p:txBody>
      </p:sp>
      <p:sp>
        <p:nvSpPr>
          <p:cNvPr id="88" name="Oval 87"/>
          <p:cNvSpPr/>
          <p:nvPr/>
        </p:nvSpPr>
        <p:spPr>
          <a:xfrm>
            <a:off x="6080760" y="5852160"/>
            <a:ext cx="100584" cy="100584"/>
          </a:xfrm>
          <a:prstGeom prst="ellipse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36208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Аоморі</a:t>
            </a:r>
          </a:p>
        </p:txBody>
      </p:sp>
      <p:sp>
        <p:nvSpPr>
          <p:cNvPr id="90" name="Oval 89"/>
          <p:cNvSpPr/>
          <p:nvPr/>
        </p:nvSpPr>
        <p:spPr>
          <a:xfrm>
            <a:off x="7050024" y="5852160"/>
            <a:ext cx="100584" cy="100584"/>
          </a:xfrm>
          <a:prstGeom prst="ellipse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205472" y="5833872"/>
            <a:ext cx="786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регіон н/д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138160" y="1700784"/>
            <a:ext cx="349300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138160" y="1700784"/>
            <a:ext cx="36576" cy="17373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375904" y="1856232"/>
            <a:ext cx="3017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ПОКАЗУЄ ЦЕЙ ГРАФІК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75904" y="2084832"/>
            <a:ext cx="301752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Правий нижній кут — промисловість: багато позицій, доступна ціна.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Там п'ять марок, і вони тримають ринок.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Увесь лівий край — по одній-дві позиції на бренд.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не асортимент, це вітрина для ентузіаста.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138160" y="3621024"/>
            <a:ext cx="349300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138160" y="3621024"/>
            <a:ext cx="36576" cy="17373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375904" y="3776472"/>
            <a:ext cx="30175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ПОРОЖНІЙ КВАДРАНТ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75904" y="4005072"/>
            <a:ext cx="301752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Правий верхній кут — багато позицій за високою ціною — порожній.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Жоден преміальний японський бренд не має в Україні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ані глибини лінійки, ані полиці.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і є відповідь, чому ніша не росте.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3504" y="616305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На графіку — 24 бренди, для яких вдалося встановити і кількість позицій, і ціну. Медіанна ціна = середина спостереженого діапазону, а не зважена медіана продажів.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КАТАЛОГ · 1 · KAI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KAI і Shun: найвідоміше японське ім'я в Україні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Справжні картки товарів із українських магазинів, жовтень 2026. Секі, з 1908 року. 140 позицій у каталогах, від Wasabi Black до Shun Premier.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103901d0030d93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600200"/>
            <a:ext cx="1624583" cy="8412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494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овочевий з ножнами KAI DG · 3002, 95мм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726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404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739eaf28577353d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600200"/>
            <a:ext cx="1624583" cy="8412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3898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898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Wasabi Black 6715Y Янагіба, 15см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3898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2 016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808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a19025684c8a49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600200"/>
            <a:ext cx="1624583" cy="8412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8302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Wasabi Black 6716N Накірі, 16.5см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2 184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9d4363a8216c287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600200"/>
            <a:ext cx="1624583" cy="8412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2706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2706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WASABI Black 6721Y Янагіба, 21см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706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2 660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616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568b7efb7d9562a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600200"/>
            <a:ext cx="1624583" cy="84124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7110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7110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Wasabi Black 6715D Deba, 15см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110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2 856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2020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6ca27270bad66bb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600200"/>
            <a:ext cx="1624583" cy="8412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15143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15143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Wasabi Black 6724Y Янагіба, 24см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15143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3 499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6f93c445467b357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191256"/>
            <a:ext cx="1624583" cy="84124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494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Seki Magoroku Ginju AK · 5068 Янагіба, 24см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3 599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4404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1d431628ef0d8e6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191256"/>
            <a:ext cx="1624583" cy="84124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3898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3898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Seki Magoroku Kinju AK · 1106 Янагіба, 24см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3898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3 999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8808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c08b9413b3672dc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191256"/>
            <a:ext cx="1624583" cy="84124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8302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8302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Seki Magoroku Red Wood MGR · 0210Y Янагіба, 21см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302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4 130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3212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356d737d97eaf6e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191256"/>
            <a:ext cx="1624583" cy="84124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2706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2706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SHUN CLASSIC DM · 0700 овочевий, 90мм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2706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5 670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7616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cd88688f11eee62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191256"/>
            <a:ext cx="1624583" cy="841248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7110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7110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SHUN CLASSIC DM · 0714 овочевий, 90мм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7110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5 670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2020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299b9e891ef984f7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191256"/>
            <a:ext cx="1624583" cy="841248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15143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15143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SHUN CLASSIC DM · 0715 овочевий вигнутий, 6см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15143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5 670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6424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6692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78f24402ef88c62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0936" y="4782312"/>
            <a:ext cx="1624583" cy="841248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9494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SHUN CLASSIC DM · 0711 для стейка, 12см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6 160 грн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4404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41096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p_c2d451670ae00d42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74976" y="4782312"/>
            <a:ext cx="1624583" cy="84124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253898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53898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SHUN CLASSIC DM · 0716 універсальний, 10см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53898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6 160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8808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25500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052b23ee8925de45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9016" y="4782312"/>
            <a:ext cx="1624583" cy="84124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438302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38302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SHUN CLASSIC DM · 0701 універсальний, 15см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38302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6 440 грн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53212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09904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p_26f230c00ed575d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63056" y="4782312"/>
            <a:ext cx="1624583" cy="84124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622706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2706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Набір з 3 · х ножів KAI WASABI Black 67S · 300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2706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7 280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37616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943087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p_440a568ad2d31074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07095" y="4782312"/>
            <a:ext cx="1624583" cy="841248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807110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07110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SHUN PREMIER TIM MALZER TDM · 1700 для овочів, 9см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7110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8 050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22020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787127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p_cf9a13cda2dcd59a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851135" y="4782312"/>
            <a:ext cx="1624583" cy="841248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9915143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915143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SHUN CLASSIC DM · 0710 обвалочний, 150мм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915143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8 400 грн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06424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03504" y="6419088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 і ціни — картки товарів українських магазинів, жовтень 2026. Ціна за один ніж, роздріб, із урахуванням наявних знижок.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КАТАЛОГ · 2 · YAXELL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Yaxell: порошкова SG-2 і дамаск до 193 шарів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Секі, з 1932 року. Єдиний японський бренд із ексклюзивним імпортером і шоурумом у Києві. Верхня межа — 70 102 грн за ніж.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86e37b12f4a5c8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600200"/>
            <a:ext cx="1624583" cy="8412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494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для стейка Yaxell RAN 36013, 113мм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4 657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404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2fa25a18bb5f8f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600200"/>
            <a:ext cx="1624583" cy="8412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3898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898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універсальний Yaxell RAN 36002, 120мм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3898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4 657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808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09e17d3f3f8160b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600200"/>
            <a:ext cx="1624583" cy="8412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8302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овочевий Yaxell ZEN 35535, 100мм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4 799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2abbdc4c6e05304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600200"/>
            <a:ext cx="1624583" cy="8412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2706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2706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універсальний Yaxell ZEN 35502, 120мм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706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4 996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616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440391bcbb42d53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600200"/>
            <a:ext cx="1624583" cy="84124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7110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7110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обвалочний Yaxell RAN 36036, 150мм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110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5 538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2020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35f771ec834149f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600200"/>
            <a:ext cx="1624583" cy="8412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15143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15143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Сантоку Yaxell Zen 35512, 125мм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15143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5 538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bdaa00ce8854db3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191256"/>
            <a:ext cx="1624583" cy="84124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494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для нарізки Yaxell ZEN 35507, 180мм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6 293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4404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d66b9971b114563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191256"/>
            <a:ext cx="1624583" cy="84124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3898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3898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обвалочний гнучкий Yaxell Ran 36015, 160мм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3898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6 401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8808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8b918dac079e061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191256"/>
            <a:ext cx="1624583" cy="84124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8302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8302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для нарізки Yaxell RAN 36007, 180мм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302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6 671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3212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d8fd13b9868c54e8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191256"/>
            <a:ext cx="1624583" cy="84124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2706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2706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Кухарський Шеф Yaxell ZEN 35500, 200мм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2706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6 671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7616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35b4be683e412f3b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191256"/>
            <a:ext cx="1624583" cy="841248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7110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7110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Сантоку Yaxell ZEN 35501, 165мм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7110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6 671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2020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d0f5da3290dcbad5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191256"/>
            <a:ext cx="1624583" cy="841248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15143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15143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Накірі Yaxell ZEN 35504, 180мм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15143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6 999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6424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6692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a377f344f4fc447b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0936" y="4782312"/>
            <a:ext cx="1624583" cy="841248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9494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для нарізки Yaxell ZEN 35539, 230мм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7 048 грн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4404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41096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p_c2cca0d081b29739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74976" y="4782312"/>
            <a:ext cx="1624583" cy="84124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253898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53898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Kiritsuke Yaxell ZEN 35534, 200мм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53898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7 048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8808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25500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4a3597fc7e430725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9016" y="4782312"/>
            <a:ext cx="1624583" cy="84124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438302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38302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обвалочний Yaxell ZEN 35506, 150мм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38302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7 217 грн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53212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09904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p_d6cad6050c5bc552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63056" y="4782312"/>
            <a:ext cx="1624583" cy="84124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622706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2706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Сантоку Yaxell RAN 36001, 165мм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2706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7 426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37616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943087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p_7fdd2465e8592a43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07095" y="4782312"/>
            <a:ext cx="1624583" cy="841248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807110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07110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для хліба Yaxell RAN 36008, 230мм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7110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7 804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22020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787127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p_89d46937973d4c01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851135" y="4782312"/>
            <a:ext cx="1624583" cy="841248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9915143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915143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Кухарський Шеф Yaxell RAN 36000, 200мм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915143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7 804 грн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06424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03504" y="6419088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 і ціни — картки товарів українських магазинів, жовтень 2026. Ціна за один ніж, роздріб, із урахуванням наявних знижок.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КАТАЛОГ · 3 · TOJIRO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Tojiro: найширша присутність по каналах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З 1953 року, три заводи в Японії. Продається в ProfiMax, Епіцентрі, WildCat, Europosud. Лінійки DP, Shirogami, HSS FAX-18.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ed4007ff5caf95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600200"/>
            <a:ext cx="1624583" cy="8412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494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Shirogami Kasumi Петті ніж 120 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3 119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404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192a606c86cb3c0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600200"/>
            <a:ext cx="1624583" cy="8412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3898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898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для овочів Tojiro DP F · 800, 9cм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3898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3 499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808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8eff4769f6c65ef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600200"/>
            <a:ext cx="1624583" cy="8412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8302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овочевий Tojiro DP F · 799, 7см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3 712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9925d171d4b15a1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600200"/>
            <a:ext cx="1624583" cy="8412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2706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2706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універсальний Tojiro DP Damascus F · 650, 12см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706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4 299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616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c1781ec15c4150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600200"/>
            <a:ext cx="1624583" cy="84124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7110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7110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овочевий Tojiro Flash FF · PA100, 10см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110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4 799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2020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86c635f6ffb93dc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600200"/>
            <a:ext cx="1624583" cy="8412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15143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15143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Shirogami Kasumi Шеф ніж, 180 мм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15143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4 976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bad99ac04b8df38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191256"/>
            <a:ext cx="1624583" cy="84124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494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ніж Tojiro DP F · 502 Накірі, 16.5см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5 299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4404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3c0cc96a3534528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191256"/>
            <a:ext cx="1624583" cy="84124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3898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3898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обвалочний Tojiro DP F · 803, 15см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3898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5 327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8808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34ebb059e0a89d3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191256"/>
            <a:ext cx="1624583" cy="84124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8302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8302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кухонний Kiritsuke Tojiro DP F · 795, 16см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302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5 336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3212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6d036a7848a6097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191256"/>
            <a:ext cx="1624583" cy="84124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2706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2706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Кухарський Шеф Tojiro Basic Damascus F · 332, 18см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2706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5 499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7616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c2aab01491541b74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191256"/>
            <a:ext cx="1624583" cy="841248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7110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7110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для нарізки Tojiro DP F · 826, 21см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7110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5 699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2020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647cfba80dc5ef9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191256"/>
            <a:ext cx="1624583" cy="841248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15143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15143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овочевий Tojiro Shippu Black FD · 1591, 9см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15143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5 699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6424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6692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7db2d390eca40f9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0936" y="4782312"/>
            <a:ext cx="1624583" cy="841248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9494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ніж Tojiro Basic Damascus F · 331 Сантоку, 17см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5 899 грн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4404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41096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p_be12c1792f67965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74976" y="4782312"/>
            <a:ext cx="1624583" cy="84124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253898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53898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кухонний Сантоку Tojiro DP F · 503, 17см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53898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5 899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8808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25500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7e82938614bc25d8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9016" y="4782312"/>
            <a:ext cx="1624583" cy="84124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438302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38302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Кухарський Шеф Tojiro DP F · 807, 18см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38302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5 999 грн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53212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09904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p_b0a9611356711716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63056" y="4782312"/>
            <a:ext cx="1624583" cy="84124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622706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2706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Шеф · Ніж TOJIRO DP F · 810, 27см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2706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6 199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37616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943087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p_05eeb89dca063eaa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07095" y="4782312"/>
            <a:ext cx="1624583" cy="841248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807110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07110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для нарізки Tojiro DP F · 805, 24см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7110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7 399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22020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787127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p_902e69de90390fe3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851135" y="4782312"/>
            <a:ext cx="1624583" cy="841248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9915143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915143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обвалочний Tojiro DP F · 827, 15см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915143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7 482 грн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06424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03504" y="6419088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 і ціни — картки товарів українських магазинів, жовтень 2026. Ціна за один ніж, роздріб, із урахуванням наявних знижок.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КАТАЛОГ · 4 · KASUMI, SATAKE, SUNCRAFT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Доступна промислова Японія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Kasumi — дамаск VG-10 за доступною ціною. Satake — найдешевший вхід у справжню Японію, від 849 грн. Suncraft — єдиний преміум у великому форматі.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17b2214e12aa80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600200"/>
            <a:ext cx="1624583" cy="8412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494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9A50B"/>
                </a:solidFill>
                <a:latin typeface="Segoe UI"/>
              </a:rPr>
              <a:t>Satake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Шеф малий Satake Swordsmith 803 · 274, 135мм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1 149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404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b4ddd435610c944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600200"/>
            <a:ext cx="1624583" cy="8412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3898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9A50B"/>
                </a:solidFill>
                <a:latin typeface="Segoe UI"/>
              </a:rPr>
              <a:t>Satake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898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Кухарський Шеф Satake Saku 802 · 369 Air Holes, 180м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3898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1 349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808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dec5549db396bc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600200"/>
            <a:ext cx="1624583" cy="8412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8302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9A50B"/>
                </a:solidFill>
                <a:latin typeface="Segoe UI"/>
              </a:rPr>
              <a:t>Kasumi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овочевий Kasumi TORA 36844, 9см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1 991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3200f09701a0dbc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600200"/>
            <a:ext cx="1624583" cy="8412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2706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9A50B"/>
                </a:solidFill>
                <a:latin typeface="Segoe UI"/>
              </a:rPr>
              <a:t>Satake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2706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Кухарський Шеф Satake Swordsmith Black 805 · 742, 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706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2 099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616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0c271141c79432b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600200"/>
            <a:ext cx="1624583" cy="84124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7110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9A50B"/>
                </a:solidFill>
                <a:latin typeface="Segoe UI"/>
              </a:rPr>
              <a:t>Kasumi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7110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універсальний Kasumi TORA 36845, 15см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110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2 390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2020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294991e29505dcb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600200"/>
            <a:ext cx="1624583" cy="8412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15143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9A50B"/>
                </a:solidFill>
                <a:latin typeface="Segoe UI"/>
              </a:rPr>
              <a:t>Kasumi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15143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Кухарський Шеф Kasumi TORA 36842, 18см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15143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2 833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94896358091c4cd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191256"/>
            <a:ext cx="1624583" cy="84124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494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9A50B"/>
                </a:solidFill>
                <a:latin typeface="Segoe UI"/>
              </a:rPr>
              <a:t>Kasumi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кухонний Nakiri Kasumi TORA 36847, 16.5см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2 920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4404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b93155d731a8680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191256"/>
            <a:ext cx="1624583" cy="84124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3898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9A50B"/>
                </a:solidFill>
                <a:latin typeface="Segoe UI"/>
              </a:rPr>
              <a:t>Satake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3898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Набір із 2 · х кухонних ножів Satake Swordsmith HG83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3898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3 099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8808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92d9002ba53f315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191256"/>
            <a:ext cx="1624583" cy="84124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8302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9A50B"/>
                </a:solidFill>
                <a:latin typeface="Segoe UI"/>
              </a:rPr>
              <a:t>Kasumi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8302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Янагіба Kasumi TORA 36849 Sashimi, 27см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302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3 999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3212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ee5f1bd48894bb0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191256"/>
            <a:ext cx="1624583" cy="84124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2706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9A50B"/>
                </a:solidFill>
                <a:latin typeface="Segoe UI"/>
              </a:rPr>
              <a:t>Kasumi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2706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овочевий Kasumi Damascus 82008, 80мм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2706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5 799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7616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bfc268358c6f24cc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191256"/>
            <a:ext cx="1624583" cy="841248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7110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9A50B"/>
                </a:solidFill>
                <a:latin typeface="Segoe UI"/>
              </a:rPr>
              <a:t>Kasumi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7110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універсальний Kasumi Damascus 82012, 120мм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7110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6 899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2020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4e4977c44b6184ab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191256"/>
            <a:ext cx="1624583" cy="841248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15143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9A50B"/>
                </a:solidFill>
                <a:latin typeface="Segoe UI"/>
              </a:rPr>
              <a:t>Kasumi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15143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Сантоку Kasumi Damascus 84013, 130мм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15143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7 199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6424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6692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44d80e6719f6ab8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0936" y="4782312"/>
            <a:ext cx="1624583" cy="841248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9494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9A50B"/>
                </a:solidFill>
                <a:latin typeface="Segoe UI"/>
              </a:rPr>
              <a:t>Kasumi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для тонкої нарізки Kasumi Damascus 86024, 240мм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7 699 грн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4404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41096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p_f467a8cd768f6ff2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74976" y="4782312"/>
            <a:ext cx="1624583" cy="84124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253898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9A50B"/>
                </a:solidFill>
                <a:latin typeface="Segoe UI"/>
              </a:rPr>
              <a:t>Kasumi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53898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обвалочний Kasumi Damascus 84016, 160мм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53898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7 799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8808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25500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ad0b8c9ecc1bb09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9016" y="4782312"/>
            <a:ext cx="1624583" cy="84124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438302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9A50B"/>
                </a:solidFill>
                <a:latin typeface="Segoe UI"/>
              </a:rPr>
              <a:t>Kasumi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38302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для хліба Kasumi Damascus 86025, 250мм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38302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7 909 грн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53212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09904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p_5dc4445a6da5f61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63056" y="4782312"/>
            <a:ext cx="1624583" cy="84124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622706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9A50B"/>
                </a:solidFill>
                <a:latin typeface="Segoe UI"/>
              </a:rPr>
              <a:t>Kasumi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2706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Шеф · Ніж кухарський Kasumi Damascus 88024, 240мм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2706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8 510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37616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943087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p_87d99522fa0b746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07095" y="4782312"/>
            <a:ext cx="1624583" cy="841248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807110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9A50B"/>
                </a:solidFill>
                <a:latin typeface="Segoe UI"/>
              </a:rPr>
              <a:t>Kasumi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07110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Кухарський Шеф Kasumi Damascus 88020, 200мм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7110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8 999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22020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787127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p_4d44c7d9a72a0a8b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851135" y="4782312"/>
            <a:ext cx="1624583" cy="841248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9915143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F9A50B"/>
                </a:solidFill>
                <a:latin typeface="Segoe UI"/>
              </a:rPr>
              <a:t>Kasumi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915143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Накірі Kasumi Damascus 84017, 180мм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915143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8 999 грн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06424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03504" y="6419088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 і ціни — картки товарів українських магазинів, жовтень 2026. Ціна за один ніж, роздріб, із урахуванням наявних знижок.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КАТАЛОГ · 5 · KANETSUGU, MASAHIRO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Недооцінені промислові марки Секі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Seki Kanetsugu — з 1899 року, серії Saiun і Zuiun. Masahiro — історичний бренд із мінімальною присутністю в українському роздробі.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7128bf6c491b2c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600200"/>
            <a:ext cx="1624583" cy="8412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494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Kanetsugu Miyabi Isshin Vegetable 2000 90мм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990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404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eb0f1c2dc92f1ce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600200"/>
            <a:ext cx="1624583" cy="8412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3898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898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Kanetsugu Miyabi Isshin Petty 2001 120мм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3898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1 140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808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018d55b3604d54f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600200"/>
            <a:ext cx="1624583" cy="8412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8302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Kanetsugu Miyabi Isshin Universal 2002 150мм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1 290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d404e0b03ed9cb9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600200"/>
            <a:ext cx="1624583" cy="8412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2706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2706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Kanetsugu Miyabi Isshin Gyuto 2004 180мм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706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1 560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616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b5dee4d6e1116ca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600200"/>
            <a:ext cx="1624583" cy="84124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7110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7110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Kanetsugu Miyabi Isshin Santoku 2003 170мм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110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1 590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2020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078aa5c03f953f7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600200"/>
            <a:ext cx="1624583" cy="8412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15143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15143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Kanetsugu Miyabi Isshin Slicer 2006 210мм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15143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1 760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447b4652df2ceb4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191256"/>
            <a:ext cx="1624583" cy="84124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494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Kanetsugu Miyabi Isshin Nakiri 2007 165мм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1 760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4404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d64497adff3ddd6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191256"/>
            <a:ext cx="1624583" cy="84124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3898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3898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Kanetsugu Miyabi Isshin Chief 2005 210мм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3898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1 790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8808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ab3649931429289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191256"/>
            <a:ext cx="1624583" cy="84124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8302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Masahiro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8302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Petty MRS · 30 10696 120мм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302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2 400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3212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70336881e514cb0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191256"/>
            <a:ext cx="1624583" cy="84124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2706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Masahiro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2706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Chief MC · 700 10375 180мм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2706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2 900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7616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e1797c450b2bf96c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191256"/>
            <a:ext cx="1624583" cy="841248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7110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Masahiro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7110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Santoku MRS · 30 10687 150мм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7110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3 100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2020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477d31cd512e839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191256"/>
            <a:ext cx="1624583" cy="841248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15143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Masahiro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15143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Santoku MRS · 30 10691 165мм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15143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3 100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6424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6692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ff3d74618456bd4f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0936" y="4782312"/>
            <a:ext cx="1624583" cy="841248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9494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Masahiro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Bunka MC · 80 10303 165мм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3 500 грн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4404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41096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p_3f3a0a2fec3a8e1b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74976" y="4782312"/>
            <a:ext cx="1624583" cy="84124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253898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Masahiro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53898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Nakiri MC · 80 10302 160мм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53898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3 500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8808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25500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17e1ea96ff8afde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9016" y="4782312"/>
            <a:ext cx="1624583" cy="84124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438302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Masahiro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38302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Santoku MC · 80 10301 165мм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38302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3 500 грн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53212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09904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p_0dcecef27f9b03e3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63056" y="4782312"/>
            <a:ext cx="1624583" cy="84124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622706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Masahiro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2706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Santoku MC · 700 10371 165мм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2706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3 850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37616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943087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p_4b3bd898102007d3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07095" y="4782312"/>
            <a:ext cx="1624583" cy="841248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807110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07110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Kanetsugu SAIUN 9000 90мм VG10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7110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3 980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22020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787127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p_49297f86a776c7b4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851135" y="4782312"/>
            <a:ext cx="1624583" cy="841248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9915143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4820A"/>
                </a:solidFill>
                <a:latin typeface="Segoe UI"/>
              </a:rPr>
              <a:t>Masahiro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915143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Chief MRS · 30 10692 180мм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915143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4 100 грн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06424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03504" y="6419088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 і ціни — картки товарів українських магазинів, жовтень 2026. Ціна за один ніж, роздріб, із урахуванням наявних знижок.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КАТАЛОГ · 6 · ТОСА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Куроучі: чорна окалина і вільна ковка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Тоса, Коті — 400 років вільної ковки. Один коваль веде ніж від заготовки до кромки. Чорна окалина не декор, а захист вуглецевої сталі від корозії.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e5ebe5000ed404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600200"/>
            <a:ext cx="1624583" cy="8412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494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Kurouchi Petty 120мм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3 231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404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173565d78f94e5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600200"/>
            <a:ext cx="1624583" cy="8412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3898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Fukamizu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898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Sashimi · bocho Black 210мм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3898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3 463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808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ade2dd4112038c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600200"/>
            <a:ext cx="1624583" cy="8412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8302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Sashimi · bocho 210мм (двосторонній)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3 500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5f0fbea2d3575e2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600200"/>
            <a:ext cx="1624583" cy="8412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2706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2706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Migaki Yanagiba HC305 · W2 210мм японський кухонний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706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3 500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616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7e3dfb10d306389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600200"/>
            <a:ext cx="1624583" cy="84124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7110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7110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Sashimi · bocho 240мм (двосторонній)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110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4 400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2020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1fea116095ddb33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600200"/>
            <a:ext cx="1624583" cy="8412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15143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Fukamizu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15143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Sashimi · bocho Black 240мм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15143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4 451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4a22d10aa837c57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191256"/>
            <a:ext cx="1624583" cy="84124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494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Sashimi · bocho Black 210мм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4 600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4404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55482ff685a41e0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191256"/>
            <a:ext cx="1624583" cy="84124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3898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3898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Migaki Deba 165мм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3898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4 643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8808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e864b705ccf3307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191256"/>
            <a:ext cx="1624583" cy="84124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8302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Fukamizu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8302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Kurouchi Bunka 165мм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302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4 850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3212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a8e795965ab7b0f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191256"/>
            <a:ext cx="1624583" cy="84124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2706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2706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Sashimi · bocho Black 240мм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2706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4 850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7616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6a0a7ff62b366e0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191256"/>
            <a:ext cx="1624583" cy="841248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7110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7110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Kurouchi Inasa Bocho 165мм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7110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4 881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2020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7c3328a23e9d0f1f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191256"/>
            <a:ext cx="1624583" cy="841248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15143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15143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Sashimi · bocho 270мм (двосторонній)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15143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4 900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6424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6692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8f4acc16a05de101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0936" y="4782312"/>
            <a:ext cx="1624583" cy="841248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9494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Damascus Ajikiri 105мм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5 325 грн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4404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41096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p_f1f892f002073359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74976" y="4782312"/>
            <a:ext cx="1624583" cy="84124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253898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53898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Nakiri Kanto 54x165мм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53898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5 439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8808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25500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8694e913df497011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9016" y="4782312"/>
            <a:ext cx="1624583" cy="84124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438302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38302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Damascus Ajikiri 120мм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38302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5 467 грн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53212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09904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p_85099b6a72b7a389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63056" y="4782312"/>
            <a:ext cx="1624583" cy="84124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622706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2706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Santoku Damascus TADAYOSHI Tosa 150мм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2706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7 250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37616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943087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p_1b70562fb286f434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07095" y="4782312"/>
            <a:ext cx="1624583" cy="841248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807110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07110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ніж Tosauchi White 2 Deba 185 мм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7110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7 360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22020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787127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p_51c828b7917637c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851135" y="4782312"/>
            <a:ext cx="1624583" cy="841248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9915143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915143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Migaki Deba 195мм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915143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7 590 грн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06424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03504" y="6419088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 і ціни — картки товарів українських магазинів, жовтень 2026. Ціна за один ніж, роздріб, із урахуванням наявних знижок.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КАТАЛОГ · 7 · ЕЧІДЗЕН, САКАЇ, АОМОРІ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Верхній край: родинні кузні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Takamura — піонер порошкової сталі, «лазерний» спуск. Nigara — 350 років і 8 поколінь. Sakai Takayuki — традиційна ковка Сакаї.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a6ebd576ef95cb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600200"/>
            <a:ext cx="1624583" cy="8412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494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Takamura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Petty Migaki VG10 150мм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5 320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404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4420598814a7e7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600200"/>
            <a:ext cx="1624583" cy="8412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3898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Yoshihiro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898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Sashimi bocho 240мм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3898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6 747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808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cbcfa851ff3533e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600200"/>
            <a:ext cx="1624583" cy="8412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8302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Sakai Haruhiko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White 2 Янагіба 240мм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7 040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d668a55b9a948c9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600200"/>
            <a:ext cx="1624583" cy="8412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2706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Takamura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2706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Santoku Chromax Tsuchime 170мм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706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7 200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616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14eb99f8979a27f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600200"/>
            <a:ext cx="1624583" cy="84124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7110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Takamura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7110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Chromax Petty 130мм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110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7 400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2020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f186ae5f14528a0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600200"/>
            <a:ext cx="1624583" cy="8412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15143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Sakai Takayuki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15143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з ножнами SAKAI TAKAYUKI Yasugi Янагіба, 24см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15143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7 460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d3a9d02f25255f5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191256"/>
            <a:ext cx="1624583" cy="84124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494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Sakai Takayuki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Янагіба SAKAI TAKAYUKI Yasugi для лівші, 24см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7 640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4404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4ff972b19619406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191256"/>
            <a:ext cx="1624583" cy="84124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3898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Takamura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3898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Gyuto Migaki VG10 210мм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3898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7 950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8808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abc8038d07677199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191256"/>
            <a:ext cx="1624583" cy="84124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8302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Takamura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8302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Petty Migaki SG2 130мм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302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8 400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3212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bbf94061b9d289f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191256"/>
            <a:ext cx="1624583" cy="84124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2706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Takamura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2706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Tsuchime VG10 Petty 150 мм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2706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9 275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7616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2a25a79f2e0dd24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191256"/>
            <a:ext cx="1624583" cy="841248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7110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Takamura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7110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Santoku Migaki SG2 170мм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7110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10 200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2020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84bba27cdd6b914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191256"/>
            <a:ext cx="1624583" cy="841248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15143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Takamura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15143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Gyuto Migaki SG2 180мм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15143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10 200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6424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6692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f9f91b7b8c247e11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0936" y="4782312"/>
            <a:ext cx="1624583" cy="841248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9494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Takamura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Tsuchime VG10 Gyuto 210 мм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11 990 грн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4404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3504" y="6419088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 і ціни — картки товарів українських магазинів, жовтень 2026. Ціна за один ніж, роздріб, із урахуванням наявних знижок.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КАТАЛОГ · 8 · ІМЕННІ КОВАЛІ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Вуглецева сталь: Aogami, Shirogami, ZDP-189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Ножі, підписані іменем конкретної людини. Вуглець тримає кромку довше за будь-яку нержавійку — і іржавіє, якщо ніж не витерти насухо.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0bbab289a571d4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600200"/>
            <a:ext cx="1624583" cy="8412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494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Chang Keng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Damascus Petty, універсальний ніж, 123мм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970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404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17c16da6e1616b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600200"/>
            <a:ext cx="1624583" cy="8412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3898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Takanori Izumi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898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AUS · 10M damascus універсальний ніж 125 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3898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1 980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808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fae2f92fce02f1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600200"/>
            <a:ext cx="1624583" cy="8412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8302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Hanakumagawa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Funayuki ніж Shirogami 2 Steel 165 mm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2 390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28d04069b242868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600200"/>
            <a:ext cx="1624583" cy="8412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2706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Takanori Izumi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2706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AUS · 10M damascus сантоку ніж 170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706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2 640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616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dd5687c618f6e44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600200"/>
            <a:ext cx="1624583" cy="84124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7110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Takanori Izumi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7110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AUS · 10M damascus шеф ніж 210 мм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110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3 080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2020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b1ed76e050b7e21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600200"/>
            <a:ext cx="1624583" cy="8412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15143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Tomita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15143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Deba ніж Blue Steel #2 110 mm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15143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3 215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75e5db0ebf3ec5f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191256"/>
            <a:ext cx="1624583" cy="84124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494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Kanetaka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ніж Funayuki Yasukihagane Steel 155 mm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3 520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4404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8622e956156a07e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191256"/>
            <a:ext cx="1624583" cy="84124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3898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Hisashige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3898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Honyaki ніж із вуглецевої сталі 150мм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3898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3 520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8808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b7f0c9cf7bfc0d3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191256"/>
            <a:ext cx="1624583" cy="84124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8302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Tomita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8302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Double beveled Deba ніж Blue Steel 105 mm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302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3 539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3212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c76b0c0c130a397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191256"/>
            <a:ext cx="1624583" cy="84124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2706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Tomita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2706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універсальний ніж Super Blue Steel 120 mm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2706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4 362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7616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7cd40a1e8a4f61db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191256"/>
            <a:ext cx="1624583" cy="841248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7110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Tanaka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7110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Kamagata Usuba ніж Super Blue Steel 150mm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7110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5 203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2020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939ff1af77f347d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191256"/>
            <a:ext cx="1624583" cy="841248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15143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Tomita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15143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Double beveled Santoku ніж Blue Steel 175mm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15143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6 600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6424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6692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a0b954ea668c171c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0936" y="4782312"/>
            <a:ext cx="1624583" cy="841248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9494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Tadayoshi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Tokaji Santoku · Blue Steel 185mm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8 480 грн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4404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41096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p_b0c3dfd935e68537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74976" y="4782312"/>
            <a:ext cx="1624583" cy="84124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253898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Tsukasa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53898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Aogami super ніж слайсер 210 mm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53898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9 900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8808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25500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1efa1f27524b400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9016" y="4782312"/>
            <a:ext cx="1624583" cy="84124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438302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JCK Natures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38302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Aogami Super Series SAKURA · 2 Шеф 180mm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38302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12 220 грн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53212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09904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p_da54defe619dd8a4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63056" y="4782312"/>
            <a:ext cx="1624583" cy="84124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622706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Hatsukokoro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2706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HAYABUSA ZDP · 189 150MM PETTY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2706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13 865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37616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943087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p_ee4368f7b5087207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07095" y="4782312"/>
            <a:ext cx="1624583" cy="841248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807110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5D4B96"/>
                </a:solidFill>
                <a:latin typeface="Segoe UI"/>
              </a:rPr>
              <a:t>Etsu / Ittetsu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07110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Etsu (Ittetsu) R2 Damascus Bunka ніж 165мм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7110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16 677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22020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03504" y="6419088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 і ціни — картки товарів українських магазинів, жовтень 2026. Ціна за один ніж, роздріб, із урахуванням наявних знижок.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КАТАЛОГ · 9 · SAMURA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Для контрасту: найбільший «японський» бренд України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Samura — 287 SKU в Епіцентрі, 218 на Rozetka. Засновано 2003 року для російського ринку, виробництво переважно Китай, HQ Дубай. Подається як японський.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fddfaac26c4796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600200"/>
            <a:ext cx="1624583" cy="8412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494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кухонний Samura HARAKIRI SHR · 0011B овочевий, 100мм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819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404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096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f222c3b4916a8a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600200"/>
            <a:ext cx="1624583" cy="8412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3898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898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кухонний універсальний SAMURA GOLF SG · 0023, 158мм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3898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969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808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500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_2b7cdac64883ec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600200"/>
            <a:ext cx="1624583" cy="8412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8302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кухонний філейний Samura HARAKIRI SHR · 0048B, 218мм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1 129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b2648b9b8b092c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600200"/>
            <a:ext cx="1624583" cy="8412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2706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2706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Кухарський Шеф Samura HARAKIRI SHR · 0185B, 18см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706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1 199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616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43087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335fd3388ed8f3a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600200"/>
            <a:ext cx="1624583" cy="84124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071104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71104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кухонний Samura Mo · V SM · 0010 овочевий, 90мм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1104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1 299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2020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87127" y="1536192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p_a48231259d1e7bb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600200"/>
            <a:ext cx="1624583" cy="8412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915143" y="2496312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15143" y="2642615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Кухарський Шеф Samura Bamboo SBA · 0085, 200мм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15143" y="2825496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1 999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284378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_bf6de124e117e68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191256"/>
            <a:ext cx="1624583" cy="84124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494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Набір з 2 · х ножів Samura Shadow SH · 0210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2 299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4404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41096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c24611954e10e553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191256"/>
            <a:ext cx="1624583" cy="84124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53898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3898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кухонний Samura Mo · V Stonewash SM · 0043B Накірі,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3898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2 599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8808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5500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245d9991b9da1a7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191256"/>
            <a:ext cx="1624583" cy="84124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438302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8302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кухонний Сантоку Samura Mo · V SM · 0094, 180мм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302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2 699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3212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099048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afb17b4893f6bbd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191256"/>
            <a:ext cx="1624583" cy="84124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22706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2706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Набір з 3 · х ножів Samura Shadow SH · 0220 "Кухарсь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2706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2 799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7616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43087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9c8ff6a32f76b38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191256"/>
            <a:ext cx="1624583" cy="841248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71104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71104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Набір з 6 · ти ножів для стейку Samura Harakiri SHR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71104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2 799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2020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87127" y="3127248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p_c6c4ec768438e57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191256"/>
            <a:ext cx="1624583" cy="841248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9915143" y="4087368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15143" y="4233672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67 Damascus SD67 · 0023M універсальний, 150мм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15143" y="4416552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2 799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64240" y="44348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6692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1d99dc1147910653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0936" y="4782312"/>
            <a:ext cx="1624583" cy="841248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9494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Кухарський Шеф Samura Mo · V SM · 0084, 150мм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2 889 грн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84404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41096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p_2669e9deb68faae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74976" y="4782312"/>
            <a:ext cx="1624583" cy="84124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253898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53898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кухонний Янагіба Samura Okinawa SO · 0110, 240мм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53898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2 999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8808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25500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489433da6b58a978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9016" y="4782312"/>
            <a:ext cx="1624583" cy="84124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438302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38302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Набір з 3х керамічних ножів Samura INCA SIN · 0220B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38302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3 099 грн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53212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099048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p_e47b951b705988d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63056" y="4782312"/>
            <a:ext cx="1624583" cy="84124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622706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2706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Набір з 4 · х кухонних ножів SAMURA GOLF SG · 0240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2706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3 299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37616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943087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p_811b4b76c0c97f3c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07095" y="4782312"/>
            <a:ext cx="1624583" cy="841248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8071104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071104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Набір з 3х ножів Samura Bamboo SBA · 0220 "Кухарська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71104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3 699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22020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787127" y="4718304"/>
            <a:ext cx="1752599" cy="149961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p_44e8afd5faa14f85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851135" y="4782312"/>
            <a:ext cx="1624583" cy="841248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9915143" y="5678424"/>
            <a:ext cx="1569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915143" y="5824728"/>
            <a:ext cx="1569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590" b="0">
                <a:solidFill>
                  <a:srgbClr val="303A5D"/>
                </a:solidFill>
                <a:latin typeface="Segoe UI"/>
              </a:rPr>
              <a:t>Набір з 4 · х ножів для стейку Samura Mo · V SM · 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915143" y="6007608"/>
            <a:ext cx="129539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3 699 грн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064240" y="602589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6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03504" y="6419088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 і ціни — картки товарів українських магазинів, жовтень 2026. Ціна за один ніж, роздріб, із урахуванням наявних знижок.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3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«Японські» бренди, зроблені не в Японії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Найбільший за грошима сегмент під вивіскою японського ножа. Формально це не підробка — це маркетингова конструкція.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55448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ВЛАСНИК / ПОХОДЖЕННЯ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ВИРОБНИЦТВО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4184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 В УКРАЇНІ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9632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59368" y="1554480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ЯК ПОДАЄТЬСЯ В УКРАЇНІ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32788"/>
            <a:ext cx="11164824" cy="37947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7393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Samura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12848" y="177393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Засновано 2003, Алєксєй Яковлєв;
бренд будувався для ринку РФ; HQ Дубай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177393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Переважно Китай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41848" y="17739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287 Епіцентр · 218 Rozetka
· 206 ProfiMax · 8 ROKS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96328" y="177393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679 – 14 299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1773936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«Японська сталь AUS-8», «японські кухонні ножі».
Країна виробництва в картках не вказується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19456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Sekiryu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12848" y="2194560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Японський бренд бюджетної лінії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7408" y="219456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Японія / Азія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41848" y="219456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219456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1 638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9368" y="2194560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Ножі для суші та сашимі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574036"/>
            <a:ext cx="11164824" cy="37947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61518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Satori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12848" y="261518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Бренд маркетплейсу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261518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41848" y="261518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десятки пропозицій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96328" y="261518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≈ 1 200 – 2 500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59368" y="2615184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«Ручна робота», «японський стиль»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035808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Takagi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12848" y="3035808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Бренд маркетплейсу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07408" y="303580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41848" y="303580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десятки пропозицій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96328" y="303580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≈ 1 000 – 2 500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59368" y="3035808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«Kanesada деба», японська номенклатура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3415284"/>
            <a:ext cx="11164824" cy="37947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345643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TURWHO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12848" y="345643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Китайський бренд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7408" y="345643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41848" y="345643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 Prom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96328" y="345643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≈ 2 870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59368" y="3456432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«Професійний японський шеф-ніж, дамаск VG-10»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877056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Ketu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212848" y="387705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Лінія Yaxell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07408" y="387705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41848" y="38770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96328" y="38770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до 13 290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59368" y="3877056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Продається в опті HoReCa як окремий бренд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4256532"/>
            <a:ext cx="11164824" cy="37947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4297680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Без бренду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12848" y="4297680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Продавці Prom, Shafa, OLX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429768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41848" y="429768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3 000+ пропозицій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96328" y="429768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399 – 6 200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59368" y="4297680"/>
            <a:ext cx="2734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«Японський», «кіріцуке», «янагіба» без походження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66928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p_97309d76fc9b15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700016"/>
            <a:ext cx="1024128" cy="768096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1792224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p_29fb8195e4566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5376" y="4700016"/>
            <a:ext cx="1024128" cy="768096"/>
          </a:xfrm>
          <a:prstGeom prst="rect">
            <a:avLst/>
          </a:prstGeom>
        </p:spPr>
      </p:pic>
      <p:sp>
        <p:nvSpPr>
          <p:cNvPr id="66" name="Rounded Rectangle 65"/>
          <p:cNvSpPr/>
          <p:nvPr/>
        </p:nvSpPr>
        <p:spPr>
          <a:xfrm>
            <a:off x="3017520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3d7587c34c502c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0672" y="4700016"/>
            <a:ext cx="1024128" cy="768096"/>
          </a:xfrm>
          <a:prstGeom prst="rect">
            <a:avLst/>
          </a:prstGeom>
        </p:spPr>
      </p:pic>
      <p:sp>
        <p:nvSpPr>
          <p:cNvPr id="68" name="Rounded Rectangle 67"/>
          <p:cNvSpPr/>
          <p:nvPr/>
        </p:nvSpPr>
        <p:spPr>
          <a:xfrm>
            <a:off x="4242816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_269ae8787e24ca6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5968" y="4700016"/>
            <a:ext cx="1024128" cy="768096"/>
          </a:xfrm>
          <a:prstGeom prst="rect">
            <a:avLst/>
          </a:prstGeom>
        </p:spPr>
      </p:pic>
      <p:sp>
        <p:nvSpPr>
          <p:cNvPr id="70" name="Rounded Rectangle 69"/>
          <p:cNvSpPr/>
          <p:nvPr/>
        </p:nvSpPr>
        <p:spPr>
          <a:xfrm>
            <a:off x="5468112" y="4626864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1bcfb57b5e40e69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41264" y="4700016"/>
            <a:ext cx="1024128" cy="768096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784848" y="4700016"/>
            <a:ext cx="4846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SAMURA НА УКРАЇНСЬКІЙ ПОЛИЦІ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84848" y="4919472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Лінійка Harakiri: 679–1 499 грн, найширше представлена серія бренду в Україні.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 картках товару зазначено «японська сталь AUS-8»; країна виробництва —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зазвичай ні. Це не порушення: японська сталь і японська назва серії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не потребують японського заводу.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66928" y="554126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66928" y="5541264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4672" y="569671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НЕ ПІДРОБКА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4672" y="592531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Японська номенклатура — сантоку, накірі, дамаск, AUS-8 — не 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ані торговою маркою, ані захищеним найменуванням.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297680" y="554126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297680" y="5541264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35424" y="569671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 ПРАЦЮЄ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35424" y="592531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Покупець не може перевірити походження на полиці. Ширина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асортименту читається як авторитет: 287 SKU перемагають 64.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046720" y="554126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5541264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84464" y="569671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ЦЕ ВАЖЛИВО ДЛЯ ВХОДУ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84464" y="592531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Японське походження не є умовою продажу японського ножа.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здешевлює вхід — і знижує захищеність позиції.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КЕЙС · SAMURA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Найбільший «японський» бренд України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Окремий слайд, бо це водночас головний конкурент, головний ризик категорії та головна можливість.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SKU В ЕПІЦЕНТРІ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03B4B"/>
                </a:solidFill>
                <a:latin typeface="Segoe UI"/>
              </a:rPr>
              <a:t>287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3-й бренд мережі за шириною.
Більше, ніж уся справжня Японія ×2,2.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SKU НА ROZETKA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03B4B"/>
                </a:solidFill>
                <a:latin typeface="Segoe UI"/>
              </a:rPr>
              <a:t>218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Найширший «японський»
асортимент маркетплейсу.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4820A"/>
                </a:solidFill>
                <a:latin typeface="Segoe UI"/>
              </a:rPr>
              <a:t>679–14 299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грн. Перекриває 5 із 6
цінових діапазонів ринку.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СЕРІЙ У ЛІНІЙЦІ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D4B96"/>
                </a:solidFill>
                <a:latin typeface="Segoe UI"/>
              </a:rPr>
              <a:t>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Harakiri, Mo-V, 67 Damascus,
Kaiju, Super 5, Bamboo, Inca…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2834640"/>
            <a:ext cx="1298448" cy="96926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_73cbbb4df9c094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907792"/>
            <a:ext cx="1152144" cy="82296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1920240" y="2834640"/>
            <a:ext cx="1298448" cy="96926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_ed8f99c81037f5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3392" y="2907792"/>
            <a:ext cx="1152144" cy="82296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3273552" y="2834640"/>
            <a:ext cx="1298448" cy="96926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_2b74db21b9806d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6704" y="2907792"/>
            <a:ext cx="1152144" cy="82296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626864" y="2834640"/>
            <a:ext cx="1298448" cy="96926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p_bbf26e090cbe975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0016" y="2907792"/>
            <a:ext cx="1152144" cy="8229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016752" y="2871216"/>
            <a:ext cx="5614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ЩО ВІДОМО ПРО БРЕНД ІЗ ПУБЛІЧНИХ ДЖЕРЕЛ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0" y="3044952"/>
            <a:ext cx="5687568" cy="4206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16752" y="3090672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Заснування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70064" y="3072384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2003 рік. Засновник — Алєксєй Яковлєв, дизайнер та інженер.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16752" y="3566160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Цільовий ринок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70064" y="3547872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C03B4B"/>
                </a:solidFill>
                <a:latin typeface="Segoe UI"/>
              </a:rPr>
              <a:t>Бренд будувався як «японська якість, адаптована для російського ринку»;
офіційний магазин samura.ru, профіль компанії на Forbes.ru, понад 1 000 точок продажу в РФ.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3995928"/>
            <a:ext cx="5687568" cy="4206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16752" y="4041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Штаб-квартира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70064" y="4023360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Дубай, ОАЕ.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16752" y="4517136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Виробництво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70064" y="4498848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C03B4B"/>
                </a:solidFill>
                <a:latin typeface="Segoe UI"/>
              </a:rPr>
              <a:t>Переважно Китай під контролем бренду. Перші партії (2003) — кооперація з Mcusta і MAC.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0" y="4946903"/>
            <a:ext cx="5687568" cy="42062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16752" y="4992623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Подання в Україні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70064" y="4974336"/>
            <a:ext cx="422452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60" b="0">
                <a:solidFill>
                  <a:srgbClr val="C03B4B"/>
                </a:solidFill>
                <a:latin typeface="Segoe UI"/>
              </a:rPr>
              <a:t>«Японські кухонні ножі», «японська корозійностійка сталь AUS-8».
Країна виробництва в картках товару зазвичай не вказується.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3968496"/>
            <a:ext cx="5212080" cy="100218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6928" y="3968496"/>
            <a:ext cx="36576" cy="100218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4672" y="4123944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РИЗИК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4672" y="4352544"/>
            <a:ext cx="4736592" cy="471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Найбільший «японський» асортимент країни належить бренду,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створеному для російського ринку. Це репутаційна експозиція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для будь-якого рітейлера і будь-якого партнера.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6928" y="4937760"/>
            <a:ext cx="5212080" cy="100218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6928" y="4937760"/>
            <a:ext cx="36576" cy="1002182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4672" y="5093208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МОЖЛИВІСТЬ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" y="5321808"/>
            <a:ext cx="4736592" cy="471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Якщо позиція Samura похитнеться, звільниться оцінно 85–140 млн грн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полиці. Це найбільша окрема можливість у категорії — і вона не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потребує японського постачальника.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943600" y="5504688"/>
            <a:ext cx="568756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43600" y="5504688"/>
            <a:ext cx="36576" cy="84490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81344" y="5660136"/>
            <a:ext cx="521207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ТРЕБА ПЕРЕВІРИТИ ДО РІШЕННЯ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81344" y="5888736"/>
            <a:ext cx="5212079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Маркування країни походження на фізичному товарі в мережі,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ранг і швидкість обігу Samura в Епіцентрі та на Rozetka.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3504" y="643737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Джерела: samura.ru, профіль компанії на Forbes.ru, каталоги epicentrk.ua, rozetka.com.ua, profimax.com.ua, roks.in.ua (вересень 2026). Твердження про виробництво і власність потребують незалежного підтвердження.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4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Японська форма, європейський або китайський бренд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Найбільший сегмент у штуках. Тут «японський ніж» — це рядок у характеристиках товару, і нічого більше.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55448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 БРЕНДУ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4487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7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2007" y="1554480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ПРИКЛАДИ ПОЗИЦІЙ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952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32788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7393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Fissman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7128" y="177393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Латвія / Китай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4487" y="177393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239 Епіцентр
61 сантоку Rozetka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7" y="17739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436 – 1 099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7" y="177393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Elegance 13 см 436 · Kojiro 18 см · Bremen ·
Frankfurt · Linz · Bergen · Mainz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39528" y="177393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13969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Krauff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67128" y="213969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Німеччина / Китай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04487" y="21396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102 Епіцентр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7" y="21396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310 – 720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7" y="21396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Luxus сантоку 17,7 см 720 → 540 ·
29-305-168 17,9 см 710 → 310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39528" y="21396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464308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50545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Ardesto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67128" y="250545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04487" y="25054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67527" y="25054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від 175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22007" y="250545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Fresh керамічні універсальні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9528" y="25054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87121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Vinzer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67128" y="287121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04487" y="287121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110 Епіцентр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67527" y="287121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22007" y="287121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Natura Line сантоку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39528" y="287121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Rozetka, Епіцентр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3195827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323697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Maestro / Kamille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67128" y="323697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 / Китай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04487" y="323697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120 / 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67527" y="323697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вхідний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22007" y="323697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Масові набори й окремі ножі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39528" y="323697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Епіцентр, маркетплейс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60273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Tescoma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67128" y="3602735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Чехія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04487" y="360273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113 Епіцентр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67527" y="360273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22007" y="3602735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Європейська геометрія + сантоку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39528" y="360273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Епіцентр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3927348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396849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DICK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67128" y="396849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Німеччина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04487" y="39684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у LFood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67527" y="39684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1 274 – 5 907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22007" y="39684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«Японські ножі» в профкаталозі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39528" y="39684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Опт HoReCa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433425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ICEL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67128" y="433425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Португалія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04487" y="43342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у LFood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67527" y="43342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1 274 – 5 907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22007" y="433425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для профкухні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39528" y="43342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Опт HoReCa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4658868"/>
            <a:ext cx="11164824" cy="324612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470001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Hendi / Stalgast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67128" y="470001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Нідерланди / Польща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04487" y="470001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 / 1 у LFood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7" y="47000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рівень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22007" y="470001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в лінійці обладнання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39528" y="470001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Опт HoReCa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66928" y="4974336"/>
            <a:ext cx="1883664" cy="12984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p_08287fab39ec9a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047488"/>
            <a:ext cx="1737360" cy="8046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713232" y="59253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Arcos Natura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3232" y="6089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«японський» сантоку, Іспанія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523744" y="4974336"/>
            <a:ext cx="1883664" cy="12984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p_67543a3f9dff80a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6896" y="5047488"/>
            <a:ext cx="1737360" cy="804672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2670048" y="59253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Arcos Universal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70048" y="6089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«янагіба» 240 мм, Іспанія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480560" y="4974336"/>
            <a:ext cx="1883664" cy="12984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p_ccf4816ce5209d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3712" y="5047488"/>
            <a:ext cx="1737360" cy="804672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4626864" y="59253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Arcos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26864" y="6089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європейська сталь, японська форма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437376" y="4974336"/>
            <a:ext cx="1883664" cy="12984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919b10f30dc4739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528" y="5047488"/>
            <a:ext cx="1737360" cy="804672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583680" y="5925312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Arcos Manhattan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83680" y="6089904"/>
            <a:ext cx="1591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«кіріцуке» 190 мм, Іспанія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394192" y="4974336"/>
            <a:ext cx="3236976" cy="165511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394192" y="4974336"/>
            <a:ext cx="36576" cy="1655114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631936" y="5129784"/>
            <a:ext cx="27614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631936" y="5358384"/>
            <a:ext cx="2761488" cy="1124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Krauff продає сантоку 17,9 см за 310 грн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ця цифра формує уявлення про те, скільки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коштує «японський ніж».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Іспанський Arcos продає янагібу й кіріцуке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під японськими назвами і тримає 311 SKU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проти 64 у Satake.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3504" y="645566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Фото: arcos.com.ua — офіційний каталог Arcos в Україні, розділ «японські ножі». Усі показані ножі виготовлені в Іспанії.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ХТО РЕАЛЬНО ТРИМАЄ ПОЛИЦЮ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П'ять європейських брендів проти всієї Японії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Порівняння ширини асортименту в українських каталогах. Це не частка ринку, але це те, що бачить покупець.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ШИРИНА АСОРТИМЕНТУ В УКРАЇНСЬКИХ КАТАЛОГАХ, 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Victorinox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6543" y="1810512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Швейцарія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67328" y="1851660"/>
            <a:ext cx="3246577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0608" y="181051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789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1810512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81051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Універсальний стандарт. Проф. і масовий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080260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Tramontina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6543" y="208026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Бразилія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67328" y="2121408"/>
            <a:ext cx="2600553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0608" y="208026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632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2080260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080260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Ціна заміни. Домінує в HoReCa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350008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Arcos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66543" y="2350008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67328" y="2391156"/>
            <a:ext cx="1279702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50608" y="235000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311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350008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350008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Проф. стандарт ресторанів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619756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Samura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66543" y="2619756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«Японія» / Китай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67328" y="2660903"/>
            <a:ext cx="1180947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50608" y="261975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03B4B"/>
                </a:solidFill>
                <a:latin typeface="Segoe UI"/>
              </a:rPr>
              <a:t>287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2619756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619756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Найширша «японська» лінійка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889503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Fissman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66543" y="2889503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Латвія / Китай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67328" y="2930651"/>
            <a:ext cx="983437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50608" y="2889503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239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2889503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2889503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Масовий сантоку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159251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KAI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66543" y="3159251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67328" y="3200399"/>
            <a:ext cx="576072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50608" y="3159251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140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3159251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3159251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Найширший справжній японець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428999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Yaxell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66543" y="3428999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767328" y="3470147"/>
            <a:ext cx="423824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50608" y="3428999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103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3428999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0" y="3428999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 SG-2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698748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66543" y="3698748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767328" y="3739896"/>
            <a:ext cx="399135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369874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97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63840" y="3698748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 / Епіцентр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01200" y="3698748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 японець у великому форматі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3968496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66543" y="3968496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67328" y="4009644"/>
            <a:ext cx="353872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50608" y="396849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86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63840" y="3968496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1200" y="3968496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Робочий преміум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4238244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Satake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66543" y="4238244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67328" y="4279392"/>
            <a:ext cx="26334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50608" y="423824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64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4238244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01200" y="4238244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Доступна Японія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4507992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Kasumi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66543" y="4507992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767328" y="4549140"/>
            <a:ext cx="86410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150608" y="450799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21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0" y="4507992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01200" y="4507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Дамаск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66928" y="4901184"/>
            <a:ext cx="5413248" cy="96926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6384" y="5065776"/>
            <a:ext cx="4974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УСЯ СПРАВЖНЯ ЯПОНІЯ В ОДНОМУ КАТАЛОЗІ (PROFIMAX)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86384" y="528523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≈ 500 SKU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0" y="528523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проти 311 SKU одного
іспанського бренду Arcos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217920" y="4901184"/>
            <a:ext cx="5413248" cy="13350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217920" y="4901184"/>
            <a:ext cx="36576" cy="13350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455664" y="505663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ЯК ЧИТАТИ ЦЮ КАРТИНУ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55664" y="5285232"/>
            <a:ext cx="493776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Ширина асортименту — це ставка дистриб'ютора, а не попит покупця.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789 SKU Victorinox в Епіцентрі означають, що мережа впевнена в обороті.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140 SKU KAI у спеціалізованому магазині означають, що власник готовий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тримати капітал у складі заради статусу категорійного експерта.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3504" y="63459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Дані з різних каталогів не є прямо порівнюваними: Епіцентр — мережевий рітейл, ProfiMax — спеціалізований онлайн. Порівняння показує доступність бренду покупцю, а не обсяг продажів.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ЦІНОВІ СХОДИ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Від 175 до 40 140 грн: уся категорія на одній шкалі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Спостережені роздрібні ціни за один ніж, вересень 2026. Набори виключені. Шкала логарифмічна за змістом, не за побудовою.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" y="152704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5727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717890"/>
                </a:solidFill>
                <a:latin typeface="Segoe UI"/>
              </a:rPr>
              <a:t>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58191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Ardesto Fresh, кераміка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699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310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18790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Krauff 29-305-168, сантоку 17,9 см (промо)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" y="212140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1671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436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21762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Fissman Elegance, сантоку 13 см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4643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4820A"/>
                </a:solidFill>
                <a:latin typeface="Segoe UI"/>
              </a:rPr>
              <a:t>540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27048" y="24734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Krauff Luxus, сантоку 17,7 см (промо)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" y="271576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276148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679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277063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Samura, нижня межа лінійки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0586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979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306781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Saku, універсальний — вхід у справжню Японію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2064" y="331012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33558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1 199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7048" y="33649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Samura Harakiri SHR-0185B, шеф 18 см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6530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1 249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7048" y="36621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Saku, накірі 170 мм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2064" y="390448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9502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1 599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7048" y="39593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Satoru, сантоку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15727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2 599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158191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Basic F-318 · Samura Mo-V SM-0085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42816" y="182422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97680" y="18699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2 730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800" y="18790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 Wasabi Black, сантоку 16,5 см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21671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2 895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57800" y="21762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 Blue Breeze 34602, овочевий 12 см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42816" y="241858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80" y="24643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37A169"/>
                </a:solidFill>
                <a:latin typeface="Segoe UI"/>
              </a:rPr>
              <a:t>2 999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7800" y="24734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 Sakura, шеф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276148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4 190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57800" y="277063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Kanetsugu Pro-M 7003, сантоку 17 см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42816" y="301294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97680" y="30586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4 420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57800" y="306781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Sakai Takayuki 07003, янагіба 24 см, вуглець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0" y="33558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5 999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33649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DP F-807, шеф 18 см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42816" y="360730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97680" y="36530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7 426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57800" y="36621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 Ran 36001, сантоку 165 мм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97680" y="39502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1E9EA6"/>
                </a:solidFill>
                <a:latin typeface="Segoe UI"/>
              </a:rPr>
              <a:t>7 499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57800" y="39593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DP Damascus F-659, сантоку 17 см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73567" y="152704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28431" y="15727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8 290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88552" y="158191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Kanetsugu Saiun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28431" y="18699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5D4B96"/>
                </a:solidFill>
                <a:latin typeface="Segoe UI"/>
              </a:rPr>
              <a:t>9 999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88552" y="18790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Suncraft Elegancia KSK-01, шеф 20 см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973567" y="212140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28431" y="216712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10 710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88552" y="217627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 Shun Classic DM-0706, шеф 20 см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28431" y="246430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13 290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88552" y="247345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Ketu, накірі 165 мм (опт HoReCa)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973567" y="271576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28431" y="276148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16 499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88552" y="2770632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 Flash FF-CH240, шеф 24 см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28431" y="305866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94F7C"/>
                </a:solidFill>
                <a:latin typeface="Segoe UI"/>
              </a:rPr>
              <a:t>17 746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88552" y="306781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 Super Gou 37100, шеф 20 см, SG-2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73567" y="3310128"/>
            <a:ext cx="3639312" cy="27432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28431" y="3355848"/>
            <a:ext cx="868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40 140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88552" y="3364991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Miyabi, верхня межа роздрібу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66928" y="4626864"/>
            <a:ext cx="5413248" cy="16093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66928" y="4626864"/>
            <a:ext cx="36576" cy="160934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4672" y="47823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ВИДНО НА ЦІЙ ШКАЛІ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4672" y="5010912"/>
            <a:ext cx="49377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1. Розрив у 229 разів усередині однієї товарної категорії.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2. Справжня Японія починається з 979 грн (Satake) — не з 3 000, як прийнято вважати.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3. Зона 1 000–3 000 грн — єдина, де справжня Японія і Samura стоять поруч.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4. Вище 5 000 грн китайських брендів немає: там тільки Японія і Німеччина.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5. Вище 15 000 грн ринок — це 2–3 бренди й кілька тисяч покупців.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217920" y="4626864"/>
            <a:ext cx="5413248" cy="16093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217920" y="4626864"/>
            <a:ext cx="36576" cy="160934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55664" y="47823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ДЕ БИ СТАВ НОВИЙ ГРАВЕЦЬ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55664" y="5010912"/>
            <a:ext cx="49377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Вільних цінових точок у справжній Японії фактично дві: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1 500–2 500 грн — між Satake Satoru і Tojiro Basic, тут немає нікого;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3 000–4 000 грн — між Sakura і Kanetsugu Pro-M, теж порожньо.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Обидві точки вимагають японського заводу, готового на OEM, і 10 % мита зверху.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ЦІНОВІ СХОДИ У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Що саме отримує покупець на кожному щаблі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Один і той самий сантоку в шести цінових діапазонах. Різниця, яку покупець бачить на полиці, і різниця, яку він не бачить.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1792224" cy="45720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3232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ВХІДНИЙ</a:t>
            </a:r>
          </a:p>
        </p:txBody>
      </p:sp>
      <p:pic>
        <p:nvPicPr>
          <p:cNvPr id="14" name="Picture 13" descr="p_60b689fae2f196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011680"/>
            <a:ext cx="1536192" cy="12252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3232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717890"/>
                </a:solidFill>
                <a:latin typeface="Segoe UI"/>
              </a:rPr>
              <a:t>175 – 699 грн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Кераміка, штампована
моносталь. Ardesto, Kamille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50 % штук
12 % грошей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14016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414016" y="1554480"/>
            <a:ext cx="1792224" cy="457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60320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60320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ЦІННІСТЬ</a:t>
            </a:r>
          </a:p>
        </p:txBody>
      </p:sp>
      <p:pic>
        <p:nvPicPr>
          <p:cNvPr id="24" name="Picture 23" descr="p_1ae18a395d9508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2032" y="2011680"/>
            <a:ext cx="1536192" cy="12252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560320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4820A"/>
                </a:solidFill>
                <a:latin typeface="Segoe UI"/>
              </a:rPr>
              <a:t>700 – 1 499 грн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AUS-8 / 8Cr13MoV, 56–58 HRC.
Samura Harakiri, Krauff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60320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27 % штук
20 % грошей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61104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61104" y="1554480"/>
            <a:ext cx="1792224" cy="457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407408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07408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СЕРЕДНІЙ</a:t>
            </a:r>
          </a:p>
        </p:txBody>
      </p:sp>
      <p:pic>
        <p:nvPicPr>
          <p:cNvPr id="34" name="Picture 33" descr="p_a47176f78a9983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2011680"/>
            <a:ext cx="1536192" cy="12252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407408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E9EA6"/>
                </a:solidFill>
                <a:latin typeface="Segoe UI"/>
              </a:rPr>
              <a:t>1 500 – 3 499 грн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07408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07408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Справжня Японія починається тут.
Satake Satoru, KAI Wasabi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07408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13 % штук
22 % грошей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08192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08192" y="1554480"/>
            <a:ext cx="1792224" cy="45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254496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54496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ВЕРХНІЙ СЕРЕДНІЙ</a:t>
            </a:r>
          </a:p>
        </p:txBody>
      </p:sp>
      <p:pic>
        <p:nvPicPr>
          <p:cNvPr id="44" name="Picture 43" descr="p_d3665f6f12666c5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6207" y="2011680"/>
            <a:ext cx="1536192" cy="122529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254496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5D4B96"/>
                </a:solidFill>
                <a:latin typeface="Segoe UI"/>
              </a:rPr>
              <a:t>3 500 – 7 499 грн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54496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54496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VG-10, 60–61 HRC.
Tojiro DP, Suncraft Senzo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54496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54496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6 % штук
22 % грошей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55279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955279" y="1554480"/>
            <a:ext cx="1792224" cy="457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101583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01583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ПРЕМІУМ</a:t>
            </a:r>
          </a:p>
        </p:txBody>
      </p:sp>
      <p:pic>
        <p:nvPicPr>
          <p:cNvPr id="54" name="Picture 53" descr="p_10542f6757891aa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3296" y="2011680"/>
            <a:ext cx="1536192" cy="1225296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8101583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94F7C"/>
                </a:solidFill>
                <a:latin typeface="Segoe UI"/>
              </a:rPr>
              <a:t>7 500 – 14 999 грн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01583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01583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VG-10 + дамаск 32–69 шарів.
Kasumi, Yaxell Ran, KAI Shun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01583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01583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3 % штук
15 % грошей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02367" y="1554480"/>
            <a:ext cx="1792224" cy="33101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802367" y="1554480"/>
            <a:ext cx="1792224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948672" y="1719072"/>
            <a:ext cx="1499616" cy="201168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948672" y="1760219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УЛЬТРА</a:t>
            </a:r>
          </a:p>
        </p:txBody>
      </p:sp>
      <p:pic>
        <p:nvPicPr>
          <p:cNvPr id="64" name="Picture 63" descr="p_49025ad881696fe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0384" y="2011680"/>
            <a:ext cx="1536192" cy="12252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948672" y="3346704"/>
            <a:ext cx="14996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C03B4B"/>
                </a:solidFill>
                <a:latin typeface="Segoe UI"/>
              </a:rPr>
              <a:t>15 000 – 40 140 грн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948672" y="3602736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948672" y="3712463"/>
            <a:ext cx="14996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660" b="0">
                <a:solidFill>
                  <a:srgbClr val="303A5D"/>
                </a:solidFill>
                <a:latin typeface="Segoe UI"/>
              </a:rPr>
              <a:t>Порошкова SG-2, 101–193 шари.
Yaxell Super Gou, Miyabi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948672" y="4224528"/>
            <a:ext cx="149961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48672" y="4334256"/>
            <a:ext cx="14996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40" b="1">
                <a:solidFill>
                  <a:srgbClr val="717890"/>
                </a:solidFill>
                <a:latin typeface="Segoe UI"/>
              </a:rPr>
              <a:t>1 % штук
9 % грошей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66928" y="5010912"/>
            <a:ext cx="5413248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66928" y="5010912"/>
            <a:ext cx="36576" cy="1316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04672" y="5166360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ПОКУПЕЦЬ БАЧИТЬ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4672" y="5394960"/>
            <a:ext cx="493776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Різницю між 700 і 7 500 грн видно: дамаск, товщина обуха, якість руків'я.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Різницю між 7 500 і 40 000 грн на фото не видно — там платять за марку сталі,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кількість шарів і твердість, які неможливо перевірити на полиці.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Це визначає, скільки коштує комунікація в кожному діапазоні.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217920" y="5010912"/>
            <a:ext cx="5413248" cy="13167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217920" y="5010912"/>
            <a:ext cx="36576" cy="131673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55664" y="5166360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 ВАЖЛИВО ДЛЯ ВХОДУ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5664" y="5394960"/>
            <a:ext cx="493776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Саме тому Samura з китайського заводу успішно продається поруч із Satake із Секі: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візуально в діапазоні 1 000–3 000 грн вони нерозрізнювані. Конкуренція тут іде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не за якістю продукту, а за шириною лінійки і місцем на полиці.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Новому гравцю це одночасно вхідний квиток і головна пастка.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54710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 — картки товарів українських магазинів (volod.in.ua, rezat.com.ua, yaxell.com.ua, arcos.com.ua). Наведені як ілюстрація цінових діапазонів; конкретні моделі можуть відрізнятись від типових для діапазону.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HORECA · РОЗМІР І МОДЕЛЬ ПОПИТУ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180–220 тисяч професійних ножів на рік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Прямої статистики закупівель ножів у HoReCa не існує. Нижче — модель із трьох параметрів; кожен із них оцінка.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ВИРУЧКА РЕСТОРАННОГО РИНКУ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246,7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млрд грн, +21,7 % р/р.
Ресторани +26,9 %, кафе +20,5 %.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ЧИСТИЙ ПРИРІСТ ФОП У ХАРЧУВАННІ 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37A169"/>
                </a:solidFill>
                <a:latin typeface="Segoe UI"/>
              </a:rPr>
              <a:t>+2 728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13 373 відкрилось,
10 645 закрилось.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ЗАКЛАДІВ ІЗ ГАРЯЧОЮ КУХНЕЮ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4820A"/>
                </a:solidFill>
                <a:latin typeface="Segoe UI"/>
              </a:rPr>
              <a:t>25–30 тис.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Оцінка. Без кав'ярень
і барів без кухні.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ЯПОНСЬКА КУХНЯ, КИЇВ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5D4B96"/>
                </a:solidFill>
                <a:latin typeface="Segoe UI"/>
              </a:rPr>
              <a:t>130–200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закладів, менш як 10 % міста.
Було ≈15 % у 2015 році.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85292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МОДЕЛЬ ПОПИТУ НА ПРОФЕСІЙНІ НОЖІ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072384"/>
            <a:ext cx="2651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ПАРАМЕТР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8688" y="3072384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93208" y="3072384"/>
            <a:ext cx="2423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ОБҐРУНТУВАННЯ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3232404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27355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Закладів із гарячою кухнею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18688" y="327355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25 000 – 30 000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3208" y="3273552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Оцінка на базі динаміки ФОП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54787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Ножів в активній ротації на кухню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18688" y="354787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– 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93208" y="3547872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Шеф, лінія, заготівля, м'ясо, риба, хліб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3781044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382219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Цикл заміни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18688" y="382219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– 24 місяці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93208" y="382219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Викришування, втрати, знос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09651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Річний попит, штук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18688" y="409651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180 000 – 220 000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93208" y="409651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25 000 × 11 ÷ 1,5 року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3776" y="4329683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437083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 ціна закупівлі,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18688" y="437083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550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93208" y="437083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Рівень Arcos / Tramontina / Pirge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464515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Обсяг каналу, грн на рік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18688" y="464515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100 – 120 млн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93208" y="464515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= 2,2 – 2,7 млн $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3776" y="4878323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91947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З них японських, оцінка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18688" y="491947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&lt; 3 %   ≈ 3 – 4 млн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93208" y="491947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За часткою позицій у профкаталогах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90688" y="2852928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5D4B96"/>
                </a:solidFill>
                <a:latin typeface="Segoe UI"/>
              </a:rPr>
              <a:t>ВУЗЬКИЙ СЕГМЕНТ: НОЖІ ДЛЯ СУШІ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90688" y="3072384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ПАРАМЕТР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68128" y="307238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17536" y="3232404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90688" y="3273552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Закладів японської кухні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68128" y="327355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600 – 900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90688" y="3547872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/ деба на кухню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68128" y="354787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2 – 3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717536" y="3781044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90688" y="382219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Цикл заміни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68128" y="382219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3 роки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90688" y="409651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Річний попит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168128" y="409651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500 – 900 ножів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717536" y="4329683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90688" y="437083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Обсяг, грн на рік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68128" y="437083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1,0 – 3,5 млн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790688" y="4754880"/>
            <a:ext cx="3840480" cy="14813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790688" y="4754880"/>
            <a:ext cx="36576" cy="148132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028431" y="4910328"/>
            <a:ext cx="33649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ЧОМУ ЦЕ ВБИВЧА ЦИФРА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28431" y="5138928"/>
            <a:ext cx="336499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500–900 ножів на рік — це один піддон.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Жоден японський завод не відкриє рахунок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під такий обсяг, і жоден дистриб'ютор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не окупить під нього окремий канал.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66928" y="5230368"/>
            <a:ext cx="6949440" cy="101239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66928" y="5230368"/>
            <a:ext cx="36576" cy="1012393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4672" y="5385816"/>
            <a:ext cx="64739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ЦЯ МОДЕЛЬ ГОВОРИТЬ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4672" y="5614416"/>
            <a:ext cx="6473952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Канал HoReCa у грошах у 7 разів менший за роздріб, а японська частка в ньому ще нижча.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Навіть якщо подвоїти японську частку з 3 % до 6 %, приріст становитиме 3–4 млн грн на рік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менше за вартість побудови окремого каналу продажу.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54710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Джерела фактів: Держстат / профільні огляди ресторанного ринку 2025, дані про реєстрацію ФОП у сфері харчування, LunchPoint (заклади японської кухні в Києві). Модель попиту — авторський розрахунок.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HORECA · ДІАГНОЗ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причин, чому професійна кухня не купує Японію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не питання обізнаності чи маркетингу. Це операційна економіка кухні, і вона не змінюється від зміни постачальника.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6384" y="1737360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1787651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773936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ЕКОНОМІКА ВТРАТ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084832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Ніж на професійній кухні губиться, ламається, йде з кухарем.
При плинності персоналу 40–60 % на рік списувати 8 000 грн так само легко,
як 500 грн, неможливо.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72768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572768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37376" y="1737360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1787651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1773936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ГЕОМЕТРІЯ ПРОТИ ПРОДУКТУ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2084832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Твердість 60–64 HRC і тонке зведення викришуються на кістці,
замороженому продукті й скляній дошці. Європейський ніж 56 HRC
гнеться там, де японський ламається.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889504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889504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6384" y="3054096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3104388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090672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НЕМАЄ СЕРВІСУ ЗАТОЧЕННЯ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01568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ніж треба правити на водних каменях кожні 2–3 дні.
В Україні немає організованого ринку професійного заточення —
ані сервісу при дистриб'юторі, ані навчання.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2889504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2889504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37376" y="3054096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37376" y="3104388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3090672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ЛОГІСТИКА ЗАКУПІВЛІ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3401568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Ножі купуються разом із посудом, дошками і формою одним рахунком.
Японський постачальник не може бути рядком у цій накладній —
йому доведеться створювати окремий канал.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206240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206240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86384" y="4370831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" y="4421124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407407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718304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Янагіба і деба вимагають окремої навички. Лінійний кухар нею не володіє,
а вчити його ніхто не буде: він піде через пів року.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4206240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17920" y="4206240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37376" y="4370831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37376" y="4421124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407407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ШЕФ КУПУЄ СОБІ САМ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37376" y="4718304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Єдиний професіонал, який реально хоче японський ніж, купує його
особисто, часто за кордоном, і не через дистриб'ютора закладу.
Він референс, а не канал збуту.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577840"/>
            <a:ext cx="11064240" cy="8585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5577840"/>
            <a:ext cx="36576" cy="8585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5733288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З ЦЬОГО ВИПЛИВАЄ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" y="5961888"/>
            <a:ext cx="10588752" cy="328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Жодну з шести причин не можна зняти комерційними засобами постачальника. Дві з них — заточення і навчання — теоретично розв'язні, але вимагають побудови сервісної інфраструктури,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вартість якої непорівнянна з сегментом на 3–4 млн грн. Висновок однозначний: HoReCa не може бути точкою входу в цю категорію в Україні. Вона може бути тільки джерелом референсів для B2C.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РИТЕЙЛ ПРОТИ HORECA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Два ринки з протилежною логікою купівлі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Порівняння показує, чому одна товарна пропозиція не може обслуговувати обидва канали.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ПАРАМЕТР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1572768"/>
            <a:ext cx="3200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РОЗДРІБ B2C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4768" y="1572768"/>
            <a:ext cx="3200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HORECA B2B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45168" y="1572768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ВИСНОВОК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792224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Розмір каналу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4368" y="17922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691 – 924 млн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1792224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100 – 120 млн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5168" y="1792224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Ритейл у 7 разів більший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061972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Японська частка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44368" y="2061972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≈ 2 % (16–19 млн грн)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2061972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&lt; 3 % (3–4 млн грн)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2061972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Однаково мала в обох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" y="2290572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2331720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Хто вирішує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4368" y="2331720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Кінцевий користувач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331720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Закупівельник або шеф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5168" y="2331720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Різні комунікації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601468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Головний критерій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44368" y="2601468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Вигляд, бренд, форма, відгуки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2601468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Ціна заміни й зносостійкість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2601468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Протилежні пріоритети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283006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871215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Чутливість до походження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44368" y="2871215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Середня, декларативна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44768" y="2871215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Нульова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5168" y="2871215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 HoReCa походження не продає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140963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Цикл заміни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44368" y="3140963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4 – 5 років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44768" y="3140963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12 – 24 місяці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5168" y="3140963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HoReCa частіша, але дешевша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3369563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341071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Середній чек за ніж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44368" y="3410711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≈ 330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44768" y="3410711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≈ 550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5168" y="3410711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HoReCa платить більше за одиницю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680459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Сезонність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44368" y="3680459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Грудень, березень — подарунки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44768" y="3680459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Рівна, прив'язана до відкриттів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45168" y="3680459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Різне планування складу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3909059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950207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Канал доступу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44368" y="3950207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Мережа, маркетплейс, спеціаліст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50207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Опт, тендер, прямий контракт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45168" y="3950207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Різні команди продажу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4219955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Вартість входу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44368" y="4219955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Лістинг, промо, контент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44768" y="4219955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Каталог дистриб'ютора, зразки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45168" y="4219955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Ритейл дорожчий, але масштабується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93776" y="4448555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4489703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Потреба в сервісі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44368" y="4489703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Низька, покупець терпить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44768" y="4489703"/>
            <a:ext cx="3145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1C2235"/>
                </a:solidFill>
                <a:latin typeface="Segoe UI"/>
              </a:rPr>
              <a:t>Критична, без сервісу товар не працює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45168" y="4489703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Головний бар'єр для Японії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6928" y="4956048"/>
            <a:ext cx="5413248" cy="12801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6928" y="4956048"/>
            <a:ext cx="36576" cy="12801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2" y="511149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ЄДИНЕ, ЩО ЇХ ПОВ'ЯЗУЄ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4672" y="5340096"/>
            <a:ext cx="49377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Шеф-кухар. Він працює в HoReCa, а купує в роздробі — для себе.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робить його не клієнтом, а медіа: рекомендація шефа в роздробі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коштує дорожче за будь-який контракт із його рестораном.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Правильна робота з HoReCa в цій категорії — це PR, а не продаж.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17920" y="4956048"/>
            <a:ext cx="5413248" cy="12801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217920" y="4956048"/>
            <a:ext cx="36576" cy="12801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55664" y="511149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ПОМИЛКА, ЯКУ ЛЕГКО ЗРОБИТИ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55664" y="5340096"/>
            <a:ext cx="49377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Побудувати пропозицію «для професійної кухні», продавати її в роздробі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 рахувати HoReCa як окремий канал зростання.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Перше працює як позиціювання. Друге — ні.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Слово «професійний» на упаковці продає домогосподаркам, а не кухням.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НА РИНКУ Є І ЧОГО НЕМАЄ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прогалин, і лише дві з них варті грошей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Прогалина — це не завжди можливість. Нижче кожна оцінена за розміром і за причиною, чому вона досі відкрита.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3566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ПРОГАЛИНА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7" y="1572768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ПІДТВЕРДЖЕННЯ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7" y="157276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ЦІННІСТЬ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33688" y="1572768"/>
            <a:ext cx="2651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ЧОМУ ДОСІ ВІДКРИТА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792224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Немає справжньої Японії в 1 500–2 500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3087" y="1792224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Між Satake Satoru (1 599) і Tojiro Basic (2 599) порожньо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3688" y="1792224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Юніт-економіка не витримує консультації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82127" y="1769364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82127" y="1801368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Мала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80260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Немає сервісу заточення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3087" y="2080260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Камені продаються, послуги немає ні в кого з 9 спеціалістів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33688" y="2080260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Потребує майстрів і точок, а не імпорту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82127" y="2057400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82127" y="2089404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Середня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6" y="23271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368296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Немає українського бренду японського типу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33087" y="236829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Grand Way / Grossman у цю нішу не заходили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33688" y="2368296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Ніхто не спробував із серйозним бюджетом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82127" y="2345436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82127" y="23774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Велика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2656332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Немає японця в масовій мережі, крім Suncraft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3087" y="265633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Епіцентр: 97 SKU Suncraft, 30 Tojiro, 6 KAI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33688" y="265633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Мережі відкриті, пропозиції немає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82127" y="2633472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82127" y="2665476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Середня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3776" y="290322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2944368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Немає прозорості походження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944368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Samura подається як японський без країни виробництва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33688" y="2944368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Ніхто не зробив із чесності позиціювання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82127" y="2921508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82127" y="2953512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Велика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3232403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Немає лінійки для домашнього преміуму 4–7 тис.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33087" y="3232403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Tojiro DP і Yaxell Ran — це імпорт без адаптації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33688" y="3232403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Обсяг не виправдовує OEM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882127" y="3209544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82127" y="3241548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Мала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3776" y="3479291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3520439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Немає односторонніх ножів у профканалі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33087" y="3520439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AL-Group і LFood їх просто не тримають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33688" y="3520439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500–900 ножів на рік на країну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882127" y="3497579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82127" y="3529584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Дуже мала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808476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Немає україномовної упаковки і контенту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33087" y="380847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Уся категорія — імпортні коробки з англійською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33688" y="3808476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Дешево зробити, важко монетизувати окремо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882127" y="3785615"/>
            <a:ext cx="896112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82127" y="38176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Середня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6928" y="4133087"/>
            <a:ext cx="3584448" cy="21031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928" y="4133087"/>
            <a:ext cx="36576" cy="21031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4672" y="428853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ПРОГАЛИНА №1 ЗА ГРОШИМА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4672" y="4517136"/>
            <a:ext cx="3108960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Український бренд японського типу з чесним походженням.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Цільова зона — 700–2 500 грн, де сьогодні стоїть Samura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 287 SKU і оцінно 85–140 млн грн полиці.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Не потребує японського постачальника взагалі.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97680" y="4133087"/>
            <a:ext cx="3584448" cy="21031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297680" y="4133087"/>
            <a:ext cx="36576" cy="21031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35424" y="428853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ПРОГАЛИНА №2 ЗА ЗАХИЩЕНІСТЮ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35424" y="4517136"/>
            <a:ext cx="3108960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Сервіс заточення як частина пропозиції бренду.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Сам по собі не заробляє, але це єдиний бар'єр входу,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який неможливо скопіювати закупівлею контейнера.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Логічно запускати тільки разом із товарною лінійкою.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46720" y="4133087"/>
            <a:ext cx="3584448" cy="21031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46720" y="4133087"/>
            <a:ext cx="36576" cy="21031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84464" y="428853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РЕШТА НЕ ВАРТА ГРОШЕЙ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84464" y="4517136"/>
            <a:ext cx="3108960" cy="1572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Прогалини в справжній Японії малі не через недогляд ринку,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 тому що сегмент замалий: 16–19 млн грн на 10 брендів.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Односторонні ножі — 500–900 штук на рік.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не ніша, це хобі.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РИЗИКИ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Дев'ять ризиків, три з них блокуючі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Оцінка ймовірності та впливу — авторська, за шкалою від низького до високого. Блокуючий = ризик, що ставить під питання саму модель.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РИЗИК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58768" y="1572768"/>
            <a:ext cx="4160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НА ЧОМУ ҐРУНТУЄТЬСЯ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9288" y="1572768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ЙМОВІРНІСТЬ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62288" y="1572768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ВПЛИВ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22408" y="15727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792224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Ринок справжньої Японії не росте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8768" y="1792224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Імпорт 2024 нижчий за 2022 на 13 % при 45 брендах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9288" y="1792224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62288" y="1792224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Високий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04120" y="1769364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04120" y="1801368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БЛОКУЮЧИЙ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080260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HoReCa не є доступним каналом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58768" y="2080260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 японські бренди з 15 в опті; 6 структурних причин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9288" y="2080260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2288" y="2080260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Високий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04120" y="2057400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04120" y="2089404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БЛОКУЮЧИЙ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3776" y="23271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368296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Ніша перенаселена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2368296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45 брендів на 16–19 млн грн; Yaxell і Miyabi — ексклюзиви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2368296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36829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Високий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04120" y="2345436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04120" y="2377440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БЛОКУЮЧИЙ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656332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Мито 10 % проти 0 % у ЄС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2656332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Немає FTA Україна–Японія; переговорів про неї немає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9288" y="2656332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Визначений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656332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04120" y="2633472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20" y="2665476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Структурний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290322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944368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Стеля платоспроможності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58768" y="2944368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Шеф-ніж KAI = 35 % місячної зарплати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19288" y="2944368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62288" y="2944368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04120" y="2921508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04120" y="2953512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Структурний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232403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Немає інфраструктури заточення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58768" y="3232403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Претензії на викришування в преміумі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9288" y="3232403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62288" y="3232403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04120" y="3209544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04120" y="3241548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776" y="3479291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520439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Товарна війна на маркетплейсах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58768" y="3520439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3 000+ пропозицій, Krauff сантоку за 310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19288" y="3520439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Висока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62288" y="3520439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104120" y="3497579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104120" y="3529584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808476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Репутаційна експозиція через Samura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58768" y="3808476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Якщо категорія «японський ніж» асоціюється з брендом РФ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19288" y="3808476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62288" y="380847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104120" y="3785615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04120" y="3817620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93776" y="4055364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4096512"/>
            <a:ext cx="3236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Валютний і логістичний ризик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58768" y="4096512"/>
            <a:ext cx="4105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Гривня 44,86/$ у вересні 2026; морський фрахт з Азії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19288" y="4096512"/>
            <a:ext cx="1088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62288" y="4096512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Низький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104120" y="4073652"/>
            <a:ext cx="1225296" cy="18288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04120" y="4105656"/>
            <a:ext cx="12252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Segoe UI"/>
              </a:rPr>
              <a:t>Керований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66928" y="4407408"/>
            <a:ext cx="5413248" cy="182880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66928" y="4407408"/>
            <a:ext cx="36576" cy="182880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04672" y="45628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ОЗНАЧАЮТЬ ТРИ БЛОКУЮЧІ РИЗИКИ РАЗОМ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4672" y="4791456"/>
            <a:ext cx="493776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Вони не додаються — вони перемножуються. Ніша, що не росте, без доступу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до професійного каналу і без вільних топ-брендів, не залишає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жодної точки опори для нового імпортера справжньої Японії.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і є відповідь на питання «чи варто туди йти» у формулюванні,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у якому воно було поставлене.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17920" y="4407408"/>
            <a:ext cx="5413248" cy="182880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217920" y="4407408"/>
            <a:ext cx="36576" cy="18288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55664" y="45628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ЗМІНИЛО Б ОЦІНКУ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55664" y="4791456"/>
            <a:ext cx="493776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Угода про вільну торгівлю Україна–Японія або скасування мита на 8211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Вихід Samura з ринку або зміна споживчих настроїв щодо бренду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Партнер із національною мережею заточення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Пропозиція категорійного капітанства від Епіцентру або Rozetka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· Поява японського заводу, готового на OEM від 5 000 штук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Кожен із цих тригерів окремо не знімає блокування. Два разом — знімають.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ЯКІСТЬ ДАНИХ І ОБМЕЖЕННЯ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 ця робота може помилятися і наскільки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Без цього слайда колода була б рекламою власних висновків. Нижче — усе, що знижує надійність оцінок.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834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ОБМЕЖЕННЯ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572768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СУТЬ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1572768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ВПЛИВ НА ВИСНОВКИ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928" y="1572768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ЯК ЗАКРИТИ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792224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Митний код 8211 92 не є кухонним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1792224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Містить мисливські, обробні, польові ножі. Частка кухонних — припущення 55–70 %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16368" y="179222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± 20 % на весь розмір ринку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0928" y="1792224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Найбільше джерело похибки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06654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Немає даних за 2025 рік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206654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Comtrade / WITS ще не опублікували українську статистику за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8" y="206654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Уся митна частина — 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10928" y="206654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Ринок міг зрушити за 9 місяців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" y="2299715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234086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Війна спотворює структуру коду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234086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Попит на польові й тактичні ножі 2022–2025 завищує 8211 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6368" y="234086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Кухонна частка може бути ближче до 50 %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234086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Напрям похибки відомий, величина — ні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61518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SKU ≠ продажі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261518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Ширина асортименту — це ставка продавця, а не попит покупця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8" y="261518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Частки брендів можуть бути іншими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0928" y="261518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Панелі Nielsen/GfK по категорії в Україні немає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2848355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88950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Ціни — вітринні, не чисті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01568" y="288950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Включають промо; оптові ціни без акаунта постачальника недоступні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16368" y="288950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Маржинальні розрахунки орієнтовні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10928" y="288950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Потрібен доступ до прайсів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16382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Торгові націнки — конвенція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01568" y="316382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Множники 1,8–2,4 взяті як галузеві, не виміряні в Україні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16368" y="316382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± 15 % на роздрібну оцінку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10928" y="316382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Перевіряється тільки через продавців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3396995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343814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Модель HoReCa — не вимір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01568" y="343814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Заклади × ножі × цикл заміни: три оцінки поспіль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16368" y="343814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± 30 % на обсяг каналу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10928" y="343814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Потрібні інтерв'ю з шефами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71246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Сірий імпорт невидимий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01568" y="371246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Посилки до 150 € не оподатковуються і не обліковуються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16368" y="371246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Недооцінка верхнього сегмента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10928" y="371246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Саме там, де Amazon дешевший за локальну ціну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3945635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398678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Населення і територія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01568" y="398678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База для розрахунку на душу невизначена (≈ 31–33 млн)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16368" y="398678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± 6 % на подушові показники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10928" y="398678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Окуповані території не охоплені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4261103"/>
            <a:ext cx="2779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Дані про Samura — публічні джерела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01568" y="4261103"/>
            <a:ext cx="4059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Власність, походження і виробництво не перевірені незалежно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16368" y="4261103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Потребує підтвердження до рішення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10928" y="426110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Ключове твердження колоди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4718304"/>
            <a:ext cx="5413248" cy="15179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66928" y="4718304"/>
            <a:ext cx="36576" cy="1517904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4672" y="48737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ЩО ЦЕ НЕ ЗМІНЮЄ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5102352"/>
            <a:ext cx="4937760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Похибки впливають на розмір ринку, але не на його структуру.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Навіть якщо кухонна частка коду 8211 92 становить 50 %, а не 65 %,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співвідношення 1,3 % японського імпорту проти 73 % китайського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залишається тим самим. Усі структурні висновки колоди стійкі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до похибки в розмірі.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217920" y="4718304"/>
            <a:ext cx="5413248" cy="15179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17920" y="4718304"/>
            <a:ext cx="36576" cy="151790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55664" y="48737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ЗМІНЮЄ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55664" y="5102352"/>
            <a:ext cx="4937760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Абсолютні цифри — 691–924 млн грн, 16–19 млн грн, 180–220 тис. ножів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не можна класти у фінмодель без перевірки.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Вони придатні для рішення «йти / не йти» і непридатні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для рішення «скільки закупити».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Перед закупівлею потрібні дані оборотності від мереж.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ТРИ СЦЕНАРІЇ ВХОДУ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Рекомендація: не заходити як імпортер японських ножів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прочитання того самого ринку. Розташовані за спаданням привабливості, а не за звичністю.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42245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4144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4144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ВЛАСНИЙ БРЕНД У ЦІНОВІЙ ЗОНІ SAMURA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ДОСТУПНИЙ ОБСЯГ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37A169"/>
                </a:solidFill>
                <a:latin typeface="Segoe UI"/>
              </a:rPr>
              <a:t>₴150–230 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144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700 – 2 500 грн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37A169"/>
                </a:solidFill>
                <a:latin typeface="Segoe UI"/>
              </a:rPr>
              <a:t>ЛОГІКА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438144"/>
            <a:ext cx="318211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Своя ТМ японського типу з чесним походженням і україномовною упаковкою.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Постачальник — ЄС (0 % мита) або Китай за власною специфікацією.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Уразливість конкурента — не продукт, а походження бренду.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Потрібно 40–60 тис. штук на рік для точки беззбитковості.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486460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99262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5175504"/>
            <a:ext cx="31821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Ризик стати дванадцятим me-too брендом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Fissman і Krauff уже захищають цю ціну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Побудова бренду коштує дорожче за закупівлю</a:t>
            </a:r>
          </a:p>
        </p:txBody>
      </p:sp>
      <p:pic>
        <p:nvPicPr>
          <p:cNvPr id="28" name="Picture 27" descr="p_407a198e1355c9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6624" y="2048256"/>
            <a:ext cx="1225296" cy="713232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4270248" y="1554480"/>
            <a:ext cx="3584448" cy="42245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7141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7141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4476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УМОВНО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7141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ДОСТУПНА СПРАВЖНЯ ЯПОНІЯ 1 500–4 000 ГРН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7141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7141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ДОСТУПНИЙ ОБСЯГ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141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9A50B"/>
                </a:solidFill>
                <a:latin typeface="Segoe UI"/>
              </a:rPr>
              <a:t>₴8–12 млн сьогодні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4476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476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1 500 – 4 000 грн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7141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7141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F9A50B"/>
                </a:solidFill>
                <a:latin typeface="Segoe UI"/>
              </a:rPr>
              <a:t>ЛОГІКА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71416" y="3438144"/>
            <a:ext cx="318211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Єдина неохоронювана ділянка матриці справжньої Японії, де стоїть лише Satake.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Потрібен завод у Секі, готовий на OEM або дилерство.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Захищено автентичністю: історію не скопіювати закупівлею.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Потенціал зростання сегмента до 25–35 млн грн за 3–4 роки.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71416" y="486460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71416" y="499262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71416" y="5175504"/>
            <a:ext cx="31821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10 % мита проти 0 % у європейського конкурента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Сегмент малий навіть після зростання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Вимагає контенту і консультації, яких немає в ціні</a:t>
            </a:r>
          </a:p>
        </p:txBody>
      </p:sp>
      <p:pic>
        <p:nvPicPr>
          <p:cNvPr id="47" name="Picture 46" descr="p_cd7e51fe466c5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2048256"/>
            <a:ext cx="1225296" cy="7132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7973567" y="1554480"/>
            <a:ext cx="3584448" cy="42245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17473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473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84808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4808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НЕ РЕКОМЕНДОВАНО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7473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ІМПОРТ ПРЕМІАЛЬНОЇ ЯПОНІЇ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7473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7473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ДОСТУПНИЙ ОБСЯГ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7473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C03B4B"/>
                </a:solidFill>
                <a:latin typeface="Segoe UI"/>
              </a:rPr>
              <a:t>₴16–19 млн, не росте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808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808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7 500 – 40 140 грн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17473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7473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ЛОГІКА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74736" y="3438144"/>
            <a:ext cx="318211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Це сценарій, закладений у первинне формулювання задачі.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Ніша не росте: імпорт 2024 нижчий за 2022.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45 брендів уже присутні, топові слоти зайняті ексклюзивами.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HoReCa як канал зростання недоступна з шести структурних причин.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74736" y="486460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74736" y="499262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74736" y="5175504"/>
            <a:ext cx="318211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Три блокуючі ризики одночасно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Стеля платоспроможності 35–57 % зарплати за ніж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Немає сервісу, який виправдав би премію</a:t>
            </a:r>
          </a:p>
        </p:txBody>
      </p:sp>
      <p:pic>
        <p:nvPicPr>
          <p:cNvPr id="66" name="Picture 65" descr="p_98d9ac46a8338df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3263" y="2048256"/>
            <a:ext cx="1225296" cy="713232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566928" y="5870448"/>
            <a:ext cx="11064240" cy="8585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66928" y="5870448"/>
            <a:ext cx="36576" cy="8585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2" y="602589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ЧЕСНА ВІДПОВІДЬ НА ПОСТАВЛЕНЕ ПИТАННЯ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4672" y="6254496"/>
            <a:ext cx="10588752" cy="328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У поставленому формулюванні — преміальний японський продукт для професійної та домашньої кухні — ринок становить 16–19 млн грн, не росте і вже обслуговується 45 брендами з 14 каналів.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Гроші лежать не там, де написано «Японія», а там, де написано «сантоку». Рекомендація: сценарій A; B — лише за наявності заводу в Секі на OEM; C закрити.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РОБИТИ ДАЛІ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кроків до розмови з першим постачальником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дослідження відповідає на питання «чи йти». Наступний блок робіт відповідає на питання «з чим і за скільки».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4937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1572768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ЗРОБИТИ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3824" y="1572768"/>
            <a:ext cx="40965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ЗМІСТ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0336" y="15727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БЮДЖЕТ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8" y="1572768"/>
            <a:ext cx="841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СТРОК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54896" y="1572768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ЗАКРИВАЄ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55648"/>
            <a:ext cx="11155680" cy="60350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1883664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1933956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" y="1901952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F9A50B"/>
                </a:solidFill>
                <a:latin typeface="Segoe UI"/>
              </a:rPr>
              <a:t>ВИКУПИТИ ПОЛИЦЮ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3824" y="1828800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30–40 SKU в шести цінових діапазонах. Твердомір, XRF-аналіз
сталі, фотофіксація маркування, тест на різ.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0336" y="1920240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120–150 тис.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192024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тижні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54896" y="1828800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Підтверджує заявлені характеристики конкурентів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2542032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592324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" y="2560320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ОТРИМАТИ ДАНІ ОБОРОТНОСТІ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63824" y="2487168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Категорійні дані від одного маркетплейсу (Rozetka або Prom)
і одного великого формату (Епіцентр).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0336" y="257860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Комерційні умови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13648" y="2578608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4–8 тижнів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54896" y="2487168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Замінює SKU-оцінки реальними частками ринку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" y="3072384"/>
            <a:ext cx="11155680" cy="60350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66928" y="3200400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3250692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3218688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ПЕРЕВІРИТИ ПОЗИЦІЮ SAMURA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63824" y="3145536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Ранг і швидкість обігу в мережах. Маркування країни
виробництва на фізичному товарі з полиці.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60336" y="3236976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Включено в крок 01–02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13648" y="3236976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 тижні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54896" y="3145536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Головна гіпотеза колоди: без неї сценарій A не рахується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3858768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390906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" y="3877055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F9A50B"/>
                </a:solidFill>
                <a:latin typeface="Segoe UI"/>
              </a:rPr>
              <a:t>ТЕСТ ЦІНОВОЇ ЕЛАСТИЧНОСТІ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63824" y="3803903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200 респондентів: готовність платити за сантоку 170 мм
на точках 699 / 1 199 / 1 999 / 3 499 грн.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0336" y="3895344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60–90 тис.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13648" y="3895344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тижні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54896" y="3803903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Дає цільову цінову точку до першої закупівлі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3776" y="4389120"/>
            <a:ext cx="11155680" cy="60350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66928" y="4517136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4567428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0704" y="4535423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ІНТЕРВ'Ю З ШЕФАМИ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63824" y="4462271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12 шефів ресторанів і 4 шефи суші-закладів: що купують,
де, чому не Японію, хто платить — заклад чи вони самі.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60336" y="4553712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30 тис.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13648" y="4553712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3 тижні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54896" y="4462271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Перевіряє шість причин зі слайда 41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5175503"/>
            <a:ext cx="365760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225796"/>
            <a:ext cx="365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0704" y="5193791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40" b="1">
                <a:solidFill>
                  <a:srgbClr val="F9A50B"/>
                </a:solidFill>
                <a:latin typeface="Segoe UI"/>
              </a:rPr>
              <a:t>ДВІ ЗУСТРІЧНІ КОТИРОВКИ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63824" y="5120639"/>
            <a:ext cx="39867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Один завод у ЄС і один у Секі на ту саму специфікацію.
Порівняти landed cost із урахуванням 10 % мита.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5212079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Вартість зразків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13648" y="5212079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4–6 тижнів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54896" y="5120639"/>
            <a:ext cx="21762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670" b="0">
                <a:solidFill>
                  <a:srgbClr val="717890"/>
                </a:solidFill>
                <a:latin typeface="Segoe UI"/>
              </a:rPr>
              <a:t>Перетворює тарифну різницю зі слайда 6 на цифру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" y="5779008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66928" y="5779008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4672" y="59344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РАЗОМ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4672" y="6163056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Бюджет блоку: ≈ 210–270 тис. грн плюс комерційні умови на дані мереж.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Строк: 8–10 тижнів. Це менше за вартість однієї помилкової контейнерної закупівлі.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17920" y="5779008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17920" y="5779008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55664" y="59344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ПОСЛІДОВНІСТЬ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55664" y="6163056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Кроки 01, 03 і 04 виконуються паралельно і дають рішення по сценарію A.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Крок 06 запускається тільки якщо сценарій B залишається на столі після кроку 04.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ДЖЕРЕЛА І МЕТОДИКА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На чому побудована кожна цифра в цій колоді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Усі дані зібрані з публічних джерел у вересні 2026 року. Первинних інтерв'ю та закритих баз не використовувалось.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5413248" cy="19751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6576" cy="197510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190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МИТНА СТАТИСТИКА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56816"/>
            <a:ext cx="493776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World Bank WITS / UN Comtrade — імпорт України, коди 8211 10, 8211 91, 8211 92,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роки 2022, 2023, 2024, розбивка за країнами походження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УКТЗЕД / QDPro — ставки ввізного мита та ПДВ для коду 8211 92 00 00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Перевірено: даних за 2025 рік станом на вересень 2026 не опубліковано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5413248" cy="19751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554480"/>
            <a:ext cx="36576" cy="197510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7190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АУДИТ АСОРТИМЕНТУ ТА ЦІН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956816"/>
            <a:ext cx="493776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epicentrk.ua — категорія «Кухонні ножі», 4 950 SKU, бренди та ціни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rozetka.com.ua — фільтри за брендами і типом «японський ніж (сантоку)»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prom.ua — категорія «Японські кухонні ножі», продавці та ціни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profimax.com.ua, roks.in.ua, japan-knife.com.ua, volod.in.ua, rezat.com.ua,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hangiri.com.ua, europosud.ua, nojaro.com.ua, smart-kitchen.com.ua,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wildcat.biz.ua, izzabugra.com.ua, kagura.com.ua, ibis.net.ua, x-gear.com.ua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yaxell.com.ua, zwilling.in.ua, lacocotte.com.ua, arcos.com.ua — монобренд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al-group.com.ua, lfood.com.ua — оптові каталоги HoReCa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675887"/>
            <a:ext cx="5413248" cy="19751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3675887"/>
            <a:ext cx="36576" cy="197510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840479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МАКРОЕКОНОМІКА ТА HORECA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078224"/>
            <a:ext cx="493776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Держстат — середня заробітна плата, грудень 2025: 30 926 грн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НБУ — офіційний курс USD/UAH, 30.09.2026: 44,86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Профільні огляди ресторанного ринку 2025: виручка 246,7 млрд грн, +21,7 %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Дані про реєстрацію та закриття ФОП у сфері харчування, 2025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LunchPoint та публікації про заклади японської кухні в Києві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675887"/>
            <a:ext cx="5413248" cy="197510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3675887"/>
            <a:ext cx="36576" cy="1975104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5664" y="3840479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БРЕНДИ, ПОХОДЖЕННЯ ТА ЗОБРАЖЕННЯ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4078224"/>
            <a:ext cx="493776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Фото — картки товарів із каталогів volod.in.ua, roks.in.ua, rezat.com.ua,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yaxell.com.ua, arcos.com.ua. Використані як ілюстрація до конкурентного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аналізу з посиланням на джерело; права належать правовласникам.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Креслення профілів клинка — власні схеми, не зображення конкретних моделей.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samura.ru — офіційний магазин бренду; профіль компанії на Forbes.ru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Офіційні описи виробників: Yaxell, KAI, Tojiro (з 1953), Satake (Секі, з 1947),</a:t>
            </a:r>
          </a:p>
          <a:p>
            <a:pPr algn="l">
              <a:lnSpc>
                <a:spcPct val="134000"/>
              </a:lnSpc>
              <a:spcAft>
                <a:spcPts val="15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· Kasumi / Sumikama, Suncraft, Kanetsugu, Sakai Takayuki, Global (Yoshikin)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742432"/>
            <a:ext cx="11064240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5742432"/>
            <a:ext cx="36576" cy="851712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897880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FA9C4"/>
                </a:solidFill>
                <a:latin typeface="Segoe UI"/>
              </a:rPr>
              <a:t>МЕТОДОЛОГІЧНЕ ЗАСТЕРЕЖЕННЯ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6126480"/>
            <a:ext cx="10588752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Оцінки обсягу ринку, часток цінових діапазонів і попиту HoReCa — авторські розрахунки на базі публічних даних і явно зазначених припущень.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Вони не є виміряними продажами і не замінюють рітейл-панель.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