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jpg"/><Relationship Id="rId11" Type="http://schemas.openxmlformats.org/officeDocument/2006/relationships/image" Target="../media/image14.jpg"/><Relationship Id="rId12" Type="http://schemas.openxmlformats.org/officeDocument/2006/relationships/image" Target="../media/image1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Relationship Id="rId9" Type="http://schemas.openxmlformats.org/officeDocument/2006/relationships/image" Target="../media/image22.jpg"/><Relationship Id="rId10" Type="http://schemas.openxmlformats.org/officeDocument/2006/relationships/image" Target="../media/image23.jpg"/><Relationship Id="rId11" Type="http://schemas.openxmlformats.org/officeDocument/2006/relationships/image" Target="../media/image24.jpg"/><Relationship Id="rId12" Type="http://schemas.openxmlformats.org/officeDocument/2006/relationships/image" Target="../media/image25.jpg"/><Relationship Id="rId13" Type="http://schemas.openxmlformats.org/officeDocument/2006/relationships/image" Target="../media/image26.jpg"/><Relationship Id="rId14" Type="http://schemas.openxmlformats.org/officeDocument/2006/relationships/image" Target="../media/image2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Relationship Id="rId11" Type="http://schemas.openxmlformats.org/officeDocument/2006/relationships/image" Target="../media/image36.jpg"/><Relationship Id="rId12" Type="http://schemas.openxmlformats.org/officeDocument/2006/relationships/image" Target="../media/image37.jpg"/><Relationship Id="rId13" Type="http://schemas.openxmlformats.org/officeDocument/2006/relationships/image" Target="../media/image38.jpg"/><Relationship Id="rId14" Type="http://schemas.openxmlformats.org/officeDocument/2006/relationships/image" Target="../media/image3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Relationship Id="rId13" Type="http://schemas.openxmlformats.org/officeDocument/2006/relationships/image" Target="../media/image50.jpg"/><Relationship Id="rId14" Type="http://schemas.openxmlformats.org/officeDocument/2006/relationships/image" Target="../media/image5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Relationship Id="rId7" Type="http://schemas.openxmlformats.org/officeDocument/2006/relationships/image" Target="../media/image56.jpg"/><Relationship Id="rId8" Type="http://schemas.openxmlformats.org/officeDocument/2006/relationships/image" Target="../media/image57.jpg"/><Relationship Id="rId9" Type="http://schemas.openxmlformats.org/officeDocument/2006/relationships/image" Target="../media/image58.jpg"/><Relationship Id="rId10" Type="http://schemas.openxmlformats.org/officeDocument/2006/relationships/image" Target="../media/image59.jpg"/><Relationship Id="rId11" Type="http://schemas.openxmlformats.org/officeDocument/2006/relationships/image" Target="../media/image60.jpg"/><Relationship Id="rId12" Type="http://schemas.openxmlformats.org/officeDocument/2006/relationships/image" Target="../media/image61.jpg"/><Relationship Id="rId13" Type="http://schemas.openxmlformats.org/officeDocument/2006/relationships/image" Target="../media/image62.jpg"/><Relationship Id="rId14" Type="http://schemas.openxmlformats.org/officeDocument/2006/relationships/image" Target="../media/image6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4.jpg"/><Relationship Id="rId4" Type="http://schemas.openxmlformats.org/officeDocument/2006/relationships/image" Target="../media/image65.jpg"/><Relationship Id="rId5" Type="http://schemas.openxmlformats.org/officeDocument/2006/relationships/image" Target="../media/image66.jpg"/><Relationship Id="rId6" Type="http://schemas.openxmlformats.org/officeDocument/2006/relationships/image" Target="../media/image67.jpg"/><Relationship Id="rId7" Type="http://schemas.openxmlformats.org/officeDocument/2006/relationships/image" Target="../media/image68.jpg"/><Relationship Id="rId8" Type="http://schemas.openxmlformats.org/officeDocument/2006/relationships/image" Target="../media/image69.jpg"/><Relationship Id="rId9" Type="http://schemas.openxmlformats.org/officeDocument/2006/relationships/image" Target="../media/image70.jpg"/><Relationship Id="rId10" Type="http://schemas.openxmlformats.org/officeDocument/2006/relationships/image" Target="../media/image71.jpg"/><Relationship Id="rId11" Type="http://schemas.openxmlformats.org/officeDocument/2006/relationships/image" Target="../media/image72.jpg"/><Relationship Id="rId12" Type="http://schemas.openxmlformats.org/officeDocument/2006/relationships/image" Target="../media/image73.jpg"/><Relationship Id="rId13" Type="http://schemas.openxmlformats.org/officeDocument/2006/relationships/image" Target="../media/image74.jpg"/><Relationship Id="rId14" Type="http://schemas.openxmlformats.org/officeDocument/2006/relationships/image" Target="../media/image75.jpg"/><Relationship Id="rId15" Type="http://schemas.openxmlformats.org/officeDocument/2006/relationships/image" Target="../media/image76.jpg"/><Relationship Id="rId16" Type="http://schemas.openxmlformats.org/officeDocument/2006/relationships/image" Target="../media/image77.jpg"/><Relationship Id="rId17" Type="http://schemas.openxmlformats.org/officeDocument/2006/relationships/image" Target="../media/image78.jpg"/><Relationship Id="rId18" Type="http://schemas.openxmlformats.org/officeDocument/2006/relationships/image" Target="../media/image79.jpg"/><Relationship Id="rId19" Type="http://schemas.openxmlformats.org/officeDocument/2006/relationships/image" Target="../media/image80.jpg"/><Relationship Id="rId20" Type="http://schemas.openxmlformats.org/officeDocument/2006/relationships/image" Target="../media/image81.jpg"/><Relationship Id="rId21" Type="http://schemas.openxmlformats.org/officeDocument/2006/relationships/image" Target="../media/image82.jpg"/><Relationship Id="rId22" Type="http://schemas.openxmlformats.org/officeDocument/2006/relationships/image" Target="../media/image8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4.jpg"/><Relationship Id="rId4" Type="http://schemas.openxmlformats.org/officeDocument/2006/relationships/image" Target="../media/image85.jpg"/><Relationship Id="rId5" Type="http://schemas.openxmlformats.org/officeDocument/2006/relationships/image" Target="../media/image86.jpg"/><Relationship Id="rId6" Type="http://schemas.openxmlformats.org/officeDocument/2006/relationships/image" Target="../media/image42.jpg"/><Relationship Id="rId7" Type="http://schemas.openxmlformats.org/officeDocument/2006/relationships/image" Target="../media/image87.jpg"/><Relationship Id="rId8" Type="http://schemas.openxmlformats.org/officeDocument/2006/relationships/image" Target="../media/image88.jpg"/><Relationship Id="rId9" Type="http://schemas.openxmlformats.org/officeDocument/2006/relationships/image" Target="../media/image89.jpg"/><Relationship Id="rId10" Type="http://schemas.openxmlformats.org/officeDocument/2006/relationships/image" Target="../media/image90.jpg"/><Relationship Id="rId11" Type="http://schemas.openxmlformats.org/officeDocument/2006/relationships/image" Target="../media/image91.jpg"/><Relationship Id="rId12" Type="http://schemas.openxmlformats.org/officeDocument/2006/relationships/image" Target="../media/image92.jpg"/><Relationship Id="rId13" Type="http://schemas.openxmlformats.org/officeDocument/2006/relationships/image" Target="../media/image56.jpg"/><Relationship Id="rId14" Type="http://schemas.openxmlformats.org/officeDocument/2006/relationships/image" Target="../media/image9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jpg"/><Relationship Id="rId4" Type="http://schemas.openxmlformats.org/officeDocument/2006/relationships/image" Target="../media/image94.jpg"/><Relationship Id="rId5" Type="http://schemas.openxmlformats.org/officeDocument/2006/relationships/image" Target="../media/image95.jpg"/><Relationship Id="rId6" Type="http://schemas.openxmlformats.org/officeDocument/2006/relationships/image" Target="../media/image96.jpg"/><Relationship Id="rId7" Type="http://schemas.openxmlformats.org/officeDocument/2006/relationships/image" Target="../media/image97.jpg"/><Relationship Id="rId8" Type="http://schemas.openxmlformats.org/officeDocument/2006/relationships/image" Target="../media/image98.jpg"/><Relationship Id="rId9" Type="http://schemas.openxmlformats.org/officeDocument/2006/relationships/image" Target="../media/image99.jpg"/><Relationship Id="rId10" Type="http://schemas.openxmlformats.org/officeDocument/2006/relationships/image" Target="../media/image46.jpg"/><Relationship Id="rId11" Type="http://schemas.openxmlformats.org/officeDocument/2006/relationships/image" Target="../media/image49.jpg"/><Relationship Id="rId12" Type="http://schemas.openxmlformats.org/officeDocument/2006/relationships/image" Target="../media/image100.jpg"/><Relationship Id="rId13" Type="http://schemas.openxmlformats.org/officeDocument/2006/relationships/image" Target="../media/image101.jpg"/><Relationship Id="rId14" Type="http://schemas.openxmlformats.org/officeDocument/2006/relationships/image" Target="../media/image6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Relationship Id="rId4" Type="http://schemas.openxmlformats.org/officeDocument/2006/relationships/image" Target="../media/image102.jpg"/><Relationship Id="rId5" Type="http://schemas.openxmlformats.org/officeDocument/2006/relationships/image" Target="../media/image103.jpg"/><Relationship Id="rId6" Type="http://schemas.openxmlformats.org/officeDocument/2006/relationships/image" Target="../media/image33.jpg"/><Relationship Id="rId7" Type="http://schemas.openxmlformats.org/officeDocument/2006/relationships/image" Target="../media/image104.jpg"/><Relationship Id="rId8" Type="http://schemas.openxmlformats.org/officeDocument/2006/relationships/image" Target="../media/image105.jpg"/><Relationship Id="rId9" Type="http://schemas.openxmlformats.org/officeDocument/2006/relationships/image" Target="../media/image106.jpg"/><Relationship Id="rId10" Type="http://schemas.openxmlformats.org/officeDocument/2006/relationships/image" Target="../media/image107.jpg"/><Relationship Id="rId11" Type="http://schemas.openxmlformats.org/officeDocument/2006/relationships/image" Target="../media/image108.jpg"/><Relationship Id="rId12" Type="http://schemas.openxmlformats.org/officeDocument/2006/relationships/image" Target="../media/image109.jpg"/><Relationship Id="rId13" Type="http://schemas.openxmlformats.org/officeDocument/2006/relationships/image" Target="../media/image110.jpg"/><Relationship Id="rId14" Type="http://schemas.openxmlformats.org/officeDocument/2006/relationships/image" Target="../media/image4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1.jpg"/><Relationship Id="rId4" Type="http://schemas.openxmlformats.org/officeDocument/2006/relationships/image" Target="../media/image112.jpg"/><Relationship Id="rId5" Type="http://schemas.openxmlformats.org/officeDocument/2006/relationships/image" Target="../media/image113.jpg"/><Relationship Id="rId6" Type="http://schemas.openxmlformats.org/officeDocument/2006/relationships/image" Target="../media/image114.jpg"/><Relationship Id="rId7" Type="http://schemas.openxmlformats.org/officeDocument/2006/relationships/image" Target="../media/image115.jpg"/><Relationship Id="rId8" Type="http://schemas.openxmlformats.org/officeDocument/2006/relationships/image" Target="../media/image116.jpg"/><Relationship Id="rId9" Type="http://schemas.openxmlformats.org/officeDocument/2006/relationships/image" Target="../media/image117.jpg"/><Relationship Id="rId10" Type="http://schemas.openxmlformats.org/officeDocument/2006/relationships/image" Target="../media/image118.jpg"/><Relationship Id="rId11" Type="http://schemas.openxmlformats.org/officeDocument/2006/relationships/image" Target="../media/image119.jpg"/><Relationship Id="rId12" Type="http://schemas.openxmlformats.org/officeDocument/2006/relationships/image" Target="../media/image120.jpg"/><Relationship Id="rId13" Type="http://schemas.openxmlformats.org/officeDocument/2006/relationships/image" Target="../media/image121.jpg"/><Relationship Id="rId14" Type="http://schemas.openxmlformats.org/officeDocument/2006/relationships/image" Target="../media/image122.jpg"/><Relationship Id="rId15" Type="http://schemas.openxmlformats.org/officeDocument/2006/relationships/image" Target="../media/image123.jpg"/><Relationship Id="rId16" Type="http://schemas.openxmlformats.org/officeDocument/2006/relationships/image" Target="../media/image124.jpg"/><Relationship Id="rId17" Type="http://schemas.openxmlformats.org/officeDocument/2006/relationships/image" Target="../media/image125.jpg"/><Relationship Id="rId18" Type="http://schemas.openxmlformats.org/officeDocument/2006/relationships/image" Target="../media/image126.jpg"/><Relationship Id="rId19" Type="http://schemas.openxmlformats.org/officeDocument/2006/relationships/image" Target="../media/image127.jpg"/><Relationship Id="rId20" Type="http://schemas.openxmlformats.org/officeDocument/2006/relationships/image" Target="../media/image12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jpg"/><Relationship Id="rId4" Type="http://schemas.openxmlformats.org/officeDocument/2006/relationships/image" Target="../media/image130.jpg"/><Relationship Id="rId5" Type="http://schemas.openxmlformats.org/officeDocument/2006/relationships/image" Target="../media/image131.jpg"/><Relationship Id="rId6" Type="http://schemas.openxmlformats.org/officeDocument/2006/relationships/image" Target="../media/image132.jpg"/><Relationship Id="rId7" Type="http://schemas.openxmlformats.org/officeDocument/2006/relationships/image" Target="../media/image133.jpg"/><Relationship Id="rId8" Type="http://schemas.openxmlformats.org/officeDocument/2006/relationships/image" Target="../media/image134.jpg"/><Relationship Id="rId9" Type="http://schemas.openxmlformats.org/officeDocument/2006/relationships/image" Target="../media/image135.jpg"/><Relationship Id="rId10" Type="http://schemas.openxmlformats.org/officeDocument/2006/relationships/image" Target="../media/image136.jpg"/><Relationship Id="rId11" Type="http://schemas.openxmlformats.org/officeDocument/2006/relationships/image" Target="../media/image137.jpg"/><Relationship Id="rId12" Type="http://schemas.openxmlformats.org/officeDocument/2006/relationships/image" Target="../media/image138.jpg"/><Relationship Id="rId13" Type="http://schemas.openxmlformats.org/officeDocument/2006/relationships/image" Target="../media/image139.jpg"/><Relationship Id="rId14" Type="http://schemas.openxmlformats.org/officeDocument/2006/relationships/image" Target="../media/image140.jpg"/><Relationship Id="rId15" Type="http://schemas.openxmlformats.org/officeDocument/2006/relationships/image" Target="../media/image141.jpg"/><Relationship Id="rId16" Type="http://schemas.openxmlformats.org/officeDocument/2006/relationships/image" Target="../media/image142.jpg"/><Relationship Id="rId17" Type="http://schemas.openxmlformats.org/officeDocument/2006/relationships/image" Target="../media/image143.jpg"/><Relationship Id="rId18" Type="http://schemas.openxmlformats.org/officeDocument/2006/relationships/image" Target="../media/image144.jpg"/><Relationship Id="rId19" Type="http://schemas.openxmlformats.org/officeDocument/2006/relationships/image" Target="../media/image145.jpg"/><Relationship Id="rId20" Type="http://schemas.openxmlformats.org/officeDocument/2006/relationships/image" Target="../media/image146.jpg"/><Relationship Id="rId21" Type="http://schemas.openxmlformats.org/officeDocument/2006/relationships/image" Target="../media/image14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059168" cy="6858000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59168" y="0"/>
            <a:ext cx="16459" cy="685800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682496" cy="7273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792224"/>
            <a:ext cx="566928" cy="32004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029968"/>
            <a:ext cx="6309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304288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Японські ножі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для професійної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590288"/>
            <a:ext cx="3291840" cy="16459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809744"/>
            <a:ext cx="603504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5742432"/>
            <a:ext cx="4078224" cy="566928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 w="9525">
            <a:solidFill>
              <a:srgbClr val="4552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5907024"/>
            <a:ext cx="237744" cy="237744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87044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Georgia"/>
              </a:rPr>
              <a:t>M A D E   I N   J A P A N   O N L 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6099048"/>
            <a:ext cx="3383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</a:p>
        </p:txBody>
      </p:sp>
      <p:pic>
        <p:nvPicPr>
          <p:cNvPr id="15" name="Picture 14" descr="p_fb4ec7931d5184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512064"/>
            <a:ext cx="4114800" cy="267004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516368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44ba51ea8424ea3f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0376" y="3374136"/>
            <a:ext cx="1207008" cy="9144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906256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a84b4529c2c8fb4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0264" y="3374136"/>
            <a:ext cx="1207008" cy="9144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296144" y="3310128"/>
            <a:ext cx="1335024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_965f872cd0c1a6d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0152" y="3374136"/>
            <a:ext cx="1207008" cy="914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1636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1636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6267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691–924 млн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19488" y="4535424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19488" y="4535424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466344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16–19 млн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495604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1636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267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103 тис. 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19488" y="5321808"/>
            <a:ext cx="2011680" cy="676656"/>
          </a:xfrm>
          <a:prstGeom prst="rect">
            <a:avLst/>
          </a:prstGeom>
          <a:solidFill>
            <a:srgbClr val="26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19488" y="5321808"/>
            <a:ext cx="2011680" cy="2011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544982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9B165"/>
                </a:solidFill>
                <a:latin typeface="Georgia"/>
              </a:rPr>
              <a:t>1,3 %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57424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16368" y="5998464"/>
            <a:ext cx="4114800" cy="10972"/>
          </a:xfrm>
          <a:prstGeom prst="rect">
            <a:avLst/>
          </a:prstGeom>
          <a:solidFill>
            <a:srgbClr val="455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16368" y="6144768"/>
            <a:ext cx="41696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24 слайди · 25 продавців · 56 перевірених брендів · 259 ножів у каталозі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680" b="0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Г О Л О В Н 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261518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Н А   Б А З А   2 0 2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966E28"/>
                </a:solidFill>
                <a:latin typeface="Georgia"/>
              </a:rPr>
              <a:t>9,02 млн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83280" y="1554480"/>
            <a:ext cx="261518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,   О Ц І Н К 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2A7F86"/>
                </a:solidFill>
                <a:latin typeface="Georgia"/>
              </a:rPr>
              <a:t>691–924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2736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554480"/>
            <a:ext cx="261518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І М П О Р Т   І З   Я П О Н І 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54780"/>
                </a:solidFill>
                <a:latin typeface="Georgia"/>
              </a:rPr>
              <a:t>103 тис.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15984" y="1554480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15984" y="1554480"/>
            <a:ext cx="261518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1728216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1920240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A84A6B"/>
                </a:solidFill>
                <a:latin typeface="Georgia"/>
              </a:rPr>
              <a:t>16–19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41401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2798064"/>
            <a:ext cx="261518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42E3A"/>
                </a:solidFill>
                <a:latin typeface="Georgia"/>
              </a:rPr>
              <a:t>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каталогах продавців.
Сумарно 759 позицій.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798064"/>
            <a:ext cx="2615184" cy="25603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2736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2736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A7D5A"/>
                </a:solidFill>
                <a:latin typeface="Georgia"/>
              </a:rPr>
              <a:t>2 з 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2736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9632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9632" y="2798064"/>
            <a:ext cx="2615184" cy="2560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19088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М И Т О   Н А   Я П О Н І 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9088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B88A3D"/>
                </a:solidFill>
                <a:latin typeface="Georgia"/>
              </a:rPr>
              <a:t>10 %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15984" y="2798064"/>
            <a:ext cx="2615184" cy="115214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15984" y="2798064"/>
            <a:ext cx="2615184" cy="25603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5440" y="297180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Н О В И Й   Р О З М А 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163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B253F"/>
                </a:solidFill>
                <a:latin typeface="Georgia"/>
              </a:rPr>
              <a:t>726–60 495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657600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AA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AA2B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87044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" y="591159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126480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126480"/>
            <a:ext cx="36576" cy="475488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9808" y="6181344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966E28"/>
                </a:solidFill>
                <a:latin typeface="Segoe UI"/>
              </a:rPr>
              <a:t>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99616" y="6217920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83280" y="6126480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83280" y="6126480"/>
            <a:ext cx="36576" cy="47548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60" y="6181344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A7F86"/>
                </a:solidFill>
                <a:latin typeface="Segoe U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5968" y="6217920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6126480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99632" y="6126480"/>
            <a:ext cx="36576" cy="475488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82512" y="6181344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B42E3A"/>
                </a:solidFill>
                <a:latin typeface="Segoe UI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6217920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015984" y="6126480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15984" y="6126480"/>
            <a:ext cx="36576" cy="475488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98863" y="6181344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54780"/>
                </a:solidFill>
                <a:latin typeface="Segoe UI"/>
              </a:rPr>
              <a:t>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6217920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9" name="Picture 18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23" name="Picture 22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165–180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8" name="Picture 27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Кіріцуке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180–240 мм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32" name="Picture 31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210–300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7" name="Picture 36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150–180 мм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41" name="Picture 40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6B7282"/>
                </a:solidFill>
                <a:latin typeface="Segoe UI"/>
              </a:rPr>
              <a:t>Петті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6B7282"/>
                </a:solidFill>
                <a:latin typeface="Segoe UI"/>
              </a:rPr>
              <a:t>90–150 мм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1B253F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6" name="Picture 45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ТИП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Сантоку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12 000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Гюто / шеф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500 – 27 970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Драйвер ціни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Петті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175 – 5 000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1 249 – 13 290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1 107 – 13 971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Деба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1 470 – 9 000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Вузький HoReCa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AA2B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3 000 – 20 000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Довгий хвіст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51A26"/>
                </a:solidFill>
                <a:latin typeface="Segoe UI"/>
              </a:rPr>
              <a:t>2 500 – 27 970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91ad057c1cdbe7f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Накірі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Росте вдома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cbd544534962eb9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Янагіба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500–900 шт/рік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p_6fb574fdc4b6efa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Набір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773936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17739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1773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HRC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7739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РОЗДРІБ,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1773936"/>
            <a:ext cx="5349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" y="195224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99339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15768" y="199339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AUS-6A, AUS-8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199339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56–58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199339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700 – 2 500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199339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Satake Saku, Seki Kanetsugu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242108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15768" y="22421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VG-10 core, clad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2242108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8888" y="224210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2 500 – 6 000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242108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Tojiro DP, KAI Wasabi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44967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490825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VG-10 + дамаск 32–69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15768" y="249082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damascus clad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2490825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8888" y="249082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5 000 – 12 000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490825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Kasumi, Yaxell Ran, KAI Shun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2739542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273954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101–193 шари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8808" y="2739542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8888" y="273954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12 000 – 43 020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8" y="2739542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Yaxell Super Gou, Miyabi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4711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88259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15768" y="298825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одностороннє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8808" y="2988259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62–65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8888" y="298825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25 000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2988259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Tosa, HONMAMON, Sakai Takayuki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6976"/>
            <a:ext cx="2093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Honyaki, Ginsan моносталь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15768" y="32369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суцільне гартування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8808" y="3236976"/>
            <a:ext cx="5852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63–65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8888" y="323697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236976"/>
            <a:ext cx="5294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3931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87705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84248" y="3877056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ВИРОБНИЦТВО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33288" y="387705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БРЕНДІВ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4807" y="3877056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3877056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055364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096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Секі, Гіфу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84248" y="409651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33288" y="4096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4807" y="409651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726 – 70 102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409651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3452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Сакаї, Осака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84248" y="434522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43452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7" y="434522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1 999 – 15 580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345228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3776" y="4552797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4593945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84248" y="459394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4593945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7" y="459394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5 320 – 16 677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56448" y="4593945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484266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Тоса, Коті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84248" y="484266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33288" y="484266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64807" y="484266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2 610 – 10 035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56448" y="4842662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050231"/>
            <a:ext cx="11210544" cy="23957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091379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4248" y="509137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5091379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64807" y="509137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9 900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56448" y="5091379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5340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4248" y="53400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33288" y="5340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64807" y="53400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14 800 – 16 740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56448" y="5340096"/>
            <a:ext cx="3419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ДЕ В ЦЬОМУ SAKAI TAKAYUKI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Я К І С Т Ь   ·   1   ·   М А Р К А   С Т А Л 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Ніж купують не за брендом, а за сталлю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Марка сталі визначає три речі: скільки ніж тримає кромку, чи іржавіє і як легко викришується. Руків'я, дизайн та ім'я — вторинні.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91056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8256" y="159105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ТИП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159105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HRC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59105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ТРИМАЄ КРОМКУ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591056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ІРЖАВІЄ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5312" y="159105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РИЗИК СКОЛУ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1591056"/>
            <a:ext cx="11521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ЗАТОЧУВАННЯ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1591056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РОЗДРІБ,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1591056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ЦЕ ДОРЕЧНО НА КУХНІ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1769364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1810512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AUS-8 / AUS-10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8256" y="1810512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3552" y="1810512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56–58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18105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коротко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1810512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25312" y="1810512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низький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181051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просте, мусат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9872" y="1810512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700 – 2 500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1810512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Лінійна станція, висока плинність персоналу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116836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6B7282"/>
                </a:solidFill>
                <a:latin typeface="Segoe UI"/>
              </a:rPr>
              <a:t>Мо-ванадієва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8256" y="2116836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73552" y="2116836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57–59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211683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коротко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2116836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25312" y="2116836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низький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728" y="211683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просте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19872" y="2116836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900 – 3 000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2116836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Заготовка, овочі, робота «на потік»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382012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423160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48256" y="2423160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73552" y="2423160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60–61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42316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добре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2423160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25312" y="2423160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середній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42316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 1000/3000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19872" y="2423160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2 500 – 12 000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423160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Універсальний вибір шефа: баланс усіх властивостей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729484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Ginsan / Silver #3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48256" y="272948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нержавійка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73552" y="2729484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61–62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27294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дуже добре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0" y="2729484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25312" y="2729484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середній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67728" y="272948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19872" y="2729484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9 000 – 20 000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18320" y="2729484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Коли потрібна гострота вуглецю без догляду за ним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2994660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03580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SG-2 / R2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48256" y="3035808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порошкова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3035808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30358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відмінно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3035808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25312" y="3035808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високий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67728" y="3035808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камені, навичка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19872" y="3035808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12 000 – 45 000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3035808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Фініш, нарізка, презентація. Не для кістки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3342132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ZDP-189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3342132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порошкова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73552" y="3342132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65–67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334213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максимум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3342132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ні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25312" y="3342132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дуже високий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67728" y="3342132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лише майстер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19872" y="3342132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17 000 – 70 000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18320" y="3342132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Колекційний рівень. На потоковій кухні зайвий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93776" y="3607308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3648456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Shirogami (біла)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48256" y="3648456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вуглець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73552" y="3648456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62–64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40480" y="364845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відмінно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0" y="3648456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так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25312" y="3648456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високий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67728" y="364845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камені, часто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19872" y="3648456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25 000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18320" y="3648456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Суші-станція, риба. Витирати після кожного різу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3954780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Aogami (синя)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48256" y="3954780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вуглець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73552" y="3954780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62–65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840480" y="39547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максимум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0" y="3954780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так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25312" y="3954780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B42E3A"/>
                </a:solidFill>
                <a:latin typeface="Segoe UI"/>
              </a:rPr>
              <a:t>високий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67728" y="395478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камені, часто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19872" y="3954780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4 000 – 60 000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18320" y="3954780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Та сама задача, але кромка тримається довше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93776" y="4219956"/>
            <a:ext cx="11210544" cy="2971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66928" y="4261104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SLD / Chromax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48256" y="4261104"/>
            <a:ext cx="11704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інструментальна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73552" y="4261104"/>
            <a:ext cx="512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61–63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840480" y="42611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дуже добре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029200" y="4261104"/>
            <a:ext cx="84124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майже ні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925312" y="4261104"/>
            <a:ext cx="9875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середній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67728" y="426110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камені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19872" y="4261104"/>
            <a:ext cx="1243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5 000 – 20 000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18320" y="4261104"/>
            <a:ext cx="21579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Компроміс: ріже як вуглець, доглядається як нержавійка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66928" y="4645152"/>
            <a:ext cx="3584448" cy="100218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66928" y="4645152"/>
            <a:ext cx="36576" cy="100218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04672" y="48006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HRC — ЩО ЦЕ НАСПРАВДІ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4672" y="5029200"/>
            <a:ext cx="3108960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Твердість за Роквеллом. Кожні +2 HRC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приблизно вдвічі довша кромка і вдвічі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вищий ризик її виломити. Європа — 56–58.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297680" y="4645152"/>
            <a:ext cx="3584448" cy="100218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297680" y="4645152"/>
            <a:ext cx="36576" cy="100218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535424" y="48006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ВУГЛЕЦЬ ПРОТИ НЕРЖАВІЙКИ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35424" y="5029200"/>
            <a:ext cx="3108960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Вуглець гостріший і довше тримає кромку,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але вкривається патиною за годину роботи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й ржавіє. Режим простий: витер — поклав.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046720" y="4645152"/>
            <a:ext cx="3584448" cy="1002182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046720" y="4645152"/>
            <a:ext cx="36576" cy="100218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84464" y="4800600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54780"/>
                </a:solidFill>
                <a:latin typeface="Segoe UI"/>
              </a:rPr>
              <a:t>ПОРОШКОВА СТАЛЬ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284464" y="5029200"/>
            <a:ext cx="3108960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Зерно дрібніше — звідси і гострота, і ціна.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Але чим твердіше, тим крихкіше: SG-2 при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64 HRC ламається там, де VG-10 загнеться.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66928" y="5650992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13232" y="569214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ЯК ЦЕ ЧИТАТИ ПРИ ВИБОРІ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66928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6928" y="5961888"/>
            <a:ext cx="32004" cy="54864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49808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Потік, велика бригада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49808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або мо-ванадій, 58–61 HRC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419856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419856" y="5961888"/>
            <a:ext cx="32004" cy="54864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02736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54780"/>
                </a:solidFill>
                <a:latin typeface="Segoe UI"/>
              </a:rPr>
              <a:t>Шеф для себе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02736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VG-10 дамаск або SLD, 60–62 HRC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272784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272784" y="5961888"/>
            <a:ext cx="32004" cy="54864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55664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Суші й риба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55664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Shirogami чи Aogami, одностороннє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125712" y="5961888"/>
            <a:ext cx="2706624" cy="5486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125712" y="5961888"/>
            <a:ext cx="32004" cy="54864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308592" y="603504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A84A6B"/>
                </a:solidFill>
                <a:latin typeface="Segoe UI"/>
              </a:rPr>
              <a:t>Презентація, фініш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08592" y="6217920"/>
            <a:ext cx="24140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SG-2 / R2, 62–64 HRC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Діапазони HRC — за специфікаціями виробників. Ціни — спостережений роздріб в Україні, жовтень 2026. «Тримає кромку» і «ризик сколу» — відносні оцінки в межах цієї таблиці, не лабораторні виміри.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Я К І С Т Ь   ·   2   ·   К О Н С Т Р У К Ц І Я   К Л И Н К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Чому два ножі з однієї сталі коштують по-різному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Сталь — лише серцевина. Те, як її обгорнули й загартували, змінює ціну в кілька разів і визначає, як ніж поводиться в роботі.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804672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64207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Увесь клинок — одна сталь.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1682495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Найпростіше у виробництві й найдешевше.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Весь клинок однаково твердий: якщо сталь м'яка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кромка швидко сідає; якщо тверда — ніж крихкий цілком.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1682495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1856231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6B7282"/>
                </a:solidFill>
                <a:latin typeface="Georgia"/>
              </a:rPr>
              <a:t>700 – 3 000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0656" y="1682495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0656" y="1856231"/>
            <a:ext cx="17556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 Saku, базові
Seki Kanetsugu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414015"/>
            <a:ext cx="11064240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414015"/>
            <a:ext cx="41148" cy="80467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2523744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Сан-май / касумі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2798063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Тверда серцевина між двома
м'якшими шарами.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254203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Кромка тверда, а боки в'язкі — ніж тримає гостроту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й не ламається від бокового навантаження.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Це стандарт більшості японських ножів.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254203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27157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A7F86"/>
                </a:solidFill>
                <a:latin typeface="Georgia"/>
              </a:rPr>
              <a:t>2 500 – 12 000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0656" y="254203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0656" y="2715768"/>
            <a:ext cx="17556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 DP, KAI Shun,
Suncraft Senzo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273551"/>
            <a:ext cx="11064240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3273551"/>
            <a:ext cx="41148" cy="80467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3383279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Дамаск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3657599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Той самий сан-май, але шарів
17 – 193.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3401568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Шари — здебільшого естетика: ріже серцевина, не малюнок.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Проте багатошарова обкладка краще гасить вібрацію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і трохи легше відпускає продукт від клинка.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73568" y="34015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3568" y="3575303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54780"/>
                </a:solidFill>
                <a:latin typeface="Georgia"/>
              </a:rPr>
              <a:t>5 000 – 40 000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0656" y="340156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0656" y="3575303"/>
            <a:ext cx="17556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 Damascus,
Yaxell Ran, Mcusta Zanmai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133087"/>
            <a:ext cx="11064240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133087"/>
            <a:ext cx="41148" cy="804672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4242816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B42E3A"/>
                </a:solidFill>
                <a:latin typeface="Georgia"/>
              </a:rPr>
              <a:t>Хоньякі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451713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Один шматок сталі, зонне
гартування як у катани.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34640" y="4261103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Найскладніша технологія: кромка тверда, обух м'який,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між ними видима лінія гартування хамон.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Найдорожче і найкрихкіше. Правиться лише майстром.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73568" y="4261103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4434840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B42E3A"/>
                </a:solidFill>
                <a:latin typeface="Georgia"/>
              </a:rPr>
              <a:t>35 000 – 70 000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20656" y="4261103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20656" y="4434840"/>
            <a:ext cx="17556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Sakai Takayuki Shoryu —
в Україні не представлена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992623"/>
            <a:ext cx="11064240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6928" y="4992623"/>
            <a:ext cx="41148" cy="80467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6384" y="5102351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Куроучі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5376671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Чорна ковальська окалина
залишена на клинку.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34640" y="512063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Не оздоблення, а захист: окалина сповільнює корозію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вуглецевої сталі й знижує прилипання продукту.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Ознака ручної кузні, а не заводської лінії.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73568" y="5120639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ТИПОВА 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3568" y="5294375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966E28"/>
                </a:solidFill>
                <a:latin typeface="Georgia"/>
              </a:rPr>
              <a:t>3 000 – 15 000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20656" y="5120639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ПРИКЛАДИ В УКРАЇНІ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0656" y="5294375"/>
            <a:ext cx="17556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 Kurouchi,
HONMAMON, Motokane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925312"/>
            <a:ext cx="11064240" cy="694436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5925312"/>
            <a:ext cx="36576" cy="694436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6080760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ГОЛОВНЕ ПРО КОНСТРУКЦІЮ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6309360"/>
            <a:ext cx="10588752" cy="164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Шари дамаску не ріжуть — ріже серцевина. Переплачувати за малюнок має сенс лише тоді, коли серцевина й гартування того варті.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Я К І С Т Ь   ·   3   ·   Щ О   Ц Е   З Н А Ч И Т Ь   Н А   К У Х Н 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Японський ніж не кращий — він інший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Те, що в каталозі виглядає перевагою, на лінії може стати проблемою. Чесне зіставлення двох шкіл для того, хто щодня стоїть на станції.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6093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ПАРАМЕТР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16093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ЄВРОПЕЙСЬКА ШКОЛА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9008" y="16093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ЯПОНСЬКА ШКОЛА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8" y="160934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87652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8288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Твердість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0048" y="182880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56–58 HRC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9008" y="182880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60–65 HRC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8" y="1828800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Японський довше ріже, легше виломлюється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6255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Кут заточування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16255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20–22° на сторону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8" y="216255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12–15° на сторону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8" y="216255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Тонша кромка — чистіший зріз, вища вразливість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455164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49631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Як правлять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249631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мусат, щодня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9008" y="249631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водні камені, раз на 1–3 тижні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Потрібна навичка і 20–40 хв часу, а не 30 секунд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8300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Поведінка на кістці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0048" y="2830068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загинається, правиться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2830068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викришується назавжди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87968" y="2830068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Японський ніж — не для рубки й замороженого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776" y="3122676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1638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Дошка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70048" y="31638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будь-яка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8" y="31638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дерево або м'який пластик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87968" y="3163824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Скло і камінь убивають кромку за один сервіс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4975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Посудомийка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349758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витримує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9008" y="3497580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деформує руків'я, тупить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87968" y="3497580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Тільки ручне миття і насухо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790188"/>
            <a:ext cx="11210544" cy="32461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83133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Втрата ножа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0048" y="383133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300 – 900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79008" y="3831336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5 000 – 20 000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383133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При плинності 40–60 % на рік це інша економіка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41650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Хто реально виграє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0048" y="416509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лінійний кухар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79008" y="4165092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шеф, су-шеф, суші-майстер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87968" y="416509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Інструмент для того, хто ним володіє, а не для всіх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645152"/>
            <a:ext cx="55778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686300"/>
            <a:ext cx="30678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ПИТАТИ В ПОСТАЧАЛЬНИКА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974336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1.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" y="4974336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Марка сталі й твердість у HRC — цифрою, не словом «японська сталь»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212080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2.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" y="5212080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Конструкція: моносталь, сан-май чи дамаск, скільки шарів і що в серцевині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449824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3.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6112" y="5449824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Кут заточування з заводу і чи симетричний він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687568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4.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5687568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Регіон і назва кузні, а не лише торгова марка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5925312"/>
            <a:ext cx="2377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88A3D"/>
                </a:solidFill>
                <a:latin typeface="Segoe UI"/>
              </a:rPr>
              <a:t>5.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2" y="5925312"/>
            <a:ext cx="5193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Чи є сервіс заточування й гарантія на кромку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19088" y="4645152"/>
            <a:ext cx="52120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65392" y="4686300"/>
            <a:ext cx="28666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ОЗНАКИ, ЩО ПЕРЕД ВАМИ НЕ ЯПОНІЯ</a:t>
            </a:r>
          </a:p>
        </p:txBody>
      </p:sp>
      <p:sp>
        <p:nvSpPr>
          <p:cNvPr id="68" name="Oval 67"/>
          <p:cNvSpPr/>
          <p:nvPr/>
        </p:nvSpPr>
        <p:spPr>
          <a:xfrm>
            <a:off x="6492240" y="5015484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93408" y="4974336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У картці немає країни виробництва, лише «японський стиль»</a:t>
            </a:r>
          </a:p>
        </p:txBody>
      </p:sp>
      <p:sp>
        <p:nvSpPr>
          <p:cNvPr id="70" name="Oval 69"/>
          <p:cNvSpPr/>
          <p:nvPr/>
        </p:nvSpPr>
        <p:spPr>
          <a:xfrm>
            <a:off x="6492240" y="5253228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93408" y="52120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Сталь названа як «дамаск VG-10» без вказання виробника сталі</a:t>
            </a:r>
          </a:p>
        </p:txBody>
      </p:sp>
      <p:sp>
        <p:nvSpPr>
          <p:cNvPr id="72" name="Oval 71"/>
          <p:cNvSpPr/>
          <p:nvPr/>
        </p:nvSpPr>
        <p:spPr>
          <a:xfrm>
            <a:off x="6492240" y="5490972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93408" y="5449824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Янагіба або деба дешевше за 2 000 грн</a:t>
            </a:r>
          </a:p>
        </p:txBody>
      </p:sp>
      <p:sp>
        <p:nvSpPr>
          <p:cNvPr id="74" name="Oval 73"/>
          <p:cNvSpPr/>
          <p:nvPr/>
        </p:nvSpPr>
        <p:spPr>
          <a:xfrm>
            <a:off x="6492240" y="5728716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93408" y="5687568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Бренд із японською назвою, але без жодної кузні за ним</a:t>
            </a:r>
          </a:p>
        </p:txBody>
      </p:sp>
      <p:sp>
        <p:nvSpPr>
          <p:cNvPr id="76" name="Oval 75"/>
          <p:cNvSpPr/>
          <p:nvPr/>
        </p:nvSpPr>
        <p:spPr>
          <a:xfrm>
            <a:off x="6492240" y="5966459"/>
            <a:ext cx="68580" cy="68580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93408" y="5925312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Однакова ціна на різні моделі — ознака дропшип-фіда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Кути й твердість — типові заводські значення, конкретна модель може відрізнятися. «Втрата ножа» — середня роздрібна ціна відповідного сегмента в Україні, жовтень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Критерій відбору — країна виробництва Японія, підтверджена митним кодом або карткою товару продавця. Усе інше в цій роботі не рахується.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О З Д Р І Б   Н А   Р І 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2A7F86"/>
                </a:solidFill>
                <a:latin typeface="Georgia"/>
              </a:rPr>
              <a:t>16–19 млн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грн. Японське виробництво
у роздрібі України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72768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Ш Т У К   Н А   Р І 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554780"/>
                </a:solidFill>
                <a:latin typeface="Georgia"/>
              </a:rPr>
              <a:t>≈ 3 700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ножів японського
виробництва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72768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Ч А С Т К А   Р И Н К 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966E28"/>
                </a:solidFill>
                <a:latin typeface="Georgia"/>
              </a:rPr>
              <a:t>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грошах і 0,15 %
у штуках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72768"/>
            <a:ext cx="2706624" cy="1133856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72768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A84A6B"/>
                </a:solidFill>
                <a:latin typeface="Georgia"/>
              </a:rPr>
              <a:t>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25 продавців,
759 позицій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907792"/>
            <a:ext cx="70408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948940"/>
            <a:ext cx="38724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МИТНА БАЗА КАТЕГОРІЇ · ІМПОРТ 2024, ТИС. $ CIF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20040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КОД УКТЗЕД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4288" y="320040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НАЗВА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21808" y="32004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ІМПОРТ, ТИС.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3408" y="320040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ЧАСТКА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378708"/>
            <a:ext cx="7187184" cy="2743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4198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8211 10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288" y="34198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Набори ножів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8" y="341985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2 339,2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3408" y="3419856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26 %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71246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8211 91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04288" y="371246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столові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21808" y="3712464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1 093,4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93408" y="3712464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12 %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963924"/>
            <a:ext cx="7187184" cy="2743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00507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8211 92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40050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21808" y="4005072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5 587,3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93408" y="4005072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62 %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315968"/>
            <a:ext cx="704088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4439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РАЗОМ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04288" y="444398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21808" y="4443984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9 019,8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93408" y="4443984"/>
            <a:ext cx="859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100 %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2907792"/>
            <a:ext cx="3767328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10144" y="2948940"/>
            <a:ext cx="207203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ІМПОРТ ІЗ ЯПОНІЇ · 8211 92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25526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30767" y="3296412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0767" y="3296412"/>
            <a:ext cx="1978705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80191" y="3255264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119,2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356616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30767" y="3607308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30767" y="3607308"/>
            <a:ext cx="1316370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80191" y="3566160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79,3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387705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>
                <a:solidFill>
                  <a:srgbClr val="1B253F"/>
                </a:solidFill>
                <a:latin typeface="Segoe UI"/>
              </a:rPr>
              <a:t>2024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30767" y="3918204"/>
            <a:ext cx="2157984" cy="8229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430767" y="3918204"/>
            <a:ext cx="1714767" cy="8229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680191" y="3877056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51A26"/>
                </a:solidFill>
                <a:latin typeface="Segoe UI"/>
              </a:rPr>
              <a:t>103,3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4279392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40" b="0">
                <a:solidFill>
                  <a:srgbClr val="6B7282"/>
                </a:solidFill>
                <a:latin typeface="Segoe UI"/>
              </a:rPr>
              <a:t>Імпорт 2024 на 13 % нижчий за 2022 у номінальних доларах.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40" b="0">
                <a:solidFill>
                  <a:srgbClr val="6B7282"/>
                </a:solidFill>
                <a:latin typeface="Segoe UI"/>
              </a:rPr>
              <a:t>Стрибок 2023 → 2024 — це відновлення після провалу, а не тренд.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4882896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3232" y="4924044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ВХОДИТЬ У ЦІ 16–19 МЛН ГРН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28" y="5157216"/>
            <a:ext cx="3639312" cy="676656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157216"/>
            <a:ext cx="32004" cy="67665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8096" y="5239512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2A7F86"/>
                </a:solidFill>
                <a:latin typeface="Georgia"/>
              </a:rPr>
              <a:t>56 брендів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8096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японського виробництва, перевірених
на країну походження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52544" y="5157216"/>
            <a:ext cx="3639312" cy="676656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352544" y="5157216"/>
            <a:ext cx="32004" cy="67665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53712" y="5239512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554780"/>
                </a:solidFill>
                <a:latin typeface="Georgia"/>
              </a:rPr>
              <a:t>6 регіонів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53712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Секі, Сакаї, Ечідзен, Тоса,
Сандзьо, Аоморі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138159" y="5157216"/>
            <a:ext cx="3639312" cy="676656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138159" y="5157216"/>
            <a:ext cx="32004" cy="67665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39327" y="5239512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966E28"/>
                </a:solidFill>
                <a:latin typeface="Georgia"/>
              </a:rPr>
              <a:t>25 продавців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39327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від фахових магазинів
до оптового профканалу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66928" y="5888736"/>
            <a:ext cx="11064240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6928" y="5888736"/>
            <a:ext cx="36576" cy="687628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4672" y="604418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ЗНАЧИТЬ ДЛЯ ОЦІНКИ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4672" y="6272784"/>
            <a:ext cx="10588752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Японія — 1,3 % митної бази категорії. Уся робота рахує лише цю частку: 16–19 млн грн роздрібу, близько 3 700 ножів на рік.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60196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2022–2024, коди 8211 10, 8211 91, 8211 92. Роздріб — перерахунок через торгову націнку.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До 2 500 грн: японське виробництво сюди майже не дістає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Нижній діапазон каталогу. Саме тут лежить обсяг усього ринку кухонних ножів — і саме тут японське виробництво представлене найгірше.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24ec4159b47e1d3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Vegetable 2000 90мм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dec2f38d3512e5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1 149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d90d262096ae822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Satake Saku 802 · 369 Air Hol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1 349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8b7cce29f42f488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Mikihisa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13230609a3ee08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Misono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1 690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6d24bbef6706f06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784ce71bc22d851c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1 905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495a380f2939ce6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овочевий Kasumi TORA 36844, 9см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1 991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26bce2626c4f4f9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daf0fee42fead6a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Motokane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5494c627bf4dbbe3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Hanakumagawa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7875bc5949a4fde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2 400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11 %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1 790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726–2 400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6062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6062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5604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4990795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56048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8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094122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094122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08955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24297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089550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276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276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230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57800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2305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361127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361127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3565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391302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356555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494629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494629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49005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24804"/>
            <a:ext cx="28575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490057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419088" y="5660136"/>
            <a:ext cx="2633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29 позицій, 11 брендів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326880" y="495604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881360" y="4956048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26880" y="508955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881360" y="5089550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326880" y="5223052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881360" y="5223052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326880" y="5356555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881360" y="5356555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326880" y="5526633"/>
            <a:ext cx="23042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29 позицій у 4 магазинах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66928" y="581558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66928" y="5815584"/>
            <a:ext cx="822960" cy="1097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66928" y="5925312"/>
            <a:ext cx="3657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Щ О   В И З Н А Ч А Є   С Е Г М Е Н Т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6928" y="6108192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Японія дістає сюди лише Satake, Seki Kanetsugu, Fuji Cutlery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2 500 – 5 000 грн: вхід у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Перший діапазон, де японське виробництво стає нормою, а не винятком. Тут з'являються імена кузень, а не лише промислові бренди.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e888c5235184877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Paring Motokane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aea53e54c6b061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Hanakumagawa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фруктів з дамаської сталі Hanakumagawa 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2 870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f8c8099989ac52f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3 090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6028fd483d9c655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3 215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d0248b9063ea6e4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e0d7522aea256b5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de98aa46148ce7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SAIUN 9000 90мм VG10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5bd7b314bd44cb9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Seki Magoroku Red Wood MGR · 0210Y Янагіба,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4 130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0c39b79053b9248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Fukamizu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34c572e195dfc0c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для стейка Yaxell RAN 36013, 113мм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4 657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c515f14758d9cd7d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d5e2a8c9e2f223f3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Misono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Misono MV, 120 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26 %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3 539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2 640–4 996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6062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6062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5604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4990795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56048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094122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094122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08955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24297"/>
            <a:ext cx="588873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089550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276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276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230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57800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2305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361127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361127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3565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391302"/>
            <a:ext cx="51755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356555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494629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494629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49005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24804"/>
            <a:ext cx="446227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490057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419088" y="5660136"/>
            <a:ext cx="2633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67 позицій, 19 брендів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326880" y="495604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881360" y="4956048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26880" y="508955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881360" y="5089550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326880" y="5223052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881360" y="5223052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326880" y="5356555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881360" y="5356555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326880" y="5526633"/>
            <a:ext cx="23042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67 позицій у 4 магазинах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66928" y="581558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66928" y="5815584"/>
            <a:ext cx="822960" cy="1097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66928" y="5925312"/>
            <a:ext cx="3657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Щ О   В И З Н А Ч А Є   С Е Г М Е Н Т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6928" y="6108192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</a:p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8e0af3bbdd519d2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e8b23ca67e1e9ec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Сантоку Yaxell Zen 35512, 125мм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acfe3d6ba7f31f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63e6f1c1857333c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6 440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c721c95119249d9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Yoshihiro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bocho 240мм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6 747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c6a9ef1a5e03981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Kasumi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7 199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165fb8a92959951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Takamura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31d4fe94ecd6fc4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6e85a0b9876243d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Santoku Damascus TADAYOSHI Tosa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7 907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d3cf02f30425a55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Shigehiro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92ffe6fc4caa0b1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Seki Kanetsugu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Kiritsuke Zuiun 9302 150мм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4561f399133faf54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Tsukasa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ніж слайсер 210 mm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9 900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45 %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7 290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5 060–9 999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6062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6062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5604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4990795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56048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094122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094122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08955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24297"/>
            <a:ext cx="7018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089550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23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276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276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230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57800"/>
            <a:ext cx="464058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2305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361127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361127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3565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391302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356555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494629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494629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49005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24804"/>
            <a:ext cx="34518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490057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419088" y="5660136"/>
            <a:ext cx="2633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116 позицій, 18 брендів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326880" y="495604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881360" y="4956048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77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26880" y="508955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881360" y="5089550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326880" y="5223052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881360" y="5223052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326880" y="5356555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881360" y="5356555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326880" y="5526633"/>
            <a:ext cx="23042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116 позицій у 4 магазинах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66928" y="581558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66928" y="5815584"/>
            <a:ext cx="822960" cy="1097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66928" y="5925312"/>
            <a:ext cx="3657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Щ О   В И З Н А Ч А Є   С Е Г М Е Н Т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6928" y="6108192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</a:p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a01fd83e32bb4d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10 195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b1b56934eddc262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e06430cba6cce24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Shippu Black FD · 1594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a8a8440e0c1b116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Santoku 170 мм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c52d98d1a9d49b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JCK Natures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d5eff106ae43f1c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Tojiro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12 999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c927d551feb48d8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HAYABUSA ZDP · 189 150MM PETTY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d47b1f5c9cd8169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15 120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ef04a89de1bf7ad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9acd459dc4e34992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Harukaze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cbe742054c58d46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 Dam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91cbd83f61b9a69d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Набір з 3 · х ножів KAI Shun Premier Tim Mal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27 970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A84A6B"/>
                </a:solidFill>
                <a:latin typeface="Georgia"/>
              </a:rP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18 %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13 500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10 035–38 640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6062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6062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5604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4990795"/>
            <a:ext cx="731520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56048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15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094122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094122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08955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24297"/>
            <a:ext cx="493776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089550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276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276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230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57800"/>
            <a:ext cx="398678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2305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361127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361127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3565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391302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356555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494629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494629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49005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24804"/>
            <a:ext cx="160934" cy="65836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490057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A84A6B"/>
                </a:solidFill>
                <a:latin typeface="Segoe U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419088" y="5660136"/>
            <a:ext cx="2633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47 позицій, 11 брендів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326880" y="495604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881360" y="4956048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26880" y="508955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881360" y="5089550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326880" y="5223052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881360" y="5223052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326880" y="5356555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881360" y="5356555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326880" y="5526633"/>
            <a:ext cx="23042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47 позицій у 4 магазинах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66928" y="581558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66928" y="5815584"/>
            <a:ext cx="822960" cy="10972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66928" y="5925312"/>
            <a:ext cx="3657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A84A6B"/>
                </a:solidFill>
                <a:latin typeface="Segoe UI"/>
              </a:rPr>
              <a:t>Щ О   В И З Н А Ч А Є   С Е Г М Е Н Т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6928" y="6108192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</a:p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106070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До 2 500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865376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95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2495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c43f7c71f2be0d4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344" y="1645920"/>
            <a:ext cx="1583740" cy="603504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706624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624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1 140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5148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91532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_f4fee4ae0f6e1d4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252" y="1645920"/>
            <a:ext cx="1583740" cy="603504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491532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1532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11572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1532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1 650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90057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6441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p_14a5586d31e95f7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161" y="1645920"/>
            <a:ext cx="1583740" cy="603504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276441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6441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6481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Takanori Izumi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6441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1 980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4966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61350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_95b53f997fe6c97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7070" y="1645920"/>
            <a:ext cx="1583740" cy="603504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061350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61350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1390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350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2 184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59875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46259" y="1609344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edf2e8300d41ebd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1979" y="1645920"/>
            <a:ext cx="1583740" cy="603504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9846259" y="231800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6259" y="231800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6299" y="2313432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46259" y="2450592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246430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2724912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2724912"/>
            <a:ext cx="41148" cy="106070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8096" y="2770632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2 500 – 5 000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3035808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Вхід у японське виробництво: VG-10 у три шари, перші куроучі з Тоса.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" y="34930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" y="369417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82495" y="34930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26 %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82495" y="369417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06624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p_c0e297c4c0f3c46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2344" y="2816352"/>
            <a:ext cx="1583740" cy="60350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2706624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06624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26664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06624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05148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491532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04c975e1aebac2f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37252" y="2816352"/>
            <a:ext cx="1583740" cy="603504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4491532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91532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1572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91532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3 231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90057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76441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17289a4aa1af500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2161" y="2816352"/>
            <a:ext cx="1583740" cy="603504"/>
          </a:xfrm>
          <a:prstGeom prst="rect">
            <a:avLst/>
          </a:prstGeom>
        </p:spPr>
      </p:pic>
      <p:sp>
        <p:nvSpPr>
          <p:cNvPr id="81" name="Rounded Rectangle 80"/>
          <p:cNvSpPr/>
          <p:nvPr/>
        </p:nvSpPr>
        <p:spPr>
          <a:xfrm>
            <a:off x="6276441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76441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96481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76441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3 539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74966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1350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2ecfadef037b97a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07070" y="2816352"/>
            <a:ext cx="1583740" cy="603504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061350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61350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81390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61350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4 450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9875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846259" y="2779776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p_2649dfefe6c1cdb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91979" y="2816352"/>
            <a:ext cx="1583740" cy="603504"/>
          </a:xfrm>
          <a:prstGeom prst="rect">
            <a:avLst/>
          </a:prstGeom>
        </p:spPr>
      </p:pic>
      <p:sp>
        <p:nvSpPr>
          <p:cNvPr id="95" name="Rounded Rectangle 94"/>
          <p:cNvSpPr/>
          <p:nvPr/>
        </p:nvSpPr>
        <p:spPr>
          <a:xfrm>
            <a:off x="9846259" y="3488436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846259" y="3488436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66299" y="3483863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46259" y="3621024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44784" y="3634739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6928" y="3895344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66928" y="3895344"/>
            <a:ext cx="41148" cy="1060704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8096" y="3941063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5 000 – 10 000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8096" y="4206240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8096" y="466344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116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8096" y="4864608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82495" y="466344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45 %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82495" y="4864608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06624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p_84dcaef21734ab30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52344" y="3986783"/>
            <a:ext cx="1583740" cy="603504"/>
          </a:xfrm>
          <a:prstGeom prst="rect">
            <a:avLst/>
          </a:prstGeom>
        </p:spPr>
      </p:pic>
      <p:sp>
        <p:nvSpPr>
          <p:cNvPr id="110" name="Rounded Rectangle 109"/>
          <p:cNvSpPr/>
          <p:nvPr/>
        </p:nvSpPr>
        <p:spPr>
          <a:xfrm>
            <a:off x="2706624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706624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26664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06624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05148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91532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p_ddfa811abe72832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37252" y="3986783"/>
            <a:ext cx="1583740" cy="603504"/>
          </a:xfrm>
          <a:prstGeom prst="rect">
            <a:avLst/>
          </a:prstGeom>
        </p:spPr>
      </p:pic>
      <p:sp>
        <p:nvSpPr>
          <p:cNvPr id="117" name="Rounded Rectangle 116"/>
          <p:cNvSpPr/>
          <p:nvPr/>
        </p:nvSpPr>
        <p:spPr>
          <a:xfrm>
            <a:off x="4491532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491532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811572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Yaxell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491532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6 401 грн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490057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76441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p_a7da9db63ef1eb5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2161" y="3986783"/>
            <a:ext cx="1583740" cy="603504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6276441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276441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96481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76441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74966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061350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0" name="Picture 129" descr="p_c3cc24531869a65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07070" y="3986783"/>
            <a:ext cx="1583740" cy="603504"/>
          </a:xfrm>
          <a:prstGeom prst="rect">
            <a:avLst/>
          </a:prstGeom>
        </p:spPr>
      </p:pic>
      <p:sp>
        <p:nvSpPr>
          <p:cNvPr id="131" name="Rounded Rectangle 130"/>
          <p:cNvSpPr/>
          <p:nvPr/>
        </p:nvSpPr>
        <p:spPr>
          <a:xfrm>
            <a:off x="8061350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61350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81390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61350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8 050 грн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059875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846259" y="3950207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_2fba9d1b3834fe86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91979" y="3986783"/>
            <a:ext cx="1583740" cy="603504"/>
          </a:xfrm>
          <a:prstGeom prst="rect">
            <a:avLst/>
          </a:prstGeom>
        </p:spPr>
      </p:pic>
      <p:sp>
        <p:nvSpPr>
          <p:cNvPr id="138" name="Rounded Rectangle 137"/>
          <p:cNvSpPr/>
          <p:nvPr/>
        </p:nvSpPr>
        <p:spPr>
          <a:xfrm>
            <a:off x="9846259" y="465886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846259" y="465886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166299" y="4654296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Tojiro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846259" y="4791456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9 470 грн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844784" y="480517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66928" y="5065776"/>
            <a:ext cx="11064240" cy="1060704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66928" y="5065776"/>
            <a:ext cx="41148" cy="1060704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68096" y="5111496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A84A6B"/>
                </a:solidFill>
                <a:latin typeface="Segoe UI"/>
              </a:rPr>
              <a:t>Понад 10 000 грн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68096" y="5376672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68096" y="583387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47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68096" y="603504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82495" y="583387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18 %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82495" y="603504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706624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p_4d162e4b33b21339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52344" y="5157216"/>
            <a:ext cx="1583740" cy="603504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2706624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706624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026664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KAI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06624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10 220 грн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705148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491532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p_befb31a94894bda5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37252" y="5157216"/>
            <a:ext cx="1583740" cy="603504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4491532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91532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811572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Takamura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91532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11 990 грн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490057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276441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p_a7c46d2bf7a28f35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22161" y="5157216"/>
            <a:ext cx="1583740" cy="603504"/>
          </a:xfrm>
          <a:prstGeom prst="rect">
            <a:avLst/>
          </a:prstGeom>
        </p:spPr>
      </p:pic>
      <p:sp>
        <p:nvSpPr>
          <p:cNvPr id="167" name="Rounded Rectangle 166"/>
          <p:cNvSpPr/>
          <p:nvPr/>
        </p:nvSpPr>
        <p:spPr>
          <a:xfrm>
            <a:off x="6276441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276441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596481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Hatsukokoro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276441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13 865 грн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274966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061350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3" name="Picture 172" descr="p_57a4f5a4dbffe145.jp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07070" y="5157216"/>
            <a:ext cx="1583740" cy="603504"/>
          </a:xfrm>
          <a:prstGeom prst="rect">
            <a:avLst/>
          </a:prstGeom>
        </p:spPr>
      </p:pic>
      <p:sp>
        <p:nvSpPr>
          <p:cNvPr id="174" name="Rounded Rectangle 173"/>
          <p:cNvSpPr/>
          <p:nvPr/>
        </p:nvSpPr>
        <p:spPr>
          <a:xfrm>
            <a:off x="8061350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061350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381390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Etsu / Ittetsu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061350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16 677 грн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059875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9846259" y="5120640"/>
            <a:ext cx="1675180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0" name="Picture 179" descr="p_cf2c1f21946a54c7.jp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91979" y="5157216"/>
            <a:ext cx="1583740" cy="603504"/>
          </a:xfrm>
          <a:prstGeom prst="rect">
            <a:avLst/>
          </a:prstGeom>
        </p:spPr>
      </p:pic>
      <p:sp>
        <p:nvSpPr>
          <p:cNvPr id="181" name="Rounded Rectangle 180"/>
          <p:cNvSpPr/>
          <p:nvPr/>
        </p:nvSpPr>
        <p:spPr>
          <a:xfrm>
            <a:off x="9846259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9846259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166299" y="5824728"/>
            <a:ext cx="13368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A84A6B"/>
                </a:solidFill>
                <a:latin typeface="Segoe UI"/>
              </a:rPr>
              <a:t>Yaxell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846259" y="5961888"/>
            <a:ext cx="10533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27 822 грн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0844784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03504" y="636422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— 259 ножів із карток чотирьох магазинів (ProfiMax, ROKS, Sekator, WildCat). Це не весь японський асортимент країни: перепис на слайді 19 охоплює 56 брендів у 25 продавців.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91f3537549c7b8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Gyuto 2004 180мм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1 560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d6a404b1b2cf9fa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2 833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ab3ef2d37b13563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Masahiro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Chief MRS · 30 10692 180мм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4 100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acfe3d6ba7f31f5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5 990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35029d9ad0b17bbb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6 671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1fbb6c3b8399105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7 950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627291157eafeff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Кухарський Шеф Tojiro DP Damascus F · 654, 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8 845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fbffd1a33f91e27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Chief Damascus TADAYOSHI Tosa 210мм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9 720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34f19926d1a3de78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Gyuto Migaki SG2 180мм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bc218389b9074b3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10 920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c52d98d1a9d49b0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JCK Natures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12 220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d77f87d061b136d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Gyut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26 990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966E28"/>
                </a:solidFill>
                <a:latin typeface="Georgia"/>
              </a:rP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19 %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8 490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1 149–26 990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6062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6062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5604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4990795"/>
            <a:ext cx="731520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56048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14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094122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094122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08955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24297"/>
            <a:ext cx="374904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089550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7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276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276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230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57800"/>
            <a:ext cx="273013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2305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5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361127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361127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3565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391302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356555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494629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494629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49005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24804"/>
            <a:ext cx="222068" cy="65836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490057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966E28"/>
                </a:solidFill>
                <a:latin typeface="Segoe UI"/>
              </a:rP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419088" y="5660136"/>
            <a:ext cx="2633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49 позицій, 13 брендів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326880" y="495604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881360" y="4956048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29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26880" y="508955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881360" y="5089550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326880" y="5223052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881360" y="5223052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326880" y="5356555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881360" y="5356555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326880" y="5526633"/>
            <a:ext cx="23042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49 позицій у 4 магазинах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66928" y="581558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66928" y="5815584"/>
            <a:ext cx="822960" cy="10972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66928" y="5925312"/>
            <a:ext cx="3657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966E28"/>
                </a:solidFill>
                <a:latin typeface="Segoe UI"/>
              </a:rPr>
              <a:t>Щ О   Ц Е   З А   С Е Г М Е Н Т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6928" y="6108192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6d24bbef6706f06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1 760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2055bd50bb8b8f8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2 920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cf7095da4b0a40c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Tojiro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Shirogami Kasumi Петті ніж 150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3 247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a7c0c4221a9a6e5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4 362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311a4d2c917b072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Tosa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Nakiri Kanto 54x165мм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5 439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9f5a6251a4cf944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6 160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63fada01193dea6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Накірі Yaxell ZEN 35504, 180мм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6 999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165fb8a92959951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Takamura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Chromax Petty 130мм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7 400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d3cf02f30425a55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Shigehiro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8 490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d2a159866a37d39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Накірі Kasumi Damascus 84017, 180мм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8 999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bc355ae1576e4c43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Gyuto/Petty сер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9 950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9acd459dc4e3499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Harukaze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19 990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2A7F86"/>
                </a:solidFill>
                <a:latin typeface="Georgia"/>
              </a:rP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30 %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6 671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1 140–19 990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6062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6062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5604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4990795"/>
            <a:ext cx="73152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56048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12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094122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094122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08955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24297"/>
            <a:ext cx="612648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089550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10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276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276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230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57800"/>
            <a:ext cx="553212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2305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361127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361127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3565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391302"/>
            <a:ext cx="493776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356555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494629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494629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49005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24804"/>
            <a:ext cx="434340" cy="65836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490057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2A7F86"/>
                </a:solidFill>
                <a:latin typeface="Segoe UI"/>
              </a:rPr>
              <a:t>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419088" y="5660136"/>
            <a:ext cx="2633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77 позицій, 18 брендів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326880" y="495604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881360" y="4956048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35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26880" y="508955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881360" y="5089550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326880" y="5223052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881360" y="5223052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326880" y="5356555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881360" y="5356555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326880" y="5526633"/>
            <a:ext cx="23042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77 позицій у 4 магазинах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66928" y="581558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66928" y="5815584"/>
            <a:ext cx="822960" cy="10972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66928" y="5925312"/>
            <a:ext cx="3657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2A7F86"/>
                </a:solidFill>
                <a:latin typeface="Segoe UI"/>
              </a:rPr>
              <a:t>Щ О   Ц Е   З А   С Е Г М Е Н Т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6928" y="6108192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6daf0fee42fead6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18488"/>
            <a:ext cx="1642872" cy="7498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7665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Motokane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2 200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575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1096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4961c17e9c545f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832" y="1618488"/>
            <a:ext cx="1642872" cy="74980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52069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2069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988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69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кухонний Honmamon / Хонмамон Sashimi Hocho,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069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2 695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6979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1cc6e28810cabd0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72" y="1618488"/>
            <a:ext cx="1642872" cy="74980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6473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473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392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473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473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3 463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383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9048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e0d7522aea256b5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618488"/>
            <a:ext cx="1642872" cy="749808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208776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8776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5787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4308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21b6870e4a3cf5c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951" y="1618488"/>
            <a:ext cx="1642872" cy="74980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805281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281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199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281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281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3 999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1912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7127" y="1572768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p_308b926e0a1046b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1991" y="1618488"/>
            <a:ext cx="1642872" cy="74980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9896855" y="241858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6855" y="241858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26039" y="2414016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96855" y="2560320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96855" y="2788920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4 400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5951" y="2807208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80bac945ebdcb67a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3099815"/>
            <a:ext cx="1642872" cy="749808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67665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4 600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575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1096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8d0fc7030e63dd6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5832" y="3099815"/>
            <a:ext cx="1642872" cy="749808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52069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2069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4988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2069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52069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4 900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6979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500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175b1e88a057e754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9872" y="3099815"/>
            <a:ext cx="1642872" cy="749808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436473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6473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392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Tanaka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6473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Kamagata Usuba ніж Super Blue Steel 150mm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6473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5 203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383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9048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6de02cfabd7e16cc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53912" y="3099815"/>
            <a:ext cx="1642872" cy="74980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6208776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8776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37960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Masahiro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08776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Masahiro 16220 Yanagiba, 27см сталь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08776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6 512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5787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94308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70444fc05d72362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97951" y="3099815"/>
            <a:ext cx="1642872" cy="749808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05281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5281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8199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Haruhiko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5281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White 2 Янагіба 240мм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5281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7 040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01912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787127" y="3054096"/>
            <a:ext cx="1752599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_31d4fe94ecd6fc43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41991" y="3099815"/>
            <a:ext cx="1642872" cy="749808"/>
          </a:xfrm>
          <a:prstGeom prst="rect">
            <a:avLst/>
          </a:prstGeom>
        </p:spPr>
      </p:pic>
      <p:sp>
        <p:nvSpPr>
          <p:cNvPr id="104" name="Rounded Rectangle 103"/>
          <p:cNvSpPr/>
          <p:nvPr/>
        </p:nvSpPr>
        <p:spPr>
          <a:xfrm>
            <a:off x="9896855" y="3899915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96855" y="3899915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26039" y="3895344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96855" y="4041648"/>
            <a:ext cx="16062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10" b="0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96855" y="4270248"/>
            <a:ext cx="129539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>
                <a:solidFill>
                  <a:srgbClr val="151A26"/>
                </a:solidFill>
                <a:latin typeface="Georgia"/>
              </a:rPr>
              <a:t>7 640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45951" y="4288536"/>
            <a:ext cx="4754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453542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6928" y="4626864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4809744"/>
            <a:ext cx="1389888" cy="2011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4944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94944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54780"/>
                </a:solidFill>
                <a:latin typeface="Georgia"/>
              </a:rP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4944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14 % каталогу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11680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011680" y="4809744"/>
            <a:ext cx="1389888" cy="20116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39696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39696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51A26"/>
                </a:solidFill>
                <a:latin typeface="Georgia"/>
              </a:rPr>
              <a:t>4 550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139696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6432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56432" y="4809744"/>
            <a:ext cx="1389888" cy="20116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84448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ДІАПАЗОН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84448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6B7282"/>
                </a:solidFill>
                <a:latin typeface="Georgia"/>
              </a:rPr>
              <a:t>2 016–7 640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84448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грн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901184" y="4809744"/>
            <a:ext cx="1389888" cy="804672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01184" y="4809744"/>
            <a:ext cx="1389888" cy="20116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00" y="49194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БРЕНДІВ У СЕГМЕНТІ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0" y="5065776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253F"/>
                </a:solidFill>
                <a:latin typeface="Georgia"/>
              </a:rPr>
              <a:t>12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53492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2784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4809744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480974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96062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19088" y="496062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48272" y="495604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955279" y="4990795"/>
            <a:ext cx="731520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41664" y="4956048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11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19088" y="5094122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19088" y="5094122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48272" y="508955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KAI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955279" y="5124297"/>
            <a:ext cx="537002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41664" y="5089550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8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419088" y="52276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419088" y="52276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48272" y="52230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55279" y="5257800"/>
            <a:ext cx="212805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41664" y="522305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3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19088" y="5361127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19088" y="5361127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48272" y="53565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955279" y="5391302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741664" y="5356555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419088" y="5494629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19088" y="5494629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748272" y="549005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955279" y="5524804"/>
            <a:ext cx="147966" cy="65836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41664" y="5490057"/>
            <a:ext cx="310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54780"/>
                </a:solidFill>
                <a:latin typeface="Segoe UI"/>
              </a:rP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419088" y="5660136"/>
            <a:ext cx="2633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35 позицій, 12 брендів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80576" y="4773168"/>
            <a:ext cx="9144" cy="9144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326880" y="4809744"/>
            <a:ext cx="14996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Д Е   Ц Е   К У П И Т 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36224" y="4809744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326880" y="495604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ROKS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881360" y="4956048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26880" y="508955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ProfiMax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881360" y="5089550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13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326880" y="5223052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WildCat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881360" y="5223052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326880" y="5356555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1B253F"/>
                </a:solidFill>
                <a:latin typeface="Segoe UI"/>
              </a:rPr>
              <a:t>Sekator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881360" y="5356555"/>
            <a:ext cx="7498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6B7282"/>
                </a:solidFill>
                <a:latin typeface="Segoe UI"/>
              </a:rPr>
              <a:t>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326880" y="5526633"/>
            <a:ext cx="230428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6B7282"/>
                </a:solidFill>
                <a:latin typeface="Segoe UI"/>
              </a:rPr>
              <a:t>усього 35 позицій у 4 магазинах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66928" y="5815584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566928" y="5815584"/>
            <a:ext cx="822960" cy="10972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66928" y="5925312"/>
            <a:ext cx="3657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554780"/>
                </a:solidFill>
                <a:latin typeface="Segoe UI"/>
              </a:rPr>
              <a:t>Щ О   Ц Е   З А   С Е Г М Е Н Т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6928" y="6108192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16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54480"/>
            <a:ext cx="11064240" cy="145084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54480"/>
            <a:ext cx="41148" cy="1450848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1600200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966E28"/>
                </a:solidFill>
                <a:latin typeface="Segoe UI"/>
              </a:rPr>
              <a:t>Шеф і гюто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865376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95" y="232257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2495" y="2523744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1e9b75169e1391e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344" y="1645920"/>
            <a:ext cx="1286256" cy="99364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706624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6664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Satake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624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2 099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7664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94048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_473f5deef0bed41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9768" y="1645920"/>
            <a:ext cx="1286256" cy="99364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194048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94048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4088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Tojiro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4048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4 976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5088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WildCat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81472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p_d03a0981dd07d6a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192" y="1645920"/>
            <a:ext cx="1286256" cy="993648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5681472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1472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01512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Yaxell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81472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7 804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82512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68896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_6db8946fa46b361f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4616" y="1645920"/>
            <a:ext cx="1286256" cy="993648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168896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68896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88936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KAI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8896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9 520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9936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56320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9fa68cd1cb784dc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2040" y="1645920"/>
            <a:ext cx="1286256" cy="993648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8656320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56320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76360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Takamura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6320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10 200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57360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143744" y="1609344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p_ec0998d321800d8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9464" y="1645920"/>
            <a:ext cx="1286256" cy="993648"/>
          </a:xfrm>
          <a:prstGeom prst="rect">
            <a:avLst/>
          </a:prstGeom>
        </p:spPr>
      </p:pic>
      <p:sp>
        <p:nvSpPr>
          <p:cNvPr id="59" name="Rounded Rectangle 58"/>
          <p:cNvSpPr/>
          <p:nvPr/>
        </p:nvSpPr>
        <p:spPr>
          <a:xfrm>
            <a:off x="10143744" y="2708148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43744" y="2708148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3784" y="2703576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966E28"/>
                </a:solidFill>
                <a:latin typeface="Segoe UI"/>
              </a:rPr>
              <a:t>HONMAMON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43744" y="2840736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23 990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44784" y="2854452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3115056"/>
            <a:ext cx="11064240" cy="145084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3115056"/>
            <a:ext cx="41148" cy="145084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8096" y="3160776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2A7F86"/>
                </a:solidFill>
                <a:latin typeface="Segoe UI"/>
              </a:rPr>
              <a:t>Сантоку, петті, накірі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" y="3425952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" y="38831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77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8096" y="408432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82495" y="38831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30 %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82495" y="4084320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06624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659d9c2451d28c2c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52344" y="3206496"/>
            <a:ext cx="1286256" cy="993648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2706624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6624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26664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Kasumi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06624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2 390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07664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94048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78ee12a56d72c3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39768" y="3206496"/>
            <a:ext cx="1286256" cy="993648"/>
          </a:xfrm>
          <a:prstGeom prst="rect">
            <a:avLst/>
          </a:prstGeom>
        </p:spPr>
      </p:pic>
      <p:sp>
        <p:nvSpPr>
          <p:cNvPr id="81" name="Rounded Rectangle 80"/>
          <p:cNvSpPr/>
          <p:nvPr/>
        </p:nvSpPr>
        <p:spPr>
          <a:xfrm>
            <a:off x="4194048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94048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14088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Masahiro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4048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95088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81472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p_48c6410523451b1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27192" y="3206496"/>
            <a:ext cx="1286256" cy="993648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5681472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81472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01512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Yaxell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81472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5 538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82512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168896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p_09aa50f94c84532c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14616" y="3206496"/>
            <a:ext cx="1286256" cy="993648"/>
          </a:xfrm>
          <a:prstGeom prst="rect">
            <a:avLst/>
          </a:prstGeom>
        </p:spPr>
      </p:pic>
      <p:sp>
        <p:nvSpPr>
          <p:cNvPr id="95" name="Rounded Rectangle 94"/>
          <p:cNvSpPr/>
          <p:nvPr/>
        </p:nvSpPr>
        <p:spPr>
          <a:xfrm>
            <a:off x="7168896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68896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88936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Motokane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68896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7 290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69936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656320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4cdc8787d7fb92e0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02040" y="3206496"/>
            <a:ext cx="1286256" cy="993648"/>
          </a:xfrm>
          <a:prstGeom prst="rect">
            <a:avLst/>
          </a:prstGeom>
        </p:spPr>
      </p:pic>
      <p:sp>
        <p:nvSpPr>
          <p:cNvPr id="102" name="Rounded Rectangle 101"/>
          <p:cNvSpPr/>
          <p:nvPr/>
        </p:nvSpPr>
        <p:spPr>
          <a:xfrm>
            <a:off x="8656320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656320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6360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KAI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56320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8 610 грн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57360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143744" y="3169920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p_c978dfe0a4d4ebbc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89464" y="3206496"/>
            <a:ext cx="1286256" cy="993648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10143744" y="4268724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143744" y="4268724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463784" y="4264152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2A7F86"/>
                </a:solidFill>
                <a:latin typeface="Segoe UI"/>
              </a:rPr>
              <a:t>HONMAMON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43744" y="4401312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11 790 грн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44784" y="4415028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6928" y="4675632"/>
            <a:ext cx="11064240" cy="145084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66928" y="4675632"/>
            <a:ext cx="41148" cy="1450848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8096" y="4721352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54780"/>
                </a:solidFill>
                <a:latin typeface="Segoe UI"/>
              </a:rPr>
              <a:t>Односторонні ножі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68096" y="4986528"/>
            <a:ext cx="1773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68096" y="544372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68096" y="564489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позицій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682495" y="544372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51A26"/>
                </a:solidFill>
                <a:latin typeface="Georgia"/>
              </a:rPr>
              <a:t>14 %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682495" y="5644896"/>
            <a:ext cx="8412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каталогу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706624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p_dfe0fd546d2fd21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52344" y="4767072"/>
            <a:ext cx="1286256" cy="993648"/>
          </a:xfrm>
          <a:prstGeom prst="rect">
            <a:avLst/>
          </a:prstGeom>
        </p:spPr>
      </p:pic>
      <p:sp>
        <p:nvSpPr>
          <p:cNvPr id="124" name="Rounded Rectangle 123"/>
          <p:cNvSpPr/>
          <p:nvPr/>
        </p:nvSpPr>
        <p:spPr>
          <a:xfrm>
            <a:off x="2706624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706624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026664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KAI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06624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2 660 грн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07664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194048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0" name="Picture 129" descr="p_0fda7a2e570781ad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39768" y="4767072"/>
            <a:ext cx="1286256" cy="993648"/>
          </a:xfrm>
          <a:prstGeom prst="rect">
            <a:avLst/>
          </a:prstGeom>
        </p:spPr>
      </p:pic>
      <p:sp>
        <p:nvSpPr>
          <p:cNvPr id="131" name="Rounded Rectangle 130"/>
          <p:cNvSpPr/>
          <p:nvPr/>
        </p:nvSpPr>
        <p:spPr>
          <a:xfrm>
            <a:off x="4194048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194048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14088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94048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3 500 грн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895088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81472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_c08f7843de669b91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27192" y="4767072"/>
            <a:ext cx="1286256" cy="993648"/>
          </a:xfrm>
          <a:prstGeom prst="rect">
            <a:avLst/>
          </a:prstGeom>
        </p:spPr>
      </p:pic>
      <p:sp>
        <p:nvSpPr>
          <p:cNvPr id="138" name="Rounded Rectangle 137"/>
          <p:cNvSpPr/>
          <p:nvPr/>
        </p:nvSpPr>
        <p:spPr>
          <a:xfrm>
            <a:off x="5681472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81472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01512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Fukamizu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81472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4 451 грн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382512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168896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4" name="Picture 143" descr="p_71096e4f8ef3e786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14616" y="4767072"/>
            <a:ext cx="1286256" cy="993648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7168896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168896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488936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Tosa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68896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4 850 грн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869936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656320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p_ddb6aa1a4f2eca6d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02040" y="4767072"/>
            <a:ext cx="1286256" cy="993648"/>
          </a:xfrm>
          <a:prstGeom prst="rect">
            <a:avLst/>
          </a:prstGeom>
        </p:spPr>
      </p:pic>
      <p:sp>
        <p:nvSpPr>
          <p:cNvPr id="152" name="Rounded Rectangle 151"/>
          <p:cNvSpPr/>
          <p:nvPr/>
        </p:nvSpPr>
        <p:spPr>
          <a:xfrm>
            <a:off x="8656320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656320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976360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HONMAMON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656320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5 490 грн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357360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Sekator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143744" y="4730496"/>
            <a:ext cx="1377696" cy="1066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p_06a35b300ea2f07d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89464" y="4767072"/>
            <a:ext cx="1286256" cy="993648"/>
          </a:xfrm>
          <a:prstGeom prst="rect">
            <a:avLst/>
          </a:prstGeom>
        </p:spPr>
      </p:pic>
      <p:sp>
        <p:nvSpPr>
          <p:cNvPr id="159" name="Rounded Rectangle 158"/>
          <p:cNvSpPr/>
          <p:nvPr/>
        </p:nvSpPr>
        <p:spPr>
          <a:xfrm>
            <a:off x="10143744" y="5829300"/>
            <a:ext cx="274320" cy="123444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0143744" y="5829300"/>
            <a:ext cx="274320" cy="1234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463784" y="5824728"/>
            <a:ext cx="10393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54780"/>
                </a:solidFill>
                <a:latin typeface="Segoe UI"/>
              </a:rPr>
              <a:t>Sakai Takayuki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143744" y="5961888"/>
            <a:ext cx="75590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51A26"/>
                </a:solidFill>
                <a:latin typeface="Georgia"/>
              </a:rPr>
              <a:t>7 460 грн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44784" y="5975604"/>
            <a:ext cx="6766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03504" y="636422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Позиції поза трьома групами (слайсери, хлібні, бунка, фунаюкі, набори) становлять решту каталогу. Каталог — 259 ножів із чотирьох магазинів; повний перелік марок країни — у переписі на слайді 19.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 кожен із п'ятдесяти брендів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Смуга — спостережений діапазон роздрібних цін марки в Україні, риска — середина діапазону. Усі марки японського виробництва.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149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75253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06235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95339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5790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4894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10 тис.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5877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94981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30 тис.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6" y="1536192"/>
            <a:ext cx="11155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ДІАПАЗОН,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73736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Sekiryu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43525" y="1783080"/>
            <a:ext cx="22115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6592" y="173736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90652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Fuji Cutlery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84333" y="1952243"/>
            <a:ext cx="49295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05205" y="193029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21664" y="193761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36592" y="190652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07568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Kanetsune Seki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84831" y="2121408"/>
            <a:ext cx="202227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35632" y="209946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52092" y="210677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207568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24485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Ichiji</a:t>
            </a:r>
          </a:p>
        </p:txBody>
      </p:sp>
      <p:sp>
        <p:nvSpPr>
          <p:cNvPr id="37" name="Oval 36"/>
          <p:cNvSpPr/>
          <p:nvPr/>
        </p:nvSpPr>
        <p:spPr>
          <a:xfrm>
            <a:off x="2626805" y="225948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638693" y="2271369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36592" y="22448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41401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Inoguchi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78970" y="2459736"/>
            <a:ext cx="231090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41401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58318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Higonokami</a:t>
            </a:r>
          </a:p>
        </p:txBody>
      </p:sp>
      <p:sp>
        <p:nvSpPr>
          <p:cNvPr id="44" name="Oval 43"/>
          <p:cNvSpPr/>
          <p:nvPr/>
        </p:nvSpPr>
        <p:spPr>
          <a:xfrm>
            <a:off x="2651932" y="259781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63819" y="2609697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36592" y="258318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75234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Motokane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02224" y="2798064"/>
            <a:ext cx="143496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36592" y="275234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2150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Takanori Izumi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1707" y="2967228"/>
            <a:ext cx="249382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36592" y="292150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09067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Hanakumagawa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77930" y="3136392"/>
            <a:ext cx="87344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36592" y="309067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25983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KAI Sekimagoroku Imayo</a:t>
            </a:r>
          </a:p>
        </p:txBody>
      </p:sp>
      <p:sp>
        <p:nvSpPr>
          <p:cNvPr id="57" name="Oval 56"/>
          <p:cNvSpPr/>
          <p:nvPr/>
        </p:nvSpPr>
        <p:spPr>
          <a:xfrm>
            <a:off x="2796475" y="327446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808362" y="3286353"/>
            <a:ext cx="76809" cy="76809"/>
          </a:xfrm>
          <a:prstGeom prst="ellipse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36592" y="32598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42900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Misono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82320" y="3474720"/>
            <a:ext cx="611109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2271" y="345277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78730" y="346008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36592" y="342900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59816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Masahiro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80287" y="3643884"/>
            <a:ext cx="30226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36592" y="359816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76732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084831" y="3813048"/>
            <a:ext cx="1783575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907042" y="379110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923501" y="379841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36592" y="376732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393649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Kanetaka</a:t>
            </a:r>
          </a:p>
        </p:txBody>
      </p:sp>
      <p:sp>
        <p:nvSpPr>
          <p:cNvPr id="74" name="Oval 73"/>
          <p:cNvSpPr/>
          <p:nvPr/>
        </p:nvSpPr>
        <p:spPr>
          <a:xfrm>
            <a:off x="2946166" y="395112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958053" y="3963009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36592" y="393649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410565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Hisashige</a:t>
            </a:r>
          </a:p>
        </p:txBody>
      </p:sp>
      <p:sp>
        <p:nvSpPr>
          <p:cNvPr id="78" name="Oval 77"/>
          <p:cNvSpPr/>
          <p:nvPr/>
        </p:nvSpPr>
        <p:spPr>
          <a:xfrm>
            <a:off x="2946166" y="412028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958053" y="4132173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36592" y="41056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27481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Yamawaki Hamono</a:t>
            </a:r>
          </a:p>
        </p:txBody>
      </p:sp>
      <p:sp>
        <p:nvSpPr>
          <p:cNvPr id="82" name="Oval 81"/>
          <p:cNvSpPr/>
          <p:nvPr/>
        </p:nvSpPr>
        <p:spPr>
          <a:xfrm>
            <a:off x="2947448" y="428945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959335" y="4301337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36592" y="427481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44398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Fukamizu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827632" y="4489703"/>
            <a:ext cx="349735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976896" y="446775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93356" y="447507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36592" y="444398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61314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280476" y="4658867"/>
            <a:ext cx="154865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029201" y="463692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45661" y="464423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36592" y="461314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478231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Satake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193754" y="4828031"/>
            <a:ext cx="176819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052249" y="480608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068708" y="481340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36592" y="47823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95147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Kasumi / Sumikama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379569" y="4997195"/>
            <a:ext cx="1443628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075780" y="497525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092240" y="498256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736592" y="495147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512063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105416" y="5166359"/>
            <a:ext cx="2060914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110270" y="514441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126729" y="515172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36592" y="512063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28" y="528980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Kiyokane</a:t>
            </a:r>
          </a:p>
        </p:txBody>
      </p:sp>
      <p:sp>
        <p:nvSpPr>
          <p:cNvPr id="111" name="Oval 110"/>
          <p:cNvSpPr/>
          <p:nvPr/>
        </p:nvSpPr>
        <p:spPr>
          <a:xfrm>
            <a:off x="3095976" y="530443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107863" y="5316321"/>
            <a:ext cx="76809" cy="76809"/>
          </a:xfrm>
          <a:prstGeom prst="ellipse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736592" y="528980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545896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Tomita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945302" y="5504687"/>
            <a:ext cx="405959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122679" y="548274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139138" y="549005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736592" y="545896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562813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Suncraft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388585" y="5673851"/>
            <a:ext cx="1559455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142710" y="565190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59169" y="565922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736592" y="562813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579729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Yoshihiro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010552" y="5843015"/>
            <a:ext cx="353143" cy="38404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161520" y="582107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177980" y="582838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36592" y="579729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010293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99397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1 000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630379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319483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3 000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309934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999038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10 тис.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930021" y="1700784"/>
            <a:ext cx="5486" cy="4334256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619125" y="1536192"/>
            <a:ext cx="62179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30 тис.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15600" y="1536192"/>
            <a:ext cx="111556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ДІАПАЗОН, ГРН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91072" y="173736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Tosa / Tosauchi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616861" y="1783080"/>
            <a:ext cx="695045" cy="38404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38780" y="176113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955239" y="176844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460736" y="173736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291072" y="190652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Global (Yoshikin)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553503" y="1952243"/>
            <a:ext cx="912920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984360" y="193029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000819" y="193761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460736" y="190652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91072" y="207568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Tadafusa / Ohishi</a:t>
            </a:r>
          </a:p>
        </p:txBody>
      </p:sp>
      <p:sp>
        <p:nvSpPr>
          <p:cNvPr id="149" name="Oval 148"/>
          <p:cNvSpPr/>
          <p:nvPr/>
        </p:nvSpPr>
        <p:spPr>
          <a:xfrm>
            <a:off x="8960970" y="209031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972858" y="2102205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460736" y="207568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291072" y="224485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Seto Iseya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972499" y="2290572"/>
            <a:ext cx="98615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460736" y="224485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291072" y="241401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Shimomura Kihan</a:t>
            </a:r>
          </a:p>
        </p:txBody>
      </p:sp>
      <p:sp>
        <p:nvSpPr>
          <p:cNvPr id="156" name="Oval 155"/>
          <p:cNvSpPr/>
          <p:nvPr/>
        </p:nvSpPr>
        <p:spPr>
          <a:xfrm>
            <a:off x="8984337" y="2428646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996224" y="2440533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460736" y="241401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291072" y="258318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Yoshiharu</a:t>
            </a:r>
          </a:p>
        </p:txBody>
      </p:sp>
      <p:sp>
        <p:nvSpPr>
          <p:cNvPr id="160" name="Oval 159"/>
          <p:cNvSpPr/>
          <p:nvPr/>
        </p:nvSpPr>
        <p:spPr>
          <a:xfrm>
            <a:off x="9005979" y="259781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9017866" y="2609697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460736" y="258318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291072" y="275234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Sakai Haruhiko</a:t>
            </a:r>
          </a:p>
        </p:txBody>
      </p:sp>
      <p:sp>
        <p:nvSpPr>
          <p:cNvPr id="164" name="Oval 163"/>
          <p:cNvSpPr/>
          <p:nvPr/>
        </p:nvSpPr>
        <p:spPr>
          <a:xfrm>
            <a:off x="9061541" y="276697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9073429" y="2778861"/>
            <a:ext cx="76809" cy="76809"/>
          </a:xfrm>
          <a:prstGeom prst="ellipse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460736" y="275234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291072" y="292150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Gyokucho / Kamisaku</a:t>
            </a:r>
          </a:p>
        </p:txBody>
      </p:sp>
      <p:sp>
        <p:nvSpPr>
          <p:cNvPr id="168" name="Oval 167"/>
          <p:cNvSpPr/>
          <p:nvPr/>
        </p:nvSpPr>
        <p:spPr>
          <a:xfrm>
            <a:off x="9082011" y="293613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093898" y="2948025"/>
            <a:ext cx="76809" cy="76809"/>
          </a:xfrm>
          <a:prstGeom prst="ellipse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460736" y="292150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36208" y="3065068"/>
            <a:ext cx="5486400" cy="1691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291072" y="3090672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144540" y="3136392"/>
            <a:ext cx="13457" cy="38404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0460736" y="3090672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91072" y="3259836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Takamura Hamono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953718" y="3305556"/>
            <a:ext cx="458653" cy="38404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157441" y="328361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173900" y="329092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0460736" y="3259836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291072" y="3429000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Teruhide</a:t>
            </a:r>
          </a:p>
        </p:txBody>
      </p:sp>
      <p:sp>
        <p:nvSpPr>
          <p:cNvPr id="181" name="Oval 180"/>
          <p:cNvSpPr/>
          <p:nvPr/>
        </p:nvSpPr>
        <p:spPr>
          <a:xfrm>
            <a:off x="9133694" y="3443630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145581" y="3455517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460736" y="3429000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91072" y="3598164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Shigehiro</a:t>
            </a:r>
          </a:p>
        </p:txBody>
      </p:sp>
      <p:sp>
        <p:nvSpPr>
          <p:cNvPr id="185" name="Oval 184"/>
          <p:cNvSpPr/>
          <p:nvPr/>
        </p:nvSpPr>
        <p:spPr>
          <a:xfrm>
            <a:off x="9167248" y="361279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9179135" y="3624681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460736" y="3598164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291072" y="3767328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8112729" y="3813048"/>
            <a:ext cx="229635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9235302" y="3791102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9251761" y="3798417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0460736" y="3767328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291072" y="393649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Tsukasa (Hinoura)</a:t>
            </a:r>
          </a:p>
        </p:txBody>
      </p:sp>
      <p:sp>
        <p:nvSpPr>
          <p:cNvPr id="194" name="Oval 193"/>
          <p:cNvSpPr/>
          <p:nvPr/>
        </p:nvSpPr>
        <p:spPr>
          <a:xfrm>
            <a:off x="9253970" y="3951122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9265857" y="3963009"/>
            <a:ext cx="76809" cy="76809"/>
          </a:xfrm>
          <a:prstGeom prst="ellipse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0460736" y="393649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291072" y="410565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Tamahagane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9127801" y="4151375"/>
            <a:ext cx="442918" cy="38404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9323657" y="412943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340116" y="413674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460736" y="410565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427481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Shigeki Tanaka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41166" y="4320539"/>
            <a:ext cx="929177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380152" y="4298594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396611" y="4305909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60736" y="427481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291072" y="444398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JCK Natures</a:t>
            </a:r>
          </a:p>
        </p:txBody>
      </p:sp>
      <p:sp>
        <p:nvSpPr>
          <p:cNvPr id="208" name="Oval 207"/>
          <p:cNvSpPr/>
          <p:nvPr/>
        </p:nvSpPr>
        <p:spPr>
          <a:xfrm>
            <a:off x="9372804" y="4458614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9384691" y="4470501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0460736" y="444398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291072" y="461314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Hatsukokoro</a:t>
            </a:r>
          </a:p>
        </p:txBody>
      </p:sp>
      <p:sp>
        <p:nvSpPr>
          <p:cNvPr id="212" name="Oval 211"/>
          <p:cNvSpPr/>
          <p:nvPr/>
        </p:nvSpPr>
        <p:spPr>
          <a:xfrm>
            <a:off x="9444087" y="462777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9455975" y="4639665"/>
            <a:ext cx="76809" cy="76809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10460736" y="461314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291072" y="478231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Mcusta Zanmai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9181157" y="4828031"/>
            <a:ext cx="640671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9475890" y="4806086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9492349" y="4813401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0460736" y="478231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291072" y="495147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Myojin (Naohito)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66637" y="4997195"/>
            <a:ext cx="157544" cy="38404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0460736" y="495147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6291072" y="5120639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Nigara Hamono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531214" y="5166359"/>
            <a:ext cx="69522" cy="38404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0460736" y="5120639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6291072" y="5289803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Miyabi (Zwilling)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9012124" y="5335523"/>
            <a:ext cx="1121354" cy="38404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547198" y="5313578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9563657" y="5320893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0460736" y="5289803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291072" y="5458967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Etsu / Ittetsu</a:t>
            </a:r>
          </a:p>
        </p:txBody>
      </p:sp>
      <p:sp>
        <p:nvSpPr>
          <p:cNvPr id="232" name="Oval 231"/>
          <p:cNvSpPr/>
          <p:nvPr/>
        </p:nvSpPr>
        <p:spPr>
          <a:xfrm>
            <a:off x="9548316" y="5473598"/>
            <a:ext cx="100584" cy="100584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9560203" y="5485485"/>
            <a:ext cx="76809" cy="76809"/>
          </a:xfrm>
          <a:prstGeom prst="ellipse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0460736" y="5458967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291072" y="5628131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Harukaze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9700883" y="5673851"/>
            <a:ext cx="169460" cy="38404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460736" y="5628131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6291072" y="5797295"/>
            <a:ext cx="148132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Takeshi Saji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9746795" y="5843015"/>
            <a:ext cx="575631" cy="38404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0009008" y="5821070"/>
            <a:ext cx="51206" cy="82296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0025467" y="5828385"/>
            <a:ext cx="18288" cy="67665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0460736" y="5797295"/>
            <a:ext cx="11704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66928" y="6181344"/>
            <a:ext cx="201168" cy="68580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841247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Секі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1792224" y="6181344"/>
            <a:ext cx="201168" cy="68580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066543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Сакаї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017520" y="6181344"/>
            <a:ext cx="201168" cy="68580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91839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Ечідзен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242816" y="6181344"/>
            <a:ext cx="201168" cy="6858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517136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Тоса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68112" y="6181344"/>
            <a:ext cx="201168" cy="6858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742431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Сандзьо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693407" y="6181344"/>
            <a:ext cx="201168" cy="6858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67727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Аоморі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918704" y="6181344"/>
            <a:ext cx="201168" cy="68580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8193024" y="6144768"/>
            <a:ext cx="877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регіон не вказано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9125712" y="6164884"/>
            <a:ext cx="21945" cy="89611"/>
          </a:xfrm>
          <a:prstGeom prst="rect">
            <a:avLst/>
          </a:prstGeom>
          <a:solidFill>
            <a:srgbClr val="15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9235440" y="6144768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середина</a:t>
            </a:r>
          </a:p>
        </p:txBody>
      </p:sp>
      <p:sp>
        <p:nvSpPr>
          <p:cNvPr id="259" name="Oval 258"/>
          <p:cNvSpPr/>
          <p:nvPr/>
        </p:nvSpPr>
        <p:spPr>
          <a:xfrm>
            <a:off x="10460736" y="6164884"/>
            <a:ext cx="89611" cy="89611"/>
          </a:xfrm>
          <a:prstGeom prst="ellipse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10607040" y="6144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одна ціна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603504" y="647395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Шкала логарифмічна. Діапазон — найнижча і найвища спостережена роздрібна ціна марки, жовтень 2026; це не прайс виробника. Кружок замість смуги означає одну знайдену ціну. Шість марок без публічних цін у графік не входять.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Перепис охоплює 25 продавців — ширше за фото-каталог. Позначка JP = підтверджене японське виробництво, її колір = чим підтверджене.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/ Shun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1136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8064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98064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Yaxell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98064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1 199 – 70 102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Suncraft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1136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98064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98064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1 199 – 18 999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Tojiro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31136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98064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98064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599 – 16 499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2064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1136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798064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98064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08960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849 – 19 473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Kanetsune Seki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31136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98064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98064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08960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74720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150 – 25 184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Tosa / Tosauchi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1136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98064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98064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08960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0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2 929 – 10 035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Miyabi (Zwilling)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31136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798064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98064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08960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74720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5 900 – 43 020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 Kanetsugu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31136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98064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98064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08960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74720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990 – 15 390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6384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Kasumi / Sumikama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31136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98064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98064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08960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74720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1 180 – 15 229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2064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6928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86384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Mcusta Zanmai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31136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798064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98064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108960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74720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7 960 – 24 767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Yoshihiro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31136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798064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798064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08960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0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3 609 – 6 747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12064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6384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Takeshi Saji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31136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98064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798064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08960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21 684 – 60 125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86384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Masahiro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31136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798064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798064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08960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474720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2 400 – 4 100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2064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6928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Takamura Hamono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31136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798064" y="4276648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798064" y="4276648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08960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74720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5 320 – 11 990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928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86384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Fuji Cutlery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231136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98064" y="445770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798064" y="445770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108960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474720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1 190 – 2 850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2064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66928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86384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Tamahagane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231136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98064" y="463875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798064" y="463875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8960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474720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7 242 – 15 873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6928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6384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Fukamizu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31136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98064" y="481980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798064" y="481980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108960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474720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2 610 – 4 850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12064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6384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Takanori Izumi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31136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798064" y="500085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798064" y="500085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08960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474720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1 980 – 3 080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6928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86384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Tomita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231136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98064" y="518190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798064" y="518190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108960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74720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3 215 – 6 600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12064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66928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86384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Myojin (Naohito)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231136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2798064" y="536295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798064" y="536295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108960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74720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13 200 – 17 450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6824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26280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71032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537960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848856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214616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306824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251960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4306824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526280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Shigeki Tanaka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971032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6537960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37960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848856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214616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5 203 – 26 990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06824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26280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Motokane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971032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6537960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537960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848856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214616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2 090 – 2 695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251960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4306824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26280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Seto Iseya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971032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537960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537960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48856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214616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5 500 – 6 550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306824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25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526280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Hanakumagawa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971032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537960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537960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6848856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214616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2 390 – 2 790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251960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4306824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26280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Harukaze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971032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6537960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6537960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848856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214616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19 990 – 26 990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6824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27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26280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Inoguchi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5971032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6537960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537960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848856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214616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1 680 – 2 530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251960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4306824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26280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Misono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971032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537960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6537960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848856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214616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1 690 – 4 990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306824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29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26280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Nigara Hamono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5971032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B42E3A"/>
                </a:solidFill>
                <a:latin typeface="Segoe UI"/>
              </a:rPr>
              <a:t>Хіросакі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6537960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537960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848856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214616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14 800 – 16 740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4251960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4306824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B42E3A"/>
                </a:solidFill>
                <a:latin typeface="Segoe UI"/>
              </a:rPr>
              <a:t>30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526280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5971032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537960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537960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848856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214616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7 460 – 7 640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306824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31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526280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Yoshiharu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5971032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257" name="Rounded Rectangle 256"/>
          <p:cNvSpPr/>
          <p:nvPr/>
        </p:nvSpPr>
        <p:spPr>
          <a:xfrm>
            <a:off x="6537960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537960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848856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214616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6 380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4251960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306824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526280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Shimomura Kihan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5971032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265" name="Rounded Rectangle 264"/>
          <p:cNvSpPr/>
          <p:nvPr/>
        </p:nvSpPr>
        <p:spPr>
          <a:xfrm>
            <a:off x="6537960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537960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6848856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214616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6 140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306824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33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526280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Teruhide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971032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272" name="Rounded Rectangle 271"/>
          <p:cNvSpPr/>
          <p:nvPr/>
        </p:nvSpPr>
        <p:spPr>
          <a:xfrm>
            <a:off x="6537960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537960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6848856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2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7214616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8 000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4251960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306824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34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526280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Anryu Hamono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971032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6537960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6537960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848856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7214616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4306824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35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4526280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Etsu / Ittetsu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5971032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6537960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537960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6848856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214616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16 677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4251960" y="425196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4306824" y="4272076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36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4526280" y="42720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Gyokucho / Kamisaku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5971032" y="4272076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A84A6B"/>
                </a:solidFill>
                <a:latin typeface="Segoe UI"/>
              </a:rPr>
              <a:t>Ечідзен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6537960" y="4276648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537960" y="4276648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848856" y="4272076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214616" y="4272076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7 300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306824" y="445312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37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4526280" y="445312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Hatsukokoro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71032" y="445312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6537960" y="445770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6537960" y="445770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848856" y="445312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7214616" y="445312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13 865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251960" y="461406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4306824" y="463417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38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526280" y="463417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Higonokami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971032" y="463417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6537960" y="463875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537960" y="463875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848856" y="463417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214616" y="463417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2 090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306824" y="481523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39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4526280" y="481523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Hisashige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971032" y="481523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17" name="Rounded Rectangle 316"/>
          <p:cNvSpPr/>
          <p:nvPr/>
        </p:nvSpPr>
        <p:spPr>
          <a:xfrm>
            <a:off x="6537960" y="481980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537960" y="481980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6848856" y="481523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214616" y="481523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51960" y="4976164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306824" y="499628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526280" y="499628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JCK Natures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971032" y="499628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6537960" y="500085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6537960" y="500085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848856" y="499628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214616" y="499628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12 220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4306824" y="517733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41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4526280" y="517733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KAI Sekimagoroku Imayo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971032" y="517733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6537960" y="518190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537960" y="518190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848856" y="517733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7214616" y="517733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2 700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251960" y="533826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306824" y="535838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42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4526280" y="535838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Kanetaka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5971032" y="535838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6537960" y="536295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6537960" y="536295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848856" y="535838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214616" y="535838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3 520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8046719" y="1536192"/>
            <a:ext cx="21945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№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266175" y="1536192"/>
            <a:ext cx="1408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БРЕНД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710928" y="153619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РЕГІОН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277855" y="1536192"/>
            <a:ext cx="2926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JP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10588751" y="15361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SKU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0954511" y="153619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46719" y="1682496"/>
            <a:ext cx="3602736" cy="10972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991855" y="1717243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046719" y="173736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43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266175" y="173736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Kazuhira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9710928" y="173736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0277855" y="174193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277855" y="174193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0588751" y="173736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954511" y="173736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046719" y="191841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44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266175" y="191841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Kiyokane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710928" y="191841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10277855" y="192298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10277855" y="192298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0588751" y="191841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954511" y="191841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4 590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7991855" y="207934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046719" y="2099462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45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266175" y="209946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Mikihisa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710928" y="2099462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370" name="Rounded Rectangle 369"/>
          <p:cNvSpPr/>
          <p:nvPr/>
        </p:nvSpPr>
        <p:spPr>
          <a:xfrm>
            <a:off x="10277855" y="2104034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10277855" y="2104034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0588751" y="2099462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954511" y="2099462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046719" y="228051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46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8266175" y="228051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Haruhiko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710928" y="228051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77" name="Rounded Rectangle 376"/>
          <p:cNvSpPr/>
          <p:nvPr/>
        </p:nvSpPr>
        <p:spPr>
          <a:xfrm>
            <a:off x="10277855" y="228508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10277855" y="228508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588751" y="228051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954511" y="228051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7 040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7991855" y="2441448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046719" y="246156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47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8266175" y="246156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Sakai Ichiji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9710928" y="246156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385" name="Rounded Rectangle 384"/>
          <p:cNvSpPr/>
          <p:nvPr/>
        </p:nvSpPr>
        <p:spPr>
          <a:xfrm>
            <a:off x="10277855" y="246613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10277855" y="246613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0588751" y="246156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10954511" y="246156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1 999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8046719" y="264261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48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8266175" y="264261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Satake Masamune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9710928" y="264261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10277855" y="264718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10277855" y="264718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10588751" y="264261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0954511" y="264261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7991855" y="2803550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8046719" y="2823667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49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266175" y="2823667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Shigehiro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9710928" y="2823667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Японія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0277855" y="2828239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10277855" y="2828239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10588751" y="2823667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0954511" y="2823667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8 490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8046719" y="3004718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50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8266175" y="3004718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Tadafusa / Ohishi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9710928" y="3004718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07" name="Rounded Rectangle 406"/>
          <p:cNvSpPr/>
          <p:nvPr/>
        </p:nvSpPr>
        <p:spPr>
          <a:xfrm>
            <a:off x="10277855" y="3009290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10277855" y="3009290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0588751" y="3004718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0954511" y="300471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5 891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7991855" y="3165652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046719" y="3185769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51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8266175" y="3185769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Tsukasa (Hinoura)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9710928" y="3185769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10277855" y="3190341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10277855" y="3190341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0588751" y="3185769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10954511" y="3185769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9 900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046719" y="3366820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52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8266175" y="3366820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Yamawaki Hamono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9710928" y="3366820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22" name="Rounded Rectangle 421"/>
          <p:cNvSpPr/>
          <p:nvPr/>
        </p:nvSpPr>
        <p:spPr>
          <a:xfrm>
            <a:off x="10277855" y="3371392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10277855" y="3371392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10588751" y="3366820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10954511" y="3366820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3 528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7991855" y="3527755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8046719" y="3547871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53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8266175" y="3547871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Global (Yoshikin)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9710928" y="3547871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3A7D5A"/>
                </a:solidFill>
                <a:latin typeface="Segoe UI"/>
              </a:rPr>
              <a:t>Цубаме-Са</a:t>
            </a:r>
          </a:p>
        </p:txBody>
      </p:sp>
      <p:sp>
        <p:nvSpPr>
          <p:cNvPr id="430" name="Rounded Rectangle 429"/>
          <p:cNvSpPr/>
          <p:nvPr/>
        </p:nvSpPr>
        <p:spPr>
          <a:xfrm>
            <a:off x="10277855" y="3552443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10277855" y="3552443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0588751" y="3547871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0954511" y="3547871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2 618 – 13 195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8046719" y="3728923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54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8266175" y="3728923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HONMAMON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9710928" y="3728923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2A7F86"/>
                </a:solidFill>
                <a:latin typeface="Segoe UI"/>
              </a:rPr>
              <a:t>Тоса</a:t>
            </a:r>
          </a:p>
        </p:txBody>
      </p:sp>
      <p:sp>
        <p:nvSpPr>
          <p:cNvPr id="437" name="Rounded Rectangle 436"/>
          <p:cNvSpPr/>
          <p:nvPr/>
        </p:nvSpPr>
        <p:spPr>
          <a:xfrm>
            <a:off x="10277855" y="3733495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TextBox 437"/>
          <p:cNvSpPr txBox="1"/>
          <p:nvPr/>
        </p:nvSpPr>
        <p:spPr>
          <a:xfrm>
            <a:off x="10277855" y="3733495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588751" y="3728923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0954511" y="3728923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441" name="Rectangle 440"/>
          <p:cNvSpPr/>
          <p:nvPr/>
        </p:nvSpPr>
        <p:spPr>
          <a:xfrm>
            <a:off x="7991855" y="3889857"/>
            <a:ext cx="3712463" cy="175564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TextBox 441"/>
          <p:cNvSpPr txBox="1"/>
          <p:nvPr/>
        </p:nvSpPr>
        <p:spPr>
          <a:xfrm>
            <a:off x="8046719" y="3909974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55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8266175" y="3909974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Sekiryu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710928" y="3909974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966E28"/>
                </a:solidFill>
                <a:latin typeface="Segoe UI"/>
              </a:rPr>
              <a:t>Секі</a:t>
            </a:r>
          </a:p>
        </p:txBody>
      </p:sp>
      <p:sp>
        <p:nvSpPr>
          <p:cNvPr id="445" name="Rounded Rectangle 444"/>
          <p:cNvSpPr/>
          <p:nvPr/>
        </p:nvSpPr>
        <p:spPr>
          <a:xfrm>
            <a:off x="10277855" y="3914546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10277855" y="3914546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588751" y="3909974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10954511" y="3909974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1 107 – 1 638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8046719" y="4091025"/>
            <a:ext cx="21945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9AA2B4"/>
                </a:solidFill>
                <a:latin typeface="Segoe UI"/>
              </a:rPr>
              <a:t>56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8266175" y="4091025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151A26"/>
                </a:solidFill>
                <a:latin typeface="Segoe UI"/>
              </a:rPr>
              <a:t>Suisin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9710928" y="4091025"/>
            <a:ext cx="54864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554780"/>
                </a:solidFill>
                <a:latin typeface="Segoe UI"/>
              </a:rPr>
              <a:t>Сакаї</a:t>
            </a:r>
          </a:p>
        </p:txBody>
      </p:sp>
      <p:sp>
        <p:nvSpPr>
          <p:cNvPr id="452" name="Rounded Rectangle 451"/>
          <p:cNvSpPr/>
          <p:nvPr/>
        </p:nvSpPr>
        <p:spPr>
          <a:xfrm>
            <a:off x="10277855" y="4095597"/>
            <a:ext cx="274320" cy="12070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10277855" y="4095597"/>
            <a:ext cx="274320" cy="1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2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10588751" y="4091025"/>
            <a:ext cx="3474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B253F"/>
                </a:solidFill>
                <a:latin typeface="Segoe UI"/>
              </a:rPr>
              <a:t>—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0954511" y="4091025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00" b="0">
                <a:solidFill>
                  <a:srgbClr val="6B7282"/>
                </a:solidFill>
                <a:latin typeface="Segoe UI"/>
              </a:rPr>
              <a:t>—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566928" y="5650992"/>
            <a:ext cx="6400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</a:p>
        </p:txBody>
      </p:sp>
      <p:sp>
        <p:nvSpPr>
          <p:cNvPr id="457" name="Rounded Rectangle 456"/>
          <p:cNvSpPr/>
          <p:nvPr/>
        </p:nvSpPr>
        <p:spPr>
          <a:xfrm>
            <a:off x="566928" y="5833872"/>
            <a:ext cx="4187952" cy="68580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566928" y="5833872"/>
            <a:ext cx="36576" cy="685800"/>
          </a:xfrm>
          <a:prstGeom prst="rect">
            <a:avLst/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ounded Rectangle 458"/>
          <p:cNvSpPr/>
          <p:nvPr/>
        </p:nvSpPr>
        <p:spPr>
          <a:xfrm>
            <a:off x="731520" y="5916168"/>
            <a:ext cx="292608" cy="132588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TextBox 459"/>
          <p:cNvSpPr txBox="1"/>
          <p:nvPr/>
        </p:nvSpPr>
        <p:spPr>
          <a:xfrm>
            <a:off x="731520" y="5916168"/>
            <a:ext cx="292608" cy="1325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107899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A7D5A"/>
                </a:solidFill>
                <a:latin typeface="Segoe UI"/>
              </a:rPr>
              <a:t>ЗАВОД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239572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30 брендів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73152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Виробника і завод встановлено
за джерелами самого виробника</a:t>
            </a:r>
          </a:p>
        </p:txBody>
      </p:sp>
      <p:sp>
        <p:nvSpPr>
          <p:cNvPr id="464" name="Rounded Rectangle 463"/>
          <p:cNvSpPr/>
          <p:nvPr/>
        </p:nvSpPr>
        <p:spPr>
          <a:xfrm>
            <a:off x="4864608" y="5833872"/>
            <a:ext cx="4187952" cy="68580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4864608" y="5833872"/>
            <a:ext cx="36576" cy="68580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5029200" y="5916168"/>
            <a:ext cx="292608" cy="132588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5029200" y="5916168"/>
            <a:ext cx="292608" cy="1325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60" b="1">
                <a:solidFill>
                  <a:srgbClr val="FFFFFF"/>
                </a:solidFill>
                <a:latin typeface="Segoe UI"/>
              </a:rPr>
              <a:t>JP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376672" y="590702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КАРТКА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693408" y="590702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26 брендів</a:t>
            </a:r>
          </a:p>
        </p:txBody>
      </p:sp>
      <p:sp>
        <p:nvSpPr>
          <p:cNvPr id="470" name="TextBox 469"/>
          <p:cNvSpPr txBox="1"/>
          <p:nvPr/>
        </p:nvSpPr>
        <p:spPr>
          <a:xfrm>
            <a:off x="5029200" y="6108192"/>
            <a:ext cx="3913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Походження підтверджене карткою продавця
або профільним торговим каталогом</a:t>
            </a:r>
          </a:p>
        </p:txBody>
      </p:sp>
      <p:sp>
        <p:nvSpPr>
          <p:cNvPr id="471" name="Rounded Rectangle 470"/>
          <p:cNvSpPr/>
          <p:nvPr/>
        </p:nvSpPr>
        <p:spPr>
          <a:xfrm>
            <a:off x="9162288" y="5833872"/>
            <a:ext cx="2468880" cy="68580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9162288" y="5833872"/>
            <a:ext cx="36576" cy="68580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9326880" y="58887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 ПРОЙШЛИ ПЕРЕВІРКУ</a:t>
            </a:r>
          </a:p>
        </p:txBody>
      </p:sp>
      <p:sp>
        <p:nvSpPr>
          <p:cNvPr id="474" name="TextBox 473"/>
          <p:cNvSpPr txBox="1"/>
          <p:nvPr/>
        </p:nvSpPr>
        <p:spPr>
          <a:xfrm>
            <a:off x="9326880" y="6053328"/>
            <a:ext cx="2231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40" b="0">
                <a:solidFill>
                  <a:srgbClr val="6B7282"/>
                </a:solidFill>
                <a:latin typeface="Segoe UI"/>
              </a:rPr>
              <a:t>XINZUO, HEZHEN, Tokisu, Hasaki, S.K.K., Jikko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603504" y="659282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К А Н А Л И   З Б У Т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554480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КАНАЛ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ЦЕ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155448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ЯПОН. 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ЦІНИ,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554480"/>
            <a:ext cx="3611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" y="1719072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1810512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88A3D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1773936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ProfiMax, ROKS, WildCat, Sekator, Volod,
rezat, japan-knife, Hangiri, vodospad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1847088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88A3D"/>
                </a:solidFill>
                <a:latin typeface="Segoe UI"/>
              </a:rPr>
              <a:t>≈ 1 000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847088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217 – 38 640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177393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
Єдиний канал, що тримає склад японських марок.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32304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2A7F86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395728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Епіцентр: 4 950 ножів,
з них японських 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2468880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2A7F86"/>
                </a:solidFill>
                <a:latin typeface="Segoe UI"/>
              </a:rPr>
              <a:t>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68880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2 787 – 11 271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239572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Єдиний офлайн-масштаб. Suncraft із 97 SKU доводить,
що бар'єр не в мережі й не в покупцеві.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962656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054096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A84A6B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41448" y="3017520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yaxell.com.ua, zwilling.in.ua (Miyabi),
lacocotte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04688" y="3090672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A84A6B"/>
                </a:solidFill>
                <a:latin typeface="Segoe UI"/>
              </a:rPr>
              <a:t>≈ 130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090672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2 145 – 70 102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9288" y="30175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Топові слоти вже зайняті ексклюзивами.
Для нового бренду вхід закритий.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75888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3639312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Rozetka, Prom, Kasta, Bigl, Shafa.
Дропшип-вітрини без складу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04688" y="3712464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3712464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2 618 – 13 195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9288" y="3639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Полиця без складу: транслює чужий каталог.
Присутність без продажів і без контролю ціни.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4206240"/>
            <a:ext cx="11210544" cy="566928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4297680"/>
            <a:ext cx="1810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B42E3A"/>
                </a:solidFill>
                <a:latin typeface="Segoe UI"/>
              </a:rPr>
              <a:t>Опт HoReCa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261104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6B7282"/>
                </a:solidFill>
                <a:latin typeface="Segoe UI"/>
              </a:rPr>
              <a:t>AL-Group (523 проф. ножі), LFood,
Gastro24, Profood, System4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334256"/>
            <a:ext cx="841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B42E3A"/>
                </a:solidFill>
                <a:latin typeface="Segoe UI"/>
              </a:rPr>
              <a:t>2 бренди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19088" y="4334256"/>
            <a:ext cx="15361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51A26"/>
                </a:solidFill>
                <a:latin typeface="Segoe UI"/>
              </a:rPr>
              <a:t>5 740 – 13 290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9288" y="4261104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90" b="0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
Шість структурних причин — у блоці нижче.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919472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120640"/>
            <a:ext cx="3602736" cy="64008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120640"/>
            <a:ext cx="36576" cy="64008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193792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358383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
так само легко, як 500 грн, неможливо.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06824" y="5120640"/>
            <a:ext cx="3602736" cy="64008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06824" y="5120640"/>
            <a:ext cx="36576" cy="64008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1416" y="5193792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358383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
Європейський ніж 56 HRC гнеться, японський ламається.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19" y="5120640"/>
            <a:ext cx="3602736" cy="64008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19" y="5120640"/>
            <a:ext cx="36576" cy="64008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11311" y="5193792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1311" y="5358383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Правка на водних каменях кожні 2–3 дні.
Організованого ринку заточення в Україні немає.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6928" y="5833872"/>
            <a:ext cx="3602736" cy="64008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66928" y="5833872"/>
            <a:ext cx="36576" cy="64008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5907024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6071616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
Японцю доведеться будувати окремий канал.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06824" y="5833872"/>
            <a:ext cx="3602736" cy="64008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6824" y="5833872"/>
            <a:ext cx="36576" cy="64008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71416" y="5907024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71416" y="6071616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Вимагає навички, якої лінійний кухар не має
і вчити якої ніхто не буде.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6719" y="5833872"/>
            <a:ext cx="3602736" cy="64008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046719" y="5833872"/>
            <a:ext cx="36576" cy="640080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11311" y="5907024"/>
            <a:ext cx="3310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B42E3A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1311" y="6071616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50" b="0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
Він референс, а не канал збуту.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 — публічна інформація, не комерційна пропозиція.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17904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А С Н О В А Н 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966E28"/>
                </a:solidFill>
                <a:latin typeface="Georgia"/>
              </a:rPr>
              <a:t>1950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17904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Г І О 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2A7F86"/>
                </a:solidFill>
                <a:latin typeface="Georgia"/>
              </a:rPr>
              <a:t>Сакаї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17904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С Е Р І Й   У   Л І Н І Й Ц 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54780"/>
                </a:solidFill>
                <a:latin typeface="Georgia"/>
              </a:rPr>
              <a:t>50+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17904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17904"/>
            <a:ext cx="2706624" cy="25603"/>
          </a:xfrm>
          <a:prstGeom prst="rect">
            <a:avLst/>
          </a:prstGeom>
          <a:solidFill>
            <a:srgbClr val="A8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91639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Е К С П О Р 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83664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A84A6B"/>
                </a:solidFill>
                <a:latin typeface="Georgia"/>
              </a:rPr>
              <a:t>100+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77439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ГРУПА СТАЛІ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КОНКРЕТНО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ДЕ ЦЕ В ЦІНІ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3 000 – 7 000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VG-10 і дамаск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Ginsan / Silver #3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9 000 – 20 000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54780"/>
                </a:solidFill>
                <a:latin typeface="Segoe UI"/>
              </a:rPr>
              <a:t>Вуглецева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6 000 – 25 000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A84A6B"/>
                </a:solidFill>
                <a:latin typeface="Segoe UI"/>
              </a:rPr>
              <a:t>Порошкова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SPG2 / R2, ZA-18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Honyaki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51A26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88A3D"/>
                </a:solidFill>
                <a:latin typeface="Segoe UI"/>
              </a:rPr>
              <a:t>ЩО ЦЕ ДАЄ ШЕФУ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Один виробник закриває всю кухню: від робочого гюто на VG-10 до янагіби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з Shirogami і хоньякі для презентації. Однакова геометрія руків'я,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1B253F"/>
                </a:solidFill>
                <a:latin typeface="Segoe UI"/>
              </a:rPr>
              <a:t>однакова логіка заточування, один постачальник на всі станції.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Н А Й Д Е Н О   П О З И Ц І 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463040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2A7F86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463040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Д Р О П Ш И П - Л І С Т И Н Г 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966E28"/>
                </a:solidFill>
                <a:latin typeface="Georgia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 пʼяти вітринах
Prom, складу немає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463040"/>
            <a:ext cx="2706624" cy="1115568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463040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636776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828800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>
                <a:solidFill>
                  <a:srgbClr val="B42E3A"/>
                </a:solidFill>
                <a:latin typeface="Georgia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32257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ProfiMax — єдиний,
хто тримає склад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688336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ПОЗИЦІЯ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268833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ПРОДАВЕЦЬ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268833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ЦІНА,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4928" y="26883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СТАТУС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9408" y="2688336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283006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8712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8848" y="28712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28712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4928" y="28712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9408" y="28712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02483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0248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8" y="30248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24928" y="30248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2A7F86"/>
                </a:solidFill>
                <a:latin typeface="Segoe UI"/>
              </a:rPr>
              <a:t>СКЛАД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9408" y="302483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13730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17845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317845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317845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24928" y="317845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ТІЛЬКИ НА PROM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9408" y="317845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Є на вітрині Prom, на сайті продавця — немає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33207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98848" y="333207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ROKS·Prom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33207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24928" y="333207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B42E3A"/>
                </a:solidFill>
                <a:latin typeface="Segoe UI"/>
              </a:rPr>
              <a:t>ТІЛЬКИ НА PROM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79408" y="333207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444544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4856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 10 15см (07942)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34856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34856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24928" y="34856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79408" y="34856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36393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98848" y="36393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36208" y="36393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928" y="36393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79408" y="36393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93776" y="375178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6928" y="379293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98848" y="379293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379293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4928" y="379293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79408" y="379293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94655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98848" y="394655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36208" y="39465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24928" y="39465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79408" y="394655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3776" y="4059021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4100169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98848" y="4100169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36208" y="4100169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24928" y="410016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4100169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2537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98848" y="42537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6208" y="42537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24928" y="42537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79408" y="42537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366260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40740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98848" y="440740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36208" y="44074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2492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79408" y="440740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561027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98848" y="4561027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36208" y="4561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24928" y="456102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79408" y="4561027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673498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71464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98848" y="471464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36208" y="471464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24928" y="471464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79408" y="471464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4868265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98848" y="486826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36208" y="48682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24928" y="48682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79408" y="4868265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93776" y="4980736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502188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98848" y="502188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36208" y="502188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24928" y="50218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79408" y="502188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1755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98848" y="51755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tech.dp.ua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36208" y="51755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2492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9408" y="51755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3776" y="5287975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66928" y="5329123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98848" y="5329123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36208" y="5329123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24928" y="532912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9408" y="53291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6928" y="548274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498848" y="548274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236208" y="548274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24928" y="548274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979408" y="548274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93776" y="5595213"/>
            <a:ext cx="11210544" cy="148132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6928" y="5636361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498848" y="5636361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36208" y="563636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24928" y="56363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966E28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979408" y="5636361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852160"/>
            <a:ext cx="36576" cy="684225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66E28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9768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297680" y="5852160"/>
            <a:ext cx="36576" cy="684225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3542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42E3A"/>
                </a:solidFill>
                <a:latin typeface="Segoe UI"/>
              </a:rPr>
              <a:t>ЩО ТАКЕ «ТІЛЬКИ НА PROM»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3542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Товар є на вітрині Prom, але на сайті самого продавця — немає.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046720" y="5852160"/>
            <a:ext cx="3584448" cy="684225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5852160"/>
            <a:ext cx="36576" cy="684225"/>
          </a:xfrm>
          <a:prstGeom prst="rect">
            <a:avLst/>
          </a:prstGeom>
          <a:solidFill>
            <a:srgbClr val="6B7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84464" y="600760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B7282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4464" y="6236208"/>
            <a:ext cx="3108960" cy="153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склад, жовта — під замовлення, червона — розбіжність із сайтом продавця.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dd4d05688dfa4b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63624"/>
            <a:ext cx="1361149" cy="7315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0080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7 460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1056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7533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_302f05bb83b2a84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563624"/>
            <a:ext cx="1361149" cy="73152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220685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20685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0685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20685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2A7F86"/>
                </a:solidFill>
                <a:latin typeface="Segoe UI"/>
              </a:rPr>
              <a:t>7 640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1661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28139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1b68ddd7187a630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563624"/>
            <a:ext cx="1361149" cy="7315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801291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01291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ТІЛЬКИ НА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01291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210мм (вінтажний)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01291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3 520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2267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8745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_3cf09b9dde76644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563624"/>
            <a:ext cx="1361149" cy="7315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381897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81897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ТІЛЬКИ НА PROM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81897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Chief 240мм (вінтажний)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81897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B42E3A"/>
                </a:solidFill>
                <a:latin typeface="Segoe UI"/>
              </a:rPr>
              <a:t>4 070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2873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ROKS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89350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0a93f49d747761d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563624"/>
            <a:ext cx="1361149" cy="73152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6962502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62502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2502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2502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12 550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13478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69956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_b328c785fb1e861b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563624"/>
            <a:ext cx="1361149" cy="731520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8543108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3108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3108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3108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15 266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94084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050562" y="1517904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_cf44316a7d4c9773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563624"/>
            <a:ext cx="1361149" cy="731520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0123714" y="2331720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23714" y="233172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23714" y="2505456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23714" y="2679192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74690" y="2697480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p_29f05d151f49e6b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2999232"/>
            <a:ext cx="1361149" cy="731520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640080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91056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47533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04ad21691281a05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2999232"/>
            <a:ext cx="1361149" cy="73152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2220685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220685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20685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20685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71661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728139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p_12df5afc38c5bd5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2999232"/>
            <a:ext cx="1361149" cy="731520"/>
          </a:xfrm>
          <a:prstGeom prst="rect">
            <a:avLst/>
          </a:prstGeom>
        </p:spPr>
      </p:pic>
      <p:sp>
        <p:nvSpPr>
          <p:cNvPr id="79" name="Rounded Rectangle 78"/>
          <p:cNvSpPr/>
          <p:nvPr/>
        </p:nvSpPr>
        <p:spPr>
          <a:xfrm>
            <a:off x="3801291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801291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01291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Сантоку Nanairo Vg 10 Green (14576)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01291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15 326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2267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308745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_bb0674f3f697c03f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2999232"/>
            <a:ext cx="1361149" cy="731520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5381897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81897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81897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381897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17 387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2873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889350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d8f262b0e38a543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2999232"/>
            <a:ext cx="1361149" cy="731520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6962502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962502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62502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Шеф Urushi Saiseki 24см (VG-10)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62502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18 415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13478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469956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d725270ce809bc83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2999232"/>
            <a:ext cx="1361149" cy="731520"/>
          </a:xfrm>
          <a:prstGeom prst="rect">
            <a:avLst/>
          </a:prstGeom>
        </p:spPr>
      </p:pic>
      <p:sp>
        <p:nvSpPr>
          <p:cNvPr id="100" name="Rounded Rectangle 99"/>
          <p:cNvSpPr/>
          <p:nvPr/>
        </p:nvSpPr>
        <p:spPr>
          <a:xfrm>
            <a:off x="8543108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3108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43108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Santoku Ginga Za 18 см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43108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20 572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494084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Techdom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050562" y="2953512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p_74a76e9ae5d97009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4570" y="2999232"/>
            <a:ext cx="1361149" cy="731520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10123714" y="3767328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123714" y="376732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23714" y="3941064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23714" y="4114800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20 750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074690" y="4133087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81c372e6ab4f4573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4434840"/>
            <a:ext cx="1361149" cy="731520"/>
          </a:xfrm>
          <a:prstGeom prst="rect">
            <a:avLst/>
          </a:prstGeom>
        </p:spPr>
      </p:pic>
      <p:sp>
        <p:nvSpPr>
          <p:cNvPr id="114" name="Rounded Rectangle 113"/>
          <p:cNvSpPr/>
          <p:nvPr/>
        </p:nvSpPr>
        <p:spPr>
          <a:xfrm>
            <a:off x="640080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40080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34 857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91056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47533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p_899349b743e9a77f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11541" y="4434840"/>
            <a:ext cx="1361149" cy="731520"/>
          </a:xfrm>
          <a:prstGeom prst="rect">
            <a:avLst/>
          </a:prstGeom>
        </p:spPr>
      </p:pic>
      <p:sp>
        <p:nvSpPr>
          <p:cNvPr id="121" name="Rounded Rectangle 120"/>
          <p:cNvSpPr/>
          <p:nvPr/>
        </p:nvSpPr>
        <p:spPr>
          <a:xfrm>
            <a:off x="2220685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20685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220685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20685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44 169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71661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tech.dp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728139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_9dce3440c3a78a87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92147" y="4434840"/>
            <a:ext cx="1361149" cy="731520"/>
          </a:xfrm>
          <a:prstGeom prst="rect">
            <a:avLst/>
          </a:prstGeom>
        </p:spPr>
      </p:pic>
      <p:sp>
        <p:nvSpPr>
          <p:cNvPr id="128" name="Rounded Rectangle 127"/>
          <p:cNvSpPr/>
          <p:nvPr/>
        </p:nvSpPr>
        <p:spPr>
          <a:xfrm>
            <a:off x="3801291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801291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801291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01291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57 903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52267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308745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p_f7628f25fcd3e19d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72753" y="4434840"/>
            <a:ext cx="1361149" cy="731520"/>
          </a:xfrm>
          <a:prstGeom prst="rect">
            <a:avLst/>
          </a:prstGeom>
        </p:spPr>
      </p:pic>
      <p:sp>
        <p:nvSpPr>
          <p:cNvPr id="135" name="Rounded Rectangle 134"/>
          <p:cNvSpPr/>
          <p:nvPr/>
        </p:nvSpPr>
        <p:spPr>
          <a:xfrm>
            <a:off x="5381897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381897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381897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381897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60 495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32873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Shopnica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889350" y="4389120"/>
            <a:ext cx="1489165" cy="1344168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Picture 140" descr="p_38da390058d7706e.jp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53358" y="4434840"/>
            <a:ext cx="1361149" cy="731520"/>
          </a:xfrm>
          <a:prstGeom prst="rect">
            <a:avLst/>
          </a:prstGeom>
        </p:spPr>
      </p:pic>
      <p:sp>
        <p:nvSpPr>
          <p:cNvPr id="142" name="Rounded Rectangle 141"/>
          <p:cNvSpPr/>
          <p:nvPr/>
        </p:nvSpPr>
        <p:spPr>
          <a:xfrm>
            <a:off x="6962502" y="5202936"/>
            <a:ext cx="969264" cy="13716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962502" y="5202936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59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962502" y="5376672"/>
            <a:ext cx="134286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540" b="0">
                <a:solidFill>
                  <a:srgbClr val="1B253F"/>
                </a:solidFill>
                <a:latin typeface="Segoe UI"/>
              </a:rPr>
              <a:t>Genbu Aogami 2 Sakimaru 30Cm (2245)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62502" y="5550408"/>
            <a:ext cx="96926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966E28"/>
                </a:solidFill>
                <a:latin typeface="Segoe UI"/>
              </a:rPr>
              <a:t>61 891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913478" y="5568696"/>
            <a:ext cx="44674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20" b="0">
                <a:solidFill>
                  <a:srgbClr val="6B7282"/>
                </a:solidFill>
                <a:latin typeface="Segoe UI"/>
              </a:rPr>
              <a:t>Livico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66928" y="5833872"/>
            <a:ext cx="11064240" cy="687628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66928" y="5833872"/>
            <a:ext cx="36576" cy="687628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04672" y="5989320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4672" y="6217920"/>
            <a:ext cx="10588752" cy="157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03504" y="660196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115568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969" cy="22860"/>
          </a:xfrm>
          <a:prstGeom prst="rect">
            <a:avLst/>
          </a:prstGeom>
          <a:solidFill>
            <a:srgbClr val="B8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92608"/>
            <a:ext cx="1335024" cy="577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9424" y="301752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493776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Цільова зона зайнята дванадцятьма брендами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40233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B4768"/>
                </a:solidFill>
                <a:latin typeface="Georgia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197864"/>
            <a:ext cx="1572768" cy="246888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 w="9525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95560" y="1243584"/>
            <a:ext cx="155448" cy="155448"/>
          </a:xfrm>
          <a:prstGeom prst="ellipse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05872" y="1243584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MADE IN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271016"/>
            <a:ext cx="9235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6B7282"/>
                </a:solidFill>
                <a:latin typeface="Segoe UI"/>
              </a:rPr>
              <a:t>Де саме Sakai Takayuki опинився б на полиці, проти кого стояв би і чим від них відрізняється сьогодні.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481328"/>
            <a:ext cx="11064240" cy="10972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572768"/>
            <a:ext cx="2706624" cy="25603"/>
          </a:xfrm>
          <a:prstGeom prst="rect">
            <a:avLst/>
          </a:prstGeom>
          <a:solidFill>
            <a:srgbClr val="554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Ц І Л Ь О В А   З О Н 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554780"/>
                </a:solidFill>
                <a:latin typeface="Georgia"/>
              </a:rPr>
              <a:t>7 000 – 20 000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грн. Сюди потрапляє
основна лінійка бренду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19856" y="1572768"/>
            <a:ext cx="2706624" cy="25603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9312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П О З И Ц І Й   У   Ц І Й   З О Н 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966E28"/>
                </a:solidFill>
                <a:latin typeface="Georgia"/>
              </a:rP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із 259 каталогу,
тобто 41 %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1572768"/>
            <a:ext cx="2706624" cy="25603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З   Н И Х   S A K A I   T A K A Y U K 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B42E3A"/>
                </a:solidFill>
                <a:latin typeface="Georgi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менше ніж 2 %
зайнятої зони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1" y="1572768"/>
            <a:ext cx="2706624" cy="1097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25711" y="1572768"/>
            <a:ext cx="2706624" cy="25603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7" y="1746504"/>
            <a:ext cx="22677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6B7282"/>
                </a:solidFill>
                <a:latin typeface="Segoe UI"/>
              </a:rPr>
              <a:t>Б Р Е Н Д І В   У   З О Н 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1938528"/>
            <a:ext cx="22677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2A7F86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7" y="2432304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6B7282"/>
                </a:solidFill>
                <a:latin typeface="Segoe UI"/>
              </a:rPr>
              <a:t>усі з полицею
і глибиною лінійки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2871216"/>
            <a:ext cx="557784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2912364"/>
            <a:ext cx="30678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ХТО ВЖЕ ТРИМАЄ ЗОНУ: 12 БРЕНДІВ, 105 ПОЗИЦІЙ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32186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9AA2B4"/>
                </a:solidFill>
                <a:latin typeface="Segoe UI"/>
              </a:rPr>
              <a:t>ПОЗИЦІЙ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4015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Yaxell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03120" y="3439972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03120" y="3439972"/>
            <a:ext cx="32004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3248" y="34015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3631996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KAI / Shun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03120" y="3670401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03120" y="3670401"/>
            <a:ext cx="27432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13248" y="36319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3862425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Tojiro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3900830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3120" y="3900830"/>
            <a:ext cx="2743200" cy="77724"/>
          </a:xfrm>
          <a:prstGeom prst="rect">
            <a:avLst/>
          </a:prstGeom>
          <a:solidFill>
            <a:srgbClr val="966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13248" y="3862425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966E28"/>
                </a:solidFill>
                <a:latin typeface="Segoe UI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092854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Kasumi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03120" y="4131259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03120" y="4131259"/>
            <a:ext cx="13716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13248" y="409285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323283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Takamura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03120" y="4361688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103120" y="4361688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13248" y="432328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45537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Tosa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03120" y="4592116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03120" y="4592116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13248" y="45537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4784140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HONMAMON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03120" y="4822545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03120" y="4822545"/>
            <a:ext cx="12192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13248" y="47841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5014569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Seki Kanetsugu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103120" y="5052974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103120" y="5052974"/>
            <a:ext cx="609600" cy="77724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13248" y="5014569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2A7F86"/>
                </a:solidFill>
                <a:latin typeface="Segoe UI"/>
              </a:rPr>
              <a:t>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2064" y="5212994"/>
            <a:ext cx="5687568" cy="210312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24499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42E3A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5283403"/>
            <a:ext cx="3200400" cy="77724"/>
          </a:xfrm>
          <a:prstGeom prst="rect">
            <a:avLst/>
          </a:prstGeom>
          <a:solidFill>
            <a:srgbClr val="E2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03120" y="5283403"/>
            <a:ext cx="304800" cy="77724"/>
          </a:xfrm>
          <a:prstGeom prst="rect">
            <a:avLst/>
          </a:prstGeom>
          <a:solidFill>
            <a:srgbClr val="B4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13248" y="524499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19088" y="2871216"/>
            <a:ext cx="5212080" cy="210312"/>
          </a:xfrm>
          <a:prstGeom prst="rect">
            <a:avLst/>
          </a:prstGeom>
          <a:solidFill>
            <a:srgbClr val="1B2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65392" y="2912364"/>
            <a:ext cx="28666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ЧИМ SAKAI TAKAYUKI ВІД НИХ ВІДРІЗНЯЄТЬСЯ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19088" y="31638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22208" y="3163824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ДВАНАДЦЯТЬ У ЗОНІ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68128" y="316382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6B7282"/>
                </a:solidFill>
                <a:latin typeface="Segoe UI"/>
              </a:rPr>
              <a:t>SAKAI TAKAYUKI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345936" y="3342132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19088" y="33832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Позицій у зоні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2220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4 – 21 у кожного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68128" y="33832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19088" y="380390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Хто завозить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22208" y="3803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є імпортер або
фаховий магазин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168128" y="38039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немає нікого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345936" y="4183380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19088" y="422452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422452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Suncraft, Tojiro, KAI
стоять в Епіцентрі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68128" y="42245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0 позицій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19088" y="46451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Опт HoReCa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22208" y="464515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Yaxell у каталозі
AL-Group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68128" y="46451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B42E3A"/>
                </a:solidFill>
                <a:latin typeface="Segoe UI"/>
              </a:rPr>
              <a:t>0 позицій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345936" y="5024628"/>
            <a:ext cx="5358384" cy="402336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19088" y="506577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B253F"/>
                </a:solidFill>
                <a:latin typeface="Segoe UI"/>
              </a:rPr>
              <a:t>Впізнаваність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22208" y="506577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6B7282"/>
                </a:solidFill>
                <a:latin typeface="Segoe UI"/>
              </a:rPr>
              <a:t>роками на полиці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68128" y="50657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966E28"/>
                </a:solidFill>
                <a:latin typeface="Segoe UI"/>
              </a:rPr>
              <a:t>фактично нульова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2A7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жодної позиції у великому форматі й в опті HoReCa — територія вільна.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1B253F"/>
                </a:solidFill>
                <a:latin typeface="Segoe UI"/>
              </a:rPr>
              <a:t>Але вільна вона тому, що попиту на неї ніхто не створював: дві позиції за всю історію каналу не дали впізнаваності, на яку можна спертися в першій партії.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AA2B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виробництва. Це ширина присутності на полиці, а не обсяг продажів.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