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  Н А   Р І 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2A7F86"/>
                </a:solidFill>
                <a:latin typeface="Georgia"/>
              </a:rPr>
              <a:t>16–19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Японське виробництво
у роздрібі України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Ш Т У К   Н А   Р І 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554780"/>
                </a:solidFill>
                <a:latin typeface="Georgia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ножів японського
виробництва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Ч А С Т К А   Р И Н К 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966E28"/>
                </a:solidFill>
                <a:latin typeface="Georgia"/>
              </a:rPr>
              <a:t>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грошах і 0,15 %
у штуках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84A6B"/>
                </a:solidFill>
                <a:latin typeface="Georgia"/>
              </a:rPr>
              <a:t>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25 продавців,
759 позицій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907792"/>
            <a:ext cx="70408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48940"/>
            <a:ext cx="38724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00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320040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20040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0408" y="32004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8" y="320040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 НИХ ЯПОНІЯ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78708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198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21408" y="34198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4198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408" y="341985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1928" y="341985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 виділена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71246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21408" y="371246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37124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50408" y="37124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1928" y="371246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14,3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3963924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4005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21408" y="400507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15968" y="4005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00507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81928" y="4005072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103,3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4315968"/>
            <a:ext cx="704088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4439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21408" y="44439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5968" y="44439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50408" y="444398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1928" y="444398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117,5 = 1,3 %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63840" y="2907792"/>
            <a:ext cx="3767328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10144" y="2948940"/>
            <a:ext cx="207203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ІМПОРТ ІЗ ЯПОНІЇ · 8211 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63840" y="325526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30767" y="3296412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30767" y="3296412"/>
            <a:ext cx="1978705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80191" y="3255264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3840" y="356616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30767" y="3607308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30767" y="3607308"/>
            <a:ext cx="1316370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80191" y="3566160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387705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30767" y="3918204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430767" y="3918204"/>
            <a:ext cx="1714767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80191" y="3877056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427939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495604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99719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6928" y="5266944"/>
            <a:ext cx="2706624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6928" y="5266944"/>
            <a:ext cx="32004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8" y="537667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A7F86"/>
                </a:solidFill>
                <a:latin typeface="Georgia"/>
              </a:rPr>
              <a:t>56 брендів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9808" y="5669280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японського виробництва, перевірених на країну походження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419856" y="5266944"/>
            <a:ext cx="2706624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419856" y="5266944"/>
            <a:ext cx="32004" cy="73152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02736" y="537667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554780"/>
                </a:solidFill>
                <a:latin typeface="Georgia"/>
              </a:rPr>
              <a:t>6 регіонів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02736" y="5669280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Секі, Сакаї, Ечідзен, Тоса, Сандзьо, Аоморі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72784" y="5266944"/>
            <a:ext cx="2706624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72784" y="5266944"/>
            <a:ext cx="32004" cy="73152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55664" y="537667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966E28"/>
                </a:solidFill>
                <a:latin typeface="Georgia"/>
              </a:rPr>
              <a:t>25 продавців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55664" y="5669280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від фахових магазинів до оптового профканалу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25712" y="5266944"/>
            <a:ext cx="2706624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25712" y="5266944"/>
            <a:ext cx="32004" cy="73152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308592" y="537667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A84A6B"/>
                </a:solidFill>
                <a:latin typeface="Georgia"/>
              </a:rPr>
              <a:t>259 ножів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08592" y="5669280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із фотографіями й цінами — каталог цієї роботи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6016752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6928" y="6016752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2" y="617220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ЗНАЧИТЬ ДЛЯ ОЦІНКИ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" y="6400800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Satake Saku 802 · 369 Air Holes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 Motokane,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фруктів з дамаської сталі Hanakumagawa / 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Red Wood MGR · 0210Y Янагіба, 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 MV, 120 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 170 мм ле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 Damas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896111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Seki Kanetsugu 8 · Satake 4 · HONMAMON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75c8d1b75469cf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441094" cy="40233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4102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152c4619023fe0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0678" y="1645920"/>
            <a:ext cx="1441094" cy="40233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934102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4102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5854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4102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8076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140499d5980b14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2" y="1645920"/>
            <a:ext cx="1441094" cy="40233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558076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58076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9828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8076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2051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3e2b685bcef9d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8627" y="1645920"/>
            <a:ext cx="1441094" cy="40233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8182051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2051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3803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2051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06025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1df0b9393e475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601" y="1645920"/>
            <a:ext cx="1441094" cy="40233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9806025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06025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7777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6025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256032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2560320"/>
            <a:ext cx="41148" cy="896111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8096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0744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93392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06040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10 · Masahiro 8 · Tojiro 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67394b62b036ed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704" y="2651760"/>
            <a:ext cx="1441094" cy="402335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3310128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10128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10128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34102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e76760d3f37cb47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0678" y="2651760"/>
            <a:ext cx="1441094" cy="40233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4934102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34102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35854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34102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58076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ddfbc22ba73d061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4652" y="2651760"/>
            <a:ext cx="1441094" cy="40233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6558076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58076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9828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58076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82051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8dac3ccf7faf32a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8627" y="2651760"/>
            <a:ext cx="1441094" cy="40233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8182051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82051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83803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82051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06025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cf3aa719792dd9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601" y="2651760"/>
            <a:ext cx="1441094" cy="40233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9806025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06025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07777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6025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356615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3566159"/>
            <a:ext cx="41148" cy="896111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80744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3392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606040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24 · Yaxell 23 · KAI 15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10128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p_d7c9876b54b98bd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6704" y="3657599"/>
            <a:ext cx="1441094" cy="402335"/>
          </a:xfrm>
          <a:prstGeom prst="rect">
            <a:avLst/>
          </a:prstGeom>
        </p:spPr>
      </p:pic>
      <p:sp>
        <p:nvSpPr>
          <p:cNvPr id="125" name="Rounded Rectangle 124"/>
          <p:cNvSpPr/>
          <p:nvPr/>
        </p:nvSpPr>
        <p:spPr>
          <a:xfrm>
            <a:off x="3310128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310128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611880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10128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4102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_7c612f0bf20384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70678" y="3657599"/>
            <a:ext cx="1441094" cy="402335"/>
          </a:xfrm>
          <a:prstGeom prst="rect">
            <a:avLst/>
          </a:prstGeom>
        </p:spPr>
      </p:pic>
      <p:sp>
        <p:nvSpPr>
          <p:cNvPr id="132" name="Rounded Rectangle 131"/>
          <p:cNvSpPr/>
          <p:nvPr/>
        </p:nvSpPr>
        <p:spPr>
          <a:xfrm>
            <a:off x="4934102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34102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5854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34102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58076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849ef6b2ab669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94652" y="3657599"/>
            <a:ext cx="1441094" cy="40233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6558076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58076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59828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58076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182051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28d76dea152104d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8627" y="3657599"/>
            <a:ext cx="1441094" cy="40233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8182051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82051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83803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82051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806025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42f4ee807831e52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2601" y="3657599"/>
            <a:ext cx="1441094" cy="40233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9806025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806025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107777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806025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66928" y="457199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66928" y="4571999"/>
            <a:ext cx="41148" cy="896111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8096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80744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93392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606040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KAI 15 · Yaxell 10 · Tojiro 8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310128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p_5b65bfe8ef210b9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46704" y="4663439"/>
            <a:ext cx="1441094" cy="402335"/>
          </a:xfrm>
          <a:prstGeom prst="rect">
            <a:avLst/>
          </a:prstGeom>
        </p:spPr>
      </p:pic>
      <p:sp>
        <p:nvSpPr>
          <p:cNvPr id="173" name="Rounded Rectangle 172"/>
          <p:cNvSpPr/>
          <p:nvPr/>
        </p:nvSpPr>
        <p:spPr>
          <a:xfrm>
            <a:off x="3310128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10128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11880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10128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934102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p_c22e46de500b8e6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70678" y="4663439"/>
            <a:ext cx="1441094" cy="402335"/>
          </a:xfrm>
          <a:prstGeom prst="rect">
            <a:avLst/>
          </a:prstGeom>
        </p:spPr>
      </p:pic>
      <p:sp>
        <p:nvSpPr>
          <p:cNvPr id="180" name="Rounded Rectangle 179"/>
          <p:cNvSpPr/>
          <p:nvPr/>
        </p:nvSpPr>
        <p:spPr>
          <a:xfrm>
            <a:off x="4934102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934102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35854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34102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558076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p_250ba5e07dfb64d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4652" y="4663439"/>
            <a:ext cx="1441094" cy="402335"/>
          </a:xfrm>
          <a:prstGeom prst="rect">
            <a:avLst/>
          </a:prstGeom>
        </p:spPr>
      </p:pic>
      <p:sp>
        <p:nvSpPr>
          <p:cNvPr id="187" name="Rounded Rectangle 186"/>
          <p:cNvSpPr/>
          <p:nvPr/>
        </p:nvSpPr>
        <p:spPr>
          <a:xfrm>
            <a:off x="6558076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558076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859828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558076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182051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3" name="Picture 192" descr="p_d31c05a14aaad9f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18627" y="4663439"/>
            <a:ext cx="1441094" cy="402335"/>
          </a:xfrm>
          <a:prstGeom prst="rect">
            <a:avLst/>
          </a:prstGeom>
        </p:spPr>
      </p:pic>
      <p:sp>
        <p:nvSpPr>
          <p:cNvPr id="194" name="Rounded Rectangle 193"/>
          <p:cNvSpPr/>
          <p:nvPr/>
        </p:nvSpPr>
        <p:spPr>
          <a:xfrm>
            <a:off x="8182051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051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483803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82051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806025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p_b78a58e2d40d306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42601" y="4663439"/>
            <a:ext cx="1441094" cy="402335"/>
          </a:xfrm>
          <a:prstGeom prst="rect">
            <a:avLst/>
          </a:prstGeom>
        </p:spPr>
      </p:pic>
      <p:sp>
        <p:nvSpPr>
          <p:cNvPr id="201" name="Rounded Rectangle 200"/>
          <p:cNvSpPr/>
          <p:nvPr/>
        </p:nvSpPr>
        <p:spPr>
          <a:xfrm>
            <a:off x="9806025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806025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107777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806025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16 охоплює 56 брендів у 25 продавців.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Gyuto/Petty серії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2313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14 · HONMAMON 7 · Yaxell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e6131eedad7ef5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170431" cy="73761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c4f3a060e1e32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645920"/>
            <a:ext cx="1170431" cy="73761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663440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5192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16752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ee85a4a6e0903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645920"/>
            <a:ext cx="1170431" cy="7376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016752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16752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70063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eada97a57faa51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39" y="1645920"/>
            <a:ext cx="1170431" cy="73761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7370063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70063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71815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70063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23376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1a3d4f712db7d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1" y="1645920"/>
            <a:ext cx="1170431" cy="73761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8723376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23376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25128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23376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7668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d78c15035ef2a4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3263" y="1645920"/>
            <a:ext cx="1170431" cy="737615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0076688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76688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7668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289560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2895600"/>
            <a:ext cx="41148" cy="12313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80744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93392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Yaxell 12 · Tojiro 10 · HONMAMON 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1012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2a7cab578ab6f1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704" y="2987040"/>
            <a:ext cx="1170431" cy="73761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3310128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10128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11880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1012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63440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10804f1d5efbd42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2987040"/>
            <a:ext cx="1170431" cy="73761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4663440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0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65192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63440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16752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d948675fdf9d5c2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3328" y="2987040"/>
            <a:ext cx="1170431" cy="73761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6016752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16752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18504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16752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70063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35894a3250f7977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06639" y="2987040"/>
            <a:ext cx="1170431" cy="73761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7370063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70063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71815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70063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23376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p_2ffd8c46735cdf7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9951" y="2987040"/>
            <a:ext cx="1170431" cy="737615"/>
          </a:xfrm>
          <a:prstGeom prst="rect">
            <a:avLst/>
          </a:prstGeom>
        </p:spPr>
      </p:pic>
      <p:sp>
        <p:nvSpPr>
          <p:cNvPr id="112" name="Rounded Rectangle 111"/>
          <p:cNvSpPr/>
          <p:nvPr/>
        </p:nvSpPr>
        <p:spPr>
          <a:xfrm>
            <a:off x="8723376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23376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25128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23376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7668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p_eb3b0ae5dbfaf52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3263" y="2987040"/>
            <a:ext cx="1170431" cy="737615"/>
          </a:xfrm>
          <a:prstGeom prst="rect">
            <a:avLst/>
          </a:prstGeom>
        </p:spPr>
      </p:pic>
      <p:sp>
        <p:nvSpPr>
          <p:cNvPr id="119" name="Rounded Rectangle 118"/>
          <p:cNvSpPr/>
          <p:nvPr/>
        </p:nvSpPr>
        <p:spPr>
          <a:xfrm>
            <a:off x="10076688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076688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78440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7668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6928" y="423672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66928" y="4236720"/>
            <a:ext cx="41148" cy="12313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68096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80744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93392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606040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11 · KAI 8 · HONMAMON 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1012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6b7b483cde5d03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704" y="4328159"/>
            <a:ext cx="1170431" cy="73761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310128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310128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611880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31012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63440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df51dc842f3e197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0016" y="4328159"/>
            <a:ext cx="1170431" cy="73761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4663440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663440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65192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63440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016752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0ae5588269613e8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53328" y="4328159"/>
            <a:ext cx="1170431" cy="73761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6016752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016752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318504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16752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370063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6e76766272a82f3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06639" y="4328159"/>
            <a:ext cx="1170431" cy="737615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7370063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70063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71815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370063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723376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c6a8f37b3354cd0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951" y="4328159"/>
            <a:ext cx="1170431" cy="737615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8723376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23376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25128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723376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007668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ee23ada01d2932d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3263" y="4328159"/>
            <a:ext cx="1170431" cy="737615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10076688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076688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378440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07668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2 500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10 000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20 000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40 000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990 – 13 900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Satake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1 149 – 3 099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Takanori Izumi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1 980 – 3 080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2 200 – 7 290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2 390 – 2 870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2 400 – 6 512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Tomita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3 215 – 6 600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3 463 – 4 850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Misono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1 690 – 4 990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3 231 – 10 035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1 650 – 23 990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3 119 – 16 499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1 991 – 8 999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7 460 – 7 640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4 657 – 38 640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5 320 – 11 990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726 – 27 970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Harukaze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19 990 – 26 990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н/д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 Prom дві позиції, на roks.com.ua — жодної.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Цільова зона зайнята. Порожні зони — інші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які діапазони в країні справді вільні.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Л Ь О В А   З О Н 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554780"/>
                </a:solidFill>
                <a:latin typeface="Georgia"/>
              </a:rPr>
              <a:t>7 000 – 20 000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Сюди потрапляє
основна лінійка 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966E28"/>
                </a:solidFill>
                <a:latin typeface="Georgia"/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із 259 каталогу,
тобто 41 %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  Н И Х   S A K A I   T A K A Y U K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B42E3A"/>
                </a:solidFill>
                <a:latin typeface="Georg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менше ніж 2 %
зайнятої зони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Б Р Е Н Д І В   У   З О Н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A7F86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усі з полицею
і глибиною лінійки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871216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12364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32186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4015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4015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0401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0401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13248" y="36319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62425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900830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3900830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13248" y="386242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092854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131259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4131259"/>
            <a:ext cx="1371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3248" y="409285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323283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4361688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4361688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13248" y="43232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5537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592116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03120" y="4592116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3248" y="45537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78414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4822545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03120" y="4822545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248" y="47841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014569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052974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03120" y="5052974"/>
            <a:ext cx="609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13248" y="501456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5212994"/>
            <a:ext cx="5687568" cy="2103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24499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5283403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3120" y="5283403"/>
            <a:ext cx="304800" cy="7772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13248" y="524499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2871216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2912364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А ОСЬ ЦІ ЗОНИ СПРАВДІ ПОРОЖНІ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316382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ЗОНА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7" y="316382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В НІЙ Є СЬОГОДНІ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31638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45936" y="3342132"/>
            <a:ext cx="5358384" cy="3657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9088" y="338328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7" y="338328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51008" y="338328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35 000 – 70 000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76732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Ginsan / Silver #3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39327" y="37673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376732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9 000 – 20 000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45936" y="4110228"/>
            <a:ext cx="5358384" cy="3657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Односторонні понад 10 000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39327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Стеля янагіби — 7 640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51008" y="415137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10 000 – 45 000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9088" y="45354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Wa-руків'я у профканалі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39327" y="45354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AL-Group: 0 із 523 ножів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351008" y="45354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6 000 – 25 000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8816" y="499262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Усі чотири зони Sakai Takayuki закриває власною лінійкою: honyaki Shoryu,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Ginsan Silver #3, односторонні до 60 495 грн, традиційне wa-руків'я.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