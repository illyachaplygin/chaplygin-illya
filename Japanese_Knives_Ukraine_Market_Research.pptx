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image" Target="../media/image5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46.png"/><Relationship Id="rId14" Type="http://schemas.openxmlformats.org/officeDocument/2006/relationships/image" Target="../media/image6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5.png"/><Relationship Id="rId4" Type="http://schemas.openxmlformats.org/officeDocument/2006/relationships/image" Target="../media/image11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25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3.png"/><Relationship Id="rId14" Type="http://schemas.openxmlformats.org/officeDocument/2006/relationships/image" Target="../media/image7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image" Target="../media/image80.png"/><Relationship Id="rId9" Type="http://schemas.openxmlformats.org/officeDocument/2006/relationships/image" Target="../media/image27.png"/><Relationship Id="rId10" Type="http://schemas.openxmlformats.org/officeDocument/2006/relationships/image" Target="../media/image81.png"/><Relationship Id="rId11" Type="http://schemas.openxmlformats.org/officeDocument/2006/relationships/image" Target="../media/image30.png"/><Relationship Id="rId12" Type="http://schemas.openxmlformats.org/officeDocument/2006/relationships/image" Target="../media/image82.png"/><Relationship Id="rId13" Type="http://schemas.openxmlformats.org/officeDocument/2006/relationships/image" Target="../media/image83.png"/><Relationship Id="rId14" Type="http://schemas.openxmlformats.org/officeDocument/2006/relationships/image" Target="../media/image8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Relationship Id="rId7" Type="http://schemas.openxmlformats.org/officeDocument/2006/relationships/image" Target="../media/image88.png"/><Relationship Id="rId8" Type="http://schemas.openxmlformats.org/officeDocument/2006/relationships/image" Target="../media/image89.png"/><Relationship Id="rId9" Type="http://schemas.openxmlformats.org/officeDocument/2006/relationships/image" Target="../media/image90.png"/><Relationship Id="rId10" Type="http://schemas.openxmlformats.org/officeDocument/2006/relationships/image" Target="../media/image91.png"/><Relationship Id="rId11" Type="http://schemas.openxmlformats.org/officeDocument/2006/relationships/image" Target="../media/image92.png"/><Relationship Id="rId12" Type="http://schemas.openxmlformats.org/officeDocument/2006/relationships/image" Target="../media/image93.png"/><Relationship Id="rId13" Type="http://schemas.openxmlformats.org/officeDocument/2006/relationships/image" Target="../media/image94.png"/><Relationship Id="rId14" Type="http://schemas.openxmlformats.org/officeDocument/2006/relationships/image" Target="../media/image5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Relationship Id="rId11" Type="http://schemas.openxmlformats.org/officeDocument/2006/relationships/image" Target="../media/image106.png"/><Relationship Id="rId12" Type="http://schemas.openxmlformats.org/officeDocument/2006/relationships/image" Target="../media/image10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Relationship Id="rId5" Type="http://schemas.openxmlformats.org/officeDocument/2006/relationships/image" Target="../media/image119.png"/><Relationship Id="rId6" Type="http://schemas.openxmlformats.org/officeDocument/2006/relationships/image" Target="../media/image120.png"/><Relationship Id="rId7" Type="http://schemas.openxmlformats.org/officeDocument/2006/relationships/image" Target="../media/image1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7.png"/><Relationship Id="rId4" Type="http://schemas.openxmlformats.org/officeDocument/2006/relationships/image" Target="../media/image128.png"/><Relationship Id="rId5" Type="http://schemas.openxmlformats.org/officeDocument/2006/relationships/image" Target="../media/image129.png"/><Relationship Id="rId6" Type="http://schemas.openxmlformats.org/officeDocument/2006/relationships/image" Target="../media/image13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1.png"/><Relationship Id="rId4" Type="http://schemas.openxmlformats.org/officeDocument/2006/relationships/image" Target="../media/image132.png"/><Relationship Id="rId5" Type="http://schemas.openxmlformats.org/officeDocument/2006/relationships/image" Target="../media/image133.png"/><Relationship Id="rId6" Type="http://schemas.openxmlformats.org/officeDocument/2006/relationships/image" Target="../media/image1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14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ced8cc3671657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48 слайдів · 14 продавців · 45 японських брендів · 162 ножі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НАЙБІЛЬШИЙ «ЯПОНСЬКИЙ» БРЕНД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в Епіцентрі. Засновано
для ринку РФ, вироблено в Китаї.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Гроші під вивіскою «японський ніж» заробляє Китай: 64 % митної бази.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Найбільша комерційна можливість категорії не потребує японського постачальника.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До 2 500 грн: справжньої Японії тут майже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Нижній діапазон каталогу. Саме тут лежить обсяг ринку — і саме тут японське виробництво представлене найгірше.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f69a98636c839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з ножнами KAI DG · 3002, 95мм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726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ba7ad1d4aabab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Chang Keng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Damascus Petty, універсальний ніж, 123мм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970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a8cc9dc2a242a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Petty 2001 120мм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9b46efe40de61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HARAKIRI SHR · 0023B універсал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a98c013248033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SM · 0011 овочевий, 93м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1 299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f3556a9c64c3865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SM · 0021 універсальний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1 399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6c15945d93e793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1 560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53414e49f21fc66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1 760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3bd081471b34fc2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1 991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f14dcecf95a3c07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34147445787498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Samura Shadow SH · 0210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2 299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8149c7d4b6c8596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2 400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14 %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1 499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726–2 400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42 %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2862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22 %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652272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49377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335280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 або базова VG-10, штамповка, західне руків'я. Японія сюди дістає лише Satake, Seki Kanetsugu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Основний мешканець діапазону — Samura, бренд китайського виробництва. Для нового гравця це єдиний сегмент із реальним обсягом і найщільнішою конкуренцією.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36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2 500 – 5 000 грн: вхід у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Перший діапазон, де японське виробництво стає нормою, а не винятком. 70 позицій каталогу, 27 %.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55fb8ee3c69828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Stonewash SM · 0043B 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2 599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0b31b88dbd8504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166 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320cbc4355a8b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Chief MC · 700 10375 180мм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2 900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dc640cd3e6dd3a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із 2 · х кухонних ножів Satake Swordsmit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c24a26e64ffdeb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5276819064f944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6724Y Янагіба, 24см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9c8b55acafe58d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Hisashige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Honyaki ніж із вуглецевої сталі 150мм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e1047b602e0209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MC · 700 10371 165мм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3 850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6dd7c0c2682d0c7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Tojiro DP Damascus F · 650, 12см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4 299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bcf7666dbfb47e9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Red Wood MGR · 0240Y Янагіба, 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4 550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5220b992792993e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Kurouchi Bunka 165мм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6339a60440c5d0a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ZEN 35502, 120мм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4 996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27 %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3 500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2 599–4 996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23 %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50418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Masahiro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20700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05841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05841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VG-10 у три шари, перші куроучі з Тоса, артизанальні ножі з вуглецевої сталі. Тут з'являються імена кузень, а не лише бренди.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70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Найгустіший діапазон каталогу — 110 позицій, 42 %. Сюди цілиться більшість продавців справжньої Японії.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e6e2976fb0ba73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W2 240мм японський кух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5 060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fa83e5079efca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Nakiri Kanto 54x165мм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5 439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5f68f1ce8fe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нарізки Tojiro DP F · 826, 21см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5 699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db7cadf0f90850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0711 для стейка, 12см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6 160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5deeaf9f20e260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нарізки Yaxell RAN 36007, 180мм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9550f175c467c8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Kiritsuke Yaxell ZEN 35534, 200мм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7 048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2b45865ec4afdb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нарізки Tojiro DP F · 805, 24см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7 399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d2eac094040290e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хліба Yaxell RAN 36008, 230мм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d99229e1c9d39f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Kiritsuke Yaxell RAN 36034, 200мм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8 283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837a29c02e099f1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fb89a29d3fda13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Damascus TADAYOSHI Tosa 180мм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9 481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adef0362c3a8d00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обвалочний Tojiro Flash FF · BO150, 15см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110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42 %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7 250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5 060–9 999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22 %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22966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21 %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50418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 32–69 шарів поверх VG-10, куроучі Тоса, Takamura Chromax, Tojiro DP Damascus. Твердість 60–61 HRC.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Тут найбільша щільність позицій — і найбільша конкуренція між продавцями за одного покупця. Новий бренд без історії тут не має аргументу.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110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Верхній діапазон — 44 позиції, 17 % каталогу. Тут платять за сталь, кількість шарів і підпис майстра.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03beca3eae9669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Chief Damascus TADAYOSHI Tosa 240мм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10 035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25231c3c364e20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30131eded8c95f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Shippu Black FD · 1594,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10 799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7ced1d209d2d27b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2х ножів Yaxell ZEN 35500 · 902 (35500,3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11 076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c07aa14169ef91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JCK Natures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24f183eac56cf6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0707 Кухарський Шеф, 25.5см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12 880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7f7b82f361e66d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Seki Kanetsugu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Kiritsuke Zuiun 9303 180мм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13 500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5bf6da9881aca6a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Flash FF · CH210, 21см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14 499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18d6eb9c3f7667d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хліба Tojiro Flash FF · BR240, 24см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16 499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19d6cbca3ad4243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хліба Yaxell Super Gou 37108, 230мм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19 226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043f0901b44046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SHUN CLASSIC DMS · 300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23 610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17 %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13 499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10 035–38 640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34 %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60324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23 %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28625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18 %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7 %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335280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SG-2 і R2 порошкові сталі, 101–193 шари, ZDP-189 при 65–67 HRC, honyaki. Yaxell Super Gou,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44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Шеф і гюто: 55 позицій, найбільший тип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Робочий ніж кухні, 180–240 мм. Найширше представлений тип у каталозі й головний драйвер середнього чека.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433f6d1871e5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1100397961067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Chief 2005 210мм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1 790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24ed14f89e59c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Samura Mo · V SM · 0085, 200мм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2 599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eb674d0eb6d352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Kasumi TORA 36851, 20см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2 920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b607d35558bd2b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Шеф ніж, 180 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39ce0949c2510db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F · 808, 21см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5 999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9461ca65bd603d3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Samura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кухонних ножів "Кухарська трійка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6 999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6ae2b6b2657bcf9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· Ніж кухарський Kasumi Damascus 88024, 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8 510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495d664c4124bf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9 720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d6efee3a827d83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656, 24с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10 701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07aa14169ef918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JCK Natures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142f631d74200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Super Gou 37100, 200мм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17 746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21 %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6 671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1 149–17 746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25 %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25 %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867373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7 %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7 %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робочий ніж: м'ясо, овочі, риба. Купують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в цьому типі найширший ціновий розкид — від 1 199 до 38 640 грн, тобто у 32 рази. Тип не визначає ціну; її визначає сталь.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55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74 позиції разом. Три типи, які купує домашня кухня, і які формують уявлення про «японський ніж» у масовому покупця.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5afb432f86135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універсальний SAMURA GOLF SG · 0023,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969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f3556a9c64c386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Samura Mo · V SM · 0021 універсальний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1 399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035791ace92f30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Kasumi TORA 36845, 15см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247326257403f4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MRS · 30 10687 150мм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3 100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e1047b602e02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MC · 700 10371 165мм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3 850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21ae56859460d9b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Petty Migaki VG10 150мм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5 320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6f1bcac45cd5ae2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6 160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cb65c59ca0dc971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7 199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1cdf8d71495592c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Накірі Yaxell RAN 36004G, 180мм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3ec36791ea64766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Tojiro DP Damascus F · 659, 17см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001258e20afd017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Tojiro Shippu Black FD · 1597, 16.5см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9 799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28679320017b7c4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Hatsukokoro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13 865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74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28 %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5 538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969–13 865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16 %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99948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180136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160324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4051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єдина група, де японська геометрія вже стала масовою: у Fissman 61 SKU сантоку, і покупець не перевіряє походження.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74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33 позиції, 13 % каталогу. Єдина геометрія, де японське виробництво не має європейського замінника.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83efe47d2cae4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182353db18bf9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Янагіба Samura Okinawa SO · 0110, 240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2 999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055af49fce4891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3 463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3879c817dcc35f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3a1fda044edb818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3 999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52f5ff0adc7c27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4 400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bcf7666dbfb47e9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Red Wood MGR · 0240Y Янагіба, 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4 550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33f546c82d3a196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e6e2976fb0ba73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W2 240мм японський кух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5 060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cdad4d2f286701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Masahiro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Masahiro 16220 Yanagiba, 27см сталь Ki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6 512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6f7ff8401b6b4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ніж Tosauchi White 2 Deba 185 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7 360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97bfc2a3a6a5b4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7 640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13 %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4 451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2 016–7 640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33 %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747335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24 %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Tomita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Fukamizu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33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Набори: 29 позицій і подарунковий двигун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Набори з 2–5 предметів. У митній статистиці це окремий код 8211 10 — 26 % усієї митної бази категорії.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1341474457874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Samura Shadow SH · 0210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2 299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8d10a99e8f0fed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2984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6 · ти ножів для стейку Samura Harakir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f41c1f1a9f793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7388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3х керамічних ножів Samura INCA SIN ·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bbb5260f706cc84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792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3х ножів "Кухарська трійка" Samura Mo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e1a6760378698d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61960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Samura KAIJU SKJ · 0220 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5 899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52f59bed9876c5b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05999" y="2359152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WASABI Black 67S · 310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7 280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032c52bf20085f9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580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кухонних ножів Tojiro DP · GIFTSET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9 470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f09b37373f363c7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2984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кухонних ножів Tojiro Damascus DP 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12 499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4664011e36f4428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7388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Samura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Samura "Super 5" SP5 · 022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14 299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e704c2ed970bb29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1792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ножів KAI Shun Premier Tim Malzer TDMS 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20 300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f239debcf35570d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61960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Shun Premier Tim Malze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27 350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05999" y="3840480"/>
            <a:ext cx="15880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14 % каталогу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8 699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2 299–38 640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50 %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7264" y="5157216"/>
            <a:ext cx="133908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27264" y="5340096"/>
            <a:ext cx="67868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27264" y="5522976"/>
            <a:ext cx="28244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827264" y="5705856"/>
            <a:ext cx="150367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Купують не для себе. Пік продажів — грудень і березень. Коробка, підкладка й гравіювання важать більше за марку сталі.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Найвищий середній чек у категорії при найнижчій вимозі до продукту. Для входу це найдешевший спосіб купити місце на полиці.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36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ПРЕДСТАВЛЕНО · ТИП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Три типи леза дають половину всього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Розбір 260 карток товарів із каталогів ProfiMax, ROKS і WildCat. Це представленість на полиці, а не продажі — панелі продажів у категорії не існує.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ПОЗИЦІЙ У КАТАЛОГАХ, ШТ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ЦІНОВИЙ КОРИДОР ТИПУ,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9222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Шеф / гюто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57984" y="1833372"/>
            <a:ext cx="3035808" cy="914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1792224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7922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23 %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5957" y="1851660"/>
            <a:ext cx="210355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75629" y="1815084"/>
            <a:ext cx="64008" cy="1234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792224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1 149 – 17 746   мед. 6 671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2103120"/>
            <a:ext cx="1773935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061972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06197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25020" y="2121408"/>
            <a:ext cx="20448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9145" y="2084831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2061972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969 – 13 865   мед. 4 362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3172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57984" y="2372868"/>
            <a:ext cx="1609343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8656" y="2331720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33172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07246" y="2391156"/>
            <a:ext cx="174205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4273" y="2354579"/>
            <a:ext cx="64008" cy="1234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2331720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1 399 – 13 499   мед. 7 200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6014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57984" y="2642615"/>
            <a:ext cx="1609343" cy="9144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8656" y="2601468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260146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8966" y="2660903"/>
            <a:ext cx="216853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65261" y="2624327"/>
            <a:ext cx="64008" cy="12344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0384" y="2601468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2 299 – 38 640   мед. 11 076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7984" y="2912363"/>
            <a:ext cx="1005839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48656" y="287121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287121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88019" y="2930651"/>
            <a:ext cx="102384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07145" y="2894075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0384" y="287121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2 016 – 7 640   мед. 4 130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1409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Овочевий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57984" y="3182111"/>
            <a:ext cx="841247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8656" y="3140963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314096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03146" y="3200399"/>
            <a:ext cx="159683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22518" y="3163823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30384" y="3140963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726 – 5 799   мед. 4 799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4107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57984" y="3451859"/>
            <a:ext cx="731519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48656" y="3410711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341071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83657" y="3470147"/>
            <a:ext cx="139776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18724" y="3433571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30384" y="3410711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1 760 – 10 850   мед. 5 439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68045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57984" y="3721607"/>
            <a:ext cx="676656" cy="9144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8656" y="3680459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0720" y="368045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83657" y="3739896"/>
            <a:ext cx="163520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85769" y="3703320"/>
            <a:ext cx="64008" cy="12344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30384" y="3680459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1 760 – 14 778   мед. 7 699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95020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Кіріцуке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57984" y="3991355"/>
            <a:ext cx="512063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8656" y="3950207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720" y="3950207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36035" y="4009644"/>
            <a:ext cx="73576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541957" y="3973068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930384" y="3950207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5 336 – 13 900   мед. 8 283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21995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Сашимі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57984" y="4261103"/>
            <a:ext cx="457199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8656" y="421995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720" y="421995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903786" y="4279392"/>
            <a:ext cx="51255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089972" y="4242816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30384" y="421995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3 463 – 6 747   мед. 4 600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48970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157984" y="4530851"/>
            <a:ext cx="347472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48656" y="4489703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0" y="448970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755688" y="4549140"/>
            <a:ext cx="75112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97122" y="4512564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930384" y="4489703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2 856 – 7 590   мед. 4 643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75945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Хліб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157984" y="4800599"/>
            <a:ext cx="292608" cy="9144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248656" y="4759451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475945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183" y="4818888"/>
            <a:ext cx="69288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773817" y="4782312"/>
            <a:ext cx="64008" cy="12344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30384" y="4759451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7 804 – 19 226   мед. 11 200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502919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Бунка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57984" y="5070347"/>
            <a:ext cx="182879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48656" y="5029199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60720" y="502919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911953" y="5088636"/>
            <a:ext cx="11998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130642" y="5052059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30384" y="5029199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3 500 – 16 677   мед. 4 850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529894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Фунаюкі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57984" y="5340095"/>
            <a:ext cx="182879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48656" y="5298947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60720" y="5298947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1 %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618798" y="5358383"/>
            <a:ext cx="29753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705717" y="5321807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30384" y="5298947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2 390 – 3 520   мед. 2 790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5686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Усуба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157984" y="5609843"/>
            <a:ext cx="73151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248656" y="556869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60720" y="556869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16638" y="5628131"/>
            <a:ext cx="36576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184634" y="5591555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930384" y="556869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5 203 – 5 203   мед. 5 203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49220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766340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1k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793490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610610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3k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718729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35849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10k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562999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380119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30k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66928" y="588873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66928" y="588873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4672" y="60441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627278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Шеф, петті й сантоку — 116 позицій із 260, 45 %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Решта п'ятнадцять типів ділять другу половину.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17920" y="588873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17920" y="5888736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55664" y="60441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ОДНОСТОРОННІ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55664" y="627278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Янагіба, сашимі, деба, усуба — 33 позиції, 13 %.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весь професійний суші-інструмент країни.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ПРЕДСТАВЛЕНО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Ринок зібраний у коридорі 2 500 – 10 000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260 позицій за ціною. Це розподіл асортименту, а не продажів: дорогі позиції стоять у каталозі довше за дешеві.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РОЗПОДІЛ ПОЗИЦІЙ ЗА ЦІНОЮ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759867"/>
            <a:ext cx="746760" cy="14131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76987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до 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4040" y="4025022"/>
            <a:ext cx="746760" cy="8761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52599" y="3842142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599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1 000–
2 499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599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3680" y="2922754"/>
            <a:ext cx="746760" cy="1978429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82240" y="2739874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224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2 500–
4 999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224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27 %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3320" y="1792223"/>
            <a:ext cx="746760" cy="3108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1609343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79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5 000–
9 999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79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42 %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2960" y="3883706"/>
            <a:ext cx="746760" cy="1017477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1520" y="3700826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52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10 000–
19 999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152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62600" y="4675077"/>
            <a:ext cx="746760" cy="22610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71160" y="4492197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7116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20 000 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7116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3 %</a:t>
            </a:r>
          </a:p>
        </p:txBody>
      </p:sp>
      <p:sp>
        <p:nvSpPr>
          <p:cNvPr id="35" name="Oval 34"/>
          <p:cNvSpPr/>
          <p:nvPr/>
        </p:nvSpPr>
        <p:spPr>
          <a:xfrm>
            <a:off x="1242059" y="4795676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883" y="4621940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2 %</a:t>
            </a:r>
          </a:p>
        </p:txBody>
      </p:sp>
      <p:sp>
        <p:nvSpPr>
          <p:cNvPr id="37" name="Oval 36"/>
          <p:cNvSpPr/>
          <p:nvPr/>
        </p:nvSpPr>
        <p:spPr>
          <a:xfrm>
            <a:off x="2171700" y="4424992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87780" y="484139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54182" y="481491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20585" y="478844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86988" y="476196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53391" y="473548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19794" y="470900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86197" y="468253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52599" y="465605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19002" y="462957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85405" y="460309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951808" y="457662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018211" y="455014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84614" y="452366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1017" y="449719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06524" y="4251256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53" name="Oval 52"/>
          <p:cNvSpPr/>
          <p:nvPr/>
        </p:nvSpPr>
        <p:spPr>
          <a:xfrm>
            <a:off x="3101340" y="3587964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7420" y="447071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83822" y="441092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350225" y="435113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16628" y="429134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83031" y="423156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49434" y="417177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15837" y="411198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82240" y="405219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8642" y="399241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15045" y="393262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81448" y="387283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47851" y="381304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14254" y="375326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80657" y="369347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36164" y="3414228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41 %</a:t>
            </a:r>
          </a:p>
        </p:txBody>
      </p:sp>
      <p:sp>
        <p:nvSpPr>
          <p:cNvPr id="69" name="Oval 68"/>
          <p:cNvSpPr/>
          <p:nvPr/>
        </p:nvSpPr>
        <p:spPr>
          <a:xfrm>
            <a:off x="4030980" y="2272635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47060" y="363368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13462" y="353973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79865" y="344578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6268" y="335182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412671" y="32578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79074" y="316392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545477" y="306997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11879" y="297602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678282" y="288206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44685" y="278811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11088" y="269416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77491" y="260021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43894" y="250625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010297" y="241230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65804" y="2098899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83 %</a:t>
            </a:r>
          </a:p>
        </p:txBody>
      </p:sp>
      <p:sp>
        <p:nvSpPr>
          <p:cNvPr id="85" name="Oval 84"/>
          <p:cNvSpPr/>
          <p:nvPr/>
        </p:nvSpPr>
        <p:spPr>
          <a:xfrm>
            <a:off x="4960620" y="1842164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76699" y="231835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143102" y="228760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09505" y="225685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275908" y="222611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342311" y="219536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408714" y="216461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475117" y="213386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41520" y="210312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07922" y="207237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74325" y="204162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740728" y="20108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07131" y="198012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873534" y="194938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9937" y="191863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695444" y="1668428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97 %</a:t>
            </a:r>
          </a:p>
        </p:txBody>
      </p:sp>
      <p:sp>
        <p:nvSpPr>
          <p:cNvPr id="101" name="Oval 100"/>
          <p:cNvSpPr/>
          <p:nvPr/>
        </p:nvSpPr>
        <p:spPr>
          <a:xfrm>
            <a:off x="5890260" y="1746504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6340" y="188788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072742" y="188105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39145" y="187421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205548" y="186738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271951" y="186055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38354" y="185371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404757" y="184688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471160" y="184005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537562" y="183322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03965" y="182638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0368" y="181955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736771" y="181272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803174" y="180588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869577" y="179905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625084" y="1572768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100 %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5468112"/>
            <a:ext cx="5852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9FA9C4"/>
                </a:solidFill>
                <a:latin typeface="Segoe UI"/>
              </a:rPr>
              <a:t>Чорна лінія — накопичена частка позицій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675120" y="1792224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76288" y="1920240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ПОЗИЦІЙ У ВИБІРЦІ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10312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C4820A"/>
                </a:solidFill>
                <a:latin typeface="Segoe UI"/>
              </a:rPr>
              <a:t>260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76288" y="2468880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карток із фото, моделлю і ціною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675120" y="2816352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76288" y="2944368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МЕДІАНА КАТАЛОГУ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12724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E9EA6"/>
                </a:solidFill>
                <a:latin typeface="Segoe UI"/>
              </a:rPr>
              <a:t>5 899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493008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грн. Половина ножів дорожча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675120" y="3840480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76288" y="3968496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ЯДРО РИНКУ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76288" y="4151376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5D4B96"/>
                </a:solidFill>
                <a:latin typeface="Segoe UI"/>
              </a:rPr>
              <a:t>69 %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517136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позицій у коридорі 2 500 – 10 000 грн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675120" y="4864608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76288" y="4992624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ДЕШЕВШЕ 2 500 ГРН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76288" y="5175504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C03B4B"/>
                </a:solidFill>
                <a:latin typeface="Segoe UI"/>
              </a:rPr>
              <a:t>14 %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76288" y="5541264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Справжньої Японії нижче майже немає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80176"/>
            <a:ext cx="11064240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980176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13562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364224"/>
            <a:ext cx="10588752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 зібраний там, де масовий покупець уже не ходить, а ентузіаст ще не платить премію: 2 500 – 10 000 грн. Нижче 2 500 грн справжньої Японії майже немає — і саме там лежить обсяг ринку.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 в каталогах, крапка — медіана. Логарифмічна шкала. Лише бренди, де зібрано не менше двох позицій.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3862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705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4059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7412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0766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755648"/>
            <a:ext cx="5486" cy="4023360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1810512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5689" y="1869948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15689" y="1869948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52" y="18242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8105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0528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2052828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5007" y="2112264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85007" y="2112264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38001" y="20665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20528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951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7984" y="2295144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9042" y="2354580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9042" y="2354580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55" y="23088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2951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3746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Hanakumagawa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984" y="2537460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09340" y="2596896"/>
            <a:ext cx="279816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09340" y="2596896"/>
            <a:ext cx="279816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52581" y="255117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253746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2 790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27797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57984" y="2779776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72815" y="2839212"/>
            <a:ext cx="51712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72815" y="2839212"/>
            <a:ext cx="5171220" cy="5029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8405" y="279349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77977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819 – 14 299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02209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57984" y="3022092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6890" y="3081528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6890" y="3081528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2540" y="303580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0" y="302209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2644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57984" y="3264408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45535" y="3323844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45535" y="3323844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0649" y="327812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26440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50672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3506724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79899" y="3566160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79899" y="3566160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97172" y="352044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0" y="350672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7490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57984" y="3749040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54512" y="3808476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554512" y="3808476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21354" y="376275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0" y="374904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99135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991356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720" y="4050792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490720" y="4050792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25093" y="400507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0" y="399135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233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984" y="4233672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79060" y="4293108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79060" y="4293108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966582" y="424738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0" y="423367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47598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984" y="4475988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67554" y="4535424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067554" y="4535424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074090" y="448970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47598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7183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57984" y="4718304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15556" y="4777740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5556" y="4777740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112494" y="473202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41280" y="471830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96062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57984" y="4960620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456231" y="5020055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56231" y="5020055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245569" y="497433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96062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52029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57984" y="5202936"/>
            <a:ext cx="5120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854864" y="5262371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54864" y="5262371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290219" y="521665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41280" y="520293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594360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5943600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04672" y="609904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04672" y="632764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Медіану нижче 2 500 грн мають лише Seki Kanetsugu, Satake, Takanori Izumi,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Hanakumagawa — і Samura. Найвищі медіани: KAI, Takamura, Yaxell.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217920" y="594360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217920" y="5943600"/>
            <a:ext cx="36576" cy="84490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55664" y="609904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ПЕРЕКРИТТЯ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55664" y="632764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Коридор Samura (819 – 14 299 грн) перекриває майже всю шкалу і перетинається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 Tosa, Tojiro і Kasumi. Китайський бренд стоїть за ті самі гроші, що й Японія.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ДЕ КОНЦЕНТРУЄТЬСЯ АСОРТИМЕНТ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Матриця: тип леза проти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у каталогах припадає на цей тип у цьому ціновому діапазоні. Темніше — густіше.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1 000–
2 499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2 500–
4 999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4304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5 000–
9 999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10 000–
19 999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20 000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122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Шеф / гюто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71216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09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50992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868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4416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4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0767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697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0655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10544" y="21122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4780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71216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AA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8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992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14416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40880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868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04304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7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0655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10544" y="24780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8437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71216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61104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4528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50992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14416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40880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4C5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04304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7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AC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192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20655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10544" y="28437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2095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Набір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71216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261104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24528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0992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14416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040880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04304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30767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94192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820655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0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10544" y="32095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753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71216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61104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24528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0992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868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14416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040880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04304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30767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820655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210544" y="35753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39410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Накірі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871216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261104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224528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650992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14416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40880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04304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30767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94192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0655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210544" y="39410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3068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Овочевий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871216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34640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61104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24528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650992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14416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040880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04304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30767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820655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210544" y="43068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46725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871216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261104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24528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650992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7040880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09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04304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430767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94192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820655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210544" y="46725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50383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Кіріцуке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871216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261104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650992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7040880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4304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30767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394192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820655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210544" y="50383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4041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71216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261104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5650992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AC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614416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040880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004304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430767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9820655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210544" y="54041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10544" y="1810512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717890"/>
                </a:solidFill>
                <a:latin typeface="Segoe UI"/>
              </a:rPr>
              <a:t>УСЬОГО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66928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66928" y="5852160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04672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ГУСТО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04672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Шеф-ніж за 5 000 – 10 000 грн — найщільніша клітинка ринку.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й петті концентруються там само.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217920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217920" y="5852160"/>
            <a:ext cx="36576" cy="84490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55664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ПОРОЖНЬО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55664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Уся ліва колонка: до 1 000 грн справжньої Японії немає взагалі.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не опускаються нижче 2 500 грн.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ВИЗНАЧЕННЯ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 різні «японські ножі», які відрізняються у 15 разів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Перед тим як рахувати ринок, треба домовитись, що саме ми рахуємо. Від визначення залежить і розмір, і стратегія.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36192"/>
            <a:ext cx="3547872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pic>
        <p:nvPicPr>
          <p:cNvPr id="15" name="Picture 14" descr="p_52ed752ac25240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11680"/>
            <a:ext cx="3145536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809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3 700 шт/рік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Країна походження — Японія, підтверджена митним кодом.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Yaxell, KAI Shun, Kasumi, Tojiro, Satake,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Suncraft, Kanetsugu, Miyabi, Sakai Takayuki.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митна статистика 8211 92, Японія,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2 % ринку в грошах, 0,15 % у штуках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1536192"/>
            <a:ext cx="3547872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7141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ЯПОНСЬКИЙ БРЕНД</a:t>
            </a:r>
          </a:p>
        </p:txBody>
      </p:sp>
      <p:pic>
        <p:nvPicPr>
          <p:cNvPr id="27" name="Picture 26" descr="p_b9e6dbc59ad140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011680"/>
            <a:ext cx="3145536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7141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₴150–230 млн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120–200 тис. шт/рік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141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подається як японський, виробництво — інше.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Samura (Китай), Sekiryu, Satori, Takagi,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плюс безіменні «японські» пропозиції.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SKU-аудит Епіцентр, Rozetka, Prom, ProfiMax.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7141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17–25 % ринку в грошах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7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3567" y="1536192"/>
            <a:ext cx="3547872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7473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ЯПОНСЬКА ФОРМА</a:t>
            </a:r>
          </a:p>
        </p:txBody>
      </p:sp>
      <p:pic>
        <p:nvPicPr>
          <p:cNvPr id="39" name="Picture 38" descr="p_42251fe95197c2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1680"/>
            <a:ext cx="3145536" cy="7863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7473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9A50B"/>
                </a:solidFill>
                <a:latin typeface="Segoe UI"/>
              </a:rPr>
              <a:t>₴140–260 млн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400–700 тис. шт/рік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Сантоку / накірі / гюто будь-якого походження.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Fissman, Krauff, Ardesto, Vinzer, Maestro,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Hendi, Tramontina, Victorinox.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фільтр «японський ніж (сантоку)» в роздробі.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 став другим ножем у масовій рознічі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46320"/>
            <a:ext cx="5532120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4846320"/>
            <a:ext cx="36576" cy="138988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001768"/>
            <a:ext cx="5056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НАЙВАЖЛИВІШИЙ СЛАЙД У КОЛОДІ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230368"/>
            <a:ext cx="505663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Питання «який обсяг ринку японських ножів» не має однієї відповіді.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Різниця між визначенням A і B — 12 разів у грошах і 40 разів у штуках.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Постачальник із Секі і постачальник із Янцзяна конкурують у різних всесвітах,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хоча на полиці Епіцентру стоять поруч і обидва підписані «японський ніж».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846320"/>
            <a:ext cx="5413248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846320"/>
            <a:ext cx="36576" cy="138988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500176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НАСЛІДОК ДЛЯ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5230368"/>
            <a:ext cx="49377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Вибір визначення = вибір бізнес-моделі.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A — імпорт преміуму з 10 % митом у ніші, що не росте.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B — брендинг і контрактне виробництво, де вже сидить Samura.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C — товарна війна цінників із Fissman і Krauff.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Змішувати їх в одній фінмоделі не можна.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на основі SKU-аудиту та припущень про оборотність; вони мають нижчу надійність, ніж A, яка спирається на митну статистику. Див. слайд 45.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1 · ГЕОМЕТРІЯ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Fissman 61 SKU сантоку на Rozetka.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Kasumi Tora, Satake Saku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Кераміка ZrO₂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цирконій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1 900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Samura Inca, Fissman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7498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3 · 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4 · ЦІНОВІ ДІАПАЗОНИ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Половина штук дає 12 % грошей, 4 % штук дають 24 %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— власна оцінка на основі структури асортименту й спостережених цін. Це модель, а не виміряні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ЦІНОВІ ДІАПАЗОНИ · ЧАСТКА У ШТУКАХ І В ГРОШАХ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ШТУКИ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81051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ТИПОВІ БРЕНДИ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0528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048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699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48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Kamille, Maestro, Vinzer, no-name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089404"/>
            <a:ext cx="118872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688" y="2089404"/>
            <a:ext cx="57058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Цінність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3225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1 499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23225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Krauff, Fissman, Satake Saku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Rozetka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21608" y="2363724"/>
            <a:ext cx="64190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688" y="2363724"/>
            <a:ext cx="9509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Середній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25968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3 499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5968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Satoru/Sakura, Samura Mo-V, KAI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спеціалізація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21608" y="2638044"/>
            <a:ext cx="30906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4688" y="2638044"/>
            <a:ext cx="1046073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912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Верхній середній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5856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3 500 – 7 499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Suncraft Senzo, Kasumi Damascus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21608" y="2912363"/>
            <a:ext cx="142646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04688" y="2912363"/>
            <a:ext cx="104607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3912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58568" y="31455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7 500 – 14 999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87768" y="31455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Ran, KAI Shun, Kanetsugu Saiun, Miyabi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528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21608" y="3186683"/>
            <a:ext cx="71323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5604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4688" y="3186683"/>
            <a:ext cx="713232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3912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341985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15 000 – 40 140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7768" y="341985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Super Gou / Ypsilon, Shun сети, Miyabi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528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під замовлення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21608" y="3461003"/>
            <a:ext cx="2377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5604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3461003"/>
            <a:ext cx="42793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3912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СЕРЕДНІЙ ЧЕК КАТЕГОРІЇ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≈ 330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807 млн грн / 2,4 млн шт.
Домінує вхідний сегмент.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83280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84448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84448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4448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9632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15984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17152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2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Преміум-сегмент в Україні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ГРОШІ, А ДЕ ОБСЯГ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живе до 1 500 грн, гроші — від 1 500 до 7 500 грн. Діапазон 1 500–7 500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дає 44 % грошей при 19 % штук. Це найпривабливіша зона за співвідношенням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маржі й оборотності — і саме там сидить Samura.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Розподіл часток — авторська оцінка на базі структури асортименту (SKU-аудит Епіцентр, Rozetka, ProfiMax, Prom) і спостережених цін. Прямих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5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Samura 287, Suncraft 97,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 – 56 242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Основний обсяг. Домінує Samura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(Samura 218 SKU), Prom (3 000+
«японських»), Kasta, Bigl, Shafa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Широка, непідтверджена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175 – 9 499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Цінова війна. Потік no-name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7213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битися за полицю Епіцентру — де японського походження ніхто не вимагає.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усю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Samura 206, Tojiro 86, Suncraft 79, Satake 64, Kasumi 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Samura, Suncraft +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Samura, Satake, Kanetsugu, Tojiro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Samura, Tojiro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Епіцентр: 4 950 ножів, і третій бренд у ньому — Samura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Україні. Саме вона визначає, що більшість людей вважає нормальною ціною.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БРЕНДИ ЗА ШИРИНОЮ АСОРТИМЕНТУ · КАТЕГОРІЯ «КУХОННІ НОЖІ»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1851660"/>
            <a:ext cx="27956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105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1051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і масовий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2" y="2107691"/>
            <a:ext cx="223936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066543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066543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32257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2" y="2363724"/>
            <a:ext cx="101692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32257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32257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3225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середній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7860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2619756"/>
            <a:ext cx="8468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57860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57860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5786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8346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Maestro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875788"/>
            <a:ext cx="425196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28346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3464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346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Tescoma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2" y="3131820"/>
            <a:ext cx="40039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19472" y="309067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09067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090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34670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Vinzer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93392" y="3387852"/>
            <a:ext cx="3897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9472" y="334670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34670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3467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0273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Krauff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643884"/>
            <a:ext cx="36141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9472" y="360273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360273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6027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85876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3392" y="3899916"/>
            <a:ext cx="34370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19472" y="385876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85876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8587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 і преміум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11480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Kamille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93392" y="4155948"/>
            <a:ext cx="3153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19472" y="411480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2120" y="411480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78040" y="411480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7083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4411980"/>
            <a:ext cx="10629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19472" y="437083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437083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37083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62686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93392" y="4668012"/>
            <a:ext cx="2125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19472" y="462686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4626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62686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33104" y="1810512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33104" y="2926080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34272" y="308152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291840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8 – 56 242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67328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Основна маса —
79–699 грн.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33104" y="4041648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34272" y="419709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4074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133 SKU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4882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33104" y="5157216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34272" y="531266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«ЯПОНІЯ» З КИТАЮ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4272" y="552297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287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34272" y="599846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Тільки Samura.
У 2,2 раза більше за всю Японію.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029200"/>
            <a:ext cx="36576" cy="12070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ГОЛОВНИЙ ФАКТ ЦІЄЇ ПОЛИЦІ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Найбільша мережа країни продає під вивіскою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ножа у 2,2 раза більше SKU бренду з Китаю, ніж усіх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справжніх японців разом. Покупець різниці не бачить.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18304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18304" y="5029200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56048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Suncraft із 97 SKU — не тест, а повноцінна лінійка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справжньої Японії у великому форматі. Бар'єр не в мережі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 не в покупцеві, а в тому, хто зайде з пропозицією.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Походження вказано за даними виробників і публічних джерел.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3 000+ «японських ножів», з яких японських — одиниці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Тут формується уявлення покупця про ціну. І тут же — найбільший ризик для будь-якого бренду, який хоче тримати позиціювання.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Samura — 218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Fissman сантоку — 61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175 – 9 499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Найбільший трафік категорії в Україні.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Фільтр «японський ніж (сантоку)» — це тип леза,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 не походження. Global присутній, 2 618 – 13 195 грн.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29 на першій сторінці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399 – 6 200 грн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Продавці: KnivaX, Ukrmaga, City Home, Rubanok,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Комплекс Маркет. Бренди: Satake, Takagi, Satori,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Suncraft Senzo, Vinzer, SONMELONY, TURWHO.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ІНШІ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Kasta, Bigl, Shafa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Shafa — вторинний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1 999 – 2 979 грн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Shafa продає «професійний японський кіріцуке»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 2 979 грн без бренду взагалі.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Вторинний ринок japanese-style уже сформувався.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РЕАЛЬНО ПРОДАЄТЬСЯ ПІД СЛОВОМ «ЯПОНСЬКИЙ»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06240"/>
            <a:ext cx="3840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МАЙДАНЧИК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20624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4206240"/>
            <a:ext cx="4800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НАСПРАВДІ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36626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0740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TURWHO шеф 8″, дамаск VG-10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4074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440740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440740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Китай, бренд без історії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66344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без бренду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46634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466344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466344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Походження не вказано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87832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19472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Кіріцуке «професійний»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8" y="49194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Shafa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91947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4919472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Вторинний ринок, без бренду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175504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 накірі 170 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7408" y="51755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517550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5175504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Секі, Японія, з 1947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539038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431536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Sekiryu SR-400 янагіба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7408" y="54315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Hangiri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41848" y="543153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5431536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Японський бренд, бюджетна лінія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68756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Krauff Luxus сантоку 17,7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07408" y="5687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56875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540 (з 720)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848" y="568756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Німецький бренд, Китай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90245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94360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Fissman Elegance сантоку 13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94360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1848" y="594360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848" y="594360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Латвійський бренд, 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3276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Ціни зібрані з публічних сторінок магазинів у вересні 2026 і включають промо-знижки. Вони не є середніми цінами продажу.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0894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0894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0894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0894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894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4543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865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3865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3865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3865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3865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6837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6837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6837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6837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6837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293979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809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29809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9809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29809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2781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2781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2781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2781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2781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53415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5753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5753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5753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5753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5753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8724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38724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38724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38724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38724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12851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1696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1696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1696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1696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1696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668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4668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4668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4668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4668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19088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_4b3c700b00dc8c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01184"/>
            <a:ext cx="1115568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565392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 Super Gou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17 746 грн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35823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272761f443e37e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4901184"/>
            <a:ext cx="1115568" cy="9144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882127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Kasumi Damascus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82127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7 400 грн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52559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8389d55acc887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5711" y="4901184"/>
            <a:ext cx="1115568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98863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 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98863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7 426 грн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369295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dee392611edd8a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7" y="4901184"/>
            <a:ext cx="1115568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515599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Преміум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599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10–28 тис. грн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828032"/>
            <a:ext cx="5650992" cy="172659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828032"/>
            <a:ext cx="36576" cy="172659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98348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212080"/>
            <a:ext cx="5175504" cy="1196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верхній поверх. Повний перепис (слайди 19–21) дає 45 брендів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виробництва на ринок обсягом 16–19 млн грн — щільність, яка давно перевищує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економічну доцільність. Yaxell і Miyabi мають ексклюзивних партнерів; KAI,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Tojiro і Suncraft продаються кількома продавцями паралельно.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в Україні сервісу заточення чи відновлення кромки: ніж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10–18 тис. грн продається як коробка.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доступна: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5448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32788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7393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739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7393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справжній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671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67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67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6712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671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6712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19172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603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6032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6032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6032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603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535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53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53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5351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05556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3467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3467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3467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3467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3467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3467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3467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739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739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739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739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739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739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739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02e9dd50399b5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42816"/>
            <a:ext cx="1271016" cy="8229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13232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Satoru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1 599 грн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826c3391179f4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2264" y="4242816"/>
            <a:ext cx="1271016" cy="8229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185416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5416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накірі · 1 249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11296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14672108e1315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4242816"/>
            <a:ext cx="1271016" cy="822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657600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Sakura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2 999 грн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83480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64897f7ec23107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4242816"/>
            <a:ext cx="1271016" cy="82296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129784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від 1 180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55664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f470a6d3833e8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4242816"/>
            <a:ext cx="1271016" cy="8229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601968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янагіба · 1 107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36992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38160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38160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 Нижче
Японії на ринку немає.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6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21824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ЩО ВИБИРАЄ ПОКУПЕЦЬ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21824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21824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проти 64 у Satake.
Ширина перемагає походження.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5998464"/>
            <a:ext cx="10588752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справжній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матриці справжньої Японії — і найтонша за юніт-економікою: при ціні 1 000–3 000 грн націнка не покриває консультації, якої вимагає товар.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45 брендів, а не десять: промислові марки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Поглиблений обхід 14 продавців у жовтні 2026. Промислові бренди — серійне виробництво, стабільна якість, західні руків'я.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554480"/>
            <a:ext cx="4754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ЗАСН.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7" y="15544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7" y="1554480"/>
            <a:ext cx="1444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544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55448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47504" y="1554480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556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17556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7" y="17556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7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17556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дамаск, VG-MAX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17556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japan-knife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7556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Найвідоміше японське ім'я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0071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20071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39" y="20071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20071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7" y="20071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70 102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19" y="20071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VG-10, 37–193 шари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0071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 · ProfiMax · AL-Group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4" y="20071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Ексклюзивний імпортер, шоурум у Києві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22174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2585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2585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2585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7" y="22585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7" y="22585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18 999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19" y="22585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дамаск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22585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2585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японський преміум у великому форматі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5100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510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39" y="25100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7327" y="25100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7" y="25100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19" y="25100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Shirogami, FAX-18 HSS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1" y="25100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WildCat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25100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Найширша присутність по каналах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272033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27614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27614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39" y="27614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7327" y="27614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7" y="27614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849 – 16 999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19" y="27614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Мо-ванадій, VG-10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27614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rezat ·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7504" y="27614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Найдоступніша справжня Японія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01294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301294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39" y="301294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327" y="301294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7" y="301294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19" y="301294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Shirogami, VG-10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71231" y="301294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ibis.net.ua · x-gear · WildCat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47504" y="301294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Через збройові магазини, не кухонні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322325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32644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2644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91839" y="32644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2004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67327" y="32644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7" y="32644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0719" y="32644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MC63, дамаск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71231" y="32644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zwilling.in.ua · lacocotte · ROKS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47504" y="32644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Найдорожчий бренд масового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51586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3120" y="351586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351586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7" y="351586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5967" y="351586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15 229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19" y="351586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+ 32 шари, AUS-6A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351586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Volod · japan-knife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47504" y="351586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372617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37673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37673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67327" y="37673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15967" y="37673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19" y="37673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Saiun, Zuiun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71231" y="37673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 · WildCat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47504" y="37673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0187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03120" y="40187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39" y="40187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7327" y="40187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5967" y="40187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2 400 – 4 100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19" y="40187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MRS-30, мо-ванадій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71231" y="40187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47504" y="40187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Історичний бренд, мала присутність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3776" y="42291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42702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Shimomura Kihan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42702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1839" y="42702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67327" y="42702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15967" y="42702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19" y="42702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71231" y="42702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WildCat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42702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 в каталозі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52170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 Masamune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120" y="45217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91839" y="452170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7327" y="452170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5967" y="452170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19" y="452170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71231" y="452170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47504" y="452170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окрема лінія Satake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" y="47320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47731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Global (Yoshikin)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03120" y="47731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39" y="47731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67327" y="47731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315967" y="47731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60719" y="47731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CROMOVA 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71231" y="47731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· m.ua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47504" y="47731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Іконічний дизайн, слабка дистрибуція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66928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66928" y="526694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4672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ЗМІНИВ ГЛИБШИЙ ОБХІД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4672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Перший зріз давав 10 японських брендів. Повний обхід 14 продавців дав 45: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промислових, 6 збірних, 10 родинних кузень і 16 іменних ковалів.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217920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217920" y="526694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455664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455664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 брендів дають 600 позицій із 691, тобто 87 %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П'ять марок — KAI, Yaxell, Suncraft, Tojiro, Satake — це 486 позицій, 70 %.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або ціну з каталогу витягти не вдалося.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Родинні кузні та збірні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Родинна кузня — виробництво з іменем і спадковістю, але без серії. Збірний бренд — торгова марка, під якою кілька ковалів.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Хіросакі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Anmon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350 років, 8 поколінь, ковалі клану Цуґару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419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93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52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952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952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952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– 15 229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952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Yellow Steel, Shirogami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952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Hangiri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952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Традиційна ковка, ніша суші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8150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200893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93645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23479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23479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23479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23479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23479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23479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23479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японського трейдера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2210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485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7436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7436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7436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7436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11 990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7436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R2/SG-2, Chromax, VG-10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7436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7436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Піонер порошкової сталі, «лазерний» спуск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6065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8808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672791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71393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71393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71393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71393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2 929 – 10 035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39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Shirogami, куроучі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71393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71393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Найглибша артизанальна лінія в Україні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7002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7276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95351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95351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3 609 – 6 747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95351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вуглець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95351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11 позицій, друга за глибиною артизанальна лінія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93979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96722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151936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1930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Kaneyoshi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1930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19308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1930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19308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1930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19308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японець в оптовому профканалі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1793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2068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43265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Yamawaki Hamono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43265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43265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43265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43265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SK5, мідзу-хоньякі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43265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43265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 хоньякі, 100 років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41894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44637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631082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67223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Ichiji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67223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67223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67223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67223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67223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67223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6585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6859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180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Sekiryu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91180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91180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91180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9118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Нержавіюча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91180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Hangiri · Smart-Kitchen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9118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Найдешевший вхід в односторонні ножі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89808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92551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4110228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415137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Anryu Hamono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415137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41513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 дамаск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415137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Майстерня Такефу Найф Вілідж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41376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41650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3909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3909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3909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3909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3909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#2, Shirogami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3909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 · IzzaBugra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3909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ковалів Тоса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3772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4046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589373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63052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Hokiyama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63052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63052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63052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63052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Tosa-Ichi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63052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63052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Згаданий у каталозі, позицій не знайдено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616805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644237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87009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Inoguchi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87009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87009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87009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87009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87009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87009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Чотири позиції, бренд не розкритий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85637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88381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5068519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51096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S.K.K. Cutlery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51096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510966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51096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510966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51096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510966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Сашимі 240 мм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509595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512338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34924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Suisin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349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34924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34924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34924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3492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3492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Сакаї серед шефів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33552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36295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6692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71682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ТАКЕ РОДИННА КУЗНЯ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Виробництво на 5–30 людей зі спадковою технологією.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Nigara — 350 років і 8 поколінь, Yamawaki — 100 років.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7024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70248" y="5716828"/>
            <a:ext cx="36576" cy="85171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0799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ЩО ТАКЕ ЗБІРНИЙ БРЕНД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0799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6 брендів. HONMAMON, JCK Natures — японські трейдери,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що продають вироби різних ковалів під своєю маркою.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973567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973567" y="571682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11311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НЕ МАСШТАБУЄТЬСЯ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11311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дає 29 позицій, решта — від 1 до 11.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Партію під замовлення тут не зробить ніхто.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шістнадцять майстрів, двадцять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Це верхній край ринку за ціною і нижній — за обсягом.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16 677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Найдорожча одинична позиція артизанів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419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93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52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952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952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952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13 200 – 15 580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952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Cobalt Special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952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952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Іменний коваль, найдорожчий сегмент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8150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200893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93645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23479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23479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23479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23479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13 865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23479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ZDP-189, 65–67 HRC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23479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23479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Найтвердіша сталь на ринку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2210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485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7436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Tsukasa (Hinoura)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7436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7436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7436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7436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7436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7436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Третє покоління ковалів Сандзьо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6065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8808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672791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71393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Tadayoshi Tokaji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71393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71393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71393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39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71393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71393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7002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7276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95351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95351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95351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95351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240 мм, одностороння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93979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96722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151936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1930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Tomita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1930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19308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1930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3 215 – 6 600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19308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 / Super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1930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19308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сантоку, універсальні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1793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2068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43265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Tanaka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43265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43265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43265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5 203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43265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43265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43265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Усуба камаґата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41894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44637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631082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67223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67223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67223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67223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4 850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67223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Куроучі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67223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67223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П'ять позицій, вхідний артизан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6585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6859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180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Hisashige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91180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91180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91180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9118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91180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9118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за 3 520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89808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92551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4110228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415137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Kanetaka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415137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41513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415137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41376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41650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3909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Takanori Izumi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3909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3909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3909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1 980 – 3 080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3909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AUS-10M дамаск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3909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3909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Найдоступніший артизан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3772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4046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589373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63052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Hanakumagawa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63052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63052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63052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2 390 – 2 790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63052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63052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63052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616805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644237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87009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Kazuhira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87009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87009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87009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87009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87009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87009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Універсальний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85637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88381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5068519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51096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Mikihisa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51096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510966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51096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510966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51096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510966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Макірі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509595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512338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34924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349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34924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34924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34924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Вуглецева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3492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3492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33552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36295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6692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716828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ЦЕ НЕ БРЕНДИ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імена людей. Myojin Naohito, Tsukasa Hinoura, Tomita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кує сам, партій не існує.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7024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70248" y="571682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0799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0799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Від 1 980 грн (Takanori Izumi) до 16 677 грн (Etsu).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Hatsukokoro ZDP-189, 65–67 HRC — найтвердіша сталь ринку.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973567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973567" y="571682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11311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ХТО ЦЕ КУПУЄ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11311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Кілька сотень людей на країну. Для постачальника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сегмент, а вітрина для репутації.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6 · РЕГІОН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Шість японських центрів, і лише один із них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Для японського ножа регіон — це не географія, а технологія, ціна й тип покупця. Вісь, якої не було в першій версії дослідження.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Секі, Гіфу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4820A"/>
                </a:solidFill>
                <a:latin typeface="Segoe UI"/>
              </a:rPr>
              <a:t>726 – 70 102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10 брендів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/ Shun · Yaxell · Suncraft · Satake · Miyabi · Kasumi · Seki Kanetsugu · Kanetsune · Global · Masahiro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Сюди йде 90 % грошей категорії в Україні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Сакаї, Осака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141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D4B96"/>
                </a:solidFill>
                <a:latin typeface="Segoe UI"/>
              </a:rPr>
              <a:t>1 999 – 15 580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· Yamawaki · Suisin · Myojin · Yoshihiro · Sakai Haruhiko · Sakai Ichiji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Професійна суші-кухня. В Україні — одиничні позиції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7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4F7C"/>
                </a:solidFill>
                <a:latin typeface="Segoe UI"/>
              </a:rPr>
              <a:t>5 320 – 16 677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· Anryu · Etsu / Ittetsu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Найвища ціна за грам. Купує тільки ентузіаст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767328"/>
            <a:ext cx="3584448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Тоса, Коті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2 610 – 10 035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4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 / Tosauchi · HONMAMON · Fukamizu · Hokiyama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Куроучі-естетика. Найглибша артизанальна лінія в Україні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024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767328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7141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141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7A169"/>
                </a:solidFill>
                <a:latin typeface="Segoe UI"/>
              </a:rPr>
              <a:t>9 900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 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141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Tsukasa (Hinoura) · Shimomura Kihan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Дві позиції на всю країну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7" y="3767328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473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03B4B"/>
                </a:solidFill>
                <a:latin typeface="Segoe UI"/>
              </a:rPr>
              <a:t>14 800 – 16 740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брендів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Nigara Hamono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Два ножі на всю країну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035040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ЗАКУПІВЛІ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вам контейнер. Сакаї, Тоса й Аоморі — ні: там кують поштучно.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6035040"/>
            <a:ext cx="36576" cy="69103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Масштабований постачальник в Україні може бути тільки з Секі. Решта — вітрина.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ЦЕ ПРОДАЄ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Чотирнадцять продавців, два з них тримають нішу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каналів, де в Україні можна купити ніж японського виробництва, із глибиною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 КАНАЛУ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БРЕНДІВ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5448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554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WildCat / IzzaBugra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6128" y="17739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17739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970 – 16 677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7739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Найширша артизанальна добірка країни. Прямий закуп у Японії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1819656"/>
            <a:ext cx="685800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7739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06654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206654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206654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83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206654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16 740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06654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із Nigara і Myojin. Дилерства не заявляє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2112263"/>
            <a:ext cx="215537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93792" y="206654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318003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35915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235915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6128" y="235915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35915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38 640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35915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промисловий асортимент. Країну маркує сам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404871"/>
            <a:ext cx="2860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235915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6517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265175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265175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265175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265175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Suncraft 97, Tojiro 30, KAI 6. Єдиний офлайн-масштаб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2697479"/>
            <a:ext cx="9797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3792" y="265175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2903219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94436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yaxell.com.ua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8648" y="29443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294436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294436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294436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Ексклюзивний імпортер Yaxell, шоурум Київ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990087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93792" y="294436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23697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zwilling.in.ua / LaCocotte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98648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323697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56248" y="323697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323697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Miyabi через представництво Zwilling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53128" y="3282695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323697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88435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2958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rezat.com.ua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8648" y="352958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352958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6248" y="352958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217 – 3 757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352958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Найнижчі ціни на справжню Японію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3128" y="3575303"/>
            <a:ext cx="14499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93792" y="352958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82219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volod.in.ua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98648" y="382219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6128" y="382219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6248" y="382219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24 038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82219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Kasumi, традиційні ножі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53128" y="3867911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3792" y="382219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073651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11479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98648" y="411479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6128" y="411479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6248" y="411479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9 999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411479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+ водні камені в одному місці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53128" y="4160519"/>
            <a:ext cx="1920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93792" y="411479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44074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Hangiri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98648" y="440740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Суші-спеціаліст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96128" y="440740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440740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40740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Sekiryu, Sakai Takayuki, KAI. Односторонні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53128" y="4453127"/>
            <a:ext cx="9797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93792" y="440740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3776" y="4658868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70001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ibis.net.ua / x-gear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864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Збройовий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96128" y="470001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6248" y="470001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470001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Kanetsune через збройовий канал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745736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93792" y="470001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9926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Kagura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8648" y="499262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+ роздріб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96128" y="49926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56248" y="499262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22208" y="499262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Заявляє опт — єдиний такий канал у японській ніші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53128" y="5038344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3792" y="499262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" y="5244084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6928" y="528523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Rozetka / m.ua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8648" y="52852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96128" y="52852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528523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52852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Global і фільтр «країна: Японія»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53128" y="5330952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93792" y="528523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57784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8648" y="55778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6128" y="557784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56248" y="557784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22208" y="557784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Yaxell і Kaneyoshi серед 523 проф. ножів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453128" y="5623560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93792" y="557784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6928" y="568756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4672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КОНЦЕНТРАЦІЯ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4672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WildCat і ROKS — 36 брендів із 45.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них ніша складається з п'яти марок.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297680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297680" y="568756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535424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РОЗКИД НА ТОЙ САМИЙ БРЕНД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5424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Tojiro: 599 грн у ProfiMax проти 13 799 грн у WildCat.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Різні лінійки, один бренд.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46720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46720" y="568756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284464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ЄДИНИЙ ОПТ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84464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Kagura заявляє гуртові умови. Це єдиний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оптовий канал у японській ніші.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«Японських брендів» — кількість марок японського виробництва в каталозі продавця. SKU — сумарна кількість японських позицій, оцінка за публічним каталогом.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ШИРИНА ПРОТИ ГЛИБИНИ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Сорок п'ять брендів, але полиці немає у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бренд — точка: горизонталь — скільки позицій у країні, вертикаль — медіанна ціна. Логарифмічна шкала по обох осях.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00784"/>
            <a:ext cx="6675120" cy="3749039"/>
          </a:xfrm>
          <a:prstGeom prst="rect">
            <a:avLst/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800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83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1921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00753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5482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4314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9403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235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24222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517821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22015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15614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100068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03606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2077999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0139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687568"/>
            <a:ext cx="6675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ПОЗИЦІЙ У КАТАЛОГАХ УКРАЇНИ, ШТ (лог)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49961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МЕДІАННА ЦІНА, ГРН (лог)</a:t>
            </a:r>
          </a:p>
        </p:txBody>
      </p:sp>
      <p:sp>
        <p:nvSpPr>
          <p:cNvPr id="31" name="Oval 30"/>
          <p:cNvSpPr/>
          <p:nvPr/>
        </p:nvSpPr>
        <p:spPr>
          <a:xfrm>
            <a:off x="7739924" y="268647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43928" y="183973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10958" y="3168192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51101" y="301317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97139" y="3128254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47398" y="219020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12599" y="320645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1095" y="329683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02673" y="320075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83837" y="406796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80119" y="3038817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56716" y="4520114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4148" y="337630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716" y="3991610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07551" y="2711185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51168" y="3634655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26927" y="31567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84148" y="2573964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42595" y="3425693"/>
            <a:ext cx="155448" cy="155448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328225" y="396724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84148" y="3059126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080119" y="2598557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328225" y="432838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328225" y="371200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84148" y="274576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4148" y="286325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4148" y="365760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4148" y="320316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07551" y="430658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64336" y="269104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68340" y="184430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75513" y="301775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35370" y="317276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21551" y="28219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269" y="336077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39191" y="3585713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43994" y="21947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09195" y="32110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7691" y="330140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23523" y="316130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76715" y="2688325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76715" y="24476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53312" y="224020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53312" y="2878349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53312" y="315129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5852160"/>
            <a:ext cx="100584" cy="100584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8988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Секі</a:t>
            </a:r>
          </a:p>
        </p:txBody>
      </p:sp>
      <p:sp>
        <p:nvSpPr>
          <p:cNvPr id="80" name="Oval 79"/>
          <p:cNvSpPr/>
          <p:nvPr/>
        </p:nvSpPr>
        <p:spPr>
          <a:xfrm>
            <a:off x="2203704" y="585216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5915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Сакаї</a:t>
            </a:r>
          </a:p>
        </p:txBody>
      </p:sp>
      <p:sp>
        <p:nvSpPr>
          <p:cNvPr id="82" name="Oval 81"/>
          <p:cNvSpPr/>
          <p:nvPr/>
        </p:nvSpPr>
        <p:spPr>
          <a:xfrm>
            <a:off x="3172968" y="5852160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28416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Ечідзен</a:t>
            </a:r>
          </a:p>
        </p:txBody>
      </p:sp>
      <p:sp>
        <p:nvSpPr>
          <p:cNvPr id="84" name="Oval 83"/>
          <p:cNvSpPr/>
          <p:nvPr/>
        </p:nvSpPr>
        <p:spPr>
          <a:xfrm>
            <a:off x="4142232" y="5852160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97680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Тоса</a:t>
            </a:r>
          </a:p>
        </p:txBody>
      </p:sp>
      <p:sp>
        <p:nvSpPr>
          <p:cNvPr id="86" name="Oval 85"/>
          <p:cNvSpPr/>
          <p:nvPr/>
        </p:nvSpPr>
        <p:spPr>
          <a:xfrm>
            <a:off x="5111496" y="5852160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66944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Сандзьо</a:t>
            </a:r>
          </a:p>
        </p:txBody>
      </p:sp>
      <p:sp>
        <p:nvSpPr>
          <p:cNvPr id="88" name="Oval 87"/>
          <p:cNvSpPr/>
          <p:nvPr/>
        </p:nvSpPr>
        <p:spPr>
          <a:xfrm>
            <a:off x="6080760" y="5852160"/>
            <a:ext cx="100584" cy="100584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3620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Аоморі</a:t>
            </a:r>
          </a:p>
        </p:txBody>
      </p:sp>
      <p:sp>
        <p:nvSpPr>
          <p:cNvPr id="90" name="Oval 89"/>
          <p:cNvSpPr/>
          <p:nvPr/>
        </p:nvSpPr>
        <p:spPr>
          <a:xfrm>
            <a:off x="7050024" y="5852160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0547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регіон н/д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138160" y="170078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38160" y="1700784"/>
            <a:ext cx="36576" cy="17373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75904" y="185623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ПОКАЗУЄ ЦЕЙ ГРАФІК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75904" y="208483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нижній кут — промисловість: багато позицій, доступна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Там п'ять марок, і вони тримають ринок.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Увесь лівий край — по одній-дві позиції на бренд.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не асортимент, це вітрина для ентузіаста.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38160" y="362102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138160" y="3621024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75904" y="377647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ПОРОЖНІЙ КВАДРАНТ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75904" y="400507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верхній кут — багато позицій за високою ціною — порожній.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преміальний японський бренд не має в Україні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глибини лінійки, ані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відповідь, чому ніша не росте.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16305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На графіку — 24 бренди, для яких вдалося встановити і кількість позицій, і ціну. Медіанна ціна = середина спостереженого діапазону, а не зважена медіана продажів.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«Японські» бренди, зроблені не в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за грошима сегмент під вивіскою японського ножа. Формально це не підробка — це маркетингова конструкція.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ВЛАСНИК / 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ВИРОБНИЦТВО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1554480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ПОДАЄТЬСЯ В УКРАЇНІ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17739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Засновано 2003, Алєксєй Яковлєв;
бренд будувався для ринку РФ; HQ Дубай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Переважно Китай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287 Епіцентр · 218 Rozetka
· 206 ProfiMax · 8 ROKS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679 – 14 299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177393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«Японська сталь AUS-8», «японські кухонні ножі».
Країна виробництва в картках не вказується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219456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Японський бренд бюджетної лінії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21945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 / Азія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21945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19456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21945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для суші та сашимі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574036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6151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Satori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261518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151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1848" y="26151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6151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1 200 – 2 500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9368" y="2615184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«Ручна робота», «японський стиль»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3580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303580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30358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1848" y="30358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96328" y="30358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1 000 – 2 500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035808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«Kanesada деба», японська номенклатура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415284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45643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TURWHO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2848" y="345643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Китайський бренд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4564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34564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Prom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4564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2 870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9368" y="3456432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«Професійний японський шеф-ніж, дамаск VG-10»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7705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Ketu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387705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38770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38770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96328" y="38770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13 290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59368" y="387705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Продається в опті HoReCa як окремий бренд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256532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2976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Без бренду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29768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Продавці Prom, Shafa, OLX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2976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1848" y="4297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96328" y="42976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6 200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59368" y="429768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«Японський», «кіріцуке», «янагіба» без походження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7309d76fc9b15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700016"/>
            <a:ext cx="1024128" cy="76809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792224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29fb8195e4566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376" y="4700016"/>
            <a:ext cx="1024128" cy="76809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3017520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d7587c34c502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700016"/>
            <a:ext cx="1024128" cy="768096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4242816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_269ae8787e24ca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700016"/>
            <a:ext cx="1024128" cy="768096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5468112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bcfb57b5e40e6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1264" y="4700016"/>
            <a:ext cx="1024128" cy="76809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84848" y="47000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SAMURA НА УКРАЇНСЬКІЙ ПОЛИЦІ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84848" y="491947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Лінійка Harakiri: 679–1 499 грн, найширше представлена серія бренду в Україні.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картках товару зазначено «японська сталь AUS-8»; країна виробництва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зазвичай ні. Це не порушення: японська сталь і японська назва серії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потребують японського заводу.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554126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НЕ ПІДРОБКА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Японська номенклатура — сантоку, накірі, дамаск, AUS-8 — не 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торговою маркою, ані захищеним найменуванням.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9768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97680" y="554126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3542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ПРАЦЮЄ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не може перевірити походження на полиці. Ширина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асортименту читається як авторитет: 287 SKU перемагають 64.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4672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554126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не є умовою продажу японського ножа.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здешевлює вхід — і знижує захищеність позиції.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КЕЙС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слайд, бо це водночас головний конкурент, головний ризик категорії та головна можливість.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В ЕПІЦЕНТРІ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3-й бренд мережі за шириною.
Більше, ніж уся справжня Японія ×2,2.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НА ROZETKA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Найширший «японський»
асортимент маркетплейсу.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679–14 299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Перекриває 5 із 6
цінових діапазонів ринку.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Harakiri, Mo-V, 67 Damascus,
Kaiju, Super 5, Bamboo, Inca…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73cbbb4df9c094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07792"/>
            <a:ext cx="1152144" cy="8229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920240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ed8f99c81037f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907792"/>
            <a:ext cx="1152144" cy="8229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273552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2b74db21b9806d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2907792"/>
            <a:ext cx="1152144" cy="8229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626864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_bbf26e090cbe97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016" y="2907792"/>
            <a:ext cx="1152144" cy="8229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16752" y="2871216"/>
            <a:ext cx="5614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ВІДОМО ПРО БРЕНД ІЗ ПУБЛІЧНИХ ДЖЕРЕЛ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3044952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16752" y="309067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Заснування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4" y="3072384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2003 рік. Засновник — Алєксєй Яковлєв, дизайнер та інженер.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356616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Цільовий ринок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0064" y="3547872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Бренд будувався як «японська якість, адаптована для російського ринку»;
офіційний магазин samura.ru, профіль компанії на Forbes.ru, понад 1 000 точок продажу в РФ.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3995928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16752" y="4041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Штаб-квартира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4023360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Дубай, ОАЕ.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451713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Виробництво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0064" y="4498848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Переважно Китай під контролем бренду. Перші партії (2003) — кооперація з Mcusta і MAC.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946903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4992623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Подання в Україні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4" y="4974336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«Японські кухонні ножі», «японська корозійностійка сталь AUS-8».
Країна виробництва в картках товару зазвичай не вказується.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3968496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3968496"/>
            <a:ext cx="36576" cy="100218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412394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4352544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Найбільший «японський» асортимент країни належить бренду,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створеному для російського ринку. Це репутаційна експозиція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для будь-якого рітейлера і будь-якого партнера.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4937760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4937760"/>
            <a:ext cx="36576" cy="100218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093208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МОЖЛИВІСТЬ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321808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Якщо позиція Samura похитнеться, звільниться оцінно 85–140 млн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полиці. Це найбільша окрема можливість у категорії — і вона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японського постачальника.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5504688"/>
            <a:ext cx="568756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43600" y="550468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81344" y="5660136"/>
            <a:ext cx="521207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ТРЕБА ПЕРЕВІРИТИ ДО РІШЕННЯ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81344" y="5888736"/>
            <a:ext cx="5212079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Маркування країни походження на фізичному товарі в мережі,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ранг і швидкість обігу Samura в Епіцентрі та на Rozetka.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" y="643737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Джерела: samura.ru, профіль компанії на Forbes.ru, каталоги epicentrk.ua, rozetka.com.ua, profimax.com.ua, roks.in.ua (вересень 2026). Твердження про виробництво і власність потребують незалежного підтвердження.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Японська форма, європейський або китайський бренд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сегмент у штуках. Тут «японський ніж» — це рядок у характеристиках товару, і нічого більше.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 БРЕНДУ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7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55448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ПРИКЛАДИ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95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Fissman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177393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239 Епіцентр
61 сантоку Rozetka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 – 1 099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7739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Elegance 13 см 436 · Kojiro 18 см · Bremen ·
Frankfurt · Linz · Bergen · Mainz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396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Krauff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21396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102 Епіцентр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2139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310 – 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7" y="21396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Luxus сантоку 17,7 см 720 → 540 ·
29-305-168 17,9 см 710 → 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46430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5054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Ardesto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25054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7" y="25054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 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7" y="25054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Fresh керамічні універсальні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7121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Vinzer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7128" y="28712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7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110 Епіцентр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7" y="287121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7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Natura Line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195827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23697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Maestro / Kamille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7128" y="323697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120 / 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7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7" y="323697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Масові набори й окремі ножі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9528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Епіцентр, маркетплейс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027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Tescoma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36027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4487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113 Епіцентр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67527" y="36027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36027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Європейська геометрія + сантоку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92734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DICK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67128" y="39684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7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у LFood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7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7" y="39684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«Японські ножі» в профкаталозі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952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342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ICEL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7128" y="43342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Португалія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7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у LFood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67527" y="43342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7" y="4334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для профкухні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9528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465886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70001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Hendi / Stalgast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7128" y="47000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Нідерланди / Польща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487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/ 1 у LFood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7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рівень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2007" y="470001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в лінійці обладнання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9528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08287fab39ec9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1737360" cy="8046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3232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Natura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«японський» сантоку, Іспанія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23744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67543a3f9dff80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5047488"/>
            <a:ext cx="1737360" cy="8046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670048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Universal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0048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«янагіба» 240 мм, Іспанія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480560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ccf4816ce5209d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5047488"/>
            <a:ext cx="1737360" cy="8046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626864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26864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європейська сталь, японська форма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37376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919b10f30dc473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5047488"/>
            <a:ext cx="1737360" cy="8046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83680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Manhattan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0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«кіріцуке» 190 мм, Іспанія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394192" y="4974336"/>
            <a:ext cx="3236976" cy="165511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94192" y="4974336"/>
            <a:ext cx="36576" cy="165511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31936" y="5129784"/>
            <a:ext cx="2761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31936" y="5358384"/>
            <a:ext cx="2761488" cy="1124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Krauff продає сантоку 17,9 см за 310 грн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ця цифра формує уявлення про те, скільки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«японський ніж».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Іспанський Arcos продає янагібу й кіріцуке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японськими назвами і тримає 311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проти 64 у Satake.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Фото: arcos.com.ua — офіційний каталог Arcos в Україні, розділ «японські ножі». Усі показані ножі виготовлені в Іспанії.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європейських брендів проти всієї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ширини асортименту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46577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стандарт. Проф. і масовий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8026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8026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21408"/>
            <a:ext cx="26005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8026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8026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8026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заміни. Домінує в HoReCa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5000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5000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91156"/>
            <a:ext cx="127970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50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311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5000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5000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стандарт ресторанів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1975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6197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660903"/>
            <a:ext cx="118094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61975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61975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1975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Найширша «японська» лінійка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8950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8950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930651"/>
            <a:ext cx="98343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8950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8950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8950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159251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159251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200399"/>
            <a:ext cx="5760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15925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59251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159251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справжній японець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42899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42899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470147"/>
            <a:ext cx="4238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42899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42899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42899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874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874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739896"/>
            <a:ext cx="399135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6987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69874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/ Епіцентр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69874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684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9684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4009644"/>
            <a:ext cx="3538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9684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9684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9684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238244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23824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279392"/>
            <a:ext cx="26334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2382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238244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238244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0799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50799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549140"/>
            <a:ext cx="8641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50799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50799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507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4901184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5065776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УСЯ СПРАВЖНЯ ЯПОНІЯ В ОДНОМУ КАТАЛОЗІ (PROFIMAX)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" y="5285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≈ 500 SKU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285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проти 311 SKU одного
іспанського бренду Arcos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901184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4901184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0566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285232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789 SKU Victorinox в Епіцентрі означають, що мережа впевнена в обороті.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175 до 40 140 грн: уся категорія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ніж, вересень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Ardesto Fresh, кераміка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29-305-168, сантоку 17,9 см (промо)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Fissman Elegance, сантоку 13 см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540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Luxus, сантоку 17,7 см (промо)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Samura, нижня межа лінійки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справжню Японію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1 199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 Harakiri SHR-0185B, шеф 18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9044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 · Samura Mo-V SM-0085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8242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418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2 999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Sakura, шеф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Pro-M 7003, сантоку 17 см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30129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4 420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см, вуглець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6073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Saiun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8431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88552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Ketu, накірі 165 мм (опт HoReCa)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40 140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роздрібу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229 разів усередині однієї товарної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Справжня Японія починається з 979 грн (Satake)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1 000–3 000 грн — єдина, де справжня Японія і Samura стоять поруч.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5 000 грн китайських брендів немає: там тільки Японія і Німеччина.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Вище 15 000 грн ринок — це 2–3 бренди й кілька тисяч покупців.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справжній Японії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немає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3 000–4 000 грн — між Sakura і Kanetsugu Pro-M, теж порожньо.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Обидві точки вимагають японського заводу, готового на OEM, і 10 % мита зверху.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 У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саме отримує покупець на кожному щаблі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Один і той самий сантоку в шести цінових діапазонах. Різниця, яку покупець бачить на полиці, і різниця, яку він не бачить.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1792224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ВХІДНИЙ</a:t>
            </a:r>
          </a:p>
        </p:txBody>
      </p:sp>
      <p:pic>
        <p:nvPicPr>
          <p:cNvPr id="14" name="Picture 13" descr="p_60b689fae2f196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1680"/>
            <a:ext cx="1536192" cy="1225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717890"/>
                </a:solidFill>
                <a:latin typeface="Segoe UI"/>
              </a:rPr>
              <a:t>175 – 699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Кераміка, штампована
моносталь. Ardesto, Kamille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50 % штук
12 % грошей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14016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14016" y="1554480"/>
            <a:ext cx="1792224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0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ЦІННІСТЬ</a:t>
            </a:r>
          </a:p>
        </p:txBody>
      </p:sp>
      <p:pic>
        <p:nvPicPr>
          <p:cNvPr id="24" name="Picture 23" descr="p_1ae18a395d9508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032" y="2011680"/>
            <a:ext cx="1536192" cy="12252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560320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700 – 1 499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AUS-8 / 8Cr13MoV, 56–58 HRC.
Samura Harakiri, Krauff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27 % штук
20 % грошей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1104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61104" y="1554480"/>
            <a:ext cx="1792224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07408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СЕРЕДНІЙ</a:t>
            </a:r>
          </a:p>
        </p:txBody>
      </p:sp>
      <p:pic>
        <p:nvPicPr>
          <p:cNvPr id="34" name="Picture 33" descr="p_a47176f78a998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536192" cy="12252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407408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1 500 – 3 499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Справжня Японія починається тут.
Satake Satoru, KAI Wasabi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8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13 % штук
22 % грошей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08192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08192" y="1554480"/>
            <a:ext cx="1792224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54496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ВЕРХНІЙ СЕРЕДНІЙ</a:t>
            </a:r>
          </a:p>
        </p:txBody>
      </p:sp>
      <p:pic>
        <p:nvPicPr>
          <p:cNvPr id="44" name="Picture 43" descr="p_d3665f6f12666c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7" y="2011680"/>
            <a:ext cx="1536192" cy="12252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54496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3 500 – 7 499 грн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54496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VG-10, 60–61 HRC.
Tojiro DP, Suncraft Senzo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4496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6 % штук
22 % грошей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79" y="1554480"/>
            <a:ext cx="1792224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01583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01583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ПРЕМІУМ</a:t>
            </a:r>
          </a:p>
        </p:txBody>
      </p:sp>
      <p:pic>
        <p:nvPicPr>
          <p:cNvPr id="54" name="Picture 53" descr="p_10542f6757891a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3296" y="2011680"/>
            <a:ext cx="1536192" cy="122529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101583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7 500 – 14 999 грн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1583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+ дамаск 32–69 шарів.
Kasumi, Yaxell Ran, KAI Shun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01583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3 % штук
15 % грошей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02367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02367" y="1554480"/>
            <a:ext cx="1792224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4867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4867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УЛЬТРА</a:t>
            </a:r>
          </a:p>
        </p:txBody>
      </p:sp>
      <p:pic>
        <p:nvPicPr>
          <p:cNvPr id="64" name="Picture 63" descr="p_49025ad881696f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011680"/>
            <a:ext cx="1536192" cy="12252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94867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03B4B"/>
                </a:solidFill>
                <a:latin typeface="Segoe UI"/>
              </a:rPr>
              <a:t>15 000 – 40 140 грн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4867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4867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Порошкова SG-2, 101–193 шари.
Yaxell Super Gou, Miyabi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4867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4867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1 % штук
9 % грошей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6928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5010912"/>
            <a:ext cx="36576" cy="1316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2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ПОКУПЕЦЬ БАЧИТЬ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2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700 і 7 500 грн видно: дамаск, товщина обуха, якість 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7 500 і 40 000 грн на фото не видно — там платять за марку сталі,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кількість шарів і твердість, які неможливо перевірити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визначає, скільки коштує комунікація в кожному діапазоні.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17920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5010912"/>
            <a:ext cx="36576" cy="131673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5664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5664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тому Samura з китайського заводу успішно продається поруч із Satake із Секі: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візуально в діапазоні 1 000–3 000 грн вони нерозрізнювані. Конкуренція тут іде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за якістю продукту, а за шириною лінійки і місцем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Новому гравцю це одночасно вхідний квиток і головна пастка.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— картки товарів українських магазинів (volod.in.ua, rezat.com.ua, yaxell.com.ua, arcos.com.ua). Наведені як ілюстрація цінових діапазонів; конкретні моделі можуть відрізнятись від типових для діапазону.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Ринок справжньої Японії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 при 45 брендах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Ніша перенаселена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45 брендів на 16–19 млн грн; Yaxell і Miyabi — ексклюзиви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Товарна війна на маркетплейсах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3 000+ пропозицій, Krauff сантоку за 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Репутаційна експозиція через Samura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Якщо категорія «японський ніж» асоціюється з брендом РФ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справжньої Японії.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Вихід Samura з ринку або зміна споживчих настроїв щодо бренду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ЄС (0 % мита) або Китай за власною специфікацією.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Fissman і Krauff уже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pic>
        <p:nvPicPr>
          <p:cNvPr id="28" name="Picture 27" descr="p_407a198e1355c9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матриці справжньої Японії,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pic>
        <p:nvPicPr>
          <p:cNvPr id="47" name="Picture 46" descr="p_cd7e51fe466c5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45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66928" y="5870448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870448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254496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45 брендами з 14 каналів.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