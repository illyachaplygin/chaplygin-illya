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ced8cc3671657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39 слайдів · 14 продавців · 45 японських брендів · 6 осей сегментації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pic>
        <p:nvPicPr>
          <p:cNvPr id="15" name="Picture 14" descr="p_52ed752ac25240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11680"/>
            <a:ext cx="3145536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7141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pic>
        <p:nvPicPr>
          <p:cNvPr id="27" name="Picture 26" descr="p_b9e6dbc59ad140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011680"/>
            <a:ext cx="3145536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7141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7141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7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7473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pic>
        <p:nvPicPr>
          <p:cNvPr id="39" name="Picture 38" descr="p_42251fe95197c2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1680"/>
            <a:ext cx="3145536" cy="7863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7473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5532120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4846320"/>
            <a:ext cx="36576" cy="138988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001768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230368"/>
            <a:ext cx="505663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846320"/>
            <a:ext cx="5413248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46320"/>
            <a:ext cx="36576" cy="138988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500176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5230368"/>
            <a:ext cx="49377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36.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Fissman 61 SKU сантоку на Rozetka.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верхній поверх. Повний перепис (слайди 19–21) дає 45 брендів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виробництва на ринок обсягом 16–19 млн грн — щільність, яка давно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Tojiro і Suncraft продаються кількома продавцями паралельно.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45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14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0071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20071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20071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20071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20071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20071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0071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20071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2174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2585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2585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2585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2585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2585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2585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2585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2585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5100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510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5100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5100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5100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5100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5100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5100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72033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7614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7614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7614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7614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7614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7614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7614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7614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справжня Японія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01294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301294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301294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301294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301294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301294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301294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301294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22325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2644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2644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2644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2644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2644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2644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2644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2644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51586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51586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51586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51586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51586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51586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51586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51586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72617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7673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7673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7673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7673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7673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7673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7673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018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4018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4018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4018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4018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4018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4018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4018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42291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42702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42702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42702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42702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42702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42702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42702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42702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52170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5217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5217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52170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52170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52170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52170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52170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7320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7731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7731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7731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7731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7731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7731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7731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7731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66928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66928" y="526694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4672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4672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14 продавців дав 45: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промислових, 6 збірних, 10 родинних кузень і 16 іменних ковалів.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217920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217920" y="526694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55664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455664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 брендів дають 600 позицій із 691, тобто 87 %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70 %.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– 15 229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Yellow Steel, Shirogami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Hangiri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Традиційна ковка, ніша суші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шістнадцять майстрів, двадцять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6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Вісь, якої не було в першій версії дослідження.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9656"/>
            <a:ext cx="685800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6654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6654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6654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6654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6654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112263"/>
            <a:ext cx="215537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6654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318003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35915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35915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35915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35915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35915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404871"/>
            <a:ext cx="2860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35915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6517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65175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65175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65175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65175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697479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65175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903219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94436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9443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94436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94436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94436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990087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94436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23697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323697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323697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323697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3282695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323697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88435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2958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52958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52958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52958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52958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справжню Японію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575303"/>
            <a:ext cx="14499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52958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82219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82219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82219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82219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82219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867911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82219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073651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11479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411479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411479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411479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411479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4160519"/>
            <a:ext cx="1920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411479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4074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44074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440740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440740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40740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4453127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440740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65886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70001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70001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70001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70001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745736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70001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9926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9926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9926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99262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99262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5038344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99262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5244084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528523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52852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52852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528523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52852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5330952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528523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57784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55778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557784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557784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55778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5623560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557784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6928" y="568756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4672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4672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 і ROKS — 36 брендів із 45.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29768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297680" y="568756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3542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542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4672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46720" y="568756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28446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8446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ШИРИНА ПРОТИ ГЛИБИНИ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Сорок п'ять брендів, але полиці немає у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бренд — точка: горизонталь — скільки позицій у країні, вертикаль — медіанна ціна. Логарифмічна шкала по обох осях.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00784"/>
            <a:ext cx="6675120" cy="3749039"/>
          </a:xfrm>
          <a:prstGeom prst="rect">
            <a:avLst/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800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83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1921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00753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5482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4314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9403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235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24222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51782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22015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15614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100068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03606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077999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0139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687568"/>
            <a:ext cx="6675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ПОЗИЦІЙ У КАТАЛОГАХ УКРАЇНИ, ШТ (лог)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49961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МЕДІАННА ЦІНА, ГРН (лог)</a:t>
            </a:r>
          </a:p>
        </p:txBody>
      </p:sp>
      <p:sp>
        <p:nvSpPr>
          <p:cNvPr id="31" name="Oval 30"/>
          <p:cNvSpPr/>
          <p:nvPr/>
        </p:nvSpPr>
        <p:spPr>
          <a:xfrm>
            <a:off x="7739924" y="268647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43928" y="183973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10958" y="3168192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51101" y="301317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97139" y="3128254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47398" y="219020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12599" y="320645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1095" y="329683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2673" y="320075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83837" y="406796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80119" y="3038817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56716" y="4520114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4148" y="337630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716" y="3991610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07551" y="2711185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51168" y="3634655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26927" y="31567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84148" y="2573964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42595" y="3425693"/>
            <a:ext cx="155448" cy="155448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328225" y="396724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84148" y="3059126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80119" y="2598557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328225" y="432838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328225" y="371200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84148" y="274576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4148" y="286325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4148" y="365760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4148" y="320316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07551" y="430658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64336" y="269104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68340" y="184430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75513" y="301775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35370" y="317276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21551" y="28219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269" y="336077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39191" y="3585713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43994" y="21947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09195" y="32110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7691" y="330140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23523" y="31613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6715" y="268832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76715" y="24476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53312" y="224020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53312" y="2878349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53312" y="315129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5852160"/>
            <a:ext cx="100584" cy="100584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8988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Секі</a:t>
            </a:r>
          </a:p>
        </p:txBody>
      </p:sp>
      <p:sp>
        <p:nvSpPr>
          <p:cNvPr id="80" name="Oval 79"/>
          <p:cNvSpPr/>
          <p:nvPr/>
        </p:nvSpPr>
        <p:spPr>
          <a:xfrm>
            <a:off x="2203704" y="585216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5915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Сакаї</a:t>
            </a:r>
          </a:p>
        </p:txBody>
      </p:sp>
      <p:sp>
        <p:nvSpPr>
          <p:cNvPr id="82" name="Oval 81"/>
          <p:cNvSpPr/>
          <p:nvPr/>
        </p:nvSpPr>
        <p:spPr>
          <a:xfrm>
            <a:off x="3172968" y="5852160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28416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Ечідзен</a:t>
            </a:r>
          </a:p>
        </p:txBody>
      </p:sp>
      <p:sp>
        <p:nvSpPr>
          <p:cNvPr id="84" name="Oval 83"/>
          <p:cNvSpPr/>
          <p:nvPr/>
        </p:nvSpPr>
        <p:spPr>
          <a:xfrm>
            <a:off x="4142232" y="5852160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97680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Тоса</a:t>
            </a:r>
          </a:p>
        </p:txBody>
      </p:sp>
      <p:sp>
        <p:nvSpPr>
          <p:cNvPr id="86" name="Oval 85"/>
          <p:cNvSpPr/>
          <p:nvPr/>
        </p:nvSpPr>
        <p:spPr>
          <a:xfrm>
            <a:off x="5111496" y="5852160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66944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Сандзьо</a:t>
            </a:r>
          </a:p>
        </p:txBody>
      </p:sp>
      <p:sp>
        <p:nvSpPr>
          <p:cNvPr id="88" name="Oval 87"/>
          <p:cNvSpPr/>
          <p:nvPr/>
        </p:nvSpPr>
        <p:spPr>
          <a:xfrm>
            <a:off x="6080760" y="5852160"/>
            <a:ext cx="100584" cy="100584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3620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Аоморі</a:t>
            </a:r>
          </a:p>
        </p:txBody>
      </p:sp>
      <p:sp>
        <p:nvSpPr>
          <p:cNvPr id="90" name="Oval 89"/>
          <p:cNvSpPr/>
          <p:nvPr/>
        </p:nvSpPr>
        <p:spPr>
          <a:xfrm>
            <a:off x="7050024" y="5852160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0547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регіон н/д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138160" y="170078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38160" y="1700784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75904" y="185623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ПОКАЗУЄ ЦЕЙ ГРАФІК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75904" y="208483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нижній кут — промисловість: багато позицій, доступна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Там п'ять марок, і вони тримають ринок.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Увесь лівий край — по одній-дві позиції на бренд.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не асортимент, це вітрина для ентузіаста.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38160" y="362102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138160" y="3621024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75904" y="377647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ПОРОЖНІЙ КВАДРАНТ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75904" y="400507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верхній кут — багато позицій за високою ціною — порожній.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преміальний японський бренд не має в Україні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глибини лінійки, ані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відповідь, чому ніша не росте.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16305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На графіку — 24 бренди, для яких вдалося встановити і кількість позицій, і ціну. Медіанна ціна = середина спостереженого діапазону, а не зважена медіана продажів.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54480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739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739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1945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1945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1945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74036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151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151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151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151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151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1518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3580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03580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0358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0358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0358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03580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415284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4564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45643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4564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4564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4564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45643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7705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8770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8770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8770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8770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87705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256532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2976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9768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2976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297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2976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7309d76fc9b15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00016"/>
            <a:ext cx="1024128" cy="76809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792224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29fb8195e4566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4700016"/>
            <a:ext cx="1024128" cy="76809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3017520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d7587c34c502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700016"/>
            <a:ext cx="1024128" cy="768096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4242816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_269ae8787e24c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700016"/>
            <a:ext cx="1024128" cy="768096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468112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bcfb57b5e40e6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4700016"/>
            <a:ext cx="1024128" cy="76809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84848" y="47000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SAMURA НА УКРАЇНСЬКІЙ ПОЛИЦІ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491947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Лінійка Harakiri: 679–1 499 грн, найширше представлена серія бренду в Україні.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картках товару зазначено «японська сталь AUS-8»; країна виробництва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зазвичай ні. Це не порушення: японська сталь і японська назва серії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потребують японського заводу.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554126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Японська номенклатура — сантоку, накірі, дамаск, AUS-8 — не 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торговою маркою, ані захищеним найменуванням.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9768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97680" y="554126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3542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не може перевірити походження на полиці. Ширина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асортименту читається як авторитет: 287 SKU перемагають 64.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4672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554126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не є умовою продажу японського ножа.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здешевлює вхід — і знижує захищеність позиції.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73cbbb4df9c094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07792"/>
            <a:ext cx="1152144" cy="8229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920240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d8f99c81037f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907792"/>
            <a:ext cx="1152144" cy="8229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73552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2b74db21b9806d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907792"/>
            <a:ext cx="1152144" cy="8229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626864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_bbf26e090cbe97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016" y="2907792"/>
            <a:ext cx="1152144" cy="8229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16752" y="2871216"/>
            <a:ext cx="5614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3044952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16752" y="309067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4" y="3072384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356616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0064" y="354787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995928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16752" y="4041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4023360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451713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4" y="4498848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946903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992623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4" y="4974336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968496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968496"/>
            <a:ext cx="36576" cy="100218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412394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352544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 бренду,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створеному для російського ринку. Це репутаційна експозиція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для будь-якого рітейлера і будь-якого партнера.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937760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4937760"/>
            <a:ext cx="36576" cy="100218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093208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321808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 85–140 млн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полиці. Це найбільша окрема можливість у категорії — і вона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японського постачальника.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504688"/>
            <a:ext cx="568756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43600" y="550468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5660136"/>
            <a:ext cx="521207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81344" y="5888736"/>
            <a:ext cx="5212079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Маркування країни походження на фізичному товарі в мережі,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ранг і швидкість обігу Samura в Епіцентрі та на Rozetka.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5448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7393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739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396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396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39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396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46430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054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054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054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054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712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8712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95827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23697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23697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23697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027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6027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6027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6027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92734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39684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39684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342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3342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3342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334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65886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70001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7000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70001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08287fab39ec9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1737360" cy="8046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3232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Natura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«японський» сантоку, Іспанія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23744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67543a3f9dff80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5047488"/>
            <a:ext cx="1737360" cy="8046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670048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Universal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0048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«янагіба» 240 мм, Іспанія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80560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ccf4816ce5209d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5047488"/>
            <a:ext cx="1737360" cy="8046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626864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26864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європейська сталь, японська форма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9b10f30dc473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47488"/>
            <a:ext cx="1737360" cy="8046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83680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Manhattan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0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«кіріцуке» 190 мм, Іспанія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94192" y="4974336"/>
            <a:ext cx="3236976" cy="165511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94192" y="4974336"/>
            <a:ext cx="36576" cy="165511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31936" y="5129784"/>
            <a:ext cx="2761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31936" y="5358384"/>
            <a:ext cx="2761488" cy="1124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ця цифра формує уявлення про те, скільки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«японський ніж».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Іспанський Arcos продає янагібу й кіріцуке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японськими назвами і тримає 311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проти 64 у Satake.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Фото: arcos.com.ua — офіційний каталог Arcos в Україні, розділ «японські ножі». Усі показані ножі виготовлені в Іспанії.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Один і той самий сантоку в шести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179222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ВХІДНИЙ</a:t>
            </a:r>
          </a:p>
        </p:txBody>
      </p:sp>
      <p:pic>
        <p:nvPicPr>
          <p:cNvPr id="14" name="Picture 13" descr="p_60b689fae2f196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53619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175 – 699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Кераміка, штампована
моносталь. Ardesto, Kamille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50 % штук
12 % грошей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14016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14016" y="1554480"/>
            <a:ext cx="179222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ЦІННІСТЬ</a:t>
            </a:r>
          </a:p>
        </p:txBody>
      </p:sp>
      <p:pic>
        <p:nvPicPr>
          <p:cNvPr id="24" name="Picture 23" descr="p_1ae18a395d9508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32" y="2011680"/>
            <a:ext cx="153619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560320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700 – 1 499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AUS-8 / 8Cr13MoV, 56–58 HRC.
Samura Harakiri, Krauff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27 % штук
20 % грошей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1104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61104" y="1554480"/>
            <a:ext cx="179222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07408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СЕРЕДНІЙ</a:t>
            </a:r>
          </a:p>
        </p:txBody>
      </p:sp>
      <p:pic>
        <p:nvPicPr>
          <p:cNvPr id="34" name="Picture 33" descr="p_a47176f78a998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53619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07408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1 500 – 3 499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Справжня Японія починається тут.
Satake Satoru, KAI Wasabi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13 % штук
22 % грошей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08192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08192" y="1554480"/>
            <a:ext cx="1792224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ВЕРХНІЙ СЕРЕДНІЙ</a:t>
            </a:r>
          </a:p>
        </p:txBody>
      </p:sp>
      <p:pic>
        <p:nvPicPr>
          <p:cNvPr id="44" name="Picture 43" descr="p_d3665f6f12666c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7" y="2011680"/>
            <a:ext cx="153619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54496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3 500 – 7 499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4496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VG-10, 60–61 HRC.
Tojiro DP, Suncraft Senzo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6 % штук
22 % грошей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79" y="1554480"/>
            <a:ext cx="179222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01583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01583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54" name="Picture 53" descr="p_10542f6757891a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3296" y="2011680"/>
            <a:ext cx="153619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101583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7 500 – 14 999 грн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3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Kasumi, Yaxell Ran, KAI Shun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01583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3 % штук
15 % грошей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02367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02367" y="1554480"/>
            <a:ext cx="179222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4867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4867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64" name="Picture 63" descr="p_49025ad881696f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011680"/>
            <a:ext cx="1536192" cy="12252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4867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15 000 – 40 140 грн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4867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4867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867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4867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1 % штук
9 % грошей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тому Samura з китайського заводу успішно продається поруч із Satake із Секі: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візуально в діапазоні 1 000–3 000 грн вони нерозрізнювані. Конкуренція тут іде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за якістю продукту, 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Новому гравцю це одночасно вхідний квиток і головна пастка.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 ПРОТИ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Два ринки з протилежною логікою купівлі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показує, чому одна товарна пропозиція не може обслуговувати обидва канали.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 B2C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HORECA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5727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Розмір каналу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691 – 924 млн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100 – 120 млн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1792224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у 7 разів більший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Японська частка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2 % (16–19 млн грн)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&lt; 3 % (3–4 млн грн)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061972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Однаково мала в обох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317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Хто вирішує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Кінцевий користувач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Закупівельник або шеф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33172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комунікації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01468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Головний критерій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43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Вигляд, бренд, форма, відгуки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Ціна заміни й зносостійкість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2601468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Протилежні пріоритети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7121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Чутливість до походження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Середня, декларативна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Нульова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287121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 HoReCa походження не продає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4096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43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4 – 5 років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14096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частіша, але дешевша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107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Середній чек за ніж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330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550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410711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платить більше за одиницю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8045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Сезонність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443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Грудень, березень — подарунки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Рівна, прив'язана до відкриттів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45168" y="3680459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Різне планування складу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5020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Канал доступу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Мережа, маркетплейс, спеціаліст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Опт, тендер, прямий контракт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45168" y="3950207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команди продажу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1995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Вартість входу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Лістинг, промо, контент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Каталог дистриб'ютора, зразки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8" y="421995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дорожчий, але масштабується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4485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48970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Потреба в сервісі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443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Низька, покупець терпить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447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Критична, без сервісу товар не працює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45168" y="448970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Головний бар'єр для Японії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4956048"/>
            <a:ext cx="36576" cy="1280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ЄДИНЕ, ЩО ЇХ ПОВ'ЯЗУЄ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Шеф-кухар. Він працює в HoReCa, а купує в роздробі —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робить його не клієнтом, а медіа: рекомендація шефа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дорожче за будь-який контракт із його рестораном.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Правильна робота з HoReCa в цій категорії — це PR, а не продаж.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4956048"/>
            <a:ext cx="36576" cy="12801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ПОМИЛКА, ЯКУ ЛЕГКО ЗРОБИТИ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Побудувати пропозицію «для професійної кухні», продавати її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рахувати HoReCa як окремий канал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Перше працює як позиціювання. Друге — 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Слово «професійний» на упаковці продає домогосподаркам, а не кухням.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НА РИНКУ Є І ЧОГО НЕМАЄ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прогалин, і лише дві з них варті грошей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Прогалина — це не завжди можливість. Нижче кожна оцінена за розміром і за причиною, чому вона досі відкрита.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ПРОГАЛИНА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ПІДТВЕРДЖЕННЯ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5727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1572768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ДОСІ ВІДКРИТА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справжньої Японії в 1 500–2 500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Між Satake Satoru (1 599) і Tojiro Basic (2 599) порожньо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17922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Юніт-економіка не витримує консультації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76936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80136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8026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208026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Камені продаються, послуги немає ні в кого з 9 спеціалістів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208026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майстрів і точок, а не імпорту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2057400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208940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36829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українського бренду японського типу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3087" y="23682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Grand Way / Grossman у цю нішу не заходили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36829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спробував із серйозним бюджетом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2345436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2127" y="23774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65633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японця в масовій мережі, крім Suncraft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265633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Епіцентр: 97 SKU Suncraft, 30 Tojiro, 6 KAI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3688" y="265633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Мережі відкриті, пропозиції немає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2633472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2127" y="266547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94436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прозорості походження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9443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Samura подається як японський без країни виробництва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9443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зробив із чесності позиціювання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2921508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2953512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232403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лінійки для домашнього преміуму 4–7 тис.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7" y="323240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Tojiro DP і Yaxell Ran — це імпорт без адаптації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3232403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 не виправдовує OEM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82127" y="320954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7" y="324154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520439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односторонніх ножів у профканалі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3087" y="352043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AL-Group і LFood їх просто не тримають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3688" y="3520439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500–900 ножів на рік на країну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3497579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7" y="352958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Дуже мала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80847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україномовної упаковки і контенту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3087" y="38084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Уся категорія — імпортні коробки з англійською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380847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Дешево зробити, важко монетизувати окремо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82127" y="3785615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82127" y="38176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4133087"/>
            <a:ext cx="36576" cy="21031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ПРОГАЛИНА №1 ЗА ГРОШИМА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Український бренд японського типу з чесним походженням.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Цільова зона — 700–2 500 грн, де сьогодні стоїть Samura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287 SKU і оцінно 85–140 млн грн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потребує японського постачальника взагалі.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97680" y="4133087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ПРОГАЛИНА №2 ЗА ЗАХИЩЕНІСТЮ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542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Сервіс заточення як частина пропозиції бренду.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Сам по собі не заробляє, але це єдиний бар'єр входу,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який неможливо скопіювати закупівлею контейнера.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Логічно запускати тільки разом із товарною лінійкою.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4672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46720" y="4133087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8446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РЕШТА НЕ ВАРТА ГРОШЕЙ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8446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Прогалини в справжній Японії малі не через недогляд ринку,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тому що сегмент замалий: 16–19 млн грн на 10 брендів.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Односторонні ножі — 500–900 штук на рік.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не ніша, це хобі.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 при 45 брендах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Ніша перенаселена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45 брендів на 16–19 млн грн; Yaxell і Miyabi — ексклюзиви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ЯКІСТЬ ДАНИХ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ця робота може помилятися і наскільки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Без цього слайда колода була б рекламою власних висновків. Нижче — усе, що знижує надійність оцінок.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ОБМЕЖЕННЯ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72768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5727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 НА ВИСНОВКИ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ЗАКРИТИ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Митний код 8211 92 не є кухонним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792224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Містить мисливські, обробні, польові ножі. Частка кухонних — припущення 55–70 %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179222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20 % на весь розмір ринку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Найбільше джерело похибки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65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Немає даних за 2025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665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Comtrade / WITS ще не опублікували українську статистику за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0665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митна частина —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0665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Ринок міг зрушити за 9 місяців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971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408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Війна спотворює структуру коду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3408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Попит на польові й тактичні ножі 2022–2025 завищує 8211 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3408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частка може бути ближче до 50 %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3408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Напрям похибки відомий, величина — 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151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SKU ≠ продажі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6151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Ширина асортименту — це ставка продавця, а не попит покупця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26151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Частки брендів можуть бути іншими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26151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Панелі Nielsen/GfK по категорії в Україні немає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483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895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Ціни — вітринні, не чисті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28895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Включають промо; оптові ціни без акаунта постачальника недоступні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28895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Маржинальні розрахунки орієнтовні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28895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Потрібен доступ до прайсів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Торгові націнки — конвенція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316382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Множники 1,8–2,4 взяті як галузеві, не виміряні в Україні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16382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15 % на роздрібну оцінку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8" y="316382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Перевіряється тільки через продавців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9699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381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Модель HoReCa — не вимір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1568" y="34381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Заклади × ножі × цикл заміни: три оцінки поспіль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6368" y="34381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30 % на обсяг каналу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34381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Потрібні інтерв'ю з шефами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7124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Сірий імпорт невидимий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7124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Посилки до 150 € не оподатковуються і не обліковуються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6368" y="37124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Недооцінка верхнього сегмента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37124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Саме там, де Amazon дешевший за локальну ціну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4563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867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Населення і територія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39867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База для розрахунку на душу невизначена (≈ 31–33 млн)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39867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6 % на подушові показники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9867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Окуповані території не охоплені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611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Дані про Samura — публічні джерела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42611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Власність, походження і виробництво не перевірені незалежно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42611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Потребує підтвердження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42611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Ключове твердження колоди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4718304"/>
            <a:ext cx="36576" cy="1517904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НЕ ЗМІНЮЄ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Похибки впливають на розмір ринку, але не на його структуру.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кухонна частка коду 8211 92 становить 50 %, а не 65 %,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співвідношення 1,3 % японського імпорту проти 73 % китайського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залишається тим самим. Усі структурні висновки колоди стійкі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похибки в розмірі.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4718304"/>
            <a:ext cx="36576" cy="15179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ЗМІНЮЄ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Абсолютні цифри — 691–924 млн грн, 16–19 млн грн, 180–220 тис. ножів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можна класти у фінмодель без перевірки.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придатні для рішення «йти / не йти» і непридатні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для рішення «скільки закупити».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Перед закупівлею потрібні дані оборотності від мереж.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407a198e1355c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45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45 брендами з 14 каналів.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РОБИТИ ДАЛІ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кроків до розмови з першим постачальником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дослідження відповідає на питання «чи йти». Наступний блок робіт відповідає на питання «з чим і за скільки».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493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ЗРОБИТИ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1572768"/>
            <a:ext cx="4096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ЗМІСТ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0336" y="15727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БЮДЖЕТ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15727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4896" y="1572768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ЗАКРИВАЄ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5648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1883664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93395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19019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ВИКУПИТИ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824" y="1828800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30–40 SKU в шести цінових діапазонах. Твердомір, XRF-аналіз
сталі, фотофіксація маркування, тест на різ.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92024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120–150 тис.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92024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1828800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Підтверджує заявлені характеристики конкурентів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2542032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5923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" y="256032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ОТРИМАТИ ДАНІ ОБОРОТНОСТІ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2487168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Категорійні дані від одного маркетплейсу (Rozetka або Prom)
і одного великого формату (Епіцентр).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57860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Комерційні 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25786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4–8 тижнів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4896" y="2487168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Замінює SKU-оцінки реальними частками ринку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072384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3200400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50692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32186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ПЕРЕВІРИТИ ПОЗИЦІЮ SAMURA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3145536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Ранг і швидкість обігу в мережах. Маркування країни
виробництва на фізичному товарі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0336" y="323697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Включено в крок 01–02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2369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тижні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54896" y="3145536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Головна гіпотеза колоди: без неї сценарій A не рахується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858768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90906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387705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ТЕСТ ЦІНОВОЇ ЕЛАСТИЧНОСТІ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3824" y="3803903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200 респондентів: готовність платити за сантоку 170 мм
на точках 699 / 1 199 / 1 999 / 3 499 грн.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3895344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60–90 тис.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389534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3803903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Дає цільову цінову точку до першої закупівлі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4389120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517136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567428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704" y="4535423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ІНТЕРВ'Ю З ШЕФАМИ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63824" y="4462271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12 шефів ресторанів і 4 шефи суші-закладів: що купують,
де, чому не Японію, хто платить — заклад чи вони самі.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0336" y="455371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30 тис.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13648" y="455371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54896" y="4462271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Перевіряє шість причин зі слайда 32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175503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22579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" y="5193791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ДВІ ЗУСТРІЧНІ КОТИРОВКИ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824" y="5120639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Один завод у ЄС і один у Секі на ту саму специфікацію.
Порівняти landed cost із урахуванням 10 % мита.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5212079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Вартість зразків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521207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4–6 тижнів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54896" y="5120639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Перетворює тарифну різницю зі слайда 6 на цифру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77900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2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РАЗОМ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Бюджет блоку: ≈ 210–270 тис. грн плюс комерційні умови на дані мереж.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Строк: 8–10 тижнів. Це менше за вартість однієї помилкової контейнерної закупівлі.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577900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ПОСЛІДОВНІСТЬ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Кроки 01, 03 і 04 виконуються паралельно і дають рішення по сценарію 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 06 запускається тільки якщо сценарій B залишається на столі після кроку 04.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ДЖЕРЕЛА І 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 чому побудована кожна цифра в цій колоді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дані зібрані з публічних джерел у вересні 2026 року. Первинних інтерв'ю та закритих баз не використовувалось.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197510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МИТНА СТАТИСТИКА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World Bank WITS / UN Comtrade — імпорт України, коди 8211 10, 8211 91, 8211 92,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роки 2022, 2023, 2024, розбивка за країнами походження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УКТЗЕД / QDPro — ставки ввізного мита та ПДВ для коду 8211 92 00 00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Перевірено: даних за 2025 рік станом на вересень 2026 не опубліковано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36576" cy="19751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АУДИТ АСОРТИМЕНТУ ТА ЦІН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epicentrk.ua — категорія «Кухонні ножі», 4 950 SKU, бренди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rozetka.com.ua — фільтри за брендами і типом «японський ніж (сантоку)»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prom.ua — категорія «Японські кухонні ножі», продавці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profimax.com.ua, roks.in.ua, japan-knife.com.ua, volod.in.ua,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hangiri.com.ua, europosud.ua, nojaro.com.ua, smart-kitchen.com.ua,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wildcat.biz.ua, izzabugra.com.ua, kagura.com.ua, ibis.net.ua, x-gear.com.ua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zwilling.in.ua, lacocotte.com.ua, arcos.com.ua — монобренд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al-group.com.ua, lfood.com.ua — оптові каталоги HoReCa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75887"/>
            <a:ext cx="36576" cy="197510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МАКРОЕКОНОМІКА ТА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Держстат — середня заробітна плата, грудень 2025: 30 926 грн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НБУ — офіційний курс USD/UAH, 30.09.2026: 44,86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Профільні огляди ресторанного ринку 2025: виручка 246,7 млрд грн, +21,7 %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Дані про реєстрацію та закриття ФОП у сфері харчування, 2025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LunchPoint та публікації про заклади японської кухні в Києві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675887"/>
            <a:ext cx="36576" cy="197510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БРЕНДИ, ПОХОДЖЕННЯ ТА ЗОБРАЖЕННЯ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Фото — картки товарів із каталогів volod.in.ua, roks.in.ua,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arcos.com.ua. Використані як ілюстрація до конкурентного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аналізу з посиланням на джерело; права належать правовласникам.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Креслення профілів клинка — власні схеми, не зображення конкретних моделей.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samura.ru — офіційний магазин бренду; профіль компанії на Forbes.ru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Офіційні описи виробників: Yaxell, KAI, Tojiro (з 1953), Satake (Секі, з 1947),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Kasumi / Sumikama, Suncraft, Kanetsugu, Sakai Takayuki, Global (Yoshikin)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42432"/>
            <a:ext cx="1106424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742432"/>
            <a:ext cx="36576" cy="8517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89788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МЕТОДОЛОГІЧНЕ ЗАСТЕРЕЖЕННЯ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6126480"/>
            <a:ext cx="1058875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Оцінки обсягу ринку, часток цінових діапазонів і попиту HoReCa — авторські розрахунки на базі публічних даних і явно зазначених припущень.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є виміряними продажами і не замінюють рітейл-панель.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