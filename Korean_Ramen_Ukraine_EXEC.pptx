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Relationship Id="rId12" Type="http://schemas.openxmlformats.org/officeDocument/2006/relationships/image" Target="../media/image11.jpg"/><Relationship Id="rId13" Type="http://schemas.openxmlformats.org/officeDocument/2006/relationships/image" Target="../media/image12.jpg"/><Relationship Id="rId14" Type="http://schemas.openxmlformats.org/officeDocument/2006/relationships/image" Target="../media/image13.jpg"/><Relationship Id="rId15" Type="http://schemas.openxmlformats.org/officeDocument/2006/relationships/image" Target="../media/image14.jpg"/><Relationship Id="rId16" Type="http://schemas.openxmlformats.org/officeDocument/2006/relationships/image" Target="../media/image1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731520"/>
            <a:ext cx="1920240" cy="8321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230428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FFC95C"/>
                </a:solidFill>
                <a:latin typeface="Segoe UI"/>
              </a:rPr>
              <a:t>ДОСЛІДЖЕННЯ РИНКУ ТА ЦІНОВЕ ПОЗИЦІОНУВАННЯ · ВЕРЕСЕНЬ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33472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 spc="-10">
                <a:solidFill>
                  <a:srgbClr val="FFFFFF"/>
                </a:solidFill>
                <a:latin typeface="Segoe UI"/>
              </a:rPr>
              <a:t>Корейський рамен</a:t>
            </a:r>
          </a:p>
          <a:p>
            <a:pPr algn="l">
              <a:lnSpc>
                <a:spcPct val="105000"/>
              </a:lnSpc>
            </a:pPr>
            <a:r>
              <a:rPr sz="4600" b="1" spc="-10">
                <a:solidFill>
                  <a:srgbClr val="FFFFFF"/>
                </a:solidFill>
                <a:latin typeface="Segoe UI"/>
              </a:rPr>
              <a:t>в Україні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53712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spc="-10">
                <a:solidFill>
                  <a:srgbClr val="9FA9C4"/>
                </a:solidFill>
                <a:latin typeface="Segoe UI"/>
              </a:rPr>
              <a:t>Оцінка шести SKU SIAS — рамену в пакеті — проти ринкової полиці:</a:t>
            </a:r>
          </a:p>
          <a:p>
            <a:pPr algn="l">
              <a:lnSpc>
                <a:spcPct val="150000"/>
              </a:lnSpc>
            </a:pPr>
            <a:r>
              <a:rPr sz="1100" b="0" spc="-10">
                <a:solidFill>
                  <a:srgbClr val="9FA9C4"/>
                </a:solidFill>
                <a:latin typeface="Segoe UI"/>
              </a:rPr>
              <a:t>96 SKU корейського рамену · 11 брендів · 13 мереж із 18 · зріз каталогів 29.09.2026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5449824"/>
            <a:ext cx="45720" cy="84124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5477256"/>
            <a:ext cx="1005840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Версія для керівництва. Усі ціни — роздріб за одну пачку, з ПДВ, на дату зрізу.</a:t>
            </a:r>
          </a:p>
          <a:p>
            <a:pPr algn="l">
              <a:lnSpc>
                <a:spcPct val="14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Опт, ящики та мультипаки до медіан не входять. Фото товарів — з каталогів мереж, як ідентифікація SKU.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РЕЗЮМЕ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Головне на одній сторінці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Що показало зіставлення шести SKU SIAS із фактичною полицею 18 мереж і з фінансовою моделлю при маржі 15 %.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54480"/>
            <a:ext cx="11064240" cy="84124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554480"/>
            <a:ext cx="54864" cy="84124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682495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FFC95C"/>
                </a:solidFill>
                <a:latin typeface="Segoe UI"/>
              </a:rPr>
              <a:t>ОСНОВНИЙ ВИСНОВОК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193852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 spc="-10">
                <a:solidFill>
                  <a:srgbClr val="FFFFFF"/>
                </a:solidFill>
                <a:latin typeface="Segoe UI"/>
              </a:rPr>
              <a:t>За поточної собівартості модель виводить нас на 135,48 і 156,32 грн — це на 29 % і 49 % вище за медіану категорії.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615184"/>
            <a:ext cx="3547872" cy="13350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2615184"/>
            <a:ext cx="41148" cy="133502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770632"/>
            <a:ext cx="30723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ПОЛИЦЯ ЗА МОДЕЛЛЮ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980944"/>
            <a:ext cx="30723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B53A3A"/>
                </a:solidFill>
                <a:latin typeface="Segoe UI"/>
              </a:rPr>
              <a:t>135 / 156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474720"/>
            <a:ext cx="30723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При маржі 15 % і бонусі мережі 25 %.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СС 58,06 і 66,99 грн за пачку.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15968" y="2615184"/>
            <a:ext cx="3547872" cy="13350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15968" y="2615184"/>
            <a:ext cx="41148" cy="133502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770632"/>
            <a:ext cx="30723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ПОЗИЦІЯ ПРОТИ РИНКУ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980944"/>
            <a:ext cx="30723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B53A3A"/>
                </a:solidFill>
                <a:latin typeface="Segoe UI"/>
              </a:rPr>
              <a:t>+29 % / +49 %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474720"/>
            <a:ext cx="30723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До медіани категорії 105 грн.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Дешевші за нас 82 % і 89 % позицій.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65008" y="2615184"/>
            <a:ext cx="3547872" cy="13350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65008" y="2615184"/>
            <a:ext cx="41148" cy="13350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2770632"/>
            <a:ext cx="30723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ПОТРІБНА СС ПІД МЕДІАНУ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980944"/>
            <a:ext cx="30723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C4820A"/>
                </a:solidFill>
                <a:latin typeface="Segoe UI"/>
              </a:rPr>
              <a:t>45,00 грн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474720"/>
            <a:ext cx="30723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Замість 58,06 грн на чотирьох SKU.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Це мінус 22,5 % до собівартості.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4169663"/>
            <a:ext cx="5413248" cy="20116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4169663"/>
            <a:ext cx="41148" cy="201168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7" y="4334255"/>
            <a:ext cx="48646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ЩО ЦЕ ОЗНАЧАЄ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7" y="4608575"/>
            <a:ext cx="4864608" cy="1408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1. Формат і вага заперечень не викликають: пакет 112,5–131 г — це дві найщільніші вагові смуги ринку.</a:t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2. Проблема одна — ціна. Обидві розрахункові полиці лежать вище за цінове вікно 86–124 грн, у якому стоїть половина ринку.</a:t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3. Зайти ціною не можна: при полиці 95 і 100 грн модель дає маржу −10,6 % і −18,8 %.</a:t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4. Отже, єдиний важіль — собівартість, і торг іде саме про неї.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169663"/>
            <a:ext cx="5413248" cy="20116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4169663"/>
            <a:ext cx="41148" cy="201168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4334255"/>
            <a:ext cx="48646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ЩО ПОТРІБНО ВИРІШИТИ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608575"/>
            <a:ext cx="4864608" cy="1408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1. Чи готовий SIAS знизити СС на 20–27 %. Без цього жодна з шести позицій не стає на полицю зі збереженням 15 %.</a:t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2. Чи приймаємо нижчу маржу як плату за вхід у категорію — і яку саме.</a:t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3. Що входить у собівартість: товар плюс усі витрати чи лише товар. Від цього залежить уся арифметика.</a:t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4. Порівняти з прямим імпортом з Кореї, перш ніж фіксувати умови.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РИНОК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Шість цифр, які описують категорію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Усі ціни — за одну пачку, з ПДВ. Опт і ящики до розрахунку не входять.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64208"/>
            <a:ext cx="3547872" cy="13350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41148" cy="13350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819656"/>
            <a:ext cx="30723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ОБСЯГ ІМПОРТУ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029968"/>
            <a:ext cx="30723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C4820A"/>
                </a:solidFill>
                <a:latin typeface="Segoe UI"/>
              </a:rPr>
              <a:t>253,8 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523744"/>
            <a:ext cx="30723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Корея, HS 1902 30.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+8,8 % до 2024 року в кілограмах.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5968" y="1664208"/>
            <a:ext cx="3547872" cy="13350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5968" y="1664208"/>
            <a:ext cx="41148" cy="1335024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819656"/>
            <a:ext cx="30723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ЄМНІСТЬ РОЗДРІБУ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029968"/>
            <a:ext cx="30723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1E9EA6"/>
                </a:solidFill>
                <a:latin typeface="Segoe UI"/>
              </a:rPr>
              <a:t>221 млн грн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523744"/>
            <a:ext cx="30723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На рік — оцінка за імпортом,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помноженим на медіану полиці.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65008" y="1664208"/>
            <a:ext cx="3547872" cy="13350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65008" y="1664208"/>
            <a:ext cx="41148" cy="1335024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819656"/>
            <a:ext cx="30723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ПОЗИЦІЙ У ПРОДАЖУ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029968"/>
            <a:ext cx="30723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5D4B96"/>
                </a:solidFill>
                <a:latin typeface="Segoe UI"/>
              </a:rPr>
              <a:t>96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523744"/>
            <a:ext cx="30723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11 брендів, 13 мереж із 18.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У «Сільпо» — лише 4 позиції.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200400"/>
            <a:ext cx="3547872" cy="13350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3200400"/>
            <a:ext cx="41148" cy="133502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3355848"/>
            <a:ext cx="30723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НАЙПОШИРЕНІШИЙ ФОРМАТ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566160"/>
            <a:ext cx="30723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303A5D"/>
                </a:solidFill>
                <a:latin typeface="Segoe UI"/>
              </a:rPr>
              <a:t>пакет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059935"/>
            <a:ext cx="30723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71 позиція, або 74 % ринку.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Стакан — 18, рисові галушки — 7.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15968" y="3200400"/>
            <a:ext cx="3547872" cy="13350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15968" y="3200400"/>
            <a:ext cx="41148" cy="13350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3355848"/>
            <a:ext cx="30723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МАСОВА ВАГА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3566160"/>
            <a:ext cx="30723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C4820A"/>
                </a:solidFill>
                <a:latin typeface="Segoe UI"/>
              </a:rPr>
              <a:t>120 г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4059935"/>
            <a:ext cx="30723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23 позиції. Далі 130 г — 9,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140 г — 6, 105 г — 6.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65008" y="3200400"/>
            <a:ext cx="3547872" cy="13350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65008" y="3200400"/>
            <a:ext cx="41148" cy="1335024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40" y="3355848"/>
            <a:ext cx="30723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ЦІНОВЕ ВІКНО ПОЛИЦІ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3566160"/>
            <a:ext cx="30723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1E9EA6"/>
                </a:solidFill>
                <a:latin typeface="Segoe UI"/>
              </a:rPr>
              <a:t>86–124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4059935"/>
            <a:ext cx="30723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Половина ринку. Медіана 105 грн,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найдешевший пакет — 68 грн.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4773168"/>
            <a:ext cx="5413248" cy="15910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66928" y="4773168"/>
            <a:ext cx="41148" cy="159105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7" y="4937759"/>
            <a:ext cx="48646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ЩО ЦЕ ОЗНАЧАЄ ДЛЯ ПОЛИЦІ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7" y="5212079"/>
            <a:ext cx="486460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1. Категорія повністю імпортна: корейського рамену в Україні не виробляють.</a:t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2. Зростання дає Корея: 233,3 → 253,8 т за рік, +8,8 % у кілограмах і +34,9 % у грошах.</a:t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3. Полиця концентрована: Samyang і Nongshim дають 54 позиції з 96 і стоять у 12 мережах із 13.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4773168"/>
            <a:ext cx="5413248" cy="15910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17920" y="4773168"/>
            <a:ext cx="41148" cy="159105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0" y="4937759"/>
            <a:ext cx="48646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ЧОГО НА РИНКУ НЕМАЄ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5212079"/>
            <a:ext cx="486460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1. У зрізі немає ваги 113 г: серед наших SKU три по 113 г і Spicy 112,5 г. Частий формат — 120 г.</a:t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2. МегаМаркет, Ultramarket, ЕКО, Епіцентр та «Ідеал» не мають позицій у цьому зрізі.</a:t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3. Крім Samyang і Nongshim, жоден бренд не представлений більш ніж у 5 мережах.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ОБСЯГ ТА ІМПОРТ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1 674 т локшини, з них 253,8 т корейської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HS 1902 30 «інші макаронні вироби». Україна не звітувала 2025 рік до UN Comtrade — узято дзеркальні дані країн-експортерів.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64208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spc="-10">
                <a:solidFill>
                  <a:srgbClr val="303A5D"/>
                </a:solidFill>
                <a:latin typeface="Segoe UI"/>
              </a:rPr>
              <a:t>ЗВІДКИ ЇДЕ, 2025 РІК · тонн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21408" y="1920240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55648" y="4974336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91429" y="1920240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25669" y="4974336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200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61450" y="1920240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5690" y="4974336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400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1471" y="1920240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65711" y="4974336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061972"/>
            <a:ext cx="14447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Китай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21408" y="2043684"/>
            <a:ext cx="2826177" cy="192024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0737" y="2057400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734,1 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427732"/>
            <a:ext cx="14447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Корея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409444"/>
            <a:ext cx="977212" cy="192024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71772" y="2423160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253,8 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2793492"/>
            <a:ext cx="14447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Польща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21408" y="2775204"/>
            <a:ext cx="931760" cy="192024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26320" y="2788920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242,0 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159252"/>
            <a:ext cx="14447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Туреччина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21408" y="3140964"/>
            <a:ext cx="718117" cy="192024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12677" y="3154680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186,5 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525012"/>
            <a:ext cx="14447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Словаччина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21408" y="3506724"/>
            <a:ext cx="320213" cy="192024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14773" y="3520440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83,2 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3890772"/>
            <a:ext cx="14447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Італія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21408" y="3872483"/>
            <a:ext cx="192154" cy="192024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86714" y="3886200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49,9 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256532"/>
            <a:ext cx="14447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Таїланд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21408" y="4238244"/>
            <a:ext cx="114983" cy="192024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09543" y="4251960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29,9 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622292"/>
            <a:ext cx="14447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Німеччина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21408" y="4604004"/>
            <a:ext cx="90250" cy="192024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84810" y="4617720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23,4 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5138928"/>
            <a:ext cx="5577840" cy="122529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6928" y="5138928"/>
            <a:ext cx="41148" cy="122529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7" y="530352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ТОНАЖ — ЦЕ НЕ КАТЕГОРІЯ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7" y="5577840"/>
            <a:ext cx="50292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Туреччина по $0,63/кг і Китай по $1,54/кг — це переважно звичайні макарони, а не рамен. Корея — $4,88/кг: єдиний великий постачальник із ціною, що відповідає фасованому рамену.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1664208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spc="-10">
                <a:solidFill>
                  <a:srgbClr val="303A5D"/>
                </a:solidFill>
                <a:latin typeface="Segoe UI"/>
              </a:rPr>
              <a:t>КОРЕЯ → УКРАЇНА · ДИНАМІКА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1956816"/>
            <a:ext cx="8229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РІК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06640" y="1956816"/>
            <a:ext cx="12801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ОБСЯГ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78240" y="1956816"/>
            <a:ext cx="14630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ВАРТІСТЬ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20" y="1956816"/>
            <a:ext cx="12801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50" b="1" spc="-10">
                <a:solidFill>
                  <a:srgbClr val="717890"/>
                </a:solidFill>
                <a:latin typeface="Segoe UI"/>
              </a:rPr>
              <a:t>$/КГ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92240" y="2139696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-10">
                <a:solidFill>
                  <a:srgbClr val="303A5D"/>
                </a:solidFill>
                <a:latin typeface="Segoe UI"/>
              </a:rPr>
              <a:t>2024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06640" y="2139696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-10">
                <a:solidFill>
                  <a:srgbClr val="717890"/>
                </a:solidFill>
                <a:latin typeface="Segoe UI"/>
              </a:rPr>
              <a:t>233,3 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78240" y="2139696"/>
            <a:ext cx="14630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-10">
                <a:solidFill>
                  <a:srgbClr val="717890"/>
                </a:solidFill>
                <a:latin typeface="Segoe UI"/>
              </a:rPr>
              <a:t>$918 тис.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32720" y="2139696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-10">
                <a:solidFill>
                  <a:srgbClr val="717890"/>
                </a:solidFill>
                <a:latin typeface="Segoe UI"/>
              </a:rPr>
              <a:t>$3,93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19088" y="2450592"/>
            <a:ext cx="5138928" cy="3383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92240" y="2487168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-10">
                <a:solidFill>
                  <a:srgbClr val="303A5D"/>
                </a:solidFill>
                <a:latin typeface="Segoe UI"/>
              </a:rPr>
              <a:t>2025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06640" y="2487168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-10">
                <a:solidFill>
                  <a:srgbClr val="717890"/>
                </a:solidFill>
                <a:latin typeface="Segoe UI"/>
              </a:rPr>
              <a:t>253,8 т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78240" y="2487168"/>
            <a:ext cx="14630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-10">
                <a:solidFill>
                  <a:srgbClr val="717890"/>
                </a:solidFill>
                <a:latin typeface="Segoe UI"/>
              </a:rPr>
              <a:t>$1 238 тис.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32720" y="2487168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-10">
                <a:solidFill>
                  <a:srgbClr val="717890"/>
                </a:solidFill>
                <a:latin typeface="Segoe UI"/>
              </a:rPr>
              <a:t>$4,88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92240" y="2834640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-10">
                <a:solidFill>
                  <a:srgbClr val="303A5D"/>
                </a:solidFill>
                <a:latin typeface="Segoe UI"/>
              </a:rPr>
              <a:t>Зміна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06640" y="2834640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-10">
                <a:solidFill>
                  <a:srgbClr val="717890"/>
                </a:solidFill>
                <a:latin typeface="Segoe UI"/>
              </a:rPr>
              <a:t>+8,8 %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778240" y="2834640"/>
            <a:ext cx="14630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-10">
                <a:solidFill>
                  <a:srgbClr val="717890"/>
                </a:solidFill>
                <a:latin typeface="Segoe UI"/>
              </a:rPr>
              <a:t>+34,9 %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332720" y="2834640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-10">
                <a:solidFill>
                  <a:srgbClr val="717890"/>
                </a:solidFill>
                <a:latin typeface="Segoe UI"/>
              </a:rPr>
              <a:t>+24,0 %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92240" y="3383280"/>
            <a:ext cx="5138928" cy="16459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492240" y="3383280"/>
            <a:ext cx="41148" cy="16459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766559" y="3547872"/>
            <a:ext cx="45902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ЩО КАЖЕ ЦІНА ІМПОРТУ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66559" y="3822191"/>
            <a:ext cx="4590288" cy="1042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Середня експортна ціна Кореї зросла на 24 % за рік при зростанні обсягу лише на 9 %. Ринок рухається в бік дорожчих позицій, а не дешевших.</a:t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/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Наша повна собівартість — €10,0–10,6/кг. Бази різні: тут фрахт і оформлення вже всередині, у митній вартості Кореї — ні.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92240" y="5138928"/>
            <a:ext cx="5138928" cy="122529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92240" y="5138928"/>
            <a:ext cx="41148" cy="122529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766559" y="5303520"/>
            <a:ext cx="45902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ЯК ПОРАХОВАНО ЄМНІСТЬ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766559" y="5577840"/>
            <a:ext cx="4590288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253,8 т імпорту ÷ 120 г середньої ваги = 2,12 млн пачок. × 105 грн медіани полиці ≈ 221 млн грн роздрібного обороту на рік.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СТРУКТУРА РИНКУ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Чотири сегменти, два з яких — наші за форматом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Сегмент визначено за способом приготування і форматом. Належність наших шести SKU до сегментів 1 чи 2 потребує інструкцій приготування.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45920"/>
            <a:ext cx="2651760" cy="213969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645920"/>
            <a:ext cx="41148" cy="213969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1792224"/>
            <a:ext cx="22494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РАМЕН У ПАКЕТІ · З БУЛЬЙОНОМ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231136"/>
            <a:ext cx="224942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spc="-10">
                <a:solidFill>
                  <a:srgbClr val="303A5D"/>
                </a:solidFill>
                <a:latin typeface="Segoe UI"/>
              </a:rPr>
              <a:t>46 SKU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633472"/>
            <a:ext cx="224942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МЕДІАНА ПОЛИЦІ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779776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spc="-10">
                <a:solidFill>
                  <a:srgbClr val="303A5D"/>
                </a:solidFill>
                <a:latin typeface="Segoe UI"/>
              </a:rPr>
              <a:t>104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3072384"/>
            <a:ext cx="22494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P25–P75:  87–119 грн</a:t>
            </a:r>
          </a:p>
          <a:p>
            <a:pPr algn="l">
              <a:lnSpc>
                <a:spcPct val="142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Ціна за грам:  86 грн/100 г</a:t>
            </a:r>
          </a:p>
          <a:p>
            <a:pPr algn="l">
              <a:lnSpc>
                <a:spcPct val="142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Вага:  102–144 г</a:t>
            </a:r>
          </a:p>
          <a:p>
            <a:pPr algn="l">
              <a:lnSpc>
                <a:spcPct val="142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Брендів:  6 · мереж:  12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64992" y="1645920"/>
            <a:ext cx="2651760" cy="213969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64992" y="1645920"/>
            <a:ext cx="41148" cy="213969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84448" y="1792224"/>
            <a:ext cx="22494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C4820A"/>
                </a:solidFill>
                <a:latin typeface="Segoe UI"/>
              </a:rPr>
              <a:t>РАМЕН У ПАКЕТІ · ІЗ СОУСОМ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4448" y="2231136"/>
            <a:ext cx="224942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spc="-10">
                <a:solidFill>
                  <a:srgbClr val="303A5D"/>
                </a:solidFill>
                <a:latin typeface="Segoe UI"/>
              </a:rPr>
              <a:t>25 SKU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4448" y="2633472"/>
            <a:ext cx="224942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МЕДІАНА ПОЛИЦІ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84448" y="2779776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spc="-10">
                <a:solidFill>
                  <a:srgbClr val="C4820A"/>
                </a:solidFill>
                <a:latin typeface="Segoe UI"/>
              </a:rPr>
              <a:t>100 грн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84448" y="3072384"/>
            <a:ext cx="22494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P25–P75:  86–124 грн</a:t>
            </a:r>
          </a:p>
          <a:p>
            <a:pPr algn="l">
              <a:lnSpc>
                <a:spcPct val="142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Ціна за грам:  77 грн/100 г</a:t>
            </a:r>
          </a:p>
          <a:p>
            <a:pPr algn="l">
              <a:lnSpc>
                <a:spcPct val="142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Вага:  105–145 г</a:t>
            </a:r>
          </a:p>
          <a:p>
            <a:pPr algn="l">
              <a:lnSpc>
                <a:spcPct val="142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Брендів:  7 · мереж:  11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63056" y="1645920"/>
            <a:ext cx="2651760" cy="213969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63056" y="1645920"/>
            <a:ext cx="41148" cy="213969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2512" y="1792224"/>
            <a:ext cx="22494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5D4B96"/>
                </a:solidFill>
                <a:latin typeface="Segoe UI"/>
              </a:rPr>
              <a:t>РАМЕН У СТАКАНІ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2231136"/>
            <a:ext cx="224942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spc="-10">
                <a:solidFill>
                  <a:srgbClr val="303A5D"/>
                </a:solidFill>
                <a:latin typeface="Segoe UI"/>
              </a:rPr>
              <a:t>18 SKU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2633472"/>
            <a:ext cx="224942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МЕДІАНА ПОЛИЦІ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2779776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spc="-10">
                <a:solidFill>
                  <a:srgbClr val="5D4B96"/>
                </a:solidFill>
                <a:latin typeface="Segoe UI"/>
              </a:rPr>
              <a:t>104 грн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3072384"/>
            <a:ext cx="22494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P25–P75:  93–111 грн</a:t>
            </a:r>
          </a:p>
          <a:p>
            <a:pPr algn="l">
              <a:lnSpc>
                <a:spcPct val="142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Ціна за грам:  154 грн/100 г</a:t>
            </a:r>
          </a:p>
          <a:p>
            <a:pPr algn="l">
              <a:lnSpc>
                <a:spcPct val="142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Вага:  62–120 г</a:t>
            </a:r>
          </a:p>
          <a:p>
            <a:pPr algn="l">
              <a:lnSpc>
                <a:spcPct val="142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Брендів:  4 · мереж:  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61120" y="1645920"/>
            <a:ext cx="2651760" cy="213969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61120" y="1645920"/>
            <a:ext cx="41148" cy="213969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80576" y="1792224"/>
            <a:ext cx="22494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РИСОВІ ГАЛУШКИ ТА ЛОКШИНА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0576" y="2231136"/>
            <a:ext cx="224942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spc="-10">
                <a:solidFill>
                  <a:srgbClr val="303A5D"/>
                </a:solidFill>
                <a:latin typeface="Segoe UI"/>
              </a:rPr>
              <a:t>7 SKU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0576" y="2633472"/>
            <a:ext cx="224942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МЕДІАНА ПОЛИЦІ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0576" y="2779776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spc="-10">
                <a:solidFill>
                  <a:srgbClr val="1E9EA6"/>
                </a:solidFill>
                <a:latin typeface="Segoe UI"/>
              </a:rPr>
              <a:t>198 грн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0576" y="3072384"/>
            <a:ext cx="22494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P25–P75:  106–204 грн</a:t>
            </a:r>
          </a:p>
          <a:p>
            <a:pPr algn="l">
              <a:lnSpc>
                <a:spcPct val="142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Ціна за грам:  136 грн/100 г</a:t>
            </a:r>
          </a:p>
          <a:p>
            <a:pPr algn="l">
              <a:lnSpc>
                <a:spcPct val="142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Вага:  80–145 г</a:t>
            </a:r>
          </a:p>
          <a:p>
            <a:pPr algn="l">
              <a:lnSpc>
                <a:spcPct val="142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Брендів:  4 · мереж:  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4005072"/>
            <a:ext cx="36576" cy="1737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" y="4014215"/>
            <a:ext cx="6400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>
                <a:solidFill>
                  <a:srgbClr val="303A5D"/>
                </a:solidFill>
                <a:latin typeface="Segoe UI"/>
              </a:rPr>
              <a:t>ДЕ ЩІЛЬНА ПОЛИЦЯ ЗА ВАГОЮ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4014215"/>
            <a:ext cx="40233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1" spc="-10">
                <a:solidFill>
                  <a:srgbClr val="C4820A"/>
                </a:solidFill>
                <a:latin typeface="Segoe UI"/>
              </a:rPr>
              <a:t>частка SKU у ваговій смузі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4242816"/>
            <a:ext cx="19202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ВАГОВА СМУГА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23744" y="4242816"/>
            <a:ext cx="6400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SKU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55264" y="4242816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ЧАСТКА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61104" y="4242816"/>
            <a:ext cx="10972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МЕДІАНА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49824" y="4242816"/>
            <a:ext cx="10972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ГРН/100 Г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93408" y="4242816"/>
            <a:ext cx="49377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ЩО ЦЕ ЗА СМУГА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4425696"/>
            <a:ext cx="1920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spc="-10">
                <a:solidFill>
                  <a:srgbClr val="303A5D"/>
                </a:solidFill>
                <a:latin typeface="Segoe UI"/>
              </a:rPr>
              <a:t>40–90 г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23744" y="4425696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55264" y="4425696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19 %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61104" y="4425696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104 грн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49824" y="4425696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154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93408" y="4425696"/>
            <a:ext cx="4937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spc="-10">
                <a:solidFill>
                  <a:srgbClr val="303A5D"/>
                </a:solidFill>
                <a:latin typeface="Segoe UI"/>
              </a:rPr>
              <a:t>стакани й міні-пачки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93776" y="4695444"/>
            <a:ext cx="10936224" cy="2971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66928" y="4732020"/>
            <a:ext cx="1920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spc="-10">
                <a:solidFill>
                  <a:srgbClr val="303A5D"/>
                </a:solidFill>
                <a:latin typeface="Segoe UI"/>
              </a:rPr>
              <a:t>90–110 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23744" y="4732020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55264" y="4732020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9 %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61104" y="4732020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106 грн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49824" y="4732020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115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93408" y="4732020"/>
            <a:ext cx="4937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spc="-10">
                <a:solidFill>
                  <a:srgbClr val="303A5D"/>
                </a:solidFill>
                <a:latin typeface="Segoe UI"/>
              </a:rPr>
              <a:t>перехідна смуга, мало позицій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" y="5038344"/>
            <a:ext cx="1920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spc="-10">
                <a:solidFill>
                  <a:srgbClr val="303A5D"/>
                </a:solidFill>
                <a:latin typeface="Segoe UI"/>
              </a:rPr>
              <a:t>110–125 г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23744" y="5038344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36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55264" y="5038344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38 %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61104" y="5038344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93 грн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49824" y="5038344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78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93408" y="5038344"/>
            <a:ext cx="4937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spc="-10">
                <a:solidFill>
                  <a:srgbClr val="303A5D"/>
                </a:solidFill>
                <a:latin typeface="Segoe UI"/>
              </a:rPr>
              <a:t>найщільніша смуга ринку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93776" y="5308092"/>
            <a:ext cx="10936224" cy="2971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66928" y="5344668"/>
            <a:ext cx="1920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spc="-10">
                <a:solidFill>
                  <a:srgbClr val="303A5D"/>
                </a:solidFill>
                <a:latin typeface="Segoe UI"/>
              </a:rPr>
              <a:t>125–145 г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523744" y="5344668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27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55264" y="5344668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28 %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61104" y="5344668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112 грн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49824" y="5344668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86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93408" y="5344668"/>
            <a:ext cx="4937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spc="-10">
                <a:solidFill>
                  <a:srgbClr val="303A5D"/>
                </a:solidFill>
                <a:latin typeface="Segoe UI"/>
              </a:rPr>
              <a:t>смуга преміальних лінійок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6928" y="5650992"/>
            <a:ext cx="1920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spc="-10">
                <a:solidFill>
                  <a:srgbClr val="303A5D"/>
                </a:solidFill>
                <a:latin typeface="Segoe UI"/>
              </a:rPr>
              <a:t>145 г +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523744" y="5650992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255264" y="5650992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6 %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261104" y="5650992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201 грн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49824" y="5650992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139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693408" y="5650992"/>
            <a:ext cx="4937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spc="-10">
                <a:solidFill>
                  <a:srgbClr val="303A5D"/>
                </a:solidFill>
                <a:latin typeface="Segoe UI"/>
              </a:rPr>
              <a:t>рисові галушки та нестандарт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66928" y="5961888"/>
            <a:ext cx="5413248" cy="76809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66928" y="5961888"/>
            <a:ext cx="41148" cy="76809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41247" y="6126479"/>
            <a:ext cx="48646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ФОРМАТ І ВАГА НАШИХ SKU — РИНКОВІ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1247" y="6400800"/>
            <a:ext cx="4864608" cy="164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112,5–131 г потрапляє у дві найщільніші смуги: 66 % усіх позицій ринку. Заперечень за форматом немає.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217920" y="5961888"/>
            <a:ext cx="5413248" cy="76809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217920" y="5961888"/>
            <a:ext cx="41148" cy="76809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492240" y="6126479"/>
            <a:ext cx="48646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АЛЕ ЦІНА ЗА ГРАМ — НІ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492240" y="6400800"/>
            <a:ext cx="4864608" cy="164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У цих смугах ринок тримає 78–86 грн/100 г. Наша модель дає 119–127 грн/100 г.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ЦІНОВА КАРТА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Де стоїть ринок і де опиняємося ми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Ринкові якорі й обидві наші розрахункові полиці на одній шкалі. Помаранчеве — ми, темне — медіани сегментів, світле — позиції конкурентів.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25154" y="1664208"/>
            <a:ext cx="1089798" cy="3579876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5154" y="1517904"/>
            <a:ext cx="108979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C4820A"/>
                </a:solidFill>
                <a:latin typeface="Segoe UI"/>
              </a:rPr>
              <a:t>ЦІНОВЕ ВІКНО ПОЛИЦІ  86–124 грн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58768" y="1810512"/>
            <a:ext cx="5486" cy="3433572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93008" y="5280659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5924" y="1810512"/>
            <a:ext cx="5486" cy="3433572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0164" y="5280659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53080" y="1810512"/>
            <a:ext cx="5486" cy="3433572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87320" y="5280659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80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00237" y="1810512"/>
            <a:ext cx="5486" cy="3433572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34477" y="5280659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47393" y="1810512"/>
            <a:ext cx="5486" cy="3433572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81633" y="5280659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160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94549" y="1810512"/>
            <a:ext cx="5486" cy="3433572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28789" y="5280659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200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1867662"/>
            <a:ext cx="318211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Ottogi Yeul Ramen 120 г · найдешевший пакет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58768" y="1879092"/>
            <a:ext cx="1950165" cy="132588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2085" y="1863090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68 грн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2064257"/>
            <a:ext cx="318211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Bibigo рамен із соусом 122 г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58768" y="2075688"/>
            <a:ext cx="2466386" cy="132588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98306" y="2059686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86 грн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2260853"/>
            <a:ext cx="318211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Ottogi · медіана бренду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58768" y="2272284"/>
            <a:ext cx="2552422" cy="132588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84342" y="2256282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89 грн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2457449"/>
            <a:ext cx="318211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 · медіана бренду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58768" y="2468879"/>
            <a:ext cx="2695817" cy="132588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7737" y="2452877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94 грн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2654045"/>
            <a:ext cx="318211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РАМЕН ІЗ СОУСОМ · медіана сегмента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58768" y="2665475"/>
            <a:ext cx="2867890" cy="13258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99810" y="2649473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303A5D"/>
                </a:solidFill>
                <a:latin typeface="Segoe UI"/>
              </a:rPr>
              <a:t>100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2850641"/>
            <a:ext cx="318211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РАМЕН З БУЛЬЙОНОМ · медіана сегмента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58768" y="2862071"/>
            <a:ext cx="2982606" cy="13258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14526" y="2846069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303A5D"/>
                </a:solidFill>
                <a:latin typeface="Segoe UI"/>
              </a:rPr>
              <a:t>104 грн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3047237"/>
            <a:ext cx="318211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МЕДІАНА ВСІЄЇ КАТЕГОРІЇ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58768" y="3058667"/>
            <a:ext cx="3011285" cy="13258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43205" y="3042665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303A5D"/>
                </a:solidFill>
                <a:latin typeface="Segoe UI"/>
              </a:rPr>
              <a:t>105 грн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3243833"/>
            <a:ext cx="318211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 · медіана бренду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58768" y="3255263"/>
            <a:ext cx="3183358" cy="132588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15278" y="3239261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111 грн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3440429"/>
            <a:ext cx="318211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 · медіана бренду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858768" y="3451859"/>
            <a:ext cx="3212037" cy="132588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43957" y="3435857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112 грн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" y="3637025"/>
            <a:ext cx="318211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 Volcano Carbonara 130 г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858768" y="3648455"/>
            <a:ext cx="3269395" cy="132588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01315" y="3632453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114 грн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3833621"/>
            <a:ext cx="318211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 Shin Ramyun 120 г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58768" y="3845051"/>
            <a:ext cx="3355432" cy="132588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87352" y="3829049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117 грн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" y="4030217"/>
            <a:ext cx="318211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Choi’s · окремий конкурент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858768" y="4041647"/>
            <a:ext cx="3584863" cy="132588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16783" y="4025645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125,20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" y="4226813"/>
            <a:ext cx="318211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SIAS · чотири SKU 112,5–113 г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58768" y="4238243"/>
            <a:ext cx="3885418" cy="132588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817338" y="4222241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135,48 грн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6928" y="4423409"/>
            <a:ext cx="318211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 Buldak Carbonara 130 г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858768" y="4434839"/>
            <a:ext cx="4015047" cy="132588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946967" y="4418837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140 грн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" y="4620005"/>
            <a:ext cx="318211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 Toomba 137 г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858768" y="4631435"/>
            <a:ext cx="4273157" cy="132588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05077" y="4615433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149 грн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6928" y="4816601"/>
            <a:ext cx="318211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SIAS · Gouda / Carbonara 123–131 г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858768" y="4828031"/>
            <a:ext cx="4483087" cy="132588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415007" y="4812029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156,32 грн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6928" y="5013197"/>
            <a:ext cx="318211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 Shin Black 130 г · максимум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858768" y="5024627"/>
            <a:ext cx="5879176" cy="132588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811096" y="5008625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205 грн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928" y="5463539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9FA9C4"/>
                </a:solidFill>
                <a:latin typeface="Segoe UI"/>
              </a:rPr>
              <a:t>Шкала — грн за одну пачку, з ПДВ. Медіани сегментів і брендів — по зрізу 18 мереж, 29.09.2026.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66928" y="5705856"/>
            <a:ext cx="3547872" cy="91440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66928" y="5705856"/>
            <a:ext cx="41148" cy="9144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41247" y="5870448"/>
            <a:ext cx="2999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ОБИДВІ ПОЗИЦІЇ — ВИЩЕ ВІКНА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1247" y="6144768"/>
            <a:ext cx="29992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135,48 і 156,32 грн лежать над смугою 86–124 грн, у якій стоїть половина ринку категорії.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315968" y="5705856"/>
            <a:ext cx="3547872" cy="91440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315968" y="5705856"/>
            <a:ext cx="41148" cy="9144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572000" y="5861304"/>
            <a:ext cx="30723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ДЕШЕВШІ ЗА НАС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72000" y="6071616"/>
            <a:ext cx="30723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B53A3A"/>
                </a:solidFill>
                <a:latin typeface="Segoe UI"/>
              </a:rPr>
              <a:t>82 % / 89 %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572000" y="6144768"/>
            <a:ext cx="30723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позицій зрізу. Вище нас — лише 17 і 11 SKU з 96.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065008" y="5705856"/>
            <a:ext cx="3566160" cy="91440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065008" y="5705856"/>
            <a:ext cx="41148" cy="91440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339328" y="5870448"/>
            <a:ext cx="3017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ХТО СТОЇТЬ НА ЦЬОМУ РІВНІ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339328" y="6144768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Buldak Carbonara, Toomba і Shin Black — флагманські лінійки впізнаваних брендів.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ХТО ТРИМАЄ ПОЛИЦЮ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Полиця не порожня — вона зайнята і поділена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Скільки позицій кожного бренду стоїть у кожній мережі. Насиченість кольору пропорційна кількості. Суцільна перевірка каталогів 18 мереж, 29.09.2026.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83664" y="1755648"/>
            <a:ext cx="8412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Ашан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24912" y="1755648"/>
            <a:ext cx="8412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Grono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755648"/>
            <a:ext cx="8412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1755648"/>
            <a:ext cx="8412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48656" y="1755648"/>
            <a:ext cx="8412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«Зараз»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9904" y="1755648"/>
            <a:ext cx="8412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Космос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1152" y="1755648"/>
            <a:ext cx="8412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Таврія 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1755648"/>
            <a:ext cx="8412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13648" y="1755648"/>
            <a:ext cx="8412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«Сільпо»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7776" y="1755648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ВСЬОГО У ЗРІЗІ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2137410"/>
            <a:ext cx="11887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11095" y="2039112"/>
            <a:ext cx="786384" cy="379476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11095" y="211912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14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52344" y="2039112"/>
            <a:ext cx="786384" cy="37947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52344" y="211912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93592" y="2039112"/>
            <a:ext cx="786384" cy="379476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93592" y="211912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34840" y="2039112"/>
            <a:ext cx="786384" cy="37947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211912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76088" y="2039112"/>
            <a:ext cx="786384" cy="37947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76088" y="211912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17336" y="2039112"/>
            <a:ext cx="786384" cy="37947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17336" y="211912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58584" y="2039112"/>
            <a:ext cx="786384" cy="37947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58584" y="211912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99831" y="2039112"/>
            <a:ext cx="786384" cy="37947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99831" y="211912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41080" y="2039112"/>
            <a:ext cx="786384" cy="37947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41080" y="211912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2146554"/>
            <a:ext cx="22494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72 позиції · 11 мереж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2571750"/>
            <a:ext cx="11887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11095" y="2473452"/>
            <a:ext cx="786384" cy="379476"/>
          </a:xfrm>
          <a:prstGeom prst="rect">
            <a:avLst/>
          </a:prstGeom>
          <a:solidFill>
            <a:srgbClr val="1A7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11095" y="255346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52344" y="2473452"/>
            <a:ext cx="786384" cy="37947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52344" y="255346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93592" y="2473452"/>
            <a:ext cx="786384" cy="379476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93592" y="255346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34840" y="2473452"/>
            <a:ext cx="786384" cy="379476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34840" y="255346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76088" y="2473452"/>
            <a:ext cx="786384" cy="37947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76088" y="255346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17336" y="2473452"/>
            <a:ext cx="786384" cy="37947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17336" y="255346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958584" y="2473452"/>
            <a:ext cx="786384" cy="37947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58584" y="255346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99831" y="2473452"/>
            <a:ext cx="786384" cy="37947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99831" y="255346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641080" y="2473452"/>
            <a:ext cx="786384" cy="37947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41080" y="255346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37776" y="2580894"/>
            <a:ext cx="22494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71 позиція · 10 мереж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" y="3006090"/>
            <a:ext cx="11887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911095" y="2907792"/>
            <a:ext cx="786384" cy="379476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911095" y="298780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52344" y="2907792"/>
            <a:ext cx="786384" cy="37947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52344" y="298780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9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593592" y="2907792"/>
            <a:ext cx="786384" cy="37947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593592" y="298780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434840" y="2907792"/>
            <a:ext cx="786384" cy="37947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434840" y="298780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276088" y="2907792"/>
            <a:ext cx="786384" cy="37947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276088" y="298780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117336" y="2907792"/>
            <a:ext cx="786384" cy="37947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117336" y="298780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958584" y="2907792"/>
            <a:ext cx="786384" cy="37947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958584" y="298780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799831" y="2907792"/>
            <a:ext cx="786384" cy="37947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799831" y="298780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641080" y="2907792"/>
            <a:ext cx="786384" cy="37947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641080" y="298780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637776" y="3015234"/>
            <a:ext cx="22494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26 позицій · 5 мереж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66928" y="3440430"/>
            <a:ext cx="11887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911095" y="3342132"/>
            <a:ext cx="786384" cy="37947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911095" y="342214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9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752344" y="3342132"/>
            <a:ext cx="786384" cy="37947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52344" y="342214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593592" y="3342132"/>
            <a:ext cx="786384" cy="37947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593592" y="342214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434840" y="3342132"/>
            <a:ext cx="786384" cy="37947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434840" y="342214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276088" y="3342132"/>
            <a:ext cx="786384" cy="37947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276088" y="342214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117336" y="3342132"/>
            <a:ext cx="786384" cy="37947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117336" y="342214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958584" y="3342132"/>
            <a:ext cx="786384" cy="37947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958584" y="342214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799831" y="3342132"/>
            <a:ext cx="786384" cy="37947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799831" y="342214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641080" y="3342132"/>
            <a:ext cx="786384" cy="37947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641080" y="342214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637776" y="3449574"/>
            <a:ext cx="22494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19 позицій · 5 мереж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66928" y="3874770"/>
            <a:ext cx="11887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O’Food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911095" y="3776472"/>
            <a:ext cx="786384" cy="37947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911095" y="385648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52344" y="3776472"/>
            <a:ext cx="786384" cy="37947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752344" y="385648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593592" y="3776472"/>
            <a:ext cx="786384" cy="37947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593592" y="385648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434840" y="3776472"/>
            <a:ext cx="786384" cy="37947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434840" y="385648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276088" y="3776472"/>
            <a:ext cx="786384" cy="37947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276088" y="385648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17336" y="3776472"/>
            <a:ext cx="786384" cy="37947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117336" y="385648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958584" y="3776472"/>
            <a:ext cx="786384" cy="37947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958584" y="385648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799831" y="3776472"/>
            <a:ext cx="786384" cy="37947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799831" y="385648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641080" y="3776472"/>
            <a:ext cx="786384" cy="37947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641080" y="385648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637776" y="3883914"/>
            <a:ext cx="22494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8 позицій · 2 мережі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66928" y="4309110"/>
            <a:ext cx="11887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Bibigo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911095" y="4210812"/>
            <a:ext cx="786384" cy="37947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911095" y="429082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752344" y="4210812"/>
            <a:ext cx="786384" cy="37947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2752344" y="429082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593592" y="4210812"/>
            <a:ext cx="786384" cy="37947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593592" y="429082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434840" y="4210812"/>
            <a:ext cx="786384" cy="37947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434840" y="429082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276088" y="4210812"/>
            <a:ext cx="786384" cy="37947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276088" y="429082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117336" y="4210812"/>
            <a:ext cx="786384" cy="37947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117336" y="429082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958584" y="4210812"/>
            <a:ext cx="786384" cy="37947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958584" y="429082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7799831" y="4210812"/>
            <a:ext cx="786384" cy="37947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7799831" y="429082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641080" y="4210812"/>
            <a:ext cx="786384" cy="37947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641080" y="429082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637776" y="4318254"/>
            <a:ext cx="22494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4 позиції · 1 мережа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66928" y="4743450"/>
            <a:ext cx="11887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Choi’s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911095" y="4645152"/>
            <a:ext cx="786384" cy="37947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911095" y="472516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2752344" y="4645152"/>
            <a:ext cx="786384" cy="37947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2752344" y="472516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3593592" y="4645152"/>
            <a:ext cx="786384" cy="37947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3593592" y="472516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4434840" y="4645152"/>
            <a:ext cx="786384" cy="37947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4434840" y="472516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276088" y="4645152"/>
            <a:ext cx="786384" cy="37947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276088" y="472516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6117336" y="4645152"/>
            <a:ext cx="786384" cy="37947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117336" y="472516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6958584" y="4645152"/>
            <a:ext cx="786384" cy="37947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6958584" y="472516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7799831" y="4645152"/>
            <a:ext cx="786384" cy="37947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7799831" y="472516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8641080" y="4645152"/>
            <a:ext cx="786384" cy="37947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641080" y="472516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9637776" y="4752594"/>
            <a:ext cx="22494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2 позиції · 1 постачальник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566928" y="4992624"/>
            <a:ext cx="3547872" cy="111556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566928" y="4992624"/>
            <a:ext cx="41148" cy="11155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822960" y="5148072"/>
            <a:ext cx="30723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МЕРЕЖ БЕЗ КАТЕГОРІЇ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822960" y="5358384"/>
            <a:ext cx="30723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1E9EA6"/>
                </a:solidFill>
                <a:latin typeface="Segoe UI"/>
              </a:rPr>
              <a:t>5 із 18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822960" y="5632704"/>
            <a:ext cx="30723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МегаМаркет, Ultramarket, ЕКО,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Епіцентр, «Ідеал» — нуль позицій.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4315968" y="4992624"/>
            <a:ext cx="3547872" cy="111556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4315968" y="4992624"/>
            <a:ext cx="41148" cy="111556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572000" y="5148072"/>
            <a:ext cx="30723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У «СІЛЬПО»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4572000" y="5358384"/>
            <a:ext cx="30723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C4820A"/>
                </a:solidFill>
                <a:latin typeface="Segoe UI"/>
              </a:rPr>
              <a:t>4 SKU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572000" y="5632704"/>
            <a:ext cx="30723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Найбільша мережа країни.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Діапазон входу — 90–199 грн.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8065008" y="4992624"/>
            <a:ext cx="3566160" cy="111556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8065008" y="4992624"/>
            <a:ext cx="41148" cy="11155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8321040" y="5148072"/>
            <a:ext cx="309067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ДВА ЛІДЕРИ ДАЮТЬ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8321040" y="5358384"/>
            <a:ext cx="309067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B53A3A"/>
                </a:solidFill>
                <a:latin typeface="Segoe UI"/>
              </a:rPr>
              <a:t>54 з 96 SKU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8321040" y="5632704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Samyang і Nongshim — у 10–11 мережах.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Нова марка заходить проти них.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566928" y="6254496"/>
            <a:ext cx="11064240" cy="54864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566928" y="6254496"/>
            <a:ext cx="41148" cy="54864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841248" y="6345936"/>
            <a:ext cx="2651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ВИСНОВОК ДЛЯ ДИСТРИБУЦІЇ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841248" y="6547104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Вхід у категорію вже пробитий: імпортер і місце на полиці під Samyang і Nongshim існують. Вільне місце є лише там, де категорії немає зовсім.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КОНКУРЕНТНА ПОЛИЦЯ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Проти чого ми виходимо: ключові позиції ринку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14 позицій, рівновіддалених по ціновій шкалі сегментів 1 і 2 — від найдешевшої до верху полиці. Повний реєстр 96 SKU — в окремому файлі.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064517552101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011679"/>
            <a:ext cx="548640" cy="5486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58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Yeul Ramen дуже гостра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120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68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671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311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880105211438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900" y="2011679"/>
            <a:ext cx="548640" cy="5486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2860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O'Food · Кімчі Рамен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129 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74–80 грн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Зараз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673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313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064843631002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100" y="2011679"/>
            <a:ext cx="548640" cy="54864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8862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Compaghetti локшина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862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110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62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81 грн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675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315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9555050302839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2011679"/>
            <a:ext cx="548640" cy="54864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4864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Bibigo · Стір-фрай Рамен Курка б…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122 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86 грн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585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0225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8801045178226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0356" y="2011679"/>
            <a:ext cx="548640" cy="54864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0774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Stir-Fry Рамен із сиром…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774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130 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774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89 грн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774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587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6227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0880104599990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0556" y="2011679"/>
            <a:ext cx="548640" cy="54864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6776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Середньогостра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776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120 Г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776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67–101 грн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776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Космос · Grono +2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1589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2229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0880104306874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0756" y="2011679"/>
            <a:ext cx="548640" cy="54864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02778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Shin Ramyun Stir Fry зі…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2778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136 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778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96 грн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778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69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309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0064843610093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" y="3794760"/>
            <a:ext cx="548640" cy="54864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6858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З сиром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58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110 Г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8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105 грн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1671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2311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08801073115514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28900" y="3794760"/>
            <a:ext cx="548640" cy="54864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22860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Локшина зі смаком курки…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2860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135 Г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2860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108–169 грн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860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 · Зараз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7673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8313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00648436310685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29100" y="3794760"/>
            <a:ext cx="548640" cy="548640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38862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Volcano Carbonara куряча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8862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130 Г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8862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105–121 грн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862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 · Onde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3675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4315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2" name="Picture 81" descr="00648436101276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29300" y="3794760"/>
            <a:ext cx="548640" cy="548640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54864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Volcano Chicken з курко…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864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140 Г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864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84–123 грн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864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 · Onde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9585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0225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9" name="Picture 88" descr="08801043070362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20356" y="3794760"/>
            <a:ext cx="548640" cy="548640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7077456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Shin Ramyun Tom Yum Том…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077456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123 Г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077456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116–142 грн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077456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5587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6227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6" name="Picture 95" descr="08801073116832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20556" y="3794760"/>
            <a:ext cx="548640" cy="548640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8677656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Tangle зі смаком вершко…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677656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105 Г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677656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78–157 грн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677656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Клас · Onde · Восторг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1589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2229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3" name="Picture 102" descr="08801043060226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620756" y="3794760"/>
            <a:ext cx="548640" cy="548640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10277856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Shin Ramyun Black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277856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130 Г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277856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202–209 грн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277856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66928" y="5541264"/>
            <a:ext cx="5413248" cy="117043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566928" y="5541264"/>
            <a:ext cx="41148" cy="1170432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41247" y="5705855"/>
            <a:ext cx="48646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ЦІНОВИЙ КОРИДОР КАТЕГОРІЇ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41247" y="5980175"/>
            <a:ext cx="48646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Від 68 грн (Ottogi Yeul Ramen 120 г) до 205 грн (Shin Ramyun Black 130 г). Половина позицій — у вікні 86–124 грн, медіана 105 грн. Саме в це вікно покупець порівнює будь-яку нову марку.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217920" y="5541264"/>
            <a:ext cx="5413248" cy="117043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217920" y="5541264"/>
            <a:ext cx="41148" cy="1170432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492240" y="5705855"/>
            <a:ext cx="48646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ДЕ В ЦЬОМУ РЯДУ МИ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492240" y="5980175"/>
            <a:ext cx="48646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135,48 грн — між Buldak Carbonara (140) і Choi’s (125,20). 156,32 грн — між Toomba (149) і Shin Black (205). Це рівень флагманських лінійок брендів, яких покупець уже знає.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ОКРЕМИЙ КОНКУРЕНТ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Choi’s: ринковий орієнтир, окремий продукт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Choi’s Carbonara 131 г — позиція вихідного зрізу 29.09.2026. Це окремий конкурент, а не наш товар SIAS.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70078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" y="176479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37603443508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828800"/>
            <a:ext cx="548640" cy="5486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5800" y="247802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Choi's рамен карбон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77063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B53A3A"/>
                </a:solidFill>
                <a:latin typeface="Segoe UI"/>
              </a:rPr>
              <a:t>131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91693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125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13639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Космос · Таврія 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1700784"/>
            <a:ext cx="2980944" cy="170078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0" y="1700784"/>
            <a:ext cx="41148" cy="170078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42032" y="1856232"/>
            <a:ext cx="25054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РОЗДРІБНА ЦІНА НА ПОЛИЦІ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2032" y="2066544"/>
            <a:ext cx="250545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spc="-10">
                <a:solidFill>
                  <a:srgbClr val="303A5D"/>
                </a:solidFill>
                <a:latin typeface="Segoe UI"/>
              </a:rPr>
              <a:t>125,20 грн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42032" y="2926080"/>
            <a:ext cx="25054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«Таврія В» і «Космос».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96 грн за 100 г.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68112" y="1700784"/>
            <a:ext cx="3108960" cy="170078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68112" y="1700784"/>
            <a:ext cx="41148" cy="170078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24144" y="1856232"/>
            <a:ext cx="263347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НАШ SIAS · GOUDA / CARBONARA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24144" y="2066544"/>
            <a:ext cx="263347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spc="-10">
                <a:solidFill>
                  <a:srgbClr val="B53A3A"/>
                </a:solidFill>
                <a:latin typeface="Segoe UI"/>
              </a:rPr>
              <a:t>156,32 грн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24144" y="2926080"/>
            <a:ext cx="26334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Полиця за моделлю при маржі 15 %.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+24,9 % до ціни конкурента.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78240" y="1700784"/>
            <a:ext cx="2852928" cy="170078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778240" y="1700784"/>
            <a:ext cx="41148" cy="170078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34272" y="1856232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СС ДЛЯ ПАРИТЕТУ 125,20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4272" y="2066544"/>
            <a:ext cx="23774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spc="-10">
                <a:solidFill>
                  <a:srgbClr val="C4820A"/>
                </a:solidFill>
                <a:latin typeface="Segoe UI"/>
              </a:rPr>
              <a:t>53,66 грн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34272" y="29260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Замість 66,99 грн.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Це мінус 19,9 % до собівартості.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3712463"/>
            <a:ext cx="36576" cy="1737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3721607"/>
            <a:ext cx="6400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>
                <a:solidFill>
                  <a:srgbClr val="303A5D"/>
                </a:solidFill>
                <a:latin typeface="Segoe UI"/>
              </a:rPr>
              <a:t>ЩО З ЦЬОГО МОЖНА І ЧОГО НЕ МОЖНА ВИВЕСТИ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3950207"/>
            <a:ext cx="3547872" cy="21031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3950207"/>
            <a:ext cx="41148" cy="210312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7" y="4114799"/>
            <a:ext cx="2999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 · ЦЕ ПОРІВНЯННЯ РІЗНИХ ПРОДУКТІВ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7" y="4389119"/>
            <a:ext cx="2999232" cy="1499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Choi’s Carbonara коштує 125,20 грн у вихідному зрізі. Наші SIAS Gouda / Carbonara — 156,32 грн за моделлю, тобто на 24,9 % дорожче.</a:t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/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Для паритету полиці 125,20 грн модель потребує СС 53,66 грн. Це ціновий сценарій, а не ціна закупівлі конкурента.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15968" y="3950207"/>
            <a:ext cx="3547872" cy="21031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15968" y="3950207"/>
            <a:ext cx="41148" cy="21031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90288" y="4114799"/>
            <a:ext cx="2999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 · ЩО ПЕРЕВІРИТИ ДЛЯ SIAS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90288" y="4389119"/>
            <a:ext cx="2999232" cy="1499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Для наших шести SKU потрібно підтвердити:</a:t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/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· склад та інструкції приготування;</a:t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· що саме входить у собівартість — товар і всі витрати;</a:t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· умови поставки й канал продажу;</a:t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· підтримку запуску і попит за нашою ціною.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65008" y="3950207"/>
            <a:ext cx="3566160" cy="21031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65008" y="3950207"/>
            <a:ext cx="41148" cy="21031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39328" y="4114799"/>
            <a:ext cx="3017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 · МЕЖА ВИСНОВКУ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39328" y="4389119"/>
            <a:ext cx="3017520" cy="1499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Ціна Choi’s не розкриває його собівартості, бонусу мережі чи маржі.</a:t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/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З неї не можна вивести закупівельну ціну SIAS, спільного імпортера або доступність ексклюзиву для нашого продукту.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6327648"/>
            <a:ext cx="11064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9FA9C4"/>
                </a:solidFill>
                <a:latin typeface="Segoe UI"/>
              </a:rPr>
              <a:t>Джерело: каталоги tavriav.zakaz.ua і cosmos.zakaz.ua, позиція «Локшина Choi’s рамен карбон 131 г», 125,20 грн.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НАША ЛІНІЙКА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Шість SKU SIAS: назви, вага та розрахункова полиця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Усі позиції — рамен у пакеті за таблицею товарів. Пріоритет запуску не можна визначити лише за смаком і ціною.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19072"/>
            <a:ext cx="25603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SKU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3824" y="1719072"/>
            <a:ext cx="8229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ВАГА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8224" y="1719072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СС, грн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75504" y="1719072"/>
            <a:ext cx="14630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ЦІНА ПАРТНЕРУ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9984" y="1719072"/>
            <a:ext cx="1371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ПОЛИЦЯ З ПДВ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4" y="1719072"/>
            <a:ext cx="10972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ГРН/100 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73184" y="1719072"/>
            <a:ext cx="215798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РИНКОВИЙ ОРІЄНТИР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901952"/>
            <a:ext cx="2560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-10">
                <a:solidFill>
                  <a:srgbClr val="303A5D"/>
                </a:solidFill>
                <a:latin typeface="Segoe UI"/>
              </a:rPr>
              <a:t>Spicy Flavor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63824" y="1901952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spc="-10">
                <a:solidFill>
                  <a:srgbClr val="717890"/>
                </a:solidFill>
                <a:latin typeface="Segoe UI"/>
              </a:rPr>
              <a:t>112,5 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8224" y="19019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spc="-10">
                <a:solidFill>
                  <a:srgbClr val="717890"/>
                </a:solidFill>
                <a:latin typeface="Segoe UI"/>
              </a:rPr>
              <a:t>58,06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5504" y="1901952"/>
            <a:ext cx="14630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spc="-10">
                <a:solidFill>
                  <a:srgbClr val="717890"/>
                </a:solidFill>
                <a:latin typeface="Segoe UI"/>
              </a:rPr>
              <a:t>96,77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9984" y="1901952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spc="-10">
                <a:solidFill>
                  <a:srgbClr val="717890"/>
                </a:solidFill>
                <a:latin typeface="Segoe UI"/>
              </a:rPr>
              <a:t>135,48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3024" y="1901952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73184" y="1901952"/>
            <a:ext cx="21579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-10">
                <a:solidFill>
                  <a:srgbClr val="303A5D"/>
                </a:solidFill>
                <a:latin typeface="Segoe UI"/>
              </a:rPr>
              <a:t>Ottogi Jin 120 г — 84–93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76" y="2231136"/>
            <a:ext cx="10936224" cy="35661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2267712"/>
            <a:ext cx="2560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-10">
                <a:solidFill>
                  <a:srgbClr val="303A5D"/>
                </a:solidFill>
                <a:latin typeface="Segoe UI"/>
              </a:rPr>
              <a:t>Beef Flavor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63824" y="2267712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spc="-10">
                <a:solidFill>
                  <a:srgbClr val="717890"/>
                </a:solidFill>
                <a:latin typeface="Segoe UI"/>
              </a:rPr>
              <a:t>113 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78224" y="226771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spc="-10">
                <a:solidFill>
                  <a:srgbClr val="717890"/>
                </a:solidFill>
                <a:latin typeface="Segoe UI"/>
              </a:rPr>
              <a:t>58,06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75504" y="2267712"/>
            <a:ext cx="14630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spc="-10">
                <a:solidFill>
                  <a:srgbClr val="717890"/>
                </a:solidFill>
                <a:latin typeface="Segoe UI"/>
              </a:rPr>
              <a:t>96,77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9984" y="2267712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spc="-10">
                <a:solidFill>
                  <a:srgbClr val="717890"/>
                </a:solidFill>
                <a:latin typeface="Segoe UI"/>
              </a:rPr>
              <a:t>135,48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3024" y="2267712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73184" y="2267712"/>
            <a:ext cx="21579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-10">
                <a:solidFill>
                  <a:srgbClr val="303A5D"/>
                </a:solidFill>
                <a:latin typeface="Segoe UI"/>
              </a:rPr>
              <a:t>Nongshim Shin 120 г — 117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2633472"/>
            <a:ext cx="2560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-10">
                <a:solidFill>
                  <a:srgbClr val="303A5D"/>
                </a:solidFill>
                <a:latin typeface="Segoe UI"/>
              </a:rPr>
              <a:t>Chicken Flavor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63824" y="2633472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spc="-10">
                <a:solidFill>
                  <a:srgbClr val="717890"/>
                </a:solidFill>
                <a:latin typeface="Segoe UI"/>
              </a:rPr>
              <a:t>113 г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78224" y="263347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spc="-10">
                <a:solidFill>
                  <a:srgbClr val="717890"/>
                </a:solidFill>
                <a:latin typeface="Segoe UI"/>
              </a:rPr>
              <a:t>58,06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75504" y="2633472"/>
            <a:ext cx="14630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spc="-10">
                <a:solidFill>
                  <a:srgbClr val="717890"/>
                </a:solidFill>
                <a:latin typeface="Segoe UI"/>
              </a:rPr>
              <a:t>96,77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9984" y="2633472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spc="-10">
                <a:solidFill>
                  <a:srgbClr val="717890"/>
                </a:solidFill>
                <a:latin typeface="Segoe UI"/>
              </a:rPr>
              <a:t>135,48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93024" y="2633472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73184" y="2633472"/>
            <a:ext cx="21579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-10">
                <a:solidFill>
                  <a:srgbClr val="303A5D"/>
                </a:solidFill>
                <a:latin typeface="Segoe UI"/>
              </a:rPr>
              <a:t>Ottogi Yeul 120 г — 68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3776" y="2962656"/>
            <a:ext cx="10936224" cy="35661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2999232"/>
            <a:ext cx="2560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-10">
                <a:solidFill>
                  <a:srgbClr val="303A5D"/>
                </a:solidFill>
                <a:latin typeface="Segoe UI"/>
              </a:rPr>
              <a:t>Vegetable Flavor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63824" y="2999232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spc="-10">
                <a:solidFill>
                  <a:srgbClr val="717890"/>
                </a:solidFill>
                <a:latin typeface="Segoe UI"/>
              </a:rPr>
              <a:t>113 г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78224" y="299923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spc="-10">
                <a:solidFill>
                  <a:srgbClr val="717890"/>
                </a:solidFill>
                <a:latin typeface="Segoe UI"/>
              </a:rPr>
              <a:t>58,06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75504" y="2999232"/>
            <a:ext cx="14630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spc="-10">
                <a:solidFill>
                  <a:srgbClr val="717890"/>
                </a:solidFill>
                <a:latin typeface="Segoe UI"/>
              </a:rPr>
              <a:t>96,77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9984" y="2999232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spc="-10">
                <a:solidFill>
                  <a:srgbClr val="717890"/>
                </a:solidFill>
                <a:latin typeface="Segoe UI"/>
              </a:rPr>
              <a:t>135,48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93024" y="2999232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73184" y="2999232"/>
            <a:ext cx="21579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-10">
                <a:solidFill>
                  <a:srgbClr val="303A5D"/>
                </a:solidFill>
                <a:latin typeface="Segoe UI"/>
              </a:rPr>
              <a:t>Soon Veggie 112 г — 88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3364991"/>
            <a:ext cx="2560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-10">
                <a:solidFill>
                  <a:srgbClr val="303A5D"/>
                </a:solidFill>
                <a:latin typeface="Segoe UI"/>
              </a:rPr>
              <a:t>Carbonara Spicy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63824" y="3364991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spc="-10">
                <a:solidFill>
                  <a:srgbClr val="717890"/>
                </a:solidFill>
                <a:latin typeface="Segoe UI"/>
              </a:rPr>
              <a:t>131 г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78224" y="3364991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spc="-10">
                <a:solidFill>
                  <a:srgbClr val="717890"/>
                </a:solidFill>
                <a:latin typeface="Segoe UI"/>
              </a:rPr>
              <a:t>66,99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75504" y="3364991"/>
            <a:ext cx="14630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spc="-10">
                <a:solidFill>
                  <a:srgbClr val="717890"/>
                </a:solidFill>
                <a:latin typeface="Segoe UI"/>
              </a:rPr>
              <a:t>111,66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29984" y="3364991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spc="-10">
                <a:solidFill>
                  <a:srgbClr val="717890"/>
                </a:solidFill>
                <a:latin typeface="Segoe UI"/>
              </a:rPr>
              <a:t>156,32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93024" y="3364991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spc="-10">
                <a:solidFill>
                  <a:srgbClr val="717890"/>
                </a:solidFill>
                <a:latin typeface="Segoe UI"/>
              </a:rPr>
              <a:t>119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73184" y="3364991"/>
            <a:ext cx="21579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-10">
                <a:solidFill>
                  <a:srgbClr val="303A5D"/>
                </a:solidFill>
                <a:latin typeface="Segoe UI"/>
              </a:rPr>
              <a:t>Paldo Carbonara 130 г — 114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3776" y="3694176"/>
            <a:ext cx="10936224" cy="35661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6928" y="3730752"/>
            <a:ext cx="2560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-10">
                <a:solidFill>
                  <a:srgbClr val="303A5D"/>
                </a:solidFill>
                <a:latin typeface="Segoe UI"/>
              </a:rPr>
              <a:t>Gouda Cheese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63824" y="3730752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spc="-10">
                <a:solidFill>
                  <a:srgbClr val="717890"/>
                </a:solidFill>
                <a:latin typeface="Segoe UI"/>
              </a:rPr>
              <a:t>123 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78224" y="373075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spc="-10">
                <a:solidFill>
                  <a:srgbClr val="717890"/>
                </a:solidFill>
                <a:latin typeface="Segoe UI"/>
              </a:rPr>
              <a:t>66,99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75504" y="3730752"/>
            <a:ext cx="14630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spc="-10">
                <a:solidFill>
                  <a:srgbClr val="717890"/>
                </a:solidFill>
                <a:latin typeface="Segoe UI"/>
              </a:rPr>
              <a:t>111,66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29984" y="3730752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spc="-10">
                <a:solidFill>
                  <a:srgbClr val="717890"/>
                </a:solidFill>
                <a:latin typeface="Segoe UI"/>
              </a:rPr>
              <a:t>156,32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93024" y="3730752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spc="-10">
                <a:solidFill>
                  <a:srgbClr val="717890"/>
                </a:solidFill>
                <a:latin typeface="Segoe UI"/>
              </a:rPr>
              <a:t>127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73184" y="3730752"/>
            <a:ext cx="21579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-10">
                <a:solidFill>
                  <a:srgbClr val="303A5D"/>
                </a:solidFill>
                <a:latin typeface="Segoe UI"/>
              </a:rPr>
              <a:t>Bibigo Cheese 122 г — 86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66928" y="4224528"/>
            <a:ext cx="3547872" cy="131673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66928" y="4224528"/>
            <a:ext cx="41148" cy="131673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1247" y="4389120"/>
            <a:ext cx="2999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ЩО ПІДТВЕРДЖЕНО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1247" y="4663440"/>
            <a:ext cx="2999232" cy="71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Назви, вага і формат усіх шести SKU — за таблицею товарів SIAS. Пакет 112,5–131 г потрапляє у дві найщільніші вагові смуги ринку.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315968" y="4224528"/>
            <a:ext cx="3547872" cy="131673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315968" y="4224528"/>
            <a:ext cx="41148" cy="1316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90288" y="4389120"/>
            <a:ext cx="2999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ЩО НЕ ПІДТВЕРДЖЕНО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90288" y="4663440"/>
            <a:ext cx="2999232" cy="71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Тип приготування, рецептура й належність до сегмента 1 чи 2. Назва смаку сегмент не визначає — потрібні специфікації.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065008" y="4224528"/>
            <a:ext cx="3566160" cy="131673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065008" y="4224528"/>
            <a:ext cx="41148" cy="1316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339328" y="4389120"/>
            <a:ext cx="3017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ЧОМУ ЦЕ ВАЖЛИВО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339328" y="4663440"/>
            <a:ext cx="3017520" cy="71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Від сегмента залежить, із чим порівнює покупець: медіана 104 грн чи 100 грн. Тому ціну зіставлено з медіаною всієї категорії — 105 грн.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66928" y="5687568"/>
            <a:ext cx="11064240" cy="822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66928" y="5687568"/>
            <a:ext cx="41148" cy="8229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41247" y="5852159"/>
            <a:ext cx="10515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ЄДИНА ВІДМІННІСТЬ МІЖ ДВОМА ГРУПАМИ — СОБІВАРТІСТЬ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41247" y="6126479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Чотири SKU по 112,5–113 г мають СС 58,06 грн і виходять на полицю 135,48 грн. Gouda 123 г і Carbonara 131 г мають СС 66,99 грн і виходять на 156,32 грн. Різниця в полиці — 20,84 грн, і вона цілком пояснюється різницею в собівартості, а не смаком чи вагою.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ЗВІДКИ 135,48 І 156,32 ГРН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Розрахунок від собівартості до полиці, крок за кроком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Формула — з фінансової моделі SIAS. Цільова маржа 15 %, бонус мережі 25 %, націнка мережі 1,40, курс 51,20 грн/€.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00784"/>
            <a:ext cx="51206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КРОК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1700784"/>
            <a:ext cx="3474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ЩО РАХУЄМО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1700784"/>
            <a:ext cx="28346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ДІЯ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88352" y="1700784"/>
            <a:ext cx="2377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ЧОТИРИ SKU · 112,5–113 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02368" y="1700784"/>
            <a:ext cx="170078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GOUDA · CARBONARA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883664"/>
            <a:ext cx="5120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1883664"/>
            <a:ext cx="3474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Собівартість в Україні, EUR/уп.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1883664"/>
            <a:ext cx="2834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вхідні дані моделі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88352" y="1883664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1,134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02368" y="1883664"/>
            <a:ext cx="17007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1,308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3776" y="2144268"/>
            <a:ext cx="10936224" cy="28803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2180844"/>
            <a:ext cx="5120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2180844"/>
            <a:ext cx="3474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Курс, грн/EUR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2180844"/>
            <a:ext cx="2834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вхідні дані моделі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88352" y="2180844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51,20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02368" y="2180844"/>
            <a:ext cx="17007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51,20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2478024"/>
            <a:ext cx="5120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2478024"/>
            <a:ext cx="3474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Собівартість в Україні, грн/уп.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2478024"/>
            <a:ext cx="2834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крок 1 × крок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88352" y="2478024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58,06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02368" y="2478024"/>
            <a:ext cx="17007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66,99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" y="2738628"/>
            <a:ext cx="10936224" cy="28803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2775204"/>
            <a:ext cx="5120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" y="2775204"/>
            <a:ext cx="3474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Бонус мережі, 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2775204"/>
            <a:ext cx="2834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умова моделі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88352" y="2775204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25 %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02368" y="2775204"/>
            <a:ext cx="17007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25 %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3072384"/>
            <a:ext cx="5120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" y="3072384"/>
            <a:ext cx="3474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Наша цільова маржа, 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53712" y="3072384"/>
            <a:ext cx="2834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умова моделі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88352" y="3072384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15 %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02368" y="3072384"/>
            <a:ext cx="17007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15 %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3776" y="3332988"/>
            <a:ext cx="10936224" cy="28803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" y="3369564"/>
            <a:ext cx="5120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" y="3369564"/>
            <a:ext cx="3474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Частка ціни для собівартості, 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3369564"/>
            <a:ext cx="2834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100 % − крок 4 − крок 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88352" y="3369564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60 %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02368" y="3369564"/>
            <a:ext cx="17007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60 %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3666744"/>
            <a:ext cx="5120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8992" y="3666744"/>
            <a:ext cx="3474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Ціна партнеру з ПДВ, грн/уп.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53712" y="3666744"/>
            <a:ext cx="2834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крок 3 ÷ крок 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88352" y="3666744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96,77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02368" y="3666744"/>
            <a:ext cx="17007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111,66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93776" y="3927348"/>
            <a:ext cx="10936224" cy="28803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66928" y="3963924"/>
            <a:ext cx="5120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8992" y="3963924"/>
            <a:ext cx="3474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Бонус мережі, грн/уп.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53712" y="3963924"/>
            <a:ext cx="2834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крок 7 × крок 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88352" y="3963924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24,19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02368" y="3963924"/>
            <a:ext cx="17007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27,92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" y="4261104"/>
            <a:ext cx="5120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78992" y="4261104"/>
            <a:ext cx="3474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Прибуток після бонусу, грн/уп.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53712" y="4261104"/>
            <a:ext cx="2834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крок 7 − крок 3 − крок 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88352" y="4261104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14,52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802368" y="4261104"/>
            <a:ext cx="17007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16,75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93776" y="4521708"/>
            <a:ext cx="10936224" cy="28803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66928" y="4558284"/>
            <a:ext cx="5120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10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78992" y="4558284"/>
            <a:ext cx="3474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Перевірка маржі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53712" y="4558284"/>
            <a:ext cx="2834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крок 9 ÷ крок 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88352" y="4558284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15,0 %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802368" y="4558284"/>
            <a:ext cx="17007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15,0 %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6928" y="4855464"/>
            <a:ext cx="5120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11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78992" y="4855464"/>
            <a:ext cx="3474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Націнка мережі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53712" y="4855464"/>
            <a:ext cx="2834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умова моделі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88352" y="4855464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× 1,40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802368" y="4855464"/>
            <a:ext cx="17007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× 1,40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93776" y="5116068"/>
            <a:ext cx="10936224" cy="28803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66928" y="5152644"/>
            <a:ext cx="5120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78992" y="5152644"/>
            <a:ext cx="3474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Полиця з ПДВ, грн/уп.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53712" y="5152644"/>
            <a:ext cx="2834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крок 7 × крок 11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88352" y="5152644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135,48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802368" y="5152644"/>
            <a:ext cx="17007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156,32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66928" y="5376672"/>
            <a:ext cx="11064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9FA9C4"/>
                </a:solidFill>
                <a:latin typeface="Segoe UI"/>
              </a:rPr>
              <a:t>Ціна партнеру вже з ПДВ — так закладено в моделі; окремого множення на 1,20 немає.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66928" y="5632704"/>
            <a:ext cx="5413248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66928" y="5632704"/>
            <a:ext cx="41148" cy="107899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41247" y="5797296"/>
            <a:ext cx="48646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ЩО В ЦЬОМУ РОЗРАХУНКУ ЗАФІКСОВАНО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1247" y="6071616"/>
            <a:ext cx="4864608" cy="475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Маржа 15 %, бонус 25 % і націнка 1,40 — умови моделі, а не змінні. За них полиця залежить тільки від собівартості: кожна гривня СС дає 2,33 грн на полиці.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217920" y="5632704"/>
            <a:ext cx="5413248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217920" y="5632704"/>
            <a:ext cx="41148" cy="107899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492240" y="5797296"/>
            <a:ext cx="48646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ЩО ПОТРЕБУЄ ПЕРЕВІРКИ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92240" y="6071616"/>
            <a:ext cx="4864608" cy="475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Склад собівартості: чи входять у неї всі витрати — фрахт, оформлення, гроші — чи лише товар. Від цієї відповіді залежить, наскільки реальна полиця 135,48 і 156,32 грн.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ФІНМОДЕЛЬ ПРОТИ РИНКУ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Наші шість SKU проти ринкових орієнтирів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Вертикальні лінії — ринкові орієнтири. Належність наших SKU до сегментів не підтверджено, тому орієнтири показано всі.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93008" y="2212848"/>
            <a:ext cx="5486" cy="239572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27248" y="4645152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17008" y="2212848"/>
            <a:ext cx="5486" cy="239572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1247" y="4645152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40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41007" y="2212848"/>
            <a:ext cx="5486" cy="239572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5247" y="4645152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80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65008" y="2212848"/>
            <a:ext cx="5486" cy="239572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99248" y="4645152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89007" y="2212848"/>
            <a:ext cx="5486" cy="239572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23247" y="4645152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160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98435" y="2048255"/>
            <a:ext cx="9144" cy="2542032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34327" y="1975104"/>
            <a:ext cx="17373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717890"/>
                </a:solidFill>
                <a:latin typeface="Segoe UI"/>
              </a:rPr>
              <a:t>медіана із соусом 100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0835" y="2048255"/>
            <a:ext cx="9144" cy="2542032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6727" y="1810512"/>
            <a:ext cx="17373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717890"/>
                </a:solidFill>
                <a:latin typeface="Segoe UI"/>
              </a:rPr>
              <a:t>медіана з бульйоном 104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31836" y="2048255"/>
            <a:ext cx="9144" cy="2542032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67728" y="1645919"/>
            <a:ext cx="17373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717890"/>
                </a:solidFill>
                <a:latin typeface="Segoe UI"/>
              </a:rPr>
              <a:t>Paldo Carbonara 114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50935" y="2048255"/>
            <a:ext cx="9144" cy="2542032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86828" y="1481328"/>
            <a:ext cx="17373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717890"/>
                </a:solidFill>
                <a:latin typeface="Segoe UI"/>
              </a:rPr>
              <a:t>Choi’s · конкурент 125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2363724"/>
            <a:ext cx="28163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Spicy Flavor 112,5 г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93008" y="2327148"/>
            <a:ext cx="5161787" cy="228600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27947" y="2359152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135,48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2747772"/>
            <a:ext cx="28163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Beef Flavor 113 г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93008" y="2711196"/>
            <a:ext cx="5161787" cy="228600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27947" y="2743200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135,48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3131820"/>
            <a:ext cx="28163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Chicken Flavor 113 г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93008" y="3095244"/>
            <a:ext cx="5161787" cy="228600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27947" y="3127248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135,48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3515868"/>
            <a:ext cx="28163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Vegetable Flavor 113 г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93008" y="3479291"/>
            <a:ext cx="5161787" cy="228600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27947" y="3511296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135,48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3899915"/>
            <a:ext cx="28163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Carbonara Spicy 131 г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93008" y="3863339"/>
            <a:ext cx="5955791" cy="228600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21951" y="3895344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156,32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4283964"/>
            <a:ext cx="28163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Gouda Cheese 123 г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93008" y="4247388"/>
            <a:ext cx="5955791" cy="228600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21951" y="4279392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156,32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4791456"/>
            <a:ext cx="36576" cy="1737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" y="4800600"/>
            <a:ext cx="6400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>
                <a:solidFill>
                  <a:srgbClr val="303A5D"/>
                </a:solidFill>
                <a:latin typeface="Segoe UI"/>
              </a:rPr>
              <a:t>ЯКА СОБІВАРТІСТЬ ПОТРІБНА ПІД ЦІЛЬОВУ ПОЛИЦЮ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0" y="4800600"/>
            <a:ext cx="40233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1" spc="-10">
                <a:solidFill>
                  <a:srgbClr val="C4820A"/>
                </a:solidFill>
                <a:latin typeface="Segoe UI"/>
              </a:rPr>
              <a:t>при маржі 15 % і бонусі мережі 25 %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" y="5102352"/>
            <a:ext cx="2048256" cy="8961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5212080"/>
            <a:ext cx="171907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100 грн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5504688"/>
            <a:ext cx="17190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медіана із соусом</a:t>
            </a:r>
          </a:p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потрібна СС 42,86 грн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15184" y="5358384"/>
            <a:ext cx="1828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→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98064" y="5102352"/>
            <a:ext cx="2048256" cy="8961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962656" y="5212080"/>
            <a:ext cx="171907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105 грн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62656" y="5504688"/>
            <a:ext cx="17190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медіана категорії</a:t>
            </a:r>
          </a:p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потрібна СС 45,00 грн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46320" y="5358384"/>
            <a:ext cx="1828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→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0" y="5102352"/>
            <a:ext cx="2048256" cy="8961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193792" y="5212080"/>
            <a:ext cx="171907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114 грн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93792" y="5504688"/>
            <a:ext cx="17190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паритет з Paldo</a:t>
            </a:r>
          </a:p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потрібна СС 48,86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77456" y="5358384"/>
            <a:ext cx="1828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→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260336" y="5102352"/>
            <a:ext cx="2048256" cy="8961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424928" y="5212080"/>
            <a:ext cx="171907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125 грн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24928" y="5504688"/>
            <a:ext cx="17190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конкурент Choi’s</a:t>
            </a:r>
          </a:p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потрібна СС 53,66 грн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08592" y="5358384"/>
            <a:ext cx="1828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→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491472" y="5102352"/>
            <a:ext cx="2048256" cy="8961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656064" y="5212080"/>
            <a:ext cx="171907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135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56064" y="5504688"/>
            <a:ext cx="17190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наша чотирка</a:t>
            </a:r>
          </a:p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СС 58,06 грн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66928" y="6016752"/>
            <a:ext cx="11064240" cy="78638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66928" y="6016752"/>
            <a:ext cx="41148" cy="78638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41247" y="6181344"/>
            <a:ext cx="10515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ЩО ПОКАЗУЄ ГРАФІК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41247" y="6455664"/>
            <a:ext cx="10515600" cy="182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Усі шість позицій стоять правіше за всі чотири ринкові орієнтири.</a:t>
            </a:r>
          </a:p>
          <a:p>
            <a:pPr algn="l">
              <a:lnSpc>
                <a:spcPct val="142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Щоб стати на медіану категорії, СС чотирьох SKU має впасти з 58,06 до 45,00 грн (−22,5 %), а пари — з 66,99 до 45,00 грн (−32,8 %).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ЦІНОВІ СЦЕНАРІЇ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Три варіанти ціни і що кожен дає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Розрахунок за поточної собівартості 58,06 і 66,99 грн. Маржа 15 % зберігається лише у базовому сценарії.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64208"/>
            <a:ext cx="3547872" cy="213969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41148" cy="213969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810512"/>
            <a:ext cx="303580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B53A3A"/>
                </a:solidFill>
                <a:latin typeface="Segoe UI"/>
              </a:rPr>
              <a:t>АГРЕСИВНИЙ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93392"/>
            <a:ext cx="30358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303A5D"/>
                </a:solidFill>
                <a:latin typeface="Segoe UI"/>
              </a:rPr>
              <a:t>Зайти ціною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322576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ЧОТИРИ SKU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468880"/>
            <a:ext cx="14264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spc="-10">
                <a:solidFill>
                  <a:srgbClr val="B53A3A"/>
                </a:solidFill>
                <a:latin typeface="Segoe UI"/>
              </a:rPr>
              <a:t>95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40864" y="2322576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GOUDA / CARBONARA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40864" y="2468880"/>
            <a:ext cx="15179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spc="-10">
                <a:solidFill>
                  <a:srgbClr val="B53A3A"/>
                </a:solidFill>
                <a:latin typeface="Segoe UI"/>
              </a:rPr>
              <a:t>100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816352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МАРЖА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962656"/>
            <a:ext cx="14264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303A5D"/>
                </a:solidFill>
                <a:latin typeface="Segoe UI"/>
              </a:rPr>
              <a:t>−10,6 %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40864" y="2816352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МАРЖА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40864" y="2962656"/>
            <a:ext cx="1517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303A5D"/>
                </a:solidFill>
                <a:latin typeface="Segoe UI"/>
              </a:rPr>
              <a:t>−18,8 %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273552"/>
            <a:ext cx="3035808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Полиця в ринку, але модель іде у збиток за поточної СС.</a:t>
            </a:r>
          </a:p>
          <a:p>
            <a:pPr algn="l">
              <a:lnSpc>
                <a:spcPct val="138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Для 15 % потрібна СС 40,71 і 42,86 грн.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15968" y="1664208"/>
            <a:ext cx="3547872" cy="213969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15968" y="1664208"/>
            <a:ext cx="41148" cy="213969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1810512"/>
            <a:ext cx="303580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БАЗОВИЙ РОЗРАХУНОК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1993392"/>
            <a:ext cx="30358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303A5D"/>
                </a:solidFill>
                <a:latin typeface="Segoe UI"/>
              </a:rPr>
              <a:t>Маржа 15 %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2322576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ЧОТИРИ SKU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2468880"/>
            <a:ext cx="14264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spc="-10">
                <a:solidFill>
                  <a:srgbClr val="C4820A"/>
                </a:solidFill>
                <a:latin typeface="Segoe UI"/>
              </a:rPr>
              <a:t>135,48 грн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9904" y="2322576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GOUDA / CARBONARA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9904" y="2468880"/>
            <a:ext cx="15179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spc="-10">
                <a:solidFill>
                  <a:srgbClr val="C4820A"/>
                </a:solidFill>
                <a:latin typeface="Segoe UI"/>
              </a:rPr>
              <a:t>156,32 грн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2816352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МАРЖА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2962656"/>
            <a:ext cx="14264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303A5D"/>
                </a:solidFill>
                <a:latin typeface="Segoe UI"/>
              </a:rPr>
              <a:t>15,0 %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9904" y="2816352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МАРЖА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9904" y="2962656"/>
            <a:ext cx="1517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303A5D"/>
                </a:solidFill>
                <a:latin typeface="Segoe UI"/>
              </a:rPr>
              <a:t>15,0 %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3273552"/>
            <a:ext cx="3035808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Єдиний сценарій, що дає цільову маржу.</a:t>
            </a:r>
          </a:p>
          <a:p>
            <a:pPr algn="l">
              <a:lnSpc>
                <a:spcPct val="138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Але це +29,0 % і +48,9 % до медіани категорії 105 грн.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65008" y="1664208"/>
            <a:ext cx="3547872" cy="213969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65008" y="1664208"/>
            <a:ext cx="41148" cy="213969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1810512"/>
            <a:ext cx="303580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1E9EA6"/>
                </a:solidFill>
                <a:latin typeface="Segoe UI"/>
              </a:rPr>
              <a:t>ПРОМІЖНИЙ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1993392"/>
            <a:ext cx="30358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303A5D"/>
                </a:solidFill>
                <a:latin typeface="Segoe UI"/>
              </a:rPr>
              <a:t>Компроміс за ціною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2322576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ЧОТИРИ SKU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2468880"/>
            <a:ext cx="14264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spc="-10">
                <a:solidFill>
                  <a:srgbClr val="1E9EA6"/>
                </a:solidFill>
                <a:latin typeface="Segoe UI"/>
              </a:rPr>
              <a:t>115 грн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38944" y="2322576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GOUDA / CARBONARA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38944" y="2468880"/>
            <a:ext cx="15179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spc="-10">
                <a:solidFill>
                  <a:srgbClr val="1E9EA6"/>
                </a:solidFill>
                <a:latin typeface="Segoe UI"/>
              </a:rPr>
              <a:t>135 грн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2816352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МАРЖА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2962656"/>
            <a:ext cx="14264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303A5D"/>
                </a:solidFill>
                <a:latin typeface="Segoe UI"/>
              </a:rPr>
              <a:t>4,3 %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38944" y="2816352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МАРЖА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38944" y="2962656"/>
            <a:ext cx="1517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303A5D"/>
                </a:solidFill>
                <a:latin typeface="Segoe UI"/>
              </a:rPr>
              <a:t>5,5 %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3273552"/>
            <a:ext cx="3035808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Ближче до ринку, але цільових 15 % не дає.</a:t>
            </a:r>
          </a:p>
          <a:p>
            <a:pPr algn="l">
              <a:lnSpc>
                <a:spcPct val="138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Для 15 % потрібна СС 49,29 і 57,86 грн.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" y="4041648"/>
            <a:ext cx="36576" cy="1737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" y="4050791"/>
            <a:ext cx="6400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>
                <a:solidFill>
                  <a:srgbClr val="303A5D"/>
                </a:solidFill>
                <a:latin typeface="Segoe UI"/>
              </a:rPr>
              <a:t>ЩО ПОТРІБНО ВІД ПОСТАЧАЛЬНИКА ПІД КОЖНУ ЦІЛЬОВУ ПОЛИЦЮ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0" y="4050791"/>
            <a:ext cx="40233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1" spc="-10">
                <a:solidFill>
                  <a:srgbClr val="C4820A"/>
                </a:solidFill>
                <a:latin typeface="Segoe UI"/>
              </a:rPr>
              <a:t>собівартість з ПДВ, грн за пачку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" y="4279392"/>
            <a:ext cx="28346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ЦІЛЬОВА ПОЛИЦЯ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01568" y="4279392"/>
            <a:ext cx="17373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ЦІНА ПАРТНЕРУ, грн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38928" y="4279392"/>
            <a:ext cx="16459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ПОТРІБНА СС, грн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84848" y="4279392"/>
            <a:ext cx="14630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ПОТРІБНА СС, 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47888" y="4279392"/>
            <a:ext cx="16459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ЗМІНА ДЛЯ 4 SKU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93808" y="4279392"/>
            <a:ext cx="17373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ЗМІНА ДЛЯ GOUDA / CARB.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" y="4462272"/>
            <a:ext cx="2834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-10">
                <a:solidFill>
                  <a:srgbClr val="303A5D"/>
                </a:solidFill>
                <a:latin typeface="Segoe UI"/>
              </a:rPr>
              <a:t>Медіана сегмента із соусом · 100 грн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401568" y="4462272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spc="-10">
                <a:solidFill>
                  <a:srgbClr val="717890"/>
                </a:solidFill>
                <a:latin typeface="Segoe UI"/>
              </a:rPr>
              <a:t>71,43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38928" y="4462272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spc="-10">
                <a:solidFill>
                  <a:srgbClr val="717890"/>
                </a:solidFill>
                <a:latin typeface="Segoe UI"/>
              </a:rPr>
              <a:t>42,86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84848" y="4462272"/>
            <a:ext cx="14630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spc="-10">
                <a:solidFill>
                  <a:srgbClr val="717890"/>
                </a:solidFill>
                <a:latin typeface="Segoe UI"/>
              </a:rPr>
              <a:t>0,84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47888" y="4462272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spc="-10">
                <a:solidFill>
                  <a:srgbClr val="717890"/>
                </a:solidFill>
                <a:latin typeface="Segoe UI"/>
              </a:rPr>
              <a:t>−26,2 %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893808" y="4462272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spc="-10">
                <a:solidFill>
                  <a:srgbClr val="717890"/>
                </a:solidFill>
                <a:latin typeface="Segoe UI"/>
              </a:rPr>
              <a:t>−36,0 %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93776" y="4809744"/>
            <a:ext cx="10936224" cy="37490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66928" y="4846320"/>
            <a:ext cx="2834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-10">
                <a:solidFill>
                  <a:srgbClr val="303A5D"/>
                </a:solidFill>
                <a:latin typeface="Segoe UI"/>
              </a:rPr>
              <a:t>Медіана категорії · 105 грн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01568" y="4846320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spc="-10">
                <a:solidFill>
                  <a:srgbClr val="717890"/>
                </a:solidFill>
                <a:latin typeface="Segoe UI"/>
              </a:rPr>
              <a:t>75,00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138928" y="4846320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spc="-10">
                <a:solidFill>
                  <a:srgbClr val="717890"/>
                </a:solidFill>
                <a:latin typeface="Segoe UI"/>
              </a:rPr>
              <a:t>45,00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84848" y="4846320"/>
            <a:ext cx="14630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spc="-10">
                <a:solidFill>
                  <a:srgbClr val="717890"/>
                </a:solidFill>
                <a:latin typeface="Segoe UI"/>
              </a:rPr>
              <a:t>0,88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47888" y="4846320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spc="-10">
                <a:solidFill>
                  <a:srgbClr val="717890"/>
                </a:solidFill>
                <a:latin typeface="Segoe UI"/>
              </a:rPr>
              <a:t>−22,5 %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893808" y="4846320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spc="-10">
                <a:solidFill>
                  <a:srgbClr val="717890"/>
                </a:solidFill>
                <a:latin typeface="Segoe UI"/>
              </a:rPr>
              <a:t>−32,8 %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6928" y="5230368"/>
            <a:ext cx="2834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-10">
                <a:solidFill>
                  <a:srgbClr val="303A5D"/>
                </a:solidFill>
                <a:latin typeface="Segoe UI"/>
              </a:rPr>
              <a:t>Паритет з Paldo Carbonara · 114 грн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01568" y="5230368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spc="-10">
                <a:solidFill>
                  <a:srgbClr val="717890"/>
                </a:solidFill>
                <a:latin typeface="Segoe UI"/>
              </a:rPr>
              <a:t>81,43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138928" y="5230368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spc="-10">
                <a:solidFill>
                  <a:srgbClr val="717890"/>
                </a:solidFill>
                <a:latin typeface="Segoe UI"/>
              </a:rPr>
              <a:t>48,86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784848" y="5230368"/>
            <a:ext cx="14630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spc="-10">
                <a:solidFill>
                  <a:srgbClr val="717890"/>
                </a:solidFill>
                <a:latin typeface="Segoe UI"/>
              </a:rPr>
              <a:t>0,95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47888" y="5230368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spc="-10">
                <a:solidFill>
                  <a:srgbClr val="717890"/>
                </a:solidFill>
                <a:latin typeface="Segoe UI"/>
              </a:rPr>
              <a:t>−15,9 %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893808" y="5230368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spc="-10">
                <a:solidFill>
                  <a:srgbClr val="717890"/>
                </a:solidFill>
                <a:latin typeface="Segoe UI"/>
              </a:rPr>
              <a:t>−27,1 %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93776" y="5577840"/>
            <a:ext cx="10936224" cy="37490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66928" y="5614416"/>
            <a:ext cx="2834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-10">
                <a:solidFill>
                  <a:srgbClr val="303A5D"/>
                </a:solidFill>
                <a:latin typeface="Segoe UI"/>
              </a:rPr>
              <a:t>Конкурент Choi’s · 125,20 грн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401568" y="5614416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spc="-10">
                <a:solidFill>
                  <a:srgbClr val="717890"/>
                </a:solidFill>
                <a:latin typeface="Segoe UI"/>
              </a:rPr>
              <a:t>89,43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138928" y="5614416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spc="-10">
                <a:solidFill>
                  <a:srgbClr val="717890"/>
                </a:solidFill>
                <a:latin typeface="Segoe UI"/>
              </a:rPr>
              <a:t>53,66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784848" y="5614416"/>
            <a:ext cx="14630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spc="-10">
                <a:solidFill>
                  <a:srgbClr val="717890"/>
                </a:solidFill>
                <a:latin typeface="Segoe UI"/>
              </a:rPr>
              <a:t>1,05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47888" y="5614416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spc="-10">
                <a:solidFill>
                  <a:srgbClr val="717890"/>
                </a:solidFill>
                <a:latin typeface="Segoe UI"/>
              </a:rPr>
              <a:t>−7,6 %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893808" y="5614416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spc="-10">
                <a:solidFill>
                  <a:srgbClr val="717890"/>
                </a:solidFill>
                <a:latin typeface="Segoe UI"/>
              </a:rPr>
              <a:t>−19,9 %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66928" y="6126480"/>
            <a:ext cx="11064240" cy="54864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566928" y="6126480"/>
            <a:ext cx="41148" cy="54864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41248" y="6217920"/>
            <a:ext cx="2651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ЩО ПРОСИТИ В SIAS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41248" y="641908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Під медіану категорії потрібна СС 45,00 грн: мінус 22,5 % для чотирьох SKU і мінус 32,8 % для Gouda / Carbonara.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ПОСТАЧАЛЬНИК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Що дає SIAS France і з чим його порівняти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Профіль постачальника за наданою презентацією SIAS і розрахунковим аркушем собівартості. Праворуч — альтернатива для порівняння.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82496"/>
            <a:ext cx="5413248" cy="38953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682496"/>
            <a:ext cx="41148" cy="3895344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828800"/>
            <a:ext cx="49011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1E9EA6"/>
                </a:solidFill>
                <a:latin typeface="Segoe UI"/>
              </a:rPr>
              <a:t>ОСНОВНИЙ ПОСТАЧАЛЬНИК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011680"/>
            <a:ext cx="49011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spc="-10">
                <a:solidFill>
                  <a:srgbClr val="303A5D"/>
                </a:solidFill>
                <a:latin typeface="Segoe UI"/>
              </a:rPr>
              <a:t>SIAS FRANCE · ROYE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2377440"/>
            <a:ext cx="49011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Франція · Hauts-de-France · європейська площадка корейської групи SIAS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2633472"/>
            <a:ext cx="490118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 spc="-10">
                <a:solidFill>
                  <a:srgbClr val="717890"/>
                </a:solidFill>
                <a:latin typeface="Segoe UI"/>
              </a:rPr>
              <a:t>ЛІНІЙКА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2798064"/>
            <a:ext cx="49011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0" b="0" spc="-10">
                <a:solidFill>
                  <a:srgbClr val="303A5D"/>
                </a:solidFill>
                <a:latin typeface="Segoe UI"/>
              </a:rPr>
              <a:t>Шість SKU — рамен у пакеті, 112,5–131 г. Назви й вагу підтверджено таблицею товарів.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3163824"/>
            <a:ext cx="490118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 spc="-10">
                <a:solidFill>
                  <a:srgbClr val="717890"/>
                </a:solidFill>
                <a:latin typeface="Segoe UI"/>
              </a:rPr>
              <a:t>ПЛОЩАДКА ТА СЕРТИФІКАЦІЯ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3328416"/>
            <a:ext cx="49011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0" b="0" spc="-10">
                <a:solidFill>
                  <a:srgbClr val="303A5D"/>
                </a:solidFill>
                <a:latin typeface="Segoe UI"/>
              </a:rPr>
              <a:t>16 000 м², група працює з 1997 року. IFS · BRC.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3694176"/>
            <a:ext cx="490118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 spc="-10">
                <a:solidFill>
                  <a:srgbClr val="717890"/>
                </a:solidFill>
                <a:latin typeface="Segoe UI"/>
              </a:rPr>
              <a:t>УМОВИ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3858768"/>
            <a:ext cx="49011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0" b="0" spc="-10">
                <a:solidFill>
                  <a:srgbClr val="303A5D"/>
                </a:solidFill>
                <a:latin typeface="Segoe UI"/>
              </a:rPr>
              <a:t>FCA Roye · 0 % ввізного мита за сертифікатом EUR.1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4224528"/>
            <a:ext cx="490118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 spc="-10">
                <a:solidFill>
                  <a:srgbClr val="717890"/>
                </a:solidFill>
                <a:latin typeface="Segoe UI"/>
              </a:rPr>
              <a:t>СОБІВАРТІСТЬ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4389120"/>
            <a:ext cx="49011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0" b="0" spc="-10">
                <a:solidFill>
                  <a:srgbClr val="303A5D"/>
                </a:solidFill>
                <a:latin typeface="Segoe UI"/>
              </a:rPr>
              <a:t>58,06 грн на чотирьох SKU і 66,99 грн на парі Gouda / Carbonara. Склад потребує звірки.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4754880"/>
            <a:ext cx="490118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 spc="-10">
                <a:solidFill>
                  <a:srgbClr val="717890"/>
                </a:solidFill>
                <a:latin typeface="Segoe UI"/>
              </a:rPr>
              <a:t>УНІКАЛЬНА ПЕРЕВАГА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4919472"/>
            <a:ext cx="49011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0" b="0" spc="-10">
                <a:solidFill>
                  <a:srgbClr val="303A5D"/>
                </a:solidFill>
                <a:latin typeface="Segoe UI"/>
              </a:rPr>
              <a:t>нульове мито і коротке плече з ЄС проти корейського імпорту за MFN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5285232"/>
            <a:ext cx="490118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 spc="-10">
                <a:solidFill>
                  <a:srgbClr val="717890"/>
                </a:solidFill>
                <a:latin typeface="Segoe UI"/>
              </a:rPr>
              <a:t>ЩО НЕ РОЗКРИТО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" y="5449824"/>
            <a:ext cx="49011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0" b="0" spc="-10">
                <a:solidFill>
                  <a:srgbClr val="303A5D"/>
                </a:solidFill>
                <a:latin typeface="Segoe UI"/>
              </a:rPr>
              <a:t>структура собівартості, ексклюзив на Україну, терміни придатності, підтримка запуску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1682496"/>
            <a:ext cx="5413248" cy="38953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1682496"/>
            <a:ext cx="41148" cy="3895344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1828800"/>
            <a:ext cx="49011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9FA9C4"/>
                </a:solidFill>
                <a:latin typeface="Segoe UI"/>
              </a:rPr>
              <a:t>АЛЬТЕРНАТИВА ДЛЯ ПОРІВНЯННЯ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011680"/>
            <a:ext cx="49011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spc="-10">
                <a:solidFill>
                  <a:srgbClr val="303A5D"/>
                </a:solidFill>
                <a:latin typeface="Segoe UI"/>
              </a:rPr>
              <a:t>ПРЯМИЙ ІМПОРТ З КОРЕЇ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2377440"/>
            <a:ext cx="49011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Samyang · Nongshim · Ottogi · Paldo — ті, хто вже тримає полицю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2633472"/>
            <a:ext cx="490118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 spc="-10">
                <a:solidFill>
                  <a:srgbClr val="717890"/>
                </a:solidFill>
                <a:latin typeface="Segoe UI"/>
              </a:rPr>
              <a:t>ЧОМУ ЦЕ РЕЛЕВАНТНО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2798064"/>
            <a:ext cx="49011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0" b="0" spc="-10">
                <a:solidFill>
                  <a:srgbClr val="303A5D"/>
                </a:solidFill>
                <a:latin typeface="Segoe UI"/>
              </a:rPr>
              <a:t>Корея у 2025 відвантажила в Україну 253,8 т за $4,88/кг митної вартості.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3163824"/>
            <a:ext cx="490118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 spc="-10">
                <a:solidFill>
                  <a:srgbClr val="717890"/>
                </a:solidFill>
                <a:latin typeface="Segoe UI"/>
              </a:rPr>
              <a:t>ЩО ДАЄ КОРЕЯ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3328416"/>
            <a:ext cx="49011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0" b="0" spc="-10">
                <a:solidFill>
                  <a:srgbClr val="303A5D"/>
                </a:solidFill>
                <a:latin typeface="Segoe UI"/>
              </a:rPr>
              <a:t>впізнаваний бренд, готовий попит, лістинг у 12 мережах із 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3694176"/>
            <a:ext cx="490118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 spc="-10">
                <a:solidFill>
                  <a:srgbClr val="717890"/>
                </a:solidFill>
                <a:latin typeface="Segoe UI"/>
              </a:rPr>
              <a:t>ЩО ДАЄ SIAS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3858768"/>
            <a:ext cx="49011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0" b="0" spc="-10">
                <a:solidFill>
                  <a:srgbClr val="303A5D"/>
                </a:solidFill>
                <a:latin typeface="Segoe UI"/>
              </a:rPr>
              <a:t>0 % мита, коротке плече, власний бренд без внутрішньої конкуренції за фейс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4224528"/>
            <a:ext cx="490118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 spc="-10">
                <a:solidFill>
                  <a:srgbClr val="717890"/>
                </a:solidFill>
                <a:latin typeface="Segoe UI"/>
              </a:rPr>
              <a:t>ЧОГО БРАКУЄ ДЛЯ ПОРІВНЯННЯ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389120"/>
            <a:ext cx="49011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0" b="0" spc="-10">
                <a:solidFill>
                  <a:srgbClr val="303A5D"/>
                </a:solidFill>
                <a:latin typeface="Segoe UI"/>
              </a:rPr>
              <a:t>котирування корейських заводів на порівнянний обсяг — у цьому дослідженні його немає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4754880"/>
            <a:ext cx="490118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 spc="-10">
                <a:solidFill>
                  <a:srgbClr val="717890"/>
                </a:solidFill>
                <a:latin typeface="Segoe UI"/>
              </a:rPr>
              <a:t>ВИСНОВОК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4919472"/>
            <a:ext cx="49011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0" b="0" spc="-10">
                <a:solidFill>
                  <a:srgbClr val="303A5D"/>
                </a:solidFill>
                <a:latin typeface="Segoe UI"/>
              </a:rPr>
              <a:t>перевага SIAS — логістика й мито, а не ціна продукту.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5285232"/>
            <a:ext cx="490118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 spc="-10">
                <a:solidFill>
                  <a:srgbClr val="717890"/>
                </a:solidFill>
                <a:latin typeface="Segoe UI"/>
              </a:rPr>
              <a:t>ЩО ЗРОБИТИ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5449824"/>
            <a:ext cx="49011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0" b="0" spc="-10">
                <a:solidFill>
                  <a:srgbClr val="303A5D"/>
                </a:solidFill>
                <a:latin typeface="Segoe UI"/>
              </a:rPr>
              <a:t>перед контрактом запросити котирування хоча б в одного корейського заводу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5724144"/>
            <a:ext cx="11064240" cy="8961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66928" y="5724144"/>
            <a:ext cx="41148" cy="896112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7" y="5888736"/>
            <a:ext cx="10515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НА ЩО ТИСНУТИ В ПЕРЕГОВОРАХ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7" y="6163056"/>
            <a:ext cx="10515600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1. Звірити, що входить у собівартість — товар і всі витрати; підтвердити умови й обсяг поставки.</a:t>
            </a:r>
          </a:p>
          <a:p>
            <a:pPr algn="l">
              <a:lnSpc>
                <a:spcPct val="142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2. Отримати склад та інструкції приготування шести SKU, щоб визначити прямі аналоги на полиці.</a:t>
            </a:r>
          </a:p>
          <a:p>
            <a:pPr algn="l">
              <a:lnSpc>
                <a:spcPct val="142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3. Перевірити канал і умови продажу SIAS окремо від конкурента Choi’s.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РИЗИКИ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Що може зламати розрахунок і яких даних бракує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Розрахунок тримається на кількох припущеннях. Нижче — ті з них, які варто перевірити до підписання контракту.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64208"/>
            <a:ext cx="3547872" cy="188366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41148" cy="188366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93008" y="1792224"/>
            <a:ext cx="548640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93008" y="181965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ВИСОКИЙ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810512"/>
            <a:ext cx="2596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Склад собівартості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194560"/>
            <a:ext cx="3035808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Невідомо, чи входять у 58,06 і 66,99 грн усі витрати — фрахт, оформлення, вартість грошей — чи лише товар.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145536"/>
            <a:ext cx="3035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90" b="1" spc="-10">
                <a:solidFill>
                  <a:srgbClr val="717890"/>
                </a:solidFill>
                <a:latin typeface="Segoe UI"/>
              </a:rPr>
              <a:t>ВПЛИВ НА РОЗРАХУНОК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291840"/>
            <a:ext cx="30358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>
                <a:solidFill>
                  <a:srgbClr val="B53A3A"/>
                </a:solidFill>
                <a:latin typeface="Segoe UI"/>
              </a:rPr>
              <a:t>Полиця буде ще вищою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5968" y="1664208"/>
            <a:ext cx="3547872" cy="188366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664208"/>
            <a:ext cx="41148" cy="188366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42048" y="1792224"/>
            <a:ext cx="548640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42048" y="181965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ВИСОКИЙ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1810512"/>
            <a:ext cx="2596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Тип приготування SKU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194560"/>
            <a:ext cx="3035808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Назва смаку не визначає сегмент. Без специфікацій невідомо, з ким саме покупець порівнює наші шість позицій.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145536"/>
            <a:ext cx="3035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90" b="1" spc="-10">
                <a:solidFill>
                  <a:srgbClr val="717890"/>
                </a:solidFill>
                <a:latin typeface="Segoe UI"/>
              </a:rPr>
              <a:t>ВПЛИВ НА РОЗРАХУНОК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291840"/>
            <a:ext cx="30358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>
                <a:solidFill>
                  <a:srgbClr val="B53A3A"/>
                </a:solidFill>
                <a:latin typeface="Segoe UI"/>
              </a:rPr>
              <a:t>Змінює орієнтир зі 104 на 100 грн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65008" y="1664208"/>
            <a:ext cx="3547872" cy="188366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65008" y="1664208"/>
            <a:ext cx="41148" cy="188366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91088" y="1792224"/>
            <a:ext cx="548640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91088" y="181965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ВИСОКИЙ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1810512"/>
            <a:ext cx="2596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Маржа 15 % — валова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2194560"/>
            <a:ext cx="3035808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Внутрішня логістика, лістинги, промо і курсовий ризик у неї не входять. Фактична маржа буде нижчою.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145536"/>
            <a:ext cx="3035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90" b="1" spc="-10">
                <a:solidFill>
                  <a:srgbClr val="717890"/>
                </a:solidFill>
                <a:latin typeface="Segoe UI"/>
              </a:rPr>
              <a:t>ВПЛИВ НА РОЗРАХУНОК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291840"/>
            <a:ext cx="30358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>
                <a:solidFill>
                  <a:srgbClr val="B53A3A"/>
                </a:solidFill>
                <a:latin typeface="Segoe UI"/>
              </a:rPr>
              <a:t>Реальний прибуток менший за 14,52 грн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3730752"/>
            <a:ext cx="3547872" cy="188366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3730752"/>
            <a:ext cx="41148" cy="188366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493008" y="3858768"/>
            <a:ext cx="548640" cy="20116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93008" y="3886200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СЕРЕДНІЙ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3877056"/>
            <a:ext cx="2596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Націнка мережі 1,40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4261104"/>
            <a:ext cx="3035808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Це умова моделі, а не підтверджені дані. Реальна націнка в категорії може бути 1,30–1,55.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5212080"/>
            <a:ext cx="3035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90" b="1" spc="-10">
                <a:solidFill>
                  <a:srgbClr val="717890"/>
                </a:solidFill>
                <a:latin typeface="Segoe UI"/>
              </a:rPr>
              <a:t>ВПЛИВ НА РОЗРАХУНОК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358384"/>
            <a:ext cx="30358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>
                <a:solidFill>
                  <a:srgbClr val="C4820A"/>
                </a:solidFill>
                <a:latin typeface="Segoe UI"/>
              </a:rPr>
              <a:t>Полиця 126–150 замість 135,48 грн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15968" y="3730752"/>
            <a:ext cx="3547872" cy="188366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15968" y="3730752"/>
            <a:ext cx="41148" cy="188366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242048" y="3858768"/>
            <a:ext cx="548640" cy="20116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42048" y="3886200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СЕРЕДНІЙ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3877056"/>
            <a:ext cx="2596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Бонус мережі 25 %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4261104"/>
            <a:ext cx="3035808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Умова моделі. Фактичні бонуси залежать від мережі й умов лістингу та узгоджуються окремо.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5212080"/>
            <a:ext cx="3035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90" b="1" spc="-10">
                <a:solidFill>
                  <a:srgbClr val="717890"/>
                </a:solidFill>
                <a:latin typeface="Segoe UI"/>
              </a:rPr>
              <a:t>ВПЛИВ НА РОЗРАХУНОК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0" y="5358384"/>
            <a:ext cx="30358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>
                <a:solidFill>
                  <a:srgbClr val="C4820A"/>
                </a:solidFill>
                <a:latin typeface="Segoe UI"/>
              </a:rPr>
              <a:t>±5 % бонусу = ±17 грн на полиці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65008" y="3730752"/>
            <a:ext cx="3547872" cy="188366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65008" y="3730752"/>
            <a:ext cx="41148" cy="188366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991088" y="3858768"/>
            <a:ext cx="548640" cy="20116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991088" y="3886200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СЕРЕДНІЙ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40" y="3877056"/>
            <a:ext cx="2596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Курс 51,20 грн/€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4261104"/>
            <a:ext cx="3035808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Зафіксований у моделі. Собівартість валютна, полиця гривнева — курсовий ризик лягає на нас.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5212080"/>
            <a:ext cx="3035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90" b="1" spc="-10">
                <a:solidFill>
                  <a:srgbClr val="717890"/>
                </a:solidFill>
                <a:latin typeface="Segoe UI"/>
              </a:rPr>
              <a:t>ВПЛИВ НА РОЗРАХУНОК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21040" y="5358384"/>
            <a:ext cx="30358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>
                <a:solidFill>
                  <a:srgbClr val="C4820A"/>
                </a:solidFill>
                <a:latin typeface="Segoe UI"/>
              </a:rPr>
              <a:t>Курс 55 → СС 60,9 і 71,9 грн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6928" y="5797296"/>
            <a:ext cx="11064240" cy="822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66928" y="5797296"/>
            <a:ext cx="41148" cy="8229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1247" y="5961888"/>
            <a:ext cx="10515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ЧОГО НЕ ВИСТАЧАЄ ДЛЯ ОСТАТОЧНОГО РІШЕННЯ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7" y="6236208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Специфікації шести SKU · розшифровка собівартості за статтями · котирування щонайменше одного корейського заводу на порівнянний обсяг · умови лістингу хоча б однієї мережі · дані про оборотність категорії в конкретній мережі. Без них розрахунок залишається модельним, а не контрактним.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ПЛАН ДІЙ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Що зробити до рішення про контракт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Чотири кроки в порядку виконання. Перші два закривають головну невизначеність — собівартість і специфікації.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45920"/>
            <a:ext cx="5413248" cy="18105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645920"/>
            <a:ext cx="41148" cy="1810512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792224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spc="-10">
                <a:solidFill>
                  <a:srgbClr val="B53A3A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184708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303A5D"/>
                </a:solidFill>
                <a:latin typeface="Segoe UI"/>
              </a:rPr>
              <a:t>Запросити розшифровку собівартості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2212848"/>
            <a:ext cx="420624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Отримати від SIAS структуру 58,06 і 66,99 грн за статтями: товар, фрахт, оформлення, вартість грошей. Підтвердити умови й обсяг поставки, на яких ця ціна дійсна.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3163824"/>
            <a:ext cx="4206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B53A3A"/>
                </a:solidFill>
                <a:latin typeface="Segoe UI"/>
              </a:rPr>
              <a:t>ТЕРМІН: до переговорів · ВІДПОВІДАЄ: закупівлі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645920"/>
            <a:ext cx="5413248" cy="18105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645920"/>
            <a:ext cx="41148" cy="1810512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792224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spc="-10">
                <a:solidFill>
                  <a:srgbClr val="B53A3A"/>
                </a:solidFill>
                <a:latin typeface="Segoe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87183" y="184708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303A5D"/>
                </a:solidFill>
                <a:latin typeface="Segoe UI"/>
              </a:rPr>
              <a:t>Отримати специфікації шести SKU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87183" y="2212848"/>
            <a:ext cx="420624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Склад та інструкції приготування. Без них неможливо визначити сегмент і прямі аналоги, а отже — і те, з чим покупець порівнює нашу ціну на полиці.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87183" y="3163824"/>
            <a:ext cx="4206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B53A3A"/>
                </a:solidFill>
                <a:latin typeface="Segoe UI"/>
              </a:rPr>
              <a:t>ТЕРМІН: до переговорів · ВІДПОВІДАЄ: категорійний менеджмент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657600"/>
            <a:ext cx="5413248" cy="18105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3657600"/>
            <a:ext cx="41148" cy="18105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3803904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spc="-10">
                <a:solidFill>
                  <a:srgbClr val="C4820A"/>
                </a:solidFill>
                <a:latin typeface="Segoe U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36192" y="385876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303A5D"/>
                </a:solidFill>
                <a:latin typeface="Segoe UI"/>
              </a:rPr>
              <a:t>Поставити цінову вимогу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24528"/>
            <a:ext cx="420624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Під медіану категорії 105 грн потрібна СС 45,00 грн: мінус 22,5 % для чотирьох SKU і мінус 32,8 % для Gouda / Carbonara. Це вимога, а не предмет торгу: без неї полиця виходить за межі ринку.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5175504"/>
            <a:ext cx="4206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C4820A"/>
                </a:solidFill>
                <a:latin typeface="Segoe UI"/>
              </a:rPr>
              <a:t>ТЕРМІН: на переговорах · ВІДПОВІДАЄ: закупівлі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657600"/>
            <a:ext cx="5413248" cy="18105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3657600"/>
            <a:ext cx="41148" cy="1810512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803904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spc="-10">
                <a:solidFill>
                  <a:srgbClr val="1E9EA6"/>
                </a:solidFill>
                <a:latin typeface="Segoe U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87183" y="385876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303A5D"/>
                </a:solidFill>
                <a:latin typeface="Segoe UI"/>
              </a:rPr>
              <a:t>Порівняти з прямим імпортом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87183" y="4224528"/>
            <a:ext cx="420624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Запросити котирування щонайменше одного корейського заводу на порівнянний обсяг. Перевага SIAS — мито й логістика; чи перекриває вона різницю в ціні продукту, зараз невідомо.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87183" y="5175504"/>
            <a:ext cx="4206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1E9EA6"/>
                </a:solidFill>
                <a:latin typeface="Segoe UI"/>
              </a:rPr>
              <a:t>ТЕРМІН: паралельно · ВІДПОВІДАЄ: закупівлі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5705856"/>
            <a:ext cx="11064240" cy="84124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5705856"/>
            <a:ext cx="54864" cy="84124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7824" y="58338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FFC95C"/>
                </a:solidFill>
                <a:latin typeface="Segoe UI"/>
              </a:rPr>
              <a:t>РІШЕННЯ, ЯКЕ ПОТРІБНО УХВАЛИТИ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" y="6089904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 spc="-10">
                <a:solidFill>
                  <a:srgbClr val="FFFFFF"/>
                </a:solidFill>
                <a:latin typeface="Segoe UI"/>
              </a:rPr>
              <a:t>Підписувати контракт за поточної собівартості чи вимагати зниження на 20–33 % як умову входу в категорію.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638544"/>
            <a:ext cx="11064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9FA9C4"/>
                </a:solidFill>
                <a:latin typeface="Segoe UI"/>
              </a:rPr>
              <a:t>Зріз каталогів 18 мереж, 29.09.2026 · 96 SKU корейського рамену · розрахунок полиці за фінансовою моделлю SIAS при маржі 15 %.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