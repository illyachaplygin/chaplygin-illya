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15.jpg"/><Relationship Id="rId6" Type="http://schemas.openxmlformats.org/officeDocument/2006/relationships/image" Target="../media/image16.jpg"/><Relationship Id="rId7" Type="http://schemas.openxmlformats.org/officeDocument/2006/relationships/image" Target="../media/image17.jpg"/><Relationship Id="rId8" Type="http://schemas.openxmlformats.org/officeDocument/2006/relationships/image" Target="../media/image18.jpg"/><Relationship Id="rId9" Type="http://schemas.openxmlformats.org/officeDocument/2006/relationships/image" Target="../media/image1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7.jpg"/><Relationship Id="rId7" Type="http://schemas.openxmlformats.org/officeDocument/2006/relationships/image" Target="../media/image23.jpg"/><Relationship Id="rId8" Type="http://schemas.openxmlformats.org/officeDocument/2006/relationships/image" Target="../media/image24.jpg"/><Relationship Id="rId9" Type="http://schemas.openxmlformats.org/officeDocument/2006/relationships/image" Target="../media/image2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Relationship Id="rId8" Type="http://schemas.openxmlformats.org/officeDocument/2006/relationships/image" Target="../media/image31.jpg"/><Relationship Id="rId9" Type="http://schemas.openxmlformats.org/officeDocument/2006/relationships/image" Target="../media/image32.jpg"/><Relationship Id="rId10" Type="http://schemas.openxmlformats.org/officeDocument/2006/relationships/image" Target="../media/image33.jpg"/><Relationship Id="rId11" Type="http://schemas.openxmlformats.org/officeDocument/2006/relationships/image" Target="../media/image34.jpg"/><Relationship Id="rId12" Type="http://schemas.openxmlformats.org/officeDocument/2006/relationships/image" Target="../media/image35.jpg"/><Relationship Id="rId13" Type="http://schemas.openxmlformats.org/officeDocument/2006/relationships/image" Target="../media/image36.jpg"/><Relationship Id="rId14" Type="http://schemas.openxmlformats.org/officeDocument/2006/relationships/image" Target="../media/image37.jpg"/><Relationship Id="rId15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0428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spc="-10">
                <a:solidFill>
                  <a:srgbClr val="FFC95C"/>
                </a:solidFill>
                <a:latin typeface="Segoe UI"/>
              </a:rPr>
              <a:t>ДОСЛІДЖЕННЯ РИНКУ ТА ЦІНОВЕ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33472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6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53712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spc="-10">
                <a:solidFill>
                  <a:srgbClr val="9FA9C4"/>
                </a:solidFill>
                <a:latin typeface="Segoe UI"/>
              </a:rPr>
              <a:t>Оцінка шести SKU SIAS — рамену в пакеті — проти ринкової полиці:</a:t>
            </a:r>
          </a:p>
          <a:p>
            <a:pPr algn="l">
              <a:lnSpc>
                <a:spcPct val="150000"/>
              </a:lnSpc>
            </a:pPr>
            <a:r>
              <a:rPr sz="11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49824"/>
            <a:ext cx="45720" cy="84124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5477256"/>
            <a:ext cx="100584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Версія для керівництва. Усі ціни — роздріб за одну пачку, з ПДВ, на дату зрізу.</a:t>
            </a:r>
          </a:p>
          <a:p>
            <a:pPr algn="l">
              <a:lnSpc>
                <a:spcPct val="145000"/>
              </a:lnSpc>
            </a:pPr>
            <a:r>
              <a:rPr sz="900" b="0" spc="-10">
                <a:solidFill>
                  <a:srgbClr val="9FA9C4"/>
                </a:solidFill>
                <a:latin typeface="Segoe UI"/>
              </a:rPr>
              <a:t>Опт, ящики та мультипаки до медіан не входять. Фото товарів — з каталогів мереж,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Головне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Що показало зіставлення шести SKU SIAS із фактичною полицею 18 мереж і з фінансовою моделлю при маржі 15 %.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11064240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54864" cy="8412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1682495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FFC95C"/>
                </a:solidFill>
                <a:latin typeface="Segoe UI"/>
              </a:rPr>
              <a:t>ОСНОВНИЙ ВИСНОВОК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385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 spc="-10">
                <a:solidFill>
                  <a:srgbClr val="FFFFFF"/>
                </a:solidFill>
                <a:latin typeface="Segoe UI"/>
              </a:rPr>
              <a:t>За поточної собівартості модель виводить нас на 135,48 і 156,32 грн — це на 29 % і 49 % вище за медіану категорії.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15184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2615184"/>
            <a:ext cx="41148" cy="13350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7063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ПОЛИЦЯ ЗА МОДЕЛЛЮ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8094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B53A3A"/>
                </a:solidFill>
                <a:latin typeface="Segoe UI"/>
              </a:rPr>
              <a:t>135 / 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При маржі 15 % і бонусі мережі 25 %.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СС 58,06 і 66,99 грн за пачку.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2615184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2615184"/>
            <a:ext cx="41148" cy="13350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77063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ПОЗИЦІЯ ПРОТИ РИНКУ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98094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B53A3A"/>
                </a:solidFill>
                <a:latin typeface="Segoe UI"/>
              </a:rPr>
              <a:t>+29 % / +49 %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474720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До медіани категорії 105 грн.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Дешевші за нас 82 % і 89 % позицій.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65008" y="2615184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2615184"/>
            <a:ext cx="41148" cy="1335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77063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ПОТРІБНА СС ПІД МЕДІАНУ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98094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C4820A"/>
                </a:solidFill>
                <a:latin typeface="Segoe UI"/>
              </a:rPr>
              <a:t>45,00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474720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Замість 58,06 грн на чотирьох SKU.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Це мінус 22,5 % до собівартості.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169663"/>
            <a:ext cx="5413248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169663"/>
            <a:ext cx="41148" cy="20116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7" y="4334255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7" y="4608575"/>
            <a:ext cx="486460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1. Формат і вага заперечень не викликають: пакет 112,5–131 г — це дві найщільніші вагові смуги ринку.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2. Проблема одна — ціна. Обидві розрахункові полиці лежать вище за цінове вікно 86–124 грн, у якому стоїть половина ринку.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3. Зайти ціною не можна: при полиці 95 і 100 грн модель дає маржу −10,6 % і −18,8 %.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4. Отже, єдиний важіль — собівартість, і торг іде саме про неї.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169663"/>
            <a:ext cx="5413248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169663"/>
            <a:ext cx="41148" cy="20116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334255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ЩО ПОТРІБНО ВИРІШИТИ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608575"/>
            <a:ext cx="4864608" cy="1408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1. Чи готовий SIAS знизити СС на 20–27 %. Без цього жодна з шести позицій не стає на полицю зі збереженням 15 %.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2. Чи приймаємо нижчу маржу як плату за вхід у категорію — і яку саме.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3. Що входить у собівартість: товар плюс усі витрати чи лише товар. Від цього залежить уся арифметика.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4. Порівняти з прямим імпортом з Кореї, перш ніж фіксувати умови.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описують категорію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ціни — за одну пачку, з ПДВ. Опт і ящики до розрахунку не входять.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64208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41148" cy="1335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19656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02996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23744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Корея, HS 1902 30.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+8,8 % до 2024 року в кілограмах.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1664208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664208"/>
            <a:ext cx="41148" cy="1335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819656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02996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1E9EA6"/>
                </a:solidFill>
                <a:latin typeface="Segoe UI"/>
              </a:rPr>
              <a:t>221 млн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523744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 рік — оцінка за імпортом,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помноженим на медіану полиці.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1664208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1664208"/>
            <a:ext cx="41148" cy="1335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819656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02996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523744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У «Сільпо» — лише 4 позиції.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200400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200400"/>
            <a:ext cx="41148" cy="1335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3558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566160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059935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71 позиція, або 74 % ринку.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Стакан — 18, рисові галушки — 7.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5968" y="3200400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3200400"/>
            <a:ext cx="41148" cy="1335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3558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566160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4059935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23 позиції. Далі 130 г — 9,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140 г — 6, 105 г — 6.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65008" y="3200400"/>
            <a:ext cx="3547872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65008" y="3200400"/>
            <a:ext cx="41148" cy="1335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355848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ЦІНОВЕ ВІКНО ПОЛИЦІ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566160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spc="-10">
                <a:solidFill>
                  <a:srgbClr val="1E9EA6"/>
                </a:solidFill>
                <a:latin typeface="Segoe UI"/>
              </a:rPr>
              <a:t>86–124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059935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Половина ринку. Медіана 105 грн,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найдешевший пакет — 68 грн.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773168"/>
            <a:ext cx="5413248" cy="15910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4773168"/>
            <a:ext cx="41148" cy="159105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7" y="4937759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7" y="5212079"/>
            <a:ext cx="48646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1. Категорія повністю імпортна: корейського рамену в Україні не виробляють.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2. Зростання дає Корея: 233,3 → 253,8 т за рік, +8,8 % у кілограмах і +34,9 % у грошах.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3. Полиця концентрована: Samyang і Nongshim дають 54 позиції з 96 і стоять у 12 мережах із 13.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773168"/>
            <a:ext cx="5413248" cy="15910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4773168"/>
            <a:ext cx="41148" cy="159105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4937759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212079"/>
            <a:ext cx="4864608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1. У зрізі немає ваги 113 г: серед наших SKU три по 113 г і Spicy 112,5 г. Частий формат — 120 г.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2. МегаМаркет, Ultramarket, ЕКО, Епіцентр та «Ідеал» не мають позицій у цьому зрізі.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3. Крім Samyang і Nongshim, жоден бренд не представлений більш ніж у 5 мережах.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ТА ІМПОРТ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1 674 т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узято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21408" y="1920240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97433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1429" y="1920240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5669" y="497433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61450" y="1920240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5690" y="497433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1471" y="1920240"/>
            <a:ext cx="5486" cy="301752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65711" y="497433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6197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043684"/>
            <a:ext cx="2826177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0737" y="20574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734,1 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42773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Корея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1408" y="2409444"/>
            <a:ext cx="977212" cy="192024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71772" y="242316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79349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21408" y="2775204"/>
            <a:ext cx="931760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26320" y="27889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242,0 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15925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1408" y="3140964"/>
            <a:ext cx="718117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12677" y="315468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186,5 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52501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21408" y="3506724"/>
            <a:ext cx="320213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14773" y="352044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83,2 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89077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21408" y="3872483"/>
            <a:ext cx="192154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86714" y="38862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49,9 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25653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21408" y="4238244"/>
            <a:ext cx="114983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09543" y="425196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29,9 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622292"/>
            <a:ext cx="14447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21408" y="4604004"/>
            <a:ext cx="90250" cy="192024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4810" y="46177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23,4 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138928"/>
            <a:ext cx="5577840" cy="12252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138928"/>
            <a:ext cx="41148" cy="1225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530352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ТОНАЖ — ЦЕ НЕ КАТЕГОРІЯ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5577840"/>
            <a:ext cx="50292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а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1664208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КОРЕЯ → УКРАЇНА · ДИНАМІКА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195681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1956816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1956816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2720" y="1956816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213969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06640" y="213969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213969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$918 тис.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20" y="2139696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19088" y="2450592"/>
            <a:ext cx="5138928" cy="3383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40" y="24871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24871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0" y="24871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$1 238 тис.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2720" y="248716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8346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-10">
                <a:solidFill>
                  <a:srgbClr val="303A5D"/>
                </a:solidFill>
                <a:latin typeface="Segoe UI"/>
              </a:rPr>
              <a:t>Зміна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283464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78240" y="28346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283464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92240" y="3383280"/>
            <a:ext cx="5138928" cy="16459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92240" y="3383280"/>
            <a:ext cx="41148" cy="16459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66559" y="3547872"/>
            <a:ext cx="45902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66559" y="3822191"/>
            <a:ext cx="4590288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позицій, а не дешевших.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Наша повна собівартість — €10,0–10,6/кг. Бази різні: тут фрахт і оформлення вже всередині, у митній вартості Кореї — ні.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92240" y="5138928"/>
            <a:ext cx="5138928" cy="12252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92240" y="5138928"/>
            <a:ext cx="41148" cy="1225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6559" y="5303520"/>
            <a:ext cx="45902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ЯК ПОРАХОВАНО ЄМНІСТЬ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66559" y="5577840"/>
            <a:ext cx="45902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253,8 т імпорту ÷ 120 г середньої ваги = 2,12 млн пачок. × 105 грн медіани полиці ≈ 221 млн грн роздрібного обороту на рік.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ПОВЕРХИ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взяті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66160" cy="3108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108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75104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57984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59152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41401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81528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369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83280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59152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414016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81528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369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83280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66160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621024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88536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43984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90288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66160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621024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88536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43984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90288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91056"/>
            <a:ext cx="3566160" cy="3108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91056"/>
            <a:ext cx="36576" cy="3108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719072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75104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57984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59152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414016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81528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369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83280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59152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41401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81528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369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83280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66160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621024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88536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43984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90288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66160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621024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88536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43984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90288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91056"/>
            <a:ext cx="3566160" cy="3108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91056"/>
            <a:ext cx="36576" cy="3108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719072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75104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57984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59152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414016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81528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369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83280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59152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414016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81528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369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83280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66160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621024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88536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43984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90288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66160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621024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88536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43984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90288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846320"/>
            <a:ext cx="11064240" cy="7680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846320"/>
            <a:ext cx="41148" cy="76809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2960" y="4956048"/>
            <a:ext cx="3200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1" spc="-10">
                <a:solidFill>
                  <a:srgbClr val="B53A3A"/>
                </a:solidFill>
                <a:latin typeface="Segoe UI"/>
              </a:rPr>
              <a:t>ДЕ ОПИНЯЮТЬСЯ НАШІ ШІСТЬ SKU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5157216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1" spc="-10">
                <a:solidFill>
                  <a:srgbClr val="303A5D"/>
                </a:solidFill>
                <a:latin typeface="Segoe UI"/>
              </a:rPr>
              <a:t>119–127 грн/100 г за моделлю при маржі 15 %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06240" y="4956048"/>
            <a:ext cx="7223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860" b="0" spc="-10">
                <a:solidFill>
                  <a:srgbClr val="303A5D"/>
                </a:solidFill>
                <a:latin typeface="Segoe UI"/>
              </a:rPr>
              <a:t>Це верхня частина преміум-поверху: вище за Samyang (93) і Nongshim (107 грн/100 г) — двох брендів, що тримають 54 позиції з 96. Жоден корейський бренд у зрізі не стоїть вище за 141 грн/100 г, і це Yopokki — рисові галушки, інша категорія споживання.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742432"/>
            <a:ext cx="11064240" cy="10058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742432"/>
            <a:ext cx="41148" cy="10058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41247" y="5907024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4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41247" y="6181344"/>
            <a:ext cx="10515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із Yum Yum, а не поруч із Samyang і Nongshim. Дешева половина корейської полиці коштує 67–89 грн за пачку — і саме вона, а не преміум, є прямим ціновим конкурентом новому бренду.</a:t>
            </a:r>
          </a:p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на Волині (близько $50 млн). Продукція йде переважно на ринки ЄС під брендом Maggi — прямого тиску на українську полицю поки немає, але потужність у країні з’явилася.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 і форматом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Сегмент визначає, з чим покупець порівнює продукт. Належність наших шести SKU до сегментів 1 чи 2 потребує інструкцій приготування — назва смаку її не визначає.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2651760" cy="21945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45920"/>
            <a:ext cx="41148" cy="21945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9222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303A5D"/>
                </a:solidFill>
                <a:latin typeface="Segoe UI"/>
              </a:rPr>
              <a:t>РАМЕН У ПАКЕТІ · З БУЛЬЙОНОМ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spc="-10">
                <a:solidFill>
                  <a:srgbClr val="303A5D"/>
                </a:solidFill>
                <a:latin typeface="Segoe UI"/>
              </a:rPr>
              <a:t>46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596896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Варіння 4–5 хв · подається з бульйоном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907792"/>
            <a:ext cx="22494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054096"/>
            <a:ext cx="2249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328416"/>
            <a:ext cx="2249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P25–P75:  87–119 грн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Ціна за грам:  86 грн/100 г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Вага 102–144 г · 6 бр. · 12 мереж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64992" y="1645920"/>
            <a:ext cx="2651760" cy="21945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64992" y="1645920"/>
            <a:ext cx="41148" cy="21945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4448" y="179222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C4820A"/>
                </a:solidFill>
                <a:latin typeface="Segoe UI"/>
              </a:rPr>
              <a:t>РАМЕН У ПАКЕТІ · ІЗ СОУСОМ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21284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spc="-10">
                <a:solidFill>
                  <a:srgbClr val="303A5D"/>
                </a:solidFill>
                <a:latin typeface="Segoe UI"/>
              </a:rPr>
              <a:t>25 SKU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4448" y="2596896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Варіння 4–5 хв · воду злити, змішати із соусом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2907792"/>
            <a:ext cx="22494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3054096"/>
            <a:ext cx="2249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-10">
                <a:solidFill>
                  <a:srgbClr val="C4820A"/>
                </a:solidFill>
                <a:latin typeface="Segoe UI"/>
              </a:rPr>
              <a:t>100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4448" y="3328416"/>
            <a:ext cx="2249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P25–P75:  86–124 грн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Ціна за грам:  77 грн/100 г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Вага 105–145 г · 7 бр. · 11 мереж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1645920"/>
            <a:ext cx="2651760" cy="21945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63056" y="1645920"/>
            <a:ext cx="41148" cy="21945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179222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5D4B96"/>
                </a:solidFill>
                <a:latin typeface="Segoe UI"/>
              </a:rPr>
              <a:t>РАМЕН У СТАКАНІ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221284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spc="-10">
                <a:solidFill>
                  <a:srgbClr val="303A5D"/>
                </a:solidFill>
                <a:latin typeface="Segoe UI"/>
              </a:rPr>
              <a:t>18 SKU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2596896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Залити окропом 3–4 хв · без плити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2512" y="2907792"/>
            <a:ext cx="22494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3054096"/>
            <a:ext cx="2249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328416"/>
            <a:ext cx="2249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P25–P75:  93–111 грн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Ціна за грам:  154 грн/100 г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Вага 62–120 г · 4 бр. · 8 мереж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1645920"/>
            <a:ext cx="2651760" cy="21945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61120" y="1645920"/>
            <a:ext cx="41148" cy="21945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0576" y="179222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60" b="1" spc="-10">
                <a:solidFill>
                  <a:srgbClr val="1E9EA6"/>
                </a:solidFill>
                <a:latin typeface="Segoe UI"/>
              </a:rPr>
              <a:t>РИСОВІ ГАЛУШКИ ТА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221284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spc="-10">
                <a:solidFill>
                  <a:srgbClr val="303A5D"/>
                </a:solidFill>
                <a:latin typeface="Segoe UI"/>
              </a:rPr>
              <a:t>7 SKU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0576" y="2596896"/>
            <a:ext cx="22494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Рисова основа · окремий привід споживання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576" y="2907792"/>
            <a:ext cx="22494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0576" y="3054096"/>
            <a:ext cx="2249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-10">
                <a:solidFill>
                  <a:srgbClr val="1E9EA6"/>
                </a:solidFill>
                <a:latin typeface="Segoe UI"/>
              </a:rPr>
              <a:t>198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0576" y="3328416"/>
            <a:ext cx="224942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P25–P75:  106–204 грн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Ціна за грам:  136 грн/100 г</a:t>
            </a:r>
          </a:p>
          <a:p>
            <a:pPr algn="l">
              <a:lnSpc>
                <a:spcPct val="142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Вага 80–145 г · 4 бр. · 4 мереж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396849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97763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РОЗПОДІЛ ПОЗИЦІЙ ЗА ЦІНОЮ · СКІЛЬКИ SKU У КОЖНІЙ ЦІНОВІЙ СМУЗІ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977639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грн за пачку, з ПДВ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0048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до 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48456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80–95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6864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95–110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05272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110–125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125–140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2088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140–165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0496" y="4242816"/>
            <a:ext cx="978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165 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01784" y="424281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ВСЬОГО У СЕГМЕНТІ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592574"/>
            <a:ext cx="19751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Сегмент 1 · з бульйоном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97479" y="4526280"/>
            <a:ext cx="923544" cy="315468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97479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75888" y="4526280"/>
            <a:ext cx="923544" cy="315468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75888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54296" y="4526280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54296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32704" y="4526280"/>
            <a:ext cx="923544" cy="315468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32704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11112" y="4526280"/>
            <a:ext cx="923544" cy="315468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11112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19" y="4526280"/>
            <a:ext cx="923544" cy="315468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89519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67928" y="4526280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567928" y="457428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01784" y="4601718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46 SKU · медіана 104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4962906"/>
            <a:ext cx="19751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Сегмент 2 · із соусом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697479" y="4896612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697479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75888" y="4896612"/>
            <a:ext cx="923544" cy="315468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75888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54296" y="4896612"/>
            <a:ext cx="923544" cy="315468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54296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32704" y="4896612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32704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11112" y="4896612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11112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589519" y="4896612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589519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567928" y="4896612"/>
            <a:ext cx="923544" cy="315468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67928" y="494461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01784" y="497205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25 SKU · медіана 100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5333238"/>
            <a:ext cx="19751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Сегмент 3 · стакан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697479" y="5266944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97479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75888" y="5266944"/>
            <a:ext cx="923544" cy="315468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75888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654296" y="5266944"/>
            <a:ext cx="923544" cy="315468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654296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32704" y="5266944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632704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11112" y="5266944"/>
            <a:ext cx="923544" cy="315468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611112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89519" y="5266944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589519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67928" y="5266944"/>
            <a:ext cx="923544" cy="315468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67928" y="5314950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701784" y="5342382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· медіана 104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703570"/>
            <a:ext cx="19751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Сегмент 4 · рисові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697479" y="5637276"/>
            <a:ext cx="923544" cy="315468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97479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75888" y="5637276"/>
            <a:ext cx="923544" cy="315468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75888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54296" y="5637276"/>
            <a:ext cx="923544" cy="315468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4296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32704" y="5637276"/>
            <a:ext cx="923544" cy="315468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632704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611112" y="5637276"/>
            <a:ext cx="923544" cy="315468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611112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89519" y="5637276"/>
            <a:ext cx="923544" cy="315468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589519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567928" y="5637276"/>
            <a:ext cx="923544" cy="315468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567928" y="5685282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01784" y="5712714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 SKU · медіана 198 грн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6928" y="6163056"/>
            <a:ext cx="5413248" cy="6400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66928" y="6163056"/>
            <a:ext cx="41148" cy="6400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1247" y="6327648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ДЕ ЩІЛЬНО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41247" y="6601968"/>
            <a:ext cx="4864608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Смуга 80–95 грн тримає 22 позиції з 71 у пакеті — це фактичне ядро полиці, а не медіана.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217920" y="6163056"/>
            <a:ext cx="5413248" cy="6400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217920" y="6163056"/>
            <a:ext cx="41148" cy="6400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92240" y="6327648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ДЕ ПОРОЖНЬО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92240" y="6601968"/>
            <a:ext cx="4864608" cy="36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Вище 140 грн у пакеті лише 7 позицій із 71. Саме в цю зону потрапляють обидві наші групи.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Найбільший сегмент: 46 позицій, медіана 104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Основна частина корейської полиці. Відсортовано за ціною; показано сім позицій, рівновіддалених по ціновій шкалі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27632"/>
            <a:ext cx="283464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41148" cy="11155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83080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93392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303A5D"/>
                </a:solidFill>
                <a:latin typeface="Segoe UI"/>
              </a:rPr>
              <a:t>46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97506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6 брендів у 12 мережах.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48 % усієї категорії.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1627632"/>
            <a:ext cx="283464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47872" y="1627632"/>
            <a:ext cx="41148" cy="11155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03904" y="1783080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1993392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2397506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P25–P75: 87–119 грн.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Діапазон: 67–209 грн.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1627632"/>
            <a:ext cx="283464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28816" y="1627632"/>
            <a:ext cx="41148" cy="11155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1783080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ЦІНА ЗА ГРАМ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1993392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303A5D"/>
                </a:solidFill>
                <a:latin typeface="Segoe UI"/>
              </a:rPr>
              <a:t>86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397506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100 г — медіана сегмента.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Варіння 4–5 хв · подається з бульйоном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627632"/>
            <a:ext cx="2121408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627632"/>
            <a:ext cx="41148" cy="11155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1783080"/>
            <a:ext cx="16459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ВАГОВИЙ ДІАПАЗОН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1993392"/>
            <a:ext cx="16459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303A5D"/>
                </a:solidFill>
                <a:latin typeface="Segoe UI"/>
              </a:rPr>
              <a:t>102–144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2349881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фактичні межі сегмента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зрізом 29.09.2026.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07792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145536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55648" y="3168396"/>
            <a:ext cx="320040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6048" y="3145536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332988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55648" y="3355848"/>
            <a:ext cx="1694329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333298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20440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55648" y="3543300"/>
            <a:ext cx="1506070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6048" y="352044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707891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55648" y="3730752"/>
            <a:ext cx="1317811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56048" y="370789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895344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55648" y="3918204"/>
            <a:ext cx="753035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56048" y="3895344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82796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55648" y="4105656"/>
            <a:ext cx="188258" cy="960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4082796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2907792"/>
            <a:ext cx="5596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НАС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3127248"/>
            <a:ext cx="55961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Це сегмент, у який найімовірніше потрапляють чотири наші SKU по 112,5–113 г, якщо їх спосіб приготування — варіння з бульйоном.</a:t>
            </a:r>
          </a:p>
          <a:p>
            <a:pPr algn="l">
              <a:lnSpc>
                <a:spcPct val="145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Наша розрахункова полиця 135,48 грн — це +30 % до медіани сегмента 104 грн і вище за P75 (119 грн). Дорожчими за нас у сегменті лишаються лише 6 позицій із 46: три Samyang і три Nongshim (Shin Black та Spicy &amp; Cream).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40740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441655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41655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фото — з каталогів мереж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9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828032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858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671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2311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55246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4828032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2860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60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111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60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673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313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9999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4828032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38862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862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862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862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675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4315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15771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4828032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4864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958584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22592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552255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4828032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077456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77456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130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7456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7456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58784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22792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15002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4828032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677656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677656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77656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77656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158984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222992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06022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4828032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0277856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77856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77856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277856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Другий сегмент пакета: 25 позицій, медіана 100 грн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Локшина, з якої воду зливають, а смак дає соус. Сім позицій, рівновіддалених по ціновій шкалі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27632"/>
            <a:ext cx="283464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41148" cy="11155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83080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93392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25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97506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7 брендів у 11 мережах.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26 % усієї категорії.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7872" y="1627632"/>
            <a:ext cx="283464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47872" y="1627632"/>
            <a:ext cx="41148" cy="11155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03904" y="1783080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4" y="1993392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100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3904" y="2397506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P25–P75: 86–124 грн.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Діапазон: 72–184 грн.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1627632"/>
            <a:ext cx="283464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28816" y="1627632"/>
            <a:ext cx="41148" cy="11155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84848" y="1783080"/>
            <a:ext cx="23591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ЦІНА ЗА ГРАМ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1993392"/>
            <a:ext cx="235915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77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397506"/>
            <a:ext cx="2359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100 г — медіана сегмента.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Варіння 4–5 хв · воду злити, змішати із соусом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627632"/>
            <a:ext cx="2121408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627632"/>
            <a:ext cx="41148" cy="11155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1783080"/>
            <a:ext cx="16459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ВАГОВИЙ ДІАПАЗОН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1993392"/>
            <a:ext cx="1645919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C4820A"/>
                </a:solidFill>
                <a:latin typeface="Segoe UI"/>
              </a:rPr>
              <a:t>105–145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2349881"/>
            <a:ext cx="16459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фактичні межі сегмента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зрізом 29.09.2026.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07792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ХТО ТРИМАЄ СЕГМЕНТ · SKU НА БРЕНД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145536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55648" y="3168396"/>
            <a:ext cx="320040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56048" y="3145536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332988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55648" y="3355848"/>
            <a:ext cx="274320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3332988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20440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55648" y="3543300"/>
            <a:ext cx="182880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6048" y="3520440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707891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55648" y="3730752"/>
            <a:ext cx="182880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56048" y="3707891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895344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55648" y="3918204"/>
            <a:ext cx="91440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56048" y="3895344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82796"/>
            <a:ext cx="11155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755648" y="4105656"/>
            <a:ext cx="457200" cy="960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4082796"/>
            <a:ext cx="457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2907792"/>
            <a:ext cx="55961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НАС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3127248"/>
            <a:ext cx="55961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Сюди потрапляють Carbonara Spicy 131 г і Gouda Cheese 123 г — якщо їхній спосіб приготування це підтвердить.</a:t>
            </a:r>
          </a:p>
          <a:p>
            <a:pPr algn="l">
              <a:lnSpc>
                <a:spcPct val="145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Наша розрахункова полиця 156,32 грн — це +56 % до медіани сегмента 100 грн і вище за P75 (123 грн). Дорожчими за нас лишаються 3 позиції з 25 — усі три Samyang Tangle по 157 грн. Прямий ваговий аналог Paldo Volcano Carbonara 130 г коштує 114 грн.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40740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441655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ПРЕДСТАВНИКИ СЕГМЕНТА · ВІД НАЙДЕШЕВШОЇ ДО НАЙДОРОЖЧОЇ ПОЗИЦІЇ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41655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фото — з каталогів мереж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9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828032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858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671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2311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4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4828032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22860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2860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860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0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673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8313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4828032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38862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862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862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862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67528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431536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05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4828032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486400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0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86400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0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958584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22592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6484363106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4828032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077456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077456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7456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7456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58784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22792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7311338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4828032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677656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677656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145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677656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677656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158984" y="4700016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222992" y="4764024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6849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4828032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0277856" y="5477255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77856" y="5769864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77856" y="5916168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277856" y="6135624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СЕГМЕНТИ 3 І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Стакан і рисові галушки: суміжні сегменти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Наші шість SKU — рамен у пакеті. Ці два сегменти показано як ринковий контекст: вони задають верхню межу ціни за грам у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РАМЕН У СТАКАНІ   ·   18 позицій   ·   медіана 104 грн   ·   154 грн/100 г   ·   вага 62–120 г   ·   P25–P75 93–111 грн   ·   4 бренди у 8 мережах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92023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64517557028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192023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21077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192023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03114601709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192023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30293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192023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0281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192023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79222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856231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4303111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192023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56946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86207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0837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22783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21024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3232" y="36393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4 · РИСОВІ ГАЛУШКИ ТА РИСОВА ЛОКШИНА   ·   7 позицій   ·   медіана 198 грн   ·   136 грн/100 г   ·   вага 80–145 г   ·   4 бренди у 4 мережах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936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0880107311403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986784"/>
            <a:ext cx="548640" cy="5486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85800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80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67128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231136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31136" y="4178807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92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86000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86000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67328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831336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0064843610105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986784"/>
            <a:ext cx="548640" cy="54864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3886200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86200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86200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367528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431536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0880905440235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986784"/>
            <a:ext cx="548640" cy="54864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486400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86400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0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958584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022592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0880905440236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986784"/>
            <a:ext cx="548640" cy="54864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7077456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77456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77456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58784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22792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0880905440237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986784"/>
            <a:ext cx="548640" cy="548640"/>
          </a:xfrm>
          <a:prstGeom prst="rect">
            <a:avLst/>
          </a:prstGeom>
        </p:spPr>
      </p:pic>
      <p:sp>
        <p:nvSpPr>
          <p:cNvPr id="101" name="TextBox 100"/>
          <p:cNvSpPr txBox="1"/>
          <p:nvPr/>
        </p:nvSpPr>
        <p:spPr>
          <a:xfrm>
            <a:off x="8677656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77656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677656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158984" y="3858768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222992" y="3922776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0880905440234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986784"/>
            <a:ext cx="548640" cy="54864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277856" y="4636007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4928616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77856" y="5074920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77856" y="5294376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" y="5687568"/>
            <a:ext cx="3547872" cy="10058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66928" y="5687568"/>
            <a:ext cx="41148" cy="100584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41247" y="585215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СТАКАН — НАЙДОРОЖЧИЙ ЗА ГРАМ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7" y="6126479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154 грн/100 г проти 77–86 у пакеті. Ринок уже платить премію за зручність приготування без плити.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15968" y="5687568"/>
            <a:ext cx="3547872" cy="10058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315968" y="5687568"/>
            <a:ext cx="41148" cy="10058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590288" y="585215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АЛЕ СЕГМЕНТ ВУЗЬКИЙ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90288" y="6126479"/>
            <a:ext cx="29992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18 позицій на всю категорію у 8 мережах. Обсягу він не дає — це нішевий формат.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8065008" y="5687568"/>
            <a:ext cx="3566160" cy="10058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065008" y="5687568"/>
            <a:ext cx="41148" cy="10058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339328" y="5852159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ЩО ЦЕ ОЗНАЧАЄ ДЛЯ SIAS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339328" y="6126479"/>
            <a:ext cx="30175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Якщо в лінійці SIAS є стакан, це єдиний формат, де премія за грам уже прийнята ринком. У поточній пропозиції стакана немає.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позицій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11064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МАТРИЦЯ ФОРМАТ × ВАГА · КІЛЬКІСТЬ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84708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184708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8" y="184708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84708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7967" y="184708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295144"/>
            <a:ext cx="20116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88336" y="2139696"/>
            <a:ext cx="1517904" cy="457200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88336" y="226771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42816" y="2139696"/>
            <a:ext cx="1517904" cy="457200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226771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97296" y="2139696"/>
            <a:ext cx="1517904" cy="45720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26771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51775" y="2139696"/>
            <a:ext cx="1517904" cy="457200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5" y="226771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255" y="2139696"/>
            <a:ext cx="1517904" cy="457200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06255" y="2267712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788920"/>
            <a:ext cx="20116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88336" y="2633472"/>
            <a:ext cx="1517904" cy="457200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88336" y="2761488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2816" y="2633472"/>
            <a:ext cx="1517904" cy="457200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42816" y="2761488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97296" y="2633472"/>
            <a:ext cx="1517904" cy="457200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97296" y="2761488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51775" y="2633472"/>
            <a:ext cx="1517904" cy="457200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51775" y="2761488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6255" y="2633472"/>
            <a:ext cx="1517904" cy="457200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5" y="2761488"/>
            <a:ext cx="15179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383279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392423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 РИНКУ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3392423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частка SKU, медіана полиці та ціна за грам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621024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23744" y="36210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55264" y="362102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1104" y="36210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49824" y="362102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93408" y="3621024"/>
            <a:ext cx="49377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ЩО ЦЕ ЗА СМУГА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803904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803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55264" y="3803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61104" y="38039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9824" y="380390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93408" y="3803904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4082796"/>
            <a:ext cx="10936224" cy="306323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4119372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23744" y="41193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55264" y="41193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61104" y="411937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49824" y="411937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93408" y="4119372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перехідна смуга, мало позицій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43484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23744" y="4434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55264" y="4434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61104" y="443484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49824" y="443484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3408" y="443484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93776" y="4713731"/>
            <a:ext cx="10936224" cy="306323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4750307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523744" y="4750307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55264" y="4750307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61104" y="475030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49824" y="475030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93408" y="4750307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смуга преміальних лінійок і соусних SKU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506577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23744" y="5065775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55264" y="5065775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1104" y="5065775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49824" y="5065775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93408" y="5065775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рисові галушки та нестандарт, інший привід споживання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907024"/>
            <a:ext cx="5413248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907024"/>
            <a:ext cx="41148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7" y="6071616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ВАГА НАШИХ SKU — РИНКОВА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7" y="634593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112,5–131 г потрапляє у дві найщільніші смуги: 66 % усіх позицій ринку. За форматом і грамажем заперечень немає.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17920" y="5907024"/>
            <a:ext cx="5413248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17920" y="5907024"/>
            <a:ext cx="41148" cy="8412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92240" y="6071616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АЛЕ ЦІНА ЗА ГРАМ — НІ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92240" y="6345936"/>
            <a:ext cx="48646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У цих самих смугах ринок тримає 78–86 грн/100 г. Наша модель дає 119–127 грн/100 г — у 1,5 раза більше.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ПОПУЛЯРНІ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формату й ваги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Поєднання з двома і більше позиціями. У 16 таких клітинках лежать 79 позицій із 96 — решта розсіяна по унікальних грамажах.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547872" cy="11704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9344"/>
            <a:ext cx="41148" cy="11704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76479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УПАКОВКА №1 НА РИНКУ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7510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41096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22 позиції, медіана 93 грн, 77 грн/100 г.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1609344"/>
            <a:ext cx="3547872" cy="11704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609344"/>
            <a:ext cx="41148" cy="11704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76479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УПАКОВКА №2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197510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1096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9 позицій, медіана 114 грн, 87 грн/100 г.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Сюди лягає наша Carbonara 131 г.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1609344"/>
            <a:ext cx="3547872" cy="11704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65008" y="1609344"/>
            <a:ext cx="41148" cy="11704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76479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НАЙДЕШЕВШИЙ ФОРМАТ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97510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41096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4 позиції, медіана 70 грн.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907792"/>
            <a:ext cx="3547872" cy="11704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2907792"/>
            <a:ext cx="41148" cy="117043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06324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ВАГА ЧОТИРЬОХ НАШИХ 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273552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709416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Жодної позиції ринку в цій вазі.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5968" y="2907792"/>
            <a:ext cx="3547872" cy="11704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2907792"/>
            <a:ext cx="41148" cy="117043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06324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РІЗНИЦЯ ДО СТАНДАРТУ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273552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spc="-10">
                <a:solidFill>
                  <a:srgbClr val="B53A3A"/>
                </a:solidFill>
                <a:latin typeface="Segoe UI"/>
              </a:rPr>
              <a:t>113 проти 120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709416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 7 г легше за стандарт категорії.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 однакової ціни це −6 % продукту.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65008" y="2907792"/>
            <a:ext cx="3547872" cy="117043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65008" y="2907792"/>
            <a:ext cx="41148" cy="11704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06324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73552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09416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позицій лежать у повторюваних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поєднаннях формату й ваги.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24281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425195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251959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хто їх тримає і чи є там наші SKU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480559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480559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4480559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480559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4480559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77840" y="4480559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11696" y="4480559"/>
            <a:ext cx="3017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0" y="4480559"/>
            <a:ext cx="18470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ЧИ Є ТУТ НАШІ SKU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46634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94560" y="46634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0" y="466344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0" y="46634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0560" y="46634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6634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11696" y="466344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663440"/>
            <a:ext cx="18470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3776" y="4910327"/>
            <a:ext cx="10936224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4946903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94560" y="494690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17520" y="4946903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946903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4946903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77840" y="4946903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11696" y="4946903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4946903"/>
            <a:ext cx="18470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5230367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94560" y="523036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17520" y="5230367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0" y="523036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80560" y="5230367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577840" y="5230367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11696" y="5230367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784080" y="5230367"/>
            <a:ext cx="18470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93776" y="5477255"/>
            <a:ext cx="10936224" cy="2743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55138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551383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017520" y="55138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0" y="5513831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80560" y="55138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51383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11696" y="5513831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84080" y="5513831"/>
            <a:ext cx="18470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5797295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рисові галушки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94560" y="579729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97295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0" y="5797295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80560" y="579729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77840" y="579729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6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11696" y="5797295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84080" y="5797295"/>
            <a:ext cx="18470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66928" y="6163056"/>
            <a:ext cx="11064240" cy="56692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66928" y="6163056"/>
            <a:ext cx="41148" cy="56692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1248" y="6254496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ГОЛОВНЕ ПРО УПАКОВКУ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1248" y="6455664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Стандарт категорії — пакет 120 г. Чотири наші SKU на 7 г легші за нього, а їхня розрахункова ціна 135,48 грн на 46 % вища за медіану цієї клітинки (93 грн).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ЦІНОВА КАРТА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стоїть ринок і де опиняємося 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Шкала — грн за одну пачку, з ПДВ. Помаранчеве — ми, темне — медіани сегментів, світле — бренди й конкретні позиції. Медіана бренду — по всіх його позиціях у зрізі.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98721" y="1645920"/>
            <a:ext cx="1081901" cy="3899001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8721" y="1499616"/>
            <a:ext cx="108190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ЦІНОВЕ ВІКНО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50208" y="1792224"/>
            <a:ext cx="5486" cy="375269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558149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9051" y="1792224"/>
            <a:ext cx="5486" cy="375269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3291" y="558149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895" y="1792224"/>
            <a:ext cx="5486" cy="375269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62135" y="558149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6738" y="1792224"/>
            <a:ext cx="5486" cy="375269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0978" y="558149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5582" y="1792224"/>
            <a:ext cx="5486" cy="375269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9822" y="558149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44426" y="1792224"/>
            <a:ext cx="5486" cy="3752697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8666" y="5581497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834286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Yeul Ramen 120 г · найдешевший пакет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50208" y="1856232"/>
            <a:ext cx="1936034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59394" y="182971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68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000707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O’Food · медіана бренду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50208" y="2022652"/>
            <a:ext cx="2192273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5633" y="1996135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167128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 · медіана бренду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50208" y="2189073"/>
            <a:ext cx="2220745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4105" y="2162556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2333548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 · медіана бренду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0208" y="2355494"/>
            <a:ext cx="2448513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1873" y="2328976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499969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· медіана бренду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50208" y="2521915"/>
            <a:ext cx="2533927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7287" y="2495397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666390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· медіана бренду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50208" y="2688336"/>
            <a:ext cx="2676282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99642" y="2661818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32811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 · медіана бренду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50208" y="2854756"/>
            <a:ext cx="2704753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8113" y="2828239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95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2999232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РАМЕН ІЗ СОУСОМ · медіана сегмента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50208" y="3021177"/>
            <a:ext cx="2847109" cy="1115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70469" y="29946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65652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РАМЕН З БУЛЬЙОНОМ · медіана сегмента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50208" y="3187598"/>
            <a:ext cx="2960993" cy="1115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84353" y="316108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332073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МЕДІАНА ВСІЄЇ КАТЕГОРІЇ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50208" y="3354019"/>
            <a:ext cx="2989464" cy="1115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12824" y="3327501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3498494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 · медіана бренду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50208" y="3520439"/>
            <a:ext cx="3017935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41295" y="3493922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3664915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· медіана бренду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50208" y="3686860"/>
            <a:ext cx="3160291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83651" y="3660343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831336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медіана бренду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50208" y="3853281"/>
            <a:ext cx="3188762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2122" y="38267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6928" y="3997756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Volcano Carbonara 130 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950208" y="4019702"/>
            <a:ext cx="3245704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69064" y="399318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4164177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Ramyun 120 г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50208" y="4186123"/>
            <a:ext cx="3331117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354477" y="4159605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117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4330598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Choi’s · окремий конкурент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50208" y="4352544"/>
            <a:ext cx="3558886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582246" y="4326026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125,20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497019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чотири SKU 112,5–113 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50208" y="4518964"/>
            <a:ext cx="3857263" cy="111556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80623" y="4492447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135,48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663440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Buldak Carbonara 130 г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50208" y="4685385"/>
            <a:ext cx="3985952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09312" y="4658868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140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4829860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Toomba 137 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950208" y="4851806"/>
            <a:ext cx="4242192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5552" y="4825288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996281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Gouda / Carbonara 123–131 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50208" y="5018227"/>
            <a:ext cx="4450600" cy="111556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73960" y="4991709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156,32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5162702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 · медіана бренду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950208" y="5184648"/>
            <a:ext cx="5808102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31462" y="515813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5329123"/>
            <a:ext cx="32735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Black 130 г · максимум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950208" y="5351068"/>
            <a:ext cx="5836573" cy="111556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59933" y="5324551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205 грн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797296"/>
            <a:ext cx="3547872" cy="950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797296"/>
            <a:ext cx="41148" cy="9509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41247" y="5961888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ОБИДВІ ПОЗИЦІЇ — ВИЩЕ ВІКНА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41247" y="623620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135,48 і 156,32 грн лежать над смугою 86–124 грн, у якій стоїть половина ринку.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15968" y="5797296"/>
            <a:ext cx="3547872" cy="950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15968" y="5797296"/>
            <a:ext cx="41148" cy="950976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590288" y="5961888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ДЕШЕВШІ ЗА НАС — 82 % І 89 %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90288" y="623620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Стільки позицій зрізу коштують менше за наші 135,48 і 156,32 грн. Дорожчих — лише 17 і 11 SKU з 96.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65008" y="5797296"/>
            <a:ext cx="3566160" cy="9509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65008" y="5797296"/>
            <a:ext cx="41148" cy="95097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339328" y="5961888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БРЕНДИ З КІЛЬКОМА ПОЗИЦІЯМИ — ДО 112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39328" y="623620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Найвище серед них Samyang, медіана 112 грн. Вище лише Yopokki (рисові галушки) і одна позиція Choi’s.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0078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700784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70078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0078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700784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700784"/>
            <a:ext cx="3675887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8366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188366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188366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18836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95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8836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1883664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104948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14152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44368" y="214152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214152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808" y="214152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118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14152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2141524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99385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399385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8" y="2399385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1808" y="239938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118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239938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399385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620670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657246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657246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288" y="265724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21808" y="265724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118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265724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2657246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915107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44368" y="2915107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90288" y="2915107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21808" y="2915107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19088" y="2915107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2915107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136392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17296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«Клас»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44368" y="31729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90288" y="3172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21808" y="31729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137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19088" y="3172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3172968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430828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«Восторг»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343082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90288" y="343082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21808" y="343082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137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19088" y="343082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55279" y="3430828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652113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688689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«Космос»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88689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90288" y="3688689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1808" y="3688689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9088" y="3688689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3688689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94655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44368" y="394655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90288" y="394655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21808" y="394655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19088" y="394655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955279" y="3946550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167835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204411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44368" y="4204411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90288" y="420441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21808" y="420441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128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420441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55279" y="4204411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46227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44368" y="44622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90288" y="44622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21808" y="44622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136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19088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55279" y="4462272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683556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72013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44368" y="472013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90288" y="472013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21808" y="472013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138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19088" y="47201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4720132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977993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44368" y="4977993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90288" y="4977993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21808" y="4977993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419088" y="4977993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55279" y="4977993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199278"/>
            <a:ext cx="10936224" cy="2487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23585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44368" y="5235854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90288" y="523585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21808" y="523585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19088" y="523585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955279" y="5235854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493715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5493715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90288" y="5493715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21808" y="549371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19088" y="5493715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19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55279" y="5493715"/>
            <a:ext cx="367588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961888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961888"/>
            <a:ext cx="41148" cy="8229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41247" y="612647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ДІРКА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41247" y="6400800"/>
            <a:ext cx="2999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Найбільша мережа країни тримає 4 позиції. Полиця відкрита, але вхід там 90–199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961888"/>
            <a:ext cx="3547872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961888"/>
            <a:ext cx="41148" cy="82296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90288" y="612647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ДІРКА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90288" y="6400800"/>
            <a:ext cx="2999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жодної позиції у зрізі.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961888"/>
            <a:ext cx="356616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961888"/>
            <a:ext cx="41148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39328" y="6126479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39328" y="640080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позицій і той самий діапазон цін.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поділена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Скільки позицій кожного бренду стоїть у кожній мережі. Насиченість кольору пропорційна кількості. Зріз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4912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8656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1755648"/>
            <a:ext cx="8412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7776" y="175564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ВСЬОГО У ЗРІЗІ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13741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1095" y="2039112"/>
            <a:ext cx="786384" cy="37947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11095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03911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93592" y="2039112"/>
            <a:ext cx="786384" cy="37947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93592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0391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6088" y="2039112"/>
            <a:ext cx="786384" cy="37947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76088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17336" y="203911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58584" y="203911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58584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99831" y="203911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99831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203911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41080" y="21191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7776" y="214655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72 позиції · 11 мереж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7175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11095" y="2473452"/>
            <a:ext cx="786384" cy="379476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11095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2473452"/>
            <a:ext cx="786384" cy="37947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93592" y="2473452"/>
            <a:ext cx="786384" cy="37947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93592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34840" y="2473452"/>
            <a:ext cx="786384" cy="37947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34840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76088" y="24734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76088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17336" y="247345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17336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958584" y="247345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58584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99831" y="247345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99831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247345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41080" y="25534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37776" y="258089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71 позиція · 10 мереж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00609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11095" y="2907792"/>
            <a:ext cx="786384" cy="37947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11095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52344" y="2907792"/>
            <a:ext cx="786384" cy="37947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52344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93592" y="290779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93592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34840" y="290779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34840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76088" y="290779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76088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17336" y="290779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17336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58584" y="290779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58584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99831" y="290779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99831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290779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298780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37776" y="301523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26 позицій · 5 мереж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44043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911095" y="3342132"/>
            <a:ext cx="786384" cy="37947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911095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52344" y="334213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52344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93592" y="334213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93592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34840" y="334213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34840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276088" y="334213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276088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17336" y="334213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7336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958584" y="334213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958584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799831" y="334213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799831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334213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41080" y="342214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637776" y="344957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19 позицій · 5 мереж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387477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O’Food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11095" y="377647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911095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52344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52344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93592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93592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34840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434840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276088" y="377647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276088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117336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7336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58584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799831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799831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377647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641080" y="385648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37776" y="388391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8 позицій · 2 мережі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430911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911095" y="4210812"/>
            <a:ext cx="786384" cy="37947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911095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52344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52344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593592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93592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34840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434840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276088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276088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17336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17336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958584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58584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799831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799831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21081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41080" y="429082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37776" y="431825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4 позиції · 1 мережа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66928" y="4743450"/>
            <a:ext cx="11887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Choi’s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911095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911095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52344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52344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593592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593592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434840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434840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276088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276088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17336" y="464515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117336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958584" y="4645152"/>
            <a:ext cx="786384" cy="37947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958584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799831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799831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4645152"/>
            <a:ext cx="786384" cy="37947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641080" y="4725162"/>
            <a:ext cx="786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637776" y="4752594"/>
            <a:ext cx="2249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 позиції · 1 постачальник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66928" y="4992624"/>
            <a:ext cx="3547872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66928" y="4992624"/>
            <a:ext cx="41148" cy="11155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22960" y="514807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МЕРЕЖ БЕЗ КАТЕГОРІЇ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2960" y="535838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1E9EA6"/>
                </a:solidFill>
                <a:latin typeface="Segoe UI"/>
              </a:rPr>
              <a:t>5 із 18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22960" y="576249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МегаМаркет, Ultramarket, ЕКО,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Епіцентр, «Ідеал» — нуль позицій.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315968" y="4992624"/>
            <a:ext cx="3547872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315968" y="4992624"/>
            <a:ext cx="41148" cy="11155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4572000" y="5148072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У «СІЛЬПО»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0" y="5358384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C4820A"/>
                </a:solidFill>
                <a:latin typeface="Segoe UI"/>
              </a:rPr>
              <a:t>4 SKU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0" y="5762498"/>
            <a:ext cx="30723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Найбільша мережа країни.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Діапазон входу — 90–199 грн.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8065008" y="4992624"/>
            <a:ext cx="3566160" cy="111556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8065008" y="4992624"/>
            <a:ext cx="41148" cy="11155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321040" y="5148072"/>
            <a:ext cx="30906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ДВА ЛІДЕРИ ДАЮТЬ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321040" y="5358384"/>
            <a:ext cx="3090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-10">
                <a:solidFill>
                  <a:srgbClr val="B53A3A"/>
                </a:solidFill>
                <a:latin typeface="Segoe UI"/>
              </a:rPr>
              <a:t>54 з 96 SKU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321040" y="5762498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Samyang і Nongshim — у 10–11 мережах.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Нова марка заходить проти них.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66928" y="6254496"/>
            <a:ext cx="11064240" cy="5486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566928" y="6254496"/>
            <a:ext cx="41148" cy="5486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41248" y="6345936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ВИСНОВОК ДЛЯ ДИСТРИБУЦІЇ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41248" y="6547104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Вхід у категорію вже пробитий: імпортер і місце на полиці під Samyang і Nongshim існують. Вільне місце є лише там, де категорії немає зовсім.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Чотирнадцять найпоширеніших не-корейських позицій локшини швидкого приготування — по одній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60934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59552"/>
            <a:ext cx="5413248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59552"/>
            <a:ext cx="41148" cy="115214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41247" y="5724144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7" y="5998464"/>
            <a:ext cx="48646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г, тобто 18–33 грн/100 г. Корейський рамен коштує у 2,5–3 рази дорожче за грам, і ринок це приймає. Але прийнята премія має межу.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217920" y="5559552"/>
            <a:ext cx="5413248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217920" y="5559552"/>
            <a:ext cx="41148" cy="115214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492240" y="5724144"/>
            <a:ext cx="48646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ДЕ ЦЯ МЕЖА ПРОХОДИТЬ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92240" y="5998464"/>
            <a:ext cx="48646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У корейському рамені в пакеті ціна за грам — від 49 до 158 грн/100 г, медіана 80. Наші 119–127 грн/100 г — це 4–7-кратна премія до українського мас-маркету; на цьому рівні або вище стоять лише 6 із 71 позиції в пакеті.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ОКРЕМИЙ КОНКУРЕНТ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Choi’s: ринковий орієнтир, окремий продукт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Choi’s Carbonara 131 г — позиція вихідного зрізу 29.09.2026. Це окремий конкурент, а не наш товар SIAS.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0078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6479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828800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7802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7063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13639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1700784"/>
            <a:ext cx="2980944" cy="17007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1700784"/>
            <a:ext cx="41148" cy="170078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1856232"/>
            <a:ext cx="25054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РОЗДРІБНА ЦІНА НА ПОЛИЦІ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2066544"/>
            <a:ext cx="25054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spc="-10">
                <a:solidFill>
                  <a:srgbClr val="303A5D"/>
                </a:solidFill>
                <a:latin typeface="Segoe UI"/>
              </a:rPr>
              <a:t>125,20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2032" y="2926080"/>
            <a:ext cx="25054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96 грн за 100 г.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68112" y="1700784"/>
            <a:ext cx="3108960" cy="17007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68112" y="1700784"/>
            <a:ext cx="41148" cy="17007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24144" y="1856232"/>
            <a:ext cx="26334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НАШ SIAS · GOUDA / CARBONARA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24144" y="2066544"/>
            <a:ext cx="26334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spc="-10">
                <a:solidFill>
                  <a:srgbClr val="B53A3A"/>
                </a:solidFill>
                <a:latin typeface="Segoe UI"/>
              </a:rPr>
              <a:t>156,32 грн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24144" y="2926080"/>
            <a:ext cx="2633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Полиця за моделлю при маржі 15 %.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+24,9 % до ціни конкурента.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78240" y="1700784"/>
            <a:ext cx="2852928" cy="17007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778240" y="1700784"/>
            <a:ext cx="41148" cy="17007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4272" y="1856232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СС ДЛЯ ПАРИТЕТУ 125,20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2066544"/>
            <a:ext cx="23774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spc="-10">
                <a:solidFill>
                  <a:srgbClr val="C4820A"/>
                </a:solidFill>
                <a:latin typeface="Segoe UI"/>
              </a:rPr>
              <a:t>53,66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272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Замість 66,99 грн.</a:t>
            </a:r>
          </a:p>
          <a:p>
            <a:pPr algn="l">
              <a:lnSpc>
                <a:spcPct val="130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Це мінус 19,9 % до собівартості.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712463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3721607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З ЦЬОГО МОЖНА І ЧОГО НЕ МОЖНА ВИВЕСТИ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950207"/>
            <a:ext cx="3547872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950207"/>
            <a:ext cx="41148" cy="21031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7" y="411479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1 · ЦЕ ПОРІВНЯННЯ РІЗНИХ 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" y="4389119"/>
            <a:ext cx="2999232" cy="1499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Choi’s Carbonara коштує 125,20 грн у вихідному зрізі. Наші SIAS Gouda / Carbonara — 156,32 грн за моделлю, тобто на 24,9 % дорожче.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Для паритету полиці 125,20 грн модель потребує СС 53,66 грн. Це ціновий сценарій, а не ціна закупівлі конкурента.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3950207"/>
            <a:ext cx="3547872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8" y="3950207"/>
            <a:ext cx="41148" cy="210312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0288" y="4114799"/>
            <a:ext cx="2999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2 · ЩО ПЕРЕВІРИТИ ДЛЯ SIAS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0288" y="4389119"/>
            <a:ext cx="2999232" cy="1499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Для наших шести SKU потрібно підтвердити: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· склад та інструкції приготування;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· що саме входить у собівартість — товар і всі витрати;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· умови поставки й канал продажу;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· підтримку запуску і попит за нашою ціною.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65008" y="3950207"/>
            <a:ext cx="3566160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65008" y="3950207"/>
            <a:ext cx="41148" cy="21031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39328" y="4114799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3 · МЕЖА ВИСНОВКУ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8" y="4389119"/>
            <a:ext cx="3017520" cy="1499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Ціна Choi’s не розкриває його собівартості, бонусу мережі чи маржі.</a:t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З неї не можна вивести закупівельну ціну SIAS, спільного імпортера або доступність ексклюзиву для нашого продукту.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327648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НАША ЛІНІЙКА ТА РОЗРАХУНОК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SKU SIAS і як із собівартості виходить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Формула — з фінансової моделі SIAS: цільова маржа 15 %, бонус мережі 25 %, націнка мережі 1,40, курс 51,20 грн/€.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70078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1700784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1700784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СС,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170078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1700784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ПОЛИЦЯ З ПДВ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1700784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1700784"/>
            <a:ext cx="2377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717890"/>
                </a:solidFill>
                <a:latin typeface="Segoe UI"/>
              </a:rPr>
              <a:t>РИНКОВИЙ ОРІЄНТИР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188366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Spicy Flavor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4368" y="18836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112,5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18836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58,06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188366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96,77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18836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135,48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8366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188366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Ottogi Jin 120 г — 84–93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" y="2187244"/>
            <a:ext cx="10936224" cy="3310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22382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Beef Flavor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222382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58768" y="22238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58,06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222382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96,77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222382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135,48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8" y="2223820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2223820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Nongshim Shin 120 г — 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563977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Chicken Flavor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44368" y="2563977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58768" y="2563977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58,06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6048" y="2563977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96,77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2563977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135,48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73568" y="256397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728" y="2563977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Ottogi Yeul 120 г — 68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" y="2867558"/>
            <a:ext cx="10936224" cy="3310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290413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Vegetable Flavor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290413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113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290413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58,06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6048" y="290413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96,77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290413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135,48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73568" y="2904134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90413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Soon Veggie 112 г — 88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44291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Carbonara Spicy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44368" y="3244291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131 г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58768" y="3244291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66,99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32442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111,66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0528" y="3244291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156,32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73568" y="3244291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53728" y="3244291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Paldo Carbonara 130 г — 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3776" y="3547871"/>
            <a:ext cx="10936224" cy="3310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584447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Gouda Cheese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3584447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123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58768" y="3584447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66,99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56048" y="3584447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111,66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0528" y="3584447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156,32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73568" y="3584447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19" b="0" spc="-10">
                <a:solidFill>
                  <a:srgbClr val="717890"/>
                </a:solidFill>
                <a:latin typeface="Segoe UI"/>
              </a:rPr>
              <a:t>127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53728" y="3584447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9" b="0" spc="-10">
                <a:solidFill>
                  <a:srgbClr val="303A5D"/>
                </a:solidFill>
                <a:latin typeface="Segoe UI"/>
              </a:rPr>
              <a:t>Bibigo Cheese 122 г — 86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407822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2" y="4087368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ІЗ СОБІВАРТОСТІ ВИХОДИТЬ ПОЛИЦЯ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4087368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той самий ланцюг для обох груп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4352544"/>
            <a:ext cx="11064240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66928" y="4352544"/>
            <a:ext cx="41148" cy="749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4480559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ЧОТИРИ SKU · 112,5–113 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46817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C4820A"/>
                </a:solidFill>
                <a:latin typeface="Segoe UI"/>
              </a:rPr>
              <a:t>135,48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4640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58,06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34640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грн/уп.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31920" y="46085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33087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÷ 0,60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33087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60 %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33087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частка ціни для СС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30368" y="46085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31536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31536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96,77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31536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грн, з ПДВ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8816" y="46085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29983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− БОНУС 25 %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9983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24,19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29983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 мережі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27263" y="46085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28431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= ПРИБУТОК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28431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14,52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28431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 · маржа 15,0 %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25711" y="46085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26880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× 1,40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1,40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26880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націнка мережі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24159" y="4608576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25328" y="4462272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625328" y="460857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135,48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625328" y="48463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грн, з ПДВ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28" y="5193792"/>
            <a:ext cx="11064240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6928" y="5193792"/>
            <a:ext cx="41148" cy="7498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2960" y="5321807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B53A3A"/>
                </a:solidFill>
                <a:latin typeface="Segoe UI"/>
              </a:rPr>
              <a:t>GOUDA 123 Г · CARBONARA 131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" y="55229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B53A3A"/>
                </a:solidFill>
                <a:latin typeface="Segoe UI"/>
              </a:rPr>
              <a:t>156,32 грн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34640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34640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66,99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грн/уп.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931920" y="544982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133087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÷ 0,60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33087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60 %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33087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частка ціни для СС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230368" y="544982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431536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ЦІНА ПАРТНЕРУ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31536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111,66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31536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грн, з ПДВ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28816" y="544982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729983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− БОНУС 25 %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729983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27,92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729983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 мережі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827263" y="544982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28431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= ПРИБУТОК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028431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16,75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28431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 · маржа 15,0 %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25711" y="544982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326880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× 1,40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26880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1,40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26880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націнка мережі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424159" y="5449824"/>
            <a:ext cx="1645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25328" y="530352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625328" y="544982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156,32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625328" y="56875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грн, з ПДВ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66928" y="6035040"/>
            <a:ext cx="11064240" cy="6400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66928" y="6035040"/>
            <a:ext cx="41148" cy="6400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41248" y="6126479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ЩО В ЦЬОМУ РОЗРАХУНКУ ЗАФІКСОВАНО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41248" y="6327648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Маржа 15 %, бонус 25 % і націнка 1,40 — умови моделі, а не змінні. Полиця залежить тільки від собівартості: кожна гривня СС дає 2,33 грн на полиці.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ЦІНОВІ СЦЕНАРІЇ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варіанти ціни і що кожен дає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Розрахунок за поточної собівартості 58,06 і 66,99 грн. Маржа 15 % зберігається лише у базовому сценарії.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64208"/>
            <a:ext cx="3547872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64208"/>
            <a:ext cx="41148" cy="210312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10512"/>
            <a:ext cx="3035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B53A3A"/>
                </a:solidFill>
                <a:latin typeface="Segoe UI"/>
              </a:rPr>
              <a:t>АГРЕСИВНИЙ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993392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Зайти ціною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225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ЧОТИРИ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68880"/>
            <a:ext cx="1426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95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864" y="23225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GOUDA / CARBONARA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0864" y="2468880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100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81635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62656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−10,6 %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0864" y="28163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0864" y="2962656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−18,8 %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273552"/>
            <a:ext cx="3035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Полиця в ринку, але модель іде у збиток.</a:t>
            </a:r>
          </a:p>
          <a:p>
            <a:pPr algn="l">
              <a:lnSpc>
                <a:spcPct val="138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Для 15 % потрібна СС 40,71 і 42,86 грн.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5968" y="1664208"/>
            <a:ext cx="3547872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5968" y="1664208"/>
            <a:ext cx="41148" cy="21031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1810512"/>
            <a:ext cx="3035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БАЗОВИЙ РОЗРАХУНОК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1993392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Маржа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3225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ЧОТИРИ SKU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2468880"/>
            <a:ext cx="1426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135,48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23225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GOUDA / CARBONARA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2468880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156,32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81635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962656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15,0 %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28163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62656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15,0 %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273552"/>
            <a:ext cx="3035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Єдиний сценарій із цільовою маржею.</a:t>
            </a:r>
          </a:p>
          <a:p>
            <a:pPr algn="l">
              <a:lnSpc>
                <a:spcPct val="138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Але це +29,0 % і +48,9 % до медіани 105 грн.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8" y="1664208"/>
            <a:ext cx="3547872" cy="21031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65008" y="1664208"/>
            <a:ext cx="41148" cy="21031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1810512"/>
            <a:ext cx="3035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1E9EA6"/>
                </a:solidFill>
                <a:latin typeface="Segoe UI"/>
              </a:rPr>
              <a:t>ПРОМІЖНИЙ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1993392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Компроміс за ціною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2322576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ЧОТИРИ 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2468880"/>
            <a:ext cx="14264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115 грн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38944" y="2322576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GOUDA / CARBONARA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38944" y="2468880"/>
            <a:ext cx="15179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135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2816352"/>
            <a:ext cx="142646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2962656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4,3 %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38944" y="2816352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МАРЖА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38944" y="2962656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5,5 %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3273552"/>
            <a:ext cx="3035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Ближче до ринку, цільових 15 % не дає.</a:t>
            </a:r>
          </a:p>
          <a:p>
            <a:pPr algn="l">
              <a:lnSpc>
                <a:spcPct val="138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Для 15 % потрібна СС 49,29 і 57,86 грн.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404164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4050791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ПОТРІБНО ВІД ПОСТАЧАЛЬНИКА ПІД КОЖНУ ЦІЛЬОВУ ПОЛИЦЮ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4050791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собівартість з ПДВ, грн за пачку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4279392"/>
            <a:ext cx="2834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01568" y="4279392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ЦІНА ПАРТНЕРУ,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38928" y="42793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ПОТРІБНА СС,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4279392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ПОТРІБНА СС, 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47888" y="4279392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ЗМІНА ДЛЯ 4 SKU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93808" y="4279392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40" b="1" spc="-10">
                <a:solidFill>
                  <a:srgbClr val="717890"/>
                </a:solidFill>
                <a:latin typeface="Segoe UI"/>
              </a:rPr>
              <a:t>ЗМІНА ДЛЯ GOUDA / CARB.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4462272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-10">
                <a:solidFill>
                  <a:srgbClr val="303A5D"/>
                </a:solidFill>
                <a:latin typeface="Segoe UI"/>
              </a:rPr>
              <a:t>Медіана сегмента із соусом · 100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01568" y="44622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71,43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38928" y="44622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42,86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848" y="4462272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0,84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47888" y="446227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−26,2 %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93808" y="44622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−36,0 %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3776" y="4809744"/>
            <a:ext cx="10936224" cy="3749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4846320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-10">
                <a:solidFill>
                  <a:srgbClr val="303A5D"/>
                </a:solidFill>
                <a:latin typeface="Segoe UI"/>
              </a:rPr>
              <a:t>Медіана категорії · 105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484632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75,00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38928" y="484632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45,00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84848" y="484632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0,88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47888" y="484632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−22,5 %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93808" y="484632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−32,8 %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5230368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-10">
                <a:solidFill>
                  <a:srgbClr val="303A5D"/>
                </a:solidFill>
                <a:latin typeface="Segoe UI"/>
              </a:rPr>
              <a:t>Паритет з Paldo Carbonara · 114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01568" y="5230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81,43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38928" y="52303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48,86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84848" y="523036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0,95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47888" y="523036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−15,9 %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93808" y="5230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−27,1 %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3776" y="5577840"/>
            <a:ext cx="10936224" cy="3749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6928" y="5614416"/>
            <a:ext cx="2834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spc="-10">
                <a:solidFill>
                  <a:srgbClr val="303A5D"/>
                </a:solidFill>
                <a:latin typeface="Segoe UI"/>
              </a:rPr>
              <a:t>Конкурент Choi’s · 125,20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401568" y="561441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89,43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38928" y="5614416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53,66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84848" y="561441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1,05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47888" y="5614416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−7,6 %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93808" y="561441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spc="-10">
                <a:solidFill>
                  <a:srgbClr val="717890"/>
                </a:solidFill>
                <a:latin typeface="Segoe UI"/>
              </a:rPr>
              <a:t>−19,9 %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6928" y="6126480"/>
            <a:ext cx="11064240" cy="5486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6928" y="6126480"/>
            <a:ext cx="41148" cy="5486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1248" y="6217920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1248" y="6419088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Під медіану категорії потрібна СС 45,00 грн: мінус 22,5 % для чотирьох SKU і мінус 32,8 % для Gouda / Carbonara.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ПОСТАЧАЛЬНИК І РИЗИКИ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SIAS і що може зламати розрахунок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профіль постачальника та альтернатива для порівняння. Праворуч — припущення, на яких тримається полиця 135,48 і 156,32 грн.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5413248" cy="27066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45920"/>
            <a:ext cx="41148" cy="27066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792224"/>
            <a:ext cx="49011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1E9EA6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975104"/>
            <a:ext cx="490118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SIAS FRANCE · ROYE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322576"/>
            <a:ext cx="49011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Франція · Hauts-de-France · європейська площадка корейської групи SIAS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560320"/>
            <a:ext cx="49011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706624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Шість SKU — рамен у пакеті, 112,5–131 г. Назви й вагу підтверджено таблицею товарів.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017520"/>
            <a:ext cx="49011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ПЛОЩАДКА ТА СЕРТИФІКАЦІЯ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163824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16 000 м², група працює з 1997 року · IFS · BRC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474720"/>
            <a:ext cx="49011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УМОВИ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621024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FCA Roye · 0 % ввізного мита за сертифікатом EUR.1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31920"/>
            <a:ext cx="49011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ЩО НЕ РОЗКРИТО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4078224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840" b="0" spc="-10">
                <a:solidFill>
                  <a:srgbClr val="303A5D"/>
                </a:solidFill>
                <a:latin typeface="Segoe UI"/>
              </a:rPr>
              <a:t>структура собівартості, ексклюзив на Україну, терміни придатності, підтримка запуску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462272"/>
            <a:ext cx="5413248" cy="16459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462272"/>
            <a:ext cx="41148" cy="16459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608576"/>
            <a:ext cx="49011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1" spc="-10">
                <a:solidFill>
                  <a:srgbClr val="717890"/>
                </a:solidFill>
                <a:latin typeface="Segoe UI"/>
              </a:rPr>
              <a:t>АЛЬТЕРНАТИВА ДЛЯ ПОРІВНЯННЯ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791456"/>
            <a:ext cx="4901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-10">
                <a:solidFill>
                  <a:srgbClr val="303A5D"/>
                </a:solidFill>
                <a:latin typeface="Segoe UI"/>
              </a:rPr>
              <a:t>ПРЯМИЙ ІМПОРТ З КОРЕЇ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102352"/>
            <a:ext cx="490118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Корея у 2025 відвантажила в Україну 253,8 т за $4,88/кг митної вартості; наша повна собівартість — €10,0–10,6/кг. Бази різні, але розрив завеликий, щоб пояснюватися лише цим.</a:t>
            </a:r>
          </a:p>
          <a:p>
            <a:pPr algn="l">
              <a:lnSpc>
                <a:spcPct val="136000"/>
              </a:lnSpc>
            </a:pPr>
            <a:r>
              <a:rPr sz="840" b="0" spc="-10">
                <a:solidFill>
                  <a:srgbClr val="717890"/>
                </a:solidFill>
                <a:latin typeface="Segoe UI"/>
              </a:rPr>
              <a:t>Перевага SIAS — мито й логістика, а не ціна продукту. Котирування корейського заводу в цьому дослідженні немає.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645920"/>
            <a:ext cx="54132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ШІСТЬ ПРИПУЩЕНЬ, ЯКІ ВАРТО ПЕРЕВІРИТИ ДО ПІДПИСАННЯ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847088"/>
            <a:ext cx="2670048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847088"/>
            <a:ext cx="41148" cy="13350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47888" y="1956816"/>
            <a:ext cx="530352" cy="1828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1979676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ВИС.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197510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Склад собівартості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286000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Невідомо, чи входять у 58,06 і 66,99 грн усі витрати — чи лише товар.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2834640"/>
            <a:ext cx="226771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295351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spc="-10">
                <a:solidFill>
                  <a:srgbClr val="B53A3A"/>
                </a:solidFill>
                <a:latin typeface="Segoe UI"/>
              </a:rPr>
              <a:t>Полиця буде ще вищою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1847088"/>
            <a:ext cx="2670048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61120" y="1847088"/>
            <a:ext cx="41148" cy="13350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91088" y="1956816"/>
            <a:ext cx="530352" cy="1828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91088" y="1979676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ВИС.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0576" y="1975104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Тип приготування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2286000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Назва смаку не визначає сегмент. Потрібні специфікації.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2834640"/>
            <a:ext cx="226771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295351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spc="-10">
                <a:solidFill>
                  <a:srgbClr val="B53A3A"/>
                </a:solidFill>
                <a:latin typeface="Segoe UI"/>
              </a:rPr>
              <a:t>Орієнтир 104 чи 100 грн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3291840"/>
            <a:ext cx="2670048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3291840"/>
            <a:ext cx="41148" cy="133502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47888" y="3401568"/>
            <a:ext cx="530352" cy="1828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47888" y="3424428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ВИС.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37376" y="3419856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Маржа 15 % — валова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7376" y="3730752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Логістика, лістинги, промо і курс у неї не входять.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37376" y="4279392"/>
            <a:ext cx="226771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37376" y="4398264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spc="-10">
                <a:solidFill>
                  <a:srgbClr val="B53A3A"/>
                </a:solidFill>
                <a:latin typeface="Segoe UI"/>
              </a:rPr>
              <a:t>Прибуток менший за 14,52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61120" y="3291840"/>
            <a:ext cx="2670048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61120" y="3291840"/>
            <a:ext cx="41148" cy="1335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991088" y="3401568"/>
            <a:ext cx="530352" cy="18288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91088" y="3424428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СЕР.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0576" y="3419856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Націнка мережі 1,40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0576" y="3730752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Умова моделі. Реальна може бути 1,30–1,55.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0576" y="4279392"/>
            <a:ext cx="226771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0576" y="4398264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126–150 / 145–173 грн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4736592"/>
            <a:ext cx="2670048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4736592"/>
            <a:ext cx="41148" cy="1335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47888" y="4846320"/>
            <a:ext cx="530352" cy="18288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47888" y="4869179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СЕР.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37376" y="4864607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Бонус мережі 25 %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7376" y="5175504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Умова моделі; фактичні бонуси узгоджуються окремо.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37376" y="5724144"/>
            <a:ext cx="226771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37376" y="5843016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+5 п.п. = +12…14 грн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4736592"/>
            <a:ext cx="2670048" cy="13350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61120" y="4736592"/>
            <a:ext cx="41148" cy="1335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991088" y="4846320"/>
            <a:ext cx="530352" cy="18288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991088" y="4869179"/>
            <a:ext cx="5303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СЕР.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0576" y="4864607"/>
            <a:ext cx="17739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60" b="1" spc="-10">
                <a:solidFill>
                  <a:srgbClr val="303A5D"/>
                </a:solidFill>
                <a:latin typeface="Segoe UI"/>
              </a:rPr>
              <a:t>Курс 51,20 грн/€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80576" y="5175504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СС валютна, полиця гривнева — ризик на нас.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80576" y="5724144"/>
            <a:ext cx="2267712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ВПЛИВ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80576" y="5843016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Курс 55 → СС 62,4 і 72,0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6217920"/>
            <a:ext cx="11064240" cy="5486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66928" y="6217920"/>
            <a:ext cx="41148" cy="54864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" y="6309359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19" b="1" spc="-10">
                <a:solidFill>
                  <a:srgbClr val="303A5D"/>
                </a:solidFill>
                <a:latin typeface="Segoe UI"/>
              </a:rPr>
              <a:t>ЧОГО НЕ ВИСТАЧАЄ ДЛЯ ОСТАТОЧНОГО РІШЕННЯ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" y="6510528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60" b="0" spc="-10">
                <a:solidFill>
                  <a:srgbClr val="717890"/>
                </a:solidFill>
                <a:latin typeface="Segoe UI"/>
              </a:rPr>
              <a:t>Специфікації шести SKU · розшифровка собівартості за статтями · котирування корейського заводу · умови лістингу хоча б однієї мережі · дані про оборотність категорії.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зробити до рішення про контракт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Чотири кроки в порядку виконання. Перші два закривають головну невизначеність — собівартість і специфікації.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5413248" cy="18105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45920"/>
            <a:ext cx="41148" cy="181051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792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10">
                <a:solidFill>
                  <a:srgbClr val="B53A3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18470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Запросити розшифровку собівартості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12848"/>
            <a:ext cx="42062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Отримати від SIAS структуру 58,06 і 66,99 грн за статтями: товар, фрахт, оформлення, вартість грошей. Підтвердити умови й обсяг поставки, на яких ця ціна дійсна.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163824"/>
            <a:ext cx="4206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B53A3A"/>
                </a:solidFill>
                <a:latin typeface="Segoe UI"/>
              </a:rPr>
              <a:t>ТЕРМІН: до переговорів · ВІДПОВІДАЄ: закупівлі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5413248" cy="18105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45920"/>
            <a:ext cx="41148" cy="181051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9222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10">
                <a:solidFill>
                  <a:srgbClr val="B53A3A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3" y="184708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Отримати специфікації шести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3" y="2212848"/>
            <a:ext cx="42062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Склад та інструкції приготування. Без них неможливо визначити сегмент і прямі аналоги, а отже — і те, з чим покупець порівнює нашу ціну на полиці.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87183" y="3163824"/>
            <a:ext cx="4206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B53A3A"/>
                </a:solidFill>
                <a:latin typeface="Segoe UI"/>
              </a:rPr>
              <a:t>ТЕРМІН: до переговорів · ВІДПОВІДАЄ: категорійний менеджмент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57600"/>
            <a:ext cx="5413248" cy="18105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657600"/>
            <a:ext cx="41148" cy="181051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380390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10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Поставити цінову вимогу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224528"/>
            <a:ext cx="42062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Під медіану категорії 105 грн потрібна СС 45,00 грн: мінус 22,5 % для чотирьох SKU і мінус 32,8 % для Gouda / Carbonara. Це вимога, а не предмет торгу: без неї полиця виходить за межі ринку.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36192" y="5175504"/>
            <a:ext cx="4206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ТЕРМІН: на переговорах · ВІДПОВІДАЄ: закупівлі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657600"/>
            <a:ext cx="5413248" cy="181051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657600"/>
            <a:ext cx="41148" cy="18105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803904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spc="-1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3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-10">
                <a:solidFill>
                  <a:srgbClr val="303A5D"/>
                </a:solidFill>
                <a:latin typeface="Segoe UI"/>
              </a:rPr>
              <a:t>Порівняти з прямим імпортом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87183" y="4224528"/>
            <a:ext cx="420624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spc="-10">
                <a:solidFill>
                  <a:srgbClr val="717890"/>
                </a:solidFill>
                <a:latin typeface="Segoe UI"/>
              </a:rPr>
              <a:t>Запросити котирування щонайменше одного корейського заводу на порівнянний обсяг. Перевага SIAS — мито й логістика; чи перекриває вона різницю в ціні продукту, зараз невідомо.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7183" y="5175504"/>
            <a:ext cx="4206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1E9EA6"/>
                </a:solidFill>
                <a:latin typeface="Segoe UI"/>
              </a:rPr>
              <a:t>ТЕРМІН: паралельно · ВІДПОВІДАЄ: закупівлі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705856"/>
            <a:ext cx="11064240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705856"/>
            <a:ext cx="54864" cy="8412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83387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FFC95C"/>
                </a:solidFill>
                <a:latin typeface="Segoe UI"/>
              </a:rPr>
              <a:t>РІШЕННЯ, ЯКЕ ПОТРІБНО УХВАЛИТИ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6089904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 spc="-10">
                <a:solidFill>
                  <a:srgbClr val="FFFFFF"/>
                </a:solidFill>
                <a:latin typeface="Segoe UI"/>
              </a:rPr>
              <a:t>Підписувати контракт за поточної собівартості чи вимагати зниження на 20–33 % як умову входу в категорію.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638544"/>
            <a:ext cx="11064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9FA9C4"/>
                </a:solidFill>
                <a:latin typeface="Segoe UI"/>
              </a:rPr>
              <a:t>Зріз каталогів 18 мереж, 29.09.2026 · 96 SKU корейського рамену · розрахунок полиці за фінансовою моделлю SIAS при маржі 15 %.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