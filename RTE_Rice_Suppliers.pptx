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8" r:id="rId9"/>
    <p:sldId id="262" r:id="rId10"/>
    <p:sldId id="263" r:id="rId11"/>
    <p:sldId id="264" r:id="rId12"/>
    <p:sldId id="265" r:id="rId13"/>
    <p:sldId id="266" r:id="rId14"/>
    <p:sldId id="269" r:id="rId20"/>
    <p:sldId id="270" r:id="rId21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Current user instruction: position Special Production after standard 240 g; 150 g, 200 g and other weights needed for the local market.</a:t>
            </a:r>
          </a:p>
          <a:p>
            <a:r>
              <a:t>- User-supplied 2026-09-03 Ready to eat Rice in Pouch 150g 200g_.pdf: 150 g and 200 g product formats. Other sizes subject to supplier agreement.</a:t>
            </a:r>
          </a:p>
          <a:p>
            <a:r>
              <a:t>- Authentic standard 240 g pouch image from original supplier presentation slide 5, explicitly labeled 240 g.</a:t>
            </a:r>
          </a:p>
          <a:p>
            <a:r>
              <a:t>- No prices, cost figures, minimum order quantities, or unconfirmed pack dimensions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Cup-Photo of Products.pdf — Single Cup assortment, packaging parameters, and product images; supplied by the user.</a:t>
            </a:r>
          </a:p>
          <a:p>
            <a:r>
              <a:t>- User instruction — BSCM launched new cup production; cost is intentionally omitted.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Prior user instructions: Double Cup 6 x (2 x125g), Private Label only; SPAR example customer packaging.</a:t>
            </a:r>
          </a:p>
          <a:p>
            <a:r>
              <a:t>- Photo: AI-assisted studio background and lighting retouch of the user-supplied authentic SPAR Jasmine Rice photo, preserving package identity.</a:t>
            </a:r>
          </a:p>
          <a:p>
            <a:r>
              <a:t>- 250g consumer pack = two125g cups. Costs intentionally moved to dedicated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 specifies separate SKU/cost slide and postpones calculation. Em dashes are editable missing values, not zero; no figures invented.</a:t>
            </a:r>
          </a:p>
          <a:p>
            <a:r>
              <a:t>- Seven Double Cup variants and oil distinctions from user instructions. Basmati qualification retained.</a:t>
            </a:r>
          </a:p>
          <a:p>
            <a:r>
              <a:t>- Four delivery scenarios and USD/UAH presentation match existing deck calculation slides. Costs per complete2x125g consumer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User-supplied 03-image.png: Double Cup, 2 × 125 g = 250 g/unit; sleeve box can carry the customer design; no actual product in supplier private brand.</a:t>
            </a:r>
          </a:p>
          <a:p>
            <a:r>
              <a:t>- Original RTE_Rice_Suppliers.pptx, slide 9: three authentic product photographs preserved and enlarged.</a:t>
            </a:r>
          </a:p>
          <a:p>
            <a:r>
              <a:t>- User-supplied SPAR packaging photo is retained on the preceding Double Cup assortment slide.</a:t>
            </a:r>
          </a:p>
          <a:p>
            <a:r>
              <a:t>- Removed the unsupported statement that every flavor uses one identical sleeve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eg"/><Relationship Id="rId4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image" Target="../media/image6.jpeg"/><Relationship Id="rId7" Type="http://schemas.openxmlformats.org/officeDocument/2006/relationships/image" Target="../media/image7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eg"/><Relationship Id="rId4" Type="http://schemas.openxmlformats.org/officeDocument/2006/relationships/image" Target="../media/image8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eg"/><Relationship Id="rId4" Type="http://schemas.openxmlformats.org/officeDocument/2006/relationships/image" Target="../media/image9.jpeg"/><Relationship Id="rId5" Type="http://schemas.openxmlformats.org/officeDocument/2006/relationships/image" Target="../media/image10.jpeg"/><Relationship Id="rId6" Type="http://schemas.openxmlformats.org/officeDocument/2006/relationships/image" Target="../media/image11.jpeg"/><Relationship Id="rId7" Type="http://schemas.openxmlformats.org/officeDocument/2006/relationships/image" Target="../media/image1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eg"/><Relationship Id="rId4" Type="http://schemas.openxmlformats.org/officeDocument/2006/relationships/image" Target="../media/image12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Relationship Id="rId5" Type="http://schemas.openxmlformats.org/officeDocument/2006/relationships/image" Target="../media/image11.jpeg"/><Relationship Id="rId6" Type="http://schemas.openxmlformats.org/officeDocument/2006/relationships/image" Target="../media/image12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Relationship Id="rId5" Type="http://schemas.openxmlformats.org/officeDocument/2006/relationships/image" Target="../media/image11.jpeg"/><Relationship Id="rId6" Type="http://schemas.openxmlformats.org/officeDocument/2006/relationships/image" Target="../media/image12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eg"/><Relationship Id="rId4" Type="http://schemas.openxmlformats.org/officeDocument/2006/relationships/image" Target="../media/image13.jpe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eg"/><Relationship Id="rId4" Type="http://schemas.openxmlformats.org/officeDocument/2006/relationships/image" Target="../media/image18.jpeg"/><Relationship Id="rId5" Type="http://schemas.openxmlformats.org/officeDocument/2006/relationships/image" Target="../media/image19.jpeg"/><Relationship Id="rId6" Type="http://schemas.openxmlformats.org/officeDocument/2006/relationships/image" Target="../media/image20.jpeg"/><Relationship Id="rId7" Type="http://schemas.openxmlformats.org/officeDocument/2006/relationships/image" Target="../media/image21.jpeg"/><Relationship Id="rId8" Type="http://schemas.openxmlformats.org/officeDocument/2006/relationships/image" Target="../media/image22.jpeg"/><Relationship Id="rId9" Type="http://schemas.openxmlformats.org/officeDocument/2006/relationships/image" Target="../media/image23.jpeg"/><Relationship Id="rId10" Type="http://schemas.openxmlformats.org/officeDocument/2006/relationships/image" Target="../media/image24.jpeg"/><Relationship Id="rId11" Type="http://schemas.openxmlformats.org/officeDocument/2006/relationships/image" Target="../media/image25.jpeg"/><Relationship Id="rId12" Type="http://schemas.openxmlformats.org/officeDocument/2006/relationships/image" Target="../media/image26.jpeg"/><Relationship Id="rId13" Type="http://schemas.openxmlformats.org/officeDocument/2006/relationships/image" Target="../media/image27.jpeg"/><Relationship Id="rId14" Type="http://schemas.openxmlformats.org/officeDocument/2006/relationships/image" Target="../media/image28.jpeg"/><Relationship Id="rId15" Type="http://schemas.openxmlformats.org/officeDocument/2006/relationships/image" Target="../media/image29.jpeg"/><Relationship Id="rId16" Type="http://schemas.openxmlformats.org/officeDocument/2006/relationships/image" Target="../media/image30.jpeg"/><Relationship Id="rId17" Type="http://schemas.openxmlformats.org/officeDocument/2006/relationships/image" Target="../media/image31.jpeg"/><Relationship Id="rId18" Type="http://schemas.openxmlformats.org/officeDocument/2006/relationships/image" Target="../media/image32.jpeg"/><Relationship Id="rId19" Type="http://schemas.openxmlformats.org/officeDocument/2006/relationships/image" Target="../media/image33.jpeg"/><Relationship Id="rId20" Type="http://schemas.openxmlformats.org/officeDocument/2006/relationships/image" Target="../media/image34.jpeg"/><Relationship Id="rId21" Type="http://schemas.openxmlformats.org/officeDocument/2006/relationships/image" Target="../media/image35.jpeg"/><Relationship Id="rId22" Type="http://schemas.openxmlformats.org/officeDocument/2006/relationships/image" Target="../media/image36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eg"/><Relationship Id="rId4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eg"/><Relationship Id="rId4" Type="http://schemas.openxmlformats.org/officeDocument/2006/relationships/image" Target="../media/image38.jpeg"/><Relationship Id="rId5" Type="http://schemas.openxmlformats.org/officeDocument/2006/relationships/image" Target="../media/image39.jpeg"/><Relationship Id="rId6" Type="http://schemas.openxmlformats.org/officeDocument/2006/relationships/image" Target="../media/image40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1.jp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2.jpg"/><Relationship Id="rId3" Type="http://schemas.openxmlformats.org/officeDocument/2006/relationships/image" Target="../media/image2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image" Target="../media/image6.jpeg"/><Relationship Id="rId7" Type="http://schemas.openxmlformats.org/officeDocument/2006/relationships/image" Target="../media/image7.jpeg"/><Relationship Id="rId8" Type="http://schemas.openxmlformats.org/officeDocument/2006/relationships/image" Target="../media/image43.jpg"/><Relationship Id="rId9" Type="http://schemas.openxmlformats.org/officeDocument/2006/relationships/image" Target="../media/image44.jpg"/><Relationship Id="rId10" Type="http://schemas.openxmlformats.org/officeDocument/2006/relationships/image" Target="../media/image4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C9E11D9-4C10-4498-B08F-418DC703689B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5349240" cy="3474720"/>
          </a:xfrm>
          <a:prstGeom prst="roundRect">
            <a:avLst>
              <a:gd name="adj" fmla="val 3636"/>
            </a:avLst>
          </a:prstGeom>
          <a:solidFill>
            <a:srgbClr val="12452B">
              <a:alpha val="92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50D1F1-25C6-459D-B6EE-3201D5DA8822}"/>
              </a:ext>
            </a:extLst>
          </p:cNvPr>
          <p:cNvSpPr>
            <a:spLocks noGrp="1"/>
          </p:cNvSpPr>
          <p:nvPr/>
        </p:nvSpPr>
        <p:spPr>
          <a:xfrm>
            <a:off x="1097280" y="2322576"/>
            <a:ext cx="443484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700" b="1" spc="15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READY-TO-EAT RICE</a:t>
            </a:r>
            <a:endParaRPr sz="3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2CA64F1-2DC5-431B-A0BE-B63DF81EEFA7}"/>
              </a:ext>
            </a:extLst>
          </p:cNvPr>
          <p:cNvSpPr>
            <a:spLocks noGrp="1"/>
          </p:cNvSpPr>
          <p:nvPr/>
        </p:nvSpPr>
        <p:spPr>
          <a:xfrm>
            <a:off x="1097280" y="3081528"/>
            <a:ext cx="1828800" cy="0"/>
          </a:xfrm>
          <a:prstGeom prst="line">
            <a:avLst/>
          </a:prstGeom>
          <a:noFill/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C612DCA-AB68-4951-A902-1E1495207AA6}"/>
              </a:ext>
            </a:extLst>
          </p:cNvPr>
          <p:cNvSpPr>
            <a:spLocks noGrp="1"/>
          </p:cNvSpPr>
          <p:nvPr/>
        </p:nvSpPr>
        <p:spPr>
          <a:xfrm>
            <a:off x="1961388" y="3035808"/>
            <a:ext cx="100584" cy="100584"/>
          </a:xfrm>
          <a:prstGeom prst="diamond">
            <a:avLst/>
          </a:prstGeom>
          <a:solidFill>
            <a:srgbClr val="F5CE76"/>
          </a:solidFill>
          <a:ln w="6350">
            <a:solidFill>
              <a:srgbClr val="E0B2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978E9-75EC-4BA8-8582-EAFEB8AD9E13}"/>
              </a:ext>
            </a:extLst>
          </p:cNvPr>
          <p:cNvSpPr>
            <a:spLocks noGrp="1"/>
          </p:cNvSpPr>
          <p:nvPr/>
        </p:nvSpPr>
        <p:spPr>
          <a:xfrm>
            <a:off x="1097280" y="3264408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7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Постачальники та собівартість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2744851-5719-43BB-BF0D-B86A6B0C2E1C}"/>
              </a:ext>
            </a:extLst>
          </p:cNvPr>
          <p:cNvSpPr>
            <a:spLocks noGrp="1"/>
          </p:cNvSpPr>
          <p:nvPr/>
        </p:nvSpPr>
        <p:spPr>
          <a:xfrm>
            <a:off x="1097280" y="3785616"/>
            <a:ext cx="44348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BSCM Foods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CM Premium Rice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One's International</a:t>
            </a:r>
            <a:endParaRPr sz="13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199F762-1B10-42AE-9A9D-9E1C6FE25745}"/>
              </a:ext>
            </a:extLst>
          </p:cNvPr>
          <p:cNvSpPr>
            <a:spLocks noGrp="1"/>
          </p:cNvSpPr>
          <p:nvPr/>
        </p:nvSpPr>
        <p:spPr>
          <a:xfrm>
            <a:off x="1097280" y="4242816"/>
            <a:ext cx="44348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Таїланд · Корея · FOB Bangkok / Busan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707073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noGrp="1"/>
          </p:cNvSpPr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noGrp="1"/>
          </p:cNvSpPr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noGrp="1"/>
          </p:cNvSpPr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  ·  CHEFREY / CM PREMIUM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 Organic RTE 6 × 250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1" name="Image 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8" name="Image 1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5" name="Image 2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2" name="Image 3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$1,020 / 45,91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$0,915 / 41,20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$1,215 / 54,68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$0,944 / 42,48 ₴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cup 150 г / 2×125 г</a:t>
            </a:r>
            <a:endParaRPr sz="115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  <p:pic>
        <p:nvPicPr>
          <p:cNvPr id="72" name="Picture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6553" y="1554480"/>
            <a:ext cx="4096512" cy="283464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  ·  BSCM FOODS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11049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Фасування під потреби нашого ринку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Поряд зі стандартними 240 г — спеціальне виробництво потрібної нам ваги.</a:t>
            </a:r>
            <a:endParaRPr sz="12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5905500" y="1809750"/>
            <a:ext cx="5715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СПЕЦІАЛЬНЕ ВИРОБНИЦТВО</a:t>
            </a:r>
            <a:endParaRPr sz="17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5857875" y="2286000"/>
            <a:ext cx="5762625" cy="9048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  /  200 г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5905500" y="3333750"/>
            <a:ext cx="5715000" cy="5429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та інші розміри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5924550" y="3886200"/>
            <a:ext cx="5695950" cy="3333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погодженням із виробником</a:t>
            </a:r>
            <a:endParaRPr sz="1050"/>
          </a:p>
        </p:txBody>
      </p:sp>
      <p:pic>
        <p:nvPicPr>
          <p:cNvPr id="9" name="Picture 76">
            <a:extLst>
              <a:ext uri="{FF2B5EF4-FFF2-40B4-BE49-F238E27FC236}">
                <a16:creationId xmlns:a16="http://schemas.microsoft.com/office/drawing/2014/main" id="{56818BA5-2DCA-2A8F-62CF-8E43949830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630" y="2095500"/>
            <a:ext cx="3711223" cy="2870399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150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$0,472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$0,843 / 37,93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$0,739 / 33,25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$0,850 / 38,24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$0,778 / 34,99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$0,600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$1,070 / 48,16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$0,938 / 42,22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$1,079 / 48,55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$0,987 / 44,43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(150г)Pouch».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200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$0,953 / 42,87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$0,846 / 38,07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$0,960 / 43,18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$0,886 / 39,86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$0,680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$1,178 / 53,00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$1,046 / 47,07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$1,186 / 53,39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$1,095 / 49,28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(200г)Pouch».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651695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8761682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1410" y="1115568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11749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11749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11749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11749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11749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11749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798642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798642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305516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798642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305516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798642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305516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798642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305516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2820010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2964831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2964831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2964831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2964831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2964831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2964831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051724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051724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3558598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051724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3558598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051724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3558598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051724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3558598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5073091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5217912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5217912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5217912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5217912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5217912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5217912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5304805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5304805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5811679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5304805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5811679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5304805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5811679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5304805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5811679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7326173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4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579254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7470994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0" name="Picture 15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4076" y="1700784"/>
            <a:ext cx="1853711" cy="1810512"/>
          </a:xfrm>
          <a:prstGeom prst="roundRect">
            <a:avLst/>
          </a:prstGeom>
        </p:spPr>
      </p:pic>
      <p:sp>
        <p:nvSpPr>
          <p:cNvPr id="76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724076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7470994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724076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7470994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78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724076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7470994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79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724076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Brown Jasmine Rice with Red Quinoa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7470994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80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724076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7470994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724076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7557887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82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810968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7557887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83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810968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8064761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84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10317842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7557887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85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810968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8064761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86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10317842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7557887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87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810968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8064761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88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10317842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7557887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89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810968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8064761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90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10317842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Products.pdf, Self Cost Rice Brand.xlsx (BSCM(Bags+Cups) - Навалом, 2026-09 revision) · курс 45,00 UAH/USD.</a:t>
            </a:r>
            <a:endParaRPr sz="900"/>
          </a:p>
        </p:txBody>
      </p:sp>
      <p:pic>
        <p:nvPicPr>
          <p:cNvPr id="181" name="Рисунок 14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11749" y="1700784"/>
            <a:ext cx="1853711" cy="1810512"/>
          </a:xfrm>
          <a:prstGeom prst="roundRect">
            <a:avLst/>
          </a:prstGeom>
        </p:spPr>
      </p:pic>
      <p:pic>
        <p:nvPicPr>
          <p:cNvPr id="182" name="Рисунок 150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2964831" y="1700784"/>
            <a:ext cx="1853711" cy="1810512"/>
          </a:xfrm>
          <a:prstGeom prst="roundRect">
            <a:avLst/>
          </a:prstGeom>
        </p:spPr>
      </p:pic>
      <p:pic>
        <p:nvPicPr>
          <p:cNvPr id="183" name="Рисунок 151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217912" y="1700784"/>
            <a:ext cx="1853711" cy="1810512"/>
          </a:xfrm>
          <a:prstGeom prst="roundRect">
            <a:avLst/>
          </a:prstGeom>
        </p:spPr>
      </p:pic>
      <p:pic>
        <p:nvPicPr>
          <p:cNvPr id="184" name="Рисунок 15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70994" y="1700784"/>
            <a:ext cx="1853711" cy="1810512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SINGLE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5 позицій · 150 г · sleeve-бокс · фото з каталогу постачальника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5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SKU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позицій у лінійці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150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г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нетто в чашці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шт.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у коробі, sleeve-бокс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Products.pdf. Фото — офіційні знімки упаковки від BSCM Foods; ракурси відповідають оригінальному прайс-каталогу.</a:t>
            </a:r>
            <a:endParaRPr sz="9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7E2050-9F89-4CF2-8200-057440EE0702}"/>
              </a:ext>
            </a:extLst>
          </p:cNvPr>
          <p:cNvSpPr>
            <a:spLocks noGrp="1"/>
          </p:cNvSpPr>
          <p:nvPr/>
        </p:nvSpPr>
        <p:spPr>
          <a:xfrm>
            <a:off x="841248" y="1783080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Jasmine Rice</a:t>
            </a:r>
          </a:p>
        </p:txBody>
      </p:sp>
      <p:pic>
        <p:nvPicPr>
          <p:cNvPr id="90" name="Picture 3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0088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1" name="Picture 3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5112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2" name="Picture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0136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CFE6B9E-0FB3-4922-AF3D-A4F8DDC7D1F2}"/>
              </a:ext>
            </a:extLst>
          </p:cNvPr>
          <p:cNvSpPr>
            <a:spLocks noGrp="1"/>
          </p:cNvSpPr>
          <p:nvPr/>
        </p:nvSpPr>
        <p:spPr>
          <a:xfrm>
            <a:off x="841248" y="2642616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Brown Jasmine Rice</a:t>
            </a:r>
          </a:p>
        </p:txBody>
      </p:sp>
      <p:pic>
        <p:nvPicPr>
          <p:cNvPr id="94" name="Picture 4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0088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5" name="Picture 4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5112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6" name="Picture 4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0136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F62E096-7B61-4D3A-B947-80BCA2AABE84}"/>
              </a:ext>
            </a:extLst>
          </p:cNvPr>
          <p:cNvSpPr>
            <a:spLocks noGrp="1"/>
          </p:cNvSpPr>
          <p:nvPr/>
        </p:nvSpPr>
        <p:spPr>
          <a:xfrm>
            <a:off x="841248" y="3502152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Red Jasmine Rice</a:t>
            </a:r>
          </a:p>
        </p:txBody>
      </p:sp>
      <p:pic>
        <p:nvPicPr>
          <p:cNvPr id="98" name="Picture 4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90088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9" name="Picture 4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25112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0" name="Picture 4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60136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AC89C67-252F-4CAD-904D-59AF8AF19A13}"/>
              </a:ext>
            </a:extLst>
          </p:cNvPr>
          <p:cNvSpPr>
            <a:spLocks noGrp="1"/>
          </p:cNvSpPr>
          <p:nvPr/>
        </p:nvSpPr>
        <p:spPr>
          <a:xfrm>
            <a:off x="841248" y="4361688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Rice Berry</a:t>
            </a:r>
          </a:p>
        </p:txBody>
      </p:sp>
      <p:pic>
        <p:nvPicPr>
          <p:cNvPr id="102" name="Picture 5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90088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3" name="Picture 5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25112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4" name="Picture 5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60136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9FD0070C-BC6F-4CA1-A9D3-3184325616D1}"/>
              </a:ext>
            </a:extLst>
          </p:cNvPr>
          <p:cNvSpPr>
            <a:spLocks noGrp="1"/>
          </p:cNvSpPr>
          <p:nvPr/>
        </p:nvSpPr>
        <p:spPr>
          <a:xfrm>
            <a:off x="841248" y="5221224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Brown Jasmine Rice with Red Quinoa</a:t>
            </a:r>
          </a:p>
        </p:txBody>
      </p:sp>
      <p:pic>
        <p:nvPicPr>
          <p:cNvPr id="106" name="Picture 5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90088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7" name="Picture 5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25112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8" name="Picture 5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60136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9" name="Picture 57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34656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0" name="Picture 58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651492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1" name="Picture 59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534656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2" name="Picture 60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651492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11049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PRIVATE LABEL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формат під нашу марку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Готовий рис у пластикових стаканчиках · Private Label · приклад — мережа супермаркетів SPAR</a:t>
            </a:r>
            <a:endParaRPr sz="12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6191250" y="1743075"/>
            <a:ext cx="54292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СПОЖИВЧА УПАКОВКА</a:t>
            </a:r>
            <a:endParaRPr sz="17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6143625" y="2238375"/>
            <a:ext cx="5476875" cy="8096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6191250" y="3105150"/>
            <a:ext cx="5429250" cy="36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Два стаканчики у sleeve-боксі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6191250" y="3524250"/>
            <a:ext cx="5429250" cy="3143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250 г готового рису</a:t>
            </a:r>
            <a:endParaRPr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noGrp="1"/>
          </p:cNvSpPr>
          <p:nvPr/>
        </p:nvSpPr>
        <p:spPr>
          <a:xfrm>
            <a:off x="6364082" y="4364601"/>
            <a:ext cx="5429250" cy="914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800" b="1" i="0" dirty="0" err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Тільки</a:t>
            </a:r>
            <a:r>
              <a:rPr sz="1800" b="1" i="0" dirty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 Private Label</a:t>
            </a:r>
          </a:p>
          <a:p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Власного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бренду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цьому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форматі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немає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buNone/>
            </a:pPr>
            <a:r>
              <a:rPr sz="1500" b="0" dirty="0" err="1">
                <a:solidFill>
                  <a:srgbClr val="FCF9F0"/>
                </a:solidFill>
                <a:latin typeface="Calibri"/>
              </a:rPr>
              <a:t>Тільки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під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торговою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маркою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замовника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.</a:t>
            </a:r>
          </a:p>
        </p:txBody>
      </p:sp>
      <p:pic>
        <p:nvPicPr>
          <p:cNvPr id="76" name="Рисунок 7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71500" y="2105025"/>
            <a:ext cx="4953000" cy="3714750"/>
          </a:xfrm>
          <a:prstGeom prst="roundRect">
            <a:avLst>
              <a:gd name="adj" fmla="val 3590"/>
            </a:avLst>
          </a:prstGeom>
          <a:ln w="9525">
            <a:solidFill>
              <a:srgbClr val="C89C40"/>
            </a:solidFill>
          </a:ln>
        </p:spPr>
      </p:pic>
      <p:sp>
        <p:nvSpPr>
          <p:cNvPr id="77" name="Rounded Rectangle 76"/>
          <p:cNvSpPr/>
          <p:nvPr/>
        </p:nvSpPr>
        <p:spPr>
          <a:xfrm>
            <a:off x="571500" y="5934456"/>
            <a:ext cx="4953305" cy="722376"/>
          </a:xfrm>
          <a:prstGeom prst="roundRect">
            <a:avLst>
              <a:gd name="adj" fmla="val 8000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29030" y="5905353"/>
            <a:ext cx="1188720" cy="72237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600" b="1" spc="100" dirty="0">
                <a:solidFill>
                  <a:srgbClr val="F5CE76"/>
                </a:solidFill>
                <a:latin typeface="Calibri"/>
              </a:rPr>
              <a:t>SPAR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03120" y="6071616"/>
            <a:ext cx="14630" cy="448056"/>
          </a:xfrm>
          <a:prstGeom prst="rect">
            <a:avLst/>
          </a:prstGeom>
          <a:solidFill>
            <a:srgbClr val="C89C40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304288" y="6099436"/>
            <a:ext cx="2107821" cy="3924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50" b="1" dirty="0" err="1">
                <a:solidFill>
                  <a:srgbClr val="FCF9F0"/>
                </a:solidFill>
                <a:latin typeface="Calibri"/>
              </a:rPr>
              <a:t>Виготовлено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</a:t>
            </a:r>
            <a:r>
              <a:rPr sz="1250" b="1" dirty="0" err="1">
                <a:solidFill>
                  <a:srgbClr val="FCF9F0"/>
                </a:solidFill>
                <a:latin typeface="Calibri"/>
              </a:rPr>
              <a:t>для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</a:t>
            </a:r>
            <a:r>
              <a:rPr sz="1250" b="1" dirty="0" err="1">
                <a:solidFill>
                  <a:srgbClr val="FCF9F0"/>
                </a:solidFill>
                <a:latin typeface="Calibri"/>
              </a:rPr>
              <a:t>мережі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SPAR</a:t>
            </a:r>
            <a:endParaRPr lang="uk-UA" sz="1250" b="1" dirty="0">
              <a:solidFill>
                <a:srgbClr val="FCF9F0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lang="ru-UA" sz="1050" dirty="0">
                <a:solidFill>
                  <a:srgbClr val="D2E4CE"/>
                </a:solidFill>
                <a:latin typeface="Calibri"/>
              </a:rPr>
              <a:t>Р</a:t>
            </a:r>
            <a:r>
              <a:rPr lang="uk-UA" sz="1050" b="0" dirty="0" err="1">
                <a:solidFill>
                  <a:srgbClr val="D2E4CE"/>
                </a:solidFill>
                <a:latin typeface="Calibri"/>
              </a:rPr>
              <a:t>еальний</a:t>
            </a:r>
            <a:r>
              <a:rPr lang="uk-UA" sz="1050" b="0" dirty="0">
                <a:solidFill>
                  <a:srgbClr val="D2E4CE"/>
                </a:solidFill>
                <a:latin typeface="Calibri"/>
              </a:rPr>
              <a:t> кейс </a:t>
            </a:r>
            <a:r>
              <a:rPr lang="en-US" sz="1050" b="0" dirty="0">
                <a:solidFill>
                  <a:srgbClr val="D2E4CE"/>
                </a:solidFill>
                <a:latin typeface="Calibri"/>
              </a:rPr>
              <a:t>Private Label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11049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7 SKU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асортимент і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 dirty="0" err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</a:t>
            </a:r>
            <a:r>
              <a:rPr sz="1425" b="0" i="0" dirty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25" b="0" i="0" dirty="0" err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споживчу</a:t>
            </a:r>
            <a:r>
              <a:rPr sz="1425" b="0" i="0" dirty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25" b="0" i="0" dirty="0" err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упаковку</a:t>
            </a:r>
            <a:r>
              <a:rPr sz="1425" b="0" i="0" dirty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 2 × 125 г ·</a:t>
            </a:r>
            <a:endParaRPr sz="1250" dirty="0"/>
          </a:p>
        </p:txBody>
      </p:sp>
      <p:sp>
        <p:nvSpPr>
          <p:cNvPr id="63" name="Rounded Rectangle 62"/>
          <p:cNvSpPr/>
          <p:nvPr/>
        </p:nvSpPr>
        <p:spPr>
          <a:xfrm>
            <a:off x="571500" y="1885950"/>
            <a:ext cx="11048970" cy="3676620"/>
          </a:xfrm>
          <a:prstGeom prst="roundRect">
            <a:avLst>
              <a:gd name="adj" fmla="val 2000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91540" y="2123694"/>
            <a:ext cx="379476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000" b="1" spc="75">
                <a:solidFill>
                  <a:srgbClr val="F5CE76"/>
                </a:solidFill>
                <a:latin typeface="Calibri"/>
              </a:rPr>
              <a:t>READY RICE /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86300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20′ FCL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39832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40′ FCL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93365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17 М³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46897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34 М³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1540" y="2452878"/>
            <a:ext cx="10408890" cy="12802"/>
          </a:xfrm>
          <a:prstGeom prst="rect">
            <a:avLst/>
          </a:prstGeom>
          <a:solidFill>
            <a:srgbClr val="C89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91540" y="2580894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без олії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86300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39832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993365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46897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91540" y="2978109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91540" y="2978109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з олією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86300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9832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993365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46897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91540" y="337532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91540" y="3375325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(Pathum) · з олією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86300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$1,480 / 66,58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39832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$1,303 / 58,65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93365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$1,485 / 66,82 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46897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$1,362 / 61,31 ₴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91540" y="3772540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891540" y="3772540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Jasmine Rice · з олією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86300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39832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993365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75,14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46897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68,94 ₴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1540" y="416975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891540" y="4169755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Rice · з олією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86300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39832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3365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646897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91540" y="4566971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891540" y="4566971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Basmati Rice* · з олією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686300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$1,776 / 79,90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339832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$1,564 / 70,38 ₴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993365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$1,782 / 80,19 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46897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$1,635 / 73,57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91540" y="4964186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91540" y="4964186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Long Grain Rice · з олією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686300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$1,391 / 62,59 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39832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$1,225 / 55,13 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993365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$1,396 / 62,82 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46897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$1,281 / 57,63 ₴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9525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як виглядає упаковка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14425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Два стаканчики по 125 г у картонній обгортці · виробництво під Private Label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71500" y="1695450"/>
            <a:ext cx="11049000" cy="3400425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4288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571500" y="5334000"/>
            <a:ext cx="32385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571500" y="5829300"/>
            <a:ext cx="33337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250 г у споживчій упаковці</a:t>
            </a:r>
            <a:endParaRPr sz="105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4429125" y="5334000"/>
            <a:ext cx="32385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Sleeve box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4429125" y="5829300"/>
            <a:ext cx="33337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Картонна обгортка</a:t>
            </a:r>
            <a:endParaRPr sz="105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8096250" y="5334000"/>
            <a:ext cx="352425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Private Label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8096250" y="5829300"/>
            <a:ext cx="35242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Друк дизайну замовника</a:t>
            </a:r>
            <a:endParaRPr sz="1050"/>
          </a:p>
        </p:txBody>
      </p:sp>
      <p:pic>
        <p:nvPicPr>
          <p:cNvPr id="51" name="Picture 3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57250" y="1905000"/>
            <a:ext cx="3238500" cy="2952750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2" name="Picture 34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429125" y="1971675"/>
            <a:ext cx="3143250" cy="2809875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3" name="Picture 3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096250" y="2038350"/>
            <a:ext cx="3190875" cy="2667000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938D"/>
                </a:solidFill>
                <a:latin typeface="Calibri"/>
                <a:ea typeface="Calibri"/>
                <a:cs typeface="Calibri"/>
              </a:rPr>
              <a:t>ПОСТАЧАЛЬНИК 3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One's International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Корейський виробник готових страв, бренд KBROS · Ready-to-eat Fried Rice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One's International Co., Ltd. — постачальник готових страв із Республіки Корея. Смажений рис у лотках під брендом KBROS: зберігання за кімнатної температури, розігрів у мікрохвильовці за 90 секунд.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Гурі-сі, Кьонгідо, Республіка Корея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Бренд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KBROS · власна ТМ виробника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Умови поставки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FOB Busan · передоплата 100% (T/T)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MOQ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200 коробів на кожне SKU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місяців від дати виробництва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90 сек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лоток 200 г / 210 г · 12 шт у коробі</a:t>
            </a:r>
            <a:endParaRPr sz="115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HACCP · FSSC 22000</a:t>
            </a:r>
            <a:endParaRPr sz="1150"/>
          </a:p>
        </p:txBody>
      </p:sp>
      <p:pic>
        <p:nvPicPr>
          <p:cNvPr id="37" name="Picture 36" descr="hero_collage_tal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4656" y="1536192"/>
            <a:ext cx="4096512" cy="3401568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3401568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 b="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noGrp="1"/>
          </p:cNvSpPr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noGrp="1"/>
          </p:cNvSpPr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Quotation One's International Co., Ltd. (бренд KBROS), FOB Busan, чинна до 31.12.2026; фото продукції — з комерційної пропозиції постачальника.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938D"/>
                </a:solidFill>
                <a:latin typeface="Calibri"/>
                <a:ea typeface="Calibri"/>
                <a:cs typeface="Calibri"/>
              </a:rPr>
              <a:t>ПОСТАЧАЛЬНИК 3  ·  KBROS / ONE'S INTERNATIONAL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KBROS Fried Rice 12 × 200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Постачання на європалетах, FOB Busan · 20′ FCL — 11 палет · 40′ FCL — 25 палет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132" descr="card_kimc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Kimchi Fried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$1,300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$2,176 / 97,92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$1,960 / 88,18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10 палет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$2,026 / 91,16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4" name="Picture 133" descr="card_vegetabl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Vegetable Fried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$1,300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$2,176 / 97,92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$1,960 / 88,18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10 палет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$2,026 / 91,16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5" name="Picture 134" descr="card_japcha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Japchae Fried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$1,300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$2,176 / 97,92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$1,960 / 88,18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10 палет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$2,026 / 91,16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6" name="Picture 135" descr="card_whit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210 Г · AMBIENT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Cooked White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$0,600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$2,176 / 97,92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$1,960 / 88,18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10 палет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$2,026 / 91,16 ₴</a:t>
            </a:r>
            <a:endParaRPr sz="950"/>
          </a:p>
        </p:txBody>
      </p:sp>
      <p:sp>
        <p:nvSpPr>
          <p:cNvPr id="137" name="TextBox 136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>
                <a:solidFill>
                  <a:srgbClr val="C3D7BF"/>
                </a:solidFill>
                <a:latin typeface="Calibri"/>
              </a:rPr>
              <a:t>Джерело: Quotation One's International (KBROS); Self_Cost_Rice_Brand..xlsx, аркуш «ONE'S INTERNATIONAL_Паллеты» · мито 10%, ПДВ 20%, транспорт, кредитні гроші 2,5% · курс 45,00 UAH/USD.</a:t>
            </a:r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2436</Words>
  <Application>Microsoft Office PowerPoint</Application>
  <DocSecurity>0</DocSecurity>
  <PresentationFormat>Широкий екран</PresentationFormat>
  <Paragraphs>442</Paragraphs>
  <Slides>13</Slides>
  <Notes>11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Чаплигін lлля</cp:lastModifiedBy>
  <cp:revision>4</cp:revision>
  <dcterms:created xsi:type="dcterms:W3CDTF">2026-09-05T17:09:19Z</dcterms:created>
  <dcterms:modified xsi:type="dcterms:W3CDTF">2026-09-07T16:50:32Z</dcterms:modified>
</cp:coreProperties>
</file>