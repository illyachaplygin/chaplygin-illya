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jpg" ContentType="image/jpg"/>
  <Override PartName="/ppt/media/image5.jpg" ContentType="image/jpg"/>
  <Override PartName="/ppt/media/image6.jpg" ContentType="image/jpg"/>
  <Override PartName="/ppt/media/image7.jpg" ContentType="image/jpg"/>
  <Override PartName="/ppt/media/image8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4"/>
    <p:sldId id="259" r:id="rId5"/>
    <p:sldId id="261" r:id="rId6"/>
    <p:sldId id="262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7476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e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Relationship Id="rId7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e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5852160" cy="4023360"/>
          </a:xfrm>
          <a:prstGeom prst="roundRect">
            <a:avLst>
              <a:gd name="adj" fmla="val 3636"/>
            </a:avLst>
          </a:prstGeom>
          <a:solidFill>
            <a:srgbClr val="0A2214">
              <a:alpha val="92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1143000" y="227685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5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READY-TO-EAT RICE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43000" y="3099816"/>
            <a:ext cx="2011680" cy="0"/>
          </a:xfrm>
          <a:prstGeom prst="line">
            <a:avLst/>
          </a:prstGeom>
          <a:noFill/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" name="Shape 3"/>
          <p:cNvSpPr/>
          <p:nvPr/>
        </p:nvSpPr>
        <p:spPr>
          <a:xfrm>
            <a:off x="2098548" y="3054096"/>
            <a:ext cx="100584" cy="100584"/>
          </a:xfrm>
          <a:prstGeom prst="diamond">
            <a:avLst/>
          </a:prstGeom>
          <a:solidFill>
            <a:srgbClr val="E0B252"/>
          </a:solidFill>
          <a:ln w="6350">
            <a:solidFill>
              <a:srgbClr val="E0B252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1143000" y="328269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Постачальники та собівартість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3831336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</a:t>
            </a:r>
            <a:r>
              <a:rPr lang="en-US" sz="1200" dirty="0">
                <a:solidFill>
                  <a:srgbClr val="A87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428853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Таїланд · FOB Bangkok · завантаження навалом</a:t>
            </a:r>
            <a:endParaRPr lang="en-US" sz="1150" dirty="0"/>
          </a:p>
        </p:txBody>
      </p:sp>
      <p:pic>
        <p:nvPicPr>
          <p:cNvPr id="9" name="Picture 8" descr="hero_ric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417320"/>
            <a:ext cx="4599432" cy="4023360"/>
          </a:xfrm>
          <a:prstGeom prst="roundRect">
            <a:avLst/>
          </a:prstGeom>
          <a:ln w="15875">
            <a:solidFill>
              <a:srgbClr val="A87C2A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BSCM Foods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Тайський виробник готових страв за ретортною технологією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383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Бангкок, Таїланд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170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1703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Ретортна стерилізація, без консервантів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050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05079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6 шт у коробі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3845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Габарит короба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3845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× 140 × 185 мм · 0,004118 м³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7183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718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місяців за кімнатної температури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0520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0520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Мікрохвильова піч, 60–90 сек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3858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УКТЗЕД / HS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3858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1904 90 10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7195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71957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BRCGS · HACCP · USDA/EU Organic · Halal</a:t>
            </a:r>
            <a:endParaRPr lang="en-US" sz="1150" dirty="0"/>
          </a:p>
        </p:txBody>
      </p:sp>
      <p:pic>
        <p:nvPicPr>
          <p:cNvPr id="35" name="Picture 34" descr="bscm_facil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міс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098280" y="45811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придатності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сек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098280" y="5148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розігрів у мікрохвильовці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SKU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098280" y="5715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поточному офері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каталог продукції BSCM Foods та комерційна пропозиція постачальника; сертифікати — за каталогом виробника.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D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1  ·  BSCM FOODS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Rice 6 × 240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4" name="Picture 73" descr="sku_bscm_jasmin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базовий SKU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$0,995 / 44,79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$0,892 / 40,15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$1,001 / 45,03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$0,928 / 41,77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5" name="Picture 74" descr="sku_bscm_mexic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Mexican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6" name="Picture 75" descr="sku_bscm_japanes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Japanese Style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смаковий SKU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$1,138 / 51,19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45,89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$1,144 / 51,46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$1,061 / 47,74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77" name="Picture 76" descr="sku_bscm_hotspicy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8A5A20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240 Г · RETORT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 and Spicy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$0,750 · смаковий SKU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$1,280 / 57,59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$1,147 / 51,63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$1,287 / 57,89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$1,193 / 53,70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— з офіційного каталогу BSCM Foods; для Japanese Style Rice каталог фото упаковки не містить. Собівартість включає мито 10%, ПДВ 20%, транспорт і кредитні гроші 2,5%.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 Premium Rice — профіль компанії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органічного рису та готових страв, бренди Q Rice · Golden Phoenix · Chefrey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6675120" cy="4626864"/>
          </a:xfrm>
          <a:prstGeom prst="roundRect">
            <a:avLst>
              <a:gd name="adj" fmla="val 2372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6" name="Text 4"/>
          <p:cNvSpPr/>
          <p:nvPr/>
        </p:nvSpPr>
        <p:spPr>
          <a:xfrm>
            <a:off x="841248" y="17373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 компанію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10312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1752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параметри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41248" y="34015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Локація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7180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 Nonthaburi · завод Nakhon Ratchasima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1248" y="37673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ринку з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37673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 · останнє оновлення ліній 2024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1330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Потужність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71800" y="41330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тонн на місяць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1248" y="44988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Сертифікація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71800" y="44988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Organic · EU Organic · BRCGS · HACCP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41248" y="48646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 в офері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971800" y="48646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24 шт у коробі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1248" y="523036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Габарит короба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971800" y="52303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× 400 × 200 мм · 0,016 м³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59612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 виконання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55961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30 днів від контракту до ETD</a:t>
            </a:r>
            <a:endParaRPr lang="en-US" sz="1150" dirty="0"/>
          </a:p>
        </p:txBody>
      </p:sp>
      <p:pic>
        <p:nvPicPr>
          <p:cNvPr id="23" name="Image 0" descr="assets/cmp_sil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34656" y="1536192"/>
            <a:ext cx="4096512" cy="2834640"/>
          </a:xfrm>
          <a:prstGeom prst="round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534656" y="1536192"/>
            <a:ext cx="4096512" cy="2834640"/>
          </a:xfrm>
          <a:prstGeom prst="rect">
            <a:avLst/>
          </a:prstGeom>
          <a:ln w="1587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2"/>
          <p:cNvSpPr/>
          <p:nvPr/>
        </p:nvSpPr>
        <p:spPr>
          <a:xfrm>
            <a:off x="7534656" y="4526280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6" name="Text 23"/>
          <p:cNvSpPr/>
          <p:nvPr/>
        </p:nvSpPr>
        <p:spPr>
          <a:xfrm>
            <a:off x="7717536" y="45811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2016</a:t>
            </a:r>
            <a:endParaRPr lang="en-US" sz="1900" dirty="0"/>
          </a:p>
        </p:txBody>
      </p:sp>
      <p:sp>
        <p:nvSpPr>
          <p:cNvPr id="27" name="Text 24"/>
          <p:cNvSpPr/>
          <p:nvPr/>
        </p:nvSpPr>
        <p:spPr>
          <a:xfrm>
            <a:off x="9418320" y="4581144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початку роботи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7534656" y="5093208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9" name="Text 26"/>
          <p:cNvSpPr/>
          <p:nvPr/>
        </p:nvSpPr>
        <p:spPr>
          <a:xfrm>
            <a:off x="7717536" y="514807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10 000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т/міс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9418320" y="514807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виробнича потужність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7534656" y="5660136"/>
            <a:ext cx="4096512" cy="484632"/>
          </a:xfrm>
          <a:prstGeom prst="roundRect">
            <a:avLst>
              <a:gd name="adj" fmla="val 1509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2" name="Text 29"/>
          <p:cNvSpPr/>
          <p:nvPr/>
        </p:nvSpPr>
        <p:spPr>
          <a:xfrm>
            <a:off x="7717536" y="5715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r>
              <a:rPr lang="en-US" sz="1100" dirty="0">
                <a:solidFill>
                  <a:srgbClr val="E0B2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%</a:t>
            </a:r>
            <a:endParaRPr lang="en-US" sz="1900" dirty="0"/>
          </a:p>
        </p:txBody>
      </p:sp>
      <p:sp>
        <p:nvSpPr>
          <p:cNvPr id="33" name="Text 30"/>
          <p:cNvSpPr/>
          <p:nvPr/>
        </p:nvSpPr>
        <p:spPr>
          <a:xfrm>
            <a:off x="9418320" y="57150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сировини з Таїланду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Джерело: корпоративна презентація CM Premium Rice Co., Ltd. та прайс-лист Chefrey.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60" dirty="0">
                <a:solidFill>
                  <a:srgbClr val="6F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ПОСТАЧАЛЬНИК 2  ·  CHEFREY / CM PREMIUM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Chefrey Organic RTE 6 × 250 г — собівартість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85216" y="11155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навалом, FOB Bangkok · курс 45,00 UAH/USD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6" name="Image 0" descr="assets/prod_turmeric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808" y="1700784"/>
            <a:ext cx="2340864" cy="1810512"/>
          </a:xfrm>
          <a:prstGeom prst="round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9808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Shape 5"/>
          <p:cNvSpPr/>
          <p:nvPr/>
        </p:nvSpPr>
        <p:spPr>
          <a:xfrm>
            <a:off x="749808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9" name="Text 6"/>
          <p:cNvSpPr/>
          <p:nvPr/>
        </p:nvSpPr>
        <p:spPr>
          <a:xfrm>
            <a:off x="749808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49808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Turmeric Basmati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Cumin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49808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49808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Text 10"/>
          <p:cNvSpPr/>
          <p:nvPr/>
        </p:nvSpPr>
        <p:spPr>
          <a:xfrm>
            <a:off x="859536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59536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499616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59536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499616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59536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499616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859536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499616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383280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23" name="Image 1" descr="assets/prod_garlic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66160" y="1700784"/>
            <a:ext cx="2340864" cy="1810512"/>
          </a:xfrm>
          <a:prstGeom prst="round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566160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5" name="Shape 21"/>
          <p:cNvSpPr/>
          <p:nvPr/>
        </p:nvSpPr>
        <p:spPr>
          <a:xfrm>
            <a:off x="3566160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6" name="Text 22"/>
          <p:cNvSpPr/>
          <p:nvPr/>
        </p:nvSpPr>
        <p:spPr>
          <a:xfrm>
            <a:off x="3566160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3566160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Garlic Fried Rice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3566160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66160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Text 26"/>
          <p:cNvSpPr/>
          <p:nvPr/>
        </p:nvSpPr>
        <p:spPr>
          <a:xfrm>
            <a:off x="3675888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3675888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4315968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3675888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4315968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35" name="Text 31"/>
          <p:cNvSpPr/>
          <p:nvPr/>
        </p:nvSpPr>
        <p:spPr>
          <a:xfrm>
            <a:off x="3675888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4315968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3675888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4315968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39" name="Shape 35"/>
          <p:cNvSpPr/>
          <p:nvPr/>
        </p:nvSpPr>
        <p:spPr>
          <a:xfrm>
            <a:off x="6199632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40" name="Image 2" descr="assets/prod_cilantro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382512" y="1700784"/>
            <a:ext cx="2340864" cy="1810512"/>
          </a:xfrm>
          <a:prstGeom prst="roundRect">
            <a:avLst/>
          </a:prstGeom>
        </p:spPr>
      </p:pic>
      <p:sp>
        <p:nvSpPr>
          <p:cNvPr id="41" name="Shape 36"/>
          <p:cNvSpPr/>
          <p:nvPr/>
        </p:nvSpPr>
        <p:spPr>
          <a:xfrm>
            <a:off x="6382512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2" name="Shape 37"/>
          <p:cNvSpPr/>
          <p:nvPr/>
        </p:nvSpPr>
        <p:spPr>
          <a:xfrm>
            <a:off x="6382512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3" name="Text 38"/>
          <p:cNvSpPr/>
          <p:nvPr/>
        </p:nvSpPr>
        <p:spPr>
          <a:xfrm>
            <a:off x="6382512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44" name="Text 39"/>
          <p:cNvSpPr/>
          <p:nvPr/>
        </p:nvSpPr>
        <p:spPr>
          <a:xfrm>
            <a:off x="6382512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Cilantro Lime Rice</a:t>
            </a:r>
            <a:endParaRPr lang="en-US" sz="1450" dirty="0"/>
          </a:p>
        </p:txBody>
      </p:sp>
      <p:sp>
        <p:nvSpPr>
          <p:cNvPr id="45" name="Text 40"/>
          <p:cNvSpPr/>
          <p:nvPr/>
        </p:nvSpPr>
        <p:spPr>
          <a:xfrm>
            <a:off x="6382512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$0,667 · Mixed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82512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7" name="Text 42"/>
          <p:cNvSpPr/>
          <p:nvPr/>
        </p:nvSpPr>
        <p:spPr>
          <a:xfrm>
            <a:off x="6492240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48" name="Text 43"/>
          <p:cNvSpPr/>
          <p:nvPr/>
        </p:nvSpPr>
        <p:spPr>
          <a:xfrm>
            <a:off x="6492240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7132320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$1,133 / 50,99 ₴</a:t>
            </a:r>
            <a:endParaRPr lang="en-US" sz="950" dirty="0"/>
          </a:p>
        </p:txBody>
      </p:sp>
      <p:sp>
        <p:nvSpPr>
          <p:cNvPr id="50" name="Text 45"/>
          <p:cNvSpPr/>
          <p:nvPr/>
        </p:nvSpPr>
        <p:spPr>
          <a:xfrm>
            <a:off x="6492240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132320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$1,028 / 46,27 ₴</a:t>
            </a:r>
            <a:endParaRPr lang="en-US" sz="950" dirty="0"/>
          </a:p>
        </p:txBody>
      </p:sp>
      <p:sp>
        <p:nvSpPr>
          <p:cNvPr id="52" name="Text 47"/>
          <p:cNvSpPr/>
          <p:nvPr/>
        </p:nvSpPr>
        <p:spPr>
          <a:xfrm>
            <a:off x="6492240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7132320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$1,339 / 60,27 ₴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6492240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55" name="Text 50"/>
          <p:cNvSpPr/>
          <p:nvPr/>
        </p:nvSpPr>
        <p:spPr>
          <a:xfrm>
            <a:off x="7132320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$1,056 / 47,53 ₴</a:t>
            </a:r>
            <a:endParaRPr lang="en-US" sz="950" dirty="0"/>
          </a:p>
        </p:txBody>
      </p:sp>
      <p:sp>
        <p:nvSpPr>
          <p:cNvPr id="56" name="Shape 51"/>
          <p:cNvSpPr/>
          <p:nvPr/>
        </p:nvSpPr>
        <p:spPr>
          <a:xfrm>
            <a:off x="9015984" y="1536192"/>
            <a:ext cx="2706624" cy="4626864"/>
          </a:xfrm>
          <a:prstGeom prst="roundRect">
            <a:avLst>
              <a:gd name="adj" fmla="val 4054"/>
            </a:avLst>
          </a:prstGeom>
          <a:solidFill>
            <a:srgbClr val="0A2214">
              <a:alpha val="90000"/>
            </a:srgbClr>
          </a:solidFill>
          <a:ln w="15875">
            <a:solidFill>
              <a:srgbClr val="A87C2A"/>
            </a:solidFill>
            <a:prstDash val="solid"/>
          </a:ln>
          <a:effectLst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pic>
        <p:nvPicPr>
          <p:cNvPr id="57" name="Image 3" descr="assets/prod_jasmine.jp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98864" y="1700784"/>
            <a:ext cx="2340864" cy="1810512"/>
          </a:xfrm>
          <a:prstGeom prst="roundRect">
            <a:avLst/>
          </a:prstGeom>
        </p:spPr>
      </p:pic>
      <p:sp>
        <p:nvSpPr>
          <p:cNvPr id="58" name="Shape 52"/>
          <p:cNvSpPr/>
          <p:nvPr/>
        </p:nvSpPr>
        <p:spPr>
          <a:xfrm>
            <a:off x="9198864" y="1700784"/>
            <a:ext cx="2340864" cy="1810512"/>
          </a:xfrm>
          <a:prstGeom prst="rect">
            <a:avLst/>
          </a:prstGeom>
          <a:ln w="1270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59" name="Shape 53"/>
          <p:cNvSpPr/>
          <p:nvPr/>
        </p:nvSpPr>
        <p:spPr>
          <a:xfrm>
            <a:off x="9198864" y="3611880"/>
            <a:ext cx="1417320" cy="237744"/>
          </a:xfrm>
          <a:prstGeom prst="roundRect">
            <a:avLst>
              <a:gd name="adj" fmla="val 23077"/>
            </a:avLst>
          </a:prstGeom>
          <a:solidFill>
            <a:srgbClr val="2E6B3A"/>
          </a:solidFill>
          <a:ln w="6350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0" name="Text 54"/>
          <p:cNvSpPr/>
          <p:nvPr/>
        </p:nvSpPr>
        <p:spPr>
          <a:xfrm>
            <a:off x="9198864" y="362102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ПАУЧ 250 Г · ORGANIC</a:t>
            </a:r>
            <a:endParaRPr lang="en-US" sz="850" dirty="0"/>
          </a:p>
        </p:txBody>
      </p:sp>
      <p:sp>
        <p:nvSpPr>
          <p:cNvPr id="61" name="Text 55"/>
          <p:cNvSpPr/>
          <p:nvPr/>
        </p:nvSpPr>
        <p:spPr>
          <a:xfrm>
            <a:off x="9198864" y="3931920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 Rice</a:t>
            </a:r>
            <a:endParaRPr lang="en-US" sz="1450" dirty="0"/>
          </a:p>
        </p:txBody>
      </p:sp>
      <p:sp>
        <p:nvSpPr>
          <p:cNvPr id="62" name="Text 56"/>
          <p:cNvSpPr/>
          <p:nvPr/>
        </p:nvSpPr>
        <p:spPr>
          <a:xfrm>
            <a:off x="9198864" y="449884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FOB $0,583 · Plain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9198864" y="4791456"/>
            <a:ext cx="2340864" cy="1170432"/>
          </a:xfrm>
          <a:prstGeom prst="roundRect">
            <a:avLst>
              <a:gd name="adj" fmla="val 5469"/>
            </a:avLst>
          </a:prstGeom>
          <a:solidFill>
            <a:srgbClr val="16391F">
              <a:alpha val="92000"/>
            </a:srgbClr>
          </a:solidFill>
          <a:ln w="9525">
            <a:solidFill>
              <a:srgbClr val="A87C2A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Text 58"/>
          <p:cNvSpPr/>
          <p:nvPr/>
        </p:nvSpPr>
        <p:spPr>
          <a:xfrm>
            <a:off x="9308592" y="485546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СОБІВАРТІСТЬ, ЗА ПАУЧ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9308592" y="505663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20′ FCL</a:t>
            </a:r>
            <a:endParaRPr lang="en-US" sz="900" dirty="0"/>
          </a:p>
        </p:txBody>
      </p:sp>
      <p:sp>
        <p:nvSpPr>
          <p:cNvPr id="66" name="Text 60"/>
          <p:cNvSpPr/>
          <p:nvPr/>
        </p:nvSpPr>
        <p:spPr>
          <a:xfrm>
            <a:off x="9948672" y="505663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$1,020 / 45,91 ₴</a:t>
            </a:r>
            <a:endParaRPr lang="en-US" sz="950" dirty="0"/>
          </a:p>
        </p:txBody>
      </p:sp>
      <p:sp>
        <p:nvSpPr>
          <p:cNvPr id="67" name="Text 61"/>
          <p:cNvSpPr/>
          <p:nvPr/>
        </p:nvSpPr>
        <p:spPr>
          <a:xfrm>
            <a:off x="9308592" y="526237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40′ FCL</a:t>
            </a:r>
            <a:endParaRPr lang="en-US" sz="900" dirty="0"/>
          </a:p>
        </p:txBody>
      </p:sp>
      <p:sp>
        <p:nvSpPr>
          <p:cNvPr id="68" name="Text 62"/>
          <p:cNvSpPr/>
          <p:nvPr/>
        </p:nvSpPr>
        <p:spPr>
          <a:xfrm>
            <a:off x="9948672" y="526237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0B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$0,915 / 41,20 ₴</a:t>
            </a:r>
            <a:endParaRPr lang="en-US" sz="950" dirty="0"/>
          </a:p>
        </p:txBody>
      </p:sp>
      <p:sp>
        <p:nvSpPr>
          <p:cNvPr id="69" name="Text 63"/>
          <p:cNvSpPr/>
          <p:nvPr/>
        </p:nvSpPr>
        <p:spPr>
          <a:xfrm>
            <a:off x="9308592" y="546811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17 м³</a:t>
            </a:r>
            <a:endParaRPr lang="en-US" sz="900" dirty="0"/>
          </a:p>
        </p:txBody>
      </p:sp>
      <p:sp>
        <p:nvSpPr>
          <p:cNvPr id="70" name="Text 64"/>
          <p:cNvSpPr/>
          <p:nvPr/>
        </p:nvSpPr>
        <p:spPr>
          <a:xfrm>
            <a:off x="9948672" y="546811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$1,215 / 54,68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9308592" y="5673852"/>
            <a:ext cx="6583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FCF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34 м³</a:t>
            </a:r>
            <a:endParaRPr lang="en-US" sz="900" dirty="0"/>
          </a:p>
        </p:txBody>
      </p:sp>
      <p:sp>
        <p:nvSpPr>
          <p:cNvPr id="72" name="Text 66"/>
          <p:cNvSpPr/>
          <p:nvPr/>
        </p:nvSpPr>
        <p:spPr>
          <a:xfrm>
            <a:off x="9948672" y="5673852"/>
            <a:ext cx="1508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F5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$0,944 / 42,48 ₴</a:t>
            </a:r>
            <a:endParaRPr lang="en-US" sz="950" dirty="0"/>
          </a:p>
        </p:txBody>
      </p:sp>
      <p:sp>
        <p:nvSpPr>
          <p:cNvPr id="73" name="Text 67"/>
          <p:cNvSpPr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2D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перерахований за прайсовою ціною Plain ($3,50 за 6 паучів); у вихідному файлі цей SKU помилково проведений за Mixed ($4,00). Решта — за файлом.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862</Words>
  <Application>Microsoft Office PowerPoint</Application>
  <PresentationFormat>Широкий екран</PresentationFormat>
  <Paragraphs>172</Paragraphs>
  <Slides>6</Slides>
  <Notes>6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RTE Rice — постачальники та собівартість</dc:title>
  <dc:subject>PptxGenJS Presentation</dc:subject>
  <dc:creator>MD Eurotrade LLC</dc:creator>
  <cp:lastModifiedBy>Чаплигін lлля</cp:lastModifiedBy>
  <cp:revision>2</cp:revision>
  <dcterms:created xsi:type="dcterms:W3CDTF">2026-08-07T19:46:54Z</dcterms:created>
  <dcterms:modified xsi:type="dcterms:W3CDTF">2026-08-07T20:27:49Z</dcterms:modified>
</cp:coreProperties>
</file>