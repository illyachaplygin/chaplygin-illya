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Current user instruction: position Special Production after standard 240 g; 150 g, 200 g and other weights needed for the local market.</a:t>
            </a:r>
          </a:p>
          <a:p>
            <a:r>
              <a:t>- User-supplied 2026-09-03 Ready to eat Rice in Pouch 150g 200g_.pdf: 150 g and 200 g product formats. Other sizes subject to supplier agreement.</a:t>
            </a:r>
          </a:p>
          <a:p>
            <a:r>
              <a:t>- Authentic standard 240 g pouch image from original supplier presentation slide 5, explicitly labeled 240 g.</a:t>
            </a:r>
          </a:p>
          <a:p>
            <a:r>
              <a:t>- No prices, cost figures, minimum order quantities, or unconfirmed pack dimensions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Cup-Photo of Products.pdf — Single Cup assortment, packaging parameters, and product images; supplied by the user.</a:t>
            </a:r>
          </a:p>
          <a:p>
            <a:r>
              <a:t>- User instruction — BSCM launched new cup production; cost is intentionally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Prior user instructions: Double Cup 6 x (2 x125g), Private Label only; SPAR example customer packaging.</a:t>
            </a:r>
          </a:p>
          <a:p>
            <a:r>
              <a:t>- Photo: AI-assisted studio background and lighting retouch of the user-supplied authentic SPAR Jasmine Rice photo, preserving package identity.</a:t>
            </a:r>
          </a:p>
          <a:p>
            <a:r>
              <a:t>- 250g consumer pack = two125g cups. Costs intentionally moved to dedicated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 specifies separate SKU/cost slide and postpones calculation. Em dashes are editable missing values, not zero; no figures invented.</a:t>
            </a:r>
          </a:p>
          <a:p>
            <a:r>
              <a:t>- Seven Double Cup variants and oil distinctions from user instructions. Basmati qualification retained.</a:t>
            </a:r>
          </a:p>
          <a:p>
            <a:r>
              <a:t>- Four delivery scenarios and USD/UAH presentation match existing deck calculation slides. Costs per complete2x125g consumer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User-supplied 03-image.png: Double Cup, 2 × 125 g = 250 g/unit; sleeve box can carry the customer design; no actual product in supplier private brand.</a:t>
            </a:r>
          </a:p>
          <a:p>
            <a:r>
              <a:t>- Original RTE_Rice_Suppliers.pptx, slide 9: three authentic product photographs preserved and enlarged.</a:t>
            </a:r>
          </a:p>
          <a:p>
            <a:r>
              <a:t>- User-supplied SPAR packaging photo is retained on the preceding Double Cup assortment slide.</a:t>
            </a:r>
          </a:p>
          <a:p>
            <a:r>
              <a:t>- Removed the unsupported statement that every flavor uses one identical sleeve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image" Target="../media/image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13.jpe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Relationship Id="rId10" Type="http://schemas.openxmlformats.org/officeDocument/2006/relationships/image" Target="../media/image24.jpeg"/><Relationship Id="rId11" Type="http://schemas.openxmlformats.org/officeDocument/2006/relationships/image" Target="../media/image25.jpeg"/><Relationship Id="rId12" Type="http://schemas.openxmlformats.org/officeDocument/2006/relationships/image" Target="../media/image26.jpeg"/><Relationship Id="rId13" Type="http://schemas.openxmlformats.org/officeDocument/2006/relationships/image" Target="../media/image27.jpeg"/><Relationship Id="rId14" Type="http://schemas.openxmlformats.org/officeDocument/2006/relationships/image" Target="../media/image28.jpeg"/><Relationship Id="rId15" Type="http://schemas.openxmlformats.org/officeDocument/2006/relationships/image" Target="../media/image29.jpeg"/><Relationship Id="rId16" Type="http://schemas.openxmlformats.org/officeDocument/2006/relationships/image" Target="../media/image30.jpeg"/><Relationship Id="rId17" Type="http://schemas.openxmlformats.org/officeDocument/2006/relationships/image" Target="../media/image31.jpeg"/><Relationship Id="rId18" Type="http://schemas.openxmlformats.org/officeDocument/2006/relationships/image" Target="../media/image32.jpeg"/><Relationship Id="rId19" Type="http://schemas.openxmlformats.org/officeDocument/2006/relationships/image" Target="../media/image33.jpeg"/><Relationship Id="rId20" Type="http://schemas.openxmlformats.org/officeDocument/2006/relationships/image" Target="../media/image34.jpeg"/><Relationship Id="rId21" Type="http://schemas.openxmlformats.org/officeDocument/2006/relationships/image" Target="../media/image35.jpeg"/><Relationship Id="rId22" Type="http://schemas.openxmlformats.org/officeDocument/2006/relationships/image" Target="../media/image3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Relationship Id="rId4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9E11D9-4C10-4498-B08F-418DC703689B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5349240" cy="3474720"/>
          </a:xfrm>
          <a:prstGeom prst="roundRect">
            <a:avLst>
              <a:gd name="adj" fmla="val 3636"/>
            </a:avLst>
          </a:prstGeom>
          <a:solidFill>
            <a:srgbClr val="12452B">
              <a:alpha val="92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50D1F1-25C6-459D-B6EE-3201D5DA8822}"/>
              </a:ext>
            </a:extLst>
          </p:cNvPr>
          <p:cNvSpPr>
            <a:spLocks noGrp="1"/>
          </p:cNvSpPr>
          <p:nvPr/>
        </p:nvSpPr>
        <p:spPr>
          <a:xfrm>
            <a:off x="1097280" y="2322576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700" b="1" spc="15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READY-TO-EAT RICE</a:t>
            </a:r>
            <a:endParaRPr sz="3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CA64F1-2DC5-431B-A0BE-B63DF81EEFA7}"/>
              </a:ext>
            </a:extLst>
          </p:cNvPr>
          <p:cNvSpPr>
            <a:spLocks noGrp="1"/>
          </p:cNvSpPr>
          <p:nvPr/>
        </p:nvSpPr>
        <p:spPr>
          <a:xfrm>
            <a:off x="1097280" y="3081528"/>
            <a:ext cx="1828800" cy="0"/>
          </a:xfrm>
          <a:prstGeom prst="line">
            <a:avLst/>
          </a:prstGeom>
          <a:noFill/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612DCA-AB68-4951-A902-1E1495207AA6}"/>
              </a:ext>
            </a:extLst>
          </p:cNvPr>
          <p:cNvSpPr>
            <a:spLocks noGrp="1"/>
          </p:cNvSpPr>
          <p:nvPr/>
        </p:nvSpPr>
        <p:spPr>
          <a:xfrm>
            <a:off x="1961388" y="3035808"/>
            <a:ext cx="100584" cy="100584"/>
          </a:xfrm>
          <a:prstGeom prst="diamond">
            <a:avLst/>
          </a:prstGeom>
          <a:solidFill>
            <a:srgbClr val="F5CE76"/>
          </a:solidFill>
          <a:ln w="6350">
            <a:solidFill>
              <a:srgbClr val="E0B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C978E9-75EC-4BA8-8582-EAFEB8AD9E13}"/>
              </a:ext>
            </a:extLst>
          </p:cNvPr>
          <p:cNvSpPr>
            <a:spLocks noGrp="1"/>
          </p:cNvSpPr>
          <p:nvPr/>
        </p:nvSpPr>
        <p:spPr>
          <a:xfrm>
            <a:off x="1097280" y="32644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70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Постачальники та собівартість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744851-5719-43BB-BF0D-B86A6B0C2E1C}"/>
              </a:ext>
            </a:extLst>
          </p:cNvPr>
          <p:cNvSpPr>
            <a:spLocks noGrp="1"/>
          </p:cNvSpPr>
          <p:nvPr/>
        </p:nvSpPr>
        <p:spPr>
          <a:xfrm>
            <a:off x="1097280" y="378561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BSCM Foods Co., Ltd.</a:t>
            </a:r>
            <a:r>
              <a:rPr sz="1150">
                <a:solidFill>
                  <a:srgbClr val="C89C40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 Premium Rice Co., Ltd.</a:t>
            </a:r>
            <a:endParaRPr sz="13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99F762-1B10-42AE-9A9D-9E1C6FE25745}"/>
              </a:ext>
            </a:extLst>
          </p:cNvPr>
          <p:cNvSpPr>
            <a:spLocks noGrp="1"/>
          </p:cNvSpPr>
          <p:nvPr/>
        </p:nvSpPr>
        <p:spPr>
          <a:xfrm>
            <a:off x="1097280" y="4242816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1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Таїланд · FOB Bangkok · завантаження навалом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70707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D19144-9505-47D6-9275-6089C661FC3E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9BD473"/>
                </a:solidFill>
                <a:latin typeface="Calibri"/>
                <a:ea typeface="Calibri"/>
                <a:cs typeface="Calibri"/>
              </a:rPr>
              <a:t>ПОСТАЧАЛЬНИК 2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44E652-7531-4B42-A2E4-24C4B8731333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CM Premium Rice — профіль компанії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3ADB82-A208-4FF8-8484-E70CE2076607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Виробник органічного рису та готових страв, бренди Q Rice · Golden Phoenix · Chefrey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01CC53-360D-4866-8073-8A9412E5D929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6675120" cy="4626864"/>
          </a:xfrm>
          <a:prstGeom prst="roundRect">
            <a:avLst>
              <a:gd name="adj" fmla="val 2372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C212FD-4906-4748-A36F-7D4284B1BC29}"/>
              </a:ext>
            </a:extLst>
          </p:cNvPr>
          <p:cNvSpPr>
            <a:spLocks noGrp="1"/>
          </p:cNvSpPr>
          <p:nvPr/>
        </p:nvSpPr>
        <p:spPr>
          <a:xfrm>
            <a:off x="841248" y="173736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Про компанію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820750-8730-426F-96FA-819EACDEEADD}"/>
              </a:ext>
            </a:extLst>
          </p:cNvPr>
          <p:cNvSpPr>
            <a:spLocks noGrp="1"/>
          </p:cNvSpPr>
          <p:nvPr/>
        </p:nvSpPr>
        <p:spPr>
          <a:xfrm>
            <a:off x="841248" y="2103120"/>
            <a:ext cx="61264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CM Premium Rice Co., Ltd. — тайський переробник рису з власними елеваторами та лінією фасування у Nakhon Ratchasima. Працює під брендами Q Rice, Golden Phoenix і Chefrey; 99% сировини — тайського походження.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37FF36-89C7-40BF-8029-7E30F7FC5E72}"/>
              </a:ext>
            </a:extLst>
          </p:cNvPr>
          <p:cNvSpPr>
            <a:spLocks noGrp="1"/>
          </p:cNvSpPr>
          <p:nvPr/>
        </p:nvSpPr>
        <p:spPr>
          <a:xfrm>
            <a:off x="841248" y="301752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Ключові параметри</a:t>
            </a:r>
            <a:endParaRPr sz="1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0913A5-A195-4C35-8BEC-22AF2B15B7E7}"/>
              </a:ext>
            </a:extLst>
          </p:cNvPr>
          <p:cNvSpPr>
            <a:spLocks noGrp="1"/>
          </p:cNvSpPr>
          <p:nvPr/>
        </p:nvSpPr>
        <p:spPr>
          <a:xfrm>
            <a:off x="841248" y="338328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Локація</a:t>
            </a:r>
            <a:endParaRPr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A606B1-78BD-42D4-97F2-25019B04EA50}"/>
              </a:ext>
            </a:extLst>
          </p:cNvPr>
          <p:cNvSpPr>
            <a:spLocks noGrp="1"/>
          </p:cNvSpPr>
          <p:nvPr/>
        </p:nvSpPr>
        <p:spPr>
          <a:xfrm>
            <a:off x="2971800" y="3383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офіс Nonthaburi · завод Nakhon Ratchasima</a:t>
            </a:r>
            <a:endParaRPr sz="11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8BF7FC-C005-4DB0-828C-5DE23D336C1C}"/>
              </a:ext>
            </a:extLst>
          </p:cNvPr>
          <p:cNvSpPr>
            <a:spLocks noGrp="1"/>
          </p:cNvSpPr>
          <p:nvPr/>
        </p:nvSpPr>
        <p:spPr>
          <a:xfrm>
            <a:off x="841248" y="371703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Заснована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2A9028-10DB-4B72-B30E-FB49E15FA6C9}"/>
              </a:ext>
            </a:extLst>
          </p:cNvPr>
          <p:cNvSpPr>
            <a:spLocks noGrp="1"/>
          </p:cNvSpPr>
          <p:nvPr/>
        </p:nvSpPr>
        <p:spPr>
          <a:xfrm>
            <a:off x="2971800" y="371703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6 липня 2016 · капітал 50 млн THB</a:t>
            </a:r>
            <a:endParaRPr sz="11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E95C3E2-EA1E-42D7-A32D-5FC6276536E0}"/>
              </a:ext>
            </a:extLst>
          </p:cNvPr>
          <p:cNvSpPr>
            <a:spLocks noGrp="1"/>
          </p:cNvSpPr>
          <p:nvPr/>
        </p:nvSpPr>
        <p:spPr>
          <a:xfrm>
            <a:off x="841248" y="405079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Досвід групи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427EAD-08DF-4E7A-9C4C-835EFAE70855}"/>
              </a:ext>
            </a:extLst>
          </p:cNvPr>
          <p:cNvSpPr>
            <a:spLocks noGrp="1"/>
          </p:cNvSpPr>
          <p:nvPr/>
        </p:nvSpPr>
        <p:spPr>
          <a:xfrm>
            <a:off x="2971800" y="405079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понад 30 років у рисовому виробництві</a:t>
            </a:r>
            <a:endParaRPr sz="11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34AC2F-EE39-497C-8F1A-55D934AC95C0}"/>
              </a:ext>
            </a:extLst>
          </p:cNvPr>
          <p:cNvSpPr>
            <a:spLocks noGrp="1"/>
          </p:cNvSpPr>
          <p:nvPr/>
        </p:nvSpPr>
        <p:spPr>
          <a:xfrm>
            <a:off x="841248" y="43845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Потужність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2B1EB85-2BAF-45AA-8C18-39BD7B6AE924}"/>
              </a:ext>
            </a:extLst>
          </p:cNvPr>
          <p:cNvSpPr>
            <a:spLocks noGrp="1"/>
          </p:cNvSpPr>
          <p:nvPr/>
        </p:nvSpPr>
        <p:spPr>
          <a:xfrm>
            <a:off x="2971800" y="43845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120 000 тонн на рік · 10 000 т/міс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1BCD09-C026-44CF-8F8B-173FAD36743F}"/>
              </a:ext>
            </a:extLst>
          </p:cNvPr>
          <p:cNvSpPr>
            <a:spLocks noGrp="1"/>
          </p:cNvSpPr>
          <p:nvPr/>
        </p:nvSpPr>
        <p:spPr>
          <a:xfrm>
            <a:off x="841248" y="471830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Сировина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27C77E-48F9-4FBD-A728-1F2B80DFD2D6}"/>
              </a:ext>
            </a:extLst>
          </p:cNvPr>
          <p:cNvSpPr>
            <a:spLocks noGrp="1"/>
          </p:cNvSpPr>
          <p:nvPr/>
        </p:nvSpPr>
        <p:spPr>
          <a:xfrm>
            <a:off x="2971800" y="47183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99% Таїланд · 30+ партнерських рисозаводів</a:t>
            </a:r>
            <a:endParaRPr sz="1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E2C5A1-D625-4BFD-AE8C-D9C86960782D}"/>
              </a:ext>
            </a:extLst>
          </p:cNvPr>
          <p:cNvSpPr>
            <a:spLocks noGrp="1"/>
          </p:cNvSpPr>
          <p:nvPr/>
        </p:nvSpPr>
        <p:spPr>
          <a:xfrm>
            <a:off x="841248" y="50520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Експорт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C81496A-087D-4BDF-97C0-9C0AD33F324A}"/>
              </a:ext>
            </a:extLst>
          </p:cNvPr>
          <p:cNvSpPr>
            <a:spLocks noGrp="1"/>
          </p:cNvSpPr>
          <p:nvPr/>
        </p:nvSpPr>
        <p:spPr>
          <a:xfrm>
            <a:off x="2971800" y="50520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понад 20 країн світу</a:t>
            </a:r>
            <a:endParaRPr sz="11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29F56F1-072F-45B9-B669-E6DB5952B5DC}"/>
              </a:ext>
            </a:extLst>
          </p:cNvPr>
          <p:cNvSpPr>
            <a:spLocks noGrp="1"/>
          </p:cNvSpPr>
          <p:nvPr/>
        </p:nvSpPr>
        <p:spPr>
          <a:xfrm>
            <a:off x="841248" y="538581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Формат в офері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22D9B28-342C-4F6C-855A-E29107EE1B2A}"/>
              </a:ext>
            </a:extLst>
          </p:cNvPr>
          <p:cNvSpPr>
            <a:spLocks noGrp="1"/>
          </p:cNvSpPr>
          <p:nvPr/>
        </p:nvSpPr>
        <p:spPr>
          <a:xfrm>
            <a:off x="2971800" y="538581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пауч 250 г · 24 шт у коробі</a:t>
            </a:r>
            <a:endParaRPr sz="115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E1BA39C-F91D-4286-BEF8-67FC2D0BD2F1}"/>
              </a:ext>
            </a:extLst>
          </p:cNvPr>
          <p:cNvSpPr>
            <a:spLocks noGrp="1"/>
          </p:cNvSpPr>
          <p:nvPr/>
        </p:nvSpPr>
        <p:spPr>
          <a:xfrm>
            <a:off x="841248" y="57195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Сертифікація</a:t>
            </a:r>
            <a:endParaRPr sz="105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FD7FBD8F-742F-466D-99D3-4E9D925A8522}"/>
              </a:ext>
            </a:extLst>
          </p:cNvPr>
          <p:cNvSpPr>
            <a:spLocks noGrp="1"/>
          </p:cNvSpPr>
          <p:nvPr/>
        </p:nvSpPr>
        <p:spPr>
          <a:xfrm>
            <a:off x="2971800" y="571957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BRC · HACCP · ISO 9001 · Halal · Organic</a:t>
            </a:r>
            <a:endParaRPr sz="1150"/>
          </a:p>
        </p:txBody>
      </p:sp>
      <p:pic>
        <p:nvPicPr>
          <p:cNvPr id="61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34656" y="1536192"/>
            <a:ext cx="4096512" cy="2834640"/>
          </a:xfrm>
          <a:prstGeom prst="roundRect">
            <a:avLst/>
          </a:prstGeom>
        </p:spPr>
      </p:pic>
      <p:sp>
        <p:nvSpPr>
          <p:cNvPr id="24" name="Shape 21">
            <a:extLst>
              <a:ext uri="{FF2B5EF4-FFF2-40B4-BE49-F238E27FC236}">
                <a16:creationId xmlns:a16="http://schemas.microsoft.com/office/drawing/2014/main" id="{0A6243D7-99BD-4671-9140-C29A8D2841F5}"/>
              </a:ext>
            </a:extLst>
          </p:cNvPr>
          <p:cNvSpPr>
            <a:spLocks noGrp="1"/>
          </p:cNvSpPr>
          <p:nvPr/>
        </p:nvSpPr>
        <p:spPr>
          <a:xfrm>
            <a:off x="7534656" y="1536192"/>
            <a:ext cx="4096512" cy="2834640"/>
          </a:xfrm>
          <a:prstGeom prst="rect">
            <a:avLst/>
          </a:prstGeom>
          <a:ln w="1587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AD82CE1-305C-4565-A1FE-D051AE2156E0}"/>
              </a:ext>
            </a:extLst>
          </p:cNvPr>
          <p:cNvSpPr>
            <a:spLocks noGrp="1"/>
          </p:cNvSpPr>
          <p:nvPr/>
        </p:nvSpPr>
        <p:spPr>
          <a:xfrm>
            <a:off x="7534656" y="4526280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58CC28A-4F81-47DF-8E77-5628B5CD7532}"/>
              </a:ext>
            </a:extLst>
          </p:cNvPr>
          <p:cNvSpPr>
            <a:spLocks noGrp="1"/>
          </p:cNvSpPr>
          <p:nvPr/>
        </p:nvSpPr>
        <p:spPr>
          <a:xfrm>
            <a:off x="7717536" y="45811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2016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FCE24DD-1F3F-42BD-8089-4BCD25EBA58A}"/>
              </a:ext>
            </a:extLst>
          </p:cNvPr>
          <p:cNvSpPr>
            <a:spLocks noGrp="1"/>
          </p:cNvSpPr>
          <p:nvPr/>
        </p:nvSpPr>
        <p:spPr>
          <a:xfrm>
            <a:off x="9418320" y="458114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рік початку роботи</a:t>
            </a:r>
            <a:endParaRPr sz="10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9975636-2973-43EB-8284-82876E89595D}"/>
              </a:ext>
            </a:extLst>
          </p:cNvPr>
          <p:cNvSpPr>
            <a:spLocks noGrp="1"/>
          </p:cNvSpPr>
          <p:nvPr/>
        </p:nvSpPr>
        <p:spPr>
          <a:xfrm>
            <a:off x="7534656" y="5093208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645AB62-8A4D-4512-8F74-DE418179E43B}"/>
              </a:ext>
            </a:extLst>
          </p:cNvPr>
          <p:cNvSpPr>
            <a:spLocks noGrp="1"/>
          </p:cNvSpPr>
          <p:nvPr/>
        </p:nvSpPr>
        <p:spPr>
          <a:xfrm>
            <a:off x="7717536" y="51480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120 000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т/рік</a:t>
            </a:r>
            <a:endParaRPr sz="19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117B712-25E2-4520-9FD2-EBDF52F2E339}"/>
              </a:ext>
            </a:extLst>
          </p:cNvPr>
          <p:cNvSpPr>
            <a:spLocks noGrp="1"/>
          </p:cNvSpPr>
          <p:nvPr/>
        </p:nvSpPr>
        <p:spPr>
          <a:xfrm>
            <a:off x="9418320" y="514807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виробнича потужність</a:t>
            </a:r>
            <a:endParaRPr sz="10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9455139-65F1-448B-8A7C-86FFA827F351}"/>
              </a:ext>
            </a:extLst>
          </p:cNvPr>
          <p:cNvSpPr>
            <a:spLocks noGrp="1"/>
          </p:cNvSpPr>
          <p:nvPr/>
        </p:nvSpPr>
        <p:spPr>
          <a:xfrm>
            <a:off x="7534656" y="5660136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40C00FA-3D9E-4C88-BA29-ECBF4916B185}"/>
              </a:ext>
            </a:extLst>
          </p:cNvPr>
          <p:cNvSpPr>
            <a:spLocks noGrp="1"/>
          </p:cNvSpPr>
          <p:nvPr/>
        </p:nvSpPr>
        <p:spPr>
          <a:xfrm>
            <a:off x="7717536" y="57150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99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%</a:t>
            </a:r>
            <a:endParaRPr sz="19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324D476-C6D4-42C7-BAFD-4CF0E84F17CB}"/>
              </a:ext>
            </a:extLst>
          </p:cNvPr>
          <p:cNvSpPr>
            <a:spLocks noGrp="1"/>
          </p:cNvSpPr>
          <p:nvPr/>
        </p:nvSpPr>
        <p:spPr>
          <a:xfrm>
            <a:off x="9418320" y="571500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сировини з Таїланду</a:t>
            </a:r>
            <a:endParaRPr sz="105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7A215B1-AD40-45DA-BB18-23E7B159186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корпоративна презентація CM Premium Rice Co., Ltd., сайт cmp-rice.com та прайс-лист Chefrey.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735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6D18B-A944-45D2-8E87-358191F7E4AF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9BD473"/>
                </a:solidFill>
                <a:latin typeface="Calibri"/>
                <a:ea typeface="Calibri"/>
                <a:cs typeface="Calibri"/>
              </a:rPr>
              <a:t>ПОСТАЧАЛЬНИК 2  ·  CHEFREY / CM PREMIUM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4F6B36-12AD-4E80-B246-044D6B11275B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Chefrey Organic RTE 6 × 250 г — собівартість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3E3610-3F77-4808-A291-CC88332A673B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Завантаження навалом, FOB Bangkok ·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77A169-A18D-4352-B969-19E1FAD489B5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1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9808" y="1700784"/>
            <a:ext cx="2340864" cy="1810512"/>
          </a:xfrm>
          <a:prstGeom prst="round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87232188-1DCC-4781-85AB-61CF6976C5DA}"/>
              </a:ext>
            </a:extLst>
          </p:cNvPr>
          <p:cNvSpPr>
            <a:spLocks noGrp="1"/>
          </p:cNvSpPr>
          <p:nvPr/>
        </p:nvSpPr>
        <p:spPr>
          <a:xfrm>
            <a:off x="749808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A2BFF8-08EA-4127-88A8-7020E461BE87}"/>
              </a:ext>
            </a:extLst>
          </p:cNvPr>
          <p:cNvSpPr>
            <a:spLocks noGrp="1"/>
          </p:cNvSpPr>
          <p:nvPr/>
        </p:nvSpPr>
        <p:spPr>
          <a:xfrm>
            <a:off x="749808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358A48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9C00E7C-A4B5-4F70-BF95-2F612003EAA9}"/>
              </a:ext>
            </a:extLst>
          </p:cNvPr>
          <p:cNvSpPr>
            <a:spLocks noGrp="1"/>
          </p:cNvSpPr>
          <p:nvPr/>
        </p:nvSpPr>
        <p:spPr>
          <a:xfrm>
            <a:off x="749808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250 Г · ORGANIC</a:t>
            </a:r>
            <a:endParaRPr sz="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5875F5-C8AA-4604-BC2B-C7F2B6B61192}"/>
              </a:ext>
            </a:extLst>
          </p:cNvPr>
          <p:cNvSpPr>
            <a:spLocks noGrp="1"/>
          </p:cNvSpPr>
          <p:nvPr/>
        </p:nvSpPr>
        <p:spPr>
          <a:xfrm>
            <a:off x="749808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Turmeric Basmati</a:t>
            </a:r>
            <a:endParaRPr sz="1450"/>
          </a:p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with Cumin</a:t>
            </a:r>
            <a:endParaRPr sz="14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304521-7003-41C9-A3DF-B606C354369E}"/>
              </a:ext>
            </a:extLst>
          </p:cNvPr>
          <p:cNvSpPr>
            <a:spLocks noGrp="1"/>
          </p:cNvSpPr>
          <p:nvPr/>
        </p:nvSpPr>
        <p:spPr>
          <a:xfrm>
            <a:off x="749808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$0,667 · </a:t>
            </a:r>
            <a:endParaRPr sz="10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A033679-0F16-416E-9BC4-280F6974334A}"/>
              </a:ext>
            </a:extLst>
          </p:cNvPr>
          <p:cNvSpPr>
            <a:spLocks noGrp="1"/>
          </p:cNvSpPr>
          <p:nvPr/>
        </p:nvSpPr>
        <p:spPr>
          <a:xfrm>
            <a:off x="749808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BA45D7-6F03-4868-BDD2-44FC1BFF8AEA}"/>
              </a:ext>
            </a:extLst>
          </p:cNvPr>
          <p:cNvSpPr>
            <a:spLocks noGrp="1"/>
          </p:cNvSpPr>
          <p:nvPr/>
        </p:nvSpPr>
        <p:spPr>
          <a:xfrm>
            <a:off x="859536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D9F963D-2EFD-42F1-A3D8-955B0A886C4D}"/>
              </a:ext>
            </a:extLst>
          </p:cNvPr>
          <p:cNvSpPr>
            <a:spLocks noGrp="1"/>
          </p:cNvSpPr>
          <p:nvPr/>
        </p:nvSpPr>
        <p:spPr>
          <a:xfrm>
            <a:off x="859536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844CDDA-23FC-437B-9119-7C16195CDFA0}"/>
              </a:ext>
            </a:extLst>
          </p:cNvPr>
          <p:cNvSpPr>
            <a:spLocks noGrp="1"/>
          </p:cNvSpPr>
          <p:nvPr/>
        </p:nvSpPr>
        <p:spPr>
          <a:xfrm>
            <a:off x="1499616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$1,133 / 50,99 ₴</a:t>
            </a:r>
            <a:endParaRPr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7DB5FDD-4BCF-480F-AC44-12CE6BC0A357}"/>
              </a:ext>
            </a:extLst>
          </p:cNvPr>
          <p:cNvSpPr>
            <a:spLocks noGrp="1"/>
          </p:cNvSpPr>
          <p:nvPr/>
        </p:nvSpPr>
        <p:spPr>
          <a:xfrm>
            <a:off x="859536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82BA0A6-D97E-4819-8CA9-388C425BB098}"/>
              </a:ext>
            </a:extLst>
          </p:cNvPr>
          <p:cNvSpPr>
            <a:spLocks noGrp="1"/>
          </p:cNvSpPr>
          <p:nvPr/>
        </p:nvSpPr>
        <p:spPr>
          <a:xfrm>
            <a:off x="1499616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$1,028 / 46,27 ₴</a:t>
            </a:r>
            <a:endParaRPr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44B828A-FAD0-48B0-A84B-5C4651E029AF}"/>
              </a:ext>
            </a:extLst>
          </p:cNvPr>
          <p:cNvSpPr>
            <a:spLocks noGrp="1"/>
          </p:cNvSpPr>
          <p:nvPr/>
        </p:nvSpPr>
        <p:spPr>
          <a:xfrm>
            <a:off x="859536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3BF0E51-D744-4257-9C8D-7D20E2A440E5}"/>
              </a:ext>
            </a:extLst>
          </p:cNvPr>
          <p:cNvSpPr>
            <a:spLocks noGrp="1"/>
          </p:cNvSpPr>
          <p:nvPr/>
        </p:nvSpPr>
        <p:spPr>
          <a:xfrm>
            <a:off x="1499616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$1,339 / 60,27 ₴</a:t>
            </a:r>
            <a:endParaRPr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22ECCC3-BFAF-4EDE-935D-88BA8CB5F5D0}"/>
              </a:ext>
            </a:extLst>
          </p:cNvPr>
          <p:cNvSpPr>
            <a:spLocks noGrp="1"/>
          </p:cNvSpPr>
          <p:nvPr/>
        </p:nvSpPr>
        <p:spPr>
          <a:xfrm>
            <a:off x="859536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5EED41A-EC4F-42AA-8D1B-5807CC449D8D}"/>
              </a:ext>
            </a:extLst>
          </p:cNvPr>
          <p:cNvSpPr>
            <a:spLocks noGrp="1"/>
          </p:cNvSpPr>
          <p:nvPr/>
        </p:nvSpPr>
        <p:spPr>
          <a:xfrm>
            <a:off x="1499616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$1,056 / 47,53 ₴</a:t>
            </a:r>
            <a:endParaRPr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21615AB-3FD4-4403-AFF6-D6A56343CBC2}"/>
              </a:ext>
            </a:extLst>
          </p:cNvPr>
          <p:cNvSpPr>
            <a:spLocks noGrp="1"/>
          </p:cNvSpPr>
          <p:nvPr/>
        </p:nvSpPr>
        <p:spPr>
          <a:xfrm>
            <a:off x="3383280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8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66160" y="1700784"/>
            <a:ext cx="2340864" cy="1810512"/>
          </a:xfrm>
          <a:prstGeom prst="roundRect">
            <a:avLst/>
          </a:prstGeom>
        </p:spPr>
      </p:pic>
      <p:sp>
        <p:nvSpPr>
          <p:cNvPr id="24" name="Shape 20">
            <a:extLst>
              <a:ext uri="{FF2B5EF4-FFF2-40B4-BE49-F238E27FC236}">
                <a16:creationId xmlns:a16="http://schemas.microsoft.com/office/drawing/2014/main" id="{04C442D0-2F30-4863-8F74-AF51825B409B}"/>
              </a:ext>
            </a:extLst>
          </p:cNvPr>
          <p:cNvSpPr>
            <a:spLocks noGrp="1"/>
          </p:cNvSpPr>
          <p:nvPr/>
        </p:nvSpPr>
        <p:spPr>
          <a:xfrm>
            <a:off x="3566160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8FDFA6F-6582-4237-9B22-00A082830131}"/>
              </a:ext>
            </a:extLst>
          </p:cNvPr>
          <p:cNvSpPr>
            <a:spLocks noGrp="1"/>
          </p:cNvSpPr>
          <p:nvPr/>
        </p:nvSpPr>
        <p:spPr>
          <a:xfrm>
            <a:off x="3566160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358A48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BF42D84-D0AF-4217-B04F-C90FB592237C}"/>
              </a:ext>
            </a:extLst>
          </p:cNvPr>
          <p:cNvSpPr>
            <a:spLocks noGrp="1"/>
          </p:cNvSpPr>
          <p:nvPr/>
        </p:nvSpPr>
        <p:spPr>
          <a:xfrm>
            <a:off x="3566160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250 Г · ORGANIC</a:t>
            </a:r>
            <a:endParaRPr sz="8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CDE96DD-6C77-424C-B5EB-F3F2EA231669}"/>
              </a:ext>
            </a:extLst>
          </p:cNvPr>
          <p:cNvSpPr>
            <a:spLocks noGrp="1"/>
          </p:cNvSpPr>
          <p:nvPr/>
        </p:nvSpPr>
        <p:spPr>
          <a:xfrm>
            <a:off x="3566160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Garlic Fried Rice</a:t>
            </a:r>
            <a:endParaRPr sz="14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8A85A44-B6CB-4D71-8000-A653E3694AD7}"/>
              </a:ext>
            </a:extLst>
          </p:cNvPr>
          <p:cNvSpPr>
            <a:spLocks noGrp="1"/>
          </p:cNvSpPr>
          <p:nvPr/>
        </p:nvSpPr>
        <p:spPr>
          <a:xfrm>
            <a:off x="3566160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$0,667 · </a:t>
            </a:r>
            <a:endParaRPr sz="10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BB6ACCF8-0216-4C21-8A34-38A25C9E2A95}"/>
              </a:ext>
            </a:extLst>
          </p:cNvPr>
          <p:cNvSpPr>
            <a:spLocks noGrp="1"/>
          </p:cNvSpPr>
          <p:nvPr/>
        </p:nvSpPr>
        <p:spPr>
          <a:xfrm>
            <a:off x="3566160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AE847F71-A762-450C-A559-36DCDA518904}"/>
              </a:ext>
            </a:extLst>
          </p:cNvPr>
          <p:cNvSpPr>
            <a:spLocks noGrp="1"/>
          </p:cNvSpPr>
          <p:nvPr/>
        </p:nvSpPr>
        <p:spPr>
          <a:xfrm>
            <a:off x="3675888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16B44C2-FF59-4FA7-AB65-3092D174973A}"/>
              </a:ext>
            </a:extLst>
          </p:cNvPr>
          <p:cNvSpPr>
            <a:spLocks noGrp="1"/>
          </p:cNvSpPr>
          <p:nvPr/>
        </p:nvSpPr>
        <p:spPr>
          <a:xfrm>
            <a:off x="3675888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4BFD8799-39A3-483C-B443-61D7961487B8}"/>
              </a:ext>
            </a:extLst>
          </p:cNvPr>
          <p:cNvSpPr>
            <a:spLocks noGrp="1"/>
          </p:cNvSpPr>
          <p:nvPr/>
        </p:nvSpPr>
        <p:spPr>
          <a:xfrm>
            <a:off x="4315968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$1,133 / 50,99 ₴</a:t>
            </a:r>
            <a:endParaRPr sz="9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236FB47-8D66-49B9-890D-86AFDDAD03E0}"/>
              </a:ext>
            </a:extLst>
          </p:cNvPr>
          <p:cNvSpPr>
            <a:spLocks noGrp="1"/>
          </p:cNvSpPr>
          <p:nvPr/>
        </p:nvSpPr>
        <p:spPr>
          <a:xfrm>
            <a:off x="3675888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C5B3AD2-2E31-4934-829B-92559C96C96C}"/>
              </a:ext>
            </a:extLst>
          </p:cNvPr>
          <p:cNvSpPr>
            <a:spLocks noGrp="1"/>
          </p:cNvSpPr>
          <p:nvPr/>
        </p:nvSpPr>
        <p:spPr>
          <a:xfrm>
            <a:off x="4315968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$1,028 / 46,27 ₴</a:t>
            </a:r>
            <a:endParaRPr sz="95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AB5675A7-525E-4791-993A-B3BFA05842FE}"/>
              </a:ext>
            </a:extLst>
          </p:cNvPr>
          <p:cNvSpPr>
            <a:spLocks noGrp="1"/>
          </p:cNvSpPr>
          <p:nvPr/>
        </p:nvSpPr>
        <p:spPr>
          <a:xfrm>
            <a:off x="3675888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497E892-700F-4999-8614-DBAADE2E6A5A}"/>
              </a:ext>
            </a:extLst>
          </p:cNvPr>
          <p:cNvSpPr>
            <a:spLocks noGrp="1"/>
          </p:cNvSpPr>
          <p:nvPr/>
        </p:nvSpPr>
        <p:spPr>
          <a:xfrm>
            <a:off x="4315968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$1,339 / 60,27 ₴</a:t>
            </a:r>
            <a:endParaRPr sz="9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D93CC81-7EA2-49D9-8437-79938779A8F5}"/>
              </a:ext>
            </a:extLst>
          </p:cNvPr>
          <p:cNvSpPr>
            <a:spLocks noGrp="1"/>
          </p:cNvSpPr>
          <p:nvPr/>
        </p:nvSpPr>
        <p:spPr>
          <a:xfrm>
            <a:off x="3675888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427E166-8510-4CA7-8830-926E6C60FAE7}"/>
              </a:ext>
            </a:extLst>
          </p:cNvPr>
          <p:cNvSpPr>
            <a:spLocks noGrp="1"/>
          </p:cNvSpPr>
          <p:nvPr/>
        </p:nvSpPr>
        <p:spPr>
          <a:xfrm>
            <a:off x="4315968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$1,056 / 47,53 ₴</a:t>
            </a:r>
            <a:endParaRPr sz="95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E9A5A22F-E04B-4856-A6EE-5DB1869CB5A4}"/>
              </a:ext>
            </a:extLst>
          </p:cNvPr>
          <p:cNvSpPr>
            <a:spLocks noGrp="1"/>
          </p:cNvSpPr>
          <p:nvPr/>
        </p:nvSpPr>
        <p:spPr>
          <a:xfrm>
            <a:off x="6199632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5" name="Image 2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2512" y="1700784"/>
            <a:ext cx="2340864" cy="1810512"/>
          </a:xfrm>
          <a:prstGeom prst="roundRect">
            <a:avLst/>
          </a:prstGeom>
        </p:spPr>
      </p:pic>
      <p:sp>
        <p:nvSpPr>
          <p:cNvPr id="41" name="Shape 36">
            <a:extLst>
              <a:ext uri="{FF2B5EF4-FFF2-40B4-BE49-F238E27FC236}">
                <a16:creationId xmlns:a16="http://schemas.microsoft.com/office/drawing/2014/main" id="{F9B242CE-9FC3-4F31-9E90-E76F07CC34D9}"/>
              </a:ext>
            </a:extLst>
          </p:cNvPr>
          <p:cNvSpPr>
            <a:spLocks noGrp="1"/>
          </p:cNvSpPr>
          <p:nvPr/>
        </p:nvSpPr>
        <p:spPr>
          <a:xfrm>
            <a:off x="6382512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A50AE707-BF33-4DC0-8761-DC73CA95E9E3}"/>
              </a:ext>
            </a:extLst>
          </p:cNvPr>
          <p:cNvSpPr>
            <a:spLocks noGrp="1"/>
          </p:cNvSpPr>
          <p:nvPr/>
        </p:nvSpPr>
        <p:spPr>
          <a:xfrm>
            <a:off x="6382512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358A48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83B499CA-E5CA-4A54-A2B7-6FC3B8C2A8E6}"/>
              </a:ext>
            </a:extLst>
          </p:cNvPr>
          <p:cNvSpPr>
            <a:spLocks noGrp="1"/>
          </p:cNvSpPr>
          <p:nvPr/>
        </p:nvSpPr>
        <p:spPr>
          <a:xfrm>
            <a:off x="6382512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250 Г · ORGANIC</a:t>
            </a:r>
            <a:endParaRPr sz="8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44658F7D-867D-4A61-B46E-876DD11E5E0F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Cilantro Lime Rice</a:t>
            </a:r>
            <a:endParaRPr sz="145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9C8F21B4-2ED4-4F90-8A4E-B929F37C5243}"/>
              </a:ext>
            </a:extLst>
          </p:cNvPr>
          <p:cNvSpPr>
            <a:spLocks noGrp="1"/>
          </p:cNvSpPr>
          <p:nvPr/>
        </p:nvSpPr>
        <p:spPr>
          <a:xfrm>
            <a:off x="6382512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$0,667 · </a:t>
            </a:r>
            <a:endParaRPr sz="10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CB4E5E2B-AB82-4890-B02A-60C7FFBEFA40}"/>
              </a:ext>
            </a:extLst>
          </p:cNvPr>
          <p:cNvSpPr>
            <a:spLocks noGrp="1"/>
          </p:cNvSpPr>
          <p:nvPr/>
        </p:nvSpPr>
        <p:spPr>
          <a:xfrm>
            <a:off x="6382512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64AB014A-05C3-45B0-AEEE-0D5F7B45FEB4}"/>
              </a:ext>
            </a:extLst>
          </p:cNvPr>
          <p:cNvSpPr>
            <a:spLocks noGrp="1"/>
          </p:cNvSpPr>
          <p:nvPr/>
        </p:nvSpPr>
        <p:spPr>
          <a:xfrm>
            <a:off x="6492240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19FE6818-4F14-4862-A822-5259E90FC4D8}"/>
              </a:ext>
            </a:extLst>
          </p:cNvPr>
          <p:cNvSpPr>
            <a:spLocks noGrp="1"/>
          </p:cNvSpPr>
          <p:nvPr/>
        </p:nvSpPr>
        <p:spPr>
          <a:xfrm>
            <a:off x="6492240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5C9DFA8C-DC12-493F-89E1-05F82142934A}"/>
              </a:ext>
            </a:extLst>
          </p:cNvPr>
          <p:cNvSpPr>
            <a:spLocks noGrp="1"/>
          </p:cNvSpPr>
          <p:nvPr/>
        </p:nvSpPr>
        <p:spPr>
          <a:xfrm>
            <a:off x="7132320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$1,133 / 50,99 ₴</a:t>
            </a:r>
            <a:endParaRPr sz="9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351C6F62-3582-446E-9329-137053C4895C}"/>
              </a:ext>
            </a:extLst>
          </p:cNvPr>
          <p:cNvSpPr>
            <a:spLocks noGrp="1"/>
          </p:cNvSpPr>
          <p:nvPr/>
        </p:nvSpPr>
        <p:spPr>
          <a:xfrm>
            <a:off x="6492240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1CB0E785-438F-46B1-9B4D-45FFA085CF82}"/>
              </a:ext>
            </a:extLst>
          </p:cNvPr>
          <p:cNvSpPr>
            <a:spLocks noGrp="1"/>
          </p:cNvSpPr>
          <p:nvPr/>
        </p:nvSpPr>
        <p:spPr>
          <a:xfrm>
            <a:off x="7132320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$1,028 / 46,27 ₴</a:t>
            </a:r>
            <a:endParaRPr sz="95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843D82C3-467A-4031-AA4E-8835A62B789E}"/>
              </a:ext>
            </a:extLst>
          </p:cNvPr>
          <p:cNvSpPr>
            <a:spLocks noGrp="1"/>
          </p:cNvSpPr>
          <p:nvPr/>
        </p:nvSpPr>
        <p:spPr>
          <a:xfrm>
            <a:off x="6492240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219E8FB0-85D4-446F-8CAB-519B563DBBC5}"/>
              </a:ext>
            </a:extLst>
          </p:cNvPr>
          <p:cNvSpPr>
            <a:spLocks noGrp="1"/>
          </p:cNvSpPr>
          <p:nvPr/>
        </p:nvSpPr>
        <p:spPr>
          <a:xfrm>
            <a:off x="7132320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$1,339 / 60,27 ₴</a:t>
            </a:r>
            <a:endParaRPr sz="95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C10E996F-4409-4306-8C47-C3DBDB53C35F}"/>
              </a:ext>
            </a:extLst>
          </p:cNvPr>
          <p:cNvSpPr>
            <a:spLocks noGrp="1"/>
          </p:cNvSpPr>
          <p:nvPr/>
        </p:nvSpPr>
        <p:spPr>
          <a:xfrm>
            <a:off x="6492240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E05EE4B9-A859-4792-9E6A-A9A645DFA502}"/>
              </a:ext>
            </a:extLst>
          </p:cNvPr>
          <p:cNvSpPr>
            <a:spLocks noGrp="1"/>
          </p:cNvSpPr>
          <p:nvPr/>
        </p:nvSpPr>
        <p:spPr>
          <a:xfrm>
            <a:off x="7132320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$1,056 / 47,53 ₴</a:t>
            </a:r>
            <a:endParaRPr sz="950"/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251A2DC7-D0DC-4DDD-94FC-121AF67D8149}"/>
              </a:ext>
            </a:extLst>
          </p:cNvPr>
          <p:cNvSpPr>
            <a:spLocks noGrp="1"/>
          </p:cNvSpPr>
          <p:nvPr/>
        </p:nvSpPr>
        <p:spPr>
          <a:xfrm>
            <a:off x="9015984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2" name="Image 3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98864" y="1700784"/>
            <a:ext cx="2340864" cy="1810512"/>
          </a:xfrm>
          <a:prstGeom prst="roundRect">
            <a:avLst/>
          </a:prstGeom>
        </p:spPr>
      </p:pic>
      <p:sp>
        <p:nvSpPr>
          <p:cNvPr id="58" name="Shape 52">
            <a:extLst>
              <a:ext uri="{FF2B5EF4-FFF2-40B4-BE49-F238E27FC236}">
                <a16:creationId xmlns:a16="http://schemas.microsoft.com/office/drawing/2014/main" id="{F2C3BE02-E820-4936-861D-46D3D3E589BF}"/>
              </a:ext>
            </a:extLst>
          </p:cNvPr>
          <p:cNvSpPr>
            <a:spLocks noGrp="1"/>
          </p:cNvSpPr>
          <p:nvPr/>
        </p:nvSpPr>
        <p:spPr>
          <a:xfrm>
            <a:off x="9198864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1490DA2D-D85E-4489-896A-3376EF0EC2F2}"/>
              </a:ext>
            </a:extLst>
          </p:cNvPr>
          <p:cNvSpPr>
            <a:spLocks noGrp="1"/>
          </p:cNvSpPr>
          <p:nvPr/>
        </p:nvSpPr>
        <p:spPr>
          <a:xfrm>
            <a:off x="9198864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358A48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1BAD208D-D6B2-4DF7-AE5B-808AFC5016F0}"/>
              </a:ext>
            </a:extLst>
          </p:cNvPr>
          <p:cNvSpPr>
            <a:spLocks noGrp="1"/>
          </p:cNvSpPr>
          <p:nvPr/>
        </p:nvSpPr>
        <p:spPr>
          <a:xfrm>
            <a:off x="9198864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250 Г · ORGANIC</a:t>
            </a:r>
            <a:endParaRPr sz="85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D32F869F-1422-4380-8509-FD4EC7795CA7}"/>
              </a:ext>
            </a:extLst>
          </p:cNvPr>
          <p:cNvSpPr>
            <a:spLocks noGrp="1"/>
          </p:cNvSpPr>
          <p:nvPr/>
        </p:nvSpPr>
        <p:spPr>
          <a:xfrm>
            <a:off x="9198864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Jasmine Rice</a:t>
            </a:r>
            <a:endParaRPr sz="145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C56AF3DF-CE25-4AEE-B9EA-65DA2178D6C8}"/>
              </a:ext>
            </a:extLst>
          </p:cNvPr>
          <p:cNvSpPr>
            <a:spLocks noGrp="1"/>
          </p:cNvSpPr>
          <p:nvPr/>
        </p:nvSpPr>
        <p:spPr>
          <a:xfrm>
            <a:off x="9198864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$0,583 · </a:t>
            </a:r>
            <a:endParaRPr sz="1000"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B87B54C9-A9BC-4125-8EB8-417D870F885A}"/>
              </a:ext>
            </a:extLst>
          </p:cNvPr>
          <p:cNvSpPr>
            <a:spLocks noGrp="1"/>
          </p:cNvSpPr>
          <p:nvPr/>
        </p:nvSpPr>
        <p:spPr>
          <a:xfrm>
            <a:off x="9198864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5CDDC64B-111E-4034-BB84-739716A535C5}"/>
              </a:ext>
            </a:extLst>
          </p:cNvPr>
          <p:cNvSpPr>
            <a:spLocks noGrp="1"/>
          </p:cNvSpPr>
          <p:nvPr/>
        </p:nvSpPr>
        <p:spPr>
          <a:xfrm>
            <a:off x="9308592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B6A939BB-1670-4E52-9CBF-2148FF618BE5}"/>
              </a:ext>
            </a:extLst>
          </p:cNvPr>
          <p:cNvSpPr>
            <a:spLocks noGrp="1"/>
          </p:cNvSpPr>
          <p:nvPr/>
        </p:nvSpPr>
        <p:spPr>
          <a:xfrm>
            <a:off x="9308592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89315069-AA8B-4FB9-B0D8-4EEFAFCC5D68}"/>
              </a:ext>
            </a:extLst>
          </p:cNvPr>
          <p:cNvSpPr>
            <a:spLocks noGrp="1"/>
          </p:cNvSpPr>
          <p:nvPr/>
        </p:nvSpPr>
        <p:spPr>
          <a:xfrm>
            <a:off x="9948672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$1,020 / 45,91 ₴</a:t>
            </a:r>
            <a:endParaRPr sz="95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EF2C8EF4-AF40-4A42-B5F5-CD3A89AECD13}"/>
              </a:ext>
            </a:extLst>
          </p:cNvPr>
          <p:cNvSpPr>
            <a:spLocks noGrp="1"/>
          </p:cNvSpPr>
          <p:nvPr/>
        </p:nvSpPr>
        <p:spPr>
          <a:xfrm>
            <a:off x="9308592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4A437B21-276B-4A8E-B4FA-E55E4C8EB3D4}"/>
              </a:ext>
            </a:extLst>
          </p:cNvPr>
          <p:cNvSpPr>
            <a:spLocks noGrp="1"/>
          </p:cNvSpPr>
          <p:nvPr/>
        </p:nvSpPr>
        <p:spPr>
          <a:xfrm>
            <a:off x="9948672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$0,915 / 41,20 ₴</a:t>
            </a:r>
            <a:endParaRPr sz="950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D3FCC8C4-076B-4094-B816-197B2B0E688C}"/>
              </a:ext>
            </a:extLst>
          </p:cNvPr>
          <p:cNvSpPr>
            <a:spLocks noGrp="1"/>
          </p:cNvSpPr>
          <p:nvPr/>
        </p:nvSpPr>
        <p:spPr>
          <a:xfrm>
            <a:off x="9308592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4AC58F4C-4853-4DE5-929B-AF4822760C15}"/>
              </a:ext>
            </a:extLst>
          </p:cNvPr>
          <p:cNvSpPr>
            <a:spLocks noGrp="1"/>
          </p:cNvSpPr>
          <p:nvPr/>
        </p:nvSpPr>
        <p:spPr>
          <a:xfrm>
            <a:off x="9948672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$1,215 / 54,68 ₴</a:t>
            </a:r>
            <a:endParaRPr sz="95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838F0CEE-4FBA-4656-B576-A01896E53768}"/>
              </a:ext>
            </a:extLst>
          </p:cNvPr>
          <p:cNvSpPr>
            <a:spLocks noGrp="1"/>
          </p:cNvSpPr>
          <p:nvPr/>
        </p:nvSpPr>
        <p:spPr>
          <a:xfrm>
            <a:off x="9308592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C7424DE8-2857-46C2-8E15-BFDE963490BE}"/>
              </a:ext>
            </a:extLst>
          </p:cNvPr>
          <p:cNvSpPr>
            <a:spLocks noGrp="1"/>
          </p:cNvSpPr>
          <p:nvPr/>
        </p:nvSpPr>
        <p:spPr>
          <a:xfrm>
            <a:off x="9948672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$0,944 / 42,48 ₴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5213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ПОСТАЧАЛЬНИК 1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BSCM Foods — профіль компанії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Тайський виробник готових страв за ретортною технологією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C3D159-6BBB-4F8D-B9ED-F6496F44B44F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6675120" cy="4626864"/>
          </a:xfrm>
          <a:prstGeom prst="roundRect">
            <a:avLst>
              <a:gd name="adj" fmla="val 2372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B6272E-A3D6-4F20-AF34-CF17DAB68835}"/>
              </a:ext>
            </a:extLst>
          </p:cNvPr>
          <p:cNvSpPr>
            <a:spLocks noGrp="1"/>
          </p:cNvSpPr>
          <p:nvPr/>
        </p:nvSpPr>
        <p:spPr>
          <a:xfrm>
            <a:off x="841248" y="173736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Про компанію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7C41B4-C39E-4BB3-87E3-96451AFDB1CC}"/>
              </a:ext>
            </a:extLst>
          </p:cNvPr>
          <p:cNvSpPr>
            <a:spLocks noGrp="1"/>
          </p:cNvSpPr>
          <p:nvPr/>
        </p:nvSpPr>
        <p:spPr>
          <a:xfrm>
            <a:off x="841248" y="2103120"/>
            <a:ext cx="61264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BSCM Foods Co., Ltd. — виробник готової до споживання їжі з Бангкока. Портфель поділений на чотири напрями: Ready Rice, Ready Meal, Ready Dessert та Ready Drink. Рис випускається у трьох форматах — пауч, стакан і лоток.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0D0EC9-3F48-4B23-B62F-2DC20F4CB1E3}"/>
              </a:ext>
            </a:extLst>
          </p:cNvPr>
          <p:cNvSpPr>
            <a:spLocks noGrp="1"/>
          </p:cNvSpPr>
          <p:nvPr/>
        </p:nvSpPr>
        <p:spPr>
          <a:xfrm>
            <a:off x="841248" y="301752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Ключові параметри</a:t>
            </a:r>
            <a:endParaRPr sz="1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91FA7F-CF81-4499-8A50-A7DEE4346D83}"/>
              </a:ext>
            </a:extLst>
          </p:cNvPr>
          <p:cNvSpPr>
            <a:spLocks noGrp="1"/>
          </p:cNvSpPr>
          <p:nvPr/>
        </p:nvSpPr>
        <p:spPr>
          <a:xfrm>
            <a:off x="841248" y="338328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Локація</a:t>
            </a:r>
            <a:endParaRPr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8A5288-4469-45DA-BAD0-F665517C1E65}"/>
              </a:ext>
            </a:extLst>
          </p:cNvPr>
          <p:cNvSpPr>
            <a:spLocks noGrp="1"/>
          </p:cNvSpPr>
          <p:nvPr/>
        </p:nvSpPr>
        <p:spPr>
          <a:xfrm>
            <a:off x="2971800" y="3383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Бангкок (Bangsue), Таїланд</a:t>
            </a:r>
            <a:endParaRPr sz="11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ACD5D8-D338-4EA5-B23F-C319A9D0F23D}"/>
              </a:ext>
            </a:extLst>
          </p:cNvPr>
          <p:cNvSpPr>
            <a:spLocks noGrp="1"/>
          </p:cNvSpPr>
          <p:nvPr/>
        </p:nvSpPr>
        <p:spPr>
          <a:xfrm>
            <a:off x="841248" y="371703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Група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18D73A6-5619-40CD-864C-164E337887CE}"/>
              </a:ext>
            </a:extLst>
          </p:cNvPr>
          <p:cNvSpPr>
            <a:spLocks noGrp="1"/>
          </p:cNvSpPr>
          <p:nvPr/>
        </p:nvSpPr>
        <p:spPr>
          <a:xfrm>
            <a:off x="2971800" y="371703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Bangsue Chia Meng Rice Mill, з 1937</a:t>
            </a:r>
            <a:endParaRPr sz="11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17E25C-EAC6-44DA-BED1-8DA3C384AB1F}"/>
              </a:ext>
            </a:extLst>
          </p:cNvPr>
          <p:cNvSpPr>
            <a:spLocks noGrp="1"/>
          </p:cNvSpPr>
          <p:nvPr/>
        </p:nvSpPr>
        <p:spPr>
          <a:xfrm>
            <a:off x="841248" y="405079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RTE-виробництво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ACB90C5-BF37-41D9-8DC3-D21E41BC119E}"/>
              </a:ext>
            </a:extLst>
          </p:cNvPr>
          <p:cNvSpPr>
            <a:spLocks noGrp="1"/>
          </p:cNvSpPr>
          <p:nvPr/>
        </p:nvSpPr>
        <p:spPr>
          <a:xfrm>
            <a:off x="2971800" y="405079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власний завод BSCM Foods, з 2009</a:t>
            </a:r>
            <a:endParaRPr sz="11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C70C4-0C92-435A-9487-D75013A4A699}"/>
              </a:ext>
            </a:extLst>
          </p:cNvPr>
          <p:cNvSpPr>
            <a:spLocks noGrp="1"/>
          </p:cNvSpPr>
          <p:nvPr/>
        </p:nvSpPr>
        <p:spPr>
          <a:xfrm>
            <a:off x="841248" y="43845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Технологія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159060-DCDF-44CC-8B6D-02E8ED33BA8F}"/>
              </a:ext>
            </a:extLst>
          </p:cNvPr>
          <p:cNvSpPr>
            <a:spLocks noGrp="1"/>
          </p:cNvSpPr>
          <p:nvPr/>
        </p:nvSpPr>
        <p:spPr>
          <a:xfrm>
            <a:off x="2971800" y="43845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ретортна стерилізація, без консервантів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87B55C1-5453-4641-8FEE-2A2600E80415}"/>
              </a:ext>
            </a:extLst>
          </p:cNvPr>
          <p:cNvSpPr>
            <a:spLocks noGrp="1"/>
          </p:cNvSpPr>
          <p:nvPr/>
        </p:nvSpPr>
        <p:spPr>
          <a:xfrm>
            <a:off x="841248" y="471830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Термін придатності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5BCD84D-F4E9-40F7-AA7D-85E5A9A7C865}"/>
              </a:ext>
            </a:extLst>
          </p:cNvPr>
          <p:cNvSpPr>
            <a:spLocks noGrp="1"/>
          </p:cNvSpPr>
          <p:nvPr/>
        </p:nvSpPr>
        <p:spPr>
          <a:xfrm>
            <a:off x="2971800" y="47183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18 місяців за кімнатної температури</a:t>
            </a:r>
            <a:endParaRPr sz="1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CD79870-7EED-40F1-B03F-865D47193057}"/>
              </a:ext>
            </a:extLst>
          </p:cNvPr>
          <p:cNvSpPr>
            <a:spLocks noGrp="1"/>
          </p:cNvSpPr>
          <p:nvPr/>
        </p:nvSpPr>
        <p:spPr>
          <a:xfrm>
            <a:off x="841248" y="505206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Розігрів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96F0F8-6388-458A-9A6E-BD09F3ACBA30}"/>
              </a:ext>
            </a:extLst>
          </p:cNvPr>
          <p:cNvSpPr>
            <a:spLocks noGrp="1"/>
          </p:cNvSpPr>
          <p:nvPr/>
        </p:nvSpPr>
        <p:spPr>
          <a:xfrm>
            <a:off x="2971800" y="505206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мікрохвильова піч, 60–90 сек</a:t>
            </a:r>
            <a:endParaRPr sz="11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A8E69A-5D22-455F-8007-BE2ECE9342F0}"/>
              </a:ext>
            </a:extLst>
          </p:cNvPr>
          <p:cNvSpPr>
            <a:spLocks noGrp="1"/>
          </p:cNvSpPr>
          <p:nvPr/>
        </p:nvSpPr>
        <p:spPr>
          <a:xfrm>
            <a:off x="841248" y="538581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Формат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F71CE83-5380-4313-A831-A097BEC1C816}"/>
              </a:ext>
            </a:extLst>
          </p:cNvPr>
          <p:cNvSpPr>
            <a:spLocks noGrp="1"/>
          </p:cNvSpPr>
          <p:nvPr/>
        </p:nvSpPr>
        <p:spPr>
          <a:xfrm>
            <a:off x="2971800" y="538581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пауч 240 г · cup 150 г / 2×125 г</a:t>
            </a:r>
            <a:endParaRPr sz="115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E3FDCDD-AB84-4655-AE3A-27E63EDCF931}"/>
              </a:ext>
            </a:extLst>
          </p:cNvPr>
          <p:cNvSpPr>
            <a:spLocks noGrp="1"/>
          </p:cNvSpPr>
          <p:nvPr/>
        </p:nvSpPr>
        <p:spPr>
          <a:xfrm>
            <a:off x="841248" y="57195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Сертифікація</a:t>
            </a:r>
            <a:endParaRPr sz="105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CE1C1DBA-4385-4A90-B461-BD4A3B7B3F15}"/>
              </a:ext>
            </a:extLst>
          </p:cNvPr>
          <p:cNvSpPr>
            <a:spLocks noGrp="1"/>
          </p:cNvSpPr>
          <p:nvPr/>
        </p:nvSpPr>
        <p:spPr>
          <a:xfrm>
            <a:off x="2971800" y="571957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BRC · HACCP · ISO 22000 · GMP · Organic</a:t>
            </a:r>
            <a:endParaRPr sz="11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366CF28-1B6D-49C3-946A-65C3FD0C8631}"/>
              </a:ext>
            </a:extLst>
          </p:cNvPr>
          <p:cNvSpPr>
            <a:spLocks noGrp="1"/>
          </p:cNvSpPr>
          <p:nvPr/>
        </p:nvSpPr>
        <p:spPr>
          <a:xfrm>
            <a:off x="7534656" y="1536192"/>
            <a:ext cx="4096512" cy="2834640"/>
          </a:xfrm>
          <a:prstGeom prst="rect">
            <a:avLst/>
          </a:prstGeom>
          <a:ln w="1587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31A629E-B7E5-4A9F-8D0C-CEFC366EAB2E}"/>
              </a:ext>
            </a:extLst>
          </p:cNvPr>
          <p:cNvSpPr>
            <a:spLocks noGrp="1"/>
          </p:cNvSpPr>
          <p:nvPr/>
        </p:nvSpPr>
        <p:spPr>
          <a:xfrm>
            <a:off x="7534656" y="4526280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B99B33F-CA18-49F8-8EC9-D0A44AF63E2D}"/>
              </a:ext>
            </a:extLst>
          </p:cNvPr>
          <p:cNvSpPr>
            <a:spLocks noGrp="1"/>
          </p:cNvSpPr>
          <p:nvPr/>
        </p:nvSpPr>
        <p:spPr>
          <a:xfrm>
            <a:off x="7717536" y="458114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18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міс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254B401-36F1-4B46-897A-3CB2BDEB1BA4}"/>
              </a:ext>
            </a:extLst>
          </p:cNvPr>
          <p:cNvSpPr>
            <a:spLocks noGrp="1"/>
          </p:cNvSpPr>
          <p:nvPr/>
        </p:nvSpPr>
        <p:spPr>
          <a:xfrm>
            <a:off x="9098280" y="45811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термін придатності</a:t>
            </a:r>
            <a:endParaRPr sz="10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6DB6DF8-9EDE-4700-B934-B2C5D27FD37C}"/>
              </a:ext>
            </a:extLst>
          </p:cNvPr>
          <p:cNvSpPr>
            <a:spLocks noGrp="1"/>
          </p:cNvSpPr>
          <p:nvPr/>
        </p:nvSpPr>
        <p:spPr>
          <a:xfrm>
            <a:off x="7534656" y="5093208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0BEDDE1-3BA8-41C7-A18B-3458416DEE72}"/>
              </a:ext>
            </a:extLst>
          </p:cNvPr>
          <p:cNvSpPr>
            <a:spLocks noGrp="1"/>
          </p:cNvSpPr>
          <p:nvPr/>
        </p:nvSpPr>
        <p:spPr>
          <a:xfrm>
            <a:off x="7717536" y="514807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90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сек</a:t>
            </a:r>
            <a:endParaRPr sz="19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18C4906-3F42-4BCF-AD90-A44D05606B4C}"/>
              </a:ext>
            </a:extLst>
          </p:cNvPr>
          <p:cNvSpPr>
            <a:spLocks noGrp="1"/>
          </p:cNvSpPr>
          <p:nvPr/>
        </p:nvSpPr>
        <p:spPr>
          <a:xfrm>
            <a:off x="9098280" y="51480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розігрів у мікрохвильовці</a:t>
            </a:r>
            <a:endParaRPr sz="10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F74166D-A4F2-4F13-9CD5-9980A3D4D94F}"/>
              </a:ext>
            </a:extLst>
          </p:cNvPr>
          <p:cNvSpPr>
            <a:spLocks noGrp="1"/>
          </p:cNvSpPr>
          <p:nvPr/>
        </p:nvSpPr>
        <p:spPr>
          <a:xfrm>
            <a:off x="7534656" y="5660136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61A9ED7-0551-4B4E-B905-410FED97DEDE}"/>
              </a:ext>
            </a:extLst>
          </p:cNvPr>
          <p:cNvSpPr>
            <a:spLocks noGrp="1"/>
          </p:cNvSpPr>
          <p:nvPr/>
        </p:nvSpPr>
        <p:spPr>
          <a:xfrm>
            <a:off x="7717536" y="57150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60+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країн</a:t>
            </a:r>
            <a:endParaRPr sz="19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99E232B-CE92-4C25-B546-D18CAEAE1AAC}"/>
              </a:ext>
            </a:extLst>
          </p:cNvPr>
          <p:cNvSpPr>
            <a:spLocks noGrp="1"/>
          </p:cNvSpPr>
          <p:nvPr/>
        </p:nvSpPr>
        <p:spPr>
          <a:xfrm>
            <a:off x="9098280" y="5715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країн експорту групи</a:t>
            </a:r>
            <a:endParaRPr sz="105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36F47F1-10DF-4B38-8365-3317E620F8C6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каталог продукції BSCM Foods, комерційна пропозиція постачальника та корпоративний сайт групи BSCM (bscm.co.th); сертифікати — за каталогом.</a:t>
            </a:r>
            <a:endParaRPr sz="900"/>
          </a:p>
        </p:txBody>
      </p:sp>
      <p:pic>
        <p:nvPicPr>
          <p:cNvPr id="72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553" y="1554480"/>
            <a:ext cx="4096512" cy="28346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C5BA4-D3A1-44C2-B745-30F83BBCCF97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ПОСТАЧАЛЬНИК 1  ·  BSCM FOODS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0CCB68-F07E-4088-8869-8D3DB6C90508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Ready Rice 6 × 240 г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601D2-50AF-4274-98C3-4894B277423C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Завантаження навалом, FOB Bangkok ·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0E89EB-DA37-42CB-AC69-91A6CA0EA8B6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2" name="Picture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700784"/>
            <a:ext cx="2340864" cy="1810512"/>
          </a:xfrm>
          <a:prstGeom prst="round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030FCABB-62B5-4CCC-AA9F-B4C4F1FAE801}"/>
              </a:ext>
            </a:extLst>
          </p:cNvPr>
          <p:cNvSpPr>
            <a:spLocks noGrp="1"/>
          </p:cNvSpPr>
          <p:nvPr/>
        </p:nvSpPr>
        <p:spPr>
          <a:xfrm>
            <a:off x="749808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459869-F0AC-4806-A6A5-9985DB86A96E}"/>
              </a:ext>
            </a:extLst>
          </p:cNvPr>
          <p:cNvSpPr>
            <a:spLocks noGrp="1"/>
          </p:cNvSpPr>
          <p:nvPr/>
        </p:nvSpPr>
        <p:spPr>
          <a:xfrm>
            <a:off x="749808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0FE40E-3AFF-44AA-822A-DF0305CB94F6}"/>
              </a:ext>
            </a:extLst>
          </p:cNvPr>
          <p:cNvSpPr>
            <a:spLocks noGrp="1"/>
          </p:cNvSpPr>
          <p:nvPr/>
        </p:nvSpPr>
        <p:spPr>
          <a:xfrm>
            <a:off x="749808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240 Г · RETORT</a:t>
            </a:r>
            <a:endParaRPr sz="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634DF81-CF5A-42FF-B295-D79E46794514}"/>
              </a:ext>
            </a:extLst>
          </p:cNvPr>
          <p:cNvSpPr>
            <a:spLocks noGrp="1"/>
          </p:cNvSpPr>
          <p:nvPr/>
        </p:nvSpPr>
        <p:spPr>
          <a:xfrm>
            <a:off x="749808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Jasmine Rice</a:t>
            </a:r>
            <a:endParaRPr sz="14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EE9D78-55FB-4825-A4EC-1CE5288481C3}"/>
              </a:ext>
            </a:extLst>
          </p:cNvPr>
          <p:cNvSpPr>
            <a:spLocks noGrp="1"/>
          </p:cNvSpPr>
          <p:nvPr/>
        </p:nvSpPr>
        <p:spPr>
          <a:xfrm>
            <a:off x="749808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$0,583 · </a:t>
            </a:r>
            <a:endParaRPr sz="10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161C34-47AF-4A98-91ED-6E1E141D9701}"/>
              </a:ext>
            </a:extLst>
          </p:cNvPr>
          <p:cNvSpPr>
            <a:spLocks noGrp="1"/>
          </p:cNvSpPr>
          <p:nvPr/>
        </p:nvSpPr>
        <p:spPr>
          <a:xfrm>
            <a:off x="749808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D3A29BD-427F-41DD-A67A-208B5804CF15}"/>
              </a:ext>
            </a:extLst>
          </p:cNvPr>
          <p:cNvSpPr>
            <a:spLocks noGrp="1"/>
          </p:cNvSpPr>
          <p:nvPr/>
        </p:nvSpPr>
        <p:spPr>
          <a:xfrm>
            <a:off x="859536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225FD2-5DF4-4E27-A0C2-ED5225E2FD54}"/>
              </a:ext>
            </a:extLst>
          </p:cNvPr>
          <p:cNvSpPr>
            <a:spLocks noGrp="1"/>
          </p:cNvSpPr>
          <p:nvPr/>
        </p:nvSpPr>
        <p:spPr>
          <a:xfrm>
            <a:off x="859536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BAEDDDF-B30B-44A8-84D8-1F1351720E53}"/>
              </a:ext>
            </a:extLst>
          </p:cNvPr>
          <p:cNvSpPr>
            <a:spLocks noGrp="1"/>
          </p:cNvSpPr>
          <p:nvPr/>
        </p:nvSpPr>
        <p:spPr>
          <a:xfrm>
            <a:off x="1499616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$0,995 / 44,79 ₴</a:t>
            </a:r>
            <a:endParaRPr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2FA2E5-E055-4EED-B764-D8C358F13040}"/>
              </a:ext>
            </a:extLst>
          </p:cNvPr>
          <p:cNvSpPr>
            <a:spLocks noGrp="1"/>
          </p:cNvSpPr>
          <p:nvPr/>
        </p:nvSpPr>
        <p:spPr>
          <a:xfrm>
            <a:off x="859536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EFA949F-A8B8-4BD8-BEA2-862EF1E9F3A7}"/>
              </a:ext>
            </a:extLst>
          </p:cNvPr>
          <p:cNvSpPr>
            <a:spLocks noGrp="1"/>
          </p:cNvSpPr>
          <p:nvPr/>
        </p:nvSpPr>
        <p:spPr>
          <a:xfrm>
            <a:off x="1499616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$0,892 / 40,15 ₴</a:t>
            </a:r>
            <a:endParaRPr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F4E7F66-E648-45BF-B645-840EB5CD86B3}"/>
              </a:ext>
            </a:extLst>
          </p:cNvPr>
          <p:cNvSpPr>
            <a:spLocks noGrp="1"/>
          </p:cNvSpPr>
          <p:nvPr/>
        </p:nvSpPr>
        <p:spPr>
          <a:xfrm>
            <a:off x="859536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3FA87CF-3F1F-407C-97E5-CE3B0D83E714}"/>
              </a:ext>
            </a:extLst>
          </p:cNvPr>
          <p:cNvSpPr>
            <a:spLocks noGrp="1"/>
          </p:cNvSpPr>
          <p:nvPr/>
        </p:nvSpPr>
        <p:spPr>
          <a:xfrm>
            <a:off x="1499616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$1,001 / 45,03 ₴</a:t>
            </a:r>
            <a:endParaRPr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86B9D-4A4D-4002-9CDE-77BA53EB1911}"/>
              </a:ext>
            </a:extLst>
          </p:cNvPr>
          <p:cNvSpPr>
            <a:spLocks noGrp="1"/>
          </p:cNvSpPr>
          <p:nvPr/>
        </p:nvSpPr>
        <p:spPr>
          <a:xfrm>
            <a:off x="859536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F1395A1-2F78-48B0-8C30-47BF1137A35B}"/>
              </a:ext>
            </a:extLst>
          </p:cNvPr>
          <p:cNvSpPr>
            <a:spLocks noGrp="1"/>
          </p:cNvSpPr>
          <p:nvPr/>
        </p:nvSpPr>
        <p:spPr>
          <a:xfrm>
            <a:off x="1499616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$0,928 / 41,77 ₴</a:t>
            </a:r>
            <a:endParaRPr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CD23EF-4833-427F-B74B-6E405E3069ED}"/>
              </a:ext>
            </a:extLst>
          </p:cNvPr>
          <p:cNvSpPr>
            <a:spLocks noGrp="1"/>
          </p:cNvSpPr>
          <p:nvPr/>
        </p:nvSpPr>
        <p:spPr>
          <a:xfrm>
            <a:off x="3383280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9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700784"/>
            <a:ext cx="2340864" cy="1810512"/>
          </a:xfrm>
          <a:prstGeom prst="roundRect">
            <a:avLst/>
          </a:prstGeom>
        </p:spPr>
      </p:pic>
      <p:sp>
        <p:nvSpPr>
          <p:cNvPr id="24" name="Shape 20">
            <a:extLst>
              <a:ext uri="{FF2B5EF4-FFF2-40B4-BE49-F238E27FC236}">
                <a16:creationId xmlns:a16="http://schemas.microsoft.com/office/drawing/2014/main" id="{CC510ACE-6515-4BC0-B50D-985970D330BD}"/>
              </a:ext>
            </a:extLst>
          </p:cNvPr>
          <p:cNvSpPr>
            <a:spLocks noGrp="1"/>
          </p:cNvSpPr>
          <p:nvPr/>
        </p:nvSpPr>
        <p:spPr>
          <a:xfrm>
            <a:off x="3566160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F360826-A308-4AC3-BAA1-7446672F8749}"/>
              </a:ext>
            </a:extLst>
          </p:cNvPr>
          <p:cNvSpPr>
            <a:spLocks noGrp="1"/>
          </p:cNvSpPr>
          <p:nvPr/>
        </p:nvSpPr>
        <p:spPr>
          <a:xfrm>
            <a:off x="3566160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036F6EF-F813-4855-BBAB-E834036C4733}"/>
              </a:ext>
            </a:extLst>
          </p:cNvPr>
          <p:cNvSpPr>
            <a:spLocks noGrp="1"/>
          </p:cNvSpPr>
          <p:nvPr/>
        </p:nvSpPr>
        <p:spPr>
          <a:xfrm>
            <a:off x="3566160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240 Г · RETORT</a:t>
            </a:r>
            <a:endParaRPr sz="8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623579F-4CF0-49CB-8419-DC085FE5D432}"/>
              </a:ext>
            </a:extLst>
          </p:cNvPr>
          <p:cNvSpPr>
            <a:spLocks noGrp="1"/>
          </p:cNvSpPr>
          <p:nvPr/>
        </p:nvSpPr>
        <p:spPr>
          <a:xfrm>
            <a:off x="3566160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Mexican Rice</a:t>
            </a:r>
            <a:endParaRPr sz="14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4F13D1A-C3CC-4661-A13D-5D4192098AD7}"/>
              </a:ext>
            </a:extLst>
          </p:cNvPr>
          <p:cNvSpPr>
            <a:spLocks noGrp="1"/>
          </p:cNvSpPr>
          <p:nvPr/>
        </p:nvSpPr>
        <p:spPr>
          <a:xfrm>
            <a:off x="3566160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$0,667 · </a:t>
            </a:r>
            <a:endParaRPr sz="10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49B14DE-CA73-4039-8430-FB42DBBD3991}"/>
              </a:ext>
            </a:extLst>
          </p:cNvPr>
          <p:cNvSpPr>
            <a:spLocks noGrp="1"/>
          </p:cNvSpPr>
          <p:nvPr/>
        </p:nvSpPr>
        <p:spPr>
          <a:xfrm>
            <a:off x="3566160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005C7CF-646A-4687-B1EA-E63F75D77D5C}"/>
              </a:ext>
            </a:extLst>
          </p:cNvPr>
          <p:cNvSpPr>
            <a:spLocks noGrp="1"/>
          </p:cNvSpPr>
          <p:nvPr/>
        </p:nvSpPr>
        <p:spPr>
          <a:xfrm>
            <a:off x="3675888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93A1173-463D-43C7-AEA9-358CA2D92BA8}"/>
              </a:ext>
            </a:extLst>
          </p:cNvPr>
          <p:cNvSpPr>
            <a:spLocks noGrp="1"/>
          </p:cNvSpPr>
          <p:nvPr/>
        </p:nvSpPr>
        <p:spPr>
          <a:xfrm>
            <a:off x="3675888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117FC0B-4F73-40B9-9BEC-953254E4BA9A}"/>
              </a:ext>
            </a:extLst>
          </p:cNvPr>
          <p:cNvSpPr>
            <a:spLocks noGrp="1"/>
          </p:cNvSpPr>
          <p:nvPr/>
        </p:nvSpPr>
        <p:spPr>
          <a:xfrm>
            <a:off x="4315968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$1,138 / 51,19 ₴</a:t>
            </a:r>
            <a:endParaRPr sz="9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8663418-84F8-4462-909D-711F0DD1DDD7}"/>
              </a:ext>
            </a:extLst>
          </p:cNvPr>
          <p:cNvSpPr>
            <a:spLocks noGrp="1"/>
          </p:cNvSpPr>
          <p:nvPr/>
        </p:nvSpPr>
        <p:spPr>
          <a:xfrm>
            <a:off x="3675888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09A954A-25C5-4C8C-BACC-D09A2CA513F0}"/>
              </a:ext>
            </a:extLst>
          </p:cNvPr>
          <p:cNvSpPr>
            <a:spLocks noGrp="1"/>
          </p:cNvSpPr>
          <p:nvPr/>
        </p:nvSpPr>
        <p:spPr>
          <a:xfrm>
            <a:off x="4315968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$1,020 / 45,89 ₴</a:t>
            </a:r>
            <a:endParaRPr sz="95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BD63ABA-2795-4167-B138-F7286363F43A}"/>
              </a:ext>
            </a:extLst>
          </p:cNvPr>
          <p:cNvSpPr>
            <a:spLocks noGrp="1"/>
          </p:cNvSpPr>
          <p:nvPr/>
        </p:nvSpPr>
        <p:spPr>
          <a:xfrm>
            <a:off x="3675888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95EAFC3-88FF-44CF-AFF4-614342C3B96D}"/>
              </a:ext>
            </a:extLst>
          </p:cNvPr>
          <p:cNvSpPr>
            <a:spLocks noGrp="1"/>
          </p:cNvSpPr>
          <p:nvPr/>
        </p:nvSpPr>
        <p:spPr>
          <a:xfrm>
            <a:off x="4315968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$1,144 / 51,46 ₴</a:t>
            </a:r>
            <a:endParaRPr sz="9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0133D29-79AD-41F7-AC4D-08F94F211A09}"/>
              </a:ext>
            </a:extLst>
          </p:cNvPr>
          <p:cNvSpPr>
            <a:spLocks noGrp="1"/>
          </p:cNvSpPr>
          <p:nvPr/>
        </p:nvSpPr>
        <p:spPr>
          <a:xfrm>
            <a:off x="3675888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48907D16-EC0C-4DB8-9E32-E30599EA1EE7}"/>
              </a:ext>
            </a:extLst>
          </p:cNvPr>
          <p:cNvSpPr>
            <a:spLocks noGrp="1"/>
          </p:cNvSpPr>
          <p:nvPr/>
        </p:nvSpPr>
        <p:spPr>
          <a:xfrm>
            <a:off x="4315968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$1,061 / 47,74 ₴</a:t>
            </a:r>
            <a:endParaRPr sz="95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2259E21A-9C34-47EA-B3E9-E565B7940B3A}"/>
              </a:ext>
            </a:extLst>
          </p:cNvPr>
          <p:cNvSpPr>
            <a:spLocks noGrp="1"/>
          </p:cNvSpPr>
          <p:nvPr/>
        </p:nvSpPr>
        <p:spPr>
          <a:xfrm>
            <a:off x="6199632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6" name="Picture 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700784"/>
            <a:ext cx="2340864" cy="1810512"/>
          </a:xfrm>
          <a:prstGeom prst="roundRect">
            <a:avLst/>
          </a:prstGeom>
        </p:spPr>
      </p:pic>
      <p:sp>
        <p:nvSpPr>
          <p:cNvPr id="41" name="Shape 36">
            <a:extLst>
              <a:ext uri="{FF2B5EF4-FFF2-40B4-BE49-F238E27FC236}">
                <a16:creationId xmlns:a16="http://schemas.microsoft.com/office/drawing/2014/main" id="{0711C6CE-DEDB-4DD0-8D53-429DE193BFFB}"/>
              </a:ext>
            </a:extLst>
          </p:cNvPr>
          <p:cNvSpPr>
            <a:spLocks noGrp="1"/>
          </p:cNvSpPr>
          <p:nvPr/>
        </p:nvSpPr>
        <p:spPr>
          <a:xfrm>
            <a:off x="6382512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DC7C47A5-93C4-467C-AF6A-51561B8A3AB4}"/>
              </a:ext>
            </a:extLst>
          </p:cNvPr>
          <p:cNvSpPr>
            <a:spLocks noGrp="1"/>
          </p:cNvSpPr>
          <p:nvPr/>
        </p:nvSpPr>
        <p:spPr>
          <a:xfrm>
            <a:off x="6382512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0596B2BA-8710-4E95-8365-1BF11E1890BF}"/>
              </a:ext>
            </a:extLst>
          </p:cNvPr>
          <p:cNvSpPr>
            <a:spLocks noGrp="1"/>
          </p:cNvSpPr>
          <p:nvPr/>
        </p:nvSpPr>
        <p:spPr>
          <a:xfrm>
            <a:off x="6382512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240 Г · RETORT</a:t>
            </a:r>
            <a:endParaRPr sz="8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C06B8F32-5124-4A18-AC53-3481907D9192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Japanese Style Rice</a:t>
            </a:r>
            <a:endParaRPr sz="145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B818A736-226A-4409-9E84-13D21A31A265}"/>
              </a:ext>
            </a:extLst>
          </p:cNvPr>
          <p:cNvSpPr>
            <a:spLocks noGrp="1"/>
          </p:cNvSpPr>
          <p:nvPr/>
        </p:nvSpPr>
        <p:spPr>
          <a:xfrm>
            <a:off x="6382512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$0,667 · </a:t>
            </a:r>
            <a:endParaRPr sz="10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74EB33FE-2A74-4110-9400-0929BAE7D070}"/>
              </a:ext>
            </a:extLst>
          </p:cNvPr>
          <p:cNvSpPr>
            <a:spLocks noGrp="1"/>
          </p:cNvSpPr>
          <p:nvPr/>
        </p:nvSpPr>
        <p:spPr>
          <a:xfrm>
            <a:off x="6382512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49EEB924-E332-4CCD-95A2-34608E9213B3}"/>
              </a:ext>
            </a:extLst>
          </p:cNvPr>
          <p:cNvSpPr>
            <a:spLocks noGrp="1"/>
          </p:cNvSpPr>
          <p:nvPr/>
        </p:nvSpPr>
        <p:spPr>
          <a:xfrm>
            <a:off x="6492240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1233661C-E122-46E4-B4AF-2E989ADA051C}"/>
              </a:ext>
            </a:extLst>
          </p:cNvPr>
          <p:cNvSpPr>
            <a:spLocks noGrp="1"/>
          </p:cNvSpPr>
          <p:nvPr/>
        </p:nvSpPr>
        <p:spPr>
          <a:xfrm>
            <a:off x="6492240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BFF0E6A6-EE49-4AEB-B04B-23DA22BE286F}"/>
              </a:ext>
            </a:extLst>
          </p:cNvPr>
          <p:cNvSpPr>
            <a:spLocks noGrp="1"/>
          </p:cNvSpPr>
          <p:nvPr/>
        </p:nvSpPr>
        <p:spPr>
          <a:xfrm>
            <a:off x="7132320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$1,138 / 51,19 ₴</a:t>
            </a:r>
            <a:endParaRPr sz="9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0696E1FB-7D6D-40FC-AD7C-66FBBC12B10C}"/>
              </a:ext>
            </a:extLst>
          </p:cNvPr>
          <p:cNvSpPr>
            <a:spLocks noGrp="1"/>
          </p:cNvSpPr>
          <p:nvPr/>
        </p:nvSpPr>
        <p:spPr>
          <a:xfrm>
            <a:off x="6492240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EEC05408-8F7F-4048-A172-AEF7DC75A581}"/>
              </a:ext>
            </a:extLst>
          </p:cNvPr>
          <p:cNvSpPr>
            <a:spLocks noGrp="1"/>
          </p:cNvSpPr>
          <p:nvPr/>
        </p:nvSpPr>
        <p:spPr>
          <a:xfrm>
            <a:off x="7132320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$1,020 / 45,89 ₴</a:t>
            </a:r>
            <a:endParaRPr sz="95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DF78F8F-BC3B-4297-9AED-58144068050A}"/>
              </a:ext>
            </a:extLst>
          </p:cNvPr>
          <p:cNvSpPr>
            <a:spLocks noGrp="1"/>
          </p:cNvSpPr>
          <p:nvPr/>
        </p:nvSpPr>
        <p:spPr>
          <a:xfrm>
            <a:off x="6492240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7A843F49-7C4D-43E2-9A00-CD7BED7D7EEF}"/>
              </a:ext>
            </a:extLst>
          </p:cNvPr>
          <p:cNvSpPr>
            <a:spLocks noGrp="1"/>
          </p:cNvSpPr>
          <p:nvPr/>
        </p:nvSpPr>
        <p:spPr>
          <a:xfrm>
            <a:off x="7132320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$1,144 / 51,46 ₴</a:t>
            </a:r>
            <a:endParaRPr sz="95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766A248-70B7-4C50-86DC-4743FDE08FED}"/>
              </a:ext>
            </a:extLst>
          </p:cNvPr>
          <p:cNvSpPr>
            <a:spLocks noGrp="1"/>
          </p:cNvSpPr>
          <p:nvPr/>
        </p:nvSpPr>
        <p:spPr>
          <a:xfrm>
            <a:off x="6492240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9C30AE53-0A95-413F-B9EF-82A330647E84}"/>
              </a:ext>
            </a:extLst>
          </p:cNvPr>
          <p:cNvSpPr>
            <a:spLocks noGrp="1"/>
          </p:cNvSpPr>
          <p:nvPr/>
        </p:nvSpPr>
        <p:spPr>
          <a:xfrm>
            <a:off x="7132320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$1,061 / 47,74 ₴</a:t>
            </a:r>
            <a:endParaRPr sz="950"/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BB65C8A4-36FE-4323-95C1-6CF79F6F2BD2}"/>
              </a:ext>
            </a:extLst>
          </p:cNvPr>
          <p:cNvSpPr>
            <a:spLocks noGrp="1"/>
          </p:cNvSpPr>
          <p:nvPr/>
        </p:nvSpPr>
        <p:spPr>
          <a:xfrm>
            <a:off x="9015984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3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4" y="1700784"/>
            <a:ext cx="2340864" cy="1810512"/>
          </a:xfrm>
          <a:prstGeom prst="roundRect">
            <a:avLst/>
          </a:prstGeom>
        </p:spPr>
      </p:pic>
      <p:sp>
        <p:nvSpPr>
          <p:cNvPr id="58" name="Shape 52">
            <a:extLst>
              <a:ext uri="{FF2B5EF4-FFF2-40B4-BE49-F238E27FC236}">
                <a16:creationId xmlns:a16="http://schemas.microsoft.com/office/drawing/2014/main" id="{A089A1B1-F6D0-4239-90A9-2A5FF4C2A16C}"/>
              </a:ext>
            </a:extLst>
          </p:cNvPr>
          <p:cNvSpPr>
            <a:spLocks noGrp="1"/>
          </p:cNvSpPr>
          <p:nvPr/>
        </p:nvSpPr>
        <p:spPr>
          <a:xfrm>
            <a:off x="9198864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102F35A9-F072-41A9-A5EF-E4FBAAA99241}"/>
              </a:ext>
            </a:extLst>
          </p:cNvPr>
          <p:cNvSpPr>
            <a:spLocks noGrp="1"/>
          </p:cNvSpPr>
          <p:nvPr/>
        </p:nvSpPr>
        <p:spPr>
          <a:xfrm>
            <a:off x="9198864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EA0F7E19-BC03-4457-BB96-38AB3991AB1A}"/>
              </a:ext>
            </a:extLst>
          </p:cNvPr>
          <p:cNvSpPr>
            <a:spLocks noGrp="1"/>
          </p:cNvSpPr>
          <p:nvPr/>
        </p:nvSpPr>
        <p:spPr>
          <a:xfrm>
            <a:off x="9198864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240 Г · RETORT</a:t>
            </a:r>
            <a:endParaRPr sz="85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53175901-99C3-41D7-9C1A-329684E5875E}"/>
              </a:ext>
            </a:extLst>
          </p:cNvPr>
          <p:cNvSpPr>
            <a:spLocks noGrp="1"/>
          </p:cNvSpPr>
          <p:nvPr/>
        </p:nvSpPr>
        <p:spPr>
          <a:xfrm>
            <a:off x="9198864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Hot and Spicy Rice</a:t>
            </a:r>
            <a:endParaRPr sz="145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B27564B5-2E37-4E8E-B961-4CCD25190B86}"/>
              </a:ext>
            </a:extLst>
          </p:cNvPr>
          <p:cNvSpPr>
            <a:spLocks noGrp="1"/>
          </p:cNvSpPr>
          <p:nvPr/>
        </p:nvSpPr>
        <p:spPr>
          <a:xfrm>
            <a:off x="9198864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$0,750 · </a:t>
            </a:r>
            <a:endParaRPr sz="1000"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FE01E20B-9EBB-4017-A8D9-C2567B2E5EC1}"/>
              </a:ext>
            </a:extLst>
          </p:cNvPr>
          <p:cNvSpPr>
            <a:spLocks noGrp="1"/>
          </p:cNvSpPr>
          <p:nvPr/>
        </p:nvSpPr>
        <p:spPr>
          <a:xfrm>
            <a:off x="9198864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669B1082-8915-4983-B2B6-C14A6B449D5E}"/>
              </a:ext>
            </a:extLst>
          </p:cNvPr>
          <p:cNvSpPr>
            <a:spLocks noGrp="1"/>
          </p:cNvSpPr>
          <p:nvPr/>
        </p:nvSpPr>
        <p:spPr>
          <a:xfrm>
            <a:off x="9308592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BD1C138D-AD32-4415-A37B-0EEFBF070D1B}"/>
              </a:ext>
            </a:extLst>
          </p:cNvPr>
          <p:cNvSpPr>
            <a:spLocks noGrp="1"/>
          </p:cNvSpPr>
          <p:nvPr/>
        </p:nvSpPr>
        <p:spPr>
          <a:xfrm>
            <a:off x="9308592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6AD7731F-A450-4B30-9B7A-DC5E48D9DC38}"/>
              </a:ext>
            </a:extLst>
          </p:cNvPr>
          <p:cNvSpPr>
            <a:spLocks noGrp="1"/>
          </p:cNvSpPr>
          <p:nvPr/>
        </p:nvSpPr>
        <p:spPr>
          <a:xfrm>
            <a:off x="9948672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$1,280 / 57,59 ₴</a:t>
            </a:r>
            <a:endParaRPr sz="95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5987284E-222D-491D-BC8B-596809AE17F5}"/>
              </a:ext>
            </a:extLst>
          </p:cNvPr>
          <p:cNvSpPr>
            <a:spLocks noGrp="1"/>
          </p:cNvSpPr>
          <p:nvPr/>
        </p:nvSpPr>
        <p:spPr>
          <a:xfrm>
            <a:off x="9308592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1E079831-7D60-433F-857F-D392391EEAB4}"/>
              </a:ext>
            </a:extLst>
          </p:cNvPr>
          <p:cNvSpPr>
            <a:spLocks noGrp="1"/>
          </p:cNvSpPr>
          <p:nvPr/>
        </p:nvSpPr>
        <p:spPr>
          <a:xfrm>
            <a:off x="9948672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$1,147 / 51,63 ₴</a:t>
            </a:r>
            <a:endParaRPr sz="950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5D9ED1D0-06AB-4B43-A177-0B40947578D3}"/>
              </a:ext>
            </a:extLst>
          </p:cNvPr>
          <p:cNvSpPr>
            <a:spLocks noGrp="1"/>
          </p:cNvSpPr>
          <p:nvPr/>
        </p:nvSpPr>
        <p:spPr>
          <a:xfrm>
            <a:off x="9308592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4C05FFD0-DA43-4E50-A387-C4186B7E3DA8}"/>
              </a:ext>
            </a:extLst>
          </p:cNvPr>
          <p:cNvSpPr>
            <a:spLocks noGrp="1"/>
          </p:cNvSpPr>
          <p:nvPr/>
        </p:nvSpPr>
        <p:spPr>
          <a:xfrm>
            <a:off x="9948672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$1,287 / 57,89 ₴</a:t>
            </a:r>
            <a:endParaRPr sz="95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7FE64998-BF0F-49B6-9E76-DCEF0AF292A4}"/>
              </a:ext>
            </a:extLst>
          </p:cNvPr>
          <p:cNvSpPr>
            <a:spLocks noGrp="1"/>
          </p:cNvSpPr>
          <p:nvPr/>
        </p:nvSpPr>
        <p:spPr>
          <a:xfrm>
            <a:off x="9308592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D5AA0317-8C8E-4654-AB48-6EF530E5DEEB}"/>
              </a:ext>
            </a:extLst>
          </p:cNvPr>
          <p:cNvSpPr>
            <a:spLocks noGrp="1"/>
          </p:cNvSpPr>
          <p:nvPr/>
        </p:nvSpPr>
        <p:spPr>
          <a:xfrm>
            <a:off x="9948672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$1,193 / 53,70 ₴</a:t>
            </a:r>
            <a:endParaRPr sz="950"/>
          </a:p>
        </p:txBody>
      </p:sp>
      <p:sp>
        <p:nvSpPr>
          <p:cNvPr id="73" name="Text 67">
            <a:extLst>
              <a:ext uri="{FF2B5EF4-FFF2-40B4-BE49-F238E27FC236}">
                <a16:creationId xmlns:a16="http://schemas.microsoft.com/office/drawing/2014/main" id="{8A12195C-5F27-417B-939C-737A8C06AF0C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Фото упаковки — з каталогу BSCM Foods; для Japanese Style Rice постачальник фото не надав. Собівартість: мито 10%, ПДВ 20%, транспорт, кредитні гроші 2,5%.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342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049000" cy="2381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1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100" b="1" i="0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SPECIAL PRODUCTION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1049000" cy="552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Фасування під потреби нашого ринку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Поряд зі стандартними 240 г — спеціальне виробництво потрібної нам ваги.</a:t>
            </a:r>
            <a:endParaRPr sz="12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0D0EC9-3F48-4B23-B62F-2DC20F4CB1E3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5715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СПЕЦІАЛЬНЕ ВИРОБНИЦТВО</a:t>
            </a:r>
            <a:endParaRPr sz="1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ACD5D8-D338-4EA5-B23F-C319A9D0F23D}"/>
              </a:ext>
            </a:extLst>
          </p:cNvPr>
          <p:cNvSpPr>
            <a:spLocks noGrp="1"/>
          </p:cNvSpPr>
          <p:nvPr/>
        </p:nvSpPr>
        <p:spPr>
          <a:xfrm>
            <a:off x="5857875" y="2286000"/>
            <a:ext cx="5762625" cy="9048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5250" b="1" i="0">
                <a:solidFill>
                  <a:srgbClr val="F5CE76"/>
                </a:solidFill>
                <a:latin typeface="Calibri"/>
                <a:ea typeface="Calibri"/>
                <a:cs typeface="Calibri"/>
              </a:defRPr>
            </a:pPr>
            <a:r>
              <a:rPr sz="5250" b="1" i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150 г  /  200 г</a:t>
            </a:r>
            <a:endParaRPr sz="10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17E25C-EAC6-44DA-BED1-8DA3C384AB1F}"/>
              </a:ext>
            </a:extLst>
          </p:cNvPr>
          <p:cNvSpPr>
            <a:spLocks noGrp="1"/>
          </p:cNvSpPr>
          <p:nvPr/>
        </p:nvSpPr>
        <p:spPr>
          <a:xfrm>
            <a:off x="5905500" y="3333750"/>
            <a:ext cx="5715000" cy="542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та інші розміри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C70C4-0C92-435A-9487-D75013A4A699}"/>
              </a:ext>
            </a:extLst>
          </p:cNvPr>
          <p:cNvSpPr>
            <a:spLocks noGrp="1"/>
          </p:cNvSpPr>
          <p:nvPr/>
        </p:nvSpPr>
        <p:spPr>
          <a:xfrm>
            <a:off x="5924550" y="3886200"/>
            <a:ext cx="5695950" cy="3333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1650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За погодженням із виробником</a:t>
            </a:r>
            <a:endParaRPr sz="1050"/>
          </a:p>
        </p:txBody>
      </p:sp>
      <p:pic>
        <p:nvPicPr>
          <p:cNvPr id="9" name="Picture 76">
            <a:extLst>
              <a:ext uri="{FF2B5EF4-FFF2-40B4-BE49-F238E27FC236}">
                <a16:creationId xmlns:a16="http://schemas.microsoft.com/office/drawing/2014/main" id="{56818BA5-2DCA-2A8F-62CF-8E4394983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30" y="2095500"/>
            <a:ext cx="3711223" cy="287039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C5BA4-D3A1-44C2-B745-30F83BBCCF97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SPECIAL PRODUCTION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0CCB68-F07E-4088-8869-8D3DB6C90508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Ready Rice 6 × 150 г — собівартість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601D2-50AF-4274-98C3-4894B277423C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Спеціальне виробництво · завантаження навалом, FOB Bangkok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0E89EB-DA37-42CB-AC69-91A6CA0EA8B6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2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00784"/>
            <a:ext cx="2340864" cy="1810512"/>
          </a:xfrm>
          <a:prstGeom prst="round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030FCABB-62B5-4CCC-AA9F-B4C4F1FAE801}"/>
              </a:ext>
            </a:extLst>
          </p:cNvPr>
          <p:cNvSpPr>
            <a:spLocks noGrp="1"/>
          </p:cNvSpPr>
          <p:nvPr/>
        </p:nvSpPr>
        <p:spPr>
          <a:xfrm>
            <a:off x="749808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459869-F0AC-4806-A6A5-9985DB86A96E}"/>
              </a:ext>
            </a:extLst>
          </p:cNvPr>
          <p:cNvSpPr>
            <a:spLocks noGrp="1"/>
          </p:cNvSpPr>
          <p:nvPr/>
        </p:nvSpPr>
        <p:spPr>
          <a:xfrm>
            <a:off x="749808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0FE40E-3AFF-44AA-822A-DF0305CB94F6}"/>
              </a:ext>
            </a:extLst>
          </p:cNvPr>
          <p:cNvSpPr>
            <a:spLocks noGrp="1"/>
          </p:cNvSpPr>
          <p:nvPr/>
        </p:nvSpPr>
        <p:spPr>
          <a:xfrm>
            <a:off x="749808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150 Г</a:t>
            </a:r>
            <a:endParaRPr sz="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634DF81-CF5A-42FF-B295-D79E46794514}"/>
              </a:ext>
            </a:extLst>
          </p:cNvPr>
          <p:cNvSpPr>
            <a:spLocks noGrp="1"/>
          </p:cNvSpPr>
          <p:nvPr/>
        </p:nvSpPr>
        <p:spPr>
          <a:xfrm>
            <a:off x="749808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Jasmine Rice</a:t>
            </a:r>
            <a:endParaRPr sz="14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EE9D78-55FB-4825-A4EC-1CE5288481C3}"/>
              </a:ext>
            </a:extLst>
          </p:cNvPr>
          <p:cNvSpPr>
            <a:spLocks noGrp="1"/>
          </p:cNvSpPr>
          <p:nvPr/>
        </p:nvSpPr>
        <p:spPr>
          <a:xfrm>
            <a:off x="749808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$0,472 · </a:t>
            </a:r>
            <a:endParaRPr sz="10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161C34-47AF-4A98-91ED-6E1E141D9701}"/>
              </a:ext>
            </a:extLst>
          </p:cNvPr>
          <p:cNvSpPr>
            <a:spLocks noGrp="1"/>
          </p:cNvSpPr>
          <p:nvPr/>
        </p:nvSpPr>
        <p:spPr>
          <a:xfrm>
            <a:off x="749808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D3A29BD-427F-41DD-A67A-208B5804CF15}"/>
              </a:ext>
            </a:extLst>
          </p:cNvPr>
          <p:cNvSpPr>
            <a:spLocks noGrp="1"/>
          </p:cNvSpPr>
          <p:nvPr/>
        </p:nvSpPr>
        <p:spPr>
          <a:xfrm>
            <a:off x="859536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225FD2-5DF4-4E27-A0C2-ED5225E2FD54}"/>
              </a:ext>
            </a:extLst>
          </p:cNvPr>
          <p:cNvSpPr>
            <a:spLocks noGrp="1"/>
          </p:cNvSpPr>
          <p:nvPr/>
        </p:nvSpPr>
        <p:spPr>
          <a:xfrm>
            <a:off x="859536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BAEDDDF-B30B-44A8-84D8-1F1351720E53}"/>
              </a:ext>
            </a:extLst>
          </p:cNvPr>
          <p:cNvSpPr>
            <a:spLocks noGrp="1"/>
          </p:cNvSpPr>
          <p:nvPr/>
        </p:nvSpPr>
        <p:spPr>
          <a:xfrm>
            <a:off x="1499616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$0,843 / 37,93 ₴</a:t>
            </a:r>
            <a:endParaRPr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2FA2E5-E055-4EED-B764-D8C358F13040}"/>
              </a:ext>
            </a:extLst>
          </p:cNvPr>
          <p:cNvSpPr>
            <a:spLocks noGrp="1"/>
          </p:cNvSpPr>
          <p:nvPr/>
        </p:nvSpPr>
        <p:spPr>
          <a:xfrm>
            <a:off x="859536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EFA949F-A8B8-4BD8-BEA2-862EF1E9F3A7}"/>
              </a:ext>
            </a:extLst>
          </p:cNvPr>
          <p:cNvSpPr>
            <a:spLocks noGrp="1"/>
          </p:cNvSpPr>
          <p:nvPr/>
        </p:nvSpPr>
        <p:spPr>
          <a:xfrm>
            <a:off x="1499616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$0,739 / 33,25 ₴</a:t>
            </a:r>
            <a:endParaRPr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F4E7F66-E648-45BF-B645-840EB5CD86B3}"/>
              </a:ext>
            </a:extLst>
          </p:cNvPr>
          <p:cNvSpPr>
            <a:spLocks noGrp="1"/>
          </p:cNvSpPr>
          <p:nvPr/>
        </p:nvSpPr>
        <p:spPr>
          <a:xfrm>
            <a:off x="859536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3FA87CF-3F1F-407C-97E5-CE3B0D83E714}"/>
              </a:ext>
            </a:extLst>
          </p:cNvPr>
          <p:cNvSpPr>
            <a:spLocks noGrp="1"/>
          </p:cNvSpPr>
          <p:nvPr/>
        </p:nvSpPr>
        <p:spPr>
          <a:xfrm>
            <a:off x="1499616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$0,850 / 38,24 ₴</a:t>
            </a:r>
            <a:endParaRPr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86B9D-4A4D-4002-9CDE-77BA53EB1911}"/>
              </a:ext>
            </a:extLst>
          </p:cNvPr>
          <p:cNvSpPr>
            <a:spLocks noGrp="1"/>
          </p:cNvSpPr>
          <p:nvPr/>
        </p:nvSpPr>
        <p:spPr>
          <a:xfrm>
            <a:off x="859536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F1395A1-2F78-48B0-8C30-47BF1137A35B}"/>
              </a:ext>
            </a:extLst>
          </p:cNvPr>
          <p:cNvSpPr>
            <a:spLocks noGrp="1"/>
          </p:cNvSpPr>
          <p:nvPr/>
        </p:nvSpPr>
        <p:spPr>
          <a:xfrm>
            <a:off x="1499616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$0,778 / 34,99 ₴</a:t>
            </a:r>
            <a:endParaRPr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CD23EF-4833-427F-B74B-6E405E3069ED}"/>
              </a:ext>
            </a:extLst>
          </p:cNvPr>
          <p:cNvSpPr>
            <a:spLocks noGrp="1"/>
          </p:cNvSpPr>
          <p:nvPr/>
        </p:nvSpPr>
        <p:spPr>
          <a:xfrm>
            <a:off x="3383280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9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00784"/>
            <a:ext cx="2340864" cy="1810512"/>
          </a:xfrm>
          <a:prstGeom prst="roundRect">
            <a:avLst/>
          </a:prstGeom>
        </p:spPr>
      </p:pic>
      <p:sp>
        <p:nvSpPr>
          <p:cNvPr id="24" name="Shape 20">
            <a:extLst>
              <a:ext uri="{FF2B5EF4-FFF2-40B4-BE49-F238E27FC236}">
                <a16:creationId xmlns:a16="http://schemas.microsoft.com/office/drawing/2014/main" id="{CC510ACE-6515-4BC0-B50D-985970D330BD}"/>
              </a:ext>
            </a:extLst>
          </p:cNvPr>
          <p:cNvSpPr>
            <a:spLocks noGrp="1"/>
          </p:cNvSpPr>
          <p:nvPr/>
        </p:nvSpPr>
        <p:spPr>
          <a:xfrm>
            <a:off x="3566160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F360826-A308-4AC3-BAA1-7446672F8749}"/>
              </a:ext>
            </a:extLst>
          </p:cNvPr>
          <p:cNvSpPr>
            <a:spLocks noGrp="1"/>
          </p:cNvSpPr>
          <p:nvPr/>
        </p:nvSpPr>
        <p:spPr>
          <a:xfrm>
            <a:off x="3566160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036F6EF-F813-4855-BBAB-E834036C4733}"/>
              </a:ext>
            </a:extLst>
          </p:cNvPr>
          <p:cNvSpPr>
            <a:spLocks noGrp="1"/>
          </p:cNvSpPr>
          <p:nvPr/>
        </p:nvSpPr>
        <p:spPr>
          <a:xfrm>
            <a:off x="3566160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150 Г</a:t>
            </a:r>
            <a:endParaRPr sz="8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623579F-4CF0-49CB-8419-DC085FE5D432}"/>
              </a:ext>
            </a:extLst>
          </p:cNvPr>
          <p:cNvSpPr>
            <a:spLocks noGrp="1"/>
          </p:cNvSpPr>
          <p:nvPr/>
        </p:nvSpPr>
        <p:spPr>
          <a:xfrm>
            <a:off x="3566160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Mexican Rice</a:t>
            </a:r>
            <a:endParaRPr sz="14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4F13D1A-C3CC-4661-A13D-5D4192098AD7}"/>
              </a:ext>
            </a:extLst>
          </p:cNvPr>
          <p:cNvSpPr>
            <a:spLocks noGrp="1"/>
          </p:cNvSpPr>
          <p:nvPr/>
        </p:nvSpPr>
        <p:spPr>
          <a:xfrm>
            <a:off x="3566160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$0,550 · </a:t>
            </a:r>
            <a:endParaRPr sz="10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49B14DE-CA73-4039-8430-FB42DBBD3991}"/>
              </a:ext>
            </a:extLst>
          </p:cNvPr>
          <p:cNvSpPr>
            <a:spLocks noGrp="1"/>
          </p:cNvSpPr>
          <p:nvPr/>
        </p:nvSpPr>
        <p:spPr>
          <a:xfrm>
            <a:off x="3566160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005C7CF-646A-4687-B1EA-E63F75D77D5C}"/>
              </a:ext>
            </a:extLst>
          </p:cNvPr>
          <p:cNvSpPr>
            <a:spLocks noGrp="1"/>
          </p:cNvSpPr>
          <p:nvPr/>
        </p:nvSpPr>
        <p:spPr>
          <a:xfrm>
            <a:off x="3675888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93A1173-463D-43C7-AEA9-358CA2D92BA8}"/>
              </a:ext>
            </a:extLst>
          </p:cNvPr>
          <p:cNvSpPr>
            <a:spLocks noGrp="1"/>
          </p:cNvSpPr>
          <p:nvPr/>
        </p:nvSpPr>
        <p:spPr>
          <a:xfrm>
            <a:off x="3675888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117FC0B-4F73-40B9-9BEC-953254E4BA9A}"/>
              </a:ext>
            </a:extLst>
          </p:cNvPr>
          <p:cNvSpPr>
            <a:spLocks noGrp="1"/>
          </p:cNvSpPr>
          <p:nvPr/>
        </p:nvSpPr>
        <p:spPr>
          <a:xfrm>
            <a:off x="4315968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$0,981 / 44,15 ₴</a:t>
            </a:r>
            <a:endParaRPr sz="9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8663418-84F8-4462-909D-711F0DD1DDD7}"/>
              </a:ext>
            </a:extLst>
          </p:cNvPr>
          <p:cNvSpPr>
            <a:spLocks noGrp="1"/>
          </p:cNvSpPr>
          <p:nvPr/>
        </p:nvSpPr>
        <p:spPr>
          <a:xfrm>
            <a:off x="3675888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09A954A-25C5-4C8C-BACC-D09A2CA513F0}"/>
              </a:ext>
            </a:extLst>
          </p:cNvPr>
          <p:cNvSpPr>
            <a:spLocks noGrp="1"/>
          </p:cNvSpPr>
          <p:nvPr/>
        </p:nvSpPr>
        <p:spPr>
          <a:xfrm>
            <a:off x="4315968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$0,860 / 38,70 ₴</a:t>
            </a:r>
            <a:endParaRPr sz="95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BD63ABA-2795-4167-B138-F7286363F43A}"/>
              </a:ext>
            </a:extLst>
          </p:cNvPr>
          <p:cNvSpPr>
            <a:spLocks noGrp="1"/>
          </p:cNvSpPr>
          <p:nvPr/>
        </p:nvSpPr>
        <p:spPr>
          <a:xfrm>
            <a:off x="3675888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95EAFC3-88FF-44CF-AFF4-614342C3B96D}"/>
              </a:ext>
            </a:extLst>
          </p:cNvPr>
          <p:cNvSpPr>
            <a:spLocks noGrp="1"/>
          </p:cNvSpPr>
          <p:nvPr/>
        </p:nvSpPr>
        <p:spPr>
          <a:xfrm>
            <a:off x="4315968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$0,989 / 44,51 ₴</a:t>
            </a:r>
            <a:endParaRPr sz="9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0133D29-79AD-41F7-AC4D-08F94F211A09}"/>
              </a:ext>
            </a:extLst>
          </p:cNvPr>
          <p:cNvSpPr>
            <a:spLocks noGrp="1"/>
          </p:cNvSpPr>
          <p:nvPr/>
        </p:nvSpPr>
        <p:spPr>
          <a:xfrm>
            <a:off x="3675888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48907D16-EC0C-4DB8-9E32-E30599EA1EE7}"/>
              </a:ext>
            </a:extLst>
          </p:cNvPr>
          <p:cNvSpPr>
            <a:spLocks noGrp="1"/>
          </p:cNvSpPr>
          <p:nvPr/>
        </p:nvSpPr>
        <p:spPr>
          <a:xfrm>
            <a:off x="4315968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$0,905 / 40,73 ₴</a:t>
            </a:r>
            <a:endParaRPr sz="95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2259E21A-9C34-47EA-B3E9-E565B7940B3A}"/>
              </a:ext>
            </a:extLst>
          </p:cNvPr>
          <p:cNvSpPr>
            <a:spLocks noGrp="1"/>
          </p:cNvSpPr>
          <p:nvPr/>
        </p:nvSpPr>
        <p:spPr>
          <a:xfrm>
            <a:off x="6199632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6" name="Picture 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00784"/>
            <a:ext cx="2340864" cy="1810512"/>
          </a:xfrm>
          <a:prstGeom prst="roundRect">
            <a:avLst/>
          </a:prstGeom>
        </p:spPr>
      </p:pic>
      <p:sp>
        <p:nvSpPr>
          <p:cNvPr id="41" name="Shape 36">
            <a:extLst>
              <a:ext uri="{FF2B5EF4-FFF2-40B4-BE49-F238E27FC236}">
                <a16:creationId xmlns:a16="http://schemas.microsoft.com/office/drawing/2014/main" id="{0711C6CE-DEDB-4DD0-8D53-429DE193BFFB}"/>
              </a:ext>
            </a:extLst>
          </p:cNvPr>
          <p:cNvSpPr>
            <a:spLocks noGrp="1"/>
          </p:cNvSpPr>
          <p:nvPr/>
        </p:nvSpPr>
        <p:spPr>
          <a:xfrm>
            <a:off x="6382512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DC7C47A5-93C4-467C-AF6A-51561B8A3AB4}"/>
              </a:ext>
            </a:extLst>
          </p:cNvPr>
          <p:cNvSpPr>
            <a:spLocks noGrp="1"/>
          </p:cNvSpPr>
          <p:nvPr/>
        </p:nvSpPr>
        <p:spPr>
          <a:xfrm>
            <a:off x="6382512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0596B2BA-8710-4E95-8365-1BF11E1890BF}"/>
              </a:ext>
            </a:extLst>
          </p:cNvPr>
          <p:cNvSpPr>
            <a:spLocks noGrp="1"/>
          </p:cNvSpPr>
          <p:nvPr/>
        </p:nvSpPr>
        <p:spPr>
          <a:xfrm>
            <a:off x="6382512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150 Г</a:t>
            </a:r>
            <a:endParaRPr sz="8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C06B8F32-5124-4A18-AC53-3481907D9192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Japanese Style Rice</a:t>
            </a:r>
            <a:endParaRPr sz="145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B818A736-226A-4409-9E84-13D21A31A265}"/>
              </a:ext>
            </a:extLst>
          </p:cNvPr>
          <p:cNvSpPr>
            <a:spLocks noGrp="1"/>
          </p:cNvSpPr>
          <p:nvPr/>
        </p:nvSpPr>
        <p:spPr>
          <a:xfrm>
            <a:off x="6382512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$0,550 · </a:t>
            </a:r>
            <a:endParaRPr sz="10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74EB33FE-2A74-4110-9400-0929BAE7D070}"/>
              </a:ext>
            </a:extLst>
          </p:cNvPr>
          <p:cNvSpPr>
            <a:spLocks noGrp="1"/>
          </p:cNvSpPr>
          <p:nvPr/>
        </p:nvSpPr>
        <p:spPr>
          <a:xfrm>
            <a:off x="6382512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49EEB924-E332-4CCD-95A2-34608E9213B3}"/>
              </a:ext>
            </a:extLst>
          </p:cNvPr>
          <p:cNvSpPr>
            <a:spLocks noGrp="1"/>
          </p:cNvSpPr>
          <p:nvPr/>
        </p:nvSpPr>
        <p:spPr>
          <a:xfrm>
            <a:off x="6492240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1233661C-E122-46E4-B4AF-2E989ADA051C}"/>
              </a:ext>
            </a:extLst>
          </p:cNvPr>
          <p:cNvSpPr>
            <a:spLocks noGrp="1"/>
          </p:cNvSpPr>
          <p:nvPr/>
        </p:nvSpPr>
        <p:spPr>
          <a:xfrm>
            <a:off x="6492240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BFF0E6A6-EE49-4AEB-B04B-23DA22BE286F}"/>
              </a:ext>
            </a:extLst>
          </p:cNvPr>
          <p:cNvSpPr>
            <a:spLocks noGrp="1"/>
          </p:cNvSpPr>
          <p:nvPr/>
        </p:nvSpPr>
        <p:spPr>
          <a:xfrm>
            <a:off x="7132320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$0,981 / 44,15 ₴</a:t>
            </a:r>
            <a:endParaRPr sz="9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0696E1FB-7D6D-40FC-AD7C-66FBBC12B10C}"/>
              </a:ext>
            </a:extLst>
          </p:cNvPr>
          <p:cNvSpPr>
            <a:spLocks noGrp="1"/>
          </p:cNvSpPr>
          <p:nvPr/>
        </p:nvSpPr>
        <p:spPr>
          <a:xfrm>
            <a:off x="6492240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EEC05408-8F7F-4048-A172-AEF7DC75A581}"/>
              </a:ext>
            </a:extLst>
          </p:cNvPr>
          <p:cNvSpPr>
            <a:spLocks noGrp="1"/>
          </p:cNvSpPr>
          <p:nvPr/>
        </p:nvSpPr>
        <p:spPr>
          <a:xfrm>
            <a:off x="7132320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$0,860 / 38,70 ₴</a:t>
            </a:r>
            <a:endParaRPr sz="95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DF78F8F-BC3B-4297-9AED-58144068050A}"/>
              </a:ext>
            </a:extLst>
          </p:cNvPr>
          <p:cNvSpPr>
            <a:spLocks noGrp="1"/>
          </p:cNvSpPr>
          <p:nvPr/>
        </p:nvSpPr>
        <p:spPr>
          <a:xfrm>
            <a:off x="6492240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7A843F49-7C4D-43E2-9A00-CD7BED7D7EEF}"/>
              </a:ext>
            </a:extLst>
          </p:cNvPr>
          <p:cNvSpPr>
            <a:spLocks noGrp="1"/>
          </p:cNvSpPr>
          <p:nvPr/>
        </p:nvSpPr>
        <p:spPr>
          <a:xfrm>
            <a:off x="7132320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$0,989 / 44,51 ₴</a:t>
            </a:r>
            <a:endParaRPr sz="95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766A248-70B7-4C50-86DC-4743FDE08FED}"/>
              </a:ext>
            </a:extLst>
          </p:cNvPr>
          <p:cNvSpPr>
            <a:spLocks noGrp="1"/>
          </p:cNvSpPr>
          <p:nvPr/>
        </p:nvSpPr>
        <p:spPr>
          <a:xfrm>
            <a:off x="6492240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9C30AE53-0A95-413F-B9EF-82A330647E84}"/>
              </a:ext>
            </a:extLst>
          </p:cNvPr>
          <p:cNvSpPr>
            <a:spLocks noGrp="1"/>
          </p:cNvSpPr>
          <p:nvPr/>
        </p:nvSpPr>
        <p:spPr>
          <a:xfrm>
            <a:off x="7132320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$0,905 / 40,73 ₴</a:t>
            </a:r>
            <a:endParaRPr sz="950"/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BB65C8A4-36FE-4323-95C1-6CF79F6F2BD2}"/>
              </a:ext>
            </a:extLst>
          </p:cNvPr>
          <p:cNvSpPr>
            <a:spLocks noGrp="1"/>
          </p:cNvSpPr>
          <p:nvPr/>
        </p:nvSpPr>
        <p:spPr>
          <a:xfrm>
            <a:off x="9015984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3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1700784"/>
            <a:ext cx="2340864" cy="1810512"/>
          </a:xfrm>
          <a:prstGeom prst="roundRect">
            <a:avLst/>
          </a:prstGeom>
        </p:spPr>
      </p:pic>
      <p:sp>
        <p:nvSpPr>
          <p:cNvPr id="58" name="Shape 52">
            <a:extLst>
              <a:ext uri="{FF2B5EF4-FFF2-40B4-BE49-F238E27FC236}">
                <a16:creationId xmlns:a16="http://schemas.microsoft.com/office/drawing/2014/main" id="{A089A1B1-F6D0-4239-90A9-2A5FF4C2A16C}"/>
              </a:ext>
            </a:extLst>
          </p:cNvPr>
          <p:cNvSpPr>
            <a:spLocks noGrp="1"/>
          </p:cNvSpPr>
          <p:nvPr/>
        </p:nvSpPr>
        <p:spPr>
          <a:xfrm>
            <a:off x="9198864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102F35A9-F072-41A9-A5EF-E4FBAAA99241}"/>
              </a:ext>
            </a:extLst>
          </p:cNvPr>
          <p:cNvSpPr>
            <a:spLocks noGrp="1"/>
          </p:cNvSpPr>
          <p:nvPr/>
        </p:nvSpPr>
        <p:spPr>
          <a:xfrm>
            <a:off x="9198864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EA0F7E19-BC03-4457-BB96-38AB3991AB1A}"/>
              </a:ext>
            </a:extLst>
          </p:cNvPr>
          <p:cNvSpPr>
            <a:spLocks noGrp="1"/>
          </p:cNvSpPr>
          <p:nvPr/>
        </p:nvSpPr>
        <p:spPr>
          <a:xfrm>
            <a:off x="9198864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150 Г</a:t>
            </a:r>
            <a:endParaRPr sz="85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53175901-99C3-41D7-9C1A-329684E5875E}"/>
              </a:ext>
            </a:extLst>
          </p:cNvPr>
          <p:cNvSpPr>
            <a:spLocks noGrp="1"/>
          </p:cNvSpPr>
          <p:nvPr/>
        </p:nvSpPr>
        <p:spPr>
          <a:xfrm>
            <a:off x="9198864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Hot and Spicy Rice</a:t>
            </a:r>
            <a:endParaRPr sz="145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B27564B5-2E37-4E8E-B961-4CCD25190B86}"/>
              </a:ext>
            </a:extLst>
          </p:cNvPr>
          <p:cNvSpPr>
            <a:spLocks noGrp="1"/>
          </p:cNvSpPr>
          <p:nvPr/>
        </p:nvSpPr>
        <p:spPr>
          <a:xfrm>
            <a:off x="9198864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$0,600 · </a:t>
            </a:r>
            <a:endParaRPr sz="1000"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FE01E20B-9EBB-4017-A8D9-C2567B2E5EC1}"/>
              </a:ext>
            </a:extLst>
          </p:cNvPr>
          <p:cNvSpPr>
            <a:spLocks noGrp="1"/>
          </p:cNvSpPr>
          <p:nvPr/>
        </p:nvSpPr>
        <p:spPr>
          <a:xfrm>
            <a:off x="9198864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669B1082-8915-4983-B2B6-C14A6B449D5E}"/>
              </a:ext>
            </a:extLst>
          </p:cNvPr>
          <p:cNvSpPr>
            <a:spLocks noGrp="1"/>
          </p:cNvSpPr>
          <p:nvPr/>
        </p:nvSpPr>
        <p:spPr>
          <a:xfrm>
            <a:off x="9308592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BD1C138D-AD32-4415-A37B-0EEFBF070D1B}"/>
              </a:ext>
            </a:extLst>
          </p:cNvPr>
          <p:cNvSpPr>
            <a:spLocks noGrp="1"/>
          </p:cNvSpPr>
          <p:nvPr/>
        </p:nvSpPr>
        <p:spPr>
          <a:xfrm>
            <a:off x="9308592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6AD7731F-A450-4B30-9B7A-DC5E48D9DC38}"/>
              </a:ext>
            </a:extLst>
          </p:cNvPr>
          <p:cNvSpPr>
            <a:spLocks noGrp="1"/>
          </p:cNvSpPr>
          <p:nvPr/>
        </p:nvSpPr>
        <p:spPr>
          <a:xfrm>
            <a:off x="9948672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$1,070 / 48,16 ₴</a:t>
            </a:r>
            <a:endParaRPr sz="95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5987284E-222D-491D-BC8B-596809AE17F5}"/>
              </a:ext>
            </a:extLst>
          </p:cNvPr>
          <p:cNvSpPr>
            <a:spLocks noGrp="1"/>
          </p:cNvSpPr>
          <p:nvPr/>
        </p:nvSpPr>
        <p:spPr>
          <a:xfrm>
            <a:off x="9308592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1E079831-7D60-433F-857F-D392391EEAB4}"/>
              </a:ext>
            </a:extLst>
          </p:cNvPr>
          <p:cNvSpPr>
            <a:spLocks noGrp="1"/>
          </p:cNvSpPr>
          <p:nvPr/>
        </p:nvSpPr>
        <p:spPr>
          <a:xfrm>
            <a:off x="9948672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$0,938 / 42,22 ₴</a:t>
            </a:r>
            <a:endParaRPr sz="950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5D9ED1D0-06AB-4B43-A177-0B40947578D3}"/>
              </a:ext>
            </a:extLst>
          </p:cNvPr>
          <p:cNvSpPr>
            <a:spLocks noGrp="1"/>
          </p:cNvSpPr>
          <p:nvPr/>
        </p:nvSpPr>
        <p:spPr>
          <a:xfrm>
            <a:off x="9308592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4C05FFD0-DA43-4E50-A387-C4186B7E3DA8}"/>
              </a:ext>
            </a:extLst>
          </p:cNvPr>
          <p:cNvSpPr>
            <a:spLocks noGrp="1"/>
          </p:cNvSpPr>
          <p:nvPr/>
        </p:nvSpPr>
        <p:spPr>
          <a:xfrm>
            <a:off x="9948672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$1,079 / 48,55 ₴</a:t>
            </a:r>
            <a:endParaRPr sz="95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7FE64998-BF0F-49B6-9E76-DCEF0AF292A4}"/>
              </a:ext>
            </a:extLst>
          </p:cNvPr>
          <p:cNvSpPr>
            <a:spLocks noGrp="1"/>
          </p:cNvSpPr>
          <p:nvPr/>
        </p:nvSpPr>
        <p:spPr>
          <a:xfrm>
            <a:off x="9308592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D5AA0317-8C8E-4654-AB48-6EF530E5DEEB}"/>
              </a:ext>
            </a:extLst>
          </p:cNvPr>
          <p:cNvSpPr>
            <a:spLocks noGrp="1"/>
          </p:cNvSpPr>
          <p:nvPr/>
        </p:nvSpPr>
        <p:spPr>
          <a:xfrm>
            <a:off x="9948672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$0,987 / 44,43 ₴</a:t>
            </a:r>
            <a:endParaRPr sz="950"/>
          </a:p>
        </p:txBody>
      </p:sp>
      <p:sp>
        <p:nvSpPr>
          <p:cNvPr id="73" name="Text 67">
            <a:extLst>
              <a:ext uri="{FF2B5EF4-FFF2-40B4-BE49-F238E27FC236}">
                <a16:creationId xmlns:a16="http://schemas.microsoft.com/office/drawing/2014/main" id="{8A12195C-5F27-417B-939C-737A8C06AF0C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Self_Cost_Rice_Brand..xlsx, аркуш «BSCMFoods - Навалом (150г)Pouch». Собівартість: мито 10%, ПДВ 20%, транспорт, кредитні гроші 2,5%.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342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C5BA4-D3A1-44C2-B745-30F83BBCCF97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SPECIAL PRODUCTION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0CCB68-F07E-4088-8869-8D3DB6C90508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Ready Rice 6 × 200 г — собівартість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601D2-50AF-4274-98C3-4894B277423C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Спеціальне виробництво · завантаження навалом, FOB Bangkok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0E89EB-DA37-42CB-AC69-91A6CA0EA8B6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2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00784"/>
            <a:ext cx="2340864" cy="1810512"/>
          </a:xfrm>
          <a:prstGeom prst="round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030FCABB-62B5-4CCC-AA9F-B4C4F1FAE801}"/>
              </a:ext>
            </a:extLst>
          </p:cNvPr>
          <p:cNvSpPr>
            <a:spLocks noGrp="1"/>
          </p:cNvSpPr>
          <p:nvPr/>
        </p:nvSpPr>
        <p:spPr>
          <a:xfrm>
            <a:off x="749808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459869-F0AC-4806-A6A5-9985DB86A96E}"/>
              </a:ext>
            </a:extLst>
          </p:cNvPr>
          <p:cNvSpPr>
            <a:spLocks noGrp="1"/>
          </p:cNvSpPr>
          <p:nvPr/>
        </p:nvSpPr>
        <p:spPr>
          <a:xfrm>
            <a:off x="749808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0FE40E-3AFF-44AA-822A-DF0305CB94F6}"/>
              </a:ext>
            </a:extLst>
          </p:cNvPr>
          <p:cNvSpPr>
            <a:spLocks noGrp="1"/>
          </p:cNvSpPr>
          <p:nvPr/>
        </p:nvSpPr>
        <p:spPr>
          <a:xfrm>
            <a:off x="749808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200 Г</a:t>
            </a:r>
            <a:endParaRPr sz="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634DF81-CF5A-42FF-B295-D79E46794514}"/>
              </a:ext>
            </a:extLst>
          </p:cNvPr>
          <p:cNvSpPr>
            <a:spLocks noGrp="1"/>
          </p:cNvSpPr>
          <p:nvPr/>
        </p:nvSpPr>
        <p:spPr>
          <a:xfrm>
            <a:off x="749808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Jasmine Rice</a:t>
            </a:r>
            <a:endParaRPr sz="14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EE9D78-55FB-4825-A4EC-1CE5288481C3}"/>
              </a:ext>
            </a:extLst>
          </p:cNvPr>
          <p:cNvSpPr>
            <a:spLocks noGrp="1"/>
          </p:cNvSpPr>
          <p:nvPr/>
        </p:nvSpPr>
        <p:spPr>
          <a:xfrm>
            <a:off x="749808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$0,550 · </a:t>
            </a:r>
            <a:endParaRPr sz="10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161C34-47AF-4A98-91ED-6E1E141D9701}"/>
              </a:ext>
            </a:extLst>
          </p:cNvPr>
          <p:cNvSpPr>
            <a:spLocks noGrp="1"/>
          </p:cNvSpPr>
          <p:nvPr/>
        </p:nvSpPr>
        <p:spPr>
          <a:xfrm>
            <a:off x="749808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D3A29BD-427F-41DD-A67A-208B5804CF15}"/>
              </a:ext>
            </a:extLst>
          </p:cNvPr>
          <p:cNvSpPr>
            <a:spLocks noGrp="1"/>
          </p:cNvSpPr>
          <p:nvPr/>
        </p:nvSpPr>
        <p:spPr>
          <a:xfrm>
            <a:off x="859536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225FD2-5DF4-4E27-A0C2-ED5225E2FD54}"/>
              </a:ext>
            </a:extLst>
          </p:cNvPr>
          <p:cNvSpPr>
            <a:spLocks noGrp="1"/>
          </p:cNvSpPr>
          <p:nvPr/>
        </p:nvSpPr>
        <p:spPr>
          <a:xfrm>
            <a:off x="859536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BAEDDDF-B30B-44A8-84D8-1F1351720E53}"/>
              </a:ext>
            </a:extLst>
          </p:cNvPr>
          <p:cNvSpPr>
            <a:spLocks noGrp="1"/>
          </p:cNvSpPr>
          <p:nvPr/>
        </p:nvSpPr>
        <p:spPr>
          <a:xfrm>
            <a:off x="1499616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$0,953 / 42,87 ₴</a:t>
            </a:r>
            <a:endParaRPr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2FA2E5-E055-4EED-B764-D8C358F13040}"/>
              </a:ext>
            </a:extLst>
          </p:cNvPr>
          <p:cNvSpPr>
            <a:spLocks noGrp="1"/>
          </p:cNvSpPr>
          <p:nvPr/>
        </p:nvSpPr>
        <p:spPr>
          <a:xfrm>
            <a:off x="859536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EFA949F-A8B8-4BD8-BEA2-862EF1E9F3A7}"/>
              </a:ext>
            </a:extLst>
          </p:cNvPr>
          <p:cNvSpPr>
            <a:spLocks noGrp="1"/>
          </p:cNvSpPr>
          <p:nvPr/>
        </p:nvSpPr>
        <p:spPr>
          <a:xfrm>
            <a:off x="1499616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$0,846 / 38,07 ₴</a:t>
            </a:r>
            <a:endParaRPr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F4E7F66-E648-45BF-B645-840EB5CD86B3}"/>
              </a:ext>
            </a:extLst>
          </p:cNvPr>
          <p:cNvSpPr>
            <a:spLocks noGrp="1"/>
          </p:cNvSpPr>
          <p:nvPr/>
        </p:nvSpPr>
        <p:spPr>
          <a:xfrm>
            <a:off x="859536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3FA87CF-3F1F-407C-97E5-CE3B0D83E714}"/>
              </a:ext>
            </a:extLst>
          </p:cNvPr>
          <p:cNvSpPr>
            <a:spLocks noGrp="1"/>
          </p:cNvSpPr>
          <p:nvPr/>
        </p:nvSpPr>
        <p:spPr>
          <a:xfrm>
            <a:off x="1499616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$0,960 / 43,18 ₴</a:t>
            </a:r>
            <a:endParaRPr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86B9D-4A4D-4002-9CDE-77BA53EB1911}"/>
              </a:ext>
            </a:extLst>
          </p:cNvPr>
          <p:cNvSpPr>
            <a:spLocks noGrp="1"/>
          </p:cNvSpPr>
          <p:nvPr/>
        </p:nvSpPr>
        <p:spPr>
          <a:xfrm>
            <a:off x="859536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F1395A1-2F78-48B0-8C30-47BF1137A35B}"/>
              </a:ext>
            </a:extLst>
          </p:cNvPr>
          <p:cNvSpPr>
            <a:spLocks noGrp="1"/>
          </p:cNvSpPr>
          <p:nvPr/>
        </p:nvSpPr>
        <p:spPr>
          <a:xfrm>
            <a:off x="1499616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$0,886 / 39,86 ₴</a:t>
            </a:r>
            <a:endParaRPr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CD23EF-4833-427F-B74B-6E405E3069ED}"/>
              </a:ext>
            </a:extLst>
          </p:cNvPr>
          <p:cNvSpPr>
            <a:spLocks noGrp="1"/>
          </p:cNvSpPr>
          <p:nvPr/>
        </p:nvSpPr>
        <p:spPr>
          <a:xfrm>
            <a:off x="3383280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9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00784"/>
            <a:ext cx="2340864" cy="1810512"/>
          </a:xfrm>
          <a:prstGeom prst="roundRect">
            <a:avLst/>
          </a:prstGeom>
        </p:spPr>
      </p:pic>
      <p:sp>
        <p:nvSpPr>
          <p:cNvPr id="24" name="Shape 20">
            <a:extLst>
              <a:ext uri="{FF2B5EF4-FFF2-40B4-BE49-F238E27FC236}">
                <a16:creationId xmlns:a16="http://schemas.microsoft.com/office/drawing/2014/main" id="{CC510ACE-6515-4BC0-B50D-985970D330BD}"/>
              </a:ext>
            </a:extLst>
          </p:cNvPr>
          <p:cNvSpPr>
            <a:spLocks noGrp="1"/>
          </p:cNvSpPr>
          <p:nvPr/>
        </p:nvSpPr>
        <p:spPr>
          <a:xfrm>
            <a:off x="3566160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F360826-A308-4AC3-BAA1-7446672F8749}"/>
              </a:ext>
            </a:extLst>
          </p:cNvPr>
          <p:cNvSpPr>
            <a:spLocks noGrp="1"/>
          </p:cNvSpPr>
          <p:nvPr/>
        </p:nvSpPr>
        <p:spPr>
          <a:xfrm>
            <a:off x="3566160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036F6EF-F813-4855-BBAB-E834036C4733}"/>
              </a:ext>
            </a:extLst>
          </p:cNvPr>
          <p:cNvSpPr>
            <a:spLocks noGrp="1"/>
          </p:cNvSpPr>
          <p:nvPr/>
        </p:nvSpPr>
        <p:spPr>
          <a:xfrm>
            <a:off x="3566160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200 Г</a:t>
            </a:r>
            <a:endParaRPr sz="8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623579F-4CF0-49CB-8419-DC085FE5D432}"/>
              </a:ext>
            </a:extLst>
          </p:cNvPr>
          <p:cNvSpPr>
            <a:spLocks noGrp="1"/>
          </p:cNvSpPr>
          <p:nvPr/>
        </p:nvSpPr>
        <p:spPr>
          <a:xfrm>
            <a:off x="3566160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Mexican Rice</a:t>
            </a:r>
            <a:endParaRPr sz="14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4F13D1A-C3CC-4661-A13D-5D4192098AD7}"/>
              </a:ext>
            </a:extLst>
          </p:cNvPr>
          <p:cNvSpPr>
            <a:spLocks noGrp="1"/>
          </p:cNvSpPr>
          <p:nvPr/>
        </p:nvSpPr>
        <p:spPr>
          <a:xfrm>
            <a:off x="3566160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$0,620 · </a:t>
            </a:r>
            <a:endParaRPr sz="10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49B14DE-CA73-4039-8430-FB42DBBD3991}"/>
              </a:ext>
            </a:extLst>
          </p:cNvPr>
          <p:cNvSpPr>
            <a:spLocks noGrp="1"/>
          </p:cNvSpPr>
          <p:nvPr/>
        </p:nvSpPr>
        <p:spPr>
          <a:xfrm>
            <a:off x="3566160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005C7CF-646A-4687-B1EA-E63F75D77D5C}"/>
              </a:ext>
            </a:extLst>
          </p:cNvPr>
          <p:cNvSpPr>
            <a:spLocks noGrp="1"/>
          </p:cNvSpPr>
          <p:nvPr/>
        </p:nvSpPr>
        <p:spPr>
          <a:xfrm>
            <a:off x="3675888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93A1173-463D-43C7-AEA9-358CA2D92BA8}"/>
              </a:ext>
            </a:extLst>
          </p:cNvPr>
          <p:cNvSpPr>
            <a:spLocks noGrp="1"/>
          </p:cNvSpPr>
          <p:nvPr/>
        </p:nvSpPr>
        <p:spPr>
          <a:xfrm>
            <a:off x="3675888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117FC0B-4F73-40B9-9BEC-953254E4BA9A}"/>
              </a:ext>
            </a:extLst>
          </p:cNvPr>
          <p:cNvSpPr>
            <a:spLocks noGrp="1"/>
          </p:cNvSpPr>
          <p:nvPr/>
        </p:nvSpPr>
        <p:spPr>
          <a:xfrm>
            <a:off x="4315968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$1,074 / 48,32 ₴</a:t>
            </a:r>
            <a:endParaRPr sz="9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8663418-84F8-4462-909D-711F0DD1DDD7}"/>
              </a:ext>
            </a:extLst>
          </p:cNvPr>
          <p:cNvSpPr>
            <a:spLocks noGrp="1"/>
          </p:cNvSpPr>
          <p:nvPr/>
        </p:nvSpPr>
        <p:spPr>
          <a:xfrm>
            <a:off x="3675888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09A954A-25C5-4C8C-BACC-D09A2CA513F0}"/>
              </a:ext>
            </a:extLst>
          </p:cNvPr>
          <p:cNvSpPr>
            <a:spLocks noGrp="1"/>
          </p:cNvSpPr>
          <p:nvPr/>
        </p:nvSpPr>
        <p:spPr>
          <a:xfrm>
            <a:off x="4315968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$0,954 / 42,92 ₴</a:t>
            </a:r>
            <a:endParaRPr sz="95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BD63ABA-2795-4167-B138-F7286363F43A}"/>
              </a:ext>
            </a:extLst>
          </p:cNvPr>
          <p:cNvSpPr>
            <a:spLocks noGrp="1"/>
          </p:cNvSpPr>
          <p:nvPr/>
        </p:nvSpPr>
        <p:spPr>
          <a:xfrm>
            <a:off x="3675888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95EAFC3-88FF-44CF-AFF4-614342C3B96D}"/>
              </a:ext>
            </a:extLst>
          </p:cNvPr>
          <p:cNvSpPr>
            <a:spLocks noGrp="1"/>
          </p:cNvSpPr>
          <p:nvPr/>
        </p:nvSpPr>
        <p:spPr>
          <a:xfrm>
            <a:off x="4315968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$1,082 / 48,68 ₴</a:t>
            </a:r>
            <a:endParaRPr sz="9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0133D29-79AD-41F7-AC4D-08F94F211A09}"/>
              </a:ext>
            </a:extLst>
          </p:cNvPr>
          <p:cNvSpPr>
            <a:spLocks noGrp="1"/>
          </p:cNvSpPr>
          <p:nvPr/>
        </p:nvSpPr>
        <p:spPr>
          <a:xfrm>
            <a:off x="3675888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48907D16-EC0C-4DB8-9E32-E30599EA1EE7}"/>
              </a:ext>
            </a:extLst>
          </p:cNvPr>
          <p:cNvSpPr>
            <a:spLocks noGrp="1"/>
          </p:cNvSpPr>
          <p:nvPr/>
        </p:nvSpPr>
        <p:spPr>
          <a:xfrm>
            <a:off x="4315968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$0,998 / 44,93 ₴</a:t>
            </a:r>
            <a:endParaRPr sz="95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2259E21A-9C34-47EA-B3E9-E565B7940B3A}"/>
              </a:ext>
            </a:extLst>
          </p:cNvPr>
          <p:cNvSpPr>
            <a:spLocks noGrp="1"/>
          </p:cNvSpPr>
          <p:nvPr/>
        </p:nvSpPr>
        <p:spPr>
          <a:xfrm>
            <a:off x="6199632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6" name="Picture 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00784"/>
            <a:ext cx="2340864" cy="1810512"/>
          </a:xfrm>
          <a:prstGeom prst="roundRect">
            <a:avLst/>
          </a:prstGeom>
        </p:spPr>
      </p:pic>
      <p:sp>
        <p:nvSpPr>
          <p:cNvPr id="41" name="Shape 36">
            <a:extLst>
              <a:ext uri="{FF2B5EF4-FFF2-40B4-BE49-F238E27FC236}">
                <a16:creationId xmlns:a16="http://schemas.microsoft.com/office/drawing/2014/main" id="{0711C6CE-DEDB-4DD0-8D53-429DE193BFFB}"/>
              </a:ext>
            </a:extLst>
          </p:cNvPr>
          <p:cNvSpPr>
            <a:spLocks noGrp="1"/>
          </p:cNvSpPr>
          <p:nvPr/>
        </p:nvSpPr>
        <p:spPr>
          <a:xfrm>
            <a:off x="6382512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DC7C47A5-93C4-467C-AF6A-51561B8A3AB4}"/>
              </a:ext>
            </a:extLst>
          </p:cNvPr>
          <p:cNvSpPr>
            <a:spLocks noGrp="1"/>
          </p:cNvSpPr>
          <p:nvPr/>
        </p:nvSpPr>
        <p:spPr>
          <a:xfrm>
            <a:off x="6382512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0596B2BA-8710-4E95-8365-1BF11E1890BF}"/>
              </a:ext>
            </a:extLst>
          </p:cNvPr>
          <p:cNvSpPr>
            <a:spLocks noGrp="1"/>
          </p:cNvSpPr>
          <p:nvPr/>
        </p:nvSpPr>
        <p:spPr>
          <a:xfrm>
            <a:off x="6382512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200 Г</a:t>
            </a:r>
            <a:endParaRPr sz="8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C06B8F32-5124-4A18-AC53-3481907D9192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Japanese Style Rice</a:t>
            </a:r>
            <a:endParaRPr sz="145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B818A736-226A-4409-9E84-13D21A31A265}"/>
              </a:ext>
            </a:extLst>
          </p:cNvPr>
          <p:cNvSpPr>
            <a:spLocks noGrp="1"/>
          </p:cNvSpPr>
          <p:nvPr/>
        </p:nvSpPr>
        <p:spPr>
          <a:xfrm>
            <a:off x="6382512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$0,620 · </a:t>
            </a:r>
            <a:endParaRPr sz="10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74EB33FE-2A74-4110-9400-0929BAE7D070}"/>
              </a:ext>
            </a:extLst>
          </p:cNvPr>
          <p:cNvSpPr>
            <a:spLocks noGrp="1"/>
          </p:cNvSpPr>
          <p:nvPr/>
        </p:nvSpPr>
        <p:spPr>
          <a:xfrm>
            <a:off x="6382512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49EEB924-E332-4CCD-95A2-34608E9213B3}"/>
              </a:ext>
            </a:extLst>
          </p:cNvPr>
          <p:cNvSpPr>
            <a:spLocks noGrp="1"/>
          </p:cNvSpPr>
          <p:nvPr/>
        </p:nvSpPr>
        <p:spPr>
          <a:xfrm>
            <a:off x="6492240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1233661C-E122-46E4-B4AF-2E989ADA051C}"/>
              </a:ext>
            </a:extLst>
          </p:cNvPr>
          <p:cNvSpPr>
            <a:spLocks noGrp="1"/>
          </p:cNvSpPr>
          <p:nvPr/>
        </p:nvSpPr>
        <p:spPr>
          <a:xfrm>
            <a:off x="6492240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BFF0E6A6-EE49-4AEB-B04B-23DA22BE286F}"/>
              </a:ext>
            </a:extLst>
          </p:cNvPr>
          <p:cNvSpPr>
            <a:spLocks noGrp="1"/>
          </p:cNvSpPr>
          <p:nvPr/>
        </p:nvSpPr>
        <p:spPr>
          <a:xfrm>
            <a:off x="7132320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$1,074 / 48,32 ₴</a:t>
            </a:r>
            <a:endParaRPr sz="9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0696E1FB-7D6D-40FC-AD7C-66FBBC12B10C}"/>
              </a:ext>
            </a:extLst>
          </p:cNvPr>
          <p:cNvSpPr>
            <a:spLocks noGrp="1"/>
          </p:cNvSpPr>
          <p:nvPr/>
        </p:nvSpPr>
        <p:spPr>
          <a:xfrm>
            <a:off x="6492240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EEC05408-8F7F-4048-A172-AEF7DC75A581}"/>
              </a:ext>
            </a:extLst>
          </p:cNvPr>
          <p:cNvSpPr>
            <a:spLocks noGrp="1"/>
          </p:cNvSpPr>
          <p:nvPr/>
        </p:nvSpPr>
        <p:spPr>
          <a:xfrm>
            <a:off x="7132320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$0,954 / 42,92 ₴</a:t>
            </a:r>
            <a:endParaRPr sz="95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DF78F8F-BC3B-4297-9AED-58144068050A}"/>
              </a:ext>
            </a:extLst>
          </p:cNvPr>
          <p:cNvSpPr>
            <a:spLocks noGrp="1"/>
          </p:cNvSpPr>
          <p:nvPr/>
        </p:nvSpPr>
        <p:spPr>
          <a:xfrm>
            <a:off x="6492240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7A843F49-7C4D-43E2-9A00-CD7BED7D7EEF}"/>
              </a:ext>
            </a:extLst>
          </p:cNvPr>
          <p:cNvSpPr>
            <a:spLocks noGrp="1"/>
          </p:cNvSpPr>
          <p:nvPr/>
        </p:nvSpPr>
        <p:spPr>
          <a:xfrm>
            <a:off x="7132320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$1,082 / 48,68 ₴</a:t>
            </a:r>
            <a:endParaRPr sz="95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766A248-70B7-4C50-86DC-4743FDE08FED}"/>
              </a:ext>
            </a:extLst>
          </p:cNvPr>
          <p:cNvSpPr>
            <a:spLocks noGrp="1"/>
          </p:cNvSpPr>
          <p:nvPr/>
        </p:nvSpPr>
        <p:spPr>
          <a:xfrm>
            <a:off x="6492240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9C30AE53-0A95-413F-B9EF-82A330647E84}"/>
              </a:ext>
            </a:extLst>
          </p:cNvPr>
          <p:cNvSpPr>
            <a:spLocks noGrp="1"/>
          </p:cNvSpPr>
          <p:nvPr/>
        </p:nvSpPr>
        <p:spPr>
          <a:xfrm>
            <a:off x="7132320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$0,998 / 44,93 ₴</a:t>
            </a:r>
            <a:endParaRPr sz="950"/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BB65C8A4-36FE-4323-95C1-6CF79F6F2BD2}"/>
              </a:ext>
            </a:extLst>
          </p:cNvPr>
          <p:cNvSpPr>
            <a:spLocks noGrp="1"/>
          </p:cNvSpPr>
          <p:nvPr/>
        </p:nvSpPr>
        <p:spPr>
          <a:xfrm>
            <a:off x="9015984" y="1536192"/>
            <a:ext cx="270662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3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1700784"/>
            <a:ext cx="2340864" cy="1810512"/>
          </a:xfrm>
          <a:prstGeom prst="roundRect">
            <a:avLst/>
          </a:prstGeom>
        </p:spPr>
      </p:pic>
      <p:sp>
        <p:nvSpPr>
          <p:cNvPr id="58" name="Shape 52">
            <a:extLst>
              <a:ext uri="{FF2B5EF4-FFF2-40B4-BE49-F238E27FC236}">
                <a16:creationId xmlns:a16="http://schemas.microsoft.com/office/drawing/2014/main" id="{A089A1B1-F6D0-4239-90A9-2A5FF4C2A16C}"/>
              </a:ext>
            </a:extLst>
          </p:cNvPr>
          <p:cNvSpPr>
            <a:spLocks noGrp="1"/>
          </p:cNvSpPr>
          <p:nvPr/>
        </p:nvSpPr>
        <p:spPr>
          <a:xfrm>
            <a:off x="9198864" y="1700784"/>
            <a:ext cx="2340864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102F35A9-F072-41A9-A5EF-E4FBAAA99241}"/>
              </a:ext>
            </a:extLst>
          </p:cNvPr>
          <p:cNvSpPr>
            <a:spLocks noGrp="1"/>
          </p:cNvSpPr>
          <p:nvPr/>
        </p:nvSpPr>
        <p:spPr>
          <a:xfrm>
            <a:off x="9198864" y="361188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EA0F7E19-BC03-4457-BB96-38AB3991AB1A}"/>
              </a:ext>
            </a:extLst>
          </p:cNvPr>
          <p:cNvSpPr>
            <a:spLocks noGrp="1"/>
          </p:cNvSpPr>
          <p:nvPr/>
        </p:nvSpPr>
        <p:spPr>
          <a:xfrm>
            <a:off x="9198864" y="36210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ПАУЧ 200 Г</a:t>
            </a:r>
            <a:endParaRPr sz="85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53175901-99C3-41D7-9C1A-329684E5875E}"/>
              </a:ext>
            </a:extLst>
          </p:cNvPr>
          <p:cNvSpPr>
            <a:spLocks noGrp="1"/>
          </p:cNvSpPr>
          <p:nvPr/>
        </p:nvSpPr>
        <p:spPr>
          <a:xfrm>
            <a:off x="9198864" y="39319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Hot and Spicy Rice</a:t>
            </a:r>
            <a:endParaRPr sz="145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B27564B5-2E37-4E8E-B961-4CCD25190B86}"/>
              </a:ext>
            </a:extLst>
          </p:cNvPr>
          <p:cNvSpPr>
            <a:spLocks noGrp="1"/>
          </p:cNvSpPr>
          <p:nvPr/>
        </p:nvSpPr>
        <p:spPr>
          <a:xfrm>
            <a:off x="9198864" y="449884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$0,680 · </a:t>
            </a:r>
            <a:endParaRPr sz="1000"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FE01E20B-9EBB-4017-A8D9-C2567B2E5EC1}"/>
              </a:ext>
            </a:extLst>
          </p:cNvPr>
          <p:cNvSpPr>
            <a:spLocks noGrp="1"/>
          </p:cNvSpPr>
          <p:nvPr/>
        </p:nvSpPr>
        <p:spPr>
          <a:xfrm>
            <a:off x="9198864" y="4791456"/>
            <a:ext cx="2340864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669B1082-8915-4983-B2B6-C14A6B449D5E}"/>
              </a:ext>
            </a:extLst>
          </p:cNvPr>
          <p:cNvSpPr>
            <a:spLocks noGrp="1"/>
          </p:cNvSpPr>
          <p:nvPr/>
        </p:nvSpPr>
        <p:spPr>
          <a:xfrm>
            <a:off x="9308592" y="48554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ПАУЧ</a:t>
            </a:r>
            <a:endParaRPr sz="75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BD1C138D-AD32-4415-A37B-0EEFBF070D1B}"/>
              </a:ext>
            </a:extLst>
          </p:cNvPr>
          <p:cNvSpPr>
            <a:spLocks noGrp="1"/>
          </p:cNvSpPr>
          <p:nvPr/>
        </p:nvSpPr>
        <p:spPr>
          <a:xfrm>
            <a:off x="9308592" y="505663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6AD7731F-A450-4B30-9B7A-DC5E48D9DC38}"/>
              </a:ext>
            </a:extLst>
          </p:cNvPr>
          <p:cNvSpPr>
            <a:spLocks noGrp="1"/>
          </p:cNvSpPr>
          <p:nvPr/>
        </p:nvSpPr>
        <p:spPr>
          <a:xfrm>
            <a:off x="9948672" y="505663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$1,178 / 53,00 ₴</a:t>
            </a:r>
            <a:endParaRPr sz="95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5987284E-222D-491D-BC8B-596809AE17F5}"/>
              </a:ext>
            </a:extLst>
          </p:cNvPr>
          <p:cNvSpPr>
            <a:spLocks noGrp="1"/>
          </p:cNvSpPr>
          <p:nvPr/>
        </p:nvSpPr>
        <p:spPr>
          <a:xfrm>
            <a:off x="9308592" y="526237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1E079831-7D60-433F-857F-D392391EEAB4}"/>
              </a:ext>
            </a:extLst>
          </p:cNvPr>
          <p:cNvSpPr>
            <a:spLocks noGrp="1"/>
          </p:cNvSpPr>
          <p:nvPr/>
        </p:nvSpPr>
        <p:spPr>
          <a:xfrm>
            <a:off x="9948672" y="526237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$1,046 / 47,07 ₴</a:t>
            </a:r>
            <a:endParaRPr sz="950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5D9ED1D0-06AB-4B43-A177-0B40947578D3}"/>
              </a:ext>
            </a:extLst>
          </p:cNvPr>
          <p:cNvSpPr>
            <a:spLocks noGrp="1"/>
          </p:cNvSpPr>
          <p:nvPr/>
        </p:nvSpPr>
        <p:spPr>
          <a:xfrm>
            <a:off x="9308592" y="546811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4C05FFD0-DA43-4E50-A387-C4186B7E3DA8}"/>
              </a:ext>
            </a:extLst>
          </p:cNvPr>
          <p:cNvSpPr>
            <a:spLocks noGrp="1"/>
          </p:cNvSpPr>
          <p:nvPr/>
        </p:nvSpPr>
        <p:spPr>
          <a:xfrm>
            <a:off x="9948672" y="546811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$1,186 / 53,39 ₴</a:t>
            </a:r>
            <a:endParaRPr sz="95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7FE64998-BF0F-49B6-9E76-DCEF0AF292A4}"/>
              </a:ext>
            </a:extLst>
          </p:cNvPr>
          <p:cNvSpPr>
            <a:spLocks noGrp="1"/>
          </p:cNvSpPr>
          <p:nvPr/>
        </p:nvSpPr>
        <p:spPr>
          <a:xfrm>
            <a:off x="9308592" y="5673852"/>
            <a:ext cx="658368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D5AA0317-8C8E-4654-AB48-6EF530E5DEEB}"/>
              </a:ext>
            </a:extLst>
          </p:cNvPr>
          <p:cNvSpPr>
            <a:spLocks noGrp="1"/>
          </p:cNvSpPr>
          <p:nvPr/>
        </p:nvSpPr>
        <p:spPr>
          <a:xfrm>
            <a:off x="9948672" y="5673852"/>
            <a:ext cx="150876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$1,095 / 49,28 ₴</a:t>
            </a:r>
            <a:endParaRPr sz="950"/>
          </a:p>
        </p:txBody>
      </p:sp>
      <p:sp>
        <p:nvSpPr>
          <p:cNvPr id="73" name="Text 67">
            <a:extLst>
              <a:ext uri="{FF2B5EF4-FFF2-40B4-BE49-F238E27FC236}">
                <a16:creationId xmlns:a16="http://schemas.microsoft.com/office/drawing/2014/main" id="{8A12195C-5F27-417B-939C-737A8C06AF0C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Self_Cost_Rice_Brand..xlsx, аркуш «BSCMFoods - Навалом (200г)Pouch». Собівартість: мито 10%, ПДВ 20%, транспорт, кредитні гроші 2,5%.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0342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8C5BA4-D3A1-44C2-B745-30F83BBCCF97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651695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НОВЕ ВИРОБНИЦТВО · BSCM FOODS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0CCB68-F07E-4088-8869-8D3DB6C90508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8761682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Ready Rice in Plastic Cup 12 × 150 г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601D2-50AF-4274-98C3-4894B277423C}"/>
              </a:ext>
            </a:extLst>
          </p:cNvPr>
          <p:cNvSpPr>
            <a:spLocks noGrp="1"/>
          </p:cNvSpPr>
          <p:nvPr/>
        </p:nvSpPr>
        <p:spPr>
          <a:xfrm>
            <a:off x="581410" y="1115568"/>
            <a:ext cx="876168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Single Cup with Sleeve Box · W/O Oil · 12 шт. у коробі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0E89EB-DA37-42CB-AC69-91A6CA0EA8B6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214335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30FCABB-62B5-4CCC-AA9F-B4C4F1FAE801}"/>
              </a:ext>
            </a:extLst>
          </p:cNvPr>
          <p:cNvSpPr>
            <a:spLocks noGrp="1"/>
          </p:cNvSpPr>
          <p:nvPr/>
        </p:nvSpPr>
        <p:spPr>
          <a:xfrm>
            <a:off x="711749" y="1700784"/>
            <a:ext cx="1853711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459869-F0AC-4806-A6A5-9985DB86A96E}"/>
              </a:ext>
            </a:extLst>
          </p:cNvPr>
          <p:cNvSpPr>
            <a:spLocks noGrp="1"/>
          </p:cNvSpPr>
          <p:nvPr/>
        </p:nvSpPr>
        <p:spPr>
          <a:xfrm>
            <a:off x="711749" y="3611880"/>
            <a:ext cx="1122364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0FE40E-3AFF-44AA-822A-DF0305CB94F6}"/>
              </a:ext>
            </a:extLst>
          </p:cNvPr>
          <p:cNvSpPr>
            <a:spLocks noGrp="1"/>
          </p:cNvSpPr>
          <p:nvPr/>
        </p:nvSpPr>
        <p:spPr>
          <a:xfrm>
            <a:off x="711749" y="3621024"/>
            <a:ext cx="112236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CUP 150 Г · W/O OIL</a:t>
            </a:r>
            <a:endParaRPr sz="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634DF81-CF5A-42FF-B295-D79E46794514}"/>
              </a:ext>
            </a:extLst>
          </p:cNvPr>
          <p:cNvSpPr>
            <a:spLocks noGrp="1"/>
          </p:cNvSpPr>
          <p:nvPr/>
        </p:nvSpPr>
        <p:spPr>
          <a:xfrm>
            <a:off x="711749" y="3931920"/>
            <a:ext cx="185371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Thai Jasmine Rice</a:t>
            </a:r>
            <a:endParaRPr sz="14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EE9D78-55FB-4825-A4EC-1CE5288481C3}"/>
              </a:ext>
            </a:extLst>
          </p:cNvPr>
          <p:cNvSpPr>
            <a:spLocks noGrp="1"/>
          </p:cNvSpPr>
          <p:nvPr/>
        </p:nvSpPr>
        <p:spPr>
          <a:xfrm>
            <a:off x="711749" y="4498848"/>
            <a:ext cx="185371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$0,500 · базовий SKU</a:t>
            </a:r>
            <a:endParaRPr sz="10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8161C34-47AF-4A98-91ED-6E1E141D9701}"/>
              </a:ext>
            </a:extLst>
          </p:cNvPr>
          <p:cNvSpPr>
            <a:spLocks noGrp="1"/>
          </p:cNvSpPr>
          <p:nvPr/>
        </p:nvSpPr>
        <p:spPr>
          <a:xfrm>
            <a:off x="711749" y="4791456"/>
            <a:ext cx="1853711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D3A29BD-427F-41DD-A67A-208B5804CF15}"/>
              </a:ext>
            </a:extLst>
          </p:cNvPr>
          <p:cNvSpPr>
            <a:spLocks noGrp="1"/>
          </p:cNvSpPr>
          <p:nvPr/>
        </p:nvSpPr>
        <p:spPr>
          <a:xfrm>
            <a:off x="798642" y="4855464"/>
            <a:ext cx="1701649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0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СТАКАНЧИК</a:t>
            </a:r>
            <a:endParaRPr sz="7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225FD2-5DF4-4E27-A0C2-ED5225E2FD54}"/>
              </a:ext>
            </a:extLst>
          </p:cNvPr>
          <p:cNvSpPr>
            <a:spLocks noGrp="1"/>
          </p:cNvSpPr>
          <p:nvPr/>
        </p:nvSpPr>
        <p:spPr>
          <a:xfrm>
            <a:off x="798642" y="505663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BAEDDDF-B30B-44A8-84D8-1F1351720E53}"/>
              </a:ext>
            </a:extLst>
          </p:cNvPr>
          <p:cNvSpPr>
            <a:spLocks noGrp="1"/>
          </p:cNvSpPr>
          <p:nvPr/>
        </p:nvSpPr>
        <p:spPr>
          <a:xfrm>
            <a:off x="1305516" y="505663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$0,881 / 39,66 ₴</a:t>
            </a:r>
            <a:endParaRPr sz="9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2FA2E5-E055-4EED-B764-D8C358F13040}"/>
              </a:ext>
            </a:extLst>
          </p:cNvPr>
          <p:cNvSpPr>
            <a:spLocks noGrp="1"/>
          </p:cNvSpPr>
          <p:nvPr/>
        </p:nvSpPr>
        <p:spPr>
          <a:xfrm>
            <a:off x="798642" y="526237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EFA949F-A8B8-4BD8-BEA2-862EF1E9F3A7}"/>
              </a:ext>
            </a:extLst>
          </p:cNvPr>
          <p:cNvSpPr>
            <a:spLocks noGrp="1"/>
          </p:cNvSpPr>
          <p:nvPr/>
        </p:nvSpPr>
        <p:spPr>
          <a:xfrm>
            <a:off x="1305516" y="526237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$0,777 / 34,95 ₴</a:t>
            </a:r>
            <a:endParaRPr sz="9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F4E7F66-E648-45BF-B645-840EB5CD86B3}"/>
              </a:ext>
            </a:extLst>
          </p:cNvPr>
          <p:cNvSpPr>
            <a:spLocks noGrp="1"/>
          </p:cNvSpPr>
          <p:nvPr/>
        </p:nvSpPr>
        <p:spPr>
          <a:xfrm>
            <a:off x="798642" y="546811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3FA87CF-3F1F-407C-97E5-CE3B0D83E714}"/>
              </a:ext>
            </a:extLst>
          </p:cNvPr>
          <p:cNvSpPr>
            <a:spLocks noGrp="1"/>
          </p:cNvSpPr>
          <p:nvPr/>
        </p:nvSpPr>
        <p:spPr>
          <a:xfrm>
            <a:off x="1305516" y="546811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$0,889 / 39,99 ₴</a:t>
            </a:r>
            <a:endParaRPr sz="9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86B9D-4A4D-4002-9CDE-77BA53EB1911}"/>
              </a:ext>
            </a:extLst>
          </p:cNvPr>
          <p:cNvSpPr>
            <a:spLocks noGrp="1"/>
          </p:cNvSpPr>
          <p:nvPr/>
        </p:nvSpPr>
        <p:spPr>
          <a:xfrm>
            <a:off x="798642" y="567385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F1395A1-2F78-48B0-8C30-47BF1137A35B}"/>
              </a:ext>
            </a:extLst>
          </p:cNvPr>
          <p:cNvSpPr>
            <a:spLocks noGrp="1"/>
          </p:cNvSpPr>
          <p:nvPr/>
        </p:nvSpPr>
        <p:spPr>
          <a:xfrm>
            <a:off x="1305516" y="567385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$0,816 / 36,70 ₴</a:t>
            </a:r>
            <a:endParaRPr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CD23EF-4833-427F-B74B-6E405E3069ED}"/>
              </a:ext>
            </a:extLst>
          </p:cNvPr>
          <p:cNvSpPr>
            <a:spLocks noGrp="1"/>
          </p:cNvSpPr>
          <p:nvPr/>
        </p:nvSpPr>
        <p:spPr>
          <a:xfrm>
            <a:off x="2820010" y="1536192"/>
            <a:ext cx="214335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CC510ACE-6515-4BC0-B50D-985970D330BD}"/>
              </a:ext>
            </a:extLst>
          </p:cNvPr>
          <p:cNvSpPr>
            <a:spLocks noGrp="1"/>
          </p:cNvSpPr>
          <p:nvPr/>
        </p:nvSpPr>
        <p:spPr>
          <a:xfrm>
            <a:off x="2964831" y="1700784"/>
            <a:ext cx="1853711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F360826-A308-4AC3-BAA1-7446672F8749}"/>
              </a:ext>
            </a:extLst>
          </p:cNvPr>
          <p:cNvSpPr>
            <a:spLocks noGrp="1"/>
          </p:cNvSpPr>
          <p:nvPr/>
        </p:nvSpPr>
        <p:spPr>
          <a:xfrm>
            <a:off x="2964831" y="3611880"/>
            <a:ext cx="1122364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036F6EF-F813-4855-BBAB-E834036C4733}"/>
              </a:ext>
            </a:extLst>
          </p:cNvPr>
          <p:cNvSpPr>
            <a:spLocks noGrp="1"/>
          </p:cNvSpPr>
          <p:nvPr/>
        </p:nvSpPr>
        <p:spPr>
          <a:xfrm>
            <a:off x="2964831" y="3621024"/>
            <a:ext cx="112236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CUP 150 Г · W/O OIL</a:t>
            </a:r>
            <a:endParaRPr sz="85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623579F-4CF0-49CB-8419-DC085FE5D432}"/>
              </a:ext>
            </a:extLst>
          </p:cNvPr>
          <p:cNvSpPr>
            <a:spLocks noGrp="1"/>
          </p:cNvSpPr>
          <p:nvPr/>
        </p:nvSpPr>
        <p:spPr>
          <a:xfrm>
            <a:off x="2964831" y="3931920"/>
            <a:ext cx="185371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Thai Brown Jasmine Rice</a:t>
            </a:r>
            <a:endParaRPr sz="145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4F13D1A-C3CC-4661-A13D-5D4192098AD7}"/>
              </a:ext>
            </a:extLst>
          </p:cNvPr>
          <p:cNvSpPr>
            <a:spLocks noGrp="1"/>
          </p:cNvSpPr>
          <p:nvPr/>
        </p:nvSpPr>
        <p:spPr>
          <a:xfrm>
            <a:off x="2964831" y="4498848"/>
            <a:ext cx="185371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$0,500 · базовий SKU</a:t>
            </a:r>
            <a:endParaRPr sz="10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49B14DE-CA73-4039-8430-FB42DBBD3991}"/>
              </a:ext>
            </a:extLst>
          </p:cNvPr>
          <p:cNvSpPr>
            <a:spLocks noGrp="1"/>
          </p:cNvSpPr>
          <p:nvPr/>
        </p:nvSpPr>
        <p:spPr>
          <a:xfrm>
            <a:off x="2964831" y="4791456"/>
            <a:ext cx="1853711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005C7CF-646A-4687-B1EA-E63F75D77D5C}"/>
              </a:ext>
            </a:extLst>
          </p:cNvPr>
          <p:cNvSpPr>
            <a:spLocks noGrp="1"/>
          </p:cNvSpPr>
          <p:nvPr/>
        </p:nvSpPr>
        <p:spPr>
          <a:xfrm>
            <a:off x="3051724" y="4855464"/>
            <a:ext cx="1701649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0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СТАКАНЧИК</a:t>
            </a:r>
            <a:endParaRPr sz="75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93A1173-463D-43C7-AEA9-358CA2D92BA8}"/>
              </a:ext>
            </a:extLst>
          </p:cNvPr>
          <p:cNvSpPr>
            <a:spLocks noGrp="1"/>
          </p:cNvSpPr>
          <p:nvPr/>
        </p:nvSpPr>
        <p:spPr>
          <a:xfrm>
            <a:off x="3051724" y="505663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7117FC0B-4F73-40B9-9BEC-953254E4BA9A}"/>
              </a:ext>
            </a:extLst>
          </p:cNvPr>
          <p:cNvSpPr>
            <a:spLocks noGrp="1"/>
          </p:cNvSpPr>
          <p:nvPr/>
        </p:nvSpPr>
        <p:spPr>
          <a:xfrm>
            <a:off x="3558598" y="505663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$0,881 / 39,66 ₴</a:t>
            </a:r>
            <a:endParaRPr sz="9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8663418-84F8-4462-909D-711F0DD1DDD7}"/>
              </a:ext>
            </a:extLst>
          </p:cNvPr>
          <p:cNvSpPr>
            <a:spLocks noGrp="1"/>
          </p:cNvSpPr>
          <p:nvPr/>
        </p:nvSpPr>
        <p:spPr>
          <a:xfrm>
            <a:off x="3051724" y="526237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09A954A-25C5-4C8C-BACC-D09A2CA513F0}"/>
              </a:ext>
            </a:extLst>
          </p:cNvPr>
          <p:cNvSpPr>
            <a:spLocks noGrp="1"/>
          </p:cNvSpPr>
          <p:nvPr/>
        </p:nvSpPr>
        <p:spPr>
          <a:xfrm>
            <a:off x="3558598" y="526237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$0,777 / 34,95 ₴</a:t>
            </a:r>
            <a:endParaRPr sz="95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BD63ABA-2795-4167-B138-F7286363F43A}"/>
              </a:ext>
            </a:extLst>
          </p:cNvPr>
          <p:cNvSpPr>
            <a:spLocks noGrp="1"/>
          </p:cNvSpPr>
          <p:nvPr/>
        </p:nvSpPr>
        <p:spPr>
          <a:xfrm>
            <a:off x="3051724" y="546811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95EAFC3-88FF-44CF-AFF4-614342C3B96D}"/>
              </a:ext>
            </a:extLst>
          </p:cNvPr>
          <p:cNvSpPr>
            <a:spLocks noGrp="1"/>
          </p:cNvSpPr>
          <p:nvPr/>
        </p:nvSpPr>
        <p:spPr>
          <a:xfrm>
            <a:off x="3558598" y="546811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$0,889 / 39,99 ₴</a:t>
            </a:r>
            <a:endParaRPr sz="95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0133D29-79AD-41F7-AC4D-08F94F211A09}"/>
              </a:ext>
            </a:extLst>
          </p:cNvPr>
          <p:cNvSpPr>
            <a:spLocks noGrp="1"/>
          </p:cNvSpPr>
          <p:nvPr/>
        </p:nvSpPr>
        <p:spPr>
          <a:xfrm>
            <a:off x="3051724" y="567385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48907D16-EC0C-4DB8-9E32-E30599EA1EE7}"/>
              </a:ext>
            </a:extLst>
          </p:cNvPr>
          <p:cNvSpPr>
            <a:spLocks noGrp="1"/>
          </p:cNvSpPr>
          <p:nvPr/>
        </p:nvSpPr>
        <p:spPr>
          <a:xfrm>
            <a:off x="3558598" y="567385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$0,816 / 36,70 ₴</a:t>
            </a:r>
            <a:endParaRPr sz="95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2259E21A-9C34-47EA-B3E9-E565B7940B3A}"/>
              </a:ext>
            </a:extLst>
          </p:cNvPr>
          <p:cNvSpPr>
            <a:spLocks noGrp="1"/>
          </p:cNvSpPr>
          <p:nvPr/>
        </p:nvSpPr>
        <p:spPr>
          <a:xfrm>
            <a:off x="5073091" y="1536192"/>
            <a:ext cx="214335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0711C6CE-DEDB-4DD0-8D53-429DE193BFFB}"/>
              </a:ext>
            </a:extLst>
          </p:cNvPr>
          <p:cNvSpPr>
            <a:spLocks noGrp="1"/>
          </p:cNvSpPr>
          <p:nvPr/>
        </p:nvSpPr>
        <p:spPr>
          <a:xfrm>
            <a:off x="5217912" y="1700784"/>
            <a:ext cx="1853711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DC7C47A5-93C4-467C-AF6A-51561B8A3AB4}"/>
              </a:ext>
            </a:extLst>
          </p:cNvPr>
          <p:cNvSpPr>
            <a:spLocks noGrp="1"/>
          </p:cNvSpPr>
          <p:nvPr/>
        </p:nvSpPr>
        <p:spPr>
          <a:xfrm>
            <a:off x="5217912" y="3611880"/>
            <a:ext cx="1122364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0596B2BA-8710-4E95-8365-1BF11E1890BF}"/>
              </a:ext>
            </a:extLst>
          </p:cNvPr>
          <p:cNvSpPr>
            <a:spLocks noGrp="1"/>
          </p:cNvSpPr>
          <p:nvPr/>
        </p:nvSpPr>
        <p:spPr>
          <a:xfrm>
            <a:off x="5217912" y="3621024"/>
            <a:ext cx="112236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CUP 150 Г · W/O OIL</a:t>
            </a:r>
            <a:endParaRPr sz="8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C06B8F32-5124-4A18-AC53-3481907D9192}"/>
              </a:ext>
            </a:extLst>
          </p:cNvPr>
          <p:cNvSpPr>
            <a:spLocks noGrp="1"/>
          </p:cNvSpPr>
          <p:nvPr/>
        </p:nvSpPr>
        <p:spPr>
          <a:xfrm>
            <a:off x="5217912" y="3931920"/>
            <a:ext cx="185371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Thai Red Jasmine Rice</a:t>
            </a:r>
            <a:endParaRPr sz="145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B818A736-226A-4409-9E84-13D21A31A265}"/>
              </a:ext>
            </a:extLst>
          </p:cNvPr>
          <p:cNvSpPr>
            <a:spLocks noGrp="1"/>
          </p:cNvSpPr>
          <p:nvPr/>
        </p:nvSpPr>
        <p:spPr>
          <a:xfrm>
            <a:off x="5217912" y="4498848"/>
            <a:ext cx="185371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$0,542 · спеціальний SKU</a:t>
            </a:r>
            <a:endParaRPr sz="10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74EB33FE-2A74-4110-9400-0929BAE7D070}"/>
              </a:ext>
            </a:extLst>
          </p:cNvPr>
          <p:cNvSpPr>
            <a:spLocks noGrp="1"/>
          </p:cNvSpPr>
          <p:nvPr/>
        </p:nvSpPr>
        <p:spPr>
          <a:xfrm>
            <a:off x="5217912" y="4791456"/>
            <a:ext cx="1853711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49EEB924-E332-4CCD-95A2-34608E9213B3}"/>
              </a:ext>
            </a:extLst>
          </p:cNvPr>
          <p:cNvSpPr>
            <a:spLocks noGrp="1"/>
          </p:cNvSpPr>
          <p:nvPr/>
        </p:nvSpPr>
        <p:spPr>
          <a:xfrm>
            <a:off x="5304805" y="4855464"/>
            <a:ext cx="1701649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0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СТАКАНЧИК</a:t>
            </a:r>
            <a:endParaRPr sz="75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1233661C-E122-46E4-B4AF-2E989ADA051C}"/>
              </a:ext>
            </a:extLst>
          </p:cNvPr>
          <p:cNvSpPr>
            <a:spLocks noGrp="1"/>
          </p:cNvSpPr>
          <p:nvPr/>
        </p:nvSpPr>
        <p:spPr>
          <a:xfrm>
            <a:off x="5304805" y="505663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BFF0E6A6-EE49-4AEB-B04B-23DA22BE286F}"/>
              </a:ext>
            </a:extLst>
          </p:cNvPr>
          <p:cNvSpPr>
            <a:spLocks noGrp="1"/>
          </p:cNvSpPr>
          <p:nvPr/>
        </p:nvSpPr>
        <p:spPr>
          <a:xfrm>
            <a:off x="5811679" y="505663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$0,955 / 42,97 ₴</a:t>
            </a:r>
            <a:endParaRPr sz="9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0696E1FB-7D6D-40FC-AD7C-66FBBC12B10C}"/>
              </a:ext>
            </a:extLst>
          </p:cNvPr>
          <p:cNvSpPr>
            <a:spLocks noGrp="1"/>
          </p:cNvSpPr>
          <p:nvPr/>
        </p:nvSpPr>
        <p:spPr>
          <a:xfrm>
            <a:off x="5304805" y="526237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EEC05408-8F7F-4048-A172-AEF7DC75A581}"/>
              </a:ext>
            </a:extLst>
          </p:cNvPr>
          <p:cNvSpPr>
            <a:spLocks noGrp="1"/>
          </p:cNvSpPr>
          <p:nvPr/>
        </p:nvSpPr>
        <p:spPr>
          <a:xfrm>
            <a:off x="5811679" y="526237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$0,841 / 37,86 ₴</a:t>
            </a:r>
            <a:endParaRPr sz="95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EDF78F8F-BC3B-4297-9AED-58144068050A}"/>
              </a:ext>
            </a:extLst>
          </p:cNvPr>
          <p:cNvSpPr>
            <a:spLocks noGrp="1"/>
          </p:cNvSpPr>
          <p:nvPr/>
        </p:nvSpPr>
        <p:spPr>
          <a:xfrm>
            <a:off x="5304805" y="546811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7A843F49-7C4D-43E2-9A00-CD7BED7D7EEF}"/>
              </a:ext>
            </a:extLst>
          </p:cNvPr>
          <p:cNvSpPr>
            <a:spLocks noGrp="1"/>
          </p:cNvSpPr>
          <p:nvPr/>
        </p:nvSpPr>
        <p:spPr>
          <a:xfrm>
            <a:off x="5811679" y="546811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$0,963 / 43,32 ₴</a:t>
            </a:r>
            <a:endParaRPr sz="95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2766A248-70B7-4C50-86DC-4743FDE08FED}"/>
              </a:ext>
            </a:extLst>
          </p:cNvPr>
          <p:cNvSpPr>
            <a:spLocks noGrp="1"/>
          </p:cNvSpPr>
          <p:nvPr/>
        </p:nvSpPr>
        <p:spPr>
          <a:xfrm>
            <a:off x="5304805" y="567385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9C30AE53-0A95-413F-B9EF-82A330647E84}"/>
              </a:ext>
            </a:extLst>
          </p:cNvPr>
          <p:cNvSpPr>
            <a:spLocks noGrp="1"/>
          </p:cNvSpPr>
          <p:nvPr/>
        </p:nvSpPr>
        <p:spPr>
          <a:xfrm>
            <a:off x="5811679" y="567385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$0,884 / 39,76 ₴</a:t>
            </a:r>
            <a:endParaRPr sz="950"/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BB65C8A4-36FE-4323-95C1-6CF79F6F2BD2}"/>
              </a:ext>
            </a:extLst>
          </p:cNvPr>
          <p:cNvSpPr>
            <a:spLocks noGrp="1"/>
          </p:cNvSpPr>
          <p:nvPr/>
        </p:nvSpPr>
        <p:spPr>
          <a:xfrm>
            <a:off x="7326173" y="1536192"/>
            <a:ext cx="214335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4" name="Shape 51">
            <a:extLst>
              <a:ext uri="{FF2B5EF4-FFF2-40B4-BE49-F238E27FC236}">
                <a16:creationId xmlns:a16="http://schemas.microsoft.com/office/drawing/2014/main" id="{BB65C8A4-36FE-4323-95C1-6CF79F6F2BD2}"/>
              </a:ext>
            </a:extLst>
          </p:cNvPr>
          <p:cNvSpPr>
            <a:spLocks noGrp="1"/>
          </p:cNvSpPr>
          <p:nvPr/>
        </p:nvSpPr>
        <p:spPr>
          <a:xfrm>
            <a:off x="9579254" y="1536192"/>
            <a:ext cx="2143354" cy="4626864"/>
          </a:xfrm>
          <a:prstGeom prst="roundRect">
            <a:avLst>
              <a:gd name="adj" fmla="val 405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A089A1B1-F6D0-4239-90A9-2A5FF4C2A16C}"/>
              </a:ext>
            </a:extLst>
          </p:cNvPr>
          <p:cNvSpPr>
            <a:spLocks noGrp="1"/>
          </p:cNvSpPr>
          <p:nvPr/>
        </p:nvSpPr>
        <p:spPr>
          <a:xfrm>
            <a:off x="7470994" y="1700784"/>
            <a:ext cx="1853711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0" name="Picture 1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076" y="1700784"/>
            <a:ext cx="1853711" cy="1810512"/>
          </a:xfrm>
          <a:prstGeom prst="roundRect">
            <a:avLst/>
          </a:prstGeom>
        </p:spPr>
      </p:pic>
      <p:sp>
        <p:nvSpPr>
          <p:cNvPr id="76" name="Shape 52">
            <a:extLst>
              <a:ext uri="{FF2B5EF4-FFF2-40B4-BE49-F238E27FC236}">
                <a16:creationId xmlns:a16="http://schemas.microsoft.com/office/drawing/2014/main" id="{A089A1B1-F6D0-4239-90A9-2A5FF4C2A16C}"/>
              </a:ext>
            </a:extLst>
          </p:cNvPr>
          <p:cNvSpPr>
            <a:spLocks noGrp="1"/>
          </p:cNvSpPr>
          <p:nvPr/>
        </p:nvSpPr>
        <p:spPr>
          <a:xfrm>
            <a:off x="9724076" y="1700784"/>
            <a:ext cx="1853711" cy="1810512"/>
          </a:xfrm>
          <a:prstGeom prst="rect">
            <a:avLst/>
          </a:prstGeom>
          <a:ln w="1270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102F35A9-F072-41A9-A5EF-E4FBAAA99241}"/>
              </a:ext>
            </a:extLst>
          </p:cNvPr>
          <p:cNvSpPr>
            <a:spLocks noGrp="1"/>
          </p:cNvSpPr>
          <p:nvPr/>
        </p:nvSpPr>
        <p:spPr>
          <a:xfrm>
            <a:off x="7470994" y="3611880"/>
            <a:ext cx="1122364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53">
            <a:extLst>
              <a:ext uri="{FF2B5EF4-FFF2-40B4-BE49-F238E27FC236}">
                <a16:creationId xmlns:a16="http://schemas.microsoft.com/office/drawing/2014/main" id="{102F35A9-F072-41A9-A5EF-E4FBAAA99241}"/>
              </a:ext>
            </a:extLst>
          </p:cNvPr>
          <p:cNvSpPr>
            <a:spLocks noGrp="1"/>
          </p:cNvSpPr>
          <p:nvPr/>
        </p:nvSpPr>
        <p:spPr>
          <a:xfrm>
            <a:off x="9724076" y="3611880"/>
            <a:ext cx="1122364" cy="237744"/>
          </a:xfrm>
          <a:prstGeom prst="roundRect">
            <a:avLst>
              <a:gd name="adj" fmla="val 23077"/>
            </a:avLst>
          </a:prstGeom>
          <a:solidFill>
            <a:srgbClr val="B0762A"/>
          </a:solidFill>
          <a:ln w="6350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EA0F7E19-BC03-4457-BB96-38AB3991AB1A}"/>
              </a:ext>
            </a:extLst>
          </p:cNvPr>
          <p:cNvSpPr>
            <a:spLocks noGrp="1"/>
          </p:cNvSpPr>
          <p:nvPr/>
        </p:nvSpPr>
        <p:spPr>
          <a:xfrm>
            <a:off x="7470994" y="3621024"/>
            <a:ext cx="112236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CUP 150 Г · W/O OIL</a:t>
            </a:r>
            <a:endParaRPr sz="850"/>
          </a:p>
        </p:txBody>
      </p:sp>
      <p:sp>
        <p:nvSpPr>
          <p:cNvPr id="78" name="Text 54">
            <a:extLst>
              <a:ext uri="{FF2B5EF4-FFF2-40B4-BE49-F238E27FC236}">
                <a16:creationId xmlns:a16="http://schemas.microsoft.com/office/drawing/2014/main" id="{EA0F7E19-BC03-4457-BB96-38AB3991AB1A}"/>
              </a:ext>
            </a:extLst>
          </p:cNvPr>
          <p:cNvSpPr>
            <a:spLocks noGrp="1"/>
          </p:cNvSpPr>
          <p:nvPr/>
        </p:nvSpPr>
        <p:spPr>
          <a:xfrm>
            <a:off x="9724076" y="3621024"/>
            <a:ext cx="1122364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CUP 150 Г · W/O OIL</a:t>
            </a:r>
            <a:endParaRPr sz="85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53175901-99C3-41D7-9C1A-329684E5875E}"/>
              </a:ext>
            </a:extLst>
          </p:cNvPr>
          <p:cNvSpPr>
            <a:spLocks noGrp="1"/>
          </p:cNvSpPr>
          <p:nvPr/>
        </p:nvSpPr>
        <p:spPr>
          <a:xfrm>
            <a:off x="7470994" y="3931920"/>
            <a:ext cx="185371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Rice Berry</a:t>
            </a:r>
            <a:endParaRPr sz="1450"/>
          </a:p>
        </p:txBody>
      </p:sp>
      <p:sp>
        <p:nvSpPr>
          <p:cNvPr id="79" name="Text 55">
            <a:extLst>
              <a:ext uri="{FF2B5EF4-FFF2-40B4-BE49-F238E27FC236}">
                <a16:creationId xmlns:a16="http://schemas.microsoft.com/office/drawing/2014/main" id="{53175901-99C3-41D7-9C1A-329684E5875E}"/>
              </a:ext>
            </a:extLst>
          </p:cNvPr>
          <p:cNvSpPr>
            <a:spLocks noGrp="1"/>
          </p:cNvSpPr>
          <p:nvPr/>
        </p:nvSpPr>
        <p:spPr>
          <a:xfrm>
            <a:off x="9724076" y="3931920"/>
            <a:ext cx="185371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Brown Jasmine Rice with Red Quinoa</a:t>
            </a:r>
            <a:endParaRPr sz="1450"/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B27564B5-2E37-4E8E-B961-4CCD25190B86}"/>
              </a:ext>
            </a:extLst>
          </p:cNvPr>
          <p:cNvSpPr>
            <a:spLocks noGrp="1"/>
          </p:cNvSpPr>
          <p:nvPr/>
        </p:nvSpPr>
        <p:spPr>
          <a:xfrm>
            <a:off x="7470994" y="4498848"/>
            <a:ext cx="185371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$0,542 · спеціальний SKU</a:t>
            </a:r>
            <a:endParaRPr sz="1000"/>
          </a:p>
        </p:txBody>
      </p:sp>
      <p:sp>
        <p:nvSpPr>
          <p:cNvPr id="80" name="Text 56">
            <a:extLst>
              <a:ext uri="{FF2B5EF4-FFF2-40B4-BE49-F238E27FC236}">
                <a16:creationId xmlns:a16="http://schemas.microsoft.com/office/drawing/2014/main" id="{B27564B5-2E37-4E8E-B961-4CCD25190B86}"/>
              </a:ext>
            </a:extLst>
          </p:cNvPr>
          <p:cNvSpPr>
            <a:spLocks noGrp="1"/>
          </p:cNvSpPr>
          <p:nvPr/>
        </p:nvSpPr>
        <p:spPr>
          <a:xfrm>
            <a:off x="9724076" y="4498848"/>
            <a:ext cx="1853711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FOB $0,542 · спеціальний SKU</a:t>
            </a:r>
            <a:endParaRPr sz="1000"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FE01E20B-9EBB-4017-A8D9-C2567B2E5EC1}"/>
              </a:ext>
            </a:extLst>
          </p:cNvPr>
          <p:cNvSpPr>
            <a:spLocks noGrp="1"/>
          </p:cNvSpPr>
          <p:nvPr/>
        </p:nvSpPr>
        <p:spPr>
          <a:xfrm>
            <a:off x="7470994" y="4791456"/>
            <a:ext cx="1853711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57">
            <a:extLst>
              <a:ext uri="{FF2B5EF4-FFF2-40B4-BE49-F238E27FC236}">
                <a16:creationId xmlns:a16="http://schemas.microsoft.com/office/drawing/2014/main" id="{FE01E20B-9EBB-4017-A8D9-C2567B2E5EC1}"/>
              </a:ext>
            </a:extLst>
          </p:cNvPr>
          <p:cNvSpPr>
            <a:spLocks noGrp="1"/>
          </p:cNvSpPr>
          <p:nvPr/>
        </p:nvSpPr>
        <p:spPr>
          <a:xfrm>
            <a:off x="9724076" y="4791456"/>
            <a:ext cx="1853711" cy="1170432"/>
          </a:xfrm>
          <a:prstGeom prst="roundRect">
            <a:avLst>
              <a:gd name="adj" fmla="val 5469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669B1082-8915-4983-B2B6-C14A6B449D5E}"/>
              </a:ext>
            </a:extLst>
          </p:cNvPr>
          <p:cNvSpPr>
            <a:spLocks noGrp="1"/>
          </p:cNvSpPr>
          <p:nvPr/>
        </p:nvSpPr>
        <p:spPr>
          <a:xfrm>
            <a:off x="7557887" y="4855464"/>
            <a:ext cx="1701649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0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СТАКАНЧИК</a:t>
            </a:r>
            <a:endParaRPr sz="750"/>
          </a:p>
        </p:txBody>
      </p:sp>
      <p:sp>
        <p:nvSpPr>
          <p:cNvPr id="82" name="Text 58">
            <a:extLst>
              <a:ext uri="{FF2B5EF4-FFF2-40B4-BE49-F238E27FC236}">
                <a16:creationId xmlns:a16="http://schemas.microsoft.com/office/drawing/2014/main" id="{669B1082-8915-4983-B2B6-C14A6B449D5E}"/>
              </a:ext>
            </a:extLst>
          </p:cNvPr>
          <p:cNvSpPr>
            <a:spLocks noGrp="1"/>
          </p:cNvSpPr>
          <p:nvPr/>
        </p:nvSpPr>
        <p:spPr>
          <a:xfrm>
            <a:off x="9810968" y="4855464"/>
            <a:ext cx="1701649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00" b="1" spc="10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СОБІВАРТІСТЬ, ЗА СТАКАНЧИК</a:t>
            </a:r>
            <a:endParaRPr sz="750"/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BD1C138D-AD32-4415-A37B-0EEFBF070D1B}"/>
              </a:ext>
            </a:extLst>
          </p:cNvPr>
          <p:cNvSpPr>
            <a:spLocks noGrp="1"/>
          </p:cNvSpPr>
          <p:nvPr/>
        </p:nvSpPr>
        <p:spPr>
          <a:xfrm>
            <a:off x="7557887" y="505663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83" name="Text 59">
            <a:extLst>
              <a:ext uri="{FF2B5EF4-FFF2-40B4-BE49-F238E27FC236}">
                <a16:creationId xmlns:a16="http://schemas.microsoft.com/office/drawing/2014/main" id="{BD1C138D-AD32-4415-A37B-0EEFBF070D1B}"/>
              </a:ext>
            </a:extLst>
          </p:cNvPr>
          <p:cNvSpPr>
            <a:spLocks noGrp="1"/>
          </p:cNvSpPr>
          <p:nvPr/>
        </p:nvSpPr>
        <p:spPr>
          <a:xfrm>
            <a:off x="9810968" y="505663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20′ FCL</a:t>
            </a:r>
            <a:endParaRPr sz="90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6AD7731F-A450-4B30-9B7A-DC5E48D9DC38}"/>
              </a:ext>
            </a:extLst>
          </p:cNvPr>
          <p:cNvSpPr>
            <a:spLocks noGrp="1"/>
          </p:cNvSpPr>
          <p:nvPr/>
        </p:nvSpPr>
        <p:spPr>
          <a:xfrm>
            <a:off x="8064761" y="505663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$0,955 / 42,97 ₴</a:t>
            </a:r>
            <a:endParaRPr sz="950"/>
          </a:p>
        </p:txBody>
      </p:sp>
      <p:sp>
        <p:nvSpPr>
          <p:cNvPr id="84" name="Text 60">
            <a:extLst>
              <a:ext uri="{FF2B5EF4-FFF2-40B4-BE49-F238E27FC236}">
                <a16:creationId xmlns:a16="http://schemas.microsoft.com/office/drawing/2014/main" id="{6AD7731F-A450-4B30-9B7A-DC5E48D9DC38}"/>
              </a:ext>
            </a:extLst>
          </p:cNvPr>
          <p:cNvSpPr>
            <a:spLocks noGrp="1"/>
          </p:cNvSpPr>
          <p:nvPr/>
        </p:nvSpPr>
        <p:spPr>
          <a:xfrm>
            <a:off x="10317842" y="505663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$0,955 / 42,97 ₴</a:t>
            </a:r>
            <a:endParaRPr sz="95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5987284E-222D-491D-BC8B-596809AE17F5}"/>
              </a:ext>
            </a:extLst>
          </p:cNvPr>
          <p:cNvSpPr>
            <a:spLocks noGrp="1"/>
          </p:cNvSpPr>
          <p:nvPr/>
        </p:nvSpPr>
        <p:spPr>
          <a:xfrm>
            <a:off x="7557887" y="526237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85" name="Text 61">
            <a:extLst>
              <a:ext uri="{FF2B5EF4-FFF2-40B4-BE49-F238E27FC236}">
                <a16:creationId xmlns:a16="http://schemas.microsoft.com/office/drawing/2014/main" id="{5987284E-222D-491D-BC8B-596809AE17F5}"/>
              </a:ext>
            </a:extLst>
          </p:cNvPr>
          <p:cNvSpPr>
            <a:spLocks noGrp="1"/>
          </p:cNvSpPr>
          <p:nvPr/>
        </p:nvSpPr>
        <p:spPr>
          <a:xfrm>
            <a:off x="9810968" y="526237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40′ FCL</a:t>
            </a:r>
            <a:endParaRPr sz="900"/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1E079831-7D60-433F-857F-D392391EEAB4}"/>
              </a:ext>
            </a:extLst>
          </p:cNvPr>
          <p:cNvSpPr>
            <a:spLocks noGrp="1"/>
          </p:cNvSpPr>
          <p:nvPr/>
        </p:nvSpPr>
        <p:spPr>
          <a:xfrm>
            <a:off x="8064761" y="526237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$0,841 / 37,86 ₴</a:t>
            </a:r>
            <a:endParaRPr sz="950"/>
          </a:p>
        </p:txBody>
      </p:sp>
      <p:sp>
        <p:nvSpPr>
          <p:cNvPr id="86" name="Text 62">
            <a:extLst>
              <a:ext uri="{FF2B5EF4-FFF2-40B4-BE49-F238E27FC236}">
                <a16:creationId xmlns:a16="http://schemas.microsoft.com/office/drawing/2014/main" id="{1E079831-7D60-433F-857F-D392391EEAB4}"/>
              </a:ext>
            </a:extLst>
          </p:cNvPr>
          <p:cNvSpPr>
            <a:spLocks noGrp="1"/>
          </p:cNvSpPr>
          <p:nvPr/>
        </p:nvSpPr>
        <p:spPr>
          <a:xfrm>
            <a:off x="10317842" y="526237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 b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$0,841 / 37,86 ₴</a:t>
            </a:r>
            <a:endParaRPr sz="950"/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5D9ED1D0-06AB-4B43-A177-0B40947578D3}"/>
              </a:ext>
            </a:extLst>
          </p:cNvPr>
          <p:cNvSpPr>
            <a:spLocks noGrp="1"/>
          </p:cNvSpPr>
          <p:nvPr/>
        </p:nvSpPr>
        <p:spPr>
          <a:xfrm>
            <a:off x="7557887" y="546811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87" name="Text 63">
            <a:extLst>
              <a:ext uri="{FF2B5EF4-FFF2-40B4-BE49-F238E27FC236}">
                <a16:creationId xmlns:a16="http://schemas.microsoft.com/office/drawing/2014/main" id="{5D9ED1D0-06AB-4B43-A177-0B40947578D3}"/>
              </a:ext>
            </a:extLst>
          </p:cNvPr>
          <p:cNvSpPr>
            <a:spLocks noGrp="1"/>
          </p:cNvSpPr>
          <p:nvPr/>
        </p:nvSpPr>
        <p:spPr>
          <a:xfrm>
            <a:off x="9810968" y="546811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17 м³</a:t>
            </a:r>
            <a:endParaRPr sz="90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4C05FFD0-DA43-4E50-A387-C4186B7E3DA8}"/>
              </a:ext>
            </a:extLst>
          </p:cNvPr>
          <p:cNvSpPr>
            <a:spLocks noGrp="1"/>
          </p:cNvSpPr>
          <p:nvPr/>
        </p:nvSpPr>
        <p:spPr>
          <a:xfrm>
            <a:off x="8064761" y="546811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$0,963 / 43,32 ₴</a:t>
            </a:r>
            <a:endParaRPr sz="950"/>
          </a:p>
        </p:txBody>
      </p:sp>
      <p:sp>
        <p:nvSpPr>
          <p:cNvPr id="88" name="Text 64">
            <a:extLst>
              <a:ext uri="{FF2B5EF4-FFF2-40B4-BE49-F238E27FC236}">
                <a16:creationId xmlns:a16="http://schemas.microsoft.com/office/drawing/2014/main" id="{4C05FFD0-DA43-4E50-A387-C4186B7E3DA8}"/>
              </a:ext>
            </a:extLst>
          </p:cNvPr>
          <p:cNvSpPr>
            <a:spLocks noGrp="1"/>
          </p:cNvSpPr>
          <p:nvPr/>
        </p:nvSpPr>
        <p:spPr>
          <a:xfrm>
            <a:off x="10317842" y="546811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$0,963 / 43,32 ₴</a:t>
            </a:r>
            <a:endParaRPr sz="95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7FE64998-BF0F-49B6-9E76-DCEF0AF292A4}"/>
              </a:ext>
            </a:extLst>
          </p:cNvPr>
          <p:cNvSpPr>
            <a:spLocks noGrp="1"/>
          </p:cNvSpPr>
          <p:nvPr/>
        </p:nvSpPr>
        <p:spPr>
          <a:xfrm>
            <a:off x="7557887" y="567385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89" name="Text 65">
            <a:extLst>
              <a:ext uri="{FF2B5EF4-FFF2-40B4-BE49-F238E27FC236}">
                <a16:creationId xmlns:a16="http://schemas.microsoft.com/office/drawing/2014/main" id="{7FE64998-BF0F-49B6-9E76-DCEF0AF292A4}"/>
              </a:ext>
            </a:extLst>
          </p:cNvPr>
          <p:cNvSpPr>
            <a:spLocks noGrp="1"/>
          </p:cNvSpPr>
          <p:nvPr/>
        </p:nvSpPr>
        <p:spPr>
          <a:xfrm>
            <a:off x="9810968" y="5673852"/>
            <a:ext cx="521356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LCL 34 м³</a:t>
            </a:r>
            <a:endParaRPr sz="900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D5AA0317-8C8E-4654-AB48-6EF530E5DEEB}"/>
              </a:ext>
            </a:extLst>
          </p:cNvPr>
          <p:cNvSpPr>
            <a:spLocks noGrp="1"/>
          </p:cNvSpPr>
          <p:nvPr/>
        </p:nvSpPr>
        <p:spPr>
          <a:xfrm>
            <a:off x="8064761" y="567385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$0,884 / 39,76 ₴</a:t>
            </a:r>
            <a:endParaRPr sz="950"/>
          </a:p>
        </p:txBody>
      </p:sp>
      <p:sp>
        <p:nvSpPr>
          <p:cNvPr id="90" name="Text 66">
            <a:extLst>
              <a:ext uri="{FF2B5EF4-FFF2-40B4-BE49-F238E27FC236}">
                <a16:creationId xmlns:a16="http://schemas.microsoft.com/office/drawing/2014/main" id="{D5AA0317-8C8E-4654-AB48-6EF530E5DEEB}"/>
              </a:ext>
            </a:extLst>
          </p:cNvPr>
          <p:cNvSpPr>
            <a:spLocks noGrp="1"/>
          </p:cNvSpPr>
          <p:nvPr/>
        </p:nvSpPr>
        <p:spPr>
          <a:xfrm>
            <a:off x="10317842" y="5673852"/>
            <a:ext cx="1194775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7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$0,884 / 39,76 ₴</a:t>
            </a:r>
            <a:endParaRPr sz="950"/>
          </a:p>
        </p:txBody>
      </p:sp>
      <p:sp>
        <p:nvSpPr>
          <p:cNvPr id="73" name="Text 67">
            <a:extLst>
              <a:ext uri="{FF2B5EF4-FFF2-40B4-BE49-F238E27FC236}">
                <a16:creationId xmlns:a16="http://schemas.microsoft.com/office/drawing/2014/main" id="{8A12195C-5F27-417B-939C-737A8C06AF0C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876168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Cup-Photo of Products.pdf, Self Cost Rice Brand.xlsx (BSCM(Bags+Cups) - Навалом, 2026-09 revision) · курс 45,00 UAH/USD.</a:t>
            </a:r>
            <a:endParaRPr sz="900"/>
          </a:p>
        </p:txBody>
      </p:sp>
      <p:pic>
        <p:nvPicPr>
          <p:cNvPr id="181" name="Рисунок 1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1749" y="1700784"/>
            <a:ext cx="1853711" cy="1810512"/>
          </a:xfrm>
          <a:prstGeom prst="roundRect">
            <a:avLst/>
          </a:prstGeom>
        </p:spPr>
      </p:pic>
      <p:pic>
        <p:nvPicPr>
          <p:cNvPr id="182" name="Рисунок 15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964831" y="1700784"/>
            <a:ext cx="1853711" cy="1810512"/>
          </a:xfrm>
          <a:prstGeom prst="roundRect">
            <a:avLst/>
          </a:prstGeom>
        </p:spPr>
      </p:pic>
      <p:pic>
        <p:nvPicPr>
          <p:cNvPr id="183" name="Рисунок 15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217912" y="1700784"/>
            <a:ext cx="1853711" cy="1810512"/>
          </a:xfrm>
          <a:prstGeom prst="roundRect">
            <a:avLst/>
          </a:prstGeom>
        </p:spPr>
      </p:pic>
      <p:pic>
        <p:nvPicPr>
          <p:cNvPr id="184" name="Рисунок 15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470994" y="1700784"/>
            <a:ext cx="1853711" cy="181051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2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66928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SINGLE CUP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66928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Ready Rice in Plastic Cup — вигляд упаковки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85216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i="1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5 позицій · 150 г · sleeve-бокс · фото з каталогу постачальника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C3D159-6BBB-4F8D-B9ED-F6496F44B44F}"/>
              </a:ext>
            </a:extLst>
          </p:cNvPr>
          <p:cNvSpPr>
            <a:spLocks noGrp="1"/>
          </p:cNvSpPr>
          <p:nvPr/>
        </p:nvSpPr>
        <p:spPr>
          <a:xfrm>
            <a:off x="566928" y="1536192"/>
            <a:ext cx="6675120" cy="4626864"/>
          </a:xfrm>
          <a:prstGeom prst="roundRect">
            <a:avLst>
              <a:gd name="adj" fmla="val 2372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366CF28-1B6D-49C3-946A-65C3FD0C8631}"/>
              </a:ext>
            </a:extLst>
          </p:cNvPr>
          <p:cNvSpPr>
            <a:spLocks noGrp="1"/>
          </p:cNvSpPr>
          <p:nvPr/>
        </p:nvSpPr>
        <p:spPr>
          <a:xfrm>
            <a:off x="7534656" y="1536192"/>
            <a:ext cx="4096512" cy="2834640"/>
          </a:xfrm>
          <a:prstGeom prst="rect">
            <a:avLst/>
          </a:prstGeom>
          <a:ln w="15875">
            <a:solidFill>
              <a:srgbClr val="C89C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31A629E-B7E5-4A9F-8D0C-CEFC366EAB2E}"/>
              </a:ext>
            </a:extLst>
          </p:cNvPr>
          <p:cNvSpPr>
            <a:spLocks noGrp="1"/>
          </p:cNvSpPr>
          <p:nvPr/>
        </p:nvSpPr>
        <p:spPr>
          <a:xfrm>
            <a:off x="7534656" y="4526280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B99B33F-CA18-49F8-8EC9-D0A44AF63E2D}"/>
              </a:ext>
            </a:extLst>
          </p:cNvPr>
          <p:cNvSpPr>
            <a:spLocks noGrp="1"/>
          </p:cNvSpPr>
          <p:nvPr/>
        </p:nvSpPr>
        <p:spPr>
          <a:xfrm>
            <a:off x="7717536" y="458114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5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SKU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254B401-36F1-4B46-897A-3CB2BDEB1BA4}"/>
              </a:ext>
            </a:extLst>
          </p:cNvPr>
          <p:cNvSpPr>
            <a:spLocks noGrp="1"/>
          </p:cNvSpPr>
          <p:nvPr/>
        </p:nvSpPr>
        <p:spPr>
          <a:xfrm>
            <a:off x="9098280" y="45811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позицій у лінійці</a:t>
            </a:r>
            <a:endParaRPr sz="10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6DB6DF8-9EDE-4700-B934-B2C5D27FD37C}"/>
              </a:ext>
            </a:extLst>
          </p:cNvPr>
          <p:cNvSpPr>
            <a:spLocks noGrp="1"/>
          </p:cNvSpPr>
          <p:nvPr/>
        </p:nvSpPr>
        <p:spPr>
          <a:xfrm>
            <a:off x="7534656" y="5093208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0BEDDE1-3BA8-41C7-A18B-3458416DEE72}"/>
              </a:ext>
            </a:extLst>
          </p:cNvPr>
          <p:cNvSpPr>
            <a:spLocks noGrp="1"/>
          </p:cNvSpPr>
          <p:nvPr/>
        </p:nvSpPr>
        <p:spPr>
          <a:xfrm>
            <a:off x="7717536" y="514807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150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г</a:t>
            </a:r>
            <a:endParaRPr sz="19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18C4906-3F42-4BCF-AD90-A44D05606B4C}"/>
              </a:ext>
            </a:extLst>
          </p:cNvPr>
          <p:cNvSpPr>
            <a:spLocks noGrp="1"/>
          </p:cNvSpPr>
          <p:nvPr/>
        </p:nvSpPr>
        <p:spPr>
          <a:xfrm>
            <a:off x="9098280" y="51480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нетто в чашці</a:t>
            </a:r>
            <a:endParaRPr sz="10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F74166D-A4F2-4F13-9CD5-9980A3D4D94F}"/>
              </a:ext>
            </a:extLst>
          </p:cNvPr>
          <p:cNvSpPr>
            <a:spLocks noGrp="1"/>
          </p:cNvSpPr>
          <p:nvPr/>
        </p:nvSpPr>
        <p:spPr>
          <a:xfrm>
            <a:off x="7534656" y="5660136"/>
            <a:ext cx="4096512" cy="484632"/>
          </a:xfrm>
          <a:prstGeom prst="roundRect">
            <a:avLst>
              <a:gd name="adj" fmla="val 15094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61A9ED7-0551-4B4E-B905-410FED97DEDE}"/>
              </a:ext>
            </a:extLst>
          </p:cNvPr>
          <p:cNvSpPr>
            <a:spLocks noGrp="1"/>
          </p:cNvSpPr>
          <p:nvPr/>
        </p:nvSpPr>
        <p:spPr>
          <a:xfrm>
            <a:off x="7717536" y="57150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900" b="1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12</a:t>
            </a:r>
            <a:r>
              <a:rPr sz="1100">
                <a:solidFill>
                  <a:srgbClr val="F5CE76"/>
                </a:solidFill>
                <a:latin typeface="Cambria"/>
                <a:ea typeface="Cambria"/>
                <a:cs typeface="Cambria"/>
              </a:rPr>
              <a:t> шт.</a:t>
            </a:r>
            <a:endParaRPr sz="19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99E232B-CE92-4C25-B546-D18CAEAE1AAC}"/>
              </a:ext>
            </a:extLst>
          </p:cNvPr>
          <p:cNvSpPr>
            <a:spLocks noGrp="1"/>
          </p:cNvSpPr>
          <p:nvPr/>
        </p:nvSpPr>
        <p:spPr>
          <a:xfrm>
            <a:off x="9098280" y="5715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5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у коробі, sleeve-бокс</a:t>
            </a:r>
            <a:endParaRPr sz="105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36F47F1-10DF-4B38-8365-3317E620F8C6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C3D7BF"/>
                </a:solidFill>
                <a:latin typeface="Calibri"/>
                <a:ea typeface="Calibri"/>
                <a:cs typeface="Calibri"/>
              </a:rPr>
              <a:t>Джерело: Cup-Photo of Products.pdf. Фото — офіційні знімки упаковки від BSCM Foods; ракурси відповідають оригінальному прайс-каталогу.</a:t>
            </a:r>
            <a:endParaRPr sz="9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7E2050-9F89-4CF2-8200-057440EE0702}"/>
              </a:ext>
            </a:extLst>
          </p:cNvPr>
          <p:cNvSpPr>
            <a:spLocks noGrp="1"/>
          </p:cNvSpPr>
          <p:nvPr/>
        </p:nvSpPr>
        <p:spPr>
          <a:xfrm>
            <a:off x="841248" y="1783080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Thai Jasmine Rice</a:t>
            </a:r>
          </a:p>
        </p:txBody>
      </p:sp>
      <p:pic>
        <p:nvPicPr>
          <p:cNvPr id="90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1783080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91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783080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92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1783080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FE6B9E-0FB3-4922-AF3D-A4F8DDC7D1F2}"/>
              </a:ext>
            </a:extLst>
          </p:cNvPr>
          <p:cNvSpPr>
            <a:spLocks noGrp="1"/>
          </p:cNvSpPr>
          <p:nvPr/>
        </p:nvSpPr>
        <p:spPr>
          <a:xfrm>
            <a:off x="841248" y="2642616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Thai Brown Jasmine Rice</a:t>
            </a:r>
          </a:p>
        </p:txBody>
      </p:sp>
      <p:pic>
        <p:nvPicPr>
          <p:cNvPr id="94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642616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95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112" y="2642616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96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0136" y="2642616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F62E096-7B61-4D3A-B947-80BCA2AABE84}"/>
              </a:ext>
            </a:extLst>
          </p:cNvPr>
          <p:cNvSpPr>
            <a:spLocks noGrp="1"/>
          </p:cNvSpPr>
          <p:nvPr/>
        </p:nvSpPr>
        <p:spPr>
          <a:xfrm>
            <a:off x="841248" y="3502152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Thai Red Jasmine Rice</a:t>
            </a:r>
          </a:p>
        </p:txBody>
      </p:sp>
      <p:pic>
        <p:nvPicPr>
          <p:cNvPr id="98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0088" y="3502152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99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5112" y="3502152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0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0136" y="3502152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AC89C67-252F-4CAD-904D-59AF8AF19A13}"/>
              </a:ext>
            </a:extLst>
          </p:cNvPr>
          <p:cNvSpPr>
            <a:spLocks noGrp="1"/>
          </p:cNvSpPr>
          <p:nvPr/>
        </p:nvSpPr>
        <p:spPr>
          <a:xfrm>
            <a:off x="841248" y="4361688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Rice Berry</a:t>
            </a:r>
          </a:p>
        </p:txBody>
      </p:sp>
      <p:pic>
        <p:nvPicPr>
          <p:cNvPr id="102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0088" y="4361688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3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5112" y="4361688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4" name="Pictur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0136" y="4361688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FD0070C-BC6F-4CA1-A9D3-3184325616D1}"/>
              </a:ext>
            </a:extLst>
          </p:cNvPr>
          <p:cNvSpPr>
            <a:spLocks noGrp="1"/>
          </p:cNvSpPr>
          <p:nvPr/>
        </p:nvSpPr>
        <p:spPr>
          <a:xfrm>
            <a:off x="841248" y="5221224"/>
            <a:ext cx="201168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Brown Jasmine Rice with Red Quinoa</a:t>
            </a:r>
          </a:p>
        </p:txBody>
      </p:sp>
      <p:pic>
        <p:nvPicPr>
          <p:cNvPr id="106" name="Pictur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0088" y="5221224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7" name="Picture 5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25112" y="5221224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8" name="Picture 5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60136" y="5221224"/>
            <a:ext cx="1225296" cy="740664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09" name="Picture 5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4656" y="1686581"/>
            <a:ext cx="1979676" cy="1198351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10" name="Picture 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51492" y="1686581"/>
            <a:ext cx="1979676" cy="1198351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11" name="Picture 5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34656" y="3022092"/>
            <a:ext cx="1979676" cy="1198351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112" name="Picture 6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51492" y="3022092"/>
            <a:ext cx="1979676" cy="1198351"/>
          </a:xfrm>
          <a:prstGeom prst="roundRect">
            <a:avLst/>
          </a:prstGeom>
          <a:ln w="9525">
            <a:solidFill>
              <a:srgbClr val="C89C40"/>
            </a:solidFill>
          </a:ln>
        </p:spPr>
      </p:pic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049000" cy="2381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1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100" b="1" i="0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DOUBLE CUP  ·  PRIVATE LABEL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1049000" cy="552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 Cup — формат під нашу марку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Готовий рис у пластикових стаканчиках · Private Label · приклад — мережа супермаркетів SPAR</a:t>
            </a:r>
            <a:endParaRPr sz="12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B6272E-A3D6-4F20-AF34-CF17DAB68835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4953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ПРИКЛАД ГОТОВОГО ПРОДУКТУ  ·  SPAR</a:t>
            </a:r>
            <a:endParaRPr sz="1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0D0EC9-3F48-4B23-B62F-2DC20F4CB1E3}"/>
              </a:ext>
            </a:extLst>
          </p:cNvPr>
          <p:cNvSpPr>
            <a:spLocks noGrp="1"/>
          </p:cNvSpPr>
          <p:nvPr/>
        </p:nvSpPr>
        <p:spPr>
          <a:xfrm>
            <a:off x="6191250" y="1743075"/>
            <a:ext cx="542925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СПОЖИВЧА УПАКОВКА</a:t>
            </a:r>
            <a:endParaRPr sz="1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ACD5D8-D338-4EA5-B23F-C319A9D0F23D}"/>
              </a:ext>
            </a:extLst>
          </p:cNvPr>
          <p:cNvSpPr>
            <a:spLocks noGrp="1"/>
          </p:cNvSpPr>
          <p:nvPr/>
        </p:nvSpPr>
        <p:spPr>
          <a:xfrm>
            <a:off x="6143625" y="2238375"/>
            <a:ext cx="5476875" cy="8096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4800" b="1" i="0">
                <a:solidFill>
                  <a:srgbClr val="F5CE76"/>
                </a:solidFill>
                <a:latin typeface="Calibri"/>
                <a:ea typeface="Calibri"/>
                <a:cs typeface="Calibri"/>
              </a:defRPr>
            </a:pPr>
            <a:r>
              <a:rPr sz="4800" b="1" i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2 × 125 г</a:t>
            </a:r>
            <a:endParaRPr sz="10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17E25C-EAC6-44DA-BED1-8DA3C384AB1F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5429250" cy="36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Два стаканчики у sleeve-боксі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C70C4-0C92-435A-9487-D75013A4A699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429250" cy="3143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201168" indent="-201168" algn="l">
              <a:buClr>
                <a:srgbClr val="F5CE76"/>
              </a:buClr>
              <a:buFont typeface="Arial"/>
              <a:buNone/>
              <a:defRPr sz="1725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250 г готового рису</a:t>
            </a:r>
            <a:endParaRPr sz="1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96FC4C-6289-4874-9259-944555FAC5FA}"/>
              </a:ext>
            </a:extLst>
          </p:cNvPr>
          <p:cNvSpPr>
            <a:spLocks noGrp="1"/>
          </p:cNvSpPr>
          <p:nvPr/>
        </p:nvSpPr>
        <p:spPr>
          <a:xfrm>
            <a:off x="6167437" y="4512085"/>
            <a:ext cx="5429250" cy="914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 i="0">
                <a:solidFill>
                  <a:srgbClr val="FCF9F0"/>
                </a:solidFill>
                <a:latin typeface="Calibri"/>
                <a:ea typeface="Calibri"/>
                <a:cs typeface="Calibri"/>
              </a:defRPr>
            </a:pPr>
            <a:r>
              <a:rPr sz="1800" b="1" i="0" dirty="0" err="1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Тільки</a:t>
            </a:r>
            <a:r>
              <a:rPr sz="1800" b="1" i="0" dirty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 Private Label</a:t>
            </a:r>
          </a:p>
          <a:p>
            <a:pPr algn="l">
              <a:buNone/>
              <a:defRPr sz="1800" b="0" i="0">
                <a:solidFill>
                  <a:srgbClr val="FCF9F0"/>
                </a:solidFill>
                <a:latin typeface="Calibri"/>
                <a:ea typeface="Calibri"/>
                <a:cs typeface="Calibri"/>
              </a:defRPr>
            </a:pPr>
            <a:r>
              <a:rPr sz="1500" b="0" i="0" dirty="0" err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Власного</a:t>
            </a:r>
            <a:r>
              <a:rPr sz="1500" b="0" i="0" dirty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бренду</a:t>
            </a:r>
            <a:r>
              <a:rPr sz="1500" b="0" i="0" dirty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цьому</a:t>
            </a:r>
            <a:r>
              <a:rPr sz="1500" b="0" i="0" dirty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форматі</a:t>
            </a:r>
            <a:r>
              <a:rPr sz="1500" b="0" i="0" dirty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немає</a:t>
            </a:r>
            <a:r>
              <a:rPr sz="1500" b="0" i="0" dirty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buNone/>
            </a:pPr>
            <a:r>
              <a:rPr sz="1500" b="0" dirty="0" err="1">
                <a:solidFill>
                  <a:srgbClr val="FCF9F0"/>
                </a:solidFill>
                <a:latin typeface="Calibri"/>
              </a:rPr>
              <a:t>Тільки</a:t>
            </a:r>
            <a:r>
              <a:rPr sz="1500" b="0" dirty="0">
                <a:solidFill>
                  <a:srgbClr val="FCF9F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CF9F0"/>
                </a:solidFill>
                <a:latin typeface="Calibri"/>
              </a:rPr>
              <a:t>під</a:t>
            </a:r>
            <a:r>
              <a:rPr sz="1500" b="0" dirty="0">
                <a:solidFill>
                  <a:srgbClr val="FCF9F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CF9F0"/>
                </a:solidFill>
                <a:latin typeface="Calibri"/>
              </a:rPr>
              <a:t>торговою</a:t>
            </a:r>
            <a:r>
              <a:rPr sz="1500" b="0" dirty="0">
                <a:solidFill>
                  <a:srgbClr val="FCF9F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CF9F0"/>
                </a:solidFill>
                <a:latin typeface="Calibri"/>
              </a:rPr>
              <a:t>маркою</a:t>
            </a:r>
            <a:r>
              <a:rPr sz="1500" b="0" dirty="0">
                <a:solidFill>
                  <a:srgbClr val="FCF9F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CF9F0"/>
                </a:solidFill>
                <a:latin typeface="Calibri"/>
              </a:rPr>
              <a:t>замовника</a:t>
            </a:r>
            <a:r>
              <a:rPr sz="1500" b="0" dirty="0">
                <a:solidFill>
                  <a:srgbClr val="FCF9F0"/>
                </a:solidFill>
                <a:latin typeface="Calibri"/>
              </a:rPr>
              <a:t>.</a:t>
            </a:r>
          </a:p>
        </p:txBody>
      </p:sp>
      <p:pic>
        <p:nvPicPr>
          <p:cNvPr id="76" name="Рисунок 7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2105025"/>
            <a:ext cx="4953000" cy="3714750"/>
          </a:xfrm>
          <a:prstGeom prst="roundRect">
            <a:avLst>
              <a:gd name="adj" fmla="val 3590"/>
            </a:avLst>
          </a:prstGeom>
          <a:ln w="9525">
            <a:solidFill>
              <a:srgbClr val="C89C40"/>
            </a:solidFill>
          </a:ln>
        </p:spPr>
      </p:pic>
      <p:sp>
        <p:nvSpPr>
          <p:cNvPr id="77" name="Rounded Rectangle 76"/>
          <p:cNvSpPr/>
          <p:nvPr/>
        </p:nvSpPr>
        <p:spPr>
          <a:xfrm>
            <a:off x="571500" y="5934456"/>
            <a:ext cx="4953305" cy="722376"/>
          </a:xfrm>
          <a:prstGeom prst="roundRect">
            <a:avLst>
              <a:gd name="adj" fmla="val 8000"/>
            </a:avLst>
          </a:prstGeom>
          <a:solidFill>
            <a:srgbClr val="1A5433">
              <a:alpha val="92000"/>
            </a:srgbClr>
          </a:solidFill>
          <a:ln w="9525">
            <a:solidFill>
              <a:srgbClr val="C89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" y="5934456"/>
            <a:ext cx="1188720" cy="7223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 spc="100">
                <a:solidFill>
                  <a:srgbClr val="F5CE76"/>
                </a:solidFill>
                <a:latin typeface="Calibri"/>
              </a:rPr>
              <a:t>SPAR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6071616"/>
            <a:ext cx="14630" cy="448056"/>
          </a:xfrm>
          <a:prstGeom prst="rect">
            <a:avLst/>
          </a:prstGeom>
          <a:solidFill>
            <a:srgbClr val="C89C4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04288" y="5934456"/>
            <a:ext cx="3108960" cy="7223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CF9F0"/>
                </a:solidFill>
                <a:latin typeface="Calibri"/>
              </a:rPr>
              <a:t>Виготовлено для мережі SPAR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D2E4CE"/>
                </a:solidFill>
                <a:latin typeface="Calibri"/>
              </a:rPr>
              <a:t>реальний кейс Private Label</a:t>
            </a:r>
          </a:p>
        </p:txBody>
      </p:sp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049000" cy="2381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1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100" b="1" i="0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DOUBLE CUP  ·  7 SKU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1049000" cy="552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 Cup — асортимент і собівартість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За споживчу упаковку 2 × 125 г · USD / UAH · 6 упаковок у транспортному коробі</a:t>
            </a:r>
            <a:endParaRPr sz="12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7C41B4-C39E-4BB3-87E3-96451AFDB1CC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11049000" cy="3333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lnSpc>
                <a:spcPts val="1700"/>
              </a:lnSpc>
              <a:buNone/>
              <a:defRPr sz="1500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Джерело: Self_Cost_Rice_Brand..xlsx, аркуш «BSCM(Double cup) - Навалом».</a:t>
            </a:r>
            <a:endParaRPr sz="1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96FC4C-6289-4874-9259-944555FAC5FA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11049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75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* Basmati — за погодженням із постачальником.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1500" y="1885950"/>
            <a:ext cx="11048970" cy="3676620"/>
          </a:xfrm>
          <a:prstGeom prst="roundRect">
            <a:avLst>
              <a:gd name="adj" fmla="val 2000"/>
            </a:avLst>
          </a:prstGeom>
          <a:solidFill>
            <a:srgbClr val="12452B">
              <a:alpha val="90000"/>
            </a:srgbClr>
          </a:solidFill>
          <a:ln w="15875">
            <a:solidFill>
              <a:srgbClr val="C89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1540" y="2123694"/>
            <a:ext cx="3794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b="1" spc="75">
                <a:solidFill>
                  <a:srgbClr val="F5CE76"/>
                </a:solidFill>
                <a:latin typeface="Calibri"/>
              </a:rPr>
              <a:t>READY RICE /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86300" y="2123694"/>
            <a:ext cx="165353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spc="75">
                <a:solidFill>
                  <a:srgbClr val="F5CE76"/>
                </a:solidFill>
                <a:latin typeface="Calibri"/>
              </a:rPr>
              <a:t>20′ FCL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9832" y="2123694"/>
            <a:ext cx="165353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spc="75">
                <a:solidFill>
                  <a:srgbClr val="F5CE76"/>
                </a:solidFill>
                <a:latin typeface="Calibri"/>
              </a:rPr>
              <a:t>40′ FCL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93365" y="2123694"/>
            <a:ext cx="165353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spc="75">
                <a:solidFill>
                  <a:srgbClr val="F5CE76"/>
                </a:solidFill>
                <a:latin typeface="Calibri"/>
              </a:rPr>
              <a:t>LCL 17 М³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897" y="2123694"/>
            <a:ext cx="165353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spc="75">
                <a:solidFill>
                  <a:srgbClr val="F5CE76"/>
                </a:solidFill>
                <a:latin typeface="Calibri"/>
              </a:rPr>
              <a:t>LCL 34 М³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1540" y="2452878"/>
            <a:ext cx="10408890" cy="12802"/>
          </a:xfrm>
          <a:prstGeom prst="rect">
            <a:avLst/>
          </a:prstGeom>
          <a:solidFill>
            <a:srgbClr val="C89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91540" y="2580894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Jasmine Rice · без олії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86300" y="2580894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$1,628 / 73,24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39832" y="2580894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$1,434 / 64,51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93365" y="2580894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$1,633 / 73,51 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46897" y="2580894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$1,499 / 67,44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1540" y="2978109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91540" y="2978109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Jasmine Rice · з олією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86300" y="2978109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$1,628 / 73,24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9832" y="2978109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$1,434 / 64,51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93365" y="2978109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$1,633 / 73,51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897" y="2978109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$1,499 / 67,44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1540" y="3375325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91540" y="3375325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Jasmine Rice (Pathum) · з олією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86300" y="337532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$1,480 / 66,58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39832" y="337532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$1,303 / 58,65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93365" y="337532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$1,485 / 66,82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46897" y="337532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$1,362 / 61,31 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1540" y="3772540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1540" y="3772540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Brown Jasmine Rice · з олією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86300" y="3772540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$1,628 / 73,24 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39832" y="3772540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$1,434 / 64,51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93365" y="3772540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$1,633 / 75,14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46897" y="3772540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$1,499 / 68,94 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1540" y="4169755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91540" y="4169755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Brown Rice · з олією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86300" y="416975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$1,628 / 73,24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39832" y="416975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$1,434 / 64,51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93365" y="416975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$1,633 / 73,51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46897" y="4169755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$1,499 / 67,44 ₴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40" y="4566971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91540" y="4566971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Basmati Rice* · з олією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86300" y="4566971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$1,776 / 79,90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39832" y="4566971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$1,564 / 70,38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93365" y="4566971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$1,782 / 80,19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46897" y="4566971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$1,635 / 73,57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1540" y="4964186"/>
            <a:ext cx="10408890" cy="9144"/>
          </a:xfrm>
          <a:prstGeom prst="rect">
            <a:avLst/>
          </a:prstGeom>
          <a:solidFill>
            <a:srgbClr val="C89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91540" y="4964186"/>
            <a:ext cx="3794760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0">
                <a:solidFill>
                  <a:srgbClr val="FCF9F0"/>
                </a:solidFill>
                <a:latin typeface="Calibri"/>
              </a:rPr>
              <a:t>Long Grain Rice · з олією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86300" y="4964186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$1,391 / 62,59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39832" y="4964186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CE76"/>
                </a:solidFill>
                <a:latin typeface="Calibri"/>
              </a:rPr>
              <a:t>$1,225 / 55,13 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93365" y="4964186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$1,396 / 62,82 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46897" y="4964186"/>
            <a:ext cx="1653532" cy="397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D2E4CE"/>
                </a:solidFill>
                <a:latin typeface="Calibri"/>
              </a:rPr>
              <a:t>$1,281 / 57,63 ₴</a:t>
            </a:r>
          </a:p>
        </p:txBody>
      </p:sp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77CD9A-0EFB-41E4-BB91-158CD8B97E5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9525000" cy="2381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100" b="1" i="0">
                <a:solidFill>
                  <a:srgbClr val="F0AC58"/>
                </a:solidFill>
                <a:latin typeface="Calibri"/>
                <a:ea typeface="Calibri"/>
                <a:cs typeface="Calibri"/>
              </a:defRPr>
            </a:pPr>
            <a:r>
              <a:rPr sz="1100" b="1" i="0" spc="260">
                <a:solidFill>
                  <a:srgbClr val="F0AC58"/>
                </a:solidFill>
                <a:latin typeface="Calibri"/>
                <a:ea typeface="Calibri"/>
                <a:cs typeface="Calibri"/>
              </a:rPr>
              <a:t>BSCM FOODS  ·  DOUBLE CUP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6C762-5C3C-4C5E-AE52-4FCFDC0031FD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1049000" cy="552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31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 Cup — як виглядає упаковка</a:t>
            </a:r>
            <a:endParaRPr sz="3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7A47AF-CA07-4AD7-9441-ED43883C2405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104900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350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Два стаканчики по 125 г у картонній обгортці · виробництво під Private Label</a:t>
            </a:r>
            <a:endParaRPr sz="12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C3D159-6BBB-4F8D-B9ED-F6496F44B44F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1049000" cy="3400425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4288">
            <a:solidFill>
              <a:srgbClr val="C89C40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B99B33F-CA18-49F8-8EC9-D0A44AF63E2D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32385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2 × 125 г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254B401-36F1-4B46-897A-3CB2BDEB1BA4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333375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250 г у споживчій упаковці</a:t>
            </a:r>
            <a:endParaRPr sz="105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0BEDDE1-3BA8-41C7-A18B-3458416DEE72}"/>
              </a:ext>
            </a:extLst>
          </p:cNvPr>
          <p:cNvSpPr>
            <a:spLocks noGrp="1"/>
          </p:cNvSpPr>
          <p:nvPr/>
        </p:nvSpPr>
        <p:spPr>
          <a:xfrm>
            <a:off x="4429125" y="5334000"/>
            <a:ext cx="32385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Sleeve box</a:t>
            </a:r>
            <a:endParaRPr sz="19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18C4906-3F42-4BCF-AD90-A44D05606B4C}"/>
              </a:ext>
            </a:extLst>
          </p:cNvPr>
          <p:cNvSpPr>
            <a:spLocks noGrp="1"/>
          </p:cNvSpPr>
          <p:nvPr/>
        </p:nvSpPr>
        <p:spPr>
          <a:xfrm>
            <a:off x="4429125" y="5829300"/>
            <a:ext cx="333375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Картонна обгортка</a:t>
            </a:r>
            <a:endParaRPr sz="10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61A9ED7-0551-4B4E-B905-410FED97DEDE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352425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5CE76"/>
                </a:solidFill>
                <a:latin typeface="Calibri"/>
                <a:ea typeface="Calibri"/>
                <a:cs typeface="Calibri"/>
              </a:rPr>
              <a:t>Private Label</a:t>
            </a:r>
            <a:endParaRPr sz="19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99E232B-CE92-4C25-B546-D18CAEAE1AAC}"/>
              </a:ext>
            </a:extLst>
          </p:cNvPr>
          <p:cNvSpPr>
            <a:spLocks noGrp="1"/>
          </p:cNvSpPr>
          <p:nvPr/>
        </p:nvSpPr>
        <p:spPr>
          <a:xfrm>
            <a:off x="8096250" y="5829300"/>
            <a:ext cx="3524250" cy="2857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l">
              <a:buNone/>
              <a:def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FCF9F0"/>
                </a:solidFill>
                <a:latin typeface="Calibri"/>
                <a:ea typeface="Calibri"/>
                <a:cs typeface="Calibri"/>
              </a:rPr>
              <a:t>Друк дизайну замовника</a:t>
            </a:r>
            <a:endParaRPr sz="1050"/>
          </a:p>
        </p:txBody>
      </p:sp>
      <p:pic>
        <p:nvPicPr>
          <p:cNvPr id="51" name="Picture 3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250" y="1905000"/>
            <a:ext cx="3238500" cy="2952750"/>
          </a:xfrm>
          <a:prstGeom prst="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52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29125" y="1971675"/>
            <a:ext cx="3143250" cy="2809875"/>
          </a:xfrm>
          <a:prstGeom prst="rect">
            <a:avLst/>
          </a:prstGeom>
          <a:ln w="9525">
            <a:solidFill>
              <a:srgbClr val="C89C40"/>
            </a:solidFill>
          </a:ln>
        </p:spPr>
      </p:pic>
      <p:pic>
        <p:nvPicPr>
          <p:cNvPr id="53" name="Picture 3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096250" y="2038350"/>
            <a:ext cx="3190875" cy="2667000"/>
          </a:xfrm>
          <a:prstGeom prst="rect">
            <a:avLst/>
          </a:prstGeom>
          <a:ln w="9525">
            <a:solidFill>
              <a:srgbClr val="C89C4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BD72AA7-C24E-4F22-8E79-8984695C9224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D2E4CE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D2E4CE"/>
                </a:solidFill>
                <a:latin typeface="Calibri"/>
                <a:ea typeface="Calibri"/>
                <a:cs typeface="Calibri"/>
              </a:rPr>
              <a:t>Фото постачальника: Double Cup без друку — основа для дизайну нашої торгової марки.</a:t>
            </a:r>
          </a:p>
        </p:txBody>
      </p:sp>
    </p:spTree>
    <p:extLst>
      <p:ext uri="{BB962C8B-B14F-4D97-AF65-F5344CB8AC3E}">
        <p14:creationId xmlns:p14="http://schemas.microsoft.com/office/powerpoint/2010/main" val="5980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Microsoft Office PowerPoint</Application>
  <DocSecurity>0</DocSecurity>
  <PresentationFormat>Широкий екран</PresentationFormat>
  <Paragraphs>445</Paragraphs>
  <Slides>13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Чаплигін lлля</cp:lastModifiedBy>
  <cp:revision>1</cp:revision>
  <dcterms:created xsi:type="dcterms:W3CDTF">2026-09-05T17:09:19Z</dcterms:created>
  <dcterms:modified xsi:type="dcterms:W3CDTF">2026-09-07T16:33:47Z</dcterms:modified>
</cp:coreProperties>
</file>