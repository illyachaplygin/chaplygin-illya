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4.jpg" ContentType="image/jpg"/>
  <Override PartName="/ppt/media/image5.jpg" ContentType="image/jpg"/>
  <Override PartName="/ppt/media/image6.jpg" ContentType="image/jpg"/>
  <Override PartName="/ppt/media/image7.jpg" ContentType="image/jpg"/>
  <Override PartName="/ppt/media/image8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8" r:id="rId4"/>
    <p:sldId id="259" r:id="rId5"/>
    <p:sldId id="261" r:id="rId6"/>
    <p:sldId id="262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74767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9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eg"/><Relationship Id="rId4" Type="http://schemas.openxmlformats.org/officeDocument/2006/relationships/image" Target="../media/image1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eg"/><Relationship Id="rId4" Type="http://schemas.openxmlformats.org/officeDocument/2006/relationships/image" Target="../media/image11.jpg"/><Relationship Id="rId5" Type="http://schemas.openxmlformats.org/officeDocument/2006/relationships/image" Target="../media/image12.jpg"/><Relationship Id="rId6" Type="http://schemas.openxmlformats.org/officeDocument/2006/relationships/image" Target="../media/image13.jpg"/><Relationship Id="rId7" Type="http://schemas.openxmlformats.org/officeDocument/2006/relationships/image" Target="../media/image1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eg"/><Relationship Id="rId4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e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417320"/>
            <a:ext cx="5852160" cy="4023360"/>
          </a:xfrm>
          <a:prstGeom prst="roundRect">
            <a:avLst>
              <a:gd name="adj" fmla="val 3636"/>
            </a:avLst>
          </a:prstGeom>
          <a:solidFill>
            <a:srgbClr val="0A2214">
              <a:alpha val="92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" name="Text 1"/>
          <p:cNvSpPr/>
          <p:nvPr/>
        </p:nvSpPr>
        <p:spPr>
          <a:xfrm>
            <a:off x="1143000" y="227685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kern="0" spc="150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READY-TO-EAT RICE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43000" y="3099816"/>
            <a:ext cx="2011680" cy="0"/>
          </a:xfrm>
          <a:prstGeom prst="line">
            <a:avLst/>
          </a:prstGeom>
          <a:noFill/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2098548" y="3054096"/>
            <a:ext cx="100584" cy="100584"/>
          </a:xfrm>
          <a:prstGeom prst="diamond">
            <a:avLst/>
          </a:prstGeom>
          <a:solidFill>
            <a:srgbClr val="E0B252"/>
          </a:solidFill>
          <a:ln w="6350">
            <a:solidFill>
              <a:srgbClr val="E0B252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1143000" y="328269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Постачальники та собівартість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43000" y="3831336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BSCM Foods Co., Ltd.</a:t>
            </a:r>
            <a:r>
              <a:rPr lang="en-US" sz="1200" dirty="0">
                <a:solidFill>
                  <a:srgbClr val="A87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Premium Rice Co., Ltd.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143000" y="428853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Таїланд · FOB Bangkok · завантаження навалом</a:t>
            </a:r>
            <a:endParaRPr lang="en-US" sz="1150" dirty="0"/>
          </a:p>
        </p:txBody>
      </p:sp>
      <p:pic>
        <p:nvPicPr>
          <p:cNvPr id="9" name="Picture 8" descr="hero_ric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417320"/>
            <a:ext cx="4599432" cy="4023360"/>
          </a:xfrm>
          <a:prstGeom prst="roundRect">
            <a:avLst/>
          </a:prstGeom>
          <a:ln w="15875">
            <a:solidFill>
              <a:srgbClr val="A87C2A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D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BSCM Foods — профіль компанії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Тайський виробник готових страв за ретортною технологією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 компанію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BSCM Foods Co., Ltd. — виробник готової до споживання їжі з Бангкока. Портфель поділений на чотири напрями: Ready Rice, Ready Meal, Ready Dessert та Ready Drink. Рис випускається у трьох форматах — пауч, стакан і лоток.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параметри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Локація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Бангкок (Bangsue), Таїланд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Bangsue Chia Meng Rice Mill, з 1937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RTE-виробництво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завод BSCM Foods, з 2009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Технологія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ретортна стерилізація, без консервантів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 придатності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місяців за кімнатної температури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Розігрів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мікрохвильова піч, 60–90 сек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 в офері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6 шт у коробі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Сертифікація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 · HACCP · ISO 22000 · GMP · Organic</a:t>
            </a:r>
            <a:endParaRPr lang="en-US" sz="1150" dirty="0"/>
          </a:p>
        </p:txBody>
      </p:sp>
      <p:pic>
        <p:nvPicPr>
          <p:cNvPr id="35" name="Picture 34" descr="bscm_facili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656" y="1536192"/>
            <a:ext cx="4096512" cy="2834640"/>
          </a:xfrm>
          <a:prstGeom prst="round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Shape 22"/>
          <p:cNvSpPr/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6" name="Text 23"/>
          <p:cNvSpPr/>
          <p:nvPr/>
        </p:nvSpPr>
        <p:spPr>
          <a:xfrm>
            <a:off x="7717536" y="458114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r>
              <a:rPr lang="en-US" sz="1100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міс</a:t>
            </a:r>
            <a:endParaRPr lang="en-US" sz="1900" dirty="0"/>
          </a:p>
        </p:txBody>
      </p:sp>
      <p:sp>
        <p:nvSpPr>
          <p:cNvPr id="27" name="Text 24"/>
          <p:cNvSpPr/>
          <p:nvPr/>
        </p:nvSpPr>
        <p:spPr>
          <a:xfrm>
            <a:off x="9098280" y="458114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 придатності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9" name="Text 26"/>
          <p:cNvSpPr/>
          <p:nvPr/>
        </p:nvSpPr>
        <p:spPr>
          <a:xfrm>
            <a:off x="7717536" y="514807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</a:t>
            </a:r>
            <a:r>
              <a:rPr lang="en-US" sz="1100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сек</a:t>
            </a:r>
            <a:endParaRPr lang="en-US" sz="1900" dirty="0"/>
          </a:p>
        </p:txBody>
      </p:sp>
      <p:sp>
        <p:nvSpPr>
          <p:cNvPr id="30" name="Text 27"/>
          <p:cNvSpPr/>
          <p:nvPr/>
        </p:nvSpPr>
        <p:spPr>
          <a:xfrm>
            <a:off x="9098280" y="51480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розігрів у мікрохвильовці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2" name="Text 29"/>
          <p:cNvSpPr/>
          <p:nvPr/>
        </p:nvSpPr>
        <p:spPr>
          <a:xfrm>
            <a:off x="7717536" y="57150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60+</a:t>
            </a:r>
            <a:r>
              <a:rPr lang="en-US" sz="1100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країн</a:t>
            </a:r>
            <a:endParaRPr lang="en-US" sz="1900" dirty="0"/>
          </a:p>
        </p:txBody>
      </p:sp>
      <p:sp>
        <p:nvSpPr>
          <p:cNvPr id="33" name="Text 30"/>
          <p:cNvSpPr/>
          <p:nvPr/>
        </p:nvSpPr>
        <p:spPr>
          <a:xfrm>
            <a:off x="9098280" y="5715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країн експорту групи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2D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каталог продукції BSCM Foods, комерційна пропозиція постачальника та корпоративний сайт групи BSCM (bscm.co.th); сертифікати — за каталогом.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D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 1  ·  BSCM FOODS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Rice 6 × 240 г — собівартість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Завантаження навалом, FOB Bangkok · курс 45,00 UAH/USD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74" name="Picture 73" descr="sku_bscm_jasmin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Shape 5"/>
          <p:cNvSpPr/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8A5A20"/>
          </a:solidFill>
          <a:ln w="635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9" name="Text 6"/>
          <p:cNvSpPr/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RETORT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 Rice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$0,583 · базовий SKU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6391F">
              <a:alpha val="92000"/>
            </a:srgbClr>
          </a:solidFill>
          <a:ln w="952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0"/>
          <p:cNvSpPr/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$0,995 / 44,79 ₴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$0,892 / 40,15 ₴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$1,001 / 45,03 ₴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$0,928 / 41,77 ₴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75" name="Picture 74" descr="sku_bscm_mexic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Shape 21"/>
          <p:cNvSpPr/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8A5A20"/>
          </a:solidFill>
          <a:ln w="635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6" name="Text 22"/>
          <p:cNvSpPr/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RETORT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Mexican Rice</a:t>
            </a:r>
            <a:endParaRPr lang="en-US" sz="1450" dirty="0"/>
          </a:p>
        </p:txBody>
      </p:sp>
      <p:sp>
        <p:nvSpPr>
          <p:cNvPr id="28" name="Text 24"/>
          <p:cNvSpPr/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смаковий SKU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6391F">
              <a:alpha val="92000"/>
            </a:srgbClr>
          </a:solidFill>
          <a:ln w="952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0" name="Text 26"/>
          <p:cNvSpPr/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$1,138 / 51,19 ₴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$1,020 / 45,89 ₴</a:t>
            </a:r>
            <a:endParaRPr lang="en-US" sz="950" dirty="0"/>
          </a:p>
        </p:txBody>
      </p:sp>
      <p:sp>
        <p:nvSpPr>
          <p:cNvPr id="35" name="Text 31"/>
          <p:cNvSpPr/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$1,144 / 51,46 ₴</a:t>
            </a:r>
            <a:endParaRPr lang="en-US" sz="950" dirty="0"/>
          </a:p>
        </p:txBody>
      </p:sp>
      <p:sp>
        <p:nvSpPr>
          <p:cNvPr id="37" name="Text 33"/>
          <p:cNvSpPr/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$1,061 / 47,74 ₴</a:t>
            </a:r>
            <a:endParaRPr lang="en-US" sz="950" dirty="0"/>
          </a:p>
        </p:txBody>
      </p:sp>
      <p:sp>
        <p:nvSpPr>
          <p:cNvPr id="39" name="Shape 35"/>
          <p:cNvSpPr/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76" name="Picture 75" descr="sku_bscm_japanes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/>
          <p:cNvSpPr/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2" name="Shape 37"/>
          <p:cNvSpPr/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8A5A20"/>
          </a:solidFill>
          <a:ln w="635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3" name="Text 38"/>
          <p:cNvSpPr/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RETORT</a:t>
            </a:r>
            <a:endParaRPr lang="en-US" sz="850" dirty="0"/>
          </a:p>
        </p:txBody>
      </p:sp>
      <p:sp>
        <p:nvSpPr>
          <p:cNvPr id="44" name="Text 39"/>
          <p:cNvSpPr/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Japanese Style Rice</a:t>
            </a:r>
            <a:endParaRPr lang="en-US" sz="1450" dirty="0"/>
          </a:p>
        </p:txBody>
      </p:sp>
      <p:sp>
        <p:nvSpPr>
          <p:cNvPr id="45" name="Text 40"/>
          <p:cNvSpPr/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смаковий SKU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6391F">
              <a:alpha val="92000"/>
            </a:srgbClr>
          </a:solidFill>
          <a:ln w="952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7" name="Text 42"/>
          <p:cNvSpPr/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48" name="Text 43"/>
          <p:cNvSpPr/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49" name="Text 44"/>
          <p:cNvSpPr/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$1,138 / 51,19 ₴</a:t>
            </a:r>
            <a:endParaRPr lang="en-US" sz="950" dirty="0"/>
          </a:p>
        </p:txBody>
      </p:sp>
      <p:sp>
        <p:nvSpPr>
          <p:cNvPr id="50" name="Text 45"/>
          <p:cNvSpPr/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51" name="Text 46"/>
          <p:cNvSpPr/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$1,020 / 45,89 ₴</a:t>
            </a:r>
            <a:endParaRPr lang="en-US" sz="950" dirty="0"/>
          </a:p>
        </p:txBody>
      </p:sp>
      <p:sp>
        <p:nvSpPr>
          <p:cNvPr id="52" name="Text 47"/>
          <p:cNvSpPr/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53" name="Text 48"/>
          <p:cNvSpPr/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$1,144 / 51,46 ₴</a:t>
            </a:r>
            <a:endParaRPr lang="en-US" sz="950" dirty="0"/>
          </a:p>
        </p:txBody>
      </p:sp>
      <p:sp>
        <p:nvSpPr>
          <p:cNvPr id="54" name="Text 49"/>
          <p:cNvSpPr/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55" name="Text 50"/>
          <p:cNvSpPr/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$1,061 / 47,74 ₴</a:t>
            </a:r>
            <a:endParaRPr lang="en-US" sz="950" dirty="0"/>
          </a:p>
        </p:txBody>
      </p:sp>
      <p:sp>
        <p:nvSpPr>
          <p:cNvPr id="56" name="Shape 51"/>
          <p:cNvSpPr/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77" name="Picture 76" descr="sku_bscm_hotspicy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/>
          <p:cNvSpPr/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9" name="Shape 53"/>
          <p:cNvSpPr/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8A5A20"/>
          </a:solidFill>
          <a:ln w="635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0" name="Text 54"/>
          <p:cNvSpPr/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RETORT</a:t>
            </a:r>
            <a:endParaRPr lang="en-US" sz="850" dirty="0"/>
          </a:p>
        </p:txBody>
      </p:sp>
      <p:sp>
        <p:nvSpPr>
          <p:cNvPr id="61" name="Text 55"/>
          <p:cNvSpPr/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Hot and Spicy Rice</a:t>
            </a:r>
            <a:endParaRPr lang="en-US" sz="1450" dirty="0"/>
          </a:p>
        </p:txBody>
      </p:sp>
      <p:sp>
        <p:nvSpPr>
          <p:cNvPr id="62" name="Text 56"/>
          <p:cNvSpPr/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$0,750 · смаковий SKU</a:t>
            </a:r>
            <a:endParaRPr lang="en-US" sz="1000" dirty="0"/>
          </a:p>
        </p:txBody>
      </p:sp>
      <p:sp>
        <p:nvSpPr>
          <p:cNvPr id="63" name="Shape 57"/>
          <p:cNvSpPr/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6391F">
              <a:alpha val="92000"/>
            </a:srgbClr>
          </a:solidFill>
          <a:ln w="952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4" name="Text 58"/>
          <p:cNvSpPr/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65" name="Text 59"/>
          <p:cNvSpPr/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66" name="Text 60"/>
          <p:cNvSpPr/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$1,280 / 57,59 ₴</a:t>
            </a:r>
            <a:endParaRPr lang="en-US" sz="950" dirty="0"/>
          </a:p>
        </p:txBody>
      </p:sp>
      <p:sp>
        <p:nvSpPr>
          <p:cNvPr id="67" name="Text 61"/>
          <p:cNvSpPr/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68" name="Text 62"/>
          <p:cNvSpPr/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$1,147 / 51,63 ₴</a:t>
            </a:r>
            <a:endParaRPr lang="en-US" sz="950" dirty="0"/>
          </a:p>
        </p:txBody>
      </p:sp>
      <p:sp>
        <p:nvSpPr>
          <p:cNvPr id="69" name="Text 63"/>
          <p:cNvSpPr/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70" name="Text 64"/>
          <p:cNvSpPr/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$1,287 / 57,89 ₴</a:t>
            </a:r>
            <a:endParaRPr lang="en-US" sz="950" dirty="0"/>
          </a:p>
        </p:txBody>
      </p:sp>
      <p:sp>
        <p:nvSpPr>
          <p:cNvPr id="71" name="Text 65"/>
          <p:cNvSpPr/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72" name="Text 66"/>
          <p:cNvSpPr/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$1,193 / 53,70 ₴</a:t>
            </a:r>
            <a:endParaRPr lang="en-US" sz="950" dirty="0"/>
          </a:p>
        </p:txBody>
      </p:sp>
      <p:sp>
        <p:nvSpPr>
          <p:cNvPr id="73" name="Text 67"/>
          <p:cNvSpPr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2D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упаковки — з каталогу BSCM Foods; для Japanese Style Rice постачальник фото не надав. Собівартість: мито 10%, ПДВ 20%, транспорт, кредитні гроші 2,5%.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6F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 Premium Rice — профіль компанії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Виробник органічного рису та готових страв, бренди Q Rice · Golden Phoenix · Chefrey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 компанію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Premium Rice Co., Ltd. — тайський переробник рису з власними елеваторами та лінією фасування у Nakhon Ratchasima. Працює під брендами Q Rice, Golden Phoenix і Chefrey; 99% сировини — тайського походження.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параметри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Локація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офіс Nonthaburi · завод Nakhon Ratchasima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Заснована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липня 2016 · капітал 50 млн THB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Досвід групи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понад 30 років у рисовому виробництві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Потужність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120 000 тонн на рік · 10 000 т/міс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Сировина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99% Таїланд · 30+ партнерських рисозаводів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Експорт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понад 20 країн світу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 в офері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24 шт у коробі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Сертифікація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 · HACCP · ISO 9001 · Halal · Organic</a:t>
            </a:r>
            <a:endParaRPr lang="en-US" sz="1150" dirty="0"/>
          </a:p>
        </p:txBody>
      </p:sp>
      <p:pic>
        <p:nvPicPr>
          <p:cNvPr id="23" name="Image 0" descr="assets/cmp_sil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34656" y="1536192"/>
            <a:ext cx="4096512" cy="2834640"/>
          </a:xfrm>
          <a:prstGeom prst="round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Shape 22"/>
          <p:cNvSpPr/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6" name="Text 23"/>
          <p:cNvSpPr/>
          <p:nvPr/>
        </p:nvSpPr>
        <p:spPr>
          <a:xfrm>
            <a:off x="7717536" y="458114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2016</a:t>
            </a:r>
            <a:endParaRPr lang="en-US" sz="1900" dirty="0"/>
          </a:p>
        </p:txBody>
      </p:sp>
      <p:sp>
        <p:nvSpPr>
          <p:cNvPr id="27" name="Text 24"/>
          <p:cNvSpPr/>
          <p:nvPr/>
        </p:nvSpPr>
        <p:spPr>
          <a:xfrm>
            <a:off x="9418320" y="4581144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рік початку роботи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9" name="Text 26"/>
          <p:cNvSpPr/>
          <p:nvPr/>
        </p:nvSpPr>
        <p:spPr>
          <a:xfrm>
            <a:off x="7717536" y="51480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120 000</a:t>
            </a:r>
            <a:r>
              <a:rPr lang="en-US" sz="1100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т/рік</a:t>
            </a:r>
            <a:endParaRPr lang="en-US" sz="1900" dirty="0"/>
          </a:p>
        </p:txBody>
      </p:sp>
      <p:sp>
        <p:nvSpPr>
          <p:cNvPr id="30" name="Text 27"/>
          <p:cNvSpPr/>
          <p:nvPr/>
        </p:nvSpPr>
        <p:spPr>
          <a:xfrm>
            <a:off x="9418320" y="51480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виробнича потужність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2" name="Text 29"/>
          <p:cNvSpPr/>
          <p:nvPr/>
        </p:nvSpPr>
        <p:spPr>
          <a:xfrm>
            <a:off x="7717536" y="5715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</a:t>
            </a:r>
            <a:r>
              <a:rPr lang="en-US" sz="1100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%</a:t>
            </a:r>
            <a:endParaRPr lang="en-US" sz="1900" dirty="0"/>
          </a:p>
        </p:txBody>
      </p:sp>
      <p:sp>
        <p:nvSpPr>
          <p:cNvPr id="33" name="Text 30"/>
          <p:cNvSpPr/>
          <p:nvPr/>
        </p:nvSpPr>
        <p:spPr>
          <a:xfrm>
            <a:off x="9418320" y="57150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сировини з Таїланду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2D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корпоративна презентація CM Premium Rice Co., Ltd., сайт cmp-rice.com та прайс-лист Chefrey.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6F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 2  ·  CHEFREY / CM PREMIUM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Chefrey Organic RTE 6 × 250 г — собівартість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Завантаження навалом, FOB Bangkok · курс 45,00 UAH/USD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6" name="Image 0" descr="assets/prod_turmeric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Shape 5"/>
          <p:cNvSpPr/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2E6B3A"/>
          </a:solidFill>
          <a:ln w="635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9" name="Text 6"/>
          <p:cNvSpPr/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ORGANIC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Turmeric Basmati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Cumin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Mixed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6391F">
              <a:alpha val="92000"/>
            </a:srgbClr>
          </a:solidFill>
          <a:ln w="952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0"/>
          <p:cNvSpPr/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$1,133 / 50,99 ₴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$1,028 / 46,27 ₴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$1,339 / 60,27 ₴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$1,056 / 47,53 ₴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23" name="Image 1" descr="assets/prod_garlic.jp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Shape 21"/>
          <p:cNvSpPr/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2E6B3A"/>
          </a:solidFill>
          <a:ln w="635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6" name="Text 22"/>
          <p:cNvSpPr/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ORGANIC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Garlic Fried Rice</a:t>
            </a:r>
            <a:endParaRPr lang="en-US" sz="1450" dirty="0"/>
          </a:p>
        </p:txBody>
      </p:sp>
      <p:sp>
        <p:nvSpPr>
          <p:cNvPr id="28" name="Text 24"/>
          <p:cNvSpPr/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Mixed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6391F">
              <a:alpha val="92000"/>
            </a:srgbClr>
          </a:solidFill>
          <a:ln w="952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0" name="Text 26"/>
          <p:cNvSpPr/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$1,133 / 50,99 ₴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$1,028 / 46,27 ₴</a:t>
            </a:r>
            <a:endParaRPr lang="en-US" sz="950" dirty="0"/>
          </a:p>
        </p:txBody>
      </p:sp>
      <p:sp>
        <p:nvSpPr>
          <p:cNvPr id="35" name="Text 31"/>
          <p:cNvSpPr/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$1,339 / 60,27 ₴</a:t>
            </a:r>
            <a:endParaRPr lang="en-US" sz="950" dirty="0"/>
          </a:p>
        </p:txBody>
      </p:sp>
      <p:sp>
        <p:nvSpPr>
          <p:cNvPr id="37" name="Text 33"/>
          <p:cNvSpPr/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$1,056 / 47,53 ₴</a:t>
            </a:r>
            <a:endParaRPr lang="en-US" sz="950" dirty="0"/>
          </a:p>
        </p:txBody>
      </p:sp>
      <p:sp>
        <p:nvSpPr>
          <p:cNvPr id="39" name="Shape 35"/>
          <p:cNvSpPr/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40" name="Image 2" descr="assets/prod_cilantro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/>
          <p:cNvSpPr/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2" name="Shape 37"/>
          <p:cNvSpPr/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2E6B3A"/>
          </a:solidFill>
          <a:ln w="635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3" name="Text 38"/>
          <p:cNvSpPr/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ORGANIC</a:t>
            </a:r>
            <a:endParaRPr lang="en-US" sz="850" dirty="0"/>
          </a:p>
        </p:txBody>
      </p:sp>
      <p:sp>
        <p:nvSpPr>
          <p:cNvPr id="44" name="Text 39"/>
          <p:cNvSpPr/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Cilantro Lime Rice</a:t>
            </a:r>
            <a:endParaRPr lang="en-US" sz="1450" dirty="0"/>
          </a:p>
        </p:txBody>
      </p:sp>
      <p:sp>
        <p:nvSpPr>
          <p:cNvPr id="45" name="Text 40"/>
          <p:cNvSpPr/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Mixed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6391F">
              <a:alpha val="92000"/>
            </a:srgbClr>
          </a:solidFill>
          <a:ln w="952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7" name="Text 42"/>
          <p:cNvSpPr/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48" name="Text 43"/>
          <p:cNvSpPr/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49" name="Text 44"/>
          <p:cNvSpPr/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$1,133 / 50,99 ₴</a:t>
            </a:r>
            <a:endParaRPr lang="en-US" sz="950" dirty="0"/>
          </a:p>
        </p:txBody>
      </p:sp>
      <p:sp>
        <p:nvSpPr>
          <p:cNvPr id="50" name="Text 45"/>
          <p:cNvSpPr/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51" name="Text 46"/>
          <p:cNvSpPr/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$1,028 / 46,27 ₴</a:t>
            </a:r>
            <a:endParaRPr lang="en-US" sz="950" dirty="0"/>
          </a:p>
        </p:txBody>
      </p:sp>
      <p:sp>
        <p:nvSpPr>
          <p:cNvPr id="52" name="Text 47"/>
          <p:cNvSpPr/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53" name="Text 48"/>
          <p:cNvSpPr/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$1,339 / 60,27 ₴</a:t>
            </a:r>
            <a:endParaRPr lang="en-US" sz="950" dirty="0"/>
          </a:p>
        </p:txBody>
      </p:sp>
      <p:sp>
        <p:nvSpPr>
          <p:cNvPr id="54" name="Text 49"/>
          <p:cNvSpPr/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55" name="Text 50"/>
          <p:cNvSpPr/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$1,056 / 47,53 ₴</a:t>
            </a:r>
            <a:endParaRPr lang="en-US" sz="950" dirty="0"/>
          </a:p>
        </p:txBody>
      </p:sp>
      <p:sp>
        <p:nvSpPr>
          <p:cNvPr id="56" name="Shape 51"/>
          <p:cNvSpPr/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57" name="Image 3" descr="assets/prod_jasmine.jp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/>
          <p:cNvSpPr/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9" name="Shape 53"/>
          <p:cNvSpPr/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2E6B3A"/>
          </a:solidFill>
          <a:ln w="635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0" name="Text 54"/>
          <p:cNvSpPr/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ORGANIC</a:t>
            </a:r>
            <a:endParaRPr lang="en-US" sz="850" dirty="0"/>
          </a:p>
        </p:txBody>
      </p:sp>
      <p:sp>
        <p:nvSpPr>
          <p:cNvPr id="61" name="Text 55"/>
          <p:cNvSpPr/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 Rice</a:t>
            </a:r>
            <a:endParaRPr lang="en-US" sz="1450" dirty="0"/>
          </a:p>
        </p:txBody>
      </p:sp>
      <p:sp>
        <p:nvSpPr>
          <p:cNvPr id="62" name="Text 56"/>
          <p:cNvSpPr/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$0,583 · Plain</a:t>
            </a:r>
            <a:endParaRPr lang="en-US" sz="1000" dirty="0"/>
          </a:p>
        </p:txBody>
      </p:sp>
      <p:sp>
        <p:nvSpPr>
          <p:cNvPr id="63" name="Shape 57"/>
          <p:cNvSpPr/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6391F">
              <a:alpha val="92000"/>
            </a:srgbClr>
          </a:solidFill>
          <a:ln w="952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4" name="Text 58"/>
          <p:cNvSpPr/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65" name="Text 59"/>
          <p:cNvSpPr/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66" name="Text 60"/>
          <p:cNvSpPr/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$1,020 / 45,91 ₴</a:t>
            </a:r>
            <a:endParaRPr lang="en-US" sz="950" dirty="0"/>
          </a:p>
        </p:txBody>
      </p:sp>
      <p:sp>
        <p:nvSpPr>
          <p:cNvPr id="67" name="Text 61"/>
          <p:cNvSpPr/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68" name="Text 62"/>
          <p:cNvSpPr/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$0,915 / 41,20 ₴</a:t>
            </a:r>
            <a:endParaRPr lang="en-US" sz="950" dirty="0"/>
          </a:p>
        </p:txBody>
      </p:sp>
      <p:sp>
        <p:nvSpPr>
          <p:cNvPr id="69" name="Text 63"/>
          <p:cNvSpPr/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70" name="Text 64"/>
          <p:cNvSpPr/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$1,215 / 54,68 ₴</a:t>
            </a:r>
            <a:endParaRPr lang="en-US" sz="950" dirty="0"/>
          </a:p>
        </p:txBody>
      </p:sp>
      <p:sp>
        <p:nvSpPr>
          <p:cNvPr id="71" name="Text 65"/>
          <p:cNvSpPr/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72" name="Text 66"/>
          <p:cNvSpPr/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$0,944 / 42,48 ₴</a:t>
            </a:r>
            <a:endParaRPr lang="en-US" sz="950" dirty="0"/>
          </a:p>
        </p:txBody>
      </p:sp>
      <p:sp>
        <p:nvSpPr>
          <p:cNvPr id="73" name="Text 67"/>
          <p:cNvSpPr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2D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Jasmine перерахований за прайсовою ціною Plain ($3,50 за 6 паучів); у вихідному файлі цей SKU помилково проведений за Mixed ($4,00). Решта — за файлом.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Офіс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862</Words>
  <Application>Microsoft Office PowerPoint</Application>
  <PresentationFormat>Широкий екран</PresentationFormat>
  <Paragraphs>172</Paragraphs>
  <Slides>6</Slides>
  <Notes>6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6</vt:i4>
      </vt:variant>
    </vt:vector>
  </HeadingPairs>
  <TitlesOfParts>
    <vt:vector size="10" baseType="lpstr">
      <vt:lpstr>Arial</vt:lpstr>
      <vt:lpstr>Calibri</vt:lpstr>
      <vt:lpstr>Cambria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RTE Rice — постачальники та собівартість</dc:title>
  <dc:subject>PptxGenJS Presentation</dc:subject>
  <dc:creator>MD Eurotrade LLC</dc:creator>
  <cp:lastModifiedBy>Чаплигін lлля</cp:lastModifiedBy>
  <cp:revision>2</cp:revision>
  <dcterms:created xsi:type="dcterms:W3CDTF">2026-08-07T19:46:54Z</dcterms:created>
  <dcterms:modified xsi:type="dcterms:W3CDTF">2026-08-07T20:27:49Z</dcterms:modified>
</cp:coreProperties>
</file>