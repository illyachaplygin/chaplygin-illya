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78813e5a99245a0" Type="http://schemas.openxmlformats.org/officeDocument/2006/relationships/extended-properties" Target="docProps/app.xml"/><Relationship Id="R9806184afc4d4af7" Type="http://schemas.openxmlformats.org/package/2006/relationships/metadata/core-properties" Target="docProps/core.xml"/><Relationship Id="Re70d42aa423440bf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0f4b150e3e48ae"/>
  </p:sldMasterIdLst>
  <p:notesMasterIdLst>
    <p:notesMasterId xmlns:r="http://schemas.openxmlformats.org/officeDocument/2006/relationships" r:id="Rdbc344a867a948a5"/>
  </p:notesMasterIdLst>
  <p:sldIdLst>
    <p:sldId xmlns:r="http://schemas.openxmlformats.org/officeDocument/2006/relationships" id="256" r:id="Re97747a81f0942bb"/>
    <p:sldId xmlns:r="http://schemas.openxmlformats.org/officeDocument/2006/relationships" id="257" r:id="R5f5edb31e5604b21"/>
    <p:sldId xmlns:r="http://schemas.openxmlformats.org/officeDocument/2006/relationships" id="258" r:id="R49dea04f833a411c"/>
    <p:sldId xmlns:r="http://schemas.openxmlformats.org/officeDocument/2006/relationships" id="259" r:id="R0cc5568b82144cbe"/>
    <p:sldId xmlns:r="http://schemas.openxmlformats.org/officeDocument/2006/relationships" id="260" r:id="Ra6499cc14a0a444f"/>
    <p:sldId xmlns:r="http://schemas.openxmlformats.org/officeDocument/2006/relationships" id="261" r:id="R395c7888f72746a3"/>
    <p:sldId xmlns:r="http://schemas.openxmlformats.org/officeDocument/2006/relationships" id="267" r:id="rId1"/>
    <p:sldId xmlns:r="http://schemas.openxmlformats.org/officeDocument/2006/relationships" id="268" r:id="rId2"/>
    <p:sldId xmlns:r="http://schemas.openxmlformats.org/officeDocument/2006/relationships" id="262" r:id="Rbf055fde390e448f"/>
    <p:sldId xmlns:r="http://schemas.openxmlformats.org/officeDocument/2006/relationships" id="263" r:id="R9ed2861d88e24da7"/>
    <p:sldId xmlns:r="http://schemas.openxmlformats.org/officeDocument/2006/relationships" id="264" r:id="Rfbfd5820946b484f"/>
    <p:sldId xmlns:r="http://schemas.openxmlformats.org/officeDocument/2006/relationships" id="265" r:id="R7d115d2b0fe54d28"/>
    <p:sldId xmlns:r="http://schemas.openxmlformats.org/officeDocument/2006/relationships" id="266" r:id="Rb3b4b588539a4a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045679d96c84f51" Type="http://schemas.openxmlformats.org/officeDocument/2006/relationships/theme" Target="theme/theme1.xml"/><Relationship Id="R028af16c8d3e452f" Type="http://schemas.openxmlformats.org/officeDocument/2006/relationships/viewProps" Target="viewProps.xml"/><Relationship Id="R0cc5568b82144cbe" Type="http://schemas.openxmlformats.org/officeDocument/2006/relationships/slide" Target="slides/slide4.xml"/><Relationship Id="R395c7888f72746a3" Type="http://schemas.openxmlformats.org/officeDocument/2006/relationships/slide" Target="slides/slide6.xml"/><Relationship Id="R3e34577205cc47af" Type="http://schemas.openxmlformats.org/officeDocument/2006/relationships/tableStyles" Target="tableStyles.xml"/><Relationship Id="R49dea04f833a411c" Type="http://schemas.openxmlformats.org/officeDocument/2006/relationships/slide" Target="slides/slide3.xml"/><Relationship Id="R5f5edb31e5604b21" Type="http://schemas.openxmlformats.org/officeDocument/2006/relationships/slide" Target="slides/slide2.xml"/><Relationship Id="R79c29421a0b347b4" Type="http://schemas.openxmlformats.org/officeDocument/2006/relationships/presProps" Target="presProps.xml"/><Relationship Id="R7d115d2b0fe54d28" Type="http://schemas.openxmlformats.org/officeDocument/2006/relationships/slide" Target="slides/slide12.xml"/><Relationship Id="R9e0f4b150e3e48ae" Type="http://schemas.openxmlformats.org/officeDocument/2006/relationships/slideMaster" Target="slideMasters/slideMaster1.xml"/><Relationship Id="R9ed2861d88e24da7" Type="http://schemas.openxmlformats.org/officeDocument/2006/relationships/slide" Target="slides/slide10.xml"/><Relationship Id="Ra6499cc14a0a444f" Type="http://schemas.openxmlformats.org/officeDocument/2006/relationships/slide" Target="slides/slide5.xml"/><Relationship Id="Rb3b4b588539a4ae9" Type="http://schemas.openxmlformats.org/officeDocument/2006/relationships/slide" Target="slides/slide13.xml"/><Relationship Id="Rbf055fde390e448f" Type="http://schemas.openxmlformats.org/officeDocument/2006/relationships/slide" Target="slides/slide9.xml"/><Relationship Id="Rdbc344a867a948a5" Type="http://schemas.openxmlformats.org/officeDocument/2006/relationships/notesMaster" Target="notesMasters/notesMaster1.xml"/><Relationship Id="Re97747a81f0942bb" Type="http://schemas.openxmlformats.org/officeDocument/2006/relationships/slide" Target="slides/slide1.xml"/><Relationship Id="Rfbfd5820946b484f" Type="http://schemas.openxmlformats.org/officeDocument/2006/relationships/slide" Target="slides/slide11.xml"/><Relationship Id="rId1" Type="http://schemas.openxmlformats.org/officeDocument/2006/relationships/slide" Target="slides/slide7.xml"/><Relationship Id="rId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489f1f600319431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9c43bdd6cfd491a" Type="http://schemas.openxmlformats.org/officeDocument/2006/relationships/notesMaster" Target="../notesMasters/notesMaster1.xml"/><Relationship Id="Rd6c142c04fb048c6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583145d308e84c4d" Type="http://schemas.openxmlformats.org/officeDocument/2006/relationships/notesMaster" Target="../notesMasters/notesMaster1.xml"/><Relationship Id="R9c8294ff7eb64ab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a221fd652a34de5" Type="http://schemas.openxmlformats.org/officeDocument/2006/relationships/slide" Target="../slides/slide3.xml"/><Relationship Id="R657e64325e294775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105dadf50794bc3" Type="http://schemas.openxmlformats.org/officeDocument/2006/relationships/notesMaster" Target="../notesMasters/notesMaster1.xml"/><Relationship Id="R974af5c3ad3f4a7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be68fce22c64ec0" Type="http://schemas.openxmlformats.org/officeDocument/2006/relationships/slide" Target="../slides/slide5.xml"/><Relationship Id="Rc7d67a9c4ee84bc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71280bc4d6a4dd8" Type="http://schemas.openxmlformats.org/officeDocument/2006/relationships/slide" Target="../slides/slide6.xml"/><Relationship Id="Rf793944501a441e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7ee400dbe03343ce" Type="http://schemas.openxmlformats.org/officeDocument/2006/relationships/slide" Target="../slides/slide9.xml"/><Relationship Id="Rcb73e5d2bcc6437f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3f36450ca734ed4" Type="http://schemas.openxmlformats.org/officeDocument/2006/relationships/slide" Target="../slides/slide10.xml"/><Relationship Id="Ra8d9c35405204cd3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aae41d88212e4e18" Type="http://schemas.openxmlformats.org/officeDocument/2006/relationships/slide" Target="../slides/slide11.xml"/><Relationship Id="Rf1431826ba6d4f6a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8be3f2f7ce8443e" Type="http://schemas.openxmlformats.org/officeDocument/2006/relationships/slide" Target="../slides/slide12.xml"/><Relationship Id="R86147aca96f44d67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bf5709b9483c4f66" Type="http://schemas.openxmlformats.org/officeDocument/2006/relationships/notesMaster" Target="../notesMasters/notesMaster1.xml"/><Relationship Id="Rcbe69feb994049f8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user instruction: position Special Production after standard 240 g; 150 g, 200 g and other weights needed for the local market.</a:t>
            </a:r>
          </a:p>
          <a:p xmlns:a="http://schemas.openxmlformats.org/drawingml/2006/main">
            <a:r>
              <a:t>- User-supplied 2026-09-03 Ready to eat Rice in Pouch 150g 200g_.pdf: 150 g and 200 g product formats. Other sizes subject to supplier agreement.</a:t>
            </a:r>
          </a:p>
          <a:p xmlns:a="http://schemas.openxmlformats.org/drawingml/2006/main">
            <a:r>
              <a:t>- Authentic standard 240 g pouch image from original supplier presentation slide 5, explicitly labeled 240 g.</a:t>
            </a:r>
          </a:p>
          <a:p xmlns:a="http://schemas.openxmlformats.org/drawingml/2006/main">
            <a:r>
              <a:t>- No prices, cost figures, minimum order quantities, or unconfirmed pack dimensions added.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Cup-Photo of Products.pdf — Single Cup assortment, packaging parameters, and product images; supplied by the user.</a:t>
            </a:r>
          </a:p>
          <a:p xmlns:a="http://schemas.openxmlformats.org/drawingml/2006/main">
            <a:r>
              <a:t>- User instruction — BSCM launched new cup production; cost is intentionally omitted.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Prior user instructions: Double Cup 6 x (2 x125g), Private Label only; SPAR example customer packaging.</a:t>
            </a:r>
          </a:p>
          <a:p xmlns:a="http://schemas.openxmlformats.org/drawingml/2006/main">
            <a:r>
              <a:t>- Photo: AI-assisted studio background and lighting retouch of the user-supplied authentic SPAR Jasmine Rice photo, preserving package identity.</a:t>
            </a:r>
          </a:p>
          <a:p xmlns:a="http://schemas.openxmlformats.org/drawingml/2006/main">
            <a:r>
              <a:t>- 250g consumer pack = two125g cups. Costs intentionally moved to dedicated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 specifies separate SKU/cost slide and postpones calculation. Em dashes are editable missing values, not zero; no figures invented.</a:t>
            </a:r>
          </a:p>
          <a:p xmlns:a="http://schemas.openxmlformats.org/drawingml/2006/main">
            <a:r>
              <a:t>- Seven Double Cup variants and oil distinctions from user instructions. Basmati qualification retained.</a:t>
            </a:r>
          </a:p>
          <a:p xmlns:a="http://schemas.openxmlformats.org/drawingml/2006/main">
            <a:r>
              <a:t>- Four delivery scenarios and USD/UAH presentation match existing deck calculation slides. Costs per complete2x125g consumer pack.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User-supplied 03-image.png: Double Cup, 2 × 125 g = 250 g/unit; sleeve box can carry the customer design; no actual product in supplier private brand.</a:t>
            </a:r>
          </a:p>
          <a:p xmlns:a="http://schemas.openxmlformats.org/drawingml/2006/main">
            <a:r>
              <a:t>- Original RTE_Rice_Suppliers.pptx, slide 9: three authentic product photographs preserved and enlarged.</a:t>
            </a:r>
          </a:p>
          <a:p xmlns:a="http://schemas.openxmlformats.org/drawingml/2006/main">
            <a:r>
              <a:t>- User-supplied SPAR packaging photo is retained on the preceding Double Cup assortment slide.</a:t>
            </a:r>
          </a:p>
          <a:p xmlns:a="http://schemas.openxmlformats.org/drawingml/2006/main">
            <a:r>
              <a:t>- Removed the unsupported statement that every flavor uses one identical sleeve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41b741e9b7e49d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6c703e3c3614582" Type="http://schemas.openxmlformats.org/officeDocument/2006/relationships/theme" Target="theme/theme2.xml"/><Relationship Id="Rc0e12b7ec0fa44f3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e12b7ec0fa44f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8a56aa79238d48be" Type="http://schemas.openxmlformats.org/officeDocument/2006/relationships/notesSlide" Target="../notesSlides/notesSlide1.xml"/><Relationship Id="Rb585b98faefc43dc" Type="http://schemas.openxmlformats.org/officeDocument/2006/relationships/image" Target="../media/image.jpeg"/><Relationship Id="Rdb21eecf1a454c4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f147b8078944be4" Type="http://schemas.openxmlformats.org/officeDocument/2006/relationships/image" Target="../media/image3.jpeg"/><Relationship Id="R584dca6911744973" Type="http://schemas.openxmlformats.org/officeDocument/2006/relationships/image" Target="../media/image2.jpeg"/><Relationship Id="Ra7288762750a49ad" Type="http://schemas.openxmlformats.org/officeDocument/2006/relationships/slideLayout" Target="../slideLayouts/slideLayout1.xml"/><Relationship Id="Rb3a48023ca6f4aa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9208b301714022" Type="http://schemas.openxmlformats.org/officeDocument/2006/relationships/image" Target="../media/image4.jpeg"/><Relationship Id="R44f76f7787ee4c6f" Type="http://schemas.openxmlformats.org/officeDocument/2006/relationships/image" Target="../media/image7.jpeg"/><Relationship Id="R6c44279a0924432e" Type="http://schemas.openxmlformats.org/officeDocument/2006/relationships/image" Target="../media/image6.jpeg"/><Relationship Id="Rae8f004698a34736" Type="http://schemas.openxmlformats.org/officeDocument/2006/relationships/image" Target="../media/image5.jpeg"/><Relationship Id="Rb2fca7dbcd1e4047" Type="http://schemas.openxmlformats.org/officeDocument/2006/relationships/slideLayout" Target="../slideLayouts/slideLayout1.xml"/><Relationship Id="Rc191671aca554af3" Type="http://schemas.openxmlformats.org/officeDocument/2006/relationships/notesSlide" Target="../notesSlides/notesSlide3.xml"/><Relationship Id="Rc81b463c149f42a9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074f4375d72b4222" Type="http://schemas.openxmlformats.org/officeDocument/2006/relationships/image" Target="../media/image8.jpeg"/><Relationship Id="R4f740747594d4664" Type="http://schemas.openxmlformats.org/officeDocument/2006/relationships/image" Target="../media/image2.jpeg"/><Relationship Id="R8d10dd18fd854c6b" Type="http://schemas.openxmlformats.org/officeDocument/2006/relationships/slideLayout" Target="../slideLayouts/slideLayout1.xml"/><Relationship Id="Rc5859ccc52fb4bec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a599b6567da4e04" Type="http://schemas.openxmlformats.org/officeDocument/2006/relationships/notesSlide" Target="../notesSlides/notesSlide5.xml"/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04e6a0fc5e194213" Type="http://schemas.openxmlformats.org/officeDocument/2006/relationships/notesSlide" Target="../notesSlides/notesSlide6.xml"/><Relationship Id="R38262f0785504391" Type="http://schemas.openxmlformats.org/officeDocument/2006/relationships/image" Target="../media/image2.jpeg"/><Relationship Id="R851c779230494879" Type="http://schemas.openxmlformats.org/officeDocument/2006/relationships/image" Target="../media/image13.jpeg"/><Relationship Id="Rb0cc95790ab3439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8.xml.rels><?xml version='1.0' encoding='UTF-8' standalone='yes'?>
<Relationships xmlns="http://schemas.openxmlformats.org/package/2006/relationships"><Relationship Id="R6fb87fd7fe61429e" Type="http://schemas.openxmlformats.org/officeDocument/2006/relationships/image" Target="../media/image10.jpeg"/><Relationship Id="R98f845348b974805" Type="http://schemas.openxmlformats.org/officeDocument/2006/relationships/slideLayout" Target="../slideLayouts/slideLayout1.xml"/><Relationship Id="Ra67e88290a9b4df2" Type="http://schemas.openxmlformats.org/officeDocument/2006/relationships/image" Target="../media/image12.jpeg"/><Relationship Id="Rada64b76b8d84687" Type="http://schemas.openxmlformats.org/officeDocument/2006/relationships/image" Target="../media/image11.jpeg"/><Relationship Id="Rbe1c7bc8ed7847d9" Type="http://schemas.openxmlformats.org/officeDocument/2006/relationships/image" Target="../media/image9.jpeg"/><Relationship Id="Rc4d3cf22c5af4c60" Type="http://schemas.openxmlformats.org/officeDocument/2006/relationships/image" Target="../media/image2.jpeg"/></Relationships>
</file>

<file path=ppt/slides/_rels/slide9.xml.rels><?xml version='1.0' encoding='UTF-8' standalone='yes'?>
<Relationships xmlns="http://schemas.openxmlformats.org/package/2006/relationships"><Relationship Id="R0d86b08e20ee4522" Type="http://schemas.openxmlformats.org/officeDocument/2006/relationships/image" Target="../media/image.png"/><Relationship Id="R10d5c50dd4b94a0c" Type="http://schemas.openxmlformats.org/officeDocument/2006/relationships/slideLayout" Target="../slideLayouts/slideLayout1.xml"/><Relationship Id="R22337a205c9942db" Type="http://schemas.openxmlformats.org/officeDocument/2006/relationships/notesSlide" Target="../notesSlides/notesSlide7.xml"/><Relationship Id="R566cc802e0f843cc" Type="http://schemas.openxmlformats.org/officeDocument/2006/relationships/image" Target="../media/image4.png"/><Relationship Id="R5aaae9c0fc7841db" Type="http://schemas.openxmlformats.org/officeDocument/2006/relationships/image" Target="../media/image14.jpeg"/><Relationship Id="R6158a8f8e36e495f" Type="http://schemas.openxmlformats.org/officeDocument/2006/relationships/image" Target="../media/image3.png"/><Relationship Id="Raba536ba98eb46bd" Type="http://schemas.openxmlformats.org/officeDocument/2006/relationships/image" Target="../media/image2.png"/><Relationship Id="Rc344d24e594843a6" Type="http://schemas.openxmlformats.org/officeDocument/2006/relationships/image" Target="../media/image2.jpeg"/></Relationships>
</file>

<file path=ppt/slides/_rels/slide10.xml.rels><?xml version='1.0' encoding='UTF-8' standalone='yes'?>
<Relationships xmlns="http://schemas.openxmlformats.org/package/2006/relationships"><Relationship Id="R0722b14dad284092" Type="http://schemas.openxmlformats.org/officeDocument/2006/relationships/image" Target="../media/image15.jpeg"/><Relationship Id="R119ac01e5dd54900" Type="http://schemas.openxmlformats.org/officeDocument/2006/relationships/image" Target="../media/image28.jpeg"/><Relationship Id="R21022c31bcc34b73" Type="http://schemas.openxmlformats.org/officeDocument/2006/relationships/image" Target="../media/image17.jpeg"/><Relationship Id="R42f33e1bc6c74c7c" Type="http://schemas.openxmlformats.org/officeDocument/2006/relationships/image" Target="../media/image30.jpeg"/><Relationship Id="R5aacabe119014fc5" Type="http://schemas.openxmlformats.org/officeDocument/2006/relationships/image" Target="../media/image27.jpeg"/><Relationship Id="R5bf5b7229df24251" Type="http://schemas.openxmlformats.org/officeDocument/2006/relationships/image" Target="../media/image25.jpeg"/><Relationship Id="R846177b9a0144792" Type="http://schemas.openxmlformats.org/officeDocument/2006/relationships/image" Target="../media/image18.jpeg"/><Relationship Id="R852a75f27bb74882" Type="http://schemas.openxmlformats.org/officeDocument/2006/relationships/image" Target="../media/image29.jpeg"/><Relationship Id="R90fe7bc16fc3463f" Type="http://schemas.openxmlformats.org/officeDocument/2006/relationships/slideLayout" Target="../slideLayouts/slideLayout1.xml"/><Relationship Id="R95e504b77bc949d5" Type="http://schemas.openxmlformats.org/officeDocument/2006/relationships/image" Target="../media/image22.jpeg"/><Relationship Id="R9fcfc3021d514b26" Type="http://schemas.openxmlformats.org/officeDocument/2006/relationships/image" Target="../media/image21.jpeg"/><Relationship Id="Ra07bb7521447458f" Type="http://schemas.openxmlformats.org/officeDocument/2006/relationships/image" Target="../media/image31.jpeg"/><Relationship Id="Ra526774970f74f38" Type="http://schemas.openxmlformats.org/officeDocument/2006/relationships/image" Target="../media/image20.jpeg"/><Relationship Id="Rab812ab9ded74df7" Type="http://schemas.openxmlformats.org/officeDocument/2006/relationships/image" Target="../media/image19.jpeg"/><Relationship Id="Rc29fd3ff49ac498c" Type="http://schemas.openxmlformats.org/officeDocument/2006/relationships/image" Target="../media/image24.jpeg"/><Relationship Id="Rcb773ccbdc894375" Type="http://schemas.openxmlformats.org/officeDocument/2006/relationships/image" Target="../media/image23.jpeg"/><Relationship Id="Rcce78c6d88c64e62" Type="http://schemas.openxmlformats.org/officeDocument/2006/relationships/notesSlide" Target="../notesSlides/notesSlide8.xml"/><Relationship Id="Rd1dd1aa85f204c5c" Type="http://schemas.openxmlformats.org/officeDocument/2006/relationships/image" Target="../media/image16.jpeg"/><Relationship Id="Rd34c0c06150d401c" Type="http://schemas.openxmlformats.org/officeDocument/2006/relationships/image" Target="../media/image33.jpeg"/><Relationship Id="Rdb2ecc7942af43d2" Type="http://schemas.openxmlformats.org/officeDocument/2006/relationships/image" Target="../media/image2.jpeg"/><Relationship Id="Re6c3e50d738e4e82" Type="http://schemas.openxmlformats.org/officeDocument/2006/relationships/image" Target="../media/image32.jpeg"/><Relationship Id="Rf596d6e83e614893" Type="http://schemas.openxmlformats.org/officeDocument/2006/relationships/image" Target="../media/image26.jpeg"/></Relationships>
</file>

<file path=ppt/slides/_rels/slide11.xml.rels><?xml version='1.0' encoding='UTF-8' standalone='yes'?>
<Relationships xmlns="http://schemas.openxmlformats.org/package/2006/relationships"><Relationship Id="R1d20b350a283425d" Type="http://schemas.openxmlformats.org/officeDocument/2006/relationships/notesSlide" Target="../notesSlides/notesSlide9.xml"/><Relationship Id="R39942197bd7843ea" Type="http://schemas.openxmlformats.org/officeDocument/2006/relationships/image" Target="../media/image5.png"/><Relationship Id="R8e6fab9e77d84d80" Type="http://schemas.openxmlformats.org/officeDocument/2006/relationships/image" Target="../media/image2.jpeg"/><Relationship Id="Rbdff876af90d40c5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2cd90ae75f7945d6" Type="http://schemas.openxmlformats.org/officeDocument/2006/relationships/image" Target="../media/image2.jpeg"/><Relationship Id="R35259fcdc78d44cf" Type="http://schemas.openxmlformats.org/officeDocument/2006/relationships/slideLayout" Target="../slideLayouts/slideLayout1.xml"/><Relationship Id="R8b2733b744f84697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0210a2bd60bf47fe" Type="http://schemas.openxmlformats.org/officeDocument/2006/relationships/image" Target="../media/image36.jpeg"/><Relationship Id="R10f3f191c6a44551" Type="http://schemas.openxmlformats.org/officeDocument/2006/relationships/notesSlide" Target="../notesSlides/notesSlide11.xml"/><Relationship Id="R2533d91719894085" Type="http://schemas.openxmlformats.org/officeDocument/2006/relationships/image" Target="../media/image35.jpeg"/><Relationship Id="R9d8f59d02eab4963" Type="http://schemas.openxmlformats.org/officeDocument/2006/relationships/image" Target="../media/image34.jpeg"/><Relationship Id="Re972ea797b294e9b" Type="http://schemas.openxmlformats.org/officeDocument/2006/relationships/image" Target="../media/image2.jpeg"/><Relationship Id="Ref62ad34821a45c2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585b98faefc43d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9E11D9-4C10-4498-B08F-418DC7036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349240" cy="347472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2452B">
              <a:alpha val="92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050D1F1-25C6-459D-B6EE-3201D5DA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322576"/>
            <a:ext cx="44348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 spc="15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READY-TO-EAT RICE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A64F1-2DC5-431B-A0BE-B63DF81E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081528"/>
            <a:ext cx="1828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C612DCA-AB68-4951-A902-1E149520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1388" y="3035808"/>
            <a:ext cx="100584" cy="100584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5CE76"/>
          </a:solidFill>
          <a:ln xmlns:a="http://schemas.openxmlformats.org/drawingml/2006/main" w="6350">
            <a:solidFill>
              <a:srgbClr val="E0B25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978E9-75EC-4BA8-8582-EAFEB8AD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264408"/>
            <a:ext cx="4434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Постачальники та собівартість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744851-5719-43BB-BF0D-B86A6B0C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85616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BSCM Foods Co., Ltd.</a:t>
            </a:r>
            <a:r>
              <a:rPr sz="1150">
                <a:solidFill>
                  <a:srgbClr val="C89C40"/>
                </a:solidFill>
                <a:latin typeface="Calibri"/>
                <a:ea typeface="Calibri"/>
                <a:cs typeface="Calibri"/>
              </a:rPr>
              <a:t>   ·   </a:t>
            </a: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CM Premium Rice Co., Ltd.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199F762-1B10-42AE-9A9D-9E1C6FE25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242816"/>
            <a:ext cx="4434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Таїланд · FOB Bangkok · завантаження навалом</a:t>
            </a:r>
            <a:endParaRPr sz="1150"/>
          </a:p>
        </p:txBody>
      </p:sp>
    </p:spTree>
    <p:extLst>
      <p:ext uri="{BB962C8B-B14F-4D97-AF65-F5344CB8AC3E}">
        <p14:creationId xmlns:p14="http://schemas.microsoft.com/office/powerpoint/2010/main" val="707073180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584dca691174497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CD19144-9505-47D6-9275-6089C661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A44E652-7531-4B42-A2E4-24C4B87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CM Premium Rice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23ADB82-A208-4FF8-8484-E70CE207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Виробник органічного рису та готових страв, бренди Q Rice · Golden Phoenix · Chefrey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B901CC53-360D-4866-8073-8A9412E5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FC212FD-4906-4748-A36F-7D4284B1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3820750-8730-426F-96FA-819EACD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CM Premium Rice Co., Ltd. — тайський переробник рису з власними елеваторами та лінією фасування у Nakhon Ratchasima. Працює під брендами Q Rice, Golden Phoenix і Chefrey; 99% сировини — тайського походження.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1737FF36-89C7-40BF-8029-7E30F7FC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10913A5-A195-4C35-8BEC-22AF2B15B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86A606B1-78BD-42D4-97F2-25019B0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офіс Nonthaburi · завод Nakhon Ratchasima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78BF7FC-C005-4DB0-828C-5DE23D3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Заснована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42A9028-10DB-4B72-B30E-FB49E15F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6 липня 2016 · капітал 50 млн THB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E95C3E2-EA1E-42D7-A32D-5FC62765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Досвід групи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D427EAD-08DF-4E7A-9C4C-835EFAE7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30 років у рисовому виробництві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D34AC2F-EE39-497C-8F1A-55D934AC9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Потужність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2B1EB85-2BAF-45AA-8C18-39BD7B6A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120 000 тонн на рік · 10 000 т/міс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C1BCD09-C026-44CF-8F8B-173FAD36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Сировина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D27C77E-48F9-4FBD-A728-1F2B80DF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99% Таїланд · 30+ партнерських рисозаводів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4E2C5A1-D625-4BFD-AE8C-D9C8696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Експорт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C81496A-087D-4BDF-97C0-9C0AD33F3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понад 20 країн світу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29F56F1-072F-45B9-B669-E6DB5952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 в офері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22D9B28-342C-4F6C-855A-E29107EE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250 г · 24 шт у коробі</a:t>
            </a:r>
            <a:endParaRPr sz="1150"/>
          </a:p>
        </p:txBody>
      </p:sp>
      <p:sp>
        <p:nvSpPr>
          <p:cNvPr id="35" name="Text 19">
            <a:extLst xmlns:a="http://schemas.openxmlformats.org/drawingml/2006/main">
              <a:ext uri="{FF2B5EF4-FFF2-40B4-BE49-F238E27FC236}">
                <a16:creationId xmlns:a16="http://schemas.microsoft.com/office/drawing/2014/main" id="{FE1BA39C-F91D-4286-BEF8-67FC2D0B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FD7FBD8F-742F-466D-99D3-4E9D925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9001 · Halal · Organic</a:t>
            </a:r>
            <a:endParaRPr sz="1150"/>
          </a:p>
        </p:txBody>
      </p:sp>
      <p:pic>
        <p:nvPicPr>
          <p:cNvPr id="6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47b8078944be4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0A6243D7-99BD-4671-9140-C29A8D28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AD82CE1-305C-4565-A1FE-D051AE21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58CC28A-4F81-47DF-8E77-5628B5CD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2016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FCE24DD-1F3F-42BD-8089-4BCD25EB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581144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рік початку роботи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89975636-2973-43EB-8284-82876E89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A645AB62-8A4D-4512-8F74-DE418179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120 000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т/рік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4117B712-25E2-4520-9FD2-EBDF52F2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148072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виробнича потужність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E9455139-65F1-448B-8A7C-86FFA827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D40C00FA-3D9E-4C88-BA29-ECBF4916B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7373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99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%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5324D476-C6D4-42C7-BAFD-4CF0E84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5715000"/>
            <a:ext cx="2057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сировини з Таїланду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E7A215B1-AD40-45DA-BB18-23E7B159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корпоративна презентація CM Premium Rice Co., Ltd., сайт cmp-rice.com та прайс-лист Chefrey.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973573466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81b463c149f42a9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A6D18B-A944-45D2-8E87-358191F7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9BD473"/>
                </a:solidFill>
                <a:latin typeface="Calibri"/>
                <a:ea typeface="Calibri"/>
                <a:cs typeface="Calibri"/>
              </a:rPr>
              <a:t>ПОСТАЧАЛЬНИК 2  ·  CHEFREY / CM PREMIUM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F6B36-12AD-4E80-B246-044D6B112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Chefrey Organic RTE 6 × 250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B3E3610-3F77-4808-A291-CC88332A6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777A169-A18D-4352-B969-19E1FAD4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208b30171402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87232188-1DCC-4781-85AB-61CF6976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A2BFF8-08EA-4127-88A8-7020E461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9C00E7C-A4B5-4F70-BF95-2F612003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55875F5-C8AA-4604-BC2B-C7F2B6B6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Turmeric Basmati</a:t>
            </a:r>
            <a:endParaRPr sz="1450"/>
          </a:p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with Cumin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304521-7003-41C9-A3DF-B606C3543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A033679-0F16-416E-9BC4-280F69743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2BA45D7-6F03-4868-BDD2-44FC1BFF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D9F963D-2EFD-42F1-A3D8-955B0A88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844CDDA-23FC-437B-9119-7C16195CD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7DB5FDD-4BCF-480F-AC44-12CE6BC0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82BA0A6-D97E-4819-8CA9-388C425B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44B828A-FAD0-48B0-A84B-5C4651E0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13BF0E51-D744-4257-9C8D-7D20E2A44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22ECCC3-BFAF-4EDE-935D-88BA8CB5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F5EED41A-EC4F-42AA-8D1B-5807CC4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221615AB-3FD4-4403-AFF6-D6A56343C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f004698a34736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04C442D0-2F30-4863-8F74-AF51825B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FDFA6F-6582-4237-9B22-00A082830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3BF42D84-D0AF-4217-B04F-C90FB592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CDE96DD-6C77-424C-B5EB-F3F2EA231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Garlic Fried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8A85A44-B6CB-4D71-8000-A653E369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BB6ACCF8-0216-4C21-8A34-38A25C9E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E847F71-A762-450C-A559-36DCDA51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16B44C2-FF59-4FA7-AB65-3092D174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BFD8799-39A3-483C-B443-61D79614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236FB47-8D66-49B9-890D-86AFDDAD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1C5B3AD2-2E31-4934-829B-92559C96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AB5675A7-525E-4791-993A-B3BFA058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1497E892-700F-4999-8614-DBAADE2E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ED93CC81-7EA2-49D9-8437-79938779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0427E166-8510-4CA7-8830-926E6C60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E9A5A22F-E04B-4856-A6EE-5DB1869C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44279a0924432e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F9B242CE-9FC3-4F31-9E90-E76F07CC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A50AE707-BF33-4DC0-8761-DC73CA9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83B499CA-E5CA-4A54-A2B7-6FC3B8C2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44658F7D-867D-4A61-B46E-876DD11E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Cilantro Lime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9C8F21B4-2ED4-4F90-8A4E-B929F37C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CB4E5E2B-AB82-4890-B02A-60C7FFB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64AB014A-05C3-45B0-AEEE-0D5F7B45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9FE6818-4F14-4862-A822-5259E90FC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5C9DFA8C-DC12-493F-89E1-05F8214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$1,133 / 50,99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351C6F62-3582-446E-9329-137053C4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1CB0E785-438F-46B1-9B4D-45FFA085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$1,028 / 46,27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843D82C3-467A-4031-AA4E-8835A62B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219E8FB0-85D4-446F-8CAB-519B563D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$1,339 / 60,27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C10E996F-4409-4306-8C47-C3DBDB53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E05EE4B9-A859-4792-9E6A-A9A645D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$1,056 / 47,53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251A2DC7-D0DC-4DDD-94FC-121AF67D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f76f7787ee4c6f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F2C3BE02-E820-4936-861D-46D3D3E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490DA2D-D85E-4489-896A-3376EF0E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358A48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1BAD208D-D6B2-4DF7-AE5B-808AFC50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250 Г · ORGANIC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D32F869F-1422-4380-8509-FD4EC779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C56AF3DF-CE25-4AEE-B9EA-65DA2178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B87B54C9-A9BC-4125-8EB8-417D870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5CDDC64B-111E-4034-BB84-739716A5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6A939BB-1670-4E52-9CBF-2148FF61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89315069-AA8B-4FB9-B0D8-4EEFAFCC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$1,020 / 45,91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EF2C8EF4-AF40-4A42-B5F5-CD3A89AE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4A437B21-276B-4A8E-B4FA-E55E4C8E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$0,915 / 41,20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D3FCC8C4-076B-4094-B816-197B2B0E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AC58F4C-4853-4DE5-929B-AF482276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$1,215 / 54,68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838F0CEE-4FBA-4656-B576-A01896E5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C7424DE8-2857-46C2-8E15-BFDE9634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$0,944 / 42,48 ₴</a:t>
            </a:r>
            <a:endParaRPr sz="950"/>
          </a:p>
        </p:txBody>
      </p:sp>
    </p:spTree>
    <p:extLst>
      <p:ext uri="{BB962C8B-B14F-4D97-AF65-F5344CB8AC3E}">
        <p14:creationId xmlns:p14="http://schemas.microsoft.com/office/powerpoint/2010/main" val="1152137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f740747594d466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BSCM Foods — профіль компанії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Тайський виробник готових страв за ретортною технологією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3736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Про компанію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103120"/>
            <a:ext cx="61264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ts val="1700"/>
              </a:lnSpc>
              <a:buNone/>
            </a:pPr>
            <a:r>
              <a:rPr sz="120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BSCM Foods Co., Ltd. — виробник готової до споживання їжі з Бангкока. Портфель поділений на чотири напрями: Ready Rice, Ready Meal, Ready Dessert та Ready Drink. Рис випускається у трьох форматах — пауч, стакан і лоток.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17520"/>
            <a:ext cx="61264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Ключові параметри</a:t>
            </a:r>
            <a:endParaRPr sz="17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91FA7F-CF81-4499-8A50-A7DEE434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38328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Локація</a:t>
            </a:r>
            <a:endParaRPr sz="10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E8A5288-4469-45DA-BAD0-F665517C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8328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Бангкок (Bangsue), Таїланд</a:t>
            </a:r>
            <a:endParaRPr sz="115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71703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Група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18D73A6-5619-40CD-864C-164E3378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1703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Bangsue Chia Meng Rice Mill, з 1937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05079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RTE-виробництво</a:t>
            </a:r>
            <a:endParaRPr sz="10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ACB90C5-BF37-41D9-8DC3-D21E41BC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079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власний завод BSCM Foods, з 2009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84548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Технологія</a:t>
            </a:r>
            <a:endParaRPr sz="10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F159060-DCDF-44CC-8B6D-02E8ED3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84548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ретортна стерилізація, без консервантів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87B55C1-5453-4641-8FEE-2A2600E8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718304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5BCD84D-F4E9-40F7-AA7D-85E5A9A7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718304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18 місяців за кімнатної температури</a:t>
            </a:r>
            <a:endParaRPr sz="11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CD79870-7EED-40F1-B03F-865D4719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052060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Розігрів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696F0F8-6388-458A-9A6E-BD09F3AC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52060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мікрохвильова піч, 60–90 сек</a:t>
            </a:r>
            <a:endParaRPr sz="11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13A8E69A-5D22-455F-8007-BE2ECE934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385816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Формат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F71CE83-5380-4313-A831-A097BEC1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85816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пауч 240 г · cup 150 г / 2×125 г</a:t>
            </a:r>
            <a:endParaRPr sz="115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E3FDCDD-AB84-4655-AE3A-27E63EDC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719572"/>
            <a:ext cx="2103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Сертифікація</a:t>
            </a:r>
            <a:endParaRPr sz="1050"/>
          </a:p>
        </p:txBody>
      </p:sp>
      <p:sp>
        <p:nvSpPr>
          <p:cNvPr id="36" name="Text 20">
            <a:extLst xmlns:a="http://schemas.openxmlformats.org/drawingml/2006/main">
              <a:ext uri="{FF2B5EF4-FFF2-40B4-BE49-F238E27FC236}">
                <a16:creationId xmlns:a16="http://schemas.microsoft.com/office/drawing/2014/main" id="{CE1C1DBA-4385-4A90-B461-BD4A3B7B3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719572"/>
            <a:ext cx="4023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BRC · HACCP · ISO 22000 · GMP · Organic</a:t>
            </a:r>
            <a:endParaRPr sz="115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18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міс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термін придатності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90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сек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розігрів у мікрохвильовці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60+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країн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країн експорту групи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каталог продукції BSCM Foods, комерційна пропозиція постачальника та корпоративний сайт групи BSCM (bscm.co.th); сертифікати — за каталогом.</a:t>
            </a:r>
            <a:endParaRPr sz="900"/>
          </a:p>
        </p:txBody>
      </p:sp>
      <p:pic>
        <p:nvPicPr>
          <p:cNvPr id="7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4f4375d72b42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46553" y="1554480"/>
            <a:ext cx="4096512" cy="283464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ПОСТАЧАЛЬНИК 1  · 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240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Завантаження навалом, FOB Bangkok ·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$0,583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$0,995 / 44,79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$0,892 / 40,15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$1,001 / 45,03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$0,928 / 41,77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$0,667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$1,138 / 51,19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$1,020 / 45,89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$1,144 / 51,46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$1,061 / 47,74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240 Г · RETORT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$0,750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$1,280 / 57,59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$1,147 / 51,63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$1,287 / 57,89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$1,193 / 53,70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Фото упаковки — з каталогу BSCM Foods; для Japanese Style Rice постачальник фото не надав.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8262f0785504391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Фасування під потреби нашого ринку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Поряд зі стандартними 240 г — спеціальне виробництво потрібної нам ваги.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СТАНДАРТНА ЛІНІЙКА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9911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Гнучкий асортимент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80975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СПЕЦІАЛЬНЕ ВИРОБНИЦТВО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286000"/>
            <a:ext cx="5762625" cy="904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52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150 г  /  200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33750"/>
            <a:ext cx="5715000" cy="5429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та інші розміри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86200"/>
            <a:ext cx="569595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погодженням із виробником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71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240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8578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Під брендом виробника</a:t>
            </a:r>
            <a:endParaRPr sz="1050"/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c779230494879"/>
          <a:stretch xmlns:a="http://schemas.openxmlformats.org/drawingml/2006/main"/>
        </p:blipFill>
        <p:spPr>
          <a:xfrm xmlns:a="http://schemas.openxmlformats.org/drawingml/2006/main">
            <a:off x="979322" y="2554191"/>
            <a:ext cx="3566160" cy="2758202"/>
          </a:xfrm>
          <a:prstGeom xmlns:a="http://schemas.openxmlformats.org/drawingml/2006/main" prst="roundRect">
            <a:avLst>
              <a:gd name="adj" fmla="val 3933"/>
            </a:avLst>
          </a:prstGeom>
        </p:spPr>
      </p:pic>
      <p:sp xmlns:a="http://schemas.openxmlformats.org/drawingml/2006/main">
        <p:nvSpPr>
          <p:cNvPr id="77" name="TextBox 76"/>
          <p:cNvSpPr txBox="1"/>
          <p:nvPr/>
        </p:nvSpPr>
        <p:spPr>
          <a:xfrm>
            <a:off x="5924398" y="5505450"/>
            <a:ext cx="569595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>
                <a:solidFill>
                  <a:srgbClr val="FCF9F0"/>
                </a:solidFill>
                <a:latin typeface="Calibri"/>
              </a:rPr>
              <a:t>Доступно для будь-якої позиції лінійки Ready Rice — конкретний асортимент і формат погоджуємо під замовлення.</a:t>
            </a:r>
          </a:p>
          <a:p>
            <a:pPr algn="l">
              <a:spcBef>
                <a:spcPts val="1000"/>
              </a:spcBef>
            </a:pPr>
            <a:r>
              <a:rPr sz="1100">
                <a:solidFill>
                  <a:srgbClr val="D2E4CE"/>
                </a:solidFill>
                <a:latin typeface="Calibri"/>
              </a:rPr>
              <a:t>Собівартість для 150 г та 200 г — на попередніх двох слайдах.</a:t>
            </a:r>
          </a:p>
        </p:txBody>
      </p:sp>
      <p:sp xmlns:a="http://schemas.openxmlformats.org/drawingml/2006/main">
        <p:nvSpPr>
          <p:cNvPr id="78" name="Rectangle 77"/>
          <p:cNvSpPr/>
          <p:nvPr/>
        </p:nvSpPr>
        <p:spPr>
          <a:xfrm>
            <a:off x="979322" y="2554191"/>
            <a:ext cx="3566160" cy="2758202"/>
          </a:xfrm>
          <a:prstGeom prst="rect">
            <a:avLst/>
          </a:prstGeom>
          <a:noFill/>
          <a:ln w="12700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150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$0,472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$0,843 / 37,93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$0,739 / 33,25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$0,850 / 38,24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$0,778 / 34,99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$0,981 / 44,15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$0,860 / 38,70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$0,989 / 44,51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$0,905 / 40,73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150 Г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$0,600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$1,070 / 48,16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$0,938 / 42,22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$1,079 / 48,55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$0,987 / 44,43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(150г)Pouch».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4d3cf22c5af4c6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SPECIAL PRODUCTION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6 × 200 г —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Спеціальне виробництво · завантаження навалом, FOB Bangkok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82" name="Picture 7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c7bc8ed7847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$0,550 · 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$0,953 / 42,87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$0,846 / 38,07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$0,960 / 43,18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616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$0,886 / 39,86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9" name="Picture 7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87fd7fe6142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Mexican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968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6" name="Picture 7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a64b76b8d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Japanese Style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$0,620 · 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$1,074 / 48,32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$0,954 / 42,92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$1,082 / 48,68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$0,998 / 44,93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984" y="1536192"/>
            <a:ext cx="270662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33" name="Picture 7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7e88290a9b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oundRect">
            <a:avLst/>
          </a:prstGeom>
        </p:spPr>
      </p:pic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1700784"/>
            <a:ext cx="2340864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11880"/>
            <a:ext cx="1417320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621024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ПАУЧ 200 Г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3931920"/>
            <a:ext cx="2340864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Hot and Spicy Rice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498848"/>
            <a:ext cx="234086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$0,680 · 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8864" y="4791456"/>
            <a:ext cx="2340864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4855464"/>
            <a:ext cx="2148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ПАУЧ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5663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05663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$1,178 / 53,00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26237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26237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$1,046 / 47,07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46811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46811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$1,186 / 53,39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673852"/>
            <a:ext cx="6583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5673852"/>
            <a:ext cx="1508760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$1,095 / 49,28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Self_Cost_Rice_Brand..xlsx, аркуш «BSCMFoods - Навалом (200г)Pouch». Собівартість: мито 10%, ПДВ 20%, транспорт, кредитні гроші 2,5%.</a:t>
            </a:r>
            <a:endParaRPr sz="900"/>
          </a:p>
        </p:txBody>
      </p:sp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344d24e594843a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8C5BA4-D3A1-44C2-B745-30F83BBC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6516954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НОВЕ ВИРОБНИЦТВО · BSCM FOODS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0CCB68-F07E-4088-8869-8D3DB6C90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8761682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12 × 150 г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EA601D2-50AF-4274-98C3-4894B277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410" y="1115568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Single Cup with Sleeve Box · W/O Oil · 12 шт. у коробі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0E89EB-DA37-42CB-AC69-91A6CA0E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030FCABB-62B5-4CCC-AA9F-B4C4F1F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0459869-F0AC-4806-A6A5-9985DB86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740FE40E-3AFF-44AA-822A-DF0305CB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634DF81-CF5A-42FF-B295-D79E4679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Jasmine Rice</a:t>
            </a:r>
            <a:endParaRPr sz="14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25EE9D78-55FB-4825-A4EC-1CE5288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8161C34-47AF-4A98-91ED-6E1E141D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49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D3A29BD-427F-41DD-A67A-208B5804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F225FD2-5DF4-4E27-A0C2-ED5225E2F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CBAEDDDF-B30B-44A8-84D8-1F13517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6D2FA2E5-E055-4EED-B764-D8C358F1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EFA949F-A8B8-4BD8-BEA2-862EF1E9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9F4E7F66-E648-45BF-B645-840EB5C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3FA87CF-3F1F-407C-97E5-CE3B0D83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ED686B9D-4A4D-4002-9CDE-77BA53EB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642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F1395A1-2F78-48B0-8C30-47BF1137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5516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AFCD23EF-4833-427F-B74B-6E405E30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0010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C510ACE-6515-4BC0-B50D-985970D3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F360826-A308-4AC3-BAA1-7446672F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7036F6EF-F813-4855-BBAB-E834036C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623579F-4CF0-49CB-8419-DC085FE5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Brown Jasmine Rice</a:t>
            </a:r>
            <a:endParaRPr sz="145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34F13D1A-C3CC-4661-A13D-5D419209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$0,500 · базовий SKU</a:t>
            </a:r>
            <a:endParaRPr sz="1000"/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D49B14DE-CA73-4039-8430-FB42DBBD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831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005C7CF-646A-4687-B1EA-E63F75D7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793A1173-463D-43C7-AEA9-358CA2D9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7117FC0B-4F73-40B9-9BEC-953254E4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$0,881 / 39,66 ₴</a:t>
            </a:r>
            <a:endParaRPr sz="95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48663418-84F8-4462-909D-711F0DD1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09A954A-25C5-4C8C-BACC-D09A2CA5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$0,777 / 34,95 ₴</a:t>
            </a:r>
            <a:endParaRPr sz="95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1BD63ABA-2795-4167-B138-F7286363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995EAFC3-88FF-44CF-AFF4-614342C3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$0,889 / 39,99 ₴</a:t>
            </a:r>
            <a:endParaRPr sz="95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0133D29-79AD-41F7-AC4D-08F94F21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1724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8907D16-EC0C-4DB8-9E32-E30599EA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98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$0,816 / 36,70 ₴</a:t>
            </a:r>
            <a:endParaRPr sz="950"/>
          </a:p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2259E21A-9C34-47EA-B3E9-E565B794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3091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Shape 36">
            <a:extLst xmlns:a="http://schemas.openxmlformats.org/drawingml/2006/main">
              <a:ext uri="{FF2B5EF4-FFF2-40B4-BE49-F238E27FC236}">
                <a16:creationId xmlns:a16="http://schemas.microsoft.com/office/drawing/2014/main" id="{0711C6CE-DEDB-4DD0-8D53-429DE193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Shape 37">
            <a:extLst xmlns:a="http://schemas.openxmlformats.org/drawingml/2006/main">
              <a:ext uri="{FF2B5EF4-FFF2-40B4-BE49-F238E27FC236}">
                <a16:creationId xmlns:a16="http://schemas.microsoft.com/office/drawing/2014/main" id="{DC7C47A5-93C4-467C-AF6A-51561B8A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Text 38">
            <a:extLst xmlns:a="http://schemas.openxmlformats.org/drawingml/2006/main">
              <a:ext uri="{FF2B5EF4-FFF2-40B4-BE49-F238E27FC236}">
                <a16:creationId xmlns:a16="http://schemas.microsoft.com/office/drawing/2014/main" id="{0596B2BA-8710-4E95-8365-1BF11E18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44" name="Text 39">
            <a:extLst xmlns:a="http://schemas.openxmlformats.org/drawingml/2006/main">
              <a:ext uri="{FF2B5EF4-FFF2-40B4-BE49-F238E27FC236}">
                <a16:creationId xmlns:a16="http://schemas.microsoft.com/office/drawing/2014/main" id="{C06B8F32-5124-4A18-AC53-3481907D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Thai Red Jasmine Rice</a:t>
            </a:r>
            <a:endParaRPr sz="1450"/>
          </a:p>
        </p:txBody>
      </p:sp>
      <p:sp>
        <p:nvSpPr>
          <p:cNvPr id="45" name="Text 40">
            <a:extLst xmlns:a="http://schemas.openxmlformats.org/drawingml/2006/main">
              <a:ext uri="{FF2B5EF4-FFF2-40B4-BE49-F238E27FC236}">
                <a16:creationId xmlns:a16="http://schemas.microsoft.com/office/drawing/2014/main" id="{B818A736-226A-4409-9E84-13D21A31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46" name="Shape 41">
            <a:extLst xmlns:a="http://schemas.openxmlformats.org/drawingml/2006/main">
              <a:ext uri="{FF2B5EF4-FFF2-40B4-BE49-F238E27FC236}">
                <a16:creationId xmlns:a16="http://schemas.microsoft.com/office/drawing/2014/main" id="{74EB33FE-2A74-4110-9400-0929BAE7D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7912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Text 42">
            <a:extLst xmlns:a="http://schemas.openxmlformats.org/drawingml/2006/main">
              <a:ext uri="{FF2B5EF4-FFF2-40B4-BE49-F238E27FC236}">
                <a16:creationId xmlns:a16="http://schemas.microsoft.com/office/drawing/2014/main" id="{49EEB924-E332-4CCD-95A2-34608E92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48" name="Text 43">
            <a:extLst xmlns:a="http://schemas.openxmlformats.org/drawingml/2006/main">
              <a:ext uri="{FF2B5EF4-FFF2-40B4-BE49-F238E27FC236}">
                <a16:creationId xmlns:a16="http://schemas.microsoft.com/office/drawing/2014/main" id="{1233661C-E122-46E4-B4AF-2E989ADA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49" name="Text 44">
            <a:extLst xmlns:a="http://schemas.openxmlformats.org/drawingml/2006/main">
              <a:ext uri="{FF2B5EF4-FFF2-40B4-BE49-F238E27FC236}">
                <a16:creationId xmlns:a16="http://schemas.microsoft.com/office/drawing/2014/main" id="{BFF0E6A6-EE49-4AEB-B04B-23DA22BE2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50" name="Text 45">
            <a:extLst xmlns:a="http://schemas.openxmlformats.org/drawingml/2006/main">
              <a:ext uri="{FF2B5EF4-FFF2-40B4-BE49-F238E27FC236}">
                <a16:creationId xmlns:a16="http://schemas.microsoft.com/office/drawing/2014/main" id="{0696E1FB-7D6D-40FC-AD7C-66FBBC12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51" name="Text 46">
            <a:extLst xmlns:a="http://schemas.openxmlformats.org/drawingml/2006/main">
              <a:ext uri="{FF2B5EF4-FFF2-40B4-BE49-F238E27FC236}">
                <a16:creationId xmlns:a16="http://schemas.microsoft.com/office/drawing/2014/main" id="{EEC05408-8F7F-4048-A172-AEF7DC75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52" name="Text 47">
            <a:extLst xmlns:a="http://schemas.openxmlformats.org/drawingml/2006/main">
              <a:ext uri="{FF2B5EF4-FFF2-40B4-BE49-F238E27FC236}">
                <a16:creationId xmlns:a16="http://schemas.microsoft.com/office/drawing/2014/main" id="{EDF78F8F-BC3B-4297-9AED-581440680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53" name="Text 48">
            <a:extLst xmlns:a="http://schemas.openxmlformats.org/drawingml/2006/main">
              <a:ext uri="{FF2B5EF4-FFF2-40B4-BE49-F238E27FC236}">
                <a16:creationId xmlns:a16="http://schemas.microsoft.com/office/drawing/2014/main" id="{7A843F49-7C4D-43E2-9A00-CD7BED7D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54" name="Text 49">
            <a:extLst xmlns:a="http://schemas.openxmlformats.org/drawingml/2006/main">
              <a:ext uri="{FF2B5EF4-FFF2-40B4-BE49-F238E27FC236}">
                <a16:creationId xmlns:a16="http://schemas.microsoft.com/office/drawing/2014/main" id="{2766A248-70B7-4C50-86DC-4743FDE0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4805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55" name="Text 50">
            <a:extLst xmlns:a="http://schemas.openxmlformats.org/drawingml/2006/main">
              <a:ext uri="{FF2B5EF4-FFF2-40B4-BE49-F238E27FC236}">
                <a16:creationId xmlns:a16="http://schemas.microsoft.com/office/drawing/2014/main" id="{9C30AE53-0A95-413F-B9EF-82A33064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1679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56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6173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4" name="Shape 51">
            <a:extLst xmlns:a="http://schemas.openxmlformats.org/drawingml/2006/main">
              <a:ext uri="{FF2B5EF4-FFF2-40B4-BE49-F238E27FC236}">
                <a16:creationId xmlns:a16="http://schemas.microsoft.com/office/drawing/2014/main" id="{BB65C8A4-36FE-4323-95C1-6CF79F6F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9254" y="1536192"/>
            <a:ext cx="2143354" cy="4626864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50" name="Picture 1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ae9c0fc7841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oundRect">
            <a:avLst/>
          </a:prstGeom>
        </p:spPr>
      </p:pic>
      <p:sp>
        <p:nvSpPr>
          <p:cNvPr id="76" name="Shape 52">
            <a:extLst xmlns:a="http://schemas.openxmlformats.org/drawingml/2006/main">
              <a:ext uri="{FF2B5EF4-FFF2-40B4-BE49-F238E27FC236}">
                <a16:creationId xmlns:a16="http://schemas.microsoft.com/office/drawing/2014/main" id="{A089A1B1-F6D0-4239-90A9-2A5FF4C2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1700784"/>
            <a:ext cx="1853711" cy="1810512"/>
          </a:xfrm>
          <a:prstGeom xmlns:a="http://schemas.openxmlformats.org/drawingml/2006/main" prst="rect">
            <a:avLst/>
          </a:prstGeom>
          <a:ln xmlns:a="http://schemas.openxmlformats.org/drawingml/2006/main" w="1270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Shape 53">
            <a:extLst xmlns:a="http://schemas.openxmlformats.org/drawingml/2006/main">
              <a:ext uri="{FF2B5EF4-FFF2-40B4-BE49-F238E27FC236}">
                <a16:creationId xmlns:a16="http://schemas.microsoft.com/office/drawing/2014/main" id="{102F35A9-F072-41A9-A5EF-E4FBAAA9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11880"/>
            <a:ext cx="1122364" cy="237744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B0762A"/>
          </a:solidFill>
          <a:ln xmlns:a="http://schemas.openxmlformats.org/drawingml/2006/main" w="6350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0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78" name="Text 54">
            <a:extLst xmlns:a="http://schemas.openxmlformats.org/drawingml/2006/main">
              <a:ext uri="{FF2B5EF4-FFF2-40B4-BE49-F238E27FC236}">
                <a16:creationId xmlns:a16="http://schemas.microsoft.com/office/drawing/2014/main" id="{EA0F7E19-BC03-4457-BB96-38AB3991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621024"/>
            <a:ext cx="1122364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 spc="6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CUP 150 Г · W/O OIL</a:t>
            </a:r>
            <a:endParaRPr sz="850"/>
          </a:p>
        </p:txBody>
      </p:sp>
      <p:sp>
        <p:nvSpPr>
          <p:cNvPr id="61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Rice Berry</a:t>
            </a:r>
            <a:endParaRPr sz="1450"/>
          </a:p>
        </p:txBody>
      </p:sp>
      <p:sp>
        <p:nvSpPr>
          <p:cNvPr id="79" name="Text 55">
            <a:extLst xmlns:a="http://schemas.openxmlformats.org/drawingml/2006/main">
              <a:ext uri="{FF2B5EF4-FFF2-40B4-BE49-F238E27FC236}">
                <a16:creationId xmlns:a16="http://schemas.microsoft.com/office/drawing/2014/main" id="{53175901-99C3-41D7-9C1A-329684E5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3931920"/>
            <a:ext cx="1853711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Brown Jasmine Rice with Red Quinoa</a:t>
            </a:r>
            <a:endParaRPr sz="1450"/>
          </a:p>
        </p:txBody>
      </p:sp>
      <p:sp>
        <p:nvSpPr>
          <p:cNvPr id="62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80" name="Text 56">
            <a:extLst xmlns:a="http://schemas.openxmlformats.org/drawingml/2006/main">
              <a:ext uri="{FF2B5EF4-FFF2-40B4-BE49-F238E27FC236}">
                <a16:creationId xmlns:a16="http://schemas.microsoft.com/office/drawing/2014/main" id="{B27564B5-2E37-4E8E-B961-4CCD2519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498848"/>
            <a:ext cx="1853711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FOB $0,542 · спеціальний SKU</a:t>
            </a:r>
            <a:endParaRPr sz="1000"/>
          </a:p>
        </p:txBody>
      </p:sp>
      <p:sp>
        <p:nvSpPr>
          <p:cNvPr id="63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994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1" name="Shape 57">
            <a:extLst xmlns:a="http://schemas.openxmlformats.org/drawingml/2006/main">
              <a:ext uri="{FF2B5EF4-FFF2-40B4-BE49-F238E27FC236}">
                <a16:creationId xmlns:a16="http://schemas.microsoft.com/office/drawing/2014/main" id="{FE01E20B-9EBB-4017-A8D9-C2567B2E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4076" y="4791456"/>
            <a:ext cx="1853711" cy="1170432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1A5433">
              <a:alpha val="92000"/>
            </a:srgbClr>
          </a:solidFill>
          <a:ln xmlns:a="http://schemas.openxmlformats.org/drawingml/2006/main" w="952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82" name="Text 58">
            <a:extLst xmlns:a="http://schemas.openxmlformats.org/drawingml/2006/main">
              <a:ext uri="{FF2B5EF4-FFF2-40B4-BE49-F238E27FC236}">
                <a16:creationId xmlns:a16="http://schemas.microsoft.com/office/drawing/2014/main" id="{669B1082-8915-4983-B2B6-C14A6B44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4855464"/>
            <a:ext cx="1701649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00" b="1" spc="10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СОБІВАРТІСТЬ, ЗА СТАКАНЧИК</a:t>
            </a:r>
            <a:endParaRPr sz="750"/>
          </a:p>
        </p:txBody>
      </p:sp>
      <p:sp>
        <p:nvSpPr>
          <p:cNvPr id="65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83" name="Text 59">
            <a:extLst xmlns:a="http://schemas.openxmlformats.org/drawingml/2006/main">
              <a:ext uri="{FF2B5EF4-FFF2-40B4-BE49-F238E27FC236}">
                <a16:creationId xmlns:a16="http://schemas.microsoft.com/office/drawing/2014/main" id="{BD1C138D-AD32-4415-A37B-0EEFBF07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05663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20′ FCL</a:t>
            </a:r>
            <a:endParaRPr sz="900"/>
          </a:p>
        </p:txBody>
      </p:sp>
      <p:sp>
        <p:nvSpPr>
          <p:cNvPr id="66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84" name="Text 60">
            <a:extLst xmlns:a="http://schemas.openxmlformats.org/drawingml/2006/main">
              <a:ext uri="{FF2B5EF4-FFF2-40B4-BE49-F238E27FC236}">
                <a16:creationId xmlns:a16="http://schemas.microsoft.com/office/drawing/2014/main" id="{6AD7731F-A450-4B30-9B7A-DC5E48D9D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05663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$0,955 / 42,97 ₴</a:t>
            </a:r>
            <a:endParaRPr sz="950"/>
          </a:p>
        </p:txBody>
      </p:sp>
      <p:sp>
        <p:nvSpPr>
          <p:cNvPr id="67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85" name="Text 61">
            <a:extLst xmlns:a="http://schemas.openxmlformats.org/drawingml/2006/main">
              <a:ext uri="{FF2B5EF4-FFF2-40B4-BE49-F238E27FC236}">
                <a16:creationId xmlns:a16="http://schemas.microsoft.com/office/drawing/2014/main" id="{5987284E-222D-491D-BC8B-596809AE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26237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40′ FCL</a:t>
            </a:r>
            <a:endParaRPr sz="900"/>
          </a:p>
        </p:txBody>
      </p:sp>
      <p:sp>
        <p:nvSpPr>
          <p:cNvPr id="68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86" name="Text 62">
            <a:extLst xmlns:a="http://schemas.openxmlformats.org/drawingml/2006/main">
              <a:ext uri="{FF2B5EF4-FFF2-40B4-BE49-F238E27FC236}">
                <a16:creationId xmlns:a16="http://schemas.microsoft.com/office/drawing/2014/main" id="{1E079831-7D60-433F-857F-D392391E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26237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$0,841 / 37,86 ₴</a:t>
            </a:r>
            <a:endParaRPr sz="950"/>
          </a:p>
        </p:txBody>
      </p:sp>
      <p:sp>
        <p:nvSpPr>
          <p:cNvPr id="69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87" name="Text 63">
            <a:extLst xmlns:a="http://schemas.openxmlformats.org/drawingml/2006/main">
              <a:ext uri="{FF2B5EF4-FFF2-40B4-BE49-F238E27FC236}">
                <a16:creationId xmlns:a16="http://schemas.microsoft.com/office/drawing/2014/main" id="{5D9ED1D0-06AB-4B43-A177-0B409475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46811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17 м³</a:t>
            </a:r>
            <a:endParaRPr sz="900"/>
          </a:p>
        </p:txBody>
      </p:sp>
      <p:sp>
        <p:nvSpPr>
          <p:cNvPr id="70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88" name="Text 64">
            <a:extLst xmlns:a="http://schemas.openxmlformats.org/drawingml/2006/main">
              <a:ext uri="{FF2B5EF4-FFF2-40B4-BE49-F238E27FC236}">
                <a16:creationId xmlns:a16="http://schemas.microsoft.com/office/drawing/2014/main" id="{4C05FFD0-DA43-4E50-A387-C4186B7E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46811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$0,963 / 43,32 ₴</a:t>
            </a:r>
            <a:endParaRPr sz="950"/>
          </a:p>
        </p:txBody>
      </p:sp>
      <p:sp>
        <p:nvSpPr>
          <p:cNvPr id="71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7887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89" name="Text 65">
            <a:extLst xmlns:a="http://schemas.openxmlformats.org/drawingml/2006/main">
              <a:ext uri="{FF2B5EF4-FFF2-40B4-BE49-F238E27FC236}">
                <a16:creationId xmlns:a16="http://schemas.microsoft.com/office/drawing/2014/main" id="{7FE64998-BF0F-49B6-9E76-DCEF0AF2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968" y="5673852"/>
            <a:ext cx="521356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LCL 34 м³</a:t>
            </a:r>
            <a:endParaRPr sz="900"/>
          </a:p>
        </p:txBody>
      </p:sp>
      <p:sp>
        <p:nvSpPr>
          <p:cNvPr id="72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4761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90" name="Text 66">
            <a:extLst xmlns:a="http://schemas.openxmlformats.org/drawingml/2006/main">
              <a:ext uri="{FF2B5EF4-FFF2-40B4-BE49-F238E27FC236}">
                <a16:creationId xmlns:a16="http://schemas.microsoft.com/office/drawing/2014/main" id="{D5AA0317-8C8E-4654-AB48-6EF530E5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7842" y="5673852"/>
            <a:ext cx="1194775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$0,884 / 39,76 ₴</a:t>
            </a:r>
            <a:endParaRPr sz="950"/>
          </a:p>
        </p:txBody>
      </p:sp>
      <p:sp>
        <p:nvSpPr>
          <p:cNvPr id="73" name="Text 67">
            <a:extLst xmlns:a="http://schemas.openxmlformats.org/drawingml/2006/main">
              <a:ext uri="{FF2B5EF4-FFF2-40B4-BE49-F238E27FC236}">
                <a16:creationId xmlns:a16="http://schemas.microsoft.com/office/drawing/2014/main" id="{8A12195C-5F27-417B-939C-737A8C06A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876168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Products.pdf, Self Cost Rice Brand.xlsx (BSCM(Bags+Cups) - Навалом, 2026-09 revision) · курс 45,00 UAH/USD.</a:t>
            </a:r>
            <a:endParaRPr sz="900"/>
          </a:p>
        </p:txBody>
      </p:sp>
      <p:pic>
        <p:nvPicPr>
          <p:cNvPr id="181" name="Рисунок 14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6b08e20ee4522"/>
          <a:stretch xmlns:a="http://schemas.openxmlformats.org/drawingml/2006/main"/>
        </p:blipFill>
        <p:spPr>
          <a:xfrm xmlns:a="http://schemas.openxmlformats.org/drawingml/2006/main">
            <a:off x="711749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2" name="Рисунок 1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a536ba98eb46bd"/>
          <a:stretch xmlns:a="http://schemas.openxmlformats.org/drawingml/2006/main"/>
        </p:blipFill>
        <p:spPr>
          <a:xfrm xmlns:a="http://schemas.openxmlformats.org/drawingml/2006/main">
            <a:off x="2964831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3" name="Рисунок 1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8a8f8e36e495f"/>
          <a:stretch xmlns:a="http://schemas.openxmlformats.org/drawingml/2006/main"/>
        </p:blipFill>
        <p:spPr>
          <a:xfrm xmlns:a="http://schemas.openxmlformats.org/drawingml/2006/main">
            <a:off x="5217912" y="1700784"/>
            <a:ext cx="1853711" cy="1810512"/>
          </a:xfrm>
          <a:prstGeom xmlns:a="http://schemas.openxmlformats.org/drawingml/2006/main" prst="roundRect">
            <a:avLst/>
          </a:prstGeom>
        </p:spPr>
      </p:pic>
      <p:pic>
        <p:nvPicPr>
          <p:cNvPr id="184" name="Рисунок 1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cc802e0f843cc"/>
          <a:stretch xmlns:a="http://schemas.openxmlformats.org/drawingml/2006/main"/>
        </p:blipFill>
        <p:spPr>
          <a:xfrm xmlns:a="http://schemas.openxmlformats.org/drawingml/2006/main">
            <a:off x="7470994" y="1700784"/>
            <a:ext cx="1853711" cy="1810512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503426620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b2ecc7942af43d2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74320"/>
            <a:ext cx="82296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SINGLE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48640"/>
            <a:ext cx="110642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Ready Rice in Plastic Cup — вигляд упаковки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115568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i="1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5 позицій · 150 г · sleeve-бокс · фото з каталогу постачальника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36192"/>
            <a:ext cx="6675120" cy="4626864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7366CF28-1B6D-49C3-946A-65C3FD0C8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536192"/>
            <a:ext cx="4096512" cy="2834640"/>
          </a:xfrm>
          <a:prstGeom xmlns:a="http://schemas.openxmlformats.org/drawingml/2006/main" prst="rect">
            <a:avLst/>
          </a:prstGeom>
          <a:ln xmlns:a="http://schemas.openxmlformats.org/drawingml/2006/main" w="15875">
            <a:solidFill>
              <a:srgbClr val="C89C4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831A629E-B7E5-4A9F-8D0C-CEFC366E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4526280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4581144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5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SKU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4581144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позицій у лінійці</a:t>
            </a:r>
            <a:endParaRPr sz="105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B6DB6DF8-9EDE-4700-B934-B2C5D27F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093208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148072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150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г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148072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нетто в чашці</a:t>
            </a:r>
            <a:endParaRPr sz="1050"/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5F74166D-A4F2-4F13-9CD5-9980A3D4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5660136"/>
            <a:ext cx="4096512" cy="484632"/>
          </a:xfrm>
          <a:prstGeom xmlns:a="http://schemas.openxmlformats.org/drawingml/2006/main" prst="roundRect">
            <a:avLst>
              <a:gd name="adj" fmla="val 15094"/>
            </a:avLst>
          </a:prstGeom>
          <a:solidFill xmlns:a="http://schemas.openxmlformats.org/drawingml/2006/main">
            <a:srgbClr val="12452B">
              <a:alpha val="90000"/>
            </a:srgbClr>
          </a:solidFill>
          <a:ln xmlns:a="http://schemas.openxmlformats.org/drawingml/2006/main" w="15875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536" y="5715000"/>
            <a:ext cx="13716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12</a:t>
            </a:r>
            <a:r>
              <a:rPr sz="1100">
                <a:solidFill>
                  <a:srgbClr val="F5CE76"/>
                </a:solidFill>
                <a:latin typeface="Cambria"/>
                <a:ea typeface="Cambria"/>
                <a:cs typeface="Cambria"/>
              </a:rPr>
              <a:t> шт.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5715000"/>
            <a:ext cx="2377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5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у коробі, sleeve-бокс</a:t>
            </a:r>
            <a:endParaRPr sz="1050"/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536F47F1-10DF-4B38-8365-3317E620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355080"/>
            <a:ext cx="11064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rgbClr val="C3D7BF"/>
                </a:solidFill>
                <a:latin typeface="Calibri"/>
                <a:ea typeface="Calibri"/>
                <a:cs typeface="Calibri"/>
              </a:rPr>
              <a:t>Джерело: Cup-Photo of Products.pdf. Фото — офіційні знімки упаковки від BSCM Foods; ракурси відповідають оригінальному прайс-каталогу.</a:t>
            </a:r>
            <a:endParaRPr sz="900"/>
          </a:p>
        </p:txBody>
      </p:sp>
      <p:sp>
        <p:nvSpPr>
          <p:cNvPr id="38" name="TextBox 37">
            <a:extLst xmlns:a="http://schemas.openxmlformats.org/drawingml/2006/main">
              <a:ext uri="{FF2B5EF4-FFF2-40B4-BE49-F238E27FC236}">
                <a16:creationId xmlns:a16="http://schemas.microsoft.com/office/drawing/2014/main" id="{B47E2050-9F89-4CF2-8200-057440EE0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783080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Jasmine Rice</a:t>
            </a:r>
          </a:p>
        </p:txBody>
      </p:sp>
      <p:pic>
        <p:nvPicPr>
          <p:cNvPr id="90" name="Picture 3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2b14dad2840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1" name="Picture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dd1aa85f204c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2" name="Picture 4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22c31bcc34b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1783080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2" name="TextBox 41">
            <a:extLst xmlns:a="http://schemas.openxmlformats.org/drawingml/2006/main">
              <a:ext uri="{FF2B5EF4-FFF2-40B4-BE49-F238E27FC236}">
                <a16:creationId xmlns:a16="http://schemas.microsoft.com/office/drawing/2014/main" id="{9CFE6B9E-0FB3-4922-AF3D-A4F8DDC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642616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Brown Jasmine Rice</a:t>
            </a:r>
          </a:p>
        </p:txBody>
      </p:sp>
      <p:pic>
        <p:nvPicPr>
          <p:cNvPr id="94" name="Picture 4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6177b9a01447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5" name="Picture 4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812ab9ded74d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6" name="Picture 4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26774970f74f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2642616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46" name="TextBox 45">
            <a:extLst xmlns:a="http://schemas.openxmlformats.org/drawingml/2006/main">
              <a:ext uri="{FF2B5EF4-FFF2-40B4-BE49-F238E27FC236}">
                <a16:creationId xmlns:a16="http://schemas.microsoft.com/office/drawing/2014/main" id="{0F62E096-7B61-4D3A-B947-80BCA2AA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502152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Thai Red Jasmine Rice</a:t>
            </a:r>
          </a:p>
        </p:txBody>
      </p:sp>
      <p:pic>
        <p:nvPicPr>
          <p:cNvPr id="98" name="Picture 4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cfc3021d514b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99" name="Picture 4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504b77bc949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0" name="Picture 4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773ccbdc8943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3502152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0" name="TextBox 49">
            <a:extLst xmlns:a="http://schemas.openxmlformats.org/drawingml/2006/main">
              <a:ext uri="{FF2B5EF4-FFF2-40B4-BE49-F238E27FC236}">
                <a16:creationId xmlns:a16="http://schemas.microsoft.com/office/drawing/2014/main" id="{6AC89C67-252F-4CAD-904D-59AF8AF1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61688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Rice Berry</a:t>
            </a:r>
          </a:p>
        </p:txBody>
      </p:sp>
      <p:pic>
        <p:nvPicPr>
          <p:cNvPr id="102" name="Picture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fd3ff49ac49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3" name="Picture 5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f5b7229df242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4" name="Picture 5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6d6e83e61489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4361688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54" name="TextBox 53">
            <a:extLst xmlns:a="http://schemas.openxmlformats.org/drawingml/2006/main">
              <a:ext uri="{FF2B5EF4-FFF2-40B4-BE49-F238E27FC236}">
                <a16:creationId xmlns:a16="http://schemas.microsoft.com/office/drawing/2014/main" id="{9FD0070C-BC6F-4CA1-A9D3-318432561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5221224"/>
            <a:ext cx="2011680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50" b="1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Brown Jasmine Rice with Red Quinoa</a:t>
            </a:r>
          </a:p>
        </p:txBody>
      </p:sp>
      <p:pic>
        <p:nvPicPr>
          <p:cNvPr id="106" name="Picture 5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acabe119014f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90088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7" name="Picture 5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9ac01e5dd549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25112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8" name="Picture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2a75f27bb74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0136" y="5221224"/>
            <a:ext cx="1225296" cy="740664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09" name="Picture 5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33e1bc6c74c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0" name="Picture 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bb752144745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1686581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1" name="Picture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3e50d738e4e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34656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112" name="Picture 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4c0c06150d40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51492" y="3022092"/>
            <a:ext cx="1979676" cy="1198351"/>
          </a:xfrm>
          <a:prstGeom xmlns:a="http://schemas.openxmlformats.org/drawingml/2006/main" prst="round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e6fab9e77d84d8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PRIVATE LABEL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формат під нашу марку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Готовий рис у пластикових стаканчиках · виробництво під Private Label</a:t>
            </a:r>
            <a:endParaRPr sz="12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BB6272E-A3D6-4F20-AF34-CF17DAB6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ПРИКЛАД ГОТОВОГО ПРОДУКТУ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76725"/>
            <a:ext cx="542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6 упаковок у коробі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0D0EC9-3F48-4B23-B62F-2DC20F4C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4307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200" b="1" i="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СПОЖИВЧА УПАКОВКА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CACD5D8-D338-4EA5-B23F-C319A9D0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38375"/>
            <a:ext cx="5476875" cy="809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4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0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B17E25C-EAC6-44DA-BED1-8DA3C384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0515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7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Два стаканчики у sleeve-боксі</a:t>
            </a:r>
            <a:endParaRPr sz="10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1BC70C4-0C92-435A-9487-D75013A4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24250"/>
            <a:ext cx="5429250" cy="3143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201168" indent="-201168" algn="l">
              <a:buClr>
                <a:srgbClr val="F5CE76"/>
              </a:buClr>
              <a:buFont typeface="Arial"/>
              <a:buNone/>
              <a:def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250 г готового рису</a:t>
            </a:r>
            <a:endParaRPr sz="1050"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95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SPAR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3914775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Приклад упаковки для клієнта</a:t>
            </a:r>
            <a:endParaRPr sz="105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0175"/>
            <a:ext cx="542925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80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Тільки Private Label</a:t>
            </a:r>
          </a:p>
          <a:p xmlns:a="http://schemas.openxmlformats.org/drawingml/2006/main">
            <a:pPr algn="l">
              <a:buNone/>
              <a:defRPr sz="1800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Власного бренду в цьому форматі немає.</a:t>
            </a:r>
          </a:p>
          <a:p xmlns:a="http://schemas.openxmlformats.org/drawingml/2006/main">
            <a:pPr algn="l">
              <a:buNone/>
            </a:pPr>
            <a:r>
              <a:rPr sz="1500" b="0">
                <a:solidFill>
                  <a:srgbClr val="FCF9F0"/>
                </a:solidFill>
                <a:latin typeface="Calibri"/>
              </a:rPr>
              <a:t>Тільки під торговою маркою замовника.</a:t>
            </a:r>
          </a:p>
        </p:txBody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42197bd7843ea"/>
          <a:stretch xmlns:a="http://schemas.openxmlformats.org/drawingml/2006/main"/>
        </p:blipFill>
        <p:spPr>
          <a:xfrm xmlns:a="http://schemas.openxmlformats.org/drawingml/2006/main">
            <a:off x="571500" y="2105025"/>
            <a:ext cx="4953000" cy="3714750"/>
          </a:xfrm>
          <a:prstGeom xmlns:a="http://schemas.openxmlformats.org/drawingml/2006/main" prst="roundRect">
            <a:avLst>
              <a:gd name="adj" fmla="val 3590"/>
            </a:avLst>
          </a:prstGeom>
          <a:ln xmlns:a="http://schemas.openxmlformats.org/drawingml/2006/main" w="9525">
            <a:solidFill>
              <a:srgbClr val="C89C40"/>
            </a:solidFill>
          </a:ln>
        </p:spPr>
      </p:pic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2cd90ae75f7945d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  ·  7 SKU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225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асортимент і собівартість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620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За споживчу упаковку 2 × 125 г · USD / UAH · 6 упаковок у транспортному коробі</a:t>
            </a:r>
            <a:endParaRPr sz="12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27C41B4-C39E-4BB3-87E3-96451AFD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ts val="1700"/>
              </a:lnSpc>
              <a:buNone/>
              <a:def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Джерело: Self_Cost_Rice_Brand..xlsx, аркуш «BSCM(Double cup) - Навалом».</a:t>
            </a:r>
            <a:endParaRPr sz="1200"/>
          </a:p>
        </p:txBody>
      </p:sp>
      <p:sp>
        <p:nvSpPr>
          <p:cNvPr id="62" name="TextBox 61">
            <a:extLst xmlns:a="http://schemas.openxmlformats.org/drawingml/2006/main">
              <a:ext uri="{FF2B5EF4-FFF2-40B4-BE49-F238E27FC236}">
                <a16:creationId xmlns:a16="http://schemas.microsoft.com/office/drawing/2014/main" id="{C196FC4C-6289-4874-9259-944555FAC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75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* Basmati — за погодженням із постачальником.</a:t>
            </a:r>
          </a:p>
        </p:txBody>
      </p:sp>
      <p:sp xmlns:a="http://schemas.openxmlformats.org/drawingml/2006/main">
        <p:nvSpPr>
          <p:cNvPr id="63" name="Rounded Rectangle 62"/>
          <p:cNvSpPr/>
          <p:nvPr/>
        </p:nvSpPr>
        <p:spPr>
          <a:xfrm>
            <a:off x="571500" y="1885950"/>
            <a:ext cx="11048970" cy="3676620"/>
          </a:xfrm>
          <a:prstGeom prst="roundRect">
            <a:avLst>
              <a:gd name="adj" fmla="val 2000"/>
            </a:avLst>
          </a:prstGeom>
          <a:solidFill>
            <a:srgbClr val="12452B">
              <a:alpha val="90000"/>
            </a:srgbClr>
          </a:solidFill>
          <a:ln w="15875">
            <a:solidFill>
              <a:srgbClr val="C89C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4" name="TextBox 63"/>
          <p:cNvSpPr txBox="1"/>
          <p:nvPr/>
        </p:nvSpPr>
        <p:spPr>
          <a:xfrm>
            <a:off x="891540" y="2123694"/>
            <a:ext cx="379476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00" b="1" spc="75">
                <a:solidFill>
                  <a:srgbClr val="F5CE76"/>
                </a:solidFill>
                <a:latin typeface="Calibri"/>
              </a:rPr>
              <a:t>READY RICE / SKU</a:t>
            </a:r>
          </a:p>
        </p:txBody>
      </p:sp>
      <p:sp xmlns:a="http://schemas.openxmlformats.org/drawingml/2006/main">
        <p:nvSpPr>
          <p:cNvPr id="65" name="TextBox 64"/>
          <p:cNvSpPr txBox="1"/>
          <p:nvPr/>
        </p:nvSpPr>
        <p:spPr>
          <a:xfrm>
            <a:off x="4686300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20′ FCL</a:t>
            </a:r>
          </a:p>
        </p:txBody>
      </p:sp>
      <p:sp xmlns:a="http://schemas.openxmlformats.org/drawingml/2006/main">
        <p:nvSpPr>
          <p:cNvPr id="66" name="TextBox 65"/>
          <p:cNvSpPr txBox="1"/>
          <p:nvPr/>
        </p:nvSpPr>
        <p:spPr>
          <a:xfrm>
            <a:off x="6339832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40′ FCL</a:t>
            </a:r>
          </a:p>
        </p:txBody>
      </p:sp>
      <p:sp xmlns:a="http://schemas.openxmlformats.org/drawingml/2006/main">
        <p:nvSpPr>
          <p:cNvPr id="67" name="TextBox 66"/>
          <p:cNvSpPr txBox="1"/>
          <p:nvPr/>
        </p:nvSpPr>
        <p:spPr>
          <a:xfrm>
            <a:off x="7993365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17 М³</a:t>
            </a:r>
          </a:p>
        </p:txBody>
      </p:sp>
      <p:sp xmlns:a="http://schemas.openxmlformats.org/drawingml/2006/main">
        <p:nvSpPr>
          <p:cNvPr id="68" name="TextBox 67"/>
          <p:cNvSpPr txBox="1"/>
          <p:nvPr/>
        </p:nvSpPr>
        <p:spPr>
          <a:xfrm>
            <a:off x="9646897" y="2123694"/>
            <a:ext cx="1653532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spc="75">
                <a:solidFill>
                  <a:srgbClr val="F5CE76"/>
                </a:solidFill>
                <a:latin typeface="Calibri"/>
              </a:rPr>
              <a:t>LCL 34 М³</a:t>
            </a:r>
          </a:p>
        </p:txBody>
      </p:sp>
      <p:sp xmlns:a="http://schemas.openxmlformats.org/drawingml/2006/main">
        <p:nvSpPr>
          <p:cNvPr id="69" name="Rectangle 68"/>
          <p:cNvSpPr/>
          <p:nvPr/>
        </p:nvSpPr>
        <p:spPr>
          <a:xfrm>
            <a:off x="891540" y="2452878"/>
            <a:ext cx="10408890" cy="12802"/>
          </a:xfrm>
          <a:prstGeom prst="rect">
            <a:avLst/>
          </a:prstGeom>
          <a:solidFill>
            <a:srgbClr val="C89C40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0" name="TextBox 69"/>
          <p:cNvSpPr txBox="1"/>
          <p:nvPr/>
        </p:nvSpPr>
        <p:spPr>
          <a:xfrm>
            <a:off x="891540" y="2580894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без олії</a:t>
            </a:r>
          </a:p>
        </p:txBody>
      </p:sp>
      <p:sp xmlns:a="http://schemas.openxmlformats.org/drawingml/2006/main">
        <p:nvSpPr>
          <p:cNvPr id="71" name="TextBox 70"/>
          <p:cNvSpPr txBox="1"/>
          <p:nvPr/>
        </p:nvSpPr>
        <p:spPr>
          <a:xfrm>
            <a:off x="4686300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 xmlns:a="http://schemas.openxmlformats.org/drawingml/2006/main">
        <p:nvSpPr>
          <p:cNvPr id="72" name="TextBox 71"/>
          <p:cNvSpPr txBox="1"/>
          <p:nvPr/>
        </p:nvSpPr>
        <p:spPr>
          <a:xfrm>
            <a:off x="6339832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 xmlns:a="http://schemas.openxmlformats.org/drawingml/2006/main">
        <p:nvSpPr>
          <p:cNvPr id="73" name="TextBox 72"/>
          <p:cNvSpPr txBox="1"/>
          <p:nvPr/>
        </p:nvSpPr>
        <p:spPr>
          <a:xfrm>
            <a:off x="7993365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 xmlns:a="http://schemas.openxmlformats.org/drawingml/2006/main">
        <p:nvSpPr>
          <p:cNvPr id="74" name="TextBox 73"/>
          <p:cNvSpPr txBox="1"/>
          <p:nvPr/>
        </p:nvSpPr>
        <p:spPr>
          <a:xfrm>
            <a:off x="9646897" y="2580894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 xmlns:a="http://schemas.openxmlformats.org/drawingml/2006/main">
        <p:nvSpPr>
          <p:cNvPr id="75" name="Rectangle 74"/>
          <p:cNvSpPr/>
          <p:nvPr/>
        </p:nvSpPr>
        <p:spPr>
          <a:xfrm>
            <a:off x="891540" y="2978109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6" name="TextBox 75"/>
          <p:cNvSpPr txBox="1"/>
          <p:nvPr/>
        </p:nvSpPr>
        <p:spPr>
          <a:xfrm>
            <a:off x="891540" y="2978109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· з олією</a:t>
            </a:r>
          </a:p>
        </p:txBody>
      </p:sp>
      <p:sp xmlns:a="http://schemas.openxmlformats.org/drawingml/2006/main">
        <p:nvSpPr>
          <p:cNvPr id="77" name="TextBox 76"/>
          <p:cNvSpPr txBox="1"/>
          <p:nvPr/>
        </p:nvSpPr>
        <p:spPr>
          <a:xfrm>
            <a:off x="4686300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 xmlns:a="http://schemas.openxmlformats.org/drawingml/2006/main">
        <p:nvSpPr>
          <p:cNvPr id="78" name="TextBox 77"/>
          <p:cNvSpPr txBox="1"/>
          <p:nvPr/>
        </p:nvSpPr>
        <p:spPr>
          <a:xfrm>
            <a:off x="6339832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 xmlns:a="http://schemas.openxmlformats.org/drawingml/2006/main">
        <p:nvSpPr>
          <p:cNvPr id="79" name="TextBox 78"/>
          <p:cNvSpPr txBox="1"/>
          <p:nvPr/>
        </p:nvSpPr>
        <p:spPr>
          <a:xfrm>
            <a:off x="7993365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 xmlns:a="http://schemas.openxmlformats.org/drawingml/2006/main">
        <p:nvSpPr>
          <p:cNvPr id="80" name="TextBox 79"/>
          <p:cNvSpPr txBox="1"/>
          <p:nvPr/>
        </p:nvSpPr>
        <p:spPr>
          <a:xfrm>
            <a:off x="9646897" y="2978109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 xmlns:a="http://schemas.openxmlformats.org/drawingml/2006/main">
        <p:nvSpPr>
          <p:cNvPr id="81" name="Rectangle 80"/>
          <p:cNvSpPr/>
          <p:nvPr/>
        </p:nvSpPr>
        <p:spPr>
          <a:xfrm>
            <a:off x="891540" y="337532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2" name="TextBox 81"/>
          <p:cNvSpPr txBox="1"/>
          <p:nvPr/>
        </p:nvSpPr>
        <p:spPr>
          <a:xfrm>
            <a:off x="891540" y="337532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Jasmine Rice (Pathum) · з олією</a:t>
            </a:r>
          </a:p>
        </p:txBody>
      </p:sp>
      <p:sp xmlns:a="http://schemas.openxmlformats.org/drawingml/2006/main">
        <p:nvSpPr>
          <p:cNvPr id="83" name="TextBox 82"/>
          <p:cNvSpPr txBox="1"/>
          <p:nvPr/>
        </p:nvSpPr>
        <p:spPr>
          <a:xfrm>
            <a:off x="4686300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$1,480 / 66,58 ₴</a:t>
            </a:r>
          </a:p>
        </p:txBody>
      </p:sp>
      <p:sp xmlns:a="http://schemas.openxmlformats.org/drawingml/2006/main">
        <p:nvSpPr>
          <p:cNvPr id="84" name="TextBox 83"/>
          <p:cNvSpPr txBox="1"/>
          <p:nvPr/>
        </p:nvSpPr>
        <p:spPr>
          <a:xfrm>
            <a:off x="6339832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$1,303 / 58,65 ₴</a:t>
            </a:r>
          </a:p>
        </p:txBody>
      </p:sp>
      <p:sp xmlns:a="http://schemas.openxmlformats.org/drawingml/2006/main">
        <p:nvSpPr>
          <p:cNvPr id="85" name="TextBox 84"/>
          <p:cNvSpPr txBox="1"/>
          <p:nvPr/>
        </p:nvSpPr>
        <p:spPr>
          <a:xfrm>
            <a:off x="7993365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$1,485 / 66,82 ₴</a:t>
            </a:r>
          </a:p>
        </p:txBody>
      </p:sp>
      <p:sp xmlns:a="http://schemas.openxmlformats.org/drawingml/2006/main">
        <p:nvSpPr>
          <p:cNvPr id="86" name="TextBox 85"/>
          <p:cNvSpPr txBox="1"/>
          <p:nvPr/>
        </p:nvSpPr>
        <p:spPr>
          <a:xfrm>
            <a:off x="9646897" y="337532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$1,362 / 61,31 ₴</a:t>
            </a:r>
          </a:p>
        </p:txBody>
      </p:sp>
      <p:sp xmlns:a="http://schemas.openxmlformats.org/drawingml/2006/main">
        <p:nvSpPr>
          <p:cNvPr id="87" name="Rectangle 86"/>
          <p:cNvSpPr/>
          <p:nvPr/>
        </p:nvSpPr>
        <p:spPr>
          <a:xfrm>
            <a:off x="891540" y="3772540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8" name="TextBox 87"/>
          <p:cNvSpPr txBox="1"/>
          <p:nvPr/>
        </p:nvSpPr>
        <p:spPr>
          <a:xfrm>
            <a:off x="891540" y="3772540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Jasmine Rice · з олією</a:t>
            </a:r>
          </a:p>
        </p:txBody>
      </p:sp>
      <p:sp xmlns:a="http://schemas.openxmlformats.org/drawingml/2006/main">
        <p:nvSpPr>
          <p:cNvPr id="89" name="TextBox 88"/>
          <p:cNvSpPr txBox="1"/>
          <p:nvPr/>
        </p:nvSpPr>
        <p:spPr>
          <a:xfrm>
            <a:off x="4686300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 xmlns:a="http://schemas.openxmlformats.org/drawingml/2006/main">
        <p:nvSpPr>
          <p:cNvPr id="90" name="TextBox 89"/>
          <p:cNvSpPr txBox="1"/>
          <p:nvPr/>
        </p:nvSpPr>
        <p:spPr>
          <a:xfrm>
            <a:off x="6339832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 xmlns:a="http://schemas.openxmlformats.org/drawingml/2006/main">
        <p:nvSpPr>
          <p:cNvPr id="91" name="TextBox 90"/>
          <p:cNvSpPr txBox="1"/>
          <p:nvPr/>
        </p:nvSpPr>
        <p:spPr>
          <a:xfrm>
            <a:off x="7993365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75,14 ₴</a:t>
            </a:r>
          </a:p>
        </p:txBody>
      </p:sp>
      <p:sp xmlns:a="http://schemas.openxmlformats.org/drawingml/2006/main">
        <p:nvSpPr>
          <p:cNvPr id="92" name="TextBox 91"/>
          <p:cNvSpPr txBox="1"/>
          <p:nvPr/>
        </p:nvSpPr>
        <p:spPr>
          <a:xfrm>
            <a:off x="9646897" y="3772540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68,94 ₴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891540" y="4169755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891540" y="4169755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Brown Rice · з олією</a:t>
            </a:r>
          </a:p>
        </p:txBody>
      </p:sp>
      <p:sp xmlns:a="http://schemas.openxmlformats.org/drawingml/2006/main">
        <p:nvSpPr>
          <p:cNvPr id="95" name="TextBox 94"/>
          <p:cNvSpPr txBox="1"/>
          <p:nvPr/>
        </p:nvSpPr>
        <p:spPr>
          <a:xfrm>
            <a:off x="4686300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$1,628 / 73,24 ₴</a:t>
            </a:r>
          </a:p>
        </p:txBody>
      </p:sp>
      <p:sp xmlns:a="http://schemas.openxmlformats.org/drawingml/2006/main">
        <p:nvSpPr>
          <p:cNvPr id="96" name="TextBox 95"/>
          <p:cNvSpPr txBox="1"/>
          <p:nvPr/>
        </p:nvSpPr>
        <p:spPr>
          <a:xfrm>
            <a:off x="6339832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$1,434 / 64,51 ₴</a:t>
            </a:r>
          </a:p>
        </p:txBody>
      </p:sp>
      <p:sp xmlns:a="http://schemas.openxmlformats.org/drawingml/2006/main">
        <p:nvSpPr>
          <p:cNvPr id="97" name="TextBox 96"/>
          <p:cNvSpPr txBox="1"/>
          <p:nvPr/>
        </p:nvSpPr>
        <p:spPr>
          <a:xfrm>
            <a:off x="7993365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$1,633 / 73,51 ₴</a:t>
            </a:r>
          </a:p>
        </p:txBody>
      </p:sp>
      <p:sp xmlns:a="http://schemas.openxmlformats.org/drawingml/2006/main">
        <p:nvSpPr>
          <p:cNvPr id="98" name="TextBox 97"/>
          <p:cNvSpPr txBox="1"/>
          <p:nvPr/>
        </p:nvSpPr>
        <p:spPr>
          <a:xfrm>
            <a:off x="9646897" y="4169755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$1,499 / 67,44 ₴</a:t>
            </a:r>
          </a:p>
        </p:txBody>
      </p:sp>
      <p:sp xmlns:a="http://schemas.openxmlformats.org/drawingml/2006/main">
        <p:nvSpPr>
          <p:cNvPr id="99" name="Rectangle 98"/>
          <p:cNvSpPr/>
          <p:nvPr/>
        </p:nvSpPr>
        <p:spPr>
          <a:xfrm>
            <a:off x="891540" y="4566971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0" name="TextBox 99"/>
          <p:cNvSpPr txBox="1"/>
          <p:nvPr/>
        </p:nvSpPr>
        <p:spPr>
          <a:xfrm>
            <a:off x="891540" y="4566971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Basmati Rice* · з олією</a:t>
            </a:r>
          </a:p>
        </p:txBody>
      </p:sp>
      <p:sp xmlns:a="http://schemas.openxmlformats.org/drawingml/2006/main">
        <p:nvSpPr>
          <p:cNvPr id="101" name="TextBox 100"/>
          <p:cNvSpPr txBox="1"/>
          <p:nvPr/>
        </p:nvSpPr>
        <p:spPr>
          <a:xfrm>
            <a:off x="4686300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$1,776 / 79,90 ₴</a:t>
            </a:r>
          </a:p>
        </p:txBody>
      </p:sp>
      <p:sp xmlns:a="http://schemas.openxmlformats.org/drawingml/2006/main">
        <p:nvSpPr>
          <p:cNvPr id="102" name="TextBox 101"/>
          <p:cNvSpPr txBox="1"/>
          <p:nvPr/>
        </p:nvSpPr>
        <p:spPr>
          <a:xfrm>
            <a:off x="6339832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$1,564 / 70,38 ₴</a:t>
            </a:r>
          </a:p>
        </p:txBody>
      </p:sp>
      <p:sp xmlns:a="http://schemas.openxmlformats.org/drawingml/2006/main">
        <p:nvSpPr>
          <p:cNvPr id="103" name="TextBox 102"/>
          <p:cNvSpPr txBox="1"/>
          <p:nvPr/>
        </p:nvSpPr>
        <p:spPr>
          <a:xfrm>
            <a:off x="7993365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$1,782 / 80,19 ₴</a:t>
            </a:r>
          </a:p>
        </p:txBody>
      </p:sp>
      <p:sp xmlns:a="http://schemas.openxmlformats.org/drawingml/2006/main">
        <p:nvSpPr>
          <p:cNvPr id="104" name="TextBox 103"/>
          <p:cNvSpPr txBox="1"/>
          <p:nvPr/>
        </p:nvSpPr>
        <p:spPr>
          <a:xfrm>
            <a:off x="9646897" y="4566971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$1,635 / 73,57 ₴</a:t>
            </a:r>
          </a:p>
        </p:txBody>
      </p:sp>
      <p:sp xmlns:a="http://schemas.openxmlformats.org/drawingml/2006/main">
        <p:nvSpPr>
          <p:cNvPr id="105" name="Rectangle 104"/>
          <p:cNvSpPr/>
          <p:nvPr/>
        </p:nvSpPr>
        <p:spPr>
          <a:xfrm>
            <a:off x="891540" y="4964186"/>
            <a:ext cx="10408890" cy="9144"/>
          </a:xfrm>
          <a:prstGeom prst="rect">
            <a:avLst/>
          </a:prstGeom>
          <a:solidFill>
            <a:srgbClr val="C89C40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6" name="TextBox 105"/>
          <p:cNvSpPr txBox="1"/>
          <p:nvPr/>
        </p:nvSpPr>
        <p:spPr>
          <a:xfrm>
            <a:off x="891540" y="4964186"/>
            <a:ext cx="3794760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200" b="0">
                <a:solidFill>
                  <a:srgbClr val="FCF9F0"/>
                </a:solidFill>
                <a:latin typeface="Calibri"/>
              </a:rPr>
              <a:t>Long Grain Rice · з олією</a:t>
            </a:r>
          </a:p>
        </p:txBody>
      </p:sp>
      <p:sp xmlns:a="http://schemas.openxmlformats.org/drawingml/2006/main">
        <p:nvSpPr>
          <p:cNvPr id="107" name="TextBox 106"/>
          <p:cNvSpPr txBox="1"/>
          <p:nvPr/>
        </p:nvSpPr>
        <p:spPr>
          <a:xfrm>
            <a:off x="4686300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$1,391 / 62,59 ₴</a:t>
            </a:r>
          </a:p>
        </p:txBody>
      </p:sp>
      <p:sp xmlns:a="http://schemas.openxmlformats.org/drawingml/2006/main">
        <p:nvSpPr>
          <p:cNvPr id="108" name="TextBox 107"/>
          <p:cNvSpPr txBox="1"/>
          <p:nvPr/>
        </p:nvSpPr>
        <p:spPr>
          <a:xfrm>
            <a:off x="6339832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5CE76"/>
                </a:solidFill>
                <a:latin typeface="Calibri"/>
              </a:rPr>
              <a:t>$1,225 / 55,13 ₴</a:t>
            </a:r>
          </a:p>
        </p:txBody>
      </p:sp>
      <p:sp xmlns:a="http://schemas.openxmlformats.org/drawingml/2006/main">
        <p:nvSpPr>
          <p:cNvPr id="109" name="TextBox 108"/>
          <p:cNvSpPr txBox="1"/>
          <p:nvPr/>
        </p:nvSpPr>
        <p:spPr>
          <a:xfrm>
            <a:off x="7993365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$1,396 / 62,82 ₴</a:t>
            </a:r>
          </a:p>
        </p:txBody>
      </p:sp>
      <p:sp xmlns:a="http://schemas.openxmlformats.org/drawingml/2006/main">
        <p:nvSpPr>
          <p:cNvPr id="110" name="TextBox 109"/>
          <p:cNvSpPr txBox="1"/>
          <p:nvPr/>
        </p:nvSpPr>
        <p:spPr>
          <a:xfrm>
            <a:off x="9646897" y="4964186"/>
            <a:ext cx="1653532" cy="39721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D2E4CE"/>
                </a:solidFill>
                <a:latin typeface="Calibri"/>
              </a:rPr>
              <a:t>$1,281 / 57,63 ₴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e972ea797b294e9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F77CD9A-0EFB-41E4-BB91-158CD8B9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100" b="1" i="0">
                <a:solidFill>
                  <a:srgbClr val="F0AC58"/>
                </a:solidFill>
                <a:latin typeface="Calibri"/>
                <a:ea typeface="Calibri"/>
                <a:cs typeface="Calibri"/>
              </a:defRPr>
            </a:pPr>
            <a:r>
              <a:rPr sz="1100" b="1" i="0" spc="260">
                <a:solidFill>
                  <a:srgbClr val="F0AC58"/>
                </a:solidFill>
                <a:latin typeface="Calibri"/>
                <a:ea typeface="Calibri"/>
                <a:cs typeface="Calibri"/>
              </a:rPr>
              <a:t>BSCM FOODS  ·  DOUBLE CUP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96C762-5C3C-4C5E-AE52-4FCFDC00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Double Cup — як виглядає упаковка</a:t>
            </a:r>
            <a:endParaRPr sz="31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477A47AF-CA07-4AD7-9441-ED43883C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144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Два стаканчики по 125 г у картонній обгортці · виробництво під Private Label</a:t>
            </a:r>
            <a:endParaRPr sz="1250"/>
          </a:p>
        </p:txBody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F1C3D159-6BBB-4F8D-B9ED-F6496F44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11049000" cy="3400425"/>
          </a:xfrm>
          <a:prstGeom xmlns:a="http://schemas.openxmlformats.org/drawingml/2006/main" prst="roundRect">
            <a:avLst>
              <a:gd name="adj" fmla="val 23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89C40"/>
            </a:solidFill>
            <a:prstDash val="solid"/>
          </a:ln>
          <a:effectLst xmlns:a="http://schemas.openxmlformats.org/drawingml/2006/main">
            <a:outerShdw blurRad="177800" dist="38100" dir="5400000" algn="bl" rotWithShape="0">
              <a:srgbClr val="000000">
                <a:alpha val="45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B99B33F-CA18-49F8-8EC9-D0A44AF6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2 × 125 г</a:t>
            </a:r>
            <a:endParaRPr sz="1900"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9254B401-36F1-4B46-897A-3CB2BDEB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250 г у споживчій упаковці</a:t>
            </a:r>
            <a:endParaRPr sz="1050"/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0BEDDE1-3BA8-41C7-A18B-3458416DE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334000"/>
            <a:ext cx="323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Sleeve box</a:t>
            </a:r>
            <a:endParaRPr sz="1900"/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218C4906-3F42-4BCF-AD90-A44D0560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8293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Картонна обгортка</a:t>
            </a:r>
            <a:endParaRPr sz="1050"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261A9ED7-0551-4B4E-B905-410FED97D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352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F5CE76"/>
                </a:solidFill>
                <a:latin typeface="Calibri"/>
                <a:ea typeface="Calibri"/>
                <a:cs typeface="Calibri"/>
              </a:rPr>
              <a:t>Private Label</a:t>
            </a:r>
            <a:endParaRPr sz="1900"/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E99E232B-CE92-4C25-B546-D18CAEAE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82930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FCF9F0"/>
                </a:solidFill>
                <a:latin typeface="Calibri"/>
                <a:ea typeface="Calibri"/>
                <a:cs typeface="Calibri"/>
              </a:rPr>
              <a:t>Друк дизайну замовника</a:t>
            </a:r>
            <a:endParaRPr sz="1050"/>
          </a:p>
        </p:txBody>
      </p:sp>
      <p:pic>
        <p:nvPicPr>
          <p:cNvPr id="51" name="Picture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f59d02eab496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" y="1905000"/>
            <a:ext cx="3238500" cy="29527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2" name="Picture 3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3d9171989408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9125" y="1971675"/>
            <a:ext cx="3143250" cy="280987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pic>
        <p:nvPicPr>
          <p:cNvPr id="53" name="Picture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10a2bd60bf47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96250" y="2038350"/>
            <a:ext cx="3190875" cy="266700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C89C40"/>
            </a:solidFill>
          </a:ln>
        </p:spPr>
      </p:pic>
      <p:sp>
        <p:nvSpPr>
          <p:cNvPr id="37" name="TextBox 36">
            <a:extLst xmlns:a="http://schemas.openxmlformats.org/drawingml/2006/main">
              <a:ext uri="{FF2B5EF4-FFF2-40B4-BE49-F238E27FC236}">
                <a16:creationId xmlns:a16="http://schemas.microsoft.com/office/drawing/2014/main" id="{5BD72AA7-C24E-4F22-8E79-8984695C9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defRPr>
            </a:pPr>
            <a:r>
              <a:rPr sz="900" b="0" i="0">
                <a:solidFill>
                  <a:srgbClr val="D2E4CE"/>
                </a:solidFill>
                <a:latin typeface="Calibri"/>
                <a:ea typeface="Calibri"/>
                <a:cs typeface="Calibri"/>
              </a:rPr>
              <a:t>Фото постачальника: Double Cup без друку — основа для дизайну нашої торгової марки.</a:t>
            </a:r>
          </a:p>
        </p:txBody>
      </p:sp>
    </p:spTree>
    <p:extLst>
      <p:ext uri="{BB962C8B-B14F-4D97-AF65-F5344CB8AC3E}">
        <p14:creationId xmlns:p14="http://schemas.microsoft.com/office/powerpoint/2010/main" val="5980722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2026-09-05T17:09:19.2590000Z</dcterms:created>
  <dcterms:modified xsi:type="dcterms:W3CDTF">2026-09-05T17:09:19.2590000Z</dcterms:modified>
</coreProperties>
</file>