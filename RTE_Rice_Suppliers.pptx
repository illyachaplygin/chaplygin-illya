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14"/>
    <p:sldId id="263" r:id="rId8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Cup-Photo of Products.pdf — Single Cup assortment, packaging parameters, and product images; supplied by the user.</a:t>
            </a:r>
          </a:p>
          <a:p>
            <a:r>
              <a:t>- User instruction — BSCM launched new cup production; cost is intentionally omitted.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eg"/><Relationship Id="rId4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eg"/><Relationship Id="rId4" Type="http://schemas.openxmlformats.org/officeDocument/2006/relationships/image" Target="../media/image4.jpeg"/><Relationship Id="rId5" Type="http://schemas.openxmlformats.org/officeDocument/2006/relationships/image" Target="../media/image5.jpeg"/><Relationship Id="rId6" Type="http://schemas.openxmlformats.org/officeDocument/2006/relationships/image" Target="../media/image6.jpeg"/><Relationship Id="rId7" Type="http://schemas.openxmlformats.org/officeDocument/2006/relationships/image" Target="../media/image7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eg"/><Relationship Id="rId4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eg"/><Relationship Id="rId4" Type="http://schemas.openxmlformats.org/officeDocument/2006/relationships/image" Target="../media/image9.jpeg"/><Relationship Id="rId5" Type="http://schemas.openxmlformats.org/officeDocument/2006/relationships/image" Target="../media/image10.jpeg"/><Relationship Id="rId6" Type="http://schemas.openxmlformats.org/officeDocument/2006/relationships/image" Target="../media/image11.jpeg"/><Relationship Id="rId7" Type="http://schemas.openxmlformats.org/officeDocument/2006/relationships/image" Target="../media/image1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jpg"/><Relationship Id="rId3" Type="http://schemas.openxmlformats.org/officeDocument/2006/relationships/image" Target="../media/image2.jpeg"/><Relationship Id="rId4" Type="http://schemas.openxmlformats.org/officeDocument/2006/relationships/image" Target="../media/image8.jpg"/><Relationship Id="rId5" Type="http://schemas.openxmlformats.org/officeDocument/2006/relationships/image" Target="../media/image20.jpg"/><Relationship Id="rId6" Type="http://schemas.openxmlformats.org/officeDocument/2006/relationships/image" Target="../media/image21.jpg"/><Relationship Id="rId7" Type="http://schemas.openxmlformats.org/officeDocument/2006/relationships/image" Target="../media/image22.jpg"/><Relationship Id="rId8" Type="http://schemas.openxmlformats.org/officeDocument/2006/relationships/image" Target="../media/image23.jpg"/><Relationship Id="rId9" Type="http://schemas.openxmlformats.org/officeDocument/2006/relationships/image" Target="../media/image24.jpg"/><Relationship Id="rId10" Type="http://schemas.openxmlformats.org/officeDocument/2006/relationships/image" Target="../media/image25.jpg"/><Relationship Id="rId11" Type="http://schemas.openxmlformats.org/officeDocument/2006/relationships/image" Target="../media/image26.jpg"/><Relationship Id="rId12" Type="http://schemas.openxmlformats.org/officeDocument/2006/relationships/image" Target="../media/image27.jpg"/><Relationship Id="rId13" Type="http://schemas.openxmlformats.org/officeDocument/2006/relationships/image" Target="../media/image28.jpg"/><Relationship Id="rId14" Type="http://schemas.openxmlformats.org/officeDocument/2006/relationships/image" Target="../media/image29.jpg"/><Relationship Id="rId15" Type="http://schemas.openxmlformats.org/officeDocument/2006/relationships/image" Target="../media/image30.jpg"/><Relationship Id="rId16" Type="http://schemas.openxmlformats.org/officeDocument/2006/relationships/image" Target="../media/image31.jpg"/><Relationship Id="rId17" Type="http://schemas.openxmlformats.org/officeDocument/2006/relationships/image" Target="../media/image32.jpg"/><Relationship Id="rId18" Type="http://schemas.openxmlformats.org/officeDocument/2006/relationships/image" Target="../media/image33.jpg"/><Relationship Id="rId19" Type="http://schemas.openxmlformats.org/officeDocument/2006/relationships/image" Target="../media/image3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1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C9E11D9-4C10-4498-B08F-418DC703689B}"/>
              </a:ext>
            </a:extLst>
          </p:cNvPr>
          <p:cNvSpPr>
            <a:spLocks noGrp="1"/>
          </p:cNvSpPr>
          <p:nvPr/>
        </p:nvSpPr>
        <p:spPr>
          <a:xfrm>
            <a:off x="640080" y="1691640"/>
            <a:ext cx="5349240" cy="3474720"/>
          </a:xfrm>
          <a:prstGeom prst="roundRect">
            <a:avLst>
              <a:gd name="adj" fmla="val 3636"/>
            </a:avLst>
          </a:prstGeom>
          <a:solidFill>
            <a:srgbClr val="12452B">
              <a:alpha val="92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050D1F1-25C6-459D-B6EE-3201D5DA8822}"/>
              </a:ext>
            </a:extLst>
          </p:cNvPr>
          <p:cNvSpPr>
            <a:spLocks noGrp="1"/>
          </p:cNvSpPr>
          <p:nvPr/>
        </p:nvSpPr>
        <p:spPr>
          <a:xfrm>
            <a:off x="1097280" y="2322576"/>
            <a:ext cx="443484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700" b="1" spc="15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READY-TO-EAT RICE</a:t>
            </a:r>
            <a:endParaRPr sz="3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2CA64F1-2DC5-431B-A0BE-B63DF81EEFA7}"/>
              </a:ext>
            </a:extLst>
          </p:cNvPr>
          <p:cNvSpPr>
            <a:spLocks noGrp="1"/>
          </p:cNvSpPr>
          <p:nvPr/>
        </p:nvSpPr>
        <p:spPr>
          <a:xfrm>
            <a:off x="1097280" y="3081528"/>
            <a:ext cx="1828800" cy="0"/>
          </a:xfrm>
          <a:prstGeom prst="line">
            <a:avLst/>
          </a:prstGeom>
          <a:noFill/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C612DCA-AB68-4951-A902-1E1495207AA6}"/>
              </a:ext>
            </a:extLst>
          </p:cNvPr>
          <p:cNvSpPr>
            <a:spLocks noGrp="1"/>
          </p:cNvSpPr>
          <p:nvPr/>
        </p:nvSpPr>
        <p:spPr>
          <a:xfrm>
            <a:off x="1961388" y="3035808"/>
            <a:ext cx="100584" cy="100584"/>
          </a:xfrm>
          <a:prstGeom prst="diamond">
            <a:avLst/>
          </a:prstGeom>
          <a:solidFill>
            <a:srgbClr val="F5CE76"/>
          </a:solidFill>
          <a:ln w="6350">
            <a:solidFill>
              <a:srgbClr val="E0B2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978E9-75EC-4BA8-8582-EAFEB8AD9E13}"/>
              </a:ext>
            </a:extLst>
          </p:cNvPr>
          <p:cNvSpPr>
            <a:spLocks noGrp="1"/>
          </p:cNvSpPr>
          <p:nvPr/>
        </p:nvSpPr>
        <p:spPr>
          <a:xfrm>
            <a:off x="1097280" y="3264408"/>
            <a:ext cx="44348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7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Постачальники та собівартість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2744851-5719-43BB-BF0D-B86A6B0C2E1C}"/>
              </a:ext>
            </a:extLst>
          </p:cNvPr>
          <p:cNvSpPr>
            <a:spLocks noGrp="1"/>
          </p:cNvSpPr>
          <p:nvPr/>
        </p:nvSpPr>
        <p:spPr>
          <a:xfrm>
            <a:off x="1097280" y="3785616"/>
            <a:ext cx="44348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BSCM Foods Co., Ltd.</a:t>
            </a:r>
            <a:r>
              <a:rPr sz="1150">
                <a:solidFill>
                  <a:srgbClr val="C89C40"/>
                </a:solidFill>
                <a:latin typeface="Calibri"/>
                <a:ea typeface="Calibri"/>
                <a:cs typeface="Calibri"/>
              </a:rPr>
              <a:t>   ·   </a:t>
            </a: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CM Premium Rice Co., Ltd.</a:t>
            </a:r>
            <a:endParaRPr sz="135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199F762-1B10-42AE-9A9D-9E1C6FE25745}"/>
              </a:ext>
            </a:extLst>
          </p:cNvPr>
          <p:cNvSpPr>
            <a:spLocks noGrp="1"/>
          </p:cNvSpPr>
          <p:nvPr/>
        </p:nvSpPr>
        <p:spPr>
          <a:xfrm>
            <a:off x="1097280" y="4242816"/>
            <a:ext cx="443484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1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Таїланд · FOB Bangkok · завантаження навалом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707073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CM Premium Rice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Виробник органічного рису та готових страв, бренди Q Rice · Golden Phoenix · Chefrey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офіс Nonthaburi · завод Nakhon Ratchasima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Заснована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6 липня 2016 · капітал 50 млн THB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Досвід групи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30 років у рисовому виробництві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Потужність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120 000 тонн на рік · 10 000 т/міс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Сировина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99% Таїланд · 30+ партнерських рисозаводів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Експорт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20 країн світу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250 г · 24 шт у коробі</a:t>
            </a:r>
            <a:endParaRPr sz="115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9001 · Halal · Organic</a:t>
            </a:r>
            <a:endParaRPr sz="1150"/>
          </a:p>
        </p:txBody>
      </p:sp>
      <p:pic>
        <p:nvPicPr>
          <p:cNvPr id="61" name="Image 0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>
            <a:extLst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2016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noGrp="1"/>
          </p:cNvSpPr>
          <p:nvPr/>
        </p:nvSpPr>
        <p:spPr>
          <a:xfrm>
            <a:off x="9418320" y="4581144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рік початку роботи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120 000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т/рік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noGrp="1"/>
          </p:cNvSpPr>
          <p:nvPr/>
        </p:nvSpPr>
        <p:spPr>
          <a:xfrm>
            <a:off x="9418320" y="514807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виробнича потужність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9455139-65F1-448B-8A7C-86FFA827F351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D40C00FA-3D9E-4C88-BA29-ECBF4916B185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99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%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324D476-C6D4-42C7-BAFD-4CF0E84F17CB}"/>
              </a:ext>
            </a:extLst>
          </p:cNvPr>
          <p:cNvSpPr>
            <a:spLocks noGrp="1"/>
          </p:cNvSpPr>
          <p:nvPr/>
        </p:nvSpPr>
        <p:spPr>
          <a:xfrm>
            <a:off x="9418320" y="571500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сировини з Таїланду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корпоративна презентація CM Premium Rice Co., Ltd., сайт cmp-rice.com та прайс-лист Chefrey.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973573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  ·  CHEFREY / CM PREMIUM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Chefrey Organic RTE 6 × 250 г — собівартість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B3E3610-3F77-4808-A291-CC88332A673B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1" name="Image 0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Turmeric Basmati</a:t>
            </a:r>
            <a:endParaRPr sz="1450"/>
          </a:p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with Cumin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C304521-7003-41C9-A3DF-B606C354369E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22ECCC3-BFAF-4EDE-935D-88BA8CB5F5D0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5EED41A-EC4F-42AA-8D1B-5807CC449D8D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8" name="Image 1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Garlic Fried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68A85A44-B6CB-4D71-8000-A653E3694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D93CC81-7EA2-49D9-8437-79938779A8F5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0427E166-8510-4CA7-8830-926E6C60FA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5" name="Image 2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Cilantro Lime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9C8F21B4-2ED4-4F90-8A4E-B929F37C5243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C10E996F-4409-4306-8C47-C3DBDB53C35F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E05EE4B9-A859-4792-9E6A-A9A645DFA502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2" name="Image 3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C56AF3DF-CE25-4AEE-B9EA-65DA2178D6C8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$1,020 / 45,91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$0,915 / 41,20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$1,215 / 54,68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838F0CEE-4FBA-4656-B576-A01896E53768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C7424DE8-2857-46C2-8E15-BFDE963490BE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$0,944 / 42,48 ₴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152137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BSCM Foods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Тайський виробник готових страв за ретортною технологією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Бангкок (Bangsue), Таїланд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Група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Bangsue Chia Meng Rice Mill, з 1937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RTE-виробництво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власний завод BSCM Foods, з 2009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Технологія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ретортна стерилізація, без консервантів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18 місяців за кімнатної температури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60–90 сек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240 г · 6 шт у коробі</a:t>
            </a:r>
            <a:endParaRPr sz="115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9E3FDCDD-AB84-4655-AE3A-27E63EDCF93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CE1C1DBA-4385-4A90-B461-BD4A3B7B3F15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22000 · GMP · Organic</a:t>
            </a:r>
            <a:endParaRPr sz="115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18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60+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країн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країн експорту групи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sz="900"/>
          </a:p>
        </p:txBody>
      </p:sp>
      <p:pic>
        <p:nvPicPr>
          <p:cNvPr id="37" name="Picture 34" descr="bscm_facility.jpg">
            <a:extLst>
              <a:ext uri="{FF2B5EF4-FFF2-40B4-BE49-F238E27FC236}">
                <a16:creationId xmlns:a16="http://schemas.microsoft.com/office/drawing/2014/main" id="{EBD8B576-66F4-E3D8-E88C-AED726EA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6553" y="1554480"/>
            <a:ext cx="4096512" cy="2834640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  ·  BSCM FOODS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240 г</a:t>
            </a:r>
            <a:endParaRPr sz="3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2" name="Picture 7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$0,995 / 44,79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$0,892 / 40,15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$1,001 / 45,03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$0,928 / 41,77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9" name="Picture 7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6" name="Picture 7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7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$0,750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$1,280 / 57,59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$1,147 / 51,63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$1,287 / 57,89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$1,193 / 53,70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651695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НОВЕ ВИРОБНИЦТВО · BSCM FOODS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8761682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12 × 150 г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1410" y="1115568"/>
            <a:ext cx="876168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with Sleeve Box · W/O Oil · 12 шт. у коробі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11749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11749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11749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11749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11749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11749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798642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798642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305516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798642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305516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$0,700 / 31,51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798642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305516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798642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305516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2820010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2964831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2964831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2964831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2964831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Brown Jasmine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2964831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2964831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051724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051724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3558598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051724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3558598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$0,700 / 31,51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051724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3558598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051724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3558598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5073091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5217912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5217912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5217912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5217912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Red Jasmine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5217912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5217912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5304805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5304805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5811679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5304805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5811679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$0,759 / 34,14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5304805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5811679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5304805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5811679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7326173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579254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7470994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4" name="Picture 153" descr="quinoa_hero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24076" y="1700784"/>
            <a:ext cx="1853711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724076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7470994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724076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7470994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724076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7470994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Rice Berry</a:t>
            </a:r>
            <a:endParaRPr sz="14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724076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Brown Jasmine Rice with Red Quinoa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7470994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724076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7470994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724076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7557887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810968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7557887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810968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8064761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10317842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7557887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810968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8064761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$0,759 / 34,14 ₴</a:t>
            </a:r>
            <a:endParaRPr sz="95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10317842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$0,759 / 34,14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7557887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810968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8064761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10317842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7557887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810968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8064761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10317842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876168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Products.pdf, Self Cost Rice Brand.xlsx (BSCM(Bags+Cups) - Навалом, 2026-09 revision) · курс 45,00 UAH/USD.</a:t>
            </a:r>
            <a:endParaRPr sz="900"/>
          </a:p>
        </p:txBody>
      </p:sp>
      <p:pic>
        <p:nvPicPr>
          <p:cNvPr id="150" name="Рисунок 14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1749" y="1700784"/>
            <a:ext cx="1853711" cy="1810512"/>
          </a:xfrm>
          <a:prstGeom prst="roundRect">
            <a:avLst/>
          </a:prstGeom>
        </p:spPr>
      </p:pic>
      <p:pic>
        <p:nvPicPr>
          <p:cNvPr id="151" name="Рисунок 150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964831" y="1700784"/>
            <a:ext cx="1853711" cy="1810512"/>
          </a:xfrm>
          <a:prstGeom prst="roundRect">
            <a:avLst/>
          </a:prstGeom>
        </p:spPr>
      </p:pic>
      <p:pic>
        <p:nvPicPr>
          <p:cNvPr id="152" name="Рисунок 151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217912" y="1700784"/>
            <a:ext cx="1853711" cy="1810512"/>
          </a:xfrm>
          <a:prstGeom prst="roundRect">
            <a:avLst/>
          </a:prstGeom>
        </p:spPr>
      </p:pic>
      <p:pic>
        <p:nvPicPr>
          <p:cNvPr id="153" name="Рисунок 152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7470994" y="1700784"/>
            <a:ext cx="1853711" cy="1810512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SINGLE CUP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— вигляд упаковки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5 позицій · 150 г · sleeve-бокс · фото з каталогу постачальника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8" name="Picture 57" descr="hero_appearance.jp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6553" y="1554480"/>
            <a:ext cx="4096512" cy="2834640"/>
          </a:xfrm>
          <a:prstGeom prst="roundRect">
            <a:avLst/>
          </a:prstGeom>
        </p:spPr>
      </p:pic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5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SKU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позицій у лінійці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150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г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нетто в чашці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шт.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у коробі, sleeve-бокс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Products.pdf. Фото — офіційні знімки упаковки від BSCM Foods; ракурси відповідають оригінальному прайс-каталогу.</a:t>
            </a:r>
            <a:endParaRPr sz="900"/>
          </a:p>
        </p:txBody>
      </p:sp>
      <p:sp>
        <p:nvSpPr>
          <p:cNvPr id="38" name="TextBox 37"/>
          <p:cNvSpPr txBox="1"/>
          <p:nvPr/>
        </p:nvSpPr>
        <p:spPr>
          <a:xfrm>
            <a:off x="841248" y="1783080"/>
            <a:ext cx="201168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FCF9F0"/>
                </a:solidFill>
                <a:latin typeface="Calibri"/>
              </a:rPr>
              <a:t>Thai Jasmine Rice</a:t>
            </a:r>
          </a:p>
        </p:txBody>
      </p:sp>
      <p:pic>
        <p:nvPicPr>
          <p:cNvPr id="39" name="Picture 38" descr="jasmine_le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0088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40" name="Picture 39" descr="jasmine_mi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5112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41" name="Picture 40" descr="jasmine_righ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0136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42" name="TextBox 41"/>
          <p:cNvSpPr txBox="1"/>
          <p:nvPr/>
        </p:nvSpPr>
        <p:spPr>
          <a:xfrm>
            <a:off x="841248" y="2642616"/>
            <a:ext cx="201168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FCF9F0"/>
                </a:solidFill>
                <a:latin typeface="Calibri"/>
              </a:rPr>
              <a:t>Thai Brown Jasmine Rice</a:t>
            </a:r>
          </a:p>
        </p:txBody>
      </p:sp>
      <p:pic>
        <p:nvPicPr>
          <p:cNvPr id="43" name="Picture 42" descr="brown_lef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0088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44" name="Picture 43" descr="brown_mid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5112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45" name="Picture 44" descr="brown_righ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0136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46" name="TextBox 45"/>
          <p:cNvSpPr txBox="1"/>
          <p:nvPr/>
        </p:nvSpPr>
        <p:spPr>
          <a:xfrm>
            <a:off x="841248" y="3502152"/>
            <a:ext cx="201168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FCF9F0"/>
                </a:solidFill>
                <a:latin typeface="Calibri"/>
              </a:rPr>
              <a:t>Thai Red Jasmine Rice</a:t>
            </a:r>
          </a:p>
        </p:txBody>
      </p:sp>
      <p:pic>
        <p:nvPicPr>
          <p:cNvPr id="47" name="Picture 46" descr="red_left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90088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48" name="Picture 47" descr="red_mid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25112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49" name="Picture 48" descr="red_right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60136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50" name="TextBox 49"/>
          <p:cNvSpPr txBox="1"/>
          <p:nvPr/>
        </p:nvSpPr>
        <p:spPr>
          <a:xfrm>
            <a:off x="841248" y="4361688"/>
            <a:ext cx="201168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FCF9F0"/>
                </a:solidFill>
                <a:latin typeface="Calibri"/>
              </a:rPr>
              <a:t>Rice Berry</a:t>
            </a:r>
          </a:p>
        </p:txBody>
      </p:sp>
      <p:pic>
        <p:nvPicPr>
          <p:cNvPr id="51" name="Picture 50" descr="berry_left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990088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2" name="Picture 51" descr="berry_mid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25112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3" name="Picture 52" descr="berry_right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660136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54" name="TextBox 53"/>
          <p:cNvSpPr txBox="1"/>
          <p:nvPr/>
        </p:nvSpPr>
        <p:spPr>
          <a:xfrm>
            <a:off x="841248" y="5221224"/>
            <a:ext cx="201168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FCF9F0"/>
                </a:solidFill>
                <a:latin typeface="Calibri"/>
              </a:rPr>
              <a:t>Brown Jasmine Rice with Red Quinoa</a:t>
            </a:r>
          </a:p>
        </p:txBody>
      </p:sp>
      <p:pic>
        <p:nvPicPr>
          <p:cNvPr id="55" name="Picture 54" descr="quinoa_left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90088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6" name="Picture 55" descr="quinoa_mid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25112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7" name="Picture 56" descr="quinoa_right.jp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660136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6 × (2 × 125 г)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Double cup зі sleeve-боксом · доступно тільки як Private Label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формат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Власного бренду BSCM у форматі double cup немає — цей формат постачальник випускає виключно під приватною маркою замовника. Sleeve-бокс друкується під дизайн клієнта; приклад нижче — Jasmine Rice Cups для мережі SPAR.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Смаки в офері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Jasmine Rice, no oil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немає в PL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Jasmine Rice, w oil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Jasmine Rice (Pathum), w oil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Brown Jasmine Rice, w oil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Brown Rice, w oil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Basmati Rice*, w oil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Long Grain, w oil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pic>
        <p:nvPicPr>
          <p:cNvPr id="61" name="Picture 3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 од.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у коробі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 × 125 г = 250 г / уніт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PL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бренд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тільки Private Label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SPAR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приклад упаковки клієнта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1274</Words>
  <Application>Microsoft Office PowerPoint</Application>
  <DocSecurity>0</DocSecurity>
  <PresentationFormat>Широкий екран</PresentationFormat>
  <Paragraphs>247</Paragraphs>
  <Slides>7</Slides>
  <Notes>6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Чаплигін lлля</cp:lastModifiedBy>
  <cp:revision>2</cp:revision>
  <dcterms:created xsi:type="dcterms:W3CDTF">2026-09-04T11:25:11Z</dcterms:created>
  <dcterms:modified xsi:type="dcterms:W3CDTF">2026-09-04T14:14:43Z</dcterms:modified>
</cp:coreProperties>
</file>