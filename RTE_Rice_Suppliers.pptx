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4" r:id="rId14"/>
    <p:sldId id="263" r:id="rId8"/>
    <p:sldId id="265" r:id="rId15"/>
  </p:sldIdLst>
  <p:sldSz cx="12192000" cy="6858000"/>
  <p:notesSz cx="6858000" cy="9144000"/>
  <p:defaultTextStyle>
    <a:defPPr>
      <a:defRPr lang="uk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7.xml"/><Relationship Id="rId15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Cup-Photo of Products.pdf — Single Cup assortment, packaging parameters, and product images; supplied by the user.</a:t>
            </a:r>
          </a:p>
          <a:p>
            <a:r>
              <a:t>- User instruction — BSCM launched new cup production; cost is intentionally omitted.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eg"/><Relationship Id="rId4" Type="http://schemas.openxmlformats.org/officeDocument/2006/relationships/image" Target="../media/image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eg"/><Relationship Id="rId4" Type="http://schemas.openxmlformats.org/officeDocument/2006/relationships/image" Target="../media/image4.jpeg"/><Relationship Id="rId5" Type="http://schemas.openxmlformats.org/officeDocument/2006/relationships/image" Target="../media/image5.jpeg"/><Relationship Id="rId6" Type="http://schemas.openxmlformats.org/officeDocument/2006/relationships/image" Target="../media/image6.jpeg"/><Relationship Id="rId7" Type="http://schemas.openxmlformats.org/officeDocument/2006/relationships/image" Target="../media/image7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eg"/><Relationship Id="rId4" Type="http://schemas.openxmlformats.org/officeDocument/2006/relationships/image" Target="../media/image8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eg"/><Relationship Id="rId4" Type="http://schemas.openxmlformats.org/officeDocument/2006/relationships/image" Target="../media/image9.jpeg"/><Relationship Id="rId5" Type="http://schemas.openxmlformats.org/officeDocument/2006/relationships/image" Target="../media/image10.jpeg"/><Relationship Id="rId6" Type="http://schemas.openxmlformats.org/officeDocument/2006/relationships/image" Target="../media/image11.jpeg"/><Relationship Id="rId7" Type="http://schemas.openxmlformats.org/officeDocument/2006/relationships/image" Target="../media/image12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8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.jpg"/><Relationship Id="rId3" Type="http://schemas.openxmlformats.org/officeDocument/2006/relationships/image" Target="../media/image2.jpeg"/><Relationship Id="rId4" Type="http://schemas.openxmlformats.org/officeDocument/2006/relationships/image" Target="../media/image8.jpg"/><Relationship Id="rId5" Type="http://schemas.openxmlformats.org/officeDocument/2006/relationships/image" Target="../media/image20.jpg"/><Relationship Id="rId6" Type="http://schemas.openxmlformats.org/officeDocument/2006/relationships/image" Target="../media/image21.jpg"/><Relationship Id="rId7" Type="http://schemas.openxmlformats.org/officeDocument/2006/relationships/image" Target="../media/image22.jpg"/><Relationship Id="rId8" Type="http://schemas.openxmlformats.org/officeDocument/2006/relationships/image" Target="../media/image23.jpg"/><Relationship Id="rId9" Type="http://schemas.openxmlformats.org/officeDocument/2006/relationships/image" Target="../media/image24.jpg"/><Relationship Id="rId10" Type="http://schemas.openxmlformats.org/officeDocument/2006/relationships/image" Target="../media/image25.jpg"/><Relationship Id="rId11" Type="http://schemas.openxmlformats.org/officeDocument/2006/relationships/image" Target="../media/image26.jpg"/><Relationship Id="rId12" Type="http://schemas.openxmlformats.org/officeDocument/2006/relationships/image" Target="../media/image27.jpg"/><Relationship Id="rId13" Type="http://schemas.openxmlformats.org/officeDocument/2006/relationships/image" Target="../media/image28.jpg"/><Relationship Id="rId14" Type="http://schemas.openxmlformats.org/officeDocument/2006/relationships/image" Target="../media/image29.jpg"/><Relationship Id="rId15" Type="http://schemas.openxmlformats.org/officeDocument/2006/relationships/image" Target="../media/image30.jpg"/><Relationship Id="rId16" Type="http://schemas.openxmlformats.org/officeDocument/2006/relationships/image" Target="../media/image31.jpg"/><Relationship Id="rId17" Type="http://schemas.openxmlformats.org/officeDocument/2006/relationships/image" Target="../media/image32.jpg"/><Relationship Id="rId18" Type="http://schemas.openxmlformats.org/officeDocument/2006/relationships/image" Target="../media/image33.jpg"/><Relationship Id="rId19" Type="http://schemas.openxmlformats.org/officeDocument/2006/relationships/image" Target="../media/image34.jpg"/><Relationship Id="rId20" Type="http://schemas.openxmlformats.org/officeDocument/2006/relationships/image" Target="../media/image35.jpg"/><Relationship Id="rId21" Type="http://schemas.openxmlformats.org/officeDocument/2006/relationships/image" Target="../media/image36.jpg"/><Relationship Id="rId22" Type="http://schemas.openxmlformats.org/officeDocument/2006/relationships/image" Target="../media/image37.jpg"/><Relationship Id="rId23" Type="http://schemas.openxmlformats.org/officeDocument/2006/relationships/image" Target="../media/image38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image" Target="../media/image17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image" Target="../media/image17.jpeg"/><Relationship Id="rId4" Type="http://schemas.openxmlformats.org/officeDocument/2006/relationships/image" Target="../media/image39.jpg"/><Relationship Id="rId5" Type="http://schemas.openxmlformats.org/officeDocument/2006/relationships/image" Target="../media/image40.jpg"/><Relationship Id="rId6" Type="http://schemas.openxmlformats.org/officeDocument/2006/relationships/image" Target="../media/image4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C9E11D9-4C10-4498-B08F-418DC703689B}"/>
              </a:ext>
            </a:extLst>
          </p:cNvPr>
          <p:cNvSpPr>
            <a:spLocks noGrp="1"/>
          </p:cNvSpPr>
          <p:nvPr/>
        </p:nvSpPr>
        <p:spPr>
          <a:xfrm>
            <a:off x="640080" y="1691640"/>
            <a:ext cx="5349240" cy="3474720"/>
          </a:xfrm>
          <a:prstGeom prst="roundRect">
            <a:avLst>
              <a:gd name="adj" fmla="val 3636"/>
            </a:avLst>
          </a:prstGeom>
          <a:solidFill>
            <a:srgbClr val="12452B">
              <a:alpha val="92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050D1F1-25C6-459D-B6EE-3201D5DA8822}"/>
              </a:ext>
            </a:extLst>
          </p:cNvPr>
          <p:cNvSpPr>
            <a:spLocks noGrp="1"/>
          </p:cNvSpPr>
          <p:nvPr/>
        </p:nvSpPr>
        <p:spPr>
          <a:xfrm>
            <a:off x="1097280" y="2322576"/>
            <a:ext cx="4434840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2700" b="1" spc="15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READY-TO-EAT RICE</a:t>
            </a:r>
            <a:endParaRPr sz="34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D2CA64F1-2DC5-431B-A0BE-B63DF81EEFA7}"/>
              </a:ext>
            </a:extLst>
          </p:cNvPr>
          <p:cNvSpPr>
            <a:spLocks noGrp="1"/>
          </p:cNvSpPr>
          <p:nvPr/>
        </p:nvSpPr>
        <p:spPr>
          <a:xfrm>
            <a:off x="1097280" y="3081528"/>
            <a:ext cx="1828800" cy="0"/>
          </a:xfrm>
          <a:prstGeom prst="line">
            <a:avLst/>
          </a:prstGeom>
          <a:noFill/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C612DCA-AB68-4951-A902-1E1495207AA6}"/>
              </a:ext>
            </a:extLst>
          </p:cNvPr>
          <p:cNvSpPr>
            <a:spLocks noGrp="1"/>
          </p:cNvSpPr>
          <p:nvPr/>
        </p:nvSpPr>
        <p:spPr>
          <a:xfrm>
            <a:off x="1961388" y="3035808"/>
            <a:ext cx="100584" cy="100584"/>
          </a:xfrm>
          <a:prstGeom prst="diamond">
            <a:avLst/>
          </a:prstGeom>
          <a:solidFill>
            <a:srgbClr val="F5CE76"/>
          </a:solidFill>
          <a:ln w="6350">
            <a:solidFill>
              <a:srgbClr val="E0B25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FC978E9-75EC-4BA8-8582-EAFEB8AD9E13}"/>
              </a:ext>
            </a:extLst>
          </p:cNvPr>
          <p:cNvSpPr>
            <a:spLocks noGrp="1"/>
          </p:cNvSpPr>
          <p:nvPr/>
        </p:nvSpPr>
        <p:spPr>
          <a:xfrm>
            <a:off x="1097280" y="3264408"/>
            <a:ext cx="443484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7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Постачальники та собівартість</a:t>
            </a:r>
            <a:endParaRPr sz="17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2744851-5719-43BB-BF0D-B86A6B0C2E1C}"/>
              </a:ext>
            </a:extLst>
          </p:cNvPr>
          <p:cNvSpPr>
            <a:spLocks noGrp="1"/>
          </p:cNvSpPr>
          <p:nvPr/>
        </p:nvSpPr>
        <p:spPr>
          <a:xfrm>
            <a:off x="1097280" y="3785616"/>
            <a:ext cx="443484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BSCM Foods Co., Ltd.</a:t>
            </a:r>
            <a:r>
              <a:rPr sz="1150">
                <a:solidFill>
                  <a:srgbClr val="C89C40"/>
                </a:solidFill>
                <a:latin typeface="Calibri"/>
                <a:ea typeface="Calibri"/>
                <a:cs typeface="Calibri"/>
              </a:rPr>
              <a:t>   ·   </a:t>
            </a: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CM Premium Rice Co., Ltd.</a:t>
            </a:r>
            <a:endParaRPr sz="135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7199F762-1B10-42AE-9A9D-9E1C6FE25745}"/>
              </a:ext>
            </a:extLst>
          </p:cNvPr>
          <p:cNvSpPr>
            <a:spLocks noGrp="1"/>
          </p:cNvSpPr>
          <p:nvPr/>
        </p:nvSpPr>
        <p:spPr>
          <a:xfrm>
            <a:off x="1097280" y="4242816"/>
            <a:ext cx="443484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1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Таїланд · FOB Bangkok · завантаження навалом</a:t>
            </a:r>
            <a:endParaRPr sz="1150"/>
          </a:p>
        </p:txBody>
      </p:sp>
    </p:spTree>
    <p:extLst>
      <p:ext uri="{BB962C8B-B14F-4D97-AF65-F5344CB8AC3E}">
        <p14:creationId xmlns:p14="http://schemas.microsoft.com/office/powerpoint/2010/main" val="7070731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CD19144-9505-47D6-9275-6089C661FC3E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9BD473"/>
                </a:solidFill>
                <a:latin typeface="Calibri"/>
                <a:ea typeface="Calibri"/>
                <a:cs typeface="Calibri"/>
              </a:rPr>
              <a:t>ПОСТАЧАЛЬНИК 2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A44E652-7531-4B42-A2E4-24C4B8731333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CM Premium Rice — профіль компанії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23ADB82-A208-4FF8-8484-E70CE2076607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Виробник органічного рису та готових страв, бренди Q Rice · Golden Phoenix · Chefrey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901CC53-360D-4866-8073-8A9412E5D929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FC212FD-4906-4748-A36F-7D4284B1BC29}"/>
              </a:ext>
            </a:extLst>
          </p:cNvPr>
          <p:cNvSpPr>
            <a:spLocks noGrp="1"/>
          </p:cNvSpPr>
          <p:nvPr/>
        </p:nvSpPr>
        <p:spPr>
          <a:xfrm>
            <a:off x="841248" y="173736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Про компанію</a:t>
            </a:r>
            <a:endParaRPr sz="17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3820750-8730-426F-96FA-819EACDEEADD}"/>
              </a:ext>
            </a:extLst>
          </p:cNvPr>
          <p:cNvSpPr>
            <a:spLocks noGrp="1"/>
          </p:cNvSpPr>
          <p:nvPr/>
        </p:nvSpPr>
        <p:spPr>
          <a:xfrm>
            <a:off x="841248" y="2103120"/>
            <a:ext cx="612648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700"/>
              </a:lnSpc>
              <a:buNone/>
            </a:pPr>
            <a:r>
              <a:rPr sz="12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CM Premium Rice Co., Ltd. — тайський переробник рису з власними елеваторами та лінією фасування у Nakhon Ratchasima. Працює під брендами Q Rice, Golden Phoenix і Chefrey; 99% сировини — тайського походження.</a:t>
            </a:r>
            <a:endParaRPr sz="12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737FF36-89C7-40BF-8029-7E30F7FC5E72}"/>
              </a:ext>
            </a:extLst>
          </p:cNvPr>
          <p:cNvSpPr>
            <a:spLocks noGrp="1"/>
          </p:cNvSpPr>
          <p:nvPr/>
        </p:nvSpPr>
        <p:spPr>
          <a:xfrm>
            <a:off x="841248" y="301752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Ключові параметри</a:t>
            </a:r>
            <a:endParaRPr sz="17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10913A5-A195-4C35-8BEC-22AF2B15B7E7}"/>
              </a:ext>
            </a:extLst>
          </p:cNvPr>
          <p:cNvSpPr>
            <a:spLocks noGrp="1"/>
          </p:cNvSpPr>
          <p:nvPr/>
        </p:nvSpPr>
        <p:spPr>
          <a:xfrm>
            <a:off x="841248" y="338328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Локація</a:t>
            </a:r>
            <a:endParaRPr sz="10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6A606B1-78BD-42D4-97F2-25019B04EA50}"/>
              </a:ext>
            </a:extLst>
          </p:cNvPr>
          <p:cNvSpPr>
            <a:spLocks noGrp="1"/>
          </p:cNvSpPr>
          <p:nvPr/>
        </p:nvSpPr>
        <p:spPr>
          <a:xfrm>
            <a:off x="2971800" y="338328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офіс Nonthaburi · завод Nakhon Ratchasima</a:t>
            </a:r>
            <a:endParaRPr sz="115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578BF7FC-C005-4DB0-828C-5DE23D336C1C}"/>
              </a:ext>
            </a:extLst>
          </p:cNvPr>
          <p:cNvSpPr>
            <a:spLocks noGrp="1"/>
          </p:cNvSpPr>
          <p:nvPr/>
        </p:nvSpPr>
        <p:spPr>
          <a:xfrm>
            <a:off x="841248" y="371703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Заснована</a:t>
            </a:r>
            <a:endParaRPr sz="105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42A9028-10DB-4B72-B30E-FB49E15FA6C9}"/>
              </a:ext>
            </a:extLst>
          </p:cNvPr>
          <p:cNvSpPr>
            <a:spLocks noGrp="1"/>
          </p:cNvSpPr>
          <p:nvPr/>
        </p:nvSpPr>
        <p:spPr>
          <a:xfrm>
            <a:off x="2971800" y="371703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6 липня 2016 · капітал 50 млн THB</a:t>
            </a:r>
            <a:endParaRPr sz="11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FE95C3E2-EA1E-42D7-A32D-5FC6276536E0}"/>
              </a:ext>
            </a:extLst>
          </p:cNvPr>
          <p:cNvSpPr>
            <a:spLocks noGrp="1"/>
          </p:cNvSpPr>
          <p:nvPr/>
        </p:nvSpPr>
        <p:spPr>
          <a:xfrm>
            <a:off x="841248" y="405079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Досвід групи</a:t>
            </a:r>
            <a:endParaRPr sz="10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D427EAD-08DF-4E7A-9C4C-835EFAE70855}"/>
              </a:ext>
            </a:extLst>
          </p:cNvPr>
          <p:cNvSpPr>
            <a:spLocks noGrp="1"/>
          </p:cNvSpPr>
          <p:nvPr/>
        </p:nvSpPr>
        <p:spPr>
          <a:xfrm>
            <a:off x="2971800" y="405079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понад 30 років у рисовому виробництві</a:t>
            </a:r>
            <a:endParaRPr sz="11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D34AC2F-EE39-497C-8F1A-55D934AC95C0}"/>
              </a:ext>
            </a:extLst>
          </p:cNvPr>
          <p:cNvSpPr>
            <a:spLocks noGrp="1"/>
          </p:cNvSpPr>
          <p:nvPr/>
        </p:nvSpPr>
        <p:spPr>
          <a:xfrm>
            <a:off x="841248" y="4384548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Потужність</a:t>
            </a:r>
            <a:endParaRPr sz="105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2B1EB85-2BAF-45AA-8C18-39BD7B6AE924}"/>
              </a:ext>
            </a:extLst>
          </p:cNvPr>
          <p:cNvSpPr>
            <a:spLocks noGrp="1"/>
          </p:cNvSpPr>
          <p:nvPr/>
        </p:nvSpPr>
        <p:spPr>
          <a:xfrm>
            <a:off x="2971800" y="4384548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120 000 тонн на рік · 10 000 т/міс</a:t>
            </a:r>
            <a:endParaRPr sz="115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CC1BCD09-C026-44CF-8F8B-173FAD36743F}"/>
              </a:ext>
            </a:extLst>
          </p:cNvPr>
          <p:cNvSpPr>
            <a:spLocks noGrp="1"/>
          </p:cNvSpPr>
          <p:nvPr/>
        </p:nvSpPr>
        <p:spPr>
          <a:xfrm>
            <a:off x="841248" y="4718304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Сировина</a:t>
            </a:r>
            <a:endParaRPr sz="105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2D27C77E-48F9-4FBD-A728-1F2B80DFD2D6}"/>
              </a:ext>
            </a:extLst>
          </p:cNvPr>
          <p:cNvSpPr>
            <a:spLocks noGrp="1"/>
          </p:cNvSpPr>
          <p:nvPr/>
        </p:nvSpPr>
        <p:spPr>
          <a:xfrm>
            <a:off x="2971800" y="4718304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99% Таїланд · 30+ партнерських рисозаводів</a:t>
            </a:r>
            <a:endParaRPr sz="115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54E2C5A1-D625-4BFD-AE8C-D9C86960782D}"/>
              </a:ext>
            </a:extLst>
          </p:cNvPr>
          <p:cNvSpPr>
            <a:spLocks noGrp="1"/>
          </p:cNvSpPr>
          <p:nvPr/>
        </p:nvSpPr>
        <p:spPr>
          <a:xfrm>
            <a:off x="841248" y="505206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Експорт</a:t>
            </a:r>
            <a:endParaRPr sz="105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FC81496A-087D-4BDF-97C0-9C0AD33F324A}"/>
              </a:ext>
            </a:extLst>
          </p:cNvPr>
          <p:cNvSpPr>
            <a:spLocks noGrp="1"/>
          </p:cNvSpPr>
          <p:nvPr/>
        </p:nvSpPr>
        <p:spPr>
          <a:xfrm>
            <a:off x="2971800" y="505206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понад 20 країн світу</a:t>
            </a:r>
            <a:endParaRPr sz="115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29F56F1-072F-45B9-B669-E6DB5952B5DC}"/>
              </a:ext>
            </a:extLst>
          </p:cNvPr>
          <p:cNvSpPr>
            <a:spLocks noGrp="1"/>
          </p:cNvSpPr>
          <p:nvPr/>
        </p:nvSpPr>
        <p:spPr>
          <a:xfrm>
            <a:off x="841248" y="538581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 в офері</a:t>
            </a:r>
            <a:endParaRPr sz="105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422D9B28-342C-4F6C-855A-E29107EE1B2A}"/>
              </a:ext>
            </a:extLst>
          </p:cNvPr>
          <p:cNvSpPr>
            <a:spLocks noGrp="1"/>
          </p:cNvSpPr>
          <p:nvPr/>
        </p:nvSpPr>
        <p:spPr>
          <a:xfrm>
            <a:off x="2971800" y="538581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пауч 250 г · 24 шт у коробі</a:t>
            </a:r>
            <a:endParaRPr sz="1150"/>
          </a:p>
        </p:txBody>
      </p:sp>
      <p:sp>
        <p:nvSpPr>
          <p:cNvPr id="35" name="Text 19">
            <a:extLst>
              <a:ext uri="{FF2B5EF4-FFF2-40B4-BE49-F238E27FC236}">
                <a16:creationId xmlns:a16="http://schemas.microsoft.com/office/drawing/2014/main" id="{FE1BA39C-F91D-4286-BEF8-67FC2D0BD2F1}"/>
              </a:ext>
            </a:extLst>
          </p:cNvPr>
          <p:cNvSpPr>
            <a:spLocks noGrp="1"/>
          </p:cNvSpPr>
          <p:nvPr/>
        </p:nvSpPr>
        <p:spPr>
          <a:xfrm>
            <a:off x="841248" y="571957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Сертифікація</a:t>
            </a:r>
            <a:endParaRPr sz="1050"/>
          </a:p>
        </p:txBody>
      </p:sp>
      <p:sp>
        <p:nvSpPr>
          <p:cNvPr id="36" name="Text 20">
            <a:extLst>
              <a:ext uri="{FF2B5EF4-FFF2-40B4-BE49-F238E27FC236}">
                <a16:creationId xmlns:a16="http://schemas.microsoft.com/office/drawing/2014/main" id="{FD7FBD8F-742F-466D-99D3-4E9D925A8522}"/>
              </a:ext>
            </a:extLst>
          </p:cNvPr>
          <p:cNvSpPr>
            <a:spLocks noGrp="1"/>
          </p:cNvSpPr>
          <p:nvPr/>
        </p:nvSpPr>
        <p:spPr>
          <a:xfrm>
            <a:off x="2971800" y="571957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BRC · HACCP · ISO 9001 · Halal · Organic</a:t>
            </a:r>
            <a:endParaRPr sz="1150"/>
          </a:p>
        </p:txBody>
      </p:sp>
      <p:pic>
        <p:nvPicPr>
          <p:cNvPr id="61" name="Image 0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534656" y="1536192"/>
            <a:ext cx="4096512" cy="2834640"/>
          </a:xfrm>
          <a:prstGeom prst="roundRect">
            <a:avLst/>
          </a:prstGeom>
        </p:spPr>
      </p:pic>
      <p:sp>
        <p:nvSpPr>
          <p:cNvPr id="24" name="Shape 21">
            <a:extLst>
              <a:ext uri="{FF2B5EF4-FFF2-40B4-BE49-F238E27FC236}">
                <a16:creationId xmlns:a16="http://schemas.microsoft.com/office/drawing/2014/main" id="{0A6243D7-99BD-4671-9140-C29A8D2841F5}"/>
              </a:ext>
            </a:extLst>
          </p:cNvPr>
          <p:cNvSpPr>
            <a:spLocks noGrp="1"/>
          </p:cNvSpPr>
          <p:nvPr/>
        </p:nvSpPr>
        <p:spPr>
          <a:xfrm>
            <a:off x="7534656" y="1536192"/>
            <a:ext cx="4096512" cy="2834640"/>
          </a:xfrm>
          <a:prstGeom prst="rect">
            <a:avLst/>
          </a:prstGeom>
          <a:ln w="1587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FAD82CE1-305C-4565-A1FE-D051AE2156E0}"/>
              </a:ext>
            </a:extLst>
          </p:cNvPr>
          <p:cNvSpPr>
            <a:spLocks noGrp="1"/>
          </p:cNvSpPr>
          <p:nvPr/>
        </p:nvSpPr>
        <p:spPr>
          <a:xfrm>
            <a:off x="7534656" y="4526280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58CC28A-4F81-47DF-8E77-5628B5CD7532}"/>
              </a:ext>
            </a:extLst>
          </p:cNvPr>
          <p:cNvSpPr>
            <a:spLocks noGrp="1"/>
          </p:cNvSpPr>
          <p:nvPr/>
        </p:nvSpPr>
        <p:spPr>
          <a:xfrm>
            <a:off x="7717536" y="4581144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2016</a:t>
            </a:r>
            <a:endParaRPr sz="190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3FCE24DD-1F3F-42BD-8089-4BCD25EBA58A}"/>
              </a:ext>
            </a:extLst>
          </p:cNvPr>
          <p:cNvSpPr>
            <a:spLocks noGrp="1"/>
          </p:cNvSpPr>
          <p:nvPr/>
        </p:nvSpPr>
        <p:spPr>
          <a:xfrm>
            <a:off x="9418320" y="4581144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рік початку роботи</a:t>
            </a:r>
            <a:endParaRPr sz="105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89975636-2973-43EB-8284-82876E89595D}"/>
              </a:ext>
            </a:extLst>
          </p:cNvPr>
          <p:cNvSpPr>
            <a:spLocks noGrp="1"/>
          </p:cNvSpPr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A645AB62-8A4D-4512-8F74-DE418179E43B}"/>
              </a:ext>
            </a:extLst>
          </p:cNvPr>
          <p:cNvSpPr>
            <a:spLocks noGrp="1"/>
          </p:cNvSpPr>
          <p:nvPr/>
        </p:nvSpPr>
        <p:spPr>
          <a:xfrm>
            <a:off x="7717536" y="5148072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120 000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т/рік</a:t>
            </a:r>
            <a:endParaRPr sz="190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4117B712-25E2-4520-9FD2-EBDF52F2E339}"/>
              </a:ext>
            </a:extLst>
          </p:cNvPr>
          <p:cNvSpPr>
            <a:spLocks noGrp="1"/>
          </p:cNvSpPr>
          <p:nvPr/>
        </p:nvSpPr>
        <p:spPr>
          <a:xfrm>
            <a:off x="9418320" y="5148072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виробнича потужність</a:t>
            </a:r>
            <a:endParaRPr sz="105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E9455139-65F1-448B-8A7C-86FFA827F351}"/>
              </a:ext>
            </a:extLst>
          </p:cNvPr>
          <p:cNvSpPr>
            <a:spLocks noGrp="1"/>
          </p:cNvSpPr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D40C00FA-3D9E-4C88-BA29-ECBF4916B185}"/>
              </a:ext>
            </a:extLst>
          </p:cNvPr>
          <p:cNvSpPr>
            <a:spLocks noGrp="1"/>
          </p:cNvSpPr>
          <p:nvPr/>
        </p:nvSpPr>
        <p:spPr>
          <a:xfrm>
            <a:off x="7717536" y="571500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99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%</a:t>
            </a:r>
            <a:endParaRPr sz="190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5324D476-C6D4-42C7-BAFD-4CF0E84F17CB}"/>
              </a:ext>
            </a:extLst>
          </p:cNvPr>
          <p:cNvSpPr>
            <a:spLocks noGrp="1"/>
          </p:cNvSpPr>
          <p:nvPr/>
        </p:nvSpPr>
        <p:spPr>
          <a:xfrm>
            <a:off x="9418320" y="5715000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сировини з Таїланду</a:t>
            </a:r>
            <a:endParaRPr sz="105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E7A215B1-AD40-45DA-BB18-23E7B159186F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корпоративна презентація CM Premium Rice Co., Ltd., сайт cmp-rice.com та прайс-лист Chefrey.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9735734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9A6D18B-A944-45D2-8E87-358191F7E4AF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9BD473"/>
                </a:solidFill>
                <a:latin typeface="Calibri"/>
                <a:ea typeface="Calibri"/>
                <a:cs typeface="Calibri"/>
              </a:rPr>
              <a:t>ПОСТАЧАЛЬНИК 2  ·  CHEFREY / CM PREMIUM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B4F6B36-12AD-4E80-B246-044D6B11275B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Chefrey Organic RTE 6 × 250 г — собівартість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B3E3610-3F77-4808-A291-CC88332A673B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Завантаження навалом, FOB Bangkok ·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777A169-A18D-4352-B969-19E1FAD489B5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1" name="Image 0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49808" y="1700784"/>
            <a:ext cx="2340864" cy="1810512"/>
          </a:xfrm>
          <a:prstGeom prst="round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87232188-1DCC-4781-85AB-61CF6976C5DA}"/>
              </a:ext>
            </a:extLst>
          </p:cNvPr>
          <p:cNvSpPr>
            <a:spLocks noGrp="1"/>
          </p:cNvSpPr>
          <p:nvPr/>
        </p:nvSpPr>
        <p:spPr>
          <a:xfrm>
            <a:off x="749808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EAA2BFF8-08EA-4127-88A8-7020E461BE87}"/>
              </a:ext>
            </a:extLst>
          </p:cNvPr>
          <p:cNvSpPr>
            <a:spLocks noGrp="1"/>
          </p:cNvSpPr>
          <p:nvPr/>
        </p:nvSpPr>
        <p:spPr>
          <a:xfrm>
            <a:off x="749808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358A48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E9C00E7C-A4B5-4F70-BF95-2F612003EAA9}"/>
              </a:ext>
            </a:extLst>
          </p:cNvPr>
          <p:cNvSpPr>
            <a:spLocks noGrp="1"/>
          </p:cNvSpPr>
          <p:nvPr/>
        </p:nvSpPr>
        <p:spPr>
          <a:xfrm>
            <a:off x="749808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955875F5-C8AA-4604-BC2B-C7F2B6B61192}"/>
              </a:ext>
            </a:extLst>
          </p:cNvPr>
          <p:cNvSpPr>
            <a:spLocks noGrp="1"/>
          </p:cNvSpPr>
          <p:nvPr/>
        </p:nvSpPr>
        <p:spPr>
          <a:xfrm>
            <a:off x="749808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Turmeric Basmati</a:t>
            </a:r>
            <a:endParaRPr sz="1450"/>
          </a:p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with Cumin</a:t>
            </a:r>
            <a:endParaRPr sz="14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CC304521-7003-41C9-A3DF-B606C354369E}"/>
              </a:ext>
            </a:extLst>
          </p:cNvPr>
          <p:cNvSpPr>
            <a:spLocks noGrp="1"/>
          </p:cNvSpPr>
          <p:nvPr/>
        </p:nvSpPr>
        <p:spPr>
          <a:xfrm>
            <a:off x="749808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4A033679-0F16-416E-9BC4-280F6974334A}"/>
              </a:ext>
            </a:extLst>
          </p:cNvPr>
          <p:cNvSpPr>
            <a:spLocks noGrp="1"/>
          </p:cNvSpPr>
          <p:nvPr/>
        </p:nvSpPr>
        <p:spPr>
          <a:xfrm>
            <a:off x="749808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C2BA45D7-6F03-4868-BDD2-44FC1BFF8AEA}"/>
              </a:ext>
            </a:extLst>
          </p:cNvPr>
          <p:cNvSpPr>
            <a:spLocks noGrp="1"/>
          </p:cNvSpPr>
          <p:nvPr/>
        </p:nvSpPr>
        <p:spPr>
          <a:xfrm>
            <a:off x="859536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ED9F963D-2EFD-42F1-A3D8-955B0A886C4D}"/>
              </a:ext>
            </a:extLst>
          </p:cNvPr>
          <p:cNvSpPr>
            <a:spLocks noGrp="1"/>
          </p:cNvSpPr>
          <p:nvPr/>
        </p:nvSpPr>
        <p:spPr>
          <a:xfrm>
            <a:off x="859536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6844CDDA-23FC-437B-9119-7C16195CDFA0}"/>
              </a:ext>
            </a:extLst>
          </p:cNvPr>
          <p:cNvSpPr>
            <a:spLocks noGrp="1"/>
          </p:cNvSpPr>
          <p:nvPr/>
        </p:nvSpPr>
        <p:spPr>
          <a:xfrm>
            <a:off x="1499616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27DB5FDD-4BCF-480F-AC44-12CE6BC0A357}"/>
              </a:ext>
            </a:extLst>
          </p:cNvPr>
          <p:cNvSpPr>
            <a:spLocks noGrp="1"/>
          </p:cNvSpPr>
          <p:nvPr/>
        </p:nvSpPr>
        <p:spPr>
          <a:xfrm>
            <a:off x="859536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582BA0A6-D97E-4819-8CA9-388C425BB098}"/>
              </a:ext>
            </a:extLst>
          </p:cNvPr>
          <p:cNvSpPr>
            <a:spLocks noGrp="1"/>
          </p:cNvSpPr>
          <p:nvPr/>
        </p:nvSpPr>
        <p:spPr>
          <a:xfrm>
            <a:off x="1499616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$1,028 / 46,27 ₴</a:t>
            </a:r>
            <a:endParaRPr sz="95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744B828A-FAD0-48B0-A84B-5C4651E029AF}"/>
              </a:ext>
            </a:extLst>
          </p:cNvPr>
          <p:cNvSpPr>
            <a:spLocks noGrp="1"/>
          </p:cNvSpPr>
          <p:nvPr/>
        </p:nvSpPr>
        <p:spPr>
          <a:xfrm>
            <a:off x="859536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13BF0E51-D744-4257-9C8D-7D20E2A440E5}"/>
              </a:ext>
            </a:extLst>
          </p:cNvPr>
          <p:cNvSpPr>
            <a:spLocks noGrp="1"/>
          </p:cNvSpPr>
          <p:nvPr/>
        </p:nvSpPr>
        <p:spPr>
          <a:xfrm>
            <a:off x="1499616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422ECCC3-BFAF-4EDE-935D-88BA8CB5F5D0}"/>
              </a:ext>
            </a:extLst>
          </p:cNvPr>
          <p:cNvSpPr>
            <a:spLocks noGrp="1"/>
          </p:cNvSpPr>
          <p:nvPr/>
        </p:nvSpPr>
        <p:spPr>
          <a:xfrm>
            <a:off x="859536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F5EED41A-EC4F-42AA-8D1B-5807CC449D8D}"/>
              </a:ext>
            </a:extLst>
          </p:cNvPr>
          <p:cNvSpPr>
            <a:spLocks noGrp="1"/>
          </p:cNvSpPr>
          <p:nvPr/>
        </p:nvSpPr>
        <p:spPr>
          <a:xfrm>
            <a:off x="1499616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221615AB-3FD4-4403-AFF6-D6A56343CBC2}"/>
              </a:ext>
            </a:extLst>
          </p:cNvPr>
          <p:cNvSpPr>
            <a:spLocks noGrp="1"/>
          </p:cNvSpPr>
          <p:nvPr/>
        </p:nvSpPr>
        <p:spPr>
          <a:xfrm>
            <a:off x="3383280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8" name="Image 1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566160" y="1700784"/>
            <a:ext cx="2340864" cy="1810512"/>
          </a:xfrm>
          <a:prstGeom prst="roundRect">
            <a:avLst/>
          </a:prstGeom>
        </p:spPr>
      </p:pic>
      <p:sp>
        <p:nvSpPr>
          <p:cNvPr id="24" name="Shape 20">
            <a:extLst>
              <a:ext uri="{FF2B5EF4-FFF2-40B4-BE49-F238E27FC236}">
                <a16:creationId xmlns:a16="http://schemas.microsoft.com/office/drawing/2014/main" id="{04C442D0-2F30-4863-8F74-AF51825B409B}"/>
              </a:ext>
            </a:extLst>
          </p:cNvPr>
          <p:cNvSpPr>
            <a:spLocks noGrp="1"/>
          </p:cNvSpPr>
          <p:nvPr/>
        </p:nvSpPr>
        <p:spPr>
          <a:xfrm>
            <a:off x="3566160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68FDFA6F-6582-4237-9B22-00A082830131}"/>
              </a:ext>
            </a:extLst>
          </p:cNvPr>
          <p:cNvSpPr>
            <a:spLocks noGrp="1"/>
          </p:cNvSpPr>
          <p:nvPr/>
        </p:nvSpPr>
        <p:spPr>
          <a:xfrm>
            <a:off x="3566160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358A48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3BF42D84-D0AF-4217-B04F-C90FB592237C}"/>
              </a:ext>
            </a:extLst>
          </p:cNvPr>
          <p:cNvSpPr>
            <a:spLocks noGrp="1"/>
          </p:cNvSpPr>
          <p:nvPr/>
        </p:nvSpPr>
        <p:spPr>
          <a:xfrm>
            <a:off x="3566160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ACDE96DD-6C77-424C-B5EB-F3F2EA231669}"/>
              </a:ext>
            </a:extLst>
          </p:cNvPr>
          <p:cNvSpPr>
            <a:spLocks noGrp="1"/>
          </p:cNvSpPr>
          <p:nvPr/>
        </p:nvSpPr>
        <p:spPr>
          <a:xfrm>
            <a:off x="3566160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Garlic Fried Rice</a:t>
            </a:r>
            <a:endParaRPr sz="145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68A85A44-B6CB-4D71-8000-A653E3694AD7}"/>
              </a:ext>
            </a:extLst>
          </p:cNvPr>
          <p:cNvSpPr>
            <a:spLocks noGrp="1"/>
          </p:cNvSpPr>
          <p:nvPr/>
        </p:nvSpPr>
        <p:spPr>
          <a:xfrm>
            <a:off x="3566160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BB6ACCF8-0216-4C21-8A34-38A25C9E2A95}"/>
              </a:ext>
            </a:extLst>
          </p:cNvPr>
          <p:cNvSpPr>
            <a:spLocks noGrp="1"/>
          </p:cNvSpPr>
          <p:nvPr/>
        </p:nvSpPr>
        <p:spPr>
          <a:xfrm>
            <a:off x="3566160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AE847F71-A762-450C-A559-36DCDA518904}"/>
              </a:ext>
            </a:extLst>
          </p:cNvPr>
          <p:cNvSpPr>
            <a:spLocks noGrp="1"/>
          </p:cNvSpPr>
          <p:nvPr/>
        </p:nvSpPr>
        <p:spPr>
          <a:xfrm>
            <a:off x="3675888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16B44C2-FF59-4FA7-AB65-3092D174973A}"/>
              </a:ext>
            </a:extLst>
          </p:cNvPr>
          <p:cNvSpPr>
            <a:spLocks noGrp="1"/>
          </p:cNvSpPr>
          <p:nvPr/>
        </p:nvSpPr>
        <p:spPr>
          <a:xfrm>
            <a:off x="3675888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4BFD8799-39A3-483C-B443-61D7961487B8}"/>
              </a:ext>
            </a:extLst>
          </p:cNvPr>
          <p:cNvSpPr>
            <a:spLocks noGrp="1"/>
          </p:cNvSpPr>
          <p:nvPr/>
        </p:nvSpPr>
        <p:spPr>
          <a:xfrm>
            <a:off x="4315968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6236FB47-8D66-49B9-890D-86AFDDAD03E0}"/>
              </a:ext>
            </a:extLst>
          </p:cNvPr>
          <p:cNvSpPr>
            <a:spLocks noGrp="1"/>
          </p:cNvSpPr>
          <p:nvPr/>
        </p:nvSpPr>
        <p:spPr>
          <a:xfrm>
            <a:off x="3675888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1C5B3AD2-2E31-4934-829B-92559C96C96C}"/>
              </a:ext>
            </a:extLst>
          </p:cNvPr>
          <p:cNvSpPr>
            <a:spLocks noGrp="1"/>
          </p:cNvSpPr>
          <p:nvPr/>
        </p:nvSpPr>
        <p:spPr>
          <a:xfrm>
            <a:off x="4315968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$1,028 / 46,27 ₴</a:t>
            </a:r>
            <a:endParaRPr sz="95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AB5675A7-525E-4791-993A-B3BFA05842FE}"/>
              </a:ext>
            </a:extLst>
          </p:cNvPr>
          <p:cNvSpPr>
            <a:spLocks noGrp="1"/>
          </p:cNvSpPr>
          <p:nvPr/>
        </p:nvSpPr>
        <p:spPr>
          <a:xfrm>
            <a:off x="3675888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1497E892-700F-4999-8614-DBAADE2E6A5A}"/>
              </a:ext>
            </a:extLst>
          </p:cNvPr>
          <p:cNvSpPr>
            <a:spLocks noGrp="1"/>
          </p:cNvSpPr>
          <p:nvPr/>
        </p:nvSpPr>
        <p:spPr>
          <a:xfrm>
            <a:off x="4315968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ED93CC81-7EA2-49D9-8437-79938779A8F5}"/>
              </a:ext>
            </a:extLst>
          </p:cNvPr>
          <p:cNvSpPr>
            <a:spLocks noGrp="1"/>
          </p:cNvSpPr>
          <p:nvPr/>
        </p:nvSpPr>
        <p:spPr>
          <a:xfrm>
            <a:off x="3675888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0427E166-8510-4CA7-8830-926E6C60FAE7}"/>
              </a:ext>
            </a:extLst>
          </p:cNvPr>
          <p:cNvSpPr>
            <a:spLocks noGrp="1"/>
          </p:cNvSpPr>
          <p:nvPr/>
        </p:nvSpPr>
        <p:spPr>
          <a:xfrm>
            <a:off x="4315968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E9A5A22F-E04B-4856-A6EE-5DB1869CB5A4}"/>
              </a:ext>
            </a:extLst>
          </p:cNvPr>
          <p:cNvSpPr>
            <a:spLocks noGrp="1"/>
          </p:cNvSpPr>
          <p:nvPr/>
        </p:nvSpPr>
        <p:spPr>
          <a:xfrm>
            <a:off x="6199632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5" name="Image 2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382512" y="1700784"/>
            <a:ext cx="2340864" cy="1810512"/>
          </a:xfrm>
          <a:prstGeom prst="roundRect">
            <a:avLst/>
          </a:prstGeom>
        </p:spPr>
      </p:pic>
      <p:sp>
        <p:nvSpPr>
          <p:cNvPr id="41" name="Shape 36">
            <a:extLst>
              <a:ext uri="{FF2B5EF4-FFF2-40B4-BE49-F238E27FC236}">
                <a16:creationId xmlns:a16="http://schemas.microsoft.com/office/drawing/2014/main" id="{F9B242CE-9FC3-4F31-9E90-E76F07CC34D9}"/>
              </a:ext>
            </a:extLst>
          </p:cNvPr>
          <p:cNvSpPr>
            <a:spLocks noGrp="1"/>
          </p:cNvSpPr>
          <p:nvPr/>
        </p:nvSpPr>
        <p:spPr>
          <a:xfrm>
            <a:off x="6382512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A50AE707-BF33-4DC0-8761-DC73CA95E9E3}"/>
              </a:ext>
            </a:extLst>
          </p:cNvPr>
          <p:cNvSpPr>
            <a:spLocks noGrp="1"/>
          </p:cNvSpPr>
          <p:nvPr/>
        </p:nvSpPr>
        <p:spPr>
          <a:xfrm>
            <a:off x="6382512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358A48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83B499CA-E5CA-4A54-A2B7-6FC3B8C2A8E6}"/>
              </a:ext>
            </a:extLst>
          </p:cNvPr>
          <p:cNvSpPr>
            <a:spLocks noGrp="1"/>
          </p:cNvSpPr>
          <p:nvPr/>
        </p:nvSpPr>
        <p:spPr>
          <a:xfrm>
            <a:off x="6382512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44658F7D-867D-4A61-B46E-876DD11E5E0F}"/>
              </a:ext>
            </a:extLst>
          </p:cNvPr>
          <p:cNvSpPr>
            <a:spLocks noGrp="1"/>
          </p:cNvSpPr>
          <p:nvPr/>
        </p:nvSpPr>
        <p:spPr>
          <a:xfrm>
            <a:off x="6382512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Cilantro Lime Rice</a:t>
            </a:r>
            <a:endParaRPr sz="145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9C8F21B4-2ED4-4F90-8A4E-B929F37C5243}"/>
              </a:ext>
            </a:extLst>
          </p:cNvPr>
          <p:cNvSpPr>
            <a:spLocks noGrp="1"/>
          </p:cNvSpPr>
          <p:nvPr/>
        </p:nvSpPr>
        <p:spPr>
          <a:xfrm>
            <a:off x="6382512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46" name="Shape 41">
            <a:extLst>
              <a:ext uri="{FF2B5EF4-FFF2-40B4-BE49-F238E27FC236}">
                <a16:creationId xmlns:a16="http://schemas.microsoft.com/office/drawing/2014/main" id="{CB4E5E2B-AB82-4890-B02A-60C7FFBEFA40}"/>
              </a:ext>
            </a:extLst>
          </p:cNvPr>
          <p:cNvSpPr>
            <a:spLocks noGrp="1"/>
          </p:cNvSpPr>
          <p:nvPr/>
        </p:nvSpPr>
        <p:spPr>
          <a:xfrm>
            <a:off x="6382512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64AB014A-05C3-45B0-AEEE-0D5F7B45FEB4}"/>
              </a:ext>
            </a:extLst>
          </p:cNvPr>
          <p:cNvSpPr>
            <a:spLocks noGrp="1"/>
          </p:cNvSpPr>
          <p:nvPr/>
        </p:nvSpPr>
        <p:spPr>
          <a:xfrm>
            <a:off x="6492240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>
              <a:ext uri="{FF2B5EF4-FFF2-40B4-BE49-F238E27FC236}">
                <a16:creationId xmlns:a16="http://schemas.microsoft.com/office/drawing/2014/main" id="{19FE6818-4F14-4862-A822-5259E90FC4D8}"/>
              </a:ext>
            </a:extLst>
          </p:cNvPr>
          <p:cNvSpPr>
            <a:spLocks noGrp="1"/>
          </p:cNvSpPr>
          <p:nvPr/>
        </p:nvSpPr>
        <p:spPr>
          <a:xfrm>
            <a:off x="6492240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>
              <a:ext uri="{FF2B5EF4-FFF2-40B4-BE49-F238E27FC236}">
                <a16:creationId xmlns:a16="http://schemas.microsoft.com/office/drawing/2014/main" id="{5C9DFA8C-DC12-493F-89E1-05F82142934A}"/>
              </a:ext>
            </a:extLst>
          </p:cNvPr>
          <p:cNvSpPr>
            <a:spLocks noGrp="1"/>
          </p:cNvSpPr>
          <p:nvPr/>
        </p:nvSpPr>
        <p:spPr>
          <a:xfrm>
            <a:off x="7132320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50" name="Text 45">
            <a:extLst>
              <a:ext uri="{FF2B5EF4-FFF2-40B4-BE49-F238E27FC236}">
                <a16:creationId xmlns:a16="http://schemas.microsoft.com/office/drawing/2014/main" id="{351C6F62-3582-446E-9329-137053C4895C}"/>
              </a:ext>
            </a:extLst>
          </p:cNvPr>
          <p:cNvSpPr>
            <a:spLocks noGrp="1"/>
          </p:cNvSpPr>
          <p:nvPr/>
        </p:nvSpPr>
        <p:spPr>
          <a:xfrm>
            <a:off x="6492240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>
              <a:ext uri="{FF2B5EF4-FFF2-40B4-BE49-F238E27FC236}">
                <a16:creationId xmlns:a16="http://schemas.microsoft.com/office/drawing/2014/main" id="{1CB0E785-438F-46B1-9B4D-45FFA085CF82}"/>
              </a:ext>
            </a:extLst>
          </p:cNvPr>
          <p:cNvSpPr>
            <a:spLocks noGrp="1"/>
          </p:cNvSpPr>
          <p:nvPr/>
        </p:nvSpPr>
        <p:spPr>
          <a:xfrm>
            <a:off x="7132320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$1,028 / 46,27 ₴</a:t>
            </a:r>
            <a:endParaRPr sz="950"/>
          </a:p>
        </p:txBody>
      </p:sp>
      <p:sp>
        <p:nvSpPr>
          <p:cNvPr id="52" name="Text 47">
            <a:extLst>
              <a:ext uri="{FF2B5EF4-FFF2-40B4-BE49-F238E27FC236}">
                <a16:creationId xmlns:a16="http://schemas.microsoft.com/office/drawing/2014/main" id="{843D82C3-467A-4031-AA4E-8835A62B789E}"/>
              </a:ext>
            </a:extLst>
          </p:cNvPr>
          <p:cNvSpPr>
            <a:spLocks noGrp="1"/>
          </p:cNvSpPr>
          <p:nvPr/>
        </p:nvSpPr>
        <p:spPr>
          <a:xfrm>
            <a:off x="6492240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>
              <a:ext uri="{FF2B5EF4-FFF2-40B4-BE49-F238E27FC236}">
                <a16:creationId xmlns:a16="http://schemas.microsoft.com/office/drawing/2014/main" id="{219E8FB0-85D4-446F-8CAB-519B563DBBC5}"/>
              </a:ext>
            </a:extLst>
          </p:cNvPr>
          <p:cNvSpPr>
            <a:spLocks noGrp="1"/>
          </p:cNvSpPr>
          <p:nvPr/>
        </p:nvSpPr>
        <p:spPr>
          <a:xfrm>
            <a:off x="7132320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54" name="Text 49">
            <a:extLst>
              <a:ext uri="{FF2B5EF4-FFF2-40B4-BE49-F238E27FC236}">
                <a16:creationId xmlns:a16="http://schemas.microsoft.com/office/drawing/2014/main" id="{C10E996F-4409-4306-8C47-C3DBDB53C35F}"/>
              </a:ext>
            </a:extLst>
          </p:cNvPr>
          <p:cNvSpPr>
            <a:spLocks noGrp="1"/>
          </p:cNvSpPr>
          <p:nvPr/>
        </p:nvSpPr>
        <p:spPr>
          <a:xfrm>
            <a:off x="6492240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>
              <a:ext uri="{FF2B5EF4-FFF2-40B4-BE49-F238E27FC236}">
                <a16:creationId xmlns:a16="http://schemas.microsoft.com/office/drawing/2014/main" id="{E05EE4B9-A859-4792-9E6A-A9A645DFA502}"/>
              </a:ext>
            </a:extLst>
          </p:cNvPr>
          <p:cNvSpPr>
            <a:spLocks noGrp="1"/>
          </p:cNvSpPr>
          <p:nvPr/>
        </p:nvSpPr>
        <p:spPr>
          <a:xfrm>
            <a:off x="7132320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251A2DC7-D0DC-4DDD-94FC-121AF67D8149}"/>
              </a:ext>
            </a:extLst>
          </p:cNvPr>
          <p:cNvSpPr>
            <a:spLocks noGrp="1"/>
          </p:cNvSpPr>
          <p:nvPr/>
        </p:nvSpPr>
        <p:spPr>
          <a:xfrm>
            <a:off x="9015984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2" name="Image 3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198864" y="1700784"/>
            <a:ext cx="2340864" cy="1810512"/>
          </a:xfrm>
          <a:prstGeom prst="roundRect">
            <a:avLst/>
          </a:prstGeom>
        </p:spPr>
      </p:pic>
      <p:sp>
        <p:nvSpPr>
          <p:cNvPr id="58" name="Shape 52">
            <a:extLst>
              <a:ext uri="{FF2B5EF4-FFF2-40B4-BE49-F238E27FC236}">
                <a16:creationId xmlns:a16="http://schemas.microsoft.com/office/drawing/2014/main" id="{F2C3BE02-E820-4936-861D-46D3D3E589BF}"/>
              </a:ext>
            </a:extLst>
          </p:cNvPr>
          <p:cNvSpPr>
            <a:spLocks noGrp="1"/>
          </p:cNvSpPr>
          <p:nvPr/>
        </p:nvSpPr>
        <p:spPr>
          <a:xfrm>
            <a:off x="9198864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1490DA2D-D85E-4489-896A-3376EF0EC2F2}"/>
              </a:ext>
            </a:extLst>
          </p:cNvPr>
          <p:cNvSpPr>
            <a:spLocks noGrp="1"/>
          </p:cNvSpPr>
          <p:nvPr/>
        </p:nvSpPr>
        <p:spPr>
          <a:xfrm>
            <a:off x="9198864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358A48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1BAD208D-D6B2-4DF7-AE5B-808AFC5016F0}"/>
              </a:ext>
            </a:extLst>
          </p:cNvPr>
          <p:cNvSpPr>
            <a:spLocks noGrp="1"/>
          </p:cNvSpPr>
          <p:nvPr/>
        </p:nvSpPr>
        <p:spPr>
          <a:xfrm>
            <a:off x="9198864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D32F869F-1422-4380-8509-FD4EC7795CA7}"/>
              </a:ext>
            </a:extLst>
          </p:cNvPr>
          <p:cNvSpPr>
            <a:spLocks noGrp="1"/>
          </p:cNvSpPr>
          <p:nvPr/>
        </p:nvSpPr>
        <p:spPr>
          <a:xfrm>
            <a:off x="9198864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62" name="Text 56">
            <a:extLst>
              <a:ext uri="{FF2B5EF4-FFF2-40B4-BE49-F238E27FC236}">
                <a16:creationId xmlns:a16="http://schemas.microsoft.com/office/drawing/2014/main" id="{C56AF3DF-CE25-4AEE-B9EA-65DA2178D6C8}"/>
              </a:ext>
            </a:extLst>
          </p:cNvPr>
          <p:cNvSpPr>
            <a:spLocks noGrp="1"/>
          </p:cNvSpPr>
          <p:nvPr/>
        </p:nvSpPr>
        <p:spPr>
          <a:xfrm>
            <a:off x="9198864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$0,583 · </a:t>
            </a:r>
            <a:endParaRPr sz="1000"/>
          </a:p>
        </p:txBody>
      </p:sp>
      <p:sp>
        <p:nvSpPr>
          <p:cNvPr id="63" name="Shape 57">
            <a:extLst>
              <a:ext uri="{FF2B5EF4-FFF2-40B4-BE49-F238E27FC236}">
                <a16:creationId xmlns:a16="http://schemas.microsoft.com/office/drawing/2014/main" id="{B87B54C9-A9BC-4125-8EB8-417D870F885A}"/>
              </a:ext>
            </a:extLst>
          </p:cNvPr>
          <p:cNvSpPr>
            <a:spLocks noGrp="1"/>
          </p:cNvSpPr>
          <p:nvPr/>
        </p:nvSpPr>
        <p:spPr>
          <a:xfrm>
            <a:off x="9198864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5CDDC64B-111E-4034-BB84-739716A535C5}"/>
              </a:ext>
            </a:extLst>
          </p:cNvPr>
          <p:cNvSpPr>
            <a:spLocks noGrp="1"/>
          </p:cNvSpPr>
          <p:nvPr/>
        </p:nvSpPr>
        <p:spPr>
          <a:xfrm>
            <a:off x="9308592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>
              <a:ext uri="{FF2B5EF4-FFF2-40B4-BE49-F238E27FC236}">
                <a16:creationId xmlns:a16="http://schemas.microsoft.com/office/drawing/2014/main" id="{B6A939BB-1670-4E52-9CBF-2148FF618BE5}"/>
              </a:ext>
            </a:extLst>
          </p:cNvPr>
          <p:cNvSpPr>
            <a:spLocks noGrp="1"/>
          </p:cNvSpPr>
          <p:nvPr/>
        </p:nvSpPr>
        <p:spPr>
          <a:xfrm>
            <a:off x="9308592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>
              <a:ext uri="{FF2B5EF4-FFF2-40B4-BE49-F238E27FC236}">
                <a16:creationId xmlns:a16="http://schemas.microsoft.com/office/drawing/2014/main" id="{89315069-AA8B-4FB9-B0D8-4EEFAFCC5D68}"/>
              </a:ext>
            </a:extLst>
          </p:cNvPr>
          <p:cNvSpPr>
            <a:spLocks noGrp="1"/>
          </p:cNvSpPr>
          <p:nvPr/>
        </p:nvSpPr>
        <p:spPr>
          <a:xfrm>
            <a:off x="9948672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$1,020 / 45,91 ₴</a:t>
            </a:r>
            <a:endParaRPr sz="950"/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EF2C8EF4-AF40-4A42-B5F5-CD3A89AECD13}"/>
              </a:ext>
            </a:extLst>
          </p:cNvPr>
          <p:cNvSpPr>
            <a:spLocks noGrp="1"/>
          </p:cNvSpPr>
          <p:nvPr/>
        </p:nvSpPr>
        <p:spPr>
          <a:xfrm>
            <a:off x="9308592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4A437B21-276B-4A8E-B4FA-E55E4C8EB3D4}"/>
              </a:ext>
            </a:extLst>
          </p:cNvPr>
          <p:cNvSpPr>
            <a:spLocks noGrp="1"/>
          </p:cNvSpPr>
          <p:nvPr/>
        </p:nvSpPr>
        <p:spPr>
          <a:xfrm>
            <a:off x="9948672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$0,915 / 41,20 ₴</a:t>
            </a:r>
            <a:endParaRPr sz="95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D3FCC8C4-076B-4094-B816-197B2B0E688C}"/>
              </a:ext>
            </a:extLst>
          </p:cNvPr>
          <p:cNvSpPr>
            <a:spLocks noGrp="1"/>
          </p:cNvSpPr>
          <p:nvPr/>
        </p:nvSpPr>
        <p:spPr>
          <a:xfrm>
            <a:off x="9308592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AC58F4C-4853-4DE5-929B-AF4822760C15}"/>
              </a:ext>
            </a:extLst>
          </p:cNvPr>
          <p:cNvSpPr>
            <a:spLocks noGrp="1"/>
          </p:cNvSpPr>
          <p:nvPr/>
        </p:nvSpPr>
        <p:spPr>
          <a:xfrm>
            <a:off x="9948672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$1,215 / 54,68 ₴</a:t>
            </a:r>
            <a:endParaRPr sz="950"/>
          </a:p>
        </p:txBody>
      </p:sp>
      <p:sp>
        <p:nvSpPr>
          <p:cNvPr id="71" name="Text 65">
            <a:extLst>
              <a:ext uri="{FF2B5EF4-FFF2-40B4-BE49-F238E27FC236}">
                <a16:creationId xmlns:a16="http://schemas.microsoft.com/office/drawing/2014/main" id="{838F0CEE-4FBA-4656-B576-A01896E53768}"/>
              </a:ext>
            </a:extLst>
          </p:cNvPr>
          <p:cNvSpPr>
            <a:spLocks noGrp="1"/>
          </p:cNvSpPr>
          <p:nvPr/>
        </p:nvSpPr>
        <p:spPr>
          <a:xfrm>
            <a:off x="9308592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>
              <a:ext uri="{FF2B5EF4-FFF2-40B4-BE49-F238E27FC236}">
                <a16:creationId xmlns:a16="http://schemas.microsoft.com/office/drawing/2014/main" id="{C7424DE8-2857-46C2-8E15-BFDE963490BE}"/>
              </a:ext>
            </a:extLst>
          </p:cNvPr>
          <p:cNvSpPr>
            <a:spLocks noGrp="1"/>
          </p:cNvSpPr>
          <p:nvPr/>
        </p:nvSpPr>
        <p:spPr>
          <a:xfrm>
            <a:off x="9948672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$0,944 / 42,48 ₴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1152137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ПОСТАЧАЛЬНИК 1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BSCM Foods — профіль компанії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Тайський виробник готових страв за ретортною технологією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1C3D159-6BBB-4F8D-B9ED-F6496F44B44F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BB6272E-A3D6-4F20-AF34-CF17DAB68835}"/>
              </a:ext>
            </a:extLst>
          </p:cNvPr>
          <p:cNvSpPr>
            <a:spLocks noGrp="1"/>
          </p:cNvSpPr>
          <p:nvPr/>
        </p:nvSpPr>
        <p:spPr>
          <a:xfrm>
            <a:off x="841248" y="173736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Про компанію</a:t>
            </a:r>
            <a:endParaRPr sz="17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27C41B4-C39E-4BB3-87E3-96451AFDB1CC}"/>
              </a:ext>
            </a:extLst>
          </p:cNvPr>
          <p:cNvSpPr>
            <a:spLocks noGrp="1"/>
          </p:cNvSpPr>
          <p:nvPr/>
        </p:nvSpPr>
        <p:spPr>
          <a:xfrm>
            <a:off x="841248" y="2103120"/>
            <a:ext cx="612648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700"/>
              </a:lnSpc>
              <a:buNone/>
            </a:pPr>
            <a:r>
              <a:rPr sz="12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BSCM Foods Co., Ltd. — виробник готової до споживання їжі з Бангкока. Портфель поділений на чотири напрями: Ready Rice, Ready Meal, Ready Dessert та Ready Drink. Рис випускається у трьох форматах — пауч, стакан і лоток.</a:t>
            </a:r>
            <a:endParaRPr sz="12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50D0EC9-3F48-4B23-B62F-2DC20F4CB1E3}"/>
              </a:ext>
            </a:extLst>
          </p:cNvPr>
          <p:cNvSpPr>
            <a:spLocks noGrp="1"/>
          </p:cNvSpPr>
          <p:nvPr/>
        </p:nvSpPr>
        <p:spPr>
          <a:xfrm>
            <a:off x="841248" y="301752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Ключові параметри</a:t>
            </a:r>
            <a:endParaRPr sz="17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A91FA7F-CF81-4499-8A50-A7DEE4346D83}"/>
              </a:ext>
            </a:extLst>
          </p:cNvPr>
          <p:cNvSpPr>
            <a:spLocks noGrp="1"/>
          </p:cNvSpPr>
          <p:nvPr/>
        </p:nvSpPr>
        <p:spPr>
          <a:xfrm>
            <a:off x="841248" y="338328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Локація</a:t>
            </a:r>
            <a:endParaRPr sz="10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BE8A5288-4469-45DA-BAD0-F665517C1E65}"/>
              </a:ext>
            </a:extLst>
          </p:cNvPr>
          <p:cNvSpPr>
            <a:spLocks noGrp="1"/>
          </p:cNvSpPr>
          <p:nvPr/>
        </p:nvSpPr>
        <p:spPr>
          <a:xfrm>
            <a:off x="2971800" y="338328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Бангкок (Bangsue), Таїланд</a:t>
            </a:r>
            <a:endParaRPr sz="115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FCACD5D8-D338-4EA5-B23F-C319A9D0F23D}"/>
              </a:ext>
            </a:extLst>
          </p:cNvPr>
          <p:cNvSpPr>
            <a:spLocks noGrp="1"/>
          </p:cNvSpPr>
          <p:nvPr/>
        </p:nvSpPr>
        <p:spPr>
          <a:xfrm>
            <a:off x="841248" y="371703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Група</a:t>
            </a:r>
            <a:endParaRPr sz="105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818D73A6-5619-40CD-864C-164E337887CE}"/>
              </a:ext>
            </a:extLst>
          </p:cNvPr>
          <p:cNvSpPr>
            <a:spLocks noGrp="1"/>
          </p:cNvSpPr>
          <p:nvPr/>
        </p:nvSpPr>
        <p:spPr>
          <a:xfrm>
            <a:off x="2971800" y="371703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Bangsue Chia Meng Rice Mill, з 1937</a:t>
            </a:r>
            <a:endParaRPr sz="11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B17E25C-EAC6-44DA-BED1-8DA3C384AB1F}"/>
              </a:ext>
            </a:extLst>
          </p:cNvPr>
          <p:cNvSpPr>
            <a:spLocks noGrp="1"/>
          </p:cNvSpPr>
          <p:nvPr/>
        </p:nvSpPr>
        <p:spPr>
          <a:xfrm>
            <a:off x="841248" y="405079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RTE-виробництво</a:t>
            </a:r>
            <a:endParaRPr sz="10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1ACB90C5-BF37-41D9-8DC3-D21E41BC119E}"/>
              </a:ext>
            </a:extLst>
          </p:cNvPr>
          <p:cNvSpPr>
            <a:spLocks noGrp="1"/>
          </p:cNvSpPr>
          <p:nvPr/>
        </p:nvSpPr>
        <p:spPr>
          <a:xfrm>
            <a:off x="2971800" y="405079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власний завод BSCM Foods, з 2009</a:t>
            </a:r>
            <a:endParaRPr sz="11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1BC70C4-0C92-435A-9487-D75013A4A699}"/>
              </a:ext>
            </a:extLst>
          </p:cNvPr>
          <p:cNvSpPr>
            <a:spLocks noGrp="1"/>
          </p:cNvSpPr>
          <p:nvPr/>
        </p:nvSpPr>
        <p:spPr>
          <a:xfrm>
            <a:off x="841248" y="4384548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Технологія</a:t>
            </a:r>
            <a:endParaRPr sz="105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3F159060-DCDF-44CC-8B6D-02E8ED33BA8F}"/>
              </a:ext>
            </a:extLst>
          </p:cNvPr>
          <p:cNvSpPr>
            <a:spLocks noGrp="1"/>
          </p:cNvSpPr>
          <p:nvPr/>
        </p:nvSpPr>
        <p:spPr>
          <a:xfrm>
            <a:off x="2971800" y="4384548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ретортна стерилізація, без консервантів</a:t>
            </a:r>
            <a:endParaRPr sz="115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387B55C1-5453-4641-8FEE-2A2600E80415}"/>
              </a:ext>
            </a:extLst>
          </p:cNvPr>
          <p:cNvSpPr>
            <a:spLocks noGrp="1"/>
          </p:cNvSpPr>
          <p:nvPr/>
        </p:nvSpPr>
        <p:spPr>
          <a:xfrm>
            <a:off x="841248" y="4718304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Термін придатності</a:t>
            </a:r>
            <a:endParaRPr sz="105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E5BCD84D-F4E9-40F7-AA7D-85E5A9A7C865}"/>
              </a:ext>
            </a:extLst>
          </p:cNvPr>
          <p:cNvSpPr>
            <a:spLocks noGrp="1"/>
          </p:cNvSpPr>
          <p:nvPr/>
        </p:nvSpPr>
        <p:spPr>
          <a:xfrm>
            <a:off x="2971800" y="4718304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18 місяців за кімнатної температури</a:t>
            </a:r>
            <a:endParaRPr sz="115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9CD79870-7EED-40F1-B03F-865D47193057}"/>
              </a:ext>
            </a:extLst>
          </p:cNvPr>
          <p:cNvSpPr>
            <a:spLocks noGrp="1"/>
          </p:cNvSpPr>
          <p:nvPr/>
        </p:nvSpPr>
        <p:spPr>
          <a:xfrm>
            <a:off x="841248" y="505206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Розігрів</a:t>
            </a:r>
            <a:endParaRPr sz="105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9696F0F8-6388-458A-9A6E-BD09F3ACBA30}"/>
              </a:ext>
            </a:extLst>
          </p:cNvPr>
          <p:cNvSpPr>
            <a:spLocks noGrp="1"/>
          </p:cNvSpPr>
          <p:nvPr/>
        </p:nvSpPr>
        <p:spPr>
          <a:xfrm>
            <a:off x="2971800" y="505206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мікрохвильова піч, 60–90 сек</a:t>
            </a:r>
            <a:endParaRPr sz="115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13A8E69A-5D22-455F-8007-BE2ECE9342F0}"/>
              </a:ext>
            </a:extLst>
          </p:cNvPr>
          <p:cNvSpPr>
            <a:spLocks noGrp="1"/>
          </p:cNvSpPr>
          <p:nvPr/>
        </p:nvSpPr>
        <p:spPr>
          <a:xfrm>
            <a:off x="841248" y="538581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 в офері</a:t>
            </a:r>
            <a:endParaRPr sz="105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0F71CE83-5380-4313-A831-A097BEC1C816}"/>
              </a:ext>
            </a:extLst>
          </p:cNvPr>
          <p:cNvSpPr>
            <a:spLocks noGrp="1"/>
          </p:cNvSpPr>
          <p:nvPr/>
        </p:nvSpPr>
        <p:spPr>
          <a:xfrm>
            <a:off x="2971800" y="538581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пауч 240 г · 6 шт у коробі</a:t>
            </a:r>
            <a:endParaRPr sz="115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9E3FDCDD-AB84-4655-AE3A-27E63EDCF931}"/>
              </a:ext>
            </a:extLst>
          </p:cNvPr>
          <p:cNvSpPr>
            <a:spLocks noGrp="1"/>
          </p:cNvSpPr>
          <p:nvPr/>
        </p:nvSpPr>
        <p:spPr>
          <a:xfrm>
            <a:off x="841248" y="571957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Сертифікація</a:t>
            </a:r>
            <a:endParaRPr sz="1050"/>
          </a:p>
        </p:txBody>
      </p:sp>
      <p:sp>
        <p:nvSpPr>
          <p:cNvPr id="36" name="Text 20">
            <a:extLst>
              <a:ext uri="{FF2B5EF4-FFF2-40B4-BE49-F238E27FC236}">
                <a16:creationId xmlns:a16="http://schemas.microsoft.com/office/drawing/2014/main" id="{CE1C1DBA-4385-4A90-B461-BD4A3B7B3F15}"/>
              </a:ext>
            </a:extLst>
          </p:cNvPr>
          <p:cNvSpPr>
            <a:spLocks noGrp="1"/>
          </p:cNvSpPr>
          <p:nvPr/>
        </p:nvSpPr>
        <p:spPr>
          <a:xfrm>
            <a:off x="2971800" y="571957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BRC · HACCP · ISO 22000 · GMP · Organic</a:t>
            </a:r>
            <a:endParaRPr sz="1150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7366CF28-1B6D-49C3-946A-65C3FD0C8631}"/>
              </a:ext>
            </a:extLst>
          </p:cNvPr>
          <p:cNvSpPr>
            <a:spLocks noGrp="1"/>
          </p:cNvSpPr>
          <p:nvPr/>
        </p:nvSpPr>
        <p:spPr>
          <a:xfrm>
            <a:off x="7534656" y="1536192"/>
            <a:ext cx="4096512" cy="2834640"/>
          </a:xfrm>
          <a:prstGeom prst="rect">
            <a:avLst/>
          </a:prstGeom>
          <a:ln w="1587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831A629E-B7E5-4A9F-8D0C-CEFC366EAB2E}"/>
              </a:ext>
            </a:extLst>
          </p:cNvPr>
          <p:cNvSpPr>
            <a:spLocks noGrp="1"/>
          </p:cNvSpPr>
          <p:nvPr/>
        </p:nvSpPr>
        <p:spPr>
          <a:xfrm>
            <a:off x="7534656" y="4526280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noGrp="1"/>
          </p:cNvSpPr>
          <p:nvPr/>
        </p:nvSpPr>
        <p:spPr>
          <a:xfrm>
            <a:off x="7717536" y="4581144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18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міс</a:t>
            </a:r>
            <a:endParaRPr sz="190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noGrp="1"/>
          </p:cNvSpPr>
          <p:nvPr/>
        </p:nvSpPr>
        <p:spPr>
          <a:xfrm>
            <a:off x="9098280" y="4581144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термін придатності</a:t>
            </a:r>
            <a:endParaRPr sz="105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B6DB6DF8-9EDE-4700-B934-B2C5D27FD37C}"/>
              </a:ext>
            </a:extLst>
          </p:cNvPr>
          <p:cNvSpPr>
            <a:spLocks noGrp="1"/>
          </p:cNvSpPr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C0BEDDE1-3BA8-41C7-A18B-3458416DEE72}"/>
              </a:ext>
            </a:extLst>
          </p:cNvPr>
          <p:cNvSpPr>
            <a:spLocks noGrp="1"/>
          </p:cNvSpPr>
          <p:nvPr/>
        </p:nvSpPr>
        <p:spPr>
          <a:xfrm>
            <a:off x="7717536" y="5148072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90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сек</a:t>
            </a:r>
            <a:endParaRPr sz="190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218C4906-3F42-4BCF-AD90-A44D05606B4C}"/>
              </a:ext>
            </a:extLst>
          </p:cNvPr>
          <p:cNvSpPr>
            <a:spLocks noGrp="1"/>
          </p:cNvSpPr>
          <p:nvPr/>
        </p:nvSpPr>
        <p:spPr>
          <a:xfrm>
            <a:off x="9098280" y="5148072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розігрів у мікрохвильовці</a:t>
            </a:r>
            <a:endParaRPr sz="105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5F74166D-A4F2-4F13-9CD5-9980A3D4D94F}"/>
              </a:ext>
            </a:extLst>
          </p:cNvPr>
          <p:cNvSpPr>
            <a:spLocks noGrp="1"/>
          </p:cNvSpPr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261A9ED7-0551-4B4E-B905-410FED97DEDE}"/>
              </a:ext>
            </a:extLst>
          </p:cNvPr>
          <p:cNvSpPr>
            <a:spLocks noGrp="1"/>
          </p:cNvSpPr>
          <p:nvPr/>
        </p:nvSpPr>
        <p:spPr>
          <a:xfrm>
            <a:off x="7717536" y="571500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60+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країн</a:t>
            </a:r>
            <a:endParaRPr sz="190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E99E232B-CE92-4C25-B546-D18CAEAE1AAC}"/>
              </a:ext>
            </a:extLst>
          </p:cNvPr>
          <p:cNvSpPr>
            <a:spLocks noGrp="1"/>
          </p:cNvSpPr>
          <p:nvPr/>
        </p:nvSpPr>
        <p:spPr>
          <a:xfrm>
            <a:off x="9098280" y="57150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країн експорту групи</a:t>
            </a:r>
            <a:endParaRPr sz="105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536F47F1-10DF-4B38-8365-3317E620F8C6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каталог продукції BSCM Foods, комерційна пропозиція постачальника та корпоративний сайт групи BSCM (bscm.co.th); сертифікати — за каталогом.</a:t>
            </a:r>
            <a:endParaRPr sz="900"/>
          </a:p>
        </p:txBody>
      </p:sp>
      <p:pic>
        <p:nvPicPr>
          <p:cNvPr id="37" name="Picture 34" descr="bscm_facility.jpg">
            <a:extLst>
              <a:ext uri="{FF2B5EF4-FFF2-40B4-BE49-F238E27FC236}">
                <a16:creationId xmlns:a16="http://schemas.microsoft.com/office/drawing/2014/main" id="{EBD8B576-66F4-E3D8-E88C-AED726EA0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6553" y="1554480"/>
            <a:ext cx="4096512" cy="2834640"/>
          </a:xfrm>
          <a:prstGeom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598072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ПОСТАЧАЛЬНИК 1  ·  BSCM FOODS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6 × 240 г</a:t>
            </a:r>
            <a:endParaRPr sz="3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Завантаження навалом, FOB Bangkok ·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2" name="Picture 7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1700784"/>
            <a:ext cx="2340864" cy="1810512"/>
          </a:xfrm>
          <a:prstGeom prst="round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noGrp="1"/>
          </p:cNvSpPr>
          <p:nvPr/>
        </p:nvSpPr>
        <p:spPr>
          <a:xfrm>
            <a:off x="749808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noGrp="1"/>
          </p:cNvSpPr>
          <p:nvPr/>
        </p:nvSpPr>
        <p:spPr>
          <a:xfrm>
            <a:off x="749808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noGrp="1"/>
          </p:cNvSpPr>
          <p:nvPr/>
        </p:nvSpPr>
        <p:spPr>
          <a:xfrm>
            <a:off x="749808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noGrp="1"/>
          </p:cNvSpPr>
          <p:nvPr/>
        </p:nvSpPr>
        <p:spPr>
          <a:xfrm>
            <a:off x="749808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noGrp="1"/>
          </p:cNvSpPr>
          <p:nvPr/>
        </p:nvSpPr>
        <p:spPr>
          <a:xfrm>
            <a:off x="749808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$0,583 · </a:t>
            </a:r>
            <a:endParaRPr sz="10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noGrp="1"/>
          </p:cNvSpPr>
          <p:nvPr/>
        </p:nvSpPr>
        <p:spPr>
          <a:xfrm>
            <a:off x="749808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noGrp="1"/>
          </p:cNvSpPr>
          <p:nvPr/>
        </p:nvSpPr>
        <p:spPr>
          <a:xfrm>
            <a:off x="859536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noGrp="1"/>
          </p:cNvSpPr>
          <p:nvPr/>
        </p:nvSpPr>
        <p:spPr>
          <a:xfrm>
            <a:off x="859536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noGrp="1"/>
          </p:cNvSpPr>
          <p:nvPr/>
        </p:nvSpPr>
        <p:spPr>
          <a:xfrm>
            <a:off x="1499616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$0,995 / 44,79 ₴</a:t>
            </a:r>
            <a:endParaRPr sz="95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noGrp="1"/>
          </p:cNvSpPr>
          <p:nvPr/>
        </p:nvSpPr>
        <p:spPr>
          <a:xfrm>
            <a:off x="859536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noGrp="1"/>
          </p:cNvSpPr>
          <p:nvPr/>
        </p:nvSpPr>
        <p:spPr>
          <a:xfrm>
            <a:off x="1499616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$0,892 / 40,15 ₴</a:t>
            </a:r>
            <a:endParaRPr sz="95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noGrp="1"/>
          </p:cNvSpPr>
          <p:nvPr/>
        </p:nvSpPr>
        <p:spPr>
          <a:xfrm>
            <a:off x="859536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noGrp="1"/>
          </p:cNvSpPr>
          <p:nvPr/>
        </p:nvSpPr>
        <p:spPr>
          <a:xfrm>
            <a:off x="1499616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$1,001 / 45,03 ₴</a:t>
            </a:r>
            <a:endParaRPr sz="95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noGrp="1"/>
          </p:cNvSpPr>
          <p:nvPr/>
        </p:nvSpPr>
        <p:spPr>
          <a:xfrm>
            <a:off x="859536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noGrp="1"/>
          </p:cNvSpPr>
          <p:nvPr/>
        </p:nvSpPr>
        <p:spPr>
          <a:xfrm>
            <a:off x="1499616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$0,928 / 41,77 ₴</a:t>
            </a:r>
            <a:endParaRPr sz="95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noGrp="1"/>
          </p:cNvSpPr>
          <p:nvPr/>
        </p:nvSpPr>
        <p:spPr>
          <a:xfrm>
            <a:off x="3383280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9" name="Picture 7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1700784"/>
            <a:ext cx="2340864" cy="1810512"/>
          </a:xfrm>
          <a:prstGeom prst="roundRect">
            <a:avLst/>
          </a:prstGeom>
        </p:spPr>
      </p:pic>
      <p:sp>
        <p:nvSpPr>
          <p:cNvPr id="24" name="Shape 20">
            <a:extLst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noGrp="1"/>
          </p:cNvSpPr>
          <p:nvPr/>
        </p:nvSpPr>
        <p:spPr>
          <a:xfrm>
            <a:off x="3566160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noGrp="1"/>
          </p:cNvSpPr>
          <p:nvPr/>
        </p:nvSpPr>
        <p:spPr>
          <a:xfrm>
            <a:off x="3566160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noGrp="1"/>
          </p:cNvSpPr>
          <p:nvPr/>
        </p:nvSpPr>
        <p:spPr>
          <a:xfrm>
            <a:off x="3566160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noGrp="1"/>
          </p:cNvSpPr>
          <p:nvPr/>
        </p:nvSpPr>
        <p:spPr>
          <a:xfrm>
            <a:off x="3566160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Mexican Rice</a:t>
            </a:r>
            <a:endParaRPr sz="145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noGrp="1"/>
          </p:cNvSpPr>
          <p:nvPr/>
        </p:nvSpPr>
        <p:spPr>
          <a:xfrm>
            <a:off x="3566160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noGrp="1"/>
          </p:cNvSpPr>
          <p:nvPr/>
        </p:nvSpPr>
        <p:spPr>
          <a:xfrm>
            <a:off x="3566160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noGrp="1"/>
          </p:cNvSpPr>
          <p:nvPr/>
        </p:nvSpPr>
        <p:spPr>
          <a:xfrm>
            <a:off x="3675888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noGrp="1"/>
          </p:cNvSpPr>
          <p:nvPr/>
        </p:nvSpPr>
        <p:spPr>
          <a:xfrm>
            <a:off x="3675888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noGrp="1"/>
          </p:cNvSpPr>
          <p:nvPr/>
        </p:nvSpPr>
        <p:spPr>
          <a:xfrm>
            <a:off x="4315968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$1,138 / 51,19 ₴</a:t>
            </a:r>
            <a:endParaRPr sz="95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noGrp="1"/>
          </p:cNvSpPr>
          <p:nvPr/>
        </p:nvSpPr>
        <p:spPr>
          <a:xfrm>
            <a:off x="3675888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noGrp="1"/>
          </p:cNvSpPr>
          <p:nvPr/>
        </p:nvSpPr>
        <p:spPr>
          <a:xfrm>
            <a:off x="4315968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$1,020 / 45,89 ₴</a:t>
            </a:r>
            <a:endParaRPr sz="95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noGrp="1"/>
          </p:cNvSpPr>
          <p:nvPr/>
        </p:nvSpPr>
        <p:spPr>
          <a:xfrm>
            <a:off x="3675888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noGrp="1"/>
          </p:cNvSpPr>
          <p:nvPr/>
        </p:nvSpPr>
        <p:spPr>
          <a:xfrm>
            <a:off x="4315968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$1,144 / 51,46 ₴</a:t>
            </a:r>
            <a:endParaRPr sz="950"/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noGrp="1"/>
          </p:cNvSpPr>
          <p:nvPr/>
        </p:nvSpPr>
        <p:spPr>
          <a:xfrm>
            <a:off x="3675888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noGrp="1"/>
          </p:cNvSpPr>
          <p:nvPr/>
        </p:nvSpPr>
        <p:spPr>
          <a:xfrm>
            <a:off x="4315968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$1,061 / 47,74 ₴</a:t>
            </a:r>
            <a:endParaRPr sz="950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noGrp="1"/>
          </p:cNvSpPr>
          <p:nvPr/>
        </p:nvSpPr>
        <p:spPr>
          <a:xfrm>
            <a:off x="6199632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6" name="Picture 7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2512" y="1700784"/>
            <a:ext cx="2340864" cy="1810512"/>
          </a:xfrm>
          <a:prstGeom prst="roundRect">
            <a:avLst/>
          </a:prstGeom>
        </p:spPr>
      </p:pic>
      <p:sp>
        <p:nvSpPr>
          <p:cNvPr id="41" name="Shape 36">
            <a:extLst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noGrp="1"/>
          </p:cNvSpPr>
          <p:nvPr/>
        </p:nvSpPr>
        <p:spPr>
          <a:xfrm>
            <a:off x="6382512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noGrp="1"/>
          </p:cNvSpPr>
          <p:nvPr/>
        </p:nvSpPr>
        <p:spPr>
          <a:xfrm>
            <a:off x="6382512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noGrp="1"/>
          </p:cNvSpPr>
          <p:nvPr/>
        </p:nvSpPr>
        <p:spPr>
          <a:xfrm>
            <a:off x="6382512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noGrp="1"/>
          </p:cNvSpPr>
          <p:nvPr/>
        </p:nvSpPr>
        <p:spPr>
          <a:xfrm>
            <a:off x="6382512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Japanese Style Rice</a:t>
            </a:r>
            <a:endParaRPr sz="145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noGrp="1"/>
          </p:cNvSpPr>
          <p:nvPr/>
        </p:nvSpPr>
        <p:spPr>
          <a:xfrm>
            <a:off x="6382512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46" name="Shape 41">
            <a:extLst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noGrp="1"/>
          </p:cNvSpPr>
          <p:nvPr/>
        </p:nvSpPr>
        <p:spPr>
          <a:xfrm>
            <a:off x="6382512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noGrp="1"/>
          </p:cNvSpPr>
          <p:nvPr/>
        </p:nvSpPr>
        <p:spPr>
          <a:xfrm>
            <a:off x="6492240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noGrp="1"/>
          </p:cNvSpPr>
          <p:nvPr/>
        </p:nvSpPr>
        <p:spPr>
          <a:xfrm>
            <a:off x="6492240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noGrp="1"/>
          </p:cNvSpPr>
          <p:nvPr/>
        </p:nvSpPr>
        <p:spPr>
          <a:xfrm>
            <a:off x="7132320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$1,138 / 51,19 ₴</a:t>
            </a:r>
            <a:endParaRPr sz="950"/>
          </a:p>
        </p:txBody>
      </p:sp>
      <p:sp>
        <p:nvSpPr>
          <p:cNvPr id="50" name="Text 45">
            <a:extLst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noGrp="1"/>
          </p:cNvSpPr>
          <p:nvPr/>
        </p:nvSpPr>
        <p:spPr>
          <a:xfrm>
            <a:off x="6492240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noGrp="1"/>
          </p:cNvSpPr>
          <p:nvPr/>
        </p:nvSpPr>
        <p:spPr>
          <a:xfrm>
            <a:off x="7132320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$1,020 / 45,89 ₴</a:t>
            </a:r>
            <a:endParaRPr sz="950"/>
          </a:p>
        </p:txBody>
      </p:sp>
      <p:sp>
        <p:nvSpPr>
          <p:cNvPr id="52" name="Text 47">
            <a:extLst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noGrp="1"/>
          </p:cNvSpPr>
          <p:nvPr/>
        </p:nvSpPr>
        <p:spPr>
          <a:xfrm>
            <a:off x="6492240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noGrp="1"/>
          </p:cNvSpPr>
          <p:nvPr/>
        </p:nvSpPr>
        <p:spPr>
          <a:xfrm>
            <a:off x="7132320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$1,144 / 51,46 ₴</a:t>
            </a:r>
            <a:endParaRPr sz="950"/>
          </a:p>
        </p:txBody>
      </p:sp>
      <p:sp>
        <p:nvSpPr>
          <p:cNvPr id="54" name="Text 49">
            <a:extLst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noGrp="1"/>
          </p:cNvSpPr>
          <p:nvPr/>
        </p:nvSpPr>
        <p:spPr>
          <a:xfrm>
            <a:off x="6492240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noGrp="1"/>
          </p:cNvSpPr>
          <p:nvPr/>
        </p:nvSpPr>
        <p:spPr>
          <a:xfrm>
            <a:off x="7132320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$1,061 / 47,74 ₴</a:t>
            </a:r>
            <a:endParaRPr sz="950"/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noGrp="1"/>
          </p:cNvSpPr>
          <p:nvPr/>
        </p:nvSpPr>
        <p:spPr>
          <a:xfrm>
            <a:off x="9015984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3" name="Picture 7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98864" y="1700784"/>
            <a:ext cx="2340864" cy="1810512"/>
          </a:xfrm>
          <a:prstGeom prst="roundRect">
            <a:avLst/>
          </a:prstGeom>
        </p:spPr>
      </p:pic>
      <p:sp>
        <p:nvSpPr>
          <p:cNvPr id="58" name="Shape 52">
            <a:extLst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noGrp="1"/>
          </p:cNvSpPr>
          <p:nvPr/>
        </p:nvSpPr>
        <p:spPr>
          <a:xfrm>
            <a:off x="9198864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noGrp="1"/>
          </p:cNvSpPr>
          <p:nvPr/>
        </p:nvSpPr>
        <p:spPr>
          <a:xfrm>
            <a:off x="9198864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noGrp="1"/>
          </p:cNvSpPr>
          <p:nvPr/>
        </p:nvSpPr>
        <p:spPr>
          <a:xfrm>
            <a:off x="9198864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noGrp="1"/>
          </p:cNvSpPr>
          <p:nvPr/>
        </p:nvSpPr>
        <p:spPr>
          <a:xfrm>
            <a:off x="9198864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Hot and Spicy Rice</a:t>
            </a:r>
            <a:endParaRPr sz="1450"/>
          </a:p>
        </p:txBody>
      </p:sp>
      <p:sp>
        <p:nvSpPr>
          <p:cNvPr id="62" name="Text 56">
            <a:extLst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noGrp="1"/>
          </p:cNvSpPr>
          <p:nvPr/>
        </p:nvSpPr>
        <p:spPr>
          <a:xfrm>
            <a:off x="9198864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$0,750 · </a:t>
            </a:r>
            <a:endParaRPr sz="1000"/>
          </a:p>
        </p:txBody>
      </p:sp>
      <p:sp>
        <p:nvSpPr>
          <p:cNvPr id="63" name="Shape 57">
            <a:extLst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noGrp="1"/>
          </p:cNvSpPr>
          <p:nvPr/>
        </p:nvSpPr>
        <p:spPr>
          <a:xfrm>
            <a:off x="9198864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noGrp="1"/>
          </p:cNvSpPr>
          <p:nvPr/>
        </p:nvSpPr>
        <p:spPr>
          <a:xfrm>
            <a:off x="9308592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noGrp="1"/>
          </p:cNvSpPr>
          <p:nvPr/>
        </p:nvSpPr>
        <p:spPr>
          <a:xfrm>
            <a:off x="9308592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noGrp="1"/>
          </p:cNvSpPr>
          <p:nvPr/>
        </p:nvSpPr>
        <p:spPr>
          <a:xfrm>
            <a:off x="9948672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$1,280 / 57,59 ₴</a:t>
            </a:r>
            <a:endParaRPr sz="950"/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noGrp="1"/>
          </p:cNvSpPr>
          <p:nvPr/>
        </p:nvSpPr>
        <p:spPr>
          <a:xfrm>
            <a:off x="9308592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noGrp="1"/>
          </p:cNvSpPr>
          <p:nvPr/>
        </p:nvSpPr>
        <p:spPr>
          <a:xfrm>
            <a:off x="9948672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$1,147 / 51,63 ₴</a:t>
            </a:r>
            <a:endParaRPr sz="95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noGrp="1"/>
          </p:cNvSpPr>
          <p:nvPr/>
        </p:nvSpPr>
        <p:spPr>
          <a:xfrm>
            <a:off x="9308592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noGrp="1"/>
          </p:cNvSpPr>
          <p:nvPr/>
        </p:nvSpPr>
        <p:spPr>
          <a:xfrm>
            <a:off x="9948672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$1,287 / 57,89 ₴</a:t>
            </a:r>
            <a:endParaRPr sz="950"/>
          </a:p>
        </p:txBody>
      </p:sp>
      <p:sp>
        <p:nvSpPr>
          <p:cNvPr id="71" name="Text 65">
            <a:extLst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noGrp="1"/>
          </p:cNvSpPr>
          <p:nvPr/>
        </p:nvSpPr>
        <p:spPr>
          <a:xfrm>
            <a:off x="9308592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noGrp="1"/>
          </p:cNvSpPr>
          <p:nvPr/>
        </p:nvSpPr>
        <p:spPr>
          <a:xfrm>
            <a:off x="9948672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$1,193 / 53,70 ₴</a:t>
            </a:r>
            <a:endParaRPr sz="950"/>
          </a:p>
        </p:txBody>
      </p:sp>
      <p:sp>
        <p:nvSpPr>
          <p:cNvPr id="73" name="Text 67">
            <a:extLst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Фото упаковки — з каталогу BSCM Foods; для Japanese Style Rice постачальник фото не надав. Собівартість: мито 10%, ПДВ 20%, транспорт, кредитні гроші 2,5%.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503426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651695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НОВЕ ВИРОБНИЦТВО · BSCM FOODS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8761682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in Plastic Cup 12 × 150 г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noGrp="1"/>
          </p:cNvSpPr>
          <p:nvPr/>
        </p:nvSpPr>
        <p:spPr>
          <a:xfrm>
            <a:off x="581410" y="1115568"/>
            <a:ext cx="876168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Single Cup with Sleeve Box · W/O Oil · 12 шт. у коробі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214335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noGrp="1"/>
          </p:cNvSpPr>
          <p:nvPr/>
        </p:nvSpPr>
        <p:spPr>
          <a:xfrm>
            <a:off x="711749" y="1700784"/>
            <a:ext cx="1853711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noGrp="1"/>
          </p:cNvSpPr>
          <p:nvPr/>
        </p:nvSpPr>
        <p:spPr>
          <a:xfrm>
            <a:off x="711749" y="3611880"/>
            <a:ext cx="1122364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noGrp="1"/>
          </p:cNvSpPr>
          <p:nvPr/>
        </p:nvSpPr>
        <p:spPr>
          <a:xfrm>
            <a:off x="711749" y="3621024"/>
            <a:ext cx="1122364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noGrp="1"/>
          </p:cNvSpPr>
          <p:nvPr/>
        </p:nvSpPr>
        <p:spPr>
          <a:xfrm>
            <a:off x="711749" y="3931920"/>
            <a:ext cx="185371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Jasmine Rice</a:t>
            </a:r>
            <a:endParaRPr sz="14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noGrp="1"/>
          </p:cNvSpPr>
          <p:nvPr/>
        </p:nvSpPr>
        <p:spPr>
          <a:xfrm>
            <a:off x="711749" y="4498848"/>
            <a:ext cx="1853711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$0,500 · базовий SKU</a:t>
            </a:r>
            <a:endParaRPr sz="10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noGrp="1"/>
          </p:cNvSpPr>
          <p:nvPr/>
        </p:nvSpPr>
        <p:spPr>
          <a:xfrm>
            <a:off x="711749" y="4791456"/>
            <a:ext cx="1853711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noGrp="1"/>
          </p:cNvSpPr>
          <p:nvPr/>
        </p:nvSpPr>
        <p:spPr>
          <a:xfrm>
            <a:off x="798642" y="4855464"/>
            <a:ext cx="1701649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noGrp="1"/>
          </p:cNvSpPr>
          <p:nvPr/>
        </p:nvSpPr>
        <p:spPr>
          <a:xfrm>
            <a:off x="798642" y="505663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noGrp="1"/>
          </p:cNvSpPr>
          <p:nvPr/>
        </p:nvSpPr>
        <p:spPr>
          <a:xfrm>
            <a:off x="1305516" y="505663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$0,881 / 39,66 ₴</a:t>
            </a:r>
            <a:endParaRPr sz="95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noGrp="1"/>
          </p:cNvSpPr>
          <p:nvPr/>
        </p:nvSpPr>
        <p:spPr>
          <a:xfrm>
            <a:off x="798642" y="526237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noGrp="1"/>
          </p:cNvSpPr>
          <p:nvPr/>
        </p:nvSpPr>
        <p:spPr>
          <a:xfrm>
            <a:off x="1305516" y="526237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$0,700 / 31,51 ₴</a:t>
            </a:r>
            <a:endParaRPr sz="95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noGrp="1"/>
          </p:cNvSpPr>
          <p:nvPr/>
        </p:nvSpPr>
        <p:spPr>
          <a:xfrm>
            <a:off x="798642" y="546811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noGrp="1"/>
          </p:cNvSpPr>
          <p:nvPr/>
        </p:nvSpPr>
        <p:spPr>
          <a:xfrm>
            <a:off x="1305516" y="546811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$0,889 / 39,99 ₴</a:t>
            </a:r>
            <a:endParaRPr sz="95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noGrp="1"/>
          </p:cNvSpPr>
          <p:nvPr/>
        </p:nvSpPr>
        <p:spPr>
          <a:xfrm>
            <a:off x="798642" y="567385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noGrp="1"/>
          </p:cNvSpPr>
          <p:nvPr/>
        </p:nvSpPr>
        <p:spPr>
          <a:xfrm>
            <a:off x="1305516" y="567385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$0,816 / 36,70 ₴</a:t>
            </a:r>
            <a:endParaRPr sz="95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noGrp="1"/>
          </p:cNvSpPr>
          <p:nvPr/>
        </p:nvSpPr>
        <p:spPr>
          <a:xfrm>
            <a:off x="2820010" y="1536192"/>
            <a:ext cx="214335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noGrp="1"/>
          </p:cNvSpPr>
          <p:nvPr/>
        </p:nvSpPr>
        <p:spPr>
          <a:xfrm>
            <a:off x="2964831" y="1700784"/>
            <a:ext cx="1853711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noGrp="1"/>
          </p:cNvSpPr>
          <p:nvPr/>
        </p:nvSpPr>
        <p:spPr>
          <a:xfrm>
            <a:off x="2964831" y="3611880"/>
            <a:ext cx="1122364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noGrp="1"/>
          </p:cNvSpPr>
          <p:nvPr/>
        </p:nvSpPr>
        <p:spPr>
          <a:xfrm>
            <a:off x="2964831" y="3621024"/>
            <a:ext cx="1122364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noGrp="1"/>
          </p:cNvSpPr>
          <p:nvPr/>
        </p:nvSpPr>
        <p:spPr>
          <a:xfrm>
            <a:off x="2964831" y="3931920"/>
            <a:ext cx="185371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Brown Jasmine Rice</a:t>
            </a:r>
            <a:endParaRPr sz="145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noGrp="1"/>
          </p:cNvSpPr>
          <p:nvPr/>
        </p:nvSpPr>
        <p:spPr>
          <a:xfrm>
            <a:off x="2964831" y="4498848"/>
            <a:ext cx="1853711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$0,500 · базовий SKU</a:t>
            </a:r>
            <a:endParaRPr sz="100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noGrp="1"/>
          </p:cNvSpPr>
          <p:nvPr/>
        </p:nvSpPr>
        <p:spPr>
          <a:xfrm>
            <a:off x="2964831" y="4791456"/>
            <a:ext cx="1853711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noGrp="1"/>
          </p:cNvSpPr>
          <p:nvPr/>
        </p:nvSpPr>
        <p:spPr>
          <a:xfrm>
            <a:off x="3051724" y="4855464"/>
            <a:ext cx="1701649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noGrp="1"/>
          </p:cNvSpPr>
          <p:nvPr/>
        </p:nvSpPr>
        <p:spPr>
          <a:xfrm>
            <a:off x="3051724" y="505663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noGrp="1"/>
          </p:cNvSpPr>
          <p:nvPr/>
        </p:nvSpPr>
        <p:spPr>
          <a:xfrm>
            <a:off x="3558598" y="505663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$0,881 / 39,66 ₴</a:t>
            </a:r>
            <a:endParaRPr sz="95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noGrp="1"/>
          </p:cNvSpPr>
          <p:nvPr/>
        </p:nvSpPr>
        <p:spPr>
          <a:xfrm>
            <a:off x="3051724" y="526237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noGrp="1"/>
          </p:cNvSpPr>
          <p:nvPr/>
        </p:nvSpPr>
        <p:spPr>
          <a:xfrm>
            <a:off x="3558598" y="526237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$0,700 / 31,51 ₴</a:t>
            </a:r>
            <a:endParaRPr sz="95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noGrp="1"/>
          </p:cNvSpPr>
          <p:nvPr/>
        </p:nvSpPr>
        <p:spPr>
          <a:xfrm>
            <a:off x="3051724" y="546811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noGrp="1"/>
          </p:cNvSpPr>
          <p:nvPr/>
        </p:nvSpPr>
        <p:spPr>
          <a:xfrm>
            <a:off x="3558598" y="546811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$0,889 / 39,99 ₴</a:t>
            </a:r>
            <a:endParaRPr sz="950"/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noGrp="1"/>
          </p:cNvSpPr>
          <p:nvPr/>
        </p:nvSpPr>
        <p:spPr>
          <a:xfrm>
            <a:off x="3051724" y="567385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noGrp="1"/>
          </p:cNvSpPr>
          <p:nvPr/>
        </p:nvSpPr>
        <p:spPr>
          <a:xfrm>
            <a:off x="3558598" y="567385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$0,816 / 36,70 ₴</a:t>
            </a:r>
            <a:endParaRPr sz="950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noGrp="1"/>
          </p:cNvSpPr>
          <p:nvPr/>
        </p:nvSpPr>
        <p:spPr>
          <a:xfrm>
            <a:off x="5073091" y="1536192"/>
            <a:ext cx="214335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1" name="Shape 36">
            <a:extLst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noGrp="1"/>
          </p:cNvSpPr>
          <p:nvPr/>
        </p:nvSpPr>
        <p:spPr>
          <a:xfrm>
            <a:off x="5217912" y="1700784"/>
            <a:ext cx="1853711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noGrp="1"/>
          </p:cNvSpPr>
          <p:nvPr/>
        </p:nvSpPr>
        <p:spPr>
          <a:xfrm>
            <a:off x="5217912" y="3611880"/>
            <a:ext cx="1122364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noGrp="1"/>
          </p:cNvSpPr>
          <p:nvPr/>
        </p:nvSpPr>
        <p:spPr>
          <a:xfrm>
            <a:off x="5217912" y="3621024"/>
            <a:ext cx="1122364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noGrp="1"/>
          </p:cNvSpPr>
          <p:nvPr/>
        </p:nvSpPr>
        <p:spPr>
          <a:xfrm>
            <a:off x="5217912" y="3931920"/>
            <a:ext cx="185371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Red Jasmine Rice</a:t>
            </a:r>
            <a:endParaRPr sz="145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noGrp="1"/>
          </p:cNvSpPr>
          <p:nvPr/>
        </p:nvSpPr>
        <p:spPr>
          <a:xfrm>
            <a:off x="5217912" y="4498848"/>
            <a:ext cx="1853711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$0,542 · спеціальний SKU</a:t>
            </a:r>
            <a:endParaRPr sz="1000"/>
          </a:p>
        </p:txBody>
      </p:sp>
      <p:sp>
        <p:nvSpPr>
          <p:cNvPr id="46" name="Shape 41">
            <a:extLst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noGrp="1"/>
          </p:cNvSpPr>
          <p:nvPr/>
        </p:nvSpPr>
        <p:spPr>
          <a:xfrm>
            <a:off x="5217912" y="4791456"/>
            <a:ext cx="1853711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noGrp="1"/>
          </p:cNvSpPr>
          <p:nvPr/>
        </p:nvSpPr>
        <p:spPr>
          <a:xfrm>
            <a:off x="5304805" y="4855464"/>
            <a:ext cx="1701649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48" name="Text 43">
            <a:extLst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noGrp="1"/>
          </p:cNvSpPr>
          <p:nvPr/>
        </p:nvSpPr>
        <p:spPr>
          <a:xfrm>
            <a:off x="5304805" y="505663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noGrp="1"/>
          </p:cNvSpPr>
          <p:nvPr/>
        </p:nvSpPr>
        <p:spPr>
          <a:xfrm>
            <a:off x="5811679" y="505663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$0,955 / 42,97 ₴</a:t>
            </a:r>
            <a:endParaRPr sz="950"/>
          </a:p>
        </p:txBody>
      </p:sp>
      <p:sp>
        <p:nvSpPr>
          <p:cNvPr id="50" name="Text 45">
            <a:extLst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noGrp="1"/>
          </p:cNvSpPr>
          <p:nvPr/>
        </p:nvSpPr>
        <p:spPr>
          <a:xfrm>
            <a:off x="5304805" y="526237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noGrp="1"/>
          </p:cNvSpPr>
          <p:nvPr/>
        </p:nvSpPr>
        <p:spPr>
          <a:xfrm>
            <a:off x="5811679" y="526237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$0,759 / 34,14 ₴</a:t>
            </a:r>
            <a:endParaRPr sz="950"/>
          </a:p>
        </p:txBody>
      </p:sp>
      <p:sp>
        <p:nvSpPr>
          <p:cNvPr id="52" name="Text 47">
            <a:extLst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noGrp="1"/>
          </p:cNvSpPr>
          <p:nvPr/>
        </p:nvSpPr>
        <p:spPr>
          <a:xfrm>
            <a:off x="5304805" y="546811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noGrp="1"/>
          </p:cNvSpPr>
          <p:nvPr/>
        </p:nvSpPr>
        <p:spPr>
          <a:xfrm>
            <a:off x="5811679" y="546811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$0,963 / 43,32 ₴</a:t>
            </a:r>
            <a:endParaRPr sz="950"/>
          </a:p>
        </p:txBody>
      </p:sp>
      <p:sp>
        <p:nvSpPr>
          <p:cNvPr id="54" name="Text 49">
            <a:extLst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noGrp="1"/>
          </p:cNvSpPr>
          <p:nvPr/>
        </p:nvSpPr>
        <p:spPr>
          <a:xfrm>
            <a:off x="5304805" y="567385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noGrp="1"/>
          </p:cNvSpPr>
          <p:nvPr/>
        </p:nvSpPr>
        <p:spPr>
          <a:xfrm>
            <a:off x="5811679" y="567385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$0,884 / 39,76 ₴</a:t>
            </a:r>
            <a:endParaRPr sz="950"/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noGrp="1"/>
          </p:cNvSpPr>
          <p:nvPr/>
        </p:nvSpPr>
        <p:spPr>
          <a:xfrm>
            <a:off x="7326173" y="1536192"/>
            <a:ext cx="214335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noGrp="1"/>
          </p:cNvSpPr>
          <p:nvPr/>
        </p:nvSpPr>
        <p:spPr>
          <a:xfrm>
            <a:off x="9579254" y="1536192"/>
            <a:ext cx="214335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8" name="Shape 52">
            <a:extLst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noGrp="1"/>
          </p:cNvSpPr>
          <p:nvPr/>
        </p:nvSpPr>
        <p:spPr>
          <a:xfrm>
            <a:off x="7470994" y="1700784"/>
            <a:ext cx="1853711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54" name="Picture 153" descr="quinoa_hero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24076" y="1700784"/>
            <a:ext cx="1853711" cy="1810512"/>
          </a:xfrm>
          <a:prstGeom prst="roundRect">
            <a:avLst/>
          </a:prstGeom>
        </p:spPr>
      </p:pic>
      <p:sp>
        <p:nvSpPr>
          <p:cNvPr id="58" name="Shape 52">
            <a:extLst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noGrp="1"/>
          </p:cNvSpPr>
          <p:nvPr/>
        </p:nvSpPr>
        <p:spPr>
          <a:xfrm>
            <a:off x="9724076" y="1700784"/>
            <a:ext cx="1853711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noGrp="1"/>
          </p:cNvSpPr>
          <p:nvPr/>
        </p:nvSpPr>
        <p:spPr>
          <a:xfrm>
            <a:off x="7470994" y="3611880"/>
            <a:ext cx="1122364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noGrp="1"/>
          </p:cNvSpPr>
          <p:nvPr/>
        </p:nvSpPr>
        <p:spPr>
          <a:xfrm>
            <a:off x="9724076" y="3611880"/>
            <a:ext cx="1122364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noGrp="1"/>
          </p:cNvSpPr>
          <p:nvPr/>
        </p:nvSpPr>
        <p:spPr>
          <a:xfrm>
            <a:off x="7470994" y="3621024"/>
            <a:ext cx="1122364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noGrp="1"/>
          </p:cNvSpPr>
          <p:nvPr/>
        </p:nvSpPr>
        <p:spPr>
          <a:xfrm>
            <a:off x="9724076" y="3621024"/>
            <a:ext cx="1122364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noGrp="1"/>
          </p:cNvSpPr>
          <p:nvPr/>
        </p:nvSpPr>
        <p:spPr>
          <a:xfrm>
            <a:off x="7470994" y="3931920"/>
            <a:ext cx="185371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Rice Berry</a:t>
            </a:r>
            <a:endParaRPr sz="145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noGrp="1"/>
          </p:cNvSpPr>
          <p:nvPr/>
        </p:nvSpPr>
        <p:spPr>
          <a:xfrm>
            <a:off x="9724076" y="3931920"/>
            <a:ext cx="185371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Brown Jasmine Rice with Red Quinoa</a:t>
            </a:r>
            <a:endParaRPr sz="1450"/>
          </a:p>
        </p:txBody>
      </p:sp>
      <p:sp>
        <p:nvSpPr>
          <p:cNvPr id="62" name="Text 56">
            <a:extLst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noGrp="1"/>
          </p:cNvSpPr>
          <p:nvPr/>
        </p:nvSpPr>
        <p:spPr>
          <a:xfrm>
            <a:off x="7470994" y="4498848"/>
            <a:ext cx="1853711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$0,542 · спеціальний SKU</a:t>
            </a:r>
            <a:endParaRPr sz="1000"/>
          </a:p>
        </p:txBody>
      </p:sp>
      <p:sp>
        <p:nvSpPr>
          <p:cNvPr id="62" name="Text 56">
            <a:extLst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noGrp="1"/>
          </p:cNvSpPr>
          <p:nvPr/>
        </p:nvSpPr>
        <p:spPr>
          <a:xfrm>
            <a:off x="9724076" y="4498848"/>
            <a:ext cx="1853711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$0,542 · спеціальний SKU</a:t>
            </a:r>
            <a:endParaRPr sz="1000"/>
          </a:p>
        </p:txBody>
      </p:sp>
      <p:sp>
        <p:nvSpPr>
          <p:cNvPr id="63" name="Shape 57">
            <a:extLst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noGrp="1"/>
          </p:cNvSpPr>
          <p:nvPr/>
        </p:nvSpPr>
        <p:spPr>
          <a:xfrm>
            <a:off x="7470994" y="4791456"/>
            <a:ext cx="1853711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Shape 57">
            <a:extLst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noGrp="1"/>
          </p:cNvSpPr>
          <p:nvPr/>
        </p:nvSpPr>
        <p:spPr>
          <a:xfrm>
            <a:off x="9724076" y="4791456"/>
            <a:ext cx="1853711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noGrp="1"/>
          </p:cNvSpPr>
          <p:nvPr/>
        </p:nvSpPr>
        <p:spPr>
          <a:xfrm>
            <a:off x="7557887" y="4855464"/>
            <a:ext cx="1701649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noGrp="1"/>
          </p:cNvSpPr>
          <p:nvPr/>
        </p:nvSpPr>
        <p:spPr>
          <a:xfrm>
            <a:off x="9810968" y="4855464"/>
            <a:ext cx="1701649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65" name="Text 59">
            <a:extLst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noGrp="1"/>
          </p:cNvSpPr>
          <p:nvPr/>
        </p:nvSpPr>
        <p:spPr>
          <a:xfrm>
            <a:off x="7557887" y="505663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5" name="Text 59">
            <a:extLst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noGrp="1"/>
          </p:cNvSpPr>
          <p:nvPr/>
        </p:nvSpPr>
        <p:spPr>
          <a:xfrm>
            <a:off x="9810968" y="505663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noGrp="1"/>
          </p:cNvSpPr>
          <p:nvPr/>
        </p:nvSpPr>
        <p:spPr>
          <a:xfrm>
            <a:off x="8064761" y="505663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$0,955 / 42,97 ₴</a:t>
            </a:r>
            <a:endParaRPr sz="950"/>
          </a:p>
        </p:txBody>
      </p:sp>
      <p:sp>
        <p:nvSpPr>
          <p:cNvPr id="66" name="Text 60">
            <a:extLst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noGrp="1"/>
          </p:cNvSpPr>
          <p:nvPr/>
        </p:nvSpPr>
        <p:spPr>
          <a:xfrm>
            <a:off x="10317842" y="505663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$0,955 / 42,97 ₴</a:t>
            </a:r>
            <a:endParaRPr sz="950"/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noGrp="1"/>
          </p:cNvSpPr>
          <p:nvPr/>
        </p:nvSpPr>
        <p:spPr>
          <a:xfrm>
            <a:off x="7557887" y="526237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noGrp="1"/>
          </p:cNvSpPr>
          <p:nvPr/>
        </p:nvSpPr>
        <p:spPr>
          <a:xfrm>
            <a:off x="9810968" y="526237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noGrp="1"/>
          </p:cNvSpPr>
          <p:nvPr/>
        </p:nvSpPr>
        <p:spPr>
          <a:xfrm>
            <a:off x="8064761" y="526237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$0,759 / 34,14 ₴</a:t>
            </a:r>
            <a:endParaRPr sz="950"/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noGrp="1"/>
          </p:cNvSpPr>
          <p:nvPr/>
        </p:nvSpPr>
        <p:spPr>
          <a:xfrm>
            <a:off x="10317842" y="526237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$0,759 / 34,14 ₴</a:t>
            </a:r>
            <a:endParaRPr sz="95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noGrp="1"/>
          </p:cNvSpPr>
          <p:nvPr/>
        </p:nvSpPr>
        <p:spPr>
          <a:xfrm>
            <a:off x="7557887" y="546811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noGrp="1"/>
          </p:cNvSpPr>
          <p:nvPr/>
        </p:nvSpPr>
        <p:spPr>
          <a:xfrm>
            <a:off x="9810968" y="546811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noGrp="1"/>
          </p:cNvSpPr>
          <p:nvPr/>
        </p:nvSpPr>
        <p:spPr>
          <a:xfrm>
            <a:off x="8064761" y="546811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$0,963 / 43,32 ₴</a:t>
            </a:r>
            <a:endParaRPr sz="95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noGrp="1"/>
          </p:cNvSpPr>
          <p:nvPr/>
        </p:nvSpPr>
        <p:spPr>
          <a:xfrm>
            <a:off x="10317842" y="546811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$0,963 / 43,32 ₴</a:t>
            </a:r>
            <a:endParaRPr sz="950"/>
          </a:p>
        </p:txBody>
      </p:sp>
      <p:sp>
        <p:nvSpPr>
          <p:cNvPr id="71" name="Text 65">
            <a:extLst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noGrp="1"/>
          </p:cNvSpPr>
          <p:nvPr/>
        </p:nvSpPr>
        <p:spPr>
          <a:xfrm>
            <a:off x="7557887" y="567385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1" name="Text 65">
            <a:extLst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noGrp="1"/>
          </p:cNvSpPr>
          <p:nvPr/>
        </p:nvSpPr>
        <p:spPr>
          <a:xfrm>
            <a:off x="9810968" y="567385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noGrp="1"/>
          </p:cNvSpPr>
          <p:nvPr/>
        </p:nvSpPr>
        <p:spPr>
          <a:xfrm>
            <a:off x="8064761" y="567385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$0,884 / 39,76 ₴</a:t>
            </a:r>
            <a:endParaRPr sz="950"/>
          </a:p>
        </p:txBody>
      </p:sp>
      <p:sp>
        <p:nvSpPr>
          <p:cNvPr id="72" name="Text 66">
            <a:extLst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noGrp="1"/>
          </p:cNvSpPr>
          <p:nvPr/>
        </p:nvSpPr>
        <p:spPr>
          <a:xfrm>
            <a:off x="10317842" y="567385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$0,884 / 39,76 ₴</a:t>
            </a:r>
            <a:endParaRPr sz="950"/>
          </a:p>
        </p:txBody>
      </p:sp>
      <p:sp>
        <p:nvSpPr>
          <p:cNvPr id="73" name="Text 67">
            <a:extLst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876168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Cup-Photo of Products.pdf, Self Cost Rice Brand.xlsx (BSCM(Bags+Cups) - Навалом, 2026-09 revision) · курс 45,00 UAH/USD.</a:t>
            </a:r>
            <a:endParaRPr sz="900"/>
          </a:p>
        </p:txBody>
      </p:sp>
      <p:pic>
        <p:nvPicPr>
          <p:cNvPr id="150" name="Рисунок 149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1749" y="1700784"/>
            <a:ext cx="1853711" cy="1810512"/>
          </a:xfrm>
          <a:prstGeom prst="roundRect">
            <a:avLst/>
          </a:prstGeom>
        </p:spPr>
      </p:pic>
      <p:pic>
        <p:nvPicPr>
          <p:cNvPr id="151" name="Рисунок 150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2964831" y="1700784"/>
            <a:ext cx="1853711" cy="1810512"/>
          </a:xfrm>
          <a:prstGeom prst="roundRect">
            <a:avLst/>
          </a:prstGeom>
        </p:spPr>
      </p:pic>
      <p:pic>
        <p:nvPicPr>
          <p:cNvPr id="152" name="Рисунок 151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217912" y="1700784"/>
            <a:ext cx="1853711" cy="1810512"/>
          </a:xfrm>
          <a:prstGeom prst="roundRect">
            <a:avLst/>
          </a:prstGeom>
        </p:spPr>
      </p:pic>
      <p:pic>
        <p:nvPicPr>
          <p:cNvPr id="153" name="Рисунок 152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7470994" y="1700784"/>
            <a:ext cx="1853711" cy="1810512"/>
          </a:xfrm>
          <a:prstGeom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5034266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SINGLE CUP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in Plastic Cup — вигляд упаковки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5 позицій · 150 г · sleeve-бокс · фото з каталогу постачальника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1C3D159-6BBB-4F8D-B9ED-F6496F44B44F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7366CF28-1B6D-49C3-946A-65C3FD0C8631}"/>
              </a:ext>
            </a:extLst>
          </p:cNvPr>
          <p:cNvSpPr>
            <a:spLocks noGrp="1"/>
          </p:cNvSpPr>
          <p:nvPr/>
        </p:nvSpPr>
        <p:spPr>
          <a:xfrm>
            <a:off x="7534656" y="1536192"/>
            <a:ext cx="4096512" cy="2834640"/>
          </a:xfrm>
          <a:prstGeom prst="rect">
            <a:avLst/>
          </a:prstGeom>
          <a:ln w="1587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831A629E-B7E5-4A9F-8D0C-CEFC366EAB2E}"/>
              </a:ext>
            </a:extLst>
          </p:cNvPr>
          <p:cNvSpPr>
            <a:spLocks noGrp="1"/>
          </p:cNvSpPr>
          <p:nvPr/>
        </p:nvSpPr>
        <p:spPr>
          <a:xfrm>
            <a:off x="7534656" y="4526280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noGrp="1"/>
          </p:cNvSpPr>
          <p:nvPr/>
        </p:nvSpPr>
        <p:spPr>
          <a:xfrm>
            <a:off x="7717536" y="4581144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5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SKU</a:t>
            </a:r>
            <a:endParaRPr sz="190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noGrp="1"/>
          </p:cNvSpPr>
          <p:nvPr/>
        </p:nvSpPr>
        <p:spPr>
          <a:xfrm>
            <a:off x="9098280" y="4581144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позицій у лінійці</a:t>
            </a:r>
            <a:endParaRPr sz="105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B6DB6DF8-9EDE-4700-B934-B2C5D27FD37C}"/>
              </a:ext>
            </a:extLst>
          </p:cNvPr>
          <p:cNvSpPr>
            <a:spLocks noGrp="1"/>
          </p:cNvSpPr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C0BEDDE1-3BA8-41C7-A18B-3458416DEE72}"/>
              </a:ext>
            </a:extLst>
          </p:cNvPr>
          <p:cNvSpPr>
            <a:spLocks noGrp="1"/>
          </p:cNvSpPr>
          <p:nvPr/>
        </p:nvSpPr>
        <p:spPr>
          <a:xfrm>
            <a:off x="7717536" y="5148072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150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г</a:t>
            </a:r>
            <a:endParaRPr sz="190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218C4906-3F42-4BCF-AD90-A44D05606B4C}"/>
              </a:ext>
            </a:extLst>
          </p:cNvPr>
          <p:cNvSpPr>
            <a:spLocks noGrp="1"/>
          </p:cNvSpPr>
          <p:nvPr/>
        </p:nvSpPr>
        <p:spPr>
          <a:xfrm>
            <a:off x="9098280" y="5148072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нетто в чашці</a:t>
            </a:r>
            <a:endParaRPr sz="105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5F74166D-A4F2-4F13-9CD5-9980A3D4D94F}"/>
              </a:ext>
            </a:extLst>
          </p:cNvPr>
          <p:cNvSpPr>
            <a:spLocks noGrp="1"/>
          </p:cNvSpPr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261A9ED7-0551-4B4E-B905-410FED97DEDE}"/>
              </a:ext>
            </a:extLst>
          </p:cNvPr>
          <p:cNvSpPr>
            <a:spLocks noGrp="1"/>
          </p:cNvSpPr>
          <p:nvPr/>
        </p:nvSpPr>
        <p:spPr>
          <a:xfrm>
            <a:off x="7717536" y="571500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12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шт.</a:t>
            </a:r>
            <a:endParaRPr sz="190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E99E232B-CE92-4C25-B546-D18CAEAE1AAC}"/>
              </a:ext>
            </a:extLst>
          </p:cNvPr>
          <p:cNvSpPr>
            <a:spLocks noGrp="1"/>
          </p:cNvSpPr>
          <p:nvPr/>
        </p:nvSpPr>
        <p:spPr>
          <a:xfrm>
            <a:off x="9098280" y="57150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у коробі, sleeve-бокс</a:t>
            </a:r>
            <a:endParaRPr sz="105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536F47F1-10DF-4B38-8365-3317E620F8C6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Cup-Photo of Products.pdf. Фото — офіційні знімки упаковки від BSCM Foods; ракурси відповідають оригінальному прайс-каталогу.</a:t>
            </a:r>
            <a:endParaRPr sz="900"/>
          </a:p>
        </p:txBody>
      </p:sp>
      <p:sp>
        <p:nvSpPr>
          <p:cNvPr id="38" name="TextBox 37"/>
          <p:cNvSpPr txBox="1"/>
          <p:nvPr/>
        </p:nvSpPr>
        <p:spPr>
          <a:xfrm>
            <a:off x="841248" y="1783080"/>
            <a:ext cx="2011680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FCF9F0"/>
                </a:solidFill>
                <a:latin typeface="Calibri"/>
              </a:rPr>
              <a:t>Thai Jasmine Rice</a:t>
            </a:r>
          </a:p>
        </p:txBody>
      </p:sp>
      <p:pic>
        <p:nvPicPr>
          <p:cNvPr id="39" name="Picture 38" descr="jasmine_lef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0088" y="1783080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40" name="Picture 39" descr="jasmine_mid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5112" y="1783080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41" name="Picture 40" descr="jasmine_righ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0136" y="1783080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sp>
        <p:nvSpPr>
          <p:cNvPr id="42" name="TextBox 41"/>
          <p:cNvSpPr txBox="1"/>
          <p:nvPr/>
        </p:nvSpPr>
        <p:spPr>
          <a:xfrm>
            <a:off x="841248" y="2642616"/>
            <a:ext cx="2011680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FCF9F0"/>
                </a:solidFill>
                <a:latin typeface="Calibri"/>
              </a:rPr>
              <a:t>Thai Brown Jasmine Rice</a:t>
            </a:r>
          </a:p>
        </p:txBody>
      </p:sp>
      <p:pic>
        <p:nvPicPr>
          <p:cNvPr id="43" name="Picture 42" descr="brown_left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90088" y="2642616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44" name="Picture 43" descr="brown_mid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25112" y="2642616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45" name="Picture 44" descr="brown_right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0136" y="2642616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sp>
        <p:nvSpPr>
          <p:cNvPr id="46" name="TextBox 45"/>
          <p:cNvSpPr txBox="1"/>
          <p:nvPr/>
        </p:nvSpPr>
        <p:spPr>
          <a:xfrm>
            <a:off x="841248" y="3502152"/>
            <a:ext cx="2011680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FCF9F0"/>
                </a:solidFill>
                <a:latin typeface="Calibri"/>
              </a:rPr>
              <a:t>Thai Red Jasmine Rice</a:t>
            </a:r>
          </a:p>
        </p:txBody>
      </p:sp>
      <p:pic>
        <p:nvPicPr>
          <p:cNvPr id="47" name="Picture 46" descr="red_left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90088" y="3502152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48" name="Picture 47" descr="red_mid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25112" y="3502152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49" name="Picture 48" descr="red_right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60136" y="3502152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sp>
        <p:nvSpPr>
          <p:cNvPr id="50" name="TextBox 49"/>
          <p:cNvSpPr txBox="1"/>
          <p:nvPr/>
        </p:nvSpPr>
        <p:spPr>
          <a:xfrm>
            <a:off x="841248" y="4361688"/>
            <a:ext cx="2011680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FCF9F0"/>
                </a:solidFill>
                <a:latin typeface="Calibri"/>
              </a:rPr>
              <a:t>Rice Berry</a:t>
            </a:r>
          </a:p>
        </p:txBody>
      </p:sp>
      <p:pic>
        <p:nvPicPr>
          <p:cNvPr id="51" name="Picture 50" descr="berry_left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990088" y="4361688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52" name="Picture 51" descr="berry_mid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325112" y="4361688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53" name="Picture 52" descr="berry_right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660136" y="4361688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sp>
        <p:nvSpPr>
          <p:cNvPr id="54" name="TextBox 53"/>
          <p:cNvSpPr txBox="1"/>
          <p:nvPr/>
        </p:nvSpPr>
        <p:spPr>
          <a:xfrm>
            <a:off x="841248" y="5221224"/>
            <a:ext cx="2011680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FCF9F0"/>
                </a:solidFill>
                <a:latin typeface="Calibri"/>
              </a:rPr>
              <a:t>Brown Jasmine Rice with Red Quinoa</a:t>
            </a:r>
          </a:p>
        </p:txBody>
      </p:sp>
      <p:pic>
        <p:nvPicPr>
          <p:cNvPr id="55" name="Picture 54" descr="quinoa_left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990088" y="5221224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56" name="Picture 55" descr="quinoa_mid.jp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25112" y="5221224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57" name="Picture 56" descr="quinoa_right.jp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660136" y="5221224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58" name="Picture 57" descr="grid_jasmine_left.jp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534656" y="1686581"/>
            <a:ext cx="1979676" cy="1198351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59" name="Picture 58" descr="grid_brown_left.jp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651492" y="1686581"/>
            <a:ext cx="1979676" cy="1198351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60" name="Picture 59" descr="grid_red_left.jp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534656" y="3022092"/>
            <a:ext cx="1979676" cy="1198351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61" name="Picture 60" descr="grid_berry_left.jp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651492" y="3022092"/>
            <a:ext cx="1979676" cy="1198351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</p:spTree>
    <p:extLst>
      <p:ext uri="{BB962C8B-B14F-4D97-AF65-F5344CB8AC3E}">
        <p14:creationId xmlns:p14="http://schemas.microsoft.com/office/powerpoint/2010/main" val="598072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DOUBLE CUP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in Plastic Cup 6 × (2 × 125 г)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Double cup зі sleeve-боксом · доступно тільки як Private Label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1C3D159-6BBB-4F8D-B9ED-F6496F44B44F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BB6272E-A3D6-4F20-AF34-CF17DAB68835}"/>
              </a:ext>
            </a:extLst>
          </p:cNvPr>
          <p:cNvSpPr>
            <a:spLocks noGrp="1"/>
          </p:cNvSpPr>
          <p:nvPr/>
        </p:nvSpPr>
        <p:spPr>
          <a:xfrm>
            <a:off x="841248" y="173736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Про формат</a:t>
            </a:r>
            <a:endParaRPr sz="17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27C41B4-C39E-4BB3-87E3-96451AFDB1CC}"/>
              </a:ext>
            </a:extLst>
          </p:cNvPr>
          <p:cNvSpPr>
            <a:spLocks noGrp="1"/>
          </p:cNvSpPr>
          <p:nvPr/>
        </p:nvSpPr>
        <p:spPr>
          <a:xfrm>
            <a:off x="841248" y="2103120"/>
            <a:ext cx="612648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700"/>
              </a:lnSpc>
              <a:buNone/>
            </a:pPr>
            <a:r>
              <a:rPr sz="12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Власного бренду BSCM у форматі double cup немає — цей формат постачальник випускає виключно під приватною маркою замовника. Sleeve-бокс друкується під дизайн клієнта; приклад нижче — Jasmine Rice Cups для мережі SPAR.</a:t>
            </a:r>
            <a:endParaRPr sz="12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50D0EC9-3F48-4B23-B62F-2DC20F4CB1E3}"/>
              </a:ext>
            </a:extLst>
          </p:cNvPr>
          <p:cNvSpPr>
            <a:spLocks noGrp="1"/>
          </p:cNvSpPr>
          <p:nvPr/>
        </p:nvSpPr>
        <p:spPr>
          <a:xfrm>
            <a:off x="841248" y="301752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Смаки в офері</a:t>
            </a:r>
            <a:endParaRPr sz="17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A91FA7F-CF81-4499-8A50-A7DEE4346D83}"/>
              </a:ext>
            </a:extLst>
          </p:cNvPr>
          <p:cNvSpPr>
            <a:spLocks noGrp="1"/>
          </p:cNvSpPr>
          <p:nvPr/>
        </p:nvSpPr>
        <p:spPr>
          <a:xfrm>
            <a:off x="841248" y="338328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Jasmine Rice, no oil</a:t>
            </a:r>
            <a:endParaRPr sz="10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BE8A5288-4469-45DA-BAD0-F665517C1E65}"/>
              </a:ext>
            </a:extLst>
          </p:cNvPr>
          <p:cNvSpPr>
            <a:spLocks noGrp="1"/>
          </p:cNvSpPr>
          <p:nvPr/>
        </p:nvSpPr>
        <p:spPr>
          <a:xfrm>
            <a:off x="2971800" y="338328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немає в PL</a:t>
            </a:r>
            <a:endParaRPr sz="115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FCACD5D8-D338-4EA5-B23F-C319A9D0F23D}"/>
              </a:ext>
            </a:extLst>
          </p:cNvPr>
          <p:cNvSpPr>
            <a:spLocks noGrp="1"/>
          </p:cNvSpPr>
          <p:nvPr/>
        </p:nvSpPr>
        <p:spPr>
          <a:xfrm>
            <a:off x="841248" y="371703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Jasmine Rice, w oil</a:t>
            </a:r>
            <a:endParaRPr sz="105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818D73A6-5619-40CD-864C-164E337887CE}"/>
              </a:ext>
            </a:extLst>
          </p:cNvPr>
          <p:cNvSpPr>
            <a:spLocks noGrp="1"/>
          </p:cNvSpPr>
          <p:nvPr/>
        </p:nvSpPr>
        <p:spPr>
          <a:xfrm>
            <a:off x="2971800" y="371703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доступно</a:t>
            </a:r>
            <a:endParaRPr sz="11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B17E25C-EAC6-44DA-BED1-8DA3C384AB1F}"/>
              </a:ext>
            </a:extLst>
          </p:cNvPr>
          <p:cNvSpPr>
            <a:spLocks noGrp="1"/>
          </p:cNvSpPr>
          <p:nvPr/>
        </p:nvSpPr>
        <p:spPr>
          <a:xfrm>
            <a:off x="841248" y="405079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Jasmine Rice (Pathum), w oil</a:t>
            </a:r>
            <a:endParaRPr sz="10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1ACB90C5-BF37-41D9-8DC3-D21E41BC119E}"/>
              </a:ext>
            </a:extLst>
          </p:cNvPr>
          <p:cNvSpPr>
            <a:spLocks noGrp="1"/>
          </p:cNvSpPr>
          <p:nvPr/>
        </p:nvSpPr>
        <p:spPr>
          <a:xfrm>
            <a:off x="2971800" y="405079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доступно</a:t>
            </a:r>
            <a:endParaRPr sz="11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1BC70C4-0C92-435A-9487-D75013A4A699}"/>
              </a:ext>
            </a:extLst>
          </p:cNvPr>
          <p:cNvSpPr>
            <a:spLocks noGrp="1"/>
          </p:cNvSpPr>
          <p:nvPr/>
        </p:nvSpPr>
        <p:spPr>
          <a:xfrm>
            <a:off x="841248" y="4384548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Brown Jasmine Rice, w oil</a:t>
            </a:r>
            <a:endParaRPr sz="105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3F159060-DCDF-44CC-8B6D-02E8ED33BA8F}"/>
              </a:ext>
            </a:extLst>
          </p:cNvPr>
          <p:cNvSpPr>
            <a:spLocks noGrp="1"/>
          </p:cNvSpPr>
          <p:nvPr/>
        </p:nvSpPr>
        <p:spPr>
          <a:xfrm>
            <a:off x="2971800" y="4384548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доступно</a:t>
            </a:r>
            <a:endParaRPr sz="115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387B55C1-5453-4641-8FEE-2A2600E80415}"/>
              </a:ext>
            </a:extLst>
          </p:cNvPr>
          <p:cNvSpPr>
            <a:spLocks noGrp="1"/>
          </p:cNvSpPr>
          <p:nvPr/>
        </p:nvSpPr>
        <p:spPr>
          <a:xfrm>
            <a:off x="841248" y="4718304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Brown Rice, w oil</a:t>
            </a:r>
            <a:endParaRPr sz="105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E5BCD84D-F4E9-40F7-AA7D-85E5A9A7C865}"/>
              </a:ext>
            </a:extLst>
          </p:cNvPr>
          <p:cNvSpPr>
            <a:spLocks noGrp="1"/>
          </p:cNvSpPr>
          <p:nvPr/>
        </p:nvSpPr>
        <p:spPr>
          <a:xfrm>
            <a:off x="2971800" y="4718304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доступно</a:t>
            </a:r>
            <a:endParaRPr sz="115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9CD79870-7EED-40F1-B03F-865D47193057}"/>
              </a:ext>
            </a:extLst>
          </p:cNvPr>
          <p:cNvSpPr>
            <a:spLocks noGrp="1"/>
          </p:cNvSpPr>
          <p:nvPr/>
        </p:nvSpPr>
        <p:spPr>
          <a:xfrm>
            <a:off x="841248" y="505206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Basmati Rice*, w oil</a:t>
            </a:r>
            <a:endParaRPr sz="105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9696F0F8-6388-458A-9A6E-BD09F3ACBA30}"/>
              </a:ext>
            </a:extLst>
          </p:cNvPr>
          <p:cNvSpPr>
            <a:spLocks noGrp="1"/>
          </p:cNvSpPr>
          <p:nvPr/>
        </p:nvSpPr>
        <p:spPr>
          <a:xfrm>
            <a:off x="2971800" y="505206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доступно</a:t>
            </a:r>
            <a:endParaRPr sz="115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13A8E69A-5D22-455F-8007-BE2ECE9342F0}"/>
              </a:ext>
            </a:extLst>
          </p:cNvPr>
          <p:cNvSpPr>
            <a:spLocks noGrp="1"/>
          </p:cNvSpPr>
          <p:nvPr/>
        </p:nvSpPr>
        <p:spPr>
          <a:xfrm>
            <a:off x="841248" y="538581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Long Grain, w oil</a:t>
            </a:r>
            <a:endParaRPr sz="105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0F71CE83-5380-4313-A831-A097BEC1C816}"/>
              </a:ext>
            </a:extLst>
          </p:cNvPr>
          <p:cNvSpPr>
            <a:spLocks noGrp="1"/>
          </p:cNvSpPr>
          <p:nvPr/>
        </p:nvSpPr>
        <p:spPr>
          <a:xfrm>
            <a:off x="2971800" y="538581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доступно</a:t>
            </a:r>
            <a:endParaRPr sz="1150"/>
          </a:p>
        </p:txBody>
      </p:sp>
      <p:pic>
        <p:nvPicPr>
          <p:cNvPr id="61" name="Picture 34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534656" y="1536192"/>
            <a:ext cx="4096512" cy="2834640"/>
          </a:xfrm>
          <a:prstGeom prst="roundRect">
            <a:avLst/>
          </a:prstGeom>
        </p:spPr>
      </p:pic>
      <p:sp>
        <p:nvSpPr>
          <p:cNvPr id="24" name="Shape 21">
            <a:extLst>
              <a:ext uri="{FF2B5EF4-FFF2-40B4-BE49-F238E27FC236}">
                <a16:creationId xmlns:a16="http://schemas.microsoft.com/office/drawing/2014/main" id="{7366CF28-1B6D-49C3-946A-65C3FD0C8631}"/>
              </a:ext>
            </a:extLst>
          </p:cNvPr>
          <p:cNvSpPr>
            <a:spLocks noGrp="1"/>
          </p:cNvSpPr>
          <p:nvPr/>
        </p:nvSpPr>
        <p:spPr>
          <a:xfrm>
            <a:off x="7534656" y="1536192"/>
            <a:ext cx="4096512" cy="2834640"/>
          </a:xfrm>
          <a:prstGeom prst="rect">
            <a:avLst/>
          </a:prstGeom>
          <a:ln w="1587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831A629E-B7E5-4A9F-8D0C-CEFC366EAB2E}"/>
              </a:ext>
            </a:extLst>
          </p:cNvPr>
          <p:cNvSpPr>
            <a:spLocks noGrp="1"/>
          </p:cNvSpPr>
          <p:nvPr/>
        </p:nvSpPr>
        <p:spPr>
          <a:xfrm>
            <a:off x="7534656" y="4526280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noGrp="1"/>
          </p:cNvSpPr>
          <p:nvPr/>
        </p:nvSpPr>
        <p:spPr>
          <a:xfrm>
            <a:off x="7717536" y="4581144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6 од.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у коробі</a:t>
            </a:r>
            <a:endParaRPr sz="190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noGrp="1"/>
          </p:cNvSpPr>
          <p:nvPr/>
        </p:nvSpPr>
        <p:spPr>
          <a:xfrm>
            <a:off x="9098280" y="4581144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2 × 125 г = 250 г / уніт</a:t>
            </a:r>
            <a:endParaRPr sz="105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B6DB6DF8-9EDE-4700-B934-B2C5D27FD37C}"/>
              </a:ext>
            </a:extLst>
          </p:cNvPr>
          <p:cNvSpPr>
            <a:spLocks noGrp="1"/>
          </p:cNvSpPr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C0BEDDE1-3BA8-41C7-A18B-3458416DEE72}"/>
              </a:ext>
            </a:extLst>
          </p:cNvPr>
          <p:cNvSpPr>
            <a:spLocks noGrp="1"/>
          </p:cNvSpPr>
          <p:nvPr/>
        </p:nvSpPr>
        <p:spPr>
          <a:xfrm>
            <a:off x="7717536" y="5148072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PL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бренд</a:t>
            </a:r>
            <a:endParaRPr sz="190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218C4906-3F42-4BCF-AD90-A44D05606B4C}"/>
              </a:ext>
            </a:extLst>
          </p:cNvPr>
          <p:cNvSpPr>
            <a:spLocks noGrp="1"/>
          </p:cNvSpPr>
          <p:nvPr/>
        </p:nvSpPr>
        <p:spPr>
          <a:xfrm>
            <a:off x="9098280" y="5148072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тільки Private Label</a:t>
            </a:r>
            <a:endParaRPr sz="105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5F74166D-A4F2-4F13-9CD5-9980A3D4D94F}"/>
              </a:ext>
            </a:extLst>
          </p:cNvPr>
          <p:cNvSpPr>
            <a:spLocks noGrp="1"/>
          </p:cNvSpPr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261A9ED7-0551-4B4E-B905-410FED97DEDE}"/>
              </a:ext>
            </a:extLst>
          </p:cNvPr>
          <p:cNvSpPr>
            <a:spLocks noGrp="1"/>
          </p:cNvSpPr>
          <p:nvPr/>
        </p:nvSpPr>
        <p:spPr>
          <a:xfrm>
            <a:off x="7717536" y="571500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SPAR</a:t>
            </a:r>
            <a:endParaRPr sz="190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E99E232B-CE92-4C25-B546-D18CAEAE1AAC}"/>
              </a:ext>
            </a:extLst>
          </p:cNvPr>
          <p:cNvSpPr>
            <a:spLocks noGrp="1"/>
          </p:cNvSpPr>
          <p:nvPr/>
        </p:nvSpPr>
        <p:spPr>
          <a:xfrm>
            <a:off x="9098280" y="57150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приклад упаковки клієнта</a:t>
            </a:r>
            <a:endParaRPr sz="1050"/>
          </a:p>
        </p:txBody>
      </p:sp>
      <p:sp>
        <p:nvSpPr>
          <p:cNvPr id="62" name="TextBox 61"/>
          <p:cNvSpPr txBox="1"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>
                <a:solidFill>
                  <a:srgbClr val="C3D7BF"/>
                </a:solidFill>
                <a:latin typeface="Calibri"/>
              </a:rPr>
              <a:t>Джерело: Cup-Photo of Products.pdf; фото SPAR Jasmine Rice Cups надано користувачем. * Basmati — за запитом постачальника.</a:t>
            </a:r>
          </a:p>
        </p:txBody>
      </p:sp>
    </p:spTree>
    <p:extLst>
      <p:ext uri="{BB962C8B-B14F-4D97-AF65-F5344CB8AC3E}">
        <p14:creationId xmlns:p14="http://schemas.microsoft.com/office/powerpoint/2010/main" val="598072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DOUBLE CUP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in Plastic Cup — вигляд упаковки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6 × (2 × 125 г) · один sleeve-дизайн під усі 7 смаків · приклад — SPAR Jasmine Rice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1C3D159-6BBB-4F8D-B9ED-F6496F44B44F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BB6272E-A3D6-4F20-AF34-CF17DAB68835}"/>
              </a:ext>
            </a:extLst>
          </p:cNvPr>
          <p:cNvSpPr>
            <a:spLocks noGrp="1"/>
          </p:cNvSpPr>
          <p:nvPr/>
        </p:nvSpPr>
        <p:spPr>
          <a:xfrm>
            <a:off x="841248" y="173736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Про формат</a:t>
            </a:r>
            <a:endParaRPr sz="17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27C41B4-C39E-4BB3-87E3-96451AFDB1CC}"/>
              </a:ext>
            </a:extLst>
          </p:cNvPr>
          <p:cNvSpPr>
            <a:spLocks noGrp="1"/>
          </p:cNvSpPr>
          <p:nvPr/>
        </p:nvSpPr>
        <p:spPr>
          <a:xfrm>
            <a:off x="841248" y="2103120"/>
            <a:ext cx="612648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700"/>
              </a:lnSpc>
              <a:buNone/>
            </a:pPr>
            <a:r>
              <a:rPr sz="12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Власного бренду BSCM у форматі double cup немає — цей формат постачальник випускає виключно під приватною маркою замовника. Sleeve-бокс друкується під дизайн клієнта; приклад нижче — Jasmine Rice Cups для мережі SPAR.</a:t>
            </a:r>
            <a:endParaRPr sz="12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50D0EC9-3F48-4B23-B62F-2DC20F4CB1E3}"/>
              </a:ext>
            </a:extLst>
          </p:cNvPr>
          <p:cNvSpPr>
            <a:spLocks noGrp="1"/>
          </p:cNvSpPr>
          <p:nvPr/>
        </p:nvSpPr>
        <p:spPr>
          <a:xfrm>
            <a:off x="841248" y="301752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Смаки в офері</a:t>
            </a:r>
            <a:endParaRPr sz="17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A91FA7F-CF81-4499-8A50-A7DEE4346D83}"/>
              </a:ext>
            </a:extLst>
          </p:cNvPr>
          <p:cNvSpPr>
            <a:spLocks noGrp="1"/>
          </p:cNvSpPr>
          <p:nvPr/>
        </p:nvSpPr>
        <p:spPr>
          <a:xfrm>
            <a:off x="841248" y="338328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Jasmine Rice, no oil</a:t>
            </a:r>
            <a:endParaRPr sz="10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BE8A5288-4469-45DA-BAD0-F665517C1E65}"/>
              </a:ext>
            </a:extLst>
          </p:cNvPr>
          <p:cNvSpPr>
            <a:spLocks noGrp="1"/>
          </p:cNvSpPr>
          <p:nvPr/>
        </p:nvSpPr>
        <p:spPr>
          <a:xfrm>
            <a:off x="2971800" y="338328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немає в PL</a:t>
            </a:r>
            <a:endParaRPr sz="115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FCACD5D8-D338-4EA5-B23F-C319A9D0F23D}"/>
              </a:ext>
            </a:extLst>
          </p:cNvPr>
          <p:cNvSpPr>
            <a:spLocks noGrp="1"/>
          </p:cNvSpPr>
          <p:nvPr/>
        </p:nvSpPr>
        <p:spPr>
          <a:xfrm>
            <a:off x="841248" y="371703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Jasmine Rice, w oil</a:t>
            </a:r>
            <a:endParaRPr sz="105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818D73A6-5619-40CD-864C-164E337887CE}"/>
              </a:ext>
            </a:extLst>
          </p:cNvPr>
          <p:cNvSpPr>
            <a:spLocks noGrp="1"/>
          </p:cNvSpPr>
          <p:nvPr/>
        </p:nvSpPr>
        <p:spPr>
          <a:xfrm>
            <a:off x="2971800" y="371703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доступно</a:t>
            </a:r>
            <a:endParaRPr sz="11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B17E25C-EAC6-44DA-BED1-8DA3C384AB1F}"/>
              </a:ext>
            </a:extLst>
          </p:cNvPr>
          <p:cNvSpPr>
            <a:spLocks noGrp="1"/>
          </p:cNvSpPr>
          <p:nvPr/>
        </p:nvSpPr>
        <p:spPr>
          <a:xfrm>
            <a:off x="841248" y="405079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Jasmine Rice (Pathum), w oil</a:t>
            </a:r>
            <a:endParaRPr sz="10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1ACB90C5-BF37-41D9-8DC3-D21E41BC119E}"/>
              </a:ext>
            </a:extLst>
          </p:cNvPr>
          <p:cNvSpPr>
            <a:spLocks noGrp="1"/>
          </p:cNvSpPr>
          <p:nvPr/>
        </p:nvSpPr>
        <p:spPr>
          <a:xfrm>
            <a:off x="2971800" y="405079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доступно</a:t>
            </a:r>
            <a:endParaRPr sz="11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1BC70C4-0C92-435A-9487-D75013A4A699}"/>
              </a:ext>
            </a:extLst>
          </p:cNvPr>
          <p:cNvSpPr>
            <a:spLocks noGrp="1"/>
          </p:cNvSpPr>
          <p:nvPr/>
        </p:nvSpPr>
        <p:spPr>
          <a:xfrm>
            <a:off x="841248" y="4384548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Brown Jasmine Rice, w oil</a:t>
            </a:r>
            <a:endParaRPr sz="105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3F159060-DCDF-44CC-8B6D-02E8ED33BA8F}"/>
              </a:ext>
            </a:extLst>
          </p:cNvPr>
          <p:cNvSpPr>
            <a:spLocks noGrp="1"/>
          </p:cNvSpPr>
          <p:nvPr/>
        </p:nvSpPr>
        <p:spPr>
          <a:xfrm>
            <a:off x="2971800" y="4384548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доступно</a:t>
            </a:r>
            <a:endParaRPr sz="115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387B55C1-5453-4641-8FEE-2A2600E80415}"/>
              </a:ext>
            </a:extLst>
          </p:cNvPr>
          <p:cNvSpPr>
            <a:spLocks noGrp="1"/>
          </p:cNvSpPr>
          <p:nvPr/>
        </p:nvSpPr>
        <p:spPr>
          <a:xfrm>
            <a:off x="841248" y="4718304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Brown Rice, w oil</a:t>
            </a:r>
            <a:endParaRPr sz="105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E5BCD84D-F4E9-40F7-AA7D-85E5A9A7C865}"/>
              </a:ext>
            </a:extLst>
          </p:cNvPr>
          <p:cNvSpPr>
            <a:spLocks noGrp="1"/>
          </p:cNvSpPr>
          <p:nvPr/>
        </p:nvSpPr>
        <p:spPr>
          <a:xfrm>
            <a:off x="2971800" y="4718304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доступно</a:t>
            </a:r>
            <a:endParaRPr sz="115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9CD79870-7EED-40F1-B03F-865D47193057}"/>
              </a:ext>
            </a:extLst>
          </p:cNvPr>
          <p:cNvSpPr>
            <a:spLocks noGrp="1"/>
          </p:cNvSpPr>
          <p:nvPr/>
        </p:nvSpPr>
        <p:spPr>
          <a:xfrm>
            <a:off x="841248" y="505206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Basmati Rice*, w oil</a:t>
            </a:r>
            <a:endParaRPr sz="105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9696F0F8-6388-458A-9A6E-BD09F3ACBA30}"/>
              </a:ext>
            </a:extLst>
          </p:cNvPr>
          <p:cNvSpPr>
            <a:spLocks noGrp="1"/>
          </p:cNvSpPr>
          <p:nvPr/>
        </p:nvSpPr>
        <p:spPr>
          <a:xfrm>
            <a:off x="2971800" y="505206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доступно</a:t>
            </a:r>
            <a:endParaRPr sz="115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13A8E69A-5D22-455F-8007-BE2ECE9342F0}"/>
              </a:ext>
            </a:extLst>
          </p:cNvPr>
          <p:cNvSpPr>
            <a:spLocks noGrp="1"/>
          </p:cNvSpPr>
          <p:nvPr/>
        </p:nvSpPr>
        <p:spPr>
          <a:xfrm>
            <a:off x="841248" y="538581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Long Grain, w oil</a:t>
            </a:r>
            <a:endParaRPr sz="105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0F71CE83-5380-4313-A831-A097BEC1C816}"/>
              </a:ext>
            </a:extLst>
          </p:cNvPr>
          <p:cNvSpPr>
            <a:spLocks noGrp="1"/>
          </p:cNvSpPr>
          <p:nvPr/>
        </p:nvSpPr>
        <p:spPr>
          <a:xfrm>
            <a:off x="2971800" y="538581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доступно</a:t>
            </a:r>
            <a:endParaRPr sz="1150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7366CF28-1B6D-49C3-946A-65C3FD0C8631}"/>
              </a:ext>
            </a:extLst>
          </p:cNvPr>
          <p:cNvSpPr>
            <a:spLocks noGrp="1"/>
          </p:cNvSpPr>
          <p:nvPr/>
        </p:nvSpPr>
        <p:spPr>
          <a:xfrm>
            <a:off x="7534656" y="1536192"/>
            <a:ext cx="4096512" cy="2834640"/>
          </a:xfrm>
          <a:prstGeom prst="rect">
            <a:avLst/>
          </a:prstGeom>
          <a:ln w="1587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831A629E-B7E5-4A9F-8D0C-CEFC366EAB2E}"/>
              </a:ext>
            </a:extLst>
          </p:cNvPr>
          <p:cNvSpPr>
            <a:spLocks noGrp="1"/>
          </p:cNvSpPr>
          <p:nvPr/>
        </p:nvSpPr>
        <p:spPr>
          <a:xfrm>
            <a:off x="7534656" y="4526280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noGrp="1"/>
          </p:cNvSpPr>
          <p:nvPr/>
        </p:nvSpPr>
        <p:spPr>
          <a:xfrm>
            <a:off x="7717536" y="4581144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6 од.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у коробі</a:t>
            </a:r>
            <a:endParaRPr sz="190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noGrp="1"/>
          </p:cNvSpPr>
          <p:nvPr/>
        </p:nvSpPr>
        <p:spPr>
          <a:xfrm>
            <a:off x="9098280" y="4581144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2 × 125 г = 250 г / уніт</a:t>
            </a:r>
            <a:endParaRPr sz="105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B6DB6DF8-9EDE-4700-B934-B2C5D27FD37C}"/>
              </a:ext>
            </a:extLst>
          </p:cNvPr>
          <p:cNvSpPr>
            <a:spLocks noGrp="1"/>
          </p:cNvSpPr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C0BEDDE1-3BA8-41C7-A18B-3458416DEE72}"/>
              </a:ext>
            </a:extLst>
          </p:cNvPr>
          <p:cNvSpPr>
            <a:spLocks noGrp="1"/>
          </p:cNvSpPr>
          <p:nvPr/>
        </p:nvSpPr>
        <p:spPr>
          <a:xfrm>
            <a:off x="7717536" y="5148072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PL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бренд</a:t>
            </a:r>
            <a:endParaRPr sz="190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218C4906-3F42-4BCF-AD90-A44D05606B4C}"/>
              </a:ext>
            </a:extLst>
          </p:cNvPr>
          <p:cNvSpPr>
            <a:spLocks noGrp="1"/>
          </p:cNvSpPr>
          <p:nvPr/>
        </p:nvSpPr>
        <p:spPr>
          <a:xfrm>
            <a:off x="9098280" y="5148072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тільки Private Label</a:t>
            </a:r>
            <a:endParaRPr sz="105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5F74166D-A4F2-4F13-9CD5-9980A3D4D94F}"/>
              </a:ext>
            </a:extLst>
          </p:cNvPr>
          <p:cNvSpPr>
            <a:spLocks noGrp="1"/>
          </p:cNvSpPr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261A9ED7-0551-4B4E-B905-410FED97DEDE}"/>
              </a:ext>
            </a:extLst>
          </p:cNvPr>
          <p:cNvSpPr>
            <a:spLocks noGrp="1"/>
          </p:cNvSpPr>
          <p:nvPr/>
        </p:nvSpPr>
        <p:spPr>
          <a:xfrm>
            <a:off x="7717536" y="571500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OEM</a:t>
            </a:r>
            <a:endParaRPr sz="190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E99E232B-CE92-4C25-B546-D18CAEAE1AAC}"/>
              </a:ext>
            </a:extLst>
          </p:cNvPr>
          <p:cNvSpPr>
            <a:spLocks noGrp="1"/>
          </p:cNvSpPr>
          <p:nvPr/>
        </p:nvSpPr>
        <p:spPr>
          <a:xfrm>
            <a:off x="9098280" y="57150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друк дизайну клієнта на sleeve</a:t>
            </a:r>
            <a:endParaRPr sz="1050"/>
          </a:p>
        </p:txBody>
      </p:sp>
      <p:pic>
        <p:nvPicPr>
          <p:cNvPr id="34" name="Picture 33" descr="sleeve_25_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4656" y="2355201"/>
            <a:ext cx="1292352" cy="1196622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35" name="Picture 34" descr="sleeve_26_p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36736" y="2355201"/>
            <a:ext cx="1292352" cy="1196622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36" name="Picture 35" descr="sleeve_27_p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38816" y="2355201"/>
            <a:ext cx="1292352" cy="1196622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sp>
        <p:nvSpPr>
          <p:cNvPr id="37" name="TextBox 36"/>
          <p:cNvSpPr txBox="1"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>
                <a:solidFill>
                  <a:srgbClr val="C3D7BF"/>
                </a:solidFill>
                <a:latin typeface="Calibri"/>
              </a:rPr>
              <a:t>Джерело: Cup-Photo of Products.pdf — фото порожньої sleeve-упаковки від BSCM Foods; фото SPAR Jasmine Rice Cups надано користувачем.</a:t>
            </a:r>
          </a:p>
        </p:txBody>
      </p:sp>
    </p:spTree>
    <p:extLst>
      <p:ext uri="{BB962C8B-B14F-4D97-AF65-F5344CB8AC3E}">
        <p14:creationId xmlns:p14="http://schemas.microsoft.com/office/powerpoint/2010/main" val="598072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1274</Words>
  <Application>Microsoft Office PowerPoint</Application>
  <DocSecurity>0</DocSecurity>
  <PresentationFormat>Широкий екран</PresentationFormat>
  <Paragraphs>247</Paragraphs>
  <Slides>7</Slides>
  <Notes>6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7</vt:i4>
      </vt:variant>
    </vt:vector>
  </HeadingPairs>
  <TitlesOfParts>
    <vt:vector size="11" baseType="lpstr">
      <vt:lpstr>Arial</vt:lpstr>
      <vt:lpstr>Calibri</vt:lpstr>
      <vt:lpstr>Cambria</vt:lpstr>
      <vt:lpstr>Office Theme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Чаплигін lлля</cp:lastModifiedBy>
  <cp:revision>2</cp:revision>
  <dcterms:created xsi:type="dcterms:W3CDTF">2026-09-04T11:25:11Z</dcterms:created>
  <dcterms:modified xsi:type="dcterms:W3CDTF">2026-09-04T14:14:43Z</dcterms:modified>
</cp:coreProperties>
</file>