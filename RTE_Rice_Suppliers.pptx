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14"/>
    <p:sldId id="263" r:id="rId8"/>
    <p:sldId id="265" r:id="rId15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7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Cup-Photo of Products.pdf — Single Cup assortment, packaging parameters, and product images; supplied by the user.</a:t>
            </a:r>
          </a:p>
          <a:p>
            <a:r>
              <a:t>- User instruction — BSCM launched new cup production; cost is intentionally omitted.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eg"/><Relationship Id="rId4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eg"/><Relationship Id="rId4" Type="http://schemas.openxmlformats.org/officeDocument/2006/relationships/image" Target="../media/image4.jpeg"/><Relationship Id="rId5" Type="http://schemas.openxmlformats.org/officeDocument/2006/relationships/image" Target="../media/image5.jpeg"/><Relationship Id="rId6" Type="http://schemas.openxmlformats.org/officeDocument/2006/relationships/image" Target="../media/image6.jpeg"/><Relationship Id="rId7" Type="http://schemas.openxmlformats.org/officeDocument/2006/relationships/image" Target="../media/image7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eg"/><Relationship Id="rId4" Type="http://schemas.openxmlformats.org/officeDocument/2006/relationships/image" Target="../media/image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eg"/><Relationship Id="rId4" Type="http://schemas.openxmlformats.org/officeDocument/2006/relationships/image" Target="../media/image9.jpeg"/><Relationship Id="rId5" Type="http://schemas.openxmlformats.org/officeDocument/2006/relationships/image" Target="../media/image10.jpeg"/><Relationship Id="rId6" Type="http://schemas.openxmlformats.org/officeDocument/2006/relationships/image" Target="../media/image11.jpeg"/><Relationship Id="rId7" Type="http://schemas.openxmlformats.org/officeDocument/2006/relationships/image" Target="../media/image1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jpg"/><Relationship Id="rId3" Type="http://schemas.openxmlformats.org/officeDocument/2006/relationships/image" Target="../media/image2.jpeg"/><Relationship Id="rId4" Type="http://schemas.openxmlformats.org/officeDocument/2006/relationships/image" Target="../media/image8.jpg"/><Relationship Id="rId5" Type="http://schemas.openxmlformats.org/officeDocument/2006/relationships/image" Target="../media/image20.jpg"/><Relationship Id="rId6" Type="http://schemas.openxmlformats.org/officeDocument/2006/relationships/image" Target="../media/image21.jpg"/><Relationship Id="rId7" Type="http://schemas.openxmlformats.org/officeDocument/2006/relationships/image" Target="../media/image22.jpg"/><Relationship Id="rId8" Type="http://schemas.openxmlformats.org/officeDocument/2006/relationships/image" Target="../media/image23.jpg"/><Relationship Id="rId9" Type="http://schemas.openxmlformats.org/officeDocument/2006/relationships/image" Target="../media/image24.jpg"/><Relationship Id="rId10" Type="http://schemas.openxmlformats.org/officeDocument/2006/relationships/image" Target="../media/image25.jpg"/><Relationship Id="rId11" Type="http://schemas.openxmlformats.org/officeDocument/2006/relationships/image" Target="../media/image26.jpg"/><Relationship Id="rId12" Type="http://schemas.openxmlformats.org/officeDocument/2006/relationships/image" Target="../media/image27.jpg"/><Relationship Id="rId13" Type="http://schemas.openxmlformats.org/officeDocument/2006/relationships/image" Target="../media/image28.jpg"/><Relationship Id="rId14" Type="http://schemas.openxmlformats.org/officeDocument/2006/relationships/image" Target="../media/image29.jpg"/><Relationship Id="rId15" Type="http://schemas.openxmlformats.org/officeDocument/2006/relationships/image" Target="../media/image30.jpg"/><Relationship Id="rId16" Type="http://schemas.openxmlformats.org/officeDocument/2006/relationships/image" Target="../media/image31.jpg"/><Relationship Id="rId17" Type="http://schemas.openxmlformats.org/officeDocument/2006/relationships/image" Target="../media/image32.jpg"/><Relationship Id="rId18" Type="http://schemas.openxmlformats.org/officeDocument/2006/relationships/image" Target="../media/image33.jpg"/><Relationship Id="rId19" Type="http://schemas.openxmlformats.org/officeDocument/2006/relationships/image" Target="../media/image34.jpg"/><Relationship Id="rId20" Type="http://schemas.openxmlformats.org/officeDocument/2006/relationships/image" Target="../media/image35.jpg"/><Relationship Id="rId21" Type="http://schemas.openxmlformats.org/officeDocument/2006/relationships/image" Target="../media/image36.jpg"/><Relationship Id="rId22" Type="http://schemas.openxmlformats.org/officeDocument/2006/relationships/image" Target="../media/image37.jpg"/><Relationship Id="rId23" Type="http://schemas.openxmlformats.org/officeDocument/2006/relationships/image" Target="../media/image3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17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17.jpeg"/><Relationship Id="rId4" Type="http://schemas.openxmlformats.org/officeDocument/2006/relationships/image" Target="../media/image39.jpg"/><Relationship Id="rId5" Type="http://schemas.openxmlformats.org/officeDocument/2006/relationships/image" Target="../media/image40.jpg"/><Relationship Id="rId6" Type="http://schemas.openxmlformats.org/officeDocument/2006/relationships/image" Target="../media/image4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C9E11D9-4C10-4498-B08F-418DC703689B}"/>
              </a:ext>
            </a:extLst>
          </p:cNvPr>
          <p:cNvSpPr>
            <a:spLocks noGrp="1"/>
          </p:cNvSpPr>
          <p:nvPr/>
        </p:nvSpPr>
        <p:spPr>
          <a:xfrm>
            <a:off x="640080" y="1691640"/>
            <a:ext cx="5349240" cy="3474720"/>
          </a:xfrm>
          <a:prstGeom prst="roundRect">
            <a:avLst>
              <a:gd name="adj" fmla="val 3636"/>
            </a:avLst>
          </a:prstGeom>
          <a:solidFill>
            <a:srgbClr val="12452B">
              <a:alpha val="92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050D1F1-25C6-459D-B6EE-3201D5DA8822}"/>
              </a:ext>
            </a:extLst>
          </p:cNvPr>
          <p:cNvSpPr>
            <a:spLocks noGrp="1"/>
          </p:cNvSpPr>
          <p:nvPr/>
        </p:nvSpPr>
        <p:spPr>
          <a:xfrm>
            <a:off x="1097280" y="2322576"/>
            <a:ext cx="443484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700" b="1" spc="15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READY-TO-EAT RICE</a:t>
            </a:r>
            <a:endParaRPr sz="3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2CA64F1-2DC5-431B-A0BE-B63DF81EEFA7}"/>
              </a:ext>
            </a:extLst>
          </p:cNvPr>
          <p:cNvSpPr>
            <a:spLocks noGrp="1"/>
          </p:cNvSpPr>
          <p:nvPr/>
        </p:nvSpPr>
        <p:spPr>
          <a:xfrm>
            <a:off x="1097280" y="3081528"/>
            <a:ext cx="1828800" cy="0"/>
          </a:xfrm>
          <a:prstGeom prst="line">
            <a:avLst/>
          </a:prstGeom>
          <a:noFill/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C612DCA-AB68-4951-A902-1E1495207AA6}"/>
              </a:ext>
            </a:extLst>
          </p:cNvPr>
          <p:cNvSpPr>
            <a:spLocks noGrp="1"/>
          </p:cNvSpPr>
          <p:nvPr/>
        </p:nvSpPr>
        <p:spPr>
          <a:xfrm>
            <a:off x="1961388" y="3035808"/>
            <a:ext cx="100584" cy="100584"/>
          </a:xfrm>
          <a:prstGeom prst="diamond">
            <a:avLst/>
          </a:prstGeom>
          <a:solidFill>
            <a:srgbClr val="F5CE76"/>
          </a:solidFill>
          <a:ln w="6350">
            <a:solidFill>
              <a:srgbClr val="E0B2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FC978E9-75EC-4BA8-8582-EAFEB8AD9E13}"/>
              </a:ext>
            </a:extLst>
          </p:cNvPr>
          <p:cNvSpPr>
            <a:spLocks noGrp="1"/>
          </p:cNvSpPr>
          <p:nvPr/>
        </p:nvSpPr>
        <p:spPr>
          <a:xfrm>
            <a:off x="1097280" y="3264408"/>
            <a:ext cx="44348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7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Постачальники та собівартість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2744851-5719-43BB-BF0D-B86A6B0C2E1C}"/>
              </a:ext>
            </a:extLst>
          </p:cNvPr>
          <p:cNvSpPr>
            <a:spLocks noGrp="1"/>
          </p:cNvSpPr>
          <p:nvPr/>
        </p:nvSpPr>
        <p:spPr>
          <a:xfrm>
            <a:off x="1097280" y="3785616"/>
            <a:ext cx="44348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BSCM Foods Co., Ltd.</a:t>
            </a:r>
            <a:r>
              <a:rPr sz="1150">
                <a:solidFill>
                  <a:srgbClr val="C89C40"/>
                </a:solidFill>
                <a:latin typeface="Calibri"/>
                <a:ea typeface="Calibri"/>
                <a:cs typeface="Calibri"/>
              </a:rPr>
              <a:t>   ·   </a:t>
            </a: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CM Premium Rice Co., Ltd.</a:t>
            </a:r>
            <a:endParaRPr sz="135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199F762-1B10-42AE-9A9D-9E1C6FE25745}"/>
              </a:ext>
            </a:extLst>
          </p:cNvPr>
          <p:cNvSpPr>
            <a:spLocks noGrp="1"/>
          </p:cNvSpPr>
          <p:nvPr/>
        </p:nvSpPr>
        <p:spPr>
          <a:xfrm>
            <a:off x="1097280" y="4242816"/>
            <a:ext cx="443484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1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Таїланд · FOB Bangkok · завантаження навалом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707073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CD19144-9505-47D6-9275-6089C661FC3E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44E652-7531-4B42-A2E4-24C4B8731333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CM Premium Rice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23ADB82-A208-4FF8-8484-E70CE2076607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Виробник органічного рису та готових страв, бренди Q Rice · Golden Phoenix · Chefrey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901CC53-360D-4866-8073-8A9412E5D929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FC212FD-4906-4748-A36F-7D4284B1BC29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3820750-8730-426F-96FA-819EACDEEADD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CM Premium Rice Co., Ltd. — тайський переробник рису з власними елеваторами та лінією фасування у Nakhon Ratchasima. Працює під брендами Q Rice, Golden Phoenix і Chefrey; 99% сировини — тайського походження.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737FF36-89C7-40BF-8029-7E30F7FC5E72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10913A5-A195-4C35-8BEC-22AF2B15B7E7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6A606B1-78BD-42D4-97F2-25019B04EA50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офіс Nonthaburi · завод Nakhon Ratchasima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78BF7FC-C005-4DB0-828C-5DE23D336C1C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Заснована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42A9028-10DB-4B72-B30E-FB49E15FA6C9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6 липня 2016 · капітал 50 млн THB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E95C3E2-EA1E-42D7-A32D-5FC6276536E0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Досвід групи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D427EAD-08DF-4E7A-9C4C-835EFAE70855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30 років у рисовому виробництві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D34AC2F-EE39-497C-8F1A-55D934AC95C0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Потужність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2B1EB85-2BAF-45AA-8C18-39BD7B6AE924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120 000 тонн на рік · 10 000 т/міс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C1BCD09-C026-44CF-8F8B-173FAD36743F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Сировина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D27C77E-48F9-4FBD-A728-1F2B80DFD2D6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99% Таїланд · 30+ партнерських рисозаводів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4E2C5A1-D625-4BFD-AE8C-D9C86960782D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Експорт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C81496A-087D-4BDF-97C0-9C0AD33F324A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20 країн світу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29F56F1-072F-45B9-B669-E6DB5952B5DC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 в офері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22D9B28-342C-4F6C-855A-E29107EE1B2A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250 г · 24 шт у коробі</a:t>
            </a:r>
            <a:endParaRPr sz="115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FE1BA39C-F91D-4286-BEF8-67FC2D0BD2F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FD7FBD8F-742F-466D-99D3-4E9D925A8522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9001 · Halal · Organic</a:t>
            </a:r>
            <a:endParaRPr sz="1150"/>
          </a:p>
        </p:txBody>
      </p:sp>
      <p:pic>
        <p:nvPicPr>
          <p:cNvPr id="61" name="Image 0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>
            <a:extLst>
              <a:ext uri="{FF2B5EF4-FFF2-40B4-BE49-F238E27FC236}">
                <a16:creationId xmlns:a16="http://schemas.microsoft.com/office/drawing/2014/main" id="{0A6243D7-99BD-4671-9140-C29A8D2841F5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FAD82CE1-305C-4565-A1FE-D051AE2156E0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58CC28A-4F81-47DF-8E77-5628B5CD7532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2016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FCE24DD-1F3F-42BD-8089-4BCD25EBA58A}"/>
              </a:ext>
            </a:extLst>
          </p:cNvPr>
          <p:cNvSpPr>
            <a:spLocks noGrp="1"/>
          </p:cNvSpPr>
          <p:nvPr/>
        </p:nvSpPr>
        <p:spPr>
          <a:xfrm>
            <a:off x="9418320" y="4581144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рік початку роботи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89975636-2973-43EB-8284-82876E89595D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A645AB62-8A4D-4512-8F74-DE418179E43B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120 000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т/рік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4117B712-25E2-4520-9FD2-EBDF52F2E339}"/>
              </a:ext>
            </a:extLst>
          </p:cNvPr>
          <p:cNvSpPr>
            <a:spLocks noGrp="1"/>
          </p:cNvSpPr>
          <p:nvPr/>
        </p:nvSpPr>
        <p:spPr>
          <a:xfrm>
            <a:off x="9418320" y="514807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виробнича потужність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9455139-65F1-448B-8A7C-86FFA827F351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D40C00FA-3D9E-4C88-BA29-ECBF4916B185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99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%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324D476-C6D4-42C7-BAFD-4CF0E84F17CB}"/>
              </a:ext>
            </a:extLst>
          </p:cNvPr>
          <p:cNvSpPr>
            <a:spLocks noGrp="1"/>
          </p:cNvSpPr>
          <p:nvPr/>
        </p:nvSpPr>
        <p:spPr>
          <a:xfrm>
            <a:off x="9418320" y="571500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сировини з Таїланду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E7A215B1-AD40-45DA-BB18-23E7B159186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корпоративна презентація CM Premium Rice Co., Ltd., сайт cmp-rice.com та прайс-лист Chefrey.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973573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9A6D18B-A944-45D2-8E87-358191F7E4AF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  ·  CHEFREY / CM PREMIUM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B4F6B36-12AD-4E80-B246-044D6B11275B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Chefrey Organic RTE 6 × 250 г — собівартість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B3E3610-3F77-4808-A291-CC88332A673B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777A169-A18D-4352-B969-19E1FAD489B5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1" name="Image 0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87232188-1DCC-4781-85AB-61CF6976C5DA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AA2BFF8-08EA-4127-88A8-7020E461BE87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9C00E7C-A4B5-4F70-BF95-2F612003EAA9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55875F5-C8AA-4604-BC2B-C7F2B6B61192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Turmeric Basmati</a:t>
            </a:r>
            <a:endParaRPr sz="1450"/>
          </a:p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with Cumin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CC304521-7003-41C9-A3DF-B606C354369E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4A033679-0F16-416E-9BC4-280F6974334A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2BA45D7-6F03-4868-BDD2-44FC1BFF8AEA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D9F963D-2EFD-42F1-A3D8-955B0A886C4D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844CDDA-23FC-437B-9119-7C16195CDFA0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7DB5FDD-4BCF-480F-AC44-12CE6BC0A357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82BA0A6-D97E-4819-8CA9-388C425BB098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22ECCC3-BFAF-4EDE-935D-88BA8CB5F5D0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5EED41A-EC4F-42AA-8D1B-5807CC449D8D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21615AB-3FD4-4403-AFF6-D6A56343CBC2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8" name="Image 1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04C442D0-2F30-4863-8F74-AF51825B409B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8FDFA6F-6582-4237-9B22-00A082830131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3BF42D84-D0AF-4217-B04F-C90FB592237C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CDE96DD-6C77-424C-B5EB-F3F2EA231669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Garlic Fried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68A85A44-B6CB-4D71-8000-A653E3694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B6ACCF8-0216-4C21-8A34-38A25C9E2A95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AE847F71-A762-450C-A559-36DCDA518904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16B44C2-FF59-4FA7-AB65-3092D174973A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4BFD8799-39A3-483C-B443-61D7961487B8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236FB47-8D66-49B9-890D-86AFDDAD03E0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1C5B3AD2-2E31-4934-829B-92559C96C96C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D93CC81-7EA2-49D9-8437-79938779A8F5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0427E166-8510-4CA7-8830-926E6C60FA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E9A5A22F-E04B-4856-A6EE-5DB1869CB5A4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5" name="Image 2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F9B242CE-9FC3-4F31-9E90-E76F07CC34D9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A50AE707-BF33-4DC0-8761-DC73CA95E9E3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83B499CA-E5CA-4A54-A2B7-6FC3B8C2A8E6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44658F7D-867D-4A61-B46E-876DD11E5E0F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Cilantro Lime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9C8F21B4-2ED4-4F90-8A4E-B929F37C5243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CB4E5E2B-AB82-4890-B02A-60C7FFBEFA4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64AB014A-05C3-45B0-AEEE-0D5F7B45FEB4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9FE6818-4F14-4862-A822-5259E90FC4D8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5C9DFA8C-DC12-493F-89E1-05F82142934A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351C6F62-3582-446E-9329-137053C4895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1CB0E785-438F-46B1-9B4D-45FFA085CF82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C10E996F-4409-4306-8C47-C3DBDB53C35F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E05EE4B9-A859-4792-9E6A-A9A645DFA502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251A2DC7-D0DC-4DDD-94FC-121AF67D8149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2" name="Image 3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F2C3BE02-E820-4936-861D-46D3D3E589BF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490DA2D-D85E-4489-896A-3376EF0EC2F2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1BAD208D-D6B2-4DF7-AE5B-808AFC5016F0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D32F869F-1422-4380-8509-FD4EC7795CA7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C56AF3DF-CE25-4AEE-B9EA-65DA2178D6C8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B87B54C9-A9BC-4125-8EB8-417D870F885A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5CDDC64B-111E-4034-BB84-739716A535C5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6A939BB-1670-4E52-9CBF-2148FF618BE5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89315069-AA8B-4FB9-B0D8-4EEFAFCC5D6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$1,020 / 45,91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EF2C8EF4-AF40-4A42-B5F5-CD3A89AECD13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4A437B21-276B-4A8E-B4FA-E55E4C8EB3D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$0,915 / 41,20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$1,215 / 54,68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838F0CEE-4FBA-4656-B576-A01896E53768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C7424DE8-2857-46C2-8E15-BFDE963490BE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$0,944 / 42,48 ₴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152137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BSCM Foods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Тайський виробник готових страв за ретортною технологією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BSCM Foods Co., Ltd. — виробник готової до споживання їжі з Бангкока. Портфель поділений на чотири напрями: Ready Rice, Ready Meal, Ready Dessert та Ready Drink. Рис випускається у трьох форматах — пауч, стакан і лоток.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A91FA7F-CF81-4499-8A50-A7DEE4346D83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E8A5288-4469-45DA-BAD0-F665517C1E65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Бангкок (Bangsue), Таїланд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Група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18D73A6-5619-40CD-864C-164E337887CE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Bangsue Chia Meng Rice Mill, з 1937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RTE-виробництво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ACB90C5-BF37-41D9-8DC3-D21E41BC119E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власний завод BSCM Foods, з 2009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Технологія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F159060-DCDF-44CC-8B6D-02E8ED33BA8F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ретортна стерилізація, без консервантів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87B55C1-5453-4641-8FEE-2A2600E80415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5BCD84D-F4E9-40F7-AA7D-85E5A9A7C865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18 місяців за кімнатної температури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CD79870-7EED-40F1-B03F-865D47193057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Розігрів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696F0F8-6388-458A-9A6E-BD09F3ACBA30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мікрохвильова піч, 60–90 сек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3A8E69A-5D22-455F-8007-BE2ECE9342F0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 в офері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0F71CE83-5380-4313-A831-A097BEC1C816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240 г · 6 шт у коробі</a:t>
            </a:r>
            <a:endParaRPr sz="115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9E3FDCDD-AB84-4655-AE3A-27E63EDCF93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CE1C1DBA-4385-4A90-B461-BD4A3B7B3F15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22000 · GMP · Organic</a:t>
            </a:r>
            <a:endParaRPr sz="115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18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міс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сек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розігрів у мікрохвильовці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60+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країн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країн експорту групи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каталог продукції BSCM Foods, комерційна пропозиція постачальника та корпоративний сайт групи BSCM (bscm.co.th); сертифікати — за каталогом.</a:t>
            </a:r>
            <a:endParaRPr sz="900"/>
          </a:p>
        </p:txBody>
      </p:sp>
      <p:pic>
        <p:nvPicPr>
          <p:cNvPr id="37" name="Picture 34" descr="bscm_facility.jpg">
            <a:extLst>
              <a:ext uri="{FF2B5EF4-FFF2-40B4-BE49-F238E27FC236}">
                <a16:creationId xmlns:a16="http://schemas.microsoft.com/office/drawing/2014/main" id="{EBD8B576-66F4-E3D8-E88C-AED726EA0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6553" y="1554480"/>
            <a:ext cx="4096512" cy="2834640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  ·  BSCM FOODS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 dirty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240 г</a:t>
            </a:r>
            <a:endParaRPr sz="3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2" name="Picture 7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$0,995 / 44,79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$0,892 / 40,15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$1,001 / 45,03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$0,928 / 41,77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9" name="Picture 7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6" name="Picture 7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7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$0,750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$1,280 / 57,59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$1,147 / 51,63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$1,287 / 57,89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$1,193 / 53,70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Фото упаковки — з каталогу BSCM Foods; для Japanese Style Rice постачальник фото не надав.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651695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НОВЕ ВИРОБНИЦТВО · BSCM FOODS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8761682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12 × 150 г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581410" y="1115568"/>
            <a:ext cx="876168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with Sleeve Box · W/O Oil · 12 шт. у коробі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11749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11749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11749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11749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11749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11749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798642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798642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305516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798642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305516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$0,700 / 31,51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798642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305516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798642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305516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2820010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2964831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2964831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2964831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2964831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Brown Jasmine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2964831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2964831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051724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051724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3558598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051724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3558598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$0,700 / 31,51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051724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3558598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051724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3558598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5073091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5217912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5217912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5217912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5217912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Red Jasmine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5217912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5217912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5304805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5304805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5811679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5304805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5811679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$0,759 / 34,14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5304805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5811679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5304805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5811679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7326173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579254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7470994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54" name="Picture 153" descr="quinoa_hero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24076" y="1700784"/>
            <a:ext cx="1853711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724076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7470994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724076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7470994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724076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7470994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Rice Berry</a:t>
            </a:r>
            <a:endParaRPr sz="14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724076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Brown Jasmine Rice with Red Quinoa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7470994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724076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7470994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724076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7557887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810968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7557887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810968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8064761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10317842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7557887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810968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8064761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$0,759 / 34,14 ₴</a:t>
            </a:r>
            <a:endParaRPr sz="95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10317842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$0,759 / 34,14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7557887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810968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8064761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10317842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7557887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810968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8064761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10317842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876168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Products.pdf, Self Cost Rice Brand.xlsx (BSCM(Bags+Cups) - Навалом, 2026-09 revision) · курс 45,00 UAH/USD.</a:t>
            </a:r>
            <a:endParaRPr sz="900"/>
          </a:p>
        </p:txBody>
      </p:sp>
      <p:pic>
        <p:nvPicPr>
          <p:cNvPr id="150" name="Рисунок 14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1749" y="1700784"/>
            <a:ext cx="1853711" cy="1810512"/>
          </a:xfrm>
          <a:prstGeom prst="roundRect">
            <a:avLst/>
          </a:prstGeom>
        </p:spPr>
      </p:pic>
      <p:pic>
        <p:nvPicPr>
          <p:cNvPr id="151" name="Рисунок 150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964831" y="1700784"/>
            <a:ext cx="1853711" cy="1810512"/>
          </a:xfrm>
          <a:prstGeom prst="roundRect">
            <a:avLst/>
          </a:prstGeom>
        </p:spPr>
      </p:pic>
      <p:pic>
        <p:nvPicPr>
          <p:cNvPr id="152" name="Рисунок 151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217912" y="1700784"/>
            <a:ext cx="1853711" cy="1810512"/>
          </a:xfrm>
          <a:prstGeom prst="roundRect">
            <a:avLst/>
          </a:prstGeom>
        </p:spPr>
      </p:pic>
      <p:pic>
        <p:nvPicPr>
          <p:cNvPr id="153" name="Рисунок 152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7470994" y="1700784"/>
            <a:ext cx="1853711" cy="1810512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503426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SINGLE CUP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— вигляд упаковки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5 позицій · 150 г · sleeve-бокс · фото з каталогу постачальника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5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SKU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позицій у лінійці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150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г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нетто в чашці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шт.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у коробі, sleeve-бокс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Products.pdf. Фото — офіційні знімки упаковки від BSCM Foods; ракурси відповідають оригінальному прайс-каталогу.</a:t>
            </a:r>
            <a:endParaRPr sz="900"/>
          </a:p>
        </p:txBody>
      </p:sp>
      <p:sp>
        <p:nvSpPr>
          <p:cNvPr id="38" name="TextBox 37"/>
          <p:cNvSpPr txBox="1"/>
          <p:nvPr/>
        </p:nvSpPr>
        <p:spPr>
          <a:xfrm>
            <a:off x="841248" y="1783080"/>
            <a:ext cx="201168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FCF9F0"/>
                </a:solidFill>
                <a:latin typeface="Calibri"/>
              </a:rPr>
              <a:t>Thai Jasmine Rice</a:t>
            </a:r>
          </a:p>
        </p:txBody>
      </p:sp>
      <p:pic>
        <p:nvPicPr>
          <p:cNvPr id="39" name="Picture 38" descr="jasmine_le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0088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40" name="Picture 39" descr="jasmine_mi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5112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41" name="Picture 40" descr="jasmine_righ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0136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42" name="TextBox 41"/>
          <p:cNvSpPr txBox="1"/>
          <p:nvPr/>
        </p:nvSpPr>
        <p:spPr>
          <a:xfrm>
            <a:off x="841248" y="2642616"/>
            <a:ext cx="201168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FCF9F0"/>
                </a:solidFill>
                <a:latin typeface="Calibri"/>
              </a:rPr>
              <a:t>Thai Brown Jasmine Rice</a:t>
            </a:r>
          </a:p>
        </p:txBody>
      </p:sp>
      <p:pic>
        <p:nvPicPr>
          <p:cNvPr id="43" name="Picture 42" descr="brown_lef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0088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44" name="Picture 43" descr="brown_mid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5112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45" name="Picture 44" descr="brown_righ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0136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46" name="TextBox 45"/>
          <p:cNvSpPr txBox="1"/>
          <p:nvPr/>
        </p:nvSpPr>
        <p:spPr>
          <a:xfrm>
            <a:off x="841248" y="3502152"/>
            <a:ext cx="201168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FCF9F0"/>
                </a:solidFill>
                <a:latin typeface="Calibri"/>
              </a:rPr>
              <a:t>Thai Red Jasmine Rice</a:t>
            </a:r>
          </a:p>
        </p:txBody>
      </p:sp>
      <p:pic>
        <p:nvPicPr>
          <p:cNvPr id="47" name="Picture 46" descr="red_left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90088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48" name="Picture 47" descr="red_mid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25112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49" name="Picture 48" descr="red_right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60136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50" name="TextBox 49"/>
          <p:cNvSpPr txBox="1"/>
          <p:nvPr/>
        </p:nvSpPr>
        <p:spPr>
          <a:xfrm>
            <a:off x="841248" y="4361688"/>
            <a:ext cx="201168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FCF9F0"/>
                </a:solidFill>
                <a:latin typeface="Calibri"/>
              </a:rPr>
              <a:t>Rice Berry</a:t>
            </a:r>
          </a:p>
        </p:txBody>
      </p:sp>
      <p:pic>
        <p:nvPicPr>
          <p:cNvPr id="51" name="Picture 50" descr="berry_left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990088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2" name="Picture 51" descr="berry_mid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25112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3" name="Picture 52" descr="berry_right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660136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54" name="TextBox 53"/>
          <p:cNvSpPr txBox="1"/>
          <p:nvPr/>
        </p:nvSpPr>
        <p:spPr>
          <a:xfrm>
            <a:off x="841248" y="5221224"/>
            <a:ext cx="2011680" cy="7406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FCF9F0"/>
                </a:solidFill>
                <a:latin typeface="Calibri"/>
              </a:rPr>
              <a:t>Brown Jasmine Rice with Red Quinoa</a:t>
            </a:r>
          </a:p>
        </p:txBody>
      </p:sp>
      <p:pic>
        <p:nvPicPr>
          <p:cNvPr id="55" name="Picture 54" descr="quinoa_left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90088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6" name="Picture 55" descr="quinoa_mid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25112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7" name="Picture 56" descr="quinoa_right.jp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660136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8" name="Picture 57" descr="grid_jasmine_left.jp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534656" y="1686581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9" name="Picture 58" descr="grid_brown_left.jp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651492" y="1686581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60" name="Picture 59" descr="grid_red_left.jp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534656" y="3022092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61" name="Picture 60" descr="grid_berry_left.jp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651492" y="3022092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6 × (2 × 125 г)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Double cup зі sleeve-боксом · доступно тільки як Private Label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формат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Власного бренду BSCM у форматі double cup немає — цей формат постачальник випускає виключно під приватною маркою замовника. Sleeve-бокс друкується під дизайн клієнта; приклад нижче — Jasmine Rice Cups для мережі SPAR.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Смаки в офері</a:t>
            </a:r>
            <a:endParaRPr sz="17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201168" indent="-201168">
              <a:buNone/>
              <a:buClr>
                <a:srgbClr val="F5CE76"/>
              </a:buClr>
              <a:buFont typeface="Arial"/>
              <a:buChar char="●"/>
            </a:pPr>
            <a:r>
              <a:rPr sz="1400" b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Jasmine Rice</a:t>
            </a:r>
            <a:endParaRPr sz="10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841248" y="374904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201168" indent="-201168">
              <a:buNone/>
              <a:buClr>
                <a:srgbClr val="F5CE76"/>
              </a:buClr>
              <a:buFont typeface="Arial"/>
              <a:buChar char="●"/>
            </a:pPr>
            <a:r>
              <a:rPr sz="1400" b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Jasmine Rice (Pathum)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841248" y="411480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201168" indent="-201168">
              <a:buNone/>
              <a:buClr>
                <a:srgbClr val="F5CE76"/>
              </a:buClr>
              <a:buFont typeface="Arial"/>
              <a:buChar char="●"/>
            </a:pPr>
            <a:r>
              <a:rPr sz="1400" b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Brown Jasmine Rice</a:t>
            </a:r>
            <a:endParaRPr sz="10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87B55C1-5453-4641-8FEE-2A2600E80415}"/>
              </a:ext>
            </a:extLst>
          </p:cNvPr>
          <p:cNvSpPr>
            <a:spLocks noGrp="1"/>
          </p:cNvSpPr>
          <p:nvPr/>
        </p:nvSpPr>
        <p:spPr>
          <a:xfrm>
            <a:off x="841248" y="448056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201168" indent="-201168">
              <a:buNone/>
              <a:buClr>
                <a:srgbClr val="F5CE76"/>
              </a:buClr>
              <a:buFont typeface="Arial"/>
              <a:buChar char="●"/>
            </a:pPr>
            <a:r>
              <a:rPr sz="1400" b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Brown Rice</a:t>
            </a:r>
            <a:endParaRPr sz="10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CD79870-7EED-40F1-B03F-865D47193057}"/>
              </a:ext>
            </a:extLst>
          </p:cNvPr>
          <p:cNvSpPr>
            <a:spLocks noGrp="1"/>
          </p:cNvSpPr>
          <p:nvPr/>
        </p:nvSpPr>
        <p:spPr>
          <a:xfrm>
            <a:off x="841248" y="484632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201168" indent="-201168">
              <a:buNone/>
              <a:buClr>
                <a:srgbClr val="F5CE76"/>
              </a:buClr>
              <a:buFont typeface="Arial"/>
              <a:buChar char="●"/>
            </a:pPr>
            <a:r>
              <a:rPr sz="1400" b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Basmati Rice*</a:t>
            </a:r>
            <a:endParaRPr sz="10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3A8E69A-5D22-455F-8007-BE2ECE9342F0}"/>
              </a:ext>
            </a:extLst>
          </p:cNvPr>
          <p:cNvSpPr>
            <a:spLocks noGrp="1"/>
          </p:cNvSpPr>
          <p:nvPr/>
        </p:nvSpPr>
        <p:spPr>
          <a:xfrm>
            <a:off x="841248" y="5212080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201168" indent="-201168">
              <a:buNone/>
              <a:buClr>
                <a:srgbClr val="F5CE76"/>
              </a:buClr>
              <a:buFont typeface="Arial"/>
              <a:buChar char="●"/>
            </a:pPr>
            <a:r>
              <a:rPr sz="1400" b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Long Grain</a:t>
            </a:r>
            <a:endParaRPr sz="1050"/>
          </a:p>
        </p:txBody>
      </p:sp>
      <p:pic>
        <p:nvPicPr>
          <p:cNvPr id="61" name="Picture 3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>
            <a:extLst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 од.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у коробі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 × 125 г = 250 г / уніт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PL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бренд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тільки Private Label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SPAR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приклад упаковки клієнта</a:t>
            </a:r>
            <a:endParaRPr sz="1050"/>
          </a:p>
        </p:txBody>
      </p:sp>
      <p:sp>
        <p:nvSpPr>
          <p:cNvPr id="62" name="TextBox 61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>
                <a:solidFill>
                  <a:srgbClr val="C3D7BF"/>
                </a:solidFill>
                <a:latin typeface="Calibri"/>
              </a:rPr>
              <a:t>Джерело: Cup-Photo of Products.pdf; фото SPAR Jasmine Rice Cups надано користувачем. * Basmati — за запитом постачальника.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— вигляд упаковки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6 × (2 × 125 г) · один sleeve-дизайн під усі 7 смаків · приклад — SPAR Jasmine Rice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Як це виглядає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noGrp="1"/>
          </p:cNvSpPr>
          <p:nvPr/>
        </p:nvSpPr>
        <p:spPr>
          <a:xfrm>
            <a:off x="841248" y="3200400"/>
            <a:ext cx="6126480" cy="1645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5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Один sleeve-дизайн друкується під усі смаки лінійки — окремих фото пакування для кожного смаку постачальник не надає. Нижче показано сам бокс і приклад друку для мережі SPAR; повний перелік смаків — на попередньому слайді.</a:t>
            </a:r>
            <a:endParaRPr sz="120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 од.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у коробі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 × 125 г = 250 г / уніт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PL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бренд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тільки Private Label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OEM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друк дизайну клієнта на sleeve</a:t>
            </a:r>
            <a:endParaRPr sz="1050"/>
          </a:p>
        </p:txBody>
      </p:sp>
      <p:pic>
        <p:nvPicPr>
          <p:cNvPr id="34" name="Picture 33" descr="sleeve_25_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656" y="2355201"/>
            <a:ext cx="1292352" cy="1196622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35" name="Picture 34" descr="sleeve_26_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6736" y="2355201"/>
            <a:ext cx="1292352" cy="1196622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36" name="Picture 35" descr="sleeve_27_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38816" y="2355201"/>
            <a:ext cx="1292352" cy="1196622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37" name="TextBox 36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>
                <a:solidFill>
                  <a:srgbClr val="C3D7BF"/>
                </a:solidFill>
                <a:latin typeface="Calibri"/>
              </a:rPr>
              <a:t>Джерело: Cup-Photo of Products.pdf — фото порожньої sleeve-упаковки від BSCM Foods; фото SPAR Jasmine Rice Cups надано користувачем.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1274</Words>
  <Application>Microsoft Office PowerPoint</Application>
  <DocSecurity>0</DocSecurity>
  <PresentationFormat>Широкий екран</PresentationFormat>
  <Paragraphs>247</Paragraphs>
  <Slides>7</Slides>
  <Notes>6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Чаплигін lлля</cp:lastModifiedBy>
  <cp:revision>2</cp:revision>
  <dcterms:created xsi:type="dcterms:W3CDTF">2026-09-04T11:25:11Z</dcterms:created>
  <dcterms:modified xsi:type="dcterms:W3CDTF">2026-09-04T14:14:43Z</dcterms:modified>
</cp:coreProperties>
</file>