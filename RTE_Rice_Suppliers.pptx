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8" r:id="rId9"/>
    <p:sldId id="262" r:id="rId10"/>
    <p:sldId id="263" r:id="rId11"/>
    <p:sldId id="264" r:id="rId12"/>
    <p:sldId id="265" r:id="rId13"/>
    <p:sldId id="266" r:id="rId14"/>
    <p:sldId id="269" r:id="rId20"/>
    <p:sldId id="270" r:id="rId21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Current user instruction: position Special Production after standard 240 g; 150 g, 200 g and other weights needed for the local market.</a:t>
            </a:r>
          </a:p>
          <a:p>
            <a:r>
              <a:t>- User-supplied 2026-09-03 Ready to eat Rice in Pouch 150g 200g_.pdf: 150 g and 200 g product formats. Other sizes subject to supplier agreement.</a:t>
            </a:r>
          </a:p>
          <a:p>
            <a:r>
              <a:t>- Authentic standard 240 g pouch image from original supplier presentation slide 5, explicitly labeled 240 g.</a:t>
            </a:r>
          </a:p>
          <a:p>
            <a:r>
              <a:t>- No prices, cost figures, minimum order quantities, or unconfirmed pack dimensions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Cup-Photo of Products.pdf — Single Cup assortment, packaging parameters, and product images; supplied by the user.</a:t>
            </a:r>
          </a:p>
          <a:p>
            <a:r>
              <a:t>- User instruction — BSCM launched new cup production; cost is intentionally omitted.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Prior user instructions: Double Cup 6 x (2 x125g), Private Label only; SPAR example customer packaging.</a:t>
            </a:r>
          </a:p>
          <a:p>
            <a:r>
              <a:t>- Photo: AI-assisted studio background and lighting retouch of the user-supplied authentic SPAR Jasmine Rice photo, preserving package identity.</a:t>
            </a:r>
          </a:p>
          <a:p>
            <a:r>
              <a:t>- 250g consumer pack = two125g cups. Costs intentionally moved to dedicated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 specifies separate SKU/cost slide and postpones calculation. Em dashes are editable missing values, not zero; no figures invented.</a:t>
            </a:r>
          </a:p>
          <a:p>
            <a:r>
              <a:t>- Seven Double Cup variants and oil distinctions from user instructions. Basmati qualification retained.</a:t>
            </a:r>
          </a:p>
          <a:p>
            <a:r>
              <a:t>- Four delivery scenarios and USD/UAH presentation match existing deck calculation slides. Costs per complete2x125g consumer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User-supplied 03-image.png: Double Cup, 2 × 125 g = 250 g/unit; sleeve box can carry the customer design; no actual product in supplier private brand.</a:t>
            </a:r>
          </a:p>
          <a:p>
            <a:r>
              <a:t>- Original RTE_Rice_Suppliers.pptx, slide 9: three authentic product photographs preserved and enlarged.</a:t>
            </a:r>
          </a:p>
          <a:p>
            <a:r>
              <a:t>- User-supplied SPAR packaging photo is retained on the preceding Double Cup assortment slide.</a:t>
            </a:r>
          </a:p>
          <a:p>
            <a:r>
              <a:t>- Removed the unsupported statement that every flavor uses one identical sleeve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eg"/><Relationship Id="rId4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eg"/><Relationship Id="rId4" Type="http://schemas.openxmlformats.org/officeDocument/2006/relationships/image" Target="../media/image4.jpeg"/><Relationship Id="rId5" Type="http://schemas.openxmlformats.org/officeDocument/2006/relationships/image" Target="../media/image5.jpeg"/><Relationship Id="rId6" Type="http://schemas.openxmlformats.org/officeDocument/2006/relationships/image" Target="../media/image6.jpeg"/><Relationship Id="rId7" Type="http://schemas.openxmlformats.org/officeDocument/2006/relationships/image" Target="../media/image7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eg"/><Relationship Id="rId4" Type="http://schemas.openxmlformats.org/officeDocument/2006/relationships/image" Target="../media/image8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eg"/><Relationship Id="rId4" Type="http://schemas.openxmlformats.org/officeDocument/2006/relationships/image" Target="../media/image9.jpeg"/><Relationship Id="rId5" Type="http://schemas.openxmlformats.org/officeDocument/2006/relationships/image" Target="../media/image10.jpeg"/><Relationship Id="rId6" Type="http://schemas.openxmlformats.org/officeDocument/2006/relationships/image" Target="../media/image11.jpeg"/><Relationship Id="rId7" Type="http://schemas.openxmlformats.org/officeDocument/2006/relationships/image" Target="../media/image12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eg"/><Relationship Id="rId4" Type="http://schemas.openxmlformats.org/officeDocument/2006/relationships/image" Target="../media/image12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9.jpeg"/><Relationship Id="rId4" Type="http://schemas.openxmlformats.org/officeDocument/2006/relationships/image" Target="../media/image10.jpeg"/><Relationship Id="rId5" Type="http://schemas.openxmlformats.org/officeDocument/2006/relationships/image" Target="../media/image11.jpeg"/><Relationship Id="rId6" Type="http://schemas.openxmlformats.org/officeDocument/2006/relationships/image" Target="../media/image12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9.jpeg"/><Relationship Id="rId4" Type="http://schemas.openxmlformats.org/officeDocument/2006/relationships/image" Target="../media/image10.jpeg"/><Relationship Id="rId5" Type="http://schemas.openxmlformats.org/officeDocument/2006/relationships/image" Target="../media/image11.jpeg"/><Relationship Id="rId6" Type="http://schemas.openxmlformats.org/officeDocument/2006/relationships/image" Target="../media/image12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jpeg"/><Relationship Id="rId4" Type="http://schemas.openxmlformats.org/officeDocument/2006/relationships/image" Target="../media/image13.jpe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jpeg"/><Relationship Id="rId4" Type="http://schemas.openxmlformats.org/officeDocument/2006/relationships/image" Target="../media/image18.jpeg"/><Relationship Id="rId5" Type="http://schemas.openxmlformats.org/officeDocument/2006/relationships/image" Target="../media/image19.jpeg"/><Relationship Id="rId6" Type="http://schemas.openxmlformats.org/officeDocument/2006/relationships/image" Target="../media/image20.jpeg"/><Relationship Id="rId7" Type="http://schemas.openxmlformats.org/officeDocument/2006/relationships/image" Target="../media/image21.jpeg"/><Relationship Id="rId8" Type="http://schemas.openxmlformats.org/officeDocument/2006/relationships/image" Target="../media/image22.jpeg"/><Relationship Id="rId9" Type="http://schemas.openxmlformats.org/officeDocument/2006/relationships/image" Target="../media/image23.jpeg"/><Relationship Id="rId10" Type="http://schemas.openxmlformats.org/officeDocument/2006/relationships/image" Target="../media/image24.jpeg"/><Relationship Id="rId11" Type="http://schemas.openxmlformats.org/officeDocument/2006/relationships/image" Target="../media/image25.jpeg"/><Relationship Id="rId12" Type="http://schemas.openxmlformats.org/officeDocument/2006/relationships/image" Target="../media/image26.jpeg"/><Relationship Id="rId13" Type="http://schemas.openxmlformats.org/officeDocument/2006/relationships/image" Target="../media/image27.jpeg"/><Relationship Id="rId14" Type="http://schemas.openxmlformats.org/officeDocument/2006/relationships/image" Target="../media/image28.jpeg"/><Relationship Id="rId15" Type="http://schemas.openxmlformats.org/officeDocument/2006/relationships/image" Target="../media/image29.jpeg"/><Relationship Id="rId16" Type="http://schemas.openxmlformats.org/officeDocument/2006/relationships/image" Target="../media/image30.jpeg"/><Relationship Id="rId17" Type="http://schemas.openxmlformats.org/officeDocument/2006/relationships/image" Target="../media/image31.jpeg"/><Relationship Id="rId18" Type="http://schemas.openxmlformats.org/officeDocument/2006/relationships/image" Target="../media/image32.jpeg"/><Relationship Id="rId19" Type="http://schemas.openxmlformats.org/officeDocument/2006/relationships/image" Target="../media/image33.jpeg"/><Relationship Id="rId20" Type="http://schemas.openxmlformats.org/officeDocument/2006/relationships/image" Target="../media/image34.jpeg"/><Relationship Id="rId21" Type="http://schemas.openxmlformats.org/officeDocument/2006/relationships/image" Target="../media/image35.jpeg"/><Relationship Id="rId22" Type="http://schemas.openxmlformats.org/officeDocument/2006/relationships/image" Target="../media/image36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jpeg"/><Relationship Id="rId4" Type="http://schemas.openxmlformats.org/officeDocument/2006/relationships/image" Target="../media/image3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eg"/><Relationship Id="rId4" Type="http://schemas.openxmlformats.org/officeDocument/2006/relationships/image" Target="../media/image38.jpeg"/><Relationship Id="rId5" Type="http://schemas.openxmlformats.org/officeDocument/2006/relationships/image" Target="../media/image39.jpeg"/><Relationship Id="rId6" Type="http://schemas.openxmlformats.org/officeDocument/2006/relationships/image" Target="../media/image40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1.jpg"/><Relationship Id="rId3" Type="http://schemas.openxmlformats.org/officeDocument/2006/relationships/image" Target="../media/image2.jpeg"/><Relationship Id="rId4" Type="http://schemas.openxmlformats.org/officeDocument/2006/relationships/image" Target="../media/image3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2.jpg"/><Relationship Id="rId3" Type="http://schemas.openxmlformats.org/officeDocument/2006/relationships/image" Target="../media/image2.jpeg"/><Relationship Id="rId4" Type="http://schemas.openxmlformats.org/officeDocument/2006/relationships/image" Target="../media/image4.jpeg"/><Relationship Id="rId5" Type="http://schemas.openxmlformats.org/officeDocument/2006/relationships/image" Target="../media/image5.jpeg"/><Relationship Id="rId6" Type="http://schemas.openxmlformats.org/officeDocument/2006/relationships/image" Target="../media/image6.jpeg"/><Relationship Id="rId7" Type="http://schemas.openxmlformats.org/officeDocument/2006/relationships/image" Target="../media/image7.jpeg"/><Relationship Id="rId8" Type="http://schemas.openxmlformats.org/officeDocument/2006/relationships/image" Target="../media/image43.jpg"/><Relationship Id="rId9" Type="http://schemas.openxmlformats.org/officeDocument/2006/relationships/image" Target="../media/image44.jpg"/><Relationship Id="rId10" Type="http://schemas.openxmlformats.org/officeDocument/2006/relationships/image" Target="../media/image4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C9E11D9-4C10-4498-B08F-418DC703689B}"/>
              </a:ext>
            </a:extLst>
          </p:cNvPr>
          <p:cNvSpPr>
            <a:spLocks noGrp="1"/>
          </p:cNvSpPr>
          <p:nvPr/>
        </p:nvSpPr>
        <p:spPr>
          <a:xfrm>
            <a:off x="640080" y="1691640"/>
            <a:ext cx="5349240" cy="3474720"/>
          </a:xfrm>
          <a:prstGeom prst="roundRect">
            <a:avLst>
              <a:gd name="adj" fmla="val 3636"/>
            </a:avLst>
          </a:prstGeom>
          <a:solidFill>
            <a:srgbClr val="12452B">
              <a:alpha val="92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050D1F1-25C6-459D-B6EE-3201D5DA8822}"/>
              </a:ext>
            </a:extLst>
          </p:cNvPr>
          <p:cNvSpPr>
            <a:spLocks noGrp="1"/>
          </p:cNvSpPr>
          <p:nvPr/>
        </p:nvSpPr>
        <p:spPr>
          <a:xfrm>
            <a:off x="1097280" y="2322576"/>
            <a:ext cx="443484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700" b="1" spc="15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READY-TO-EAT RICE</a:t>
            </a:r>
            <a:endParaRPr sz="34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2CA64F1-2DC5-431B-A0BE-B63DF81EEFA7}"/>
              </a:ext>
            </a:extLst>
          </p:cNvPr>
          <p:cNvSpPr>
            <a:spLocks noGrp="1"/>
          </p:cNvSpPr>
          <p:nvPr/>
        </p:nvSpPr>
        <p:spPr>
          <a:xfrm>
            <a:off x="1097280" y="3081528"/>
            <a:ext cx="1828800" cy="0"/>
          </a:xfrm>
          <a:prstGeom prst="line">
            <a:avLst/>
          </a:prstGeom>
          <a:noFill/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C612DCA-AB68-4951-A902-1E1495207AA6}"/>
              </a:ext>
            </a:extLst>
          </p:cNvPr>
          <p:cNvSpPr>
            <a:spLocks noGrp="1"/>
          </p:cNvSpPr>
          <p:nvPr/>
        </p:nvSpPr>
        <p:spPr>
          <a:xfrm>
            <a:off x="1961388" y="3035808"/>
            <a:ext cx="100584" cy="100584"/>
          </a:xfrm>
          <a:prstGeom prst="diamond">
            <a:avLst/>
          </a:prstGeom>
          <a:solidFill>
            <a:srgbClr val="F5CE76"/>
          </a:solidFill>
          <a:ln w="6350">
            <a:solidFill>
              <a:srgbClr val="E0B25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FC978E9-75EC-4BA8-8582-EAFEB8AD9E13}"/>
              </a:ext>
            </a:extLst>
          </p:cNvPr>
          <p:cNvSpPr>
            <a:spLocks noGrp="1"/>
          </p:cNvSpPr>
          <p:nvPr/>
        </p:nvSpPr>
        <p:spPr>
          <a:xfrm>
            <a:off x="1097280" y="3264408"/>
            <a:ext cx="443484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7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Постачальники та собівартість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2744851-5719-43BB-BF0D-B86A6B0C2E1C}"/>
              </a:ext>
            </a:extLst>
          </p:cNvPr>
          <p:cNvSpPr>
            <a:spLocks noGrp="1"/>
          </p:cNvSpPr>
          <p:nvPr/>
        </p:nvSpPr>
        <p:spPr>
          <a:xfrm>
            <a:off x="1097280" y="3785616"/>
            <a:ext cx="44348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BSCM Foods</a:t>
            </a:r>
            <a:r>
              <a:rPr sz="1150">
                <a:solidFill>
                  <a:srgbClr val="C89C40"/>
                </a:solidFill>
                <a:latin typeface="Calibri"/>
                <a:ea typeface="Calibri"/>
                <a:cs typeface="Calibri"/>
              </a:rPr>
              <a:t>  ·  </a:t>
            </a: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CM Premium Rice</a:t>
            </a:r>
            <a:r>
              <a:rPr sz="1150">
                <a:solidFill>
                  <a:srgbClr val="C89C40"/>
                </a:solidFill>
                <a:latin typeface="Calibri"/>
                <a:ea typeface="Calibri"/>
                <a:cs typeface="Calibri"/>
              </a:rPr>
              <a:t>  ·  </a:t>
            </a: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One's International</a:t>
            </a:r>
            <a:endParaRPr sz="135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199F762-1B10-42AE-9A9D-9E1C6FE25745}"/>
              </a:ext>
            </a:extLst>
          </p:cNvPr>
          <p:cNvSpPr>
            <a:spLocks noGrp="1"/>
          </p:cNvSpPr>
          <p:nvPr/>
        </p:nvSpPr>
        <p:spPr>
          <a:xfrm>
            <a:off x="1097280" y="4242816"/>
            <a:ext cx="443484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1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Таїланд · Корея · FOB Bangkok / Busan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707073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CD19144-9505-47D6-9275-6089C661FC3E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2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A44E652-7531-4B42-A2E4-24C4B8731333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CM Premium Rice — профіль компанії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23ADB82-A208-4FF8-8484-E70CE2076607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Виробник органічного рису та готових страв, бренди Q Rice · Golden Phoenix · Chefrey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901CC53-360D-4866-8073-8A9412E5D929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FC212FD-4906-4748-A36F-7D4284B1BC29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3820750-8730-426F-96FA-819EACDEEADD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CM Premium Rice Co., Ltd. — тайський переробник рису з власними елеваторами та лінією фасування у Nakhon Ratchasima. Працює під брендами Q Rice, Golden Phoenix і Chefrey; 99% сировини — тайського походження.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737FF36-89C7-40BF-8029-7E30F7FC5E72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10913A5-A195-4C35-8BEC-22AF2B15B7E7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6A606B1-78BD-42D4-97F2-25019B04EA50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офіс Nonthaburi · завод Nakhon Ratchasima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78BF7FC-C005-4DB0-828C-5DE23D336C1C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Заснована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42A9028-10DB-4B72-B30E-FB49E15FA6C9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6 липня 2016 · капітал 50 млн THB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E95C3E2-EA1E-42D7-A32D-5FC6276536E0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Досвід групи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D427EAD-08DF-4E7A-9C4C-835EFAE70855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30 років у рисовому виробництві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D34AC2F-EE39-497C-8F1A-55D934AC95C0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Потужність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2B1EB85-2BAF-45AA-8C18-39BD7B6AE924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120 000 тонн на рік · 10 000 т/міс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C1BCD09-C026-44CF-8F8B-173FAD36743F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Сировина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D27C77E-48F9-4FBD-A728-1F2B80DFD2D6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99% Таїланд · 30+ партнерських рисозаводів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4E2C5A1-D625-4BFD-AE8C-D9C86960782D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Експорт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C81496A-087D-4BDF-97C0-9C0AD33F324A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20 країн світу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29F56F1-072F-45B9-B669-E6DB5952B5DC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 в офері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22D9B28-342C-4F6C-855A-E29107EE1B2A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250 г · 24 шт у коробі</a:t>
            </a:r>
            <a:endParaRPr sz="115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FE1BA39C-F91D-4286-BEF8-67FC2D0BD2F1}"/>
              </a:ext>
            </a:extLst>
          </p:cNvPr>
          <p:cNvSpPr>
            <a:spLocks noGrp="1"/>
          </p:cNvSpPr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FD7FBD8F-742F-466D-99D3-4E9D925A8522}"/>
              </a:ext>
            </a:extLst>
          </p:cNvPr>
          <p:cNvSpPr>
            <a:spLocks noGrp="1"/>
          </p:cNvSpPr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9001 · Halal · Organic</a:t>
            </a:r>
            <a:endParaRPr sz="1150"/>
          </a:p>
        </p:txBody>
      </p:sp>
      <p:pic>
        <p:nvPicPr>
          <p:cNvPr id="61" name="Image 0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34656" y="1536192"/>
            <a:ext cx="4096512" cy="2834640"/>
          </a:xfrm>
          <a:prstGeom prst="roundRect">
            <a:avLst/>
          </a:prstGeom>
        </p:spPr>
      </p:pic>
      <p:sp>
        <p:nvSpPr>
          <p:cNvPr id="24" name="Shape 21">
            <a:extLst>
              <a:ext uri="{FF2B5EF4-FFF2-40B4-BE49-F238E27FC236}">
                <a16:creationId xmlns:a16="http://schemas.microsoft.com/office/drawing/2014/main" id="{0A6243D7-99BD-4671-9140-C29A8D2841F5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FAD82CE1-305C-4565-A1FE-D051AE2156E0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58CC28A-4F81-47DF-8E77-5628B5CD7532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2016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FCE24DD-1F3F-42BD-8089-4BCD25EBA58A}"/>
              </a:ext>
            </a:extLst>
          </p:cNvPr>
          <p:cNvSpPr>
            <a:spLocks noGrp="1"/>
          </p:cNvSpPr>
          <p:nvPr/>
        </p:nvSpPr>
        <p:spPr>
          <a:xfrm>
            <a:off x="9418320" y="4581144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рік початку роботи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89975636-2973-43EB-8284-82876E89595D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A645AB62-8A4D-4512-8F74-DE418179E43B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120 000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т/рік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4117B712-25E2-4520-9FD2-EBDF52F2E339}"/>
              </a:ext>
            </a:extLst>
          </p:cNvPr>
          <p:cNvSpPr>
            <a:spLocks noGrp="1"/>
          </p:cNvSpPr>
          <p:nvPr/>
        </p:nvSpPr>
        <p:spPr>
          <a:xfrm>
            <a:off x="9418320" y="514807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виробнича потужність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E9455139-65F1-448B-8A7C-86FFA827F351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D40C00FA-3D9E-4C88-BA29-ECBF4916B185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99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%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5324D476-C6D4-42C7-BAFD-4CF0E84F17CB}"/>
              </a:ext>
            </a:extLst>
          </p:cNvPr>
          <p:cNvSpPr>
            <a:spLocks noGrp="1"/>
          </p:cNvSpPr>
          <p:nvPr/>
        </p:nvSpPr>
        <p:spPr>
          <a:xfrm>
            <a:off x="9418320" y="571500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сировини з Таїланду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E7A215B1-AD40-45DA-BB18-23E7B159186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корпоративна презентація CM Premium Rice Co., Ltd., сайт cmp-rice.com та прайс-лист Chefrey.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973573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9A6D18B-A944-45D2-8E87-358191F7E4AF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2  ·  CHEFREY / CM PREMIUM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B4F6B36-12AD-4E80-B246-044D6B11275B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Chefrey Organic RTE 6 × 250 г — собівартість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B3E3610-3F77-4808-A291-CC88332A673B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777A169-A18D-4352-B969-19E1FAD489B5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1" name="Image 0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87232188-1DCC-4781-85AB-61CF6976C5DA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AA2BFF8-08EA-4127-88A8-7020E461BE87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9C00E7C-A4B5-4F70-BF95-2F612003EAA9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55875F5-C8AA-4604-BC2B-C7F2B6B61192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Turmeric Basmati</a:t>
            </a:r>
            <a:endParaRPr sz="1450"/>
          </a:p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with Cumin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CC304521-7003-41C9-A3DF-B606C354369E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4A033679-0F16-416E-9BC4-280F6974334A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2BA45D7-6F03-4868-BDD2-44FC1BFF8AEA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D9F963D-2EFD-42F1-A3D8-955B0A886C4D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6844CDDA-23FC-437B-9119-7C16195CDFA0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7DB5FDD-4BCF-480F-AC44-12CE6BC0A357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82BA0A6-D97E-4819-8CA9-388C425BB098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422ECCC3-BFAF-4EDE-935D-88BA8CB5F5D0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5EED41A-EC4F-42AA-8D1B-5807CC449D8D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21615AB-3FD4-4403-AFF6-D6A56343CBC2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8" name="Image 1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04C442D0-2F30-4863-8F74-AF51825B409B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8FDFA6F-6582-4237-9B22-00A082830131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3BF42D84-D0AF-4217-B04F-C90FB592237C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CDE96DD-6C77-424C-B5EB-F3F2EA231669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Garlic Fried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68A85A44-B6CB-4D71-8000-A653E3694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B6ACCF8-0216-4C21-8A34-38A25C9E2A95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AE847F71-A762-450C-A559-36DCDA518904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16B44C2-FF59-4FA7-AB65-3092D174973A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4BFD8799-39A3-483C-B443-61D7961487B8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236FB47-8D66-49B9-890D-86AFDDAD03E0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1C5B3AD2-2E31-4934-829B-92559C96C96C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D93CC81-7EA2-49D9-8437-79938779A8F5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0427E166-8510-4CA7-8830-926E6C60FA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E9A5A22F-E04B-4856-A6EE-5DB1869CB5A4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5" name="Image 2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F9B242CE-9FC3-4F31-9E90-E76F07CC34D9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A50AE707-BF33-4DC0-8761-DC73CA95E9E3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83B499CA-E5CA-4A54-A2B7-6FC3B8C2A8E6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44658F7D-867D-4A61-B46E-876DD11E5E0F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Cilantro Lime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9C8F21B4-2ED4-4F90-8A4E-B929F37C5243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CB4E5E2B-AB82-4890-B02A-60C7FFBEFA4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64AB014A-05C3-45B0-AEEE-0D5F7B45FEB4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9FE6818-4F14-4862-A822-5259E90FC4D8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5C9DFA8C-DC12-493F-89E1-05F82142934A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351C6F62-3582-446E-9329-137053C4895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1CB0E785-438F-46B1-9B4D-45FFA085CF82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C10E996F-4409-4306-8C47-C3DBDB53C35F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E05EE4B9-A859-4792-9E6A-A9A645DFA502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251A2DC7-D0DC-4DDD-94FC-121AF67D8149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2" name="Image 3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F2C3BE02-E820-4936-861D-46D3D3E589BF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490DA2D-D85E-4489-896A-3376EF0EC2F2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358A48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1BAD208D-D6B2-4DF7-AE5B-808AFC5016F0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D32F869F-1422-4380-8509-FD4EC7795CA7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C56AF3DF-CE25-4AEE-B9EA-65DA2178D6C8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B87B54C9-A9BC-4125-8EB8-417D870F885A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5CDDC64B-111E-4034-BB84-739716A535C5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6A939BB-1670-4E52-9CBF-2148FF618BE5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89315069-AA8B-4FB9-B0D8-4EEFAFCC5D6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$1,020 / 45,91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EF2C8EF4-AF40-4A42-B5F5-CD3A89AECD13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4A437B21-276B-4A8E-B4FA-E55E4C8EB3D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$0,915 / 41,20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$1,215 / 54,68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838F0CEE-4FBA-4656-B576-A01896E53768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C7424DE8-2857-46C2-8E15-BFDE963490BE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$0,944 / 42,48 ₴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152137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1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BSCM Foods — профіль компанії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Тайський виробник готових страв за ретортною технологією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BSCM Foods Co., Ltd. — виробник готової до споживання їжі з Бангкока. Портфель поділений на чотири напрями: Ready Rice, Ready Meal, Ready Dessert та Ready Drink. Рис випускається у трьох форматах — пауч, стакан і лоток.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A91FA7F-CF81-4499-8A50-A7DEE4346D83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E8A5288-4469-45DA-BAD0-F665517C1E65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Бангкок (Bangsue), Таїланд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Група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18D73A6-5619-40CD-864C-164E337887CE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Bangsue Chia Meng Rice Mill, з 1937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RTE-виробництво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ACB90C5-BF37-41D9-8DC3-D21E41BC119E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власний завод BSCM Foods, з 2009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Технологія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F159060-DCDF-44CC-8B6D-02E8ED33BA8F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ретортна стерилізація, без консервантів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87B55C1-5453-4641-8FEE-2A2600E80415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5BCD84D-F4E9-40F7-AA7D-85E5A9A7C865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18 місяців за кімнатної температури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9CD79870-7EED-40F1-B03F-865D47193057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Розігрів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9696F0F8-6388-458A-9A6E-BD09F3ACBA30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мікрохвильова піч, 60–90 сек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3A8E69A-5D22-455F-8007-BE2ECE9342F0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0F71CE83-5380-4313-A831-A097BEC1C816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240 г · cup 150 г / 2×125 г</a:t>
            </a:r>
            <a:endParaRPr sz="115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9E3FDCDD-AB84-4655-AE3A-27E63EDCF931}"/>
              </a:ext>
            </a:extLst>
          </p:cNvPr>
          <p:cNvSpPr>
            <a:spLocks noGrp="1"/>
          </p:cNvSpPr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CE1C1DBA-4385-4A90-B461-BD4A3B7B3F15}"/>
              </a:ext>
            </a:extLst>
          </p:cNvPr>
          <p:cNvSpPr>
            <a:spLocks noGrp="1"/>
          </p:cNvSpPr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22000 · GMP · Organic</a:t>
            </a:r>
            <a:endParaRPr sz="115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18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міс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сек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розігрів у мікрохвильовці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60+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країн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країн експорту групи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каталог продукції BSCM Foods, комерційна пропозиція постачальника та корпоративний сайт групи BSCM (bscm.co.th); сертифікати — за каталогом.</a:t>
            </a:r>
            <a:endParaRPr sz="900"/>
          </a:p>
        </p:txBody>
      </p:sp>
      <p:pic>
        <p:nvPicPr>
          <p:cNvPr id="72" name="Picture 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6553" y="1554480"/>
            <a:ext cx="4096512" cy="2834640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1  ·  BSCM FOODS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240 г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2" name="Picture 7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$0,995 / 44,79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$0,892 / 40,15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$1,001 / 45,03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$0,928 / 41,77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9" name="Picture 7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6" name="Picture 7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7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$0,750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$1,280 / 57,59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$1,147 / 51,63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$1,287 / 57,89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$1,193 / 53,70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Фото упаковки — з каталогу BSCM Foods; для Japanese Style Rice постачальник фото не надав.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71500" y="276225"/>
            <a:ext cx="11049000" cy="2381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71500" y="552450"/>
            <a:ext cx="11049000" cy="552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Фасування під потреби нашого ринку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104900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Поряд зі стандартними 240 г — спеціальне виробництво потрібної нам ваги.</a:t>
            </a:r>
            <a:endParaRPr sz="125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noGrp="1"/>
          </p:cNvSpPr>
          <p:nvPr/>
        </p:nvSpPr>
        <p:spPr>
          <a:xfrm>
            <a:off x="5905500" y="1809750"/>
            <a:ext cx="571500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СПЕЦІАЛЬНЕ ВИРОБНИЦТВО</a:t>
            </a:r>
            <a:endParaRPr sz="17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noGrp="1"/>
          </p:cNvSpPr>
          <p:nvPr/>
        </p:nvSpPr>
        <p:spPr>
          <a:xfrm>
            <a:off x="5857875" y="2286000"/>
            <a:ext cx="5762625" cy="90487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52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52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150 г  /  200 г</a:t>
            </a:r>
            <a:endParaRPr sz="10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noGrp="1"/>
          </p:cNvSpPr>
          <p:nvPr/>
        </p:nvSpPr>
        <p:spPr>
          <a:xfrm>
            <a:off x="5905500" y="3333750"/>
            <a:ext cx="5715000" cy="5429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30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та інші розміри</a:t>
            </a:r>
            <a:endParaRPr sz="10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noGrp="1"/>
          </p:cNvSpPr>
          <p:nvPr/>
        </p:nvSpPr>
        <p:spPr>
          <a:xfrm>
            <a:off x="5924550" y="3886200"/>
            <a:ext cx="5695950" cy="33337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165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 погодженням із виробником</a:t>
            </a:r>
            <a:endParaRPr sz="1050"/>
          </a:p>
        </p:txBody>
      </p:sp>
      <p:pic>
        <p:nvPicPr>
          <p:cNvPr id="9" name="Picture 76">
            <a:extLst>
              <a:ext uri="{FF2B5EF4-FFF2-40B4-BE49-F238E27FC236}">
                <a16:creationId xmlns:a16="http://schemas.microsoft.com/office/drawing/2014/main" id="{56818BA5-2DCA-2A8F-62CF-8E43949830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630" y="2095500"/>
            <a:ext cx="3711223" cy="2870399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150 г — собівартість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Спеціальне виробництво · завантаження навалом, FOB Bangkok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2" name="Picture 7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$0,472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$0,843 / 37,93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$0,739 / 33,25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$0,850 / 38,24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$0,778 / 34,99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9" name="Picture 7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$0,981 / 44,15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$0,860 / 38,70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$0,989 / 44,51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$0,905 / 40,73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6" name="Picture 7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$0,981 / 44,15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$0,860 / 38,70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$0,989 / 44,51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$0,905 / 40,73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7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$0,600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$1,070 / 48,16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$0,938 / 42,22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$1,079 / 48,55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$0,987 / 44,43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Self_Cost_Rice_Brand..xlsx, аркуш «BSCMFoods - Навалом (150г)Pouch».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200 г — собівартість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Спеціальне виробництво · завантаження навалом, FOB Bangkok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2" name="Picture 7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$0,953 / 42,87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$0,846 / 38,07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$0,960 / 43,18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$0,886 / 39,86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9" name="Picture 7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$0,620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$1,074 / 48,32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$0,954 / 42,92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$1,082 / 48,68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$0,998 / 44,93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6" name="Picture 7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$0,620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$1,074 / 48,32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$0,954 / 42,92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$1,082 / 48,68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$0,998 / 44,93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7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$0,680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$1,178 / 53,00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$1,046 / 47,07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$1,186 / 53,39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$1,095 / 49,28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Self_Cost_Rice_Brand..xlsx, аркуш «BSCMFoods - Навалом (200г)Pouch».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651695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НОВЕ ВИРОБНИЦТВО · BSCM FOODS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8761682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12 × 150 г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noGrp="1"/>
          </p:cNvSpPr>
          <p:nvPr/>
        </p:nvSpPr>
        <p:spPr>
          <a:xfrm>
            <a:off x="581410" y="1115568"/>
            <a:ext cx="876168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Single Cup with Sleeve Box · W/O Oil · 12 шт. у коробі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noGrp="1"/>
          </p:cNvSpPr>
          <p:nvPr/>
        </p:nvSpPr>
        <p:spPr>
          <a:xfrm>
            <a:off x="711749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noGrp="1"/>
          </p:cNvSpPr>
          <p:nvPr/>
        </p:nvSpPr>
        <p:spPr>
          <a:xfrm>
            <a:off x="711749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noGrp="1"/>
          </p:cNvSpPr>
          <p:nvPr/>
        </p:nvSpPr>
        <p:spPr>
          <a:xfrm>
            <a:off x="711749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noGrp="1"/>
          </p:cNvSpPr>
          <p:nvPr/>
        </p:nvSpPr>
        <p:spPr>
          <a:xfrm>
            <a:off x="711749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Jasmine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noGrp="1"/>
          </p:cNvSpPr>
          <p:nvPr/>
        </p:nvSpPr>
        <p:spPr>
          <a:xfrm>
            <a:off x="711749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noGrp="1"/>
          </p:cNvSpPr>
          <p:nvPr/>
        </p:nvSpPr>
        <p:spPr>
          <a:xfrm>
            <a:off x="711749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noGrp="1"/>
          </p:cNvSpPr>
          <p:nvPr/>
        </p:nvSpPr>
        <p:spPr>
          <a:xfrm>
            <a:off x="798642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noGrp="1"/>
          </p:cNvSpPr>
          <p:nvPr/>
        </p:nvSpPr>
        <p:spPr>
          <a:xfrm>
            <a:off x="798642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noGrp="1"/>
          </p:cNvSpPr>
          <p:nvPr/>
        </p:nvSpPr>
        <p:spPr>
          <a:xfrm>
            <a:off x="1305516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noGrp="1"/>
          </p:cNvSpPr>
          <p:nvPr/>
        </p:nvSpPr>
        <p:spPr>
          <a:xfrm>
            <a:off x="798642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noGrp="1"/>
          </p:cNvSpPr>
          <p:nvPr/>
        </p:nvSpPr>
        <p:spPr>
          <a:xfrm>
            <a:off x="1305516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$0,777 / 34,95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noGrp="1"/>
          </p:cNvSpPr>
          <p:nvPr/>
        </p:nvSpPr>
        <p:spPr>
          <a:xfrm>
            <a:off x="798642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noGrp="1"/>
          </p:cNvSpPr>
          <p:nvPr/>
        </p:nvSpPr>
        <p:spPr>
          <a:xfrm>
            <a:off x="1305516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noGrp="1"/>
          </p:cNvSpPr>
          <p:nvPr/>
        </p:nvSpPr>
        <p:spPr>
          <a:xfrm>
            <a:off x="798642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noGrp="1"/>
          </p:cNvSpPr>
          <p:nvPr/>
        </p:nvSpPr>
        <p:spPr>
          <a:xfrm>
            <a:off x="1305516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noGrp="1"/>
          </p:cNvSpPr>
          <p:nvPr/>
        </p:nvSpPr>
        <p:spPr>
          <a:xfrm>
            <a:off x="2820010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noGrp="1"/>
          </p:cNvSpPr>
          <p:nvPr/>
        </p:nvSpPr>
        <p:spPr>
          <a:xfrm>
            <a:off x="2964831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noGrp="1"/>
          </p:cNvSpPr>
          <p:nvPr/>
        </p:nvSpPr>
        <p:spPr>
          <a:xfrm>
            <a:off x="2964831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noGrp="1"/>
          </p:cNvSpPr>
          <p:nvPr/>
        </p:nvSpPr>
        <p:spPr>
          <a:xfrm>
            <a:off x="2964831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noGrp="1"/>
          </p:cNvSpPr>
          <p:nvPr/>
        </p:nvSpPr>
        <p:spPr>
          <a:xfrm>
            <a:off x="2964831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Brown Jasmine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noGrp="1"/>
          </p:cNvSpPr>
          <p:nvPr/>
        </p:nvSpPr>
        <p:spPr>
          <a:xfrm>
            <a:off x="2964831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noGrp="1"/>
          </p:cNvSpPr>
          <p:nvPr/>
        </p:nvSpPr>
        <p:spPr>
          <a:xfrm>
            <a:off x="2964831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noGrp="1"/>
          </p:cNvSpPr>
          <p:nvPr/>
        </p:nvSpPr>
        <p:spPr>
          <a:xfrm>
            <a:off x="3051724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noGrp="1"/>
          </p:cNvSpPr>
          <p:nvPr/>
        </p:nvSpPr>
        <p:spPr>
          <a:xfrm>
            <a:off x="3051724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noGrp="1"/>
          </p:cNvSpPr>
          <p:nvPr/>
        </p:nvSpPr>
        <p:spPr>
          <a:xfrm>
            <a:off x="3558598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noGrp="1"/>
          </p:cNvSpPr>
          <p:nvPr/>
        </p:nvSpPr>
        <p:spPr>
          <a:xfrm>
            <a:off x="3051724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noGrp="1"/>
          </p:cNvSpPr>
          <p:nvPr/>
        </p:nvSpPr>
        <p:spPr>
          <a:xfrm>
            <a:off x="3558598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$0,777 / 34,95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noGrp="1"/>
          </p:cNvSpPr>
          <p:nvPr/>
        </p:nvSpPr>
        <p:spPr>
          <a:xfrm>
            <a:off x="3051724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noGrp="1"/>
          </p:cNvSpPr>
          <p:nvPr/>
        </p:nvSpPr>
        <p:spPr>
          <a:xfrm>
            <a:off x="3558598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noGrp="1"/>
          </p:cNvSpPr>
          <p:nvPr/>
        </p:nvSpPr>
        <p:spPr>
          <a:xfrm>
            <a:off x="3051724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noGrp="1"/>
          </p:cNvSpPr>
          <p:nvPr/>
        </p:nvSpPr>
        <p:spPr>
          <a:xfrm>
            <a:off x="3558598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noGrp="1"/>
          </p:cNvSpPr>
          <p:nvPr/>
        </p:nvSpPr>
        <p:spPr>
          <a:xfrm>
            <a:off x="5073091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6">
            <a:extLst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noGrp="1"/>
          </p:cNvSpPr>
          <p:nvPr/>
        </p:nvSpPr>
        <p:spPr>
          <a:xfrm>
            <a:off x="5217912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noGrp="1"/>
          </p:cNvSpPr>
          <p:nvPr/>
        </p:nvSpPr>
        <p:spPr>
          <a:xfrm>
            <a:off x="5217912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noGrp="1"/>
          </p:cNvSpPr>
          <p:nvPr/>
        </p:nvSpPr>
        <p:spPr>
          <a:xfrm>
            <a:off x="5217912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noGrp="1"/>
          </p:cNvSpPr>
          <p:nvPr/>
        </p:nvSpPr>
        <p:spPr>
          <a:xfrm>
            <a:off x="5217912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Red Jasmine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noGrp="1"/>
          </p:cNvSpPr>
          <p:nvPr/>
        </p:nvSpPr>
        <p:spPr>
          <a:xfrm>
            <a:off x="5217912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noGrp="1"/>
          </p:cNvSpPr>
          <p:nvPr/>
        </p:nvSpPr>
        <p:spPr>
          <a:xfrm>
            <a:off x="5217912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noGrp="1"/>
          </p:cNvSpPr>
          <p:nvPr/>
        </p:nvSpPr>
        <p:spPr>
          <a:xfrm>
            <a:off x="5304805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noGrp="1"/>
          </p:cNvSpPr>
          <p:nvPr/>
        </p:nvSpPr>
        <p:spPr>
          <a:xfrm>
            <a:off x="5304805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noGrp="1"/>
          </p:cNvSpPr>
          <p:nvPr/>
        </p:nvSpPr>
        <p:spPr>
          <a:xfrm>
            <a:off x="5811679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noGrp="1"/>
          </p:cNvSpPr>
          <p:nvPr/>
        </p:nvSpPr>
        <p:spPr>
          <a:xfrm>
            <a:off x="5304805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noGrp="1"/>
          </p:cNvSpPr>
          <p:nvPr/>
        </p:nvSpPr>
        <p:spPr>
          <a:xfrm>
            <a:off x="5811679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noGrp="1"/>
          </p:cNvSpPr>
          <p:nvPr/>
        </p:nvSpPr>
        <p:spPr>
          <a:xfrm>
            <a:off x="5304805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noGrp="1"/>
          </p:cNvSpPr>
          <p:nvPr/>
        </p:nvSpPr>
        <p:spPr>
          <a:xfrm>
            <a:off x="5811679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54" name="Text 49">
            <a:extLst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noGrp="1"/>
          </p:cNvSpPr>
          <p:nvPr/>
        </p:nvSpPr>
        <p:spPr>
          <a:xfrm>
            <a:off x="5304805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noGrp="1"/>
          </p:cNvSpPr>
          <p:nvPr/>
        </p:nvSpPr>
        <p:spPr>
          <a:xfrm>
            <a:off x="5811679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7326173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4" name="Shape 51">
            <a:extLst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noGrp="1"/>
          </p:cNvSpPr>
          <p:nvPr/>
        </p:nvSpPr>
        <p:spPr>
          <a:xfrm>
            <a:off x="9579254" y="1536192"/>
            <a:ext cx="214335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8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7470994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50" name="Picture 15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4076" y="1700784"/>
            <a:ext cx="1853711" cy="1810512"/>
          </a:xfrm>
          <a:prstGeom prst="roundRect">
            <a:avLst/>
          </a:prstGeom>
        </p:spPr>
      </p:pic>
      <p:sp>
        <p:nvSpPr>
          <p:cNvPr id="76" name="Shape 52">
            <a:extLst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noGrp="1"/>
          </p:cNvSpPr>
          <p:nvPr/>
        </p:nvSpPr>
        <p:spPr>
          <a:xfrm>
            <a:off x="9724076" y="1700784"/>
            <a:ext cx="1853711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7470994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Shape 53">
            <a:extLst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noGrp="1"/>
          </p:cNvSpPr>
          <p:nvPr/>
        </p:nvSpPr>
        <p:spPr>
          <a:xfrm>
            <a:off x="9724076" y="3611880"/>
            <a:ext cx="1122364" cy="237744"/>
          </a:xfrm>
          <a:prstGeom prst="roundRect">
            <a:avLst>
              <a:gd name="adj" fmla="val 23077"/>
            </a:avLst>
          </a:prstGeom>
          <a:solidFill>
            <a:srgbClr val="B0762A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7470994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78" name="Text 54">
            <a:extLst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noGrp="1"/>
          </p:cNvSpPr>
          <p:nvPr/>
        </p:nvSpPr>
        <p:spPr>
          <a:xfrm>
            <a:off x="9724076" y="3621024"/>
            <a:ext cx="1122364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7470994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Rice Berry</a:t>
            </a:r>
            <a:endParaRPr sz="1450"/>
          </a:p>
        </p:txBody>
      </p:sp>
      <p:sp>
        <p:nvSpPr>
          <p:cNvPr id="79" name="Text 55">
            <a:extLst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noGrp="1"/>
          </p:cNvSpPr>
          <p:nvPr/>
        </p:nvSpPr>
        <p:spPr>
          <a:xfrm>
            <a:off x="9724076" y="3931920"/>
            <a:ext cx="185371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Brown Jasmine Rice with Red Quinoa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7470994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80" name="Text 56">
            <a:extLst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noGrp="1"/>
          </p:cNvSpPr>
          <p:nvPr/>
        </p:nvSpPr>
        <p:spPr>
          <a:xfrm>
            <a:off x="9724076" y="4498848"/>
            <a:ext cx="1853711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7470994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Shape 57">
            <a:extLst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noGrp="1"/>
          </p:cNvSpPr>
          <p:nvPr/>
        </p:nvSpPr>
        <p:spPr>
          <a:xfrm>
            <a:off x="9724076" y="4791456"/>
            <a:ext cx="1853711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7557887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82" name="Text 58">
            <a:extLst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noGrp="1"/>
          </p:cNvSpPr>
          <p:nvPr/>
        </p:nvSpPr>
        <p:spPr>
          <a:xfrm>
            <a:off x="9810968" y="4855464"/>
            <a:ext cx="1701649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7557887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83" name="Text 59">
            <a:extLst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noGrp="1"/>
          </p:cNvSpPr>
          <p:nvPr/>
        </p:nvSpPr>
        <p:spPr>
          <a:xfrm>
            <a:off x="9810968" y="505663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8064761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84" name="Text 60">
            <a:extLst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noGrp="1"/>
          </p:cNvSpPr>
          <p:nvPr/>
        </p:nvSpPr>
        <p:spPr>
          <a:xfrm>
            <a:off x="10317842" y="505663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7557887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85" name="Text 61">
            <a:extLst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noGrp="1"/>
          </p:cNvSpPr>
          <p:nvPr/>
        </p:nvSpPr>
        <p:spPr>
          <a:xfrm>
            <a:off x="9810968" y="526237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8064761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86" name="Text 62">
            <a:extLst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noGrp="1"/>
          </p:cNvSpPr>
          <p:nvPr/>
        </p:nvSpPr>
        <p:spPr>
          <a:xfrm>
            <a:off x="10317842" y="526237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7557887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87" name="Text 63">
            <a:extLst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noGrp="1"/>
          </p:cNvSpPr>
          <p:nvPr/>
        </p:nvSpPr>
        <p:spPr>
          <a:xfrm>
            <a:off x="9810968" y="546811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8064761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88" name="Text 64">
            <a:extLst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noGrp="1"/>
          </p:cNvSpPr>
          <p:nvPr/>
        </p:nvSpPr>
        <p:spPr>
          <a:xfrm>
            <a:off x="10317842" y="546811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7557887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89" name="Text 65">
            <a:extLst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noGrp="1"/>
          </p:cNvSpPr>
          <p:nvPr/>
        </p:nvSpPr>
        <p:spPr>
          <a:xfrm>
            <a:off x="9810968" y="5673852"/>
            <a:ext cx="521356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8064761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90" name="Text 66">
            <a:extLst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noGrp="1"/>
          </p:cNvSpPr>
          <p:nvPr/>
        </p:nvSpPr>
        <p:spPr>
          <a:xfrm>
            <a:off x="10317842" y="5673852"/>
            <a:ext cx="1194775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73" name="Text 67">
            <a:extLst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876168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Products.pdf, Self Cost Rice Brand.xlsx (BSCM(Bags+Cups) - Навалом, 2026-09 revision) · курс 45,00 UAH/USD.</a:t>
            </a:r>
            <a:endParaRPr sz="900"/>
          </a:p>
        </p:txBody>
      </p:sp>
      <p:pic>
        <p:nvPicPr>
          <p:cNvPr id="181" name="Рисунок 149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711749" y="1700784"/>
            <a:ext cx="1853711" cy="1810512"/>
          </a:xfrm>
          <a:prstGeom prst="roundRect">
            <a:avLst/>
          </a:prstGeom>
        </p:spPr>
      </p:pic>
      <p:pic>
        <p:nvPicPr>
          <p:cNvPr id="182" name="Рисунок 150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2964831" y="1700784"/>
            <a:ext cx="1853711" cy="1810512"/>
          </a:xfrm>
          <a:prstGeom prst="roundRect">
            <a:avLst/>
          </a:prstGeom>
        </p:spPr>
      </p:pic>
      <p:pic>
        <p:nvPicPr>
          <p:cNvPr id="183" name="Рисунок 151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217912" y="1700784"/>
            <a:ext cx="1853711" cy="1810512"/>
          </a:xfrm>
          <a:prstGeom prst="roundRect">
            <a:avLst/>
          </a:prstGeom>
        </p:spPr>
      </p:pic>
      <p:pic>
        <p:nvPicPr>
          <p:cNvPr id="184" name="Рисунок 15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7470994" y="1700784"/>
            <a:ext cx="1853711" cy="1810512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503426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SINGLE CUP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— вигляд упаковки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5 позицій · 150 г · sleeve-бокс · фото з каталогу постачальника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5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SKU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позицій у лінійці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150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г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нетто в чашці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шт.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у коробі, sleeve-бокс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Products.pdf. Фото — офіційні знімки упаковки від BSCM Foods; ракурси відповідають оригінальному прайс-каталогу.</a:t>
            </a:r>
            <a:endParaRPr sz="9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47E2050-9F89-4CF2-8200-057440EE0702}"/>
              </a:ext>
            </a:extLst>
          </p:cNvPr>
          <p:cNvSpPr>
            <a:spLocks noGrp="1"/>
          </p:cNvSpPr>
          <p:nvPr/>
        </p:nvSpPr>
        <p:spPr>
          <a:xfrm>
            <a:off x="841248" y="1783080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Jasmine Rice</a:t>
            </a:r>
          </a:p>
        </p:txBody>
      </p:sp>
      <p:pic>
        <p:nvPicPr>
          <p:cNvPr id="90" name="Picture 3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0088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1" name="Picture 3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5112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2" name="Picture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0136" y="1783080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9CFE6B9E-0FB3-4922-AF3D-A4F8DDC7D1F2}"/>
              </a:ext>
            </a:extLst>
          </p:cNvPr>
          <p:cNvSpPr>
            <a:spLocks noGrp="1"/>
          </p:cNvSpPr>
          <p:nvPr/>
        </p:nvSpPr>
        <p:spPr>
          <a:xfrm>
            <a:off x="841248" y="2642616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Brown Jasmine Rice</a:t>
            </a:r>
          </a:p>
        </p:txBody>
      </p:sp>
      <p:pic>
        <p:nvPicPr>
          <p:cNvPr id="94" name="Picture 4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0088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5" name="Picture 4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5112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6" name="Picture 4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0136" y="2642616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0F62E096-7B61-4D3A-B947-80BCA2AABE84}"/>
              </a:ext>
            </a:extLst>
          </p:cNvPr>
          <p:cNvSpPr>
            <a:spLocks noGrp="1"/>
          </p:cNvSpPr>
          <p:nvPr/>
        </p:nvSpPr>
        <p:spPr>
          <a:xfrm>
            <a:off x="841248" y="3502152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Red Jasmine Rice</a:t>
            </a:r>
          </a:p>
        </p:txBody>
      </p:sp>
      <p:pic>
        <p:nvPicPr>
          <p:cNvPr id="98" name="Picture 4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90088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99" name="Picture 4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25112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0" name="Picture 4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60136" y="3502152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6AC89C67-252F-4CAD-904D-59AF8AF19A13}"/>
              </a:ext>
            </a:extLst>
          </p:cNvPr>
          <p:cNvSpPr>
            <a:spLocks noGrp="1"/>
          </p:cNvSpPr>
          <p:nvPr/>
        </p:nvSpPr>
        <p:spPr>
          <a:xfrm>
            <a:off x="841248" y="4361688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Rice Berry</a:t>
            </a:r>
          </a:p>
        </p:txBody>
      </p:sp>
      <p:pic>
        <p:nvPicPr>
          <p:cNvPr id="102" name="Picture 5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990088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3" name="Picture 51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25112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4" name="Picture 52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660136" y="4361688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9FD0070C-BC6F-4CA1-A9D3-3184325616D1}"/>
              </a:ext>
            </a:extLst>
          </p:cNvPr>
          <p:cNvSpPr>
            <a:spLocks noGrp="1"/>
          </p:cNvSpPr>
          <p:nvPr/>
        </p:nvSpPr>
        <p:spPr>
          <a:xfrm>
            <a:off x="841248" y="5221224"/>
            <a:ext cx="2011680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Brown Jasmine Rice with Red Quinoa</a:t>
            </a:r>
          </a:p>
        </p:txBody>
      </p:sp>
      <p:pic>
        <p:nvPicPr>
          <p:cNvPr id="106" name="Picture 5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990088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7" name="Picture 55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25112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8" name="Picture 56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660136" y="5221224"/>
            <a:ext cx="1225296" cy="740664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09" name="Picture 57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34656" y="1686581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10" name="Picture 58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651492" y="1686581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11" name="Picture 59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534656" y="3022092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112" name="Picture 60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651492" y="3022092"/>
            <a:ext cx="1979676" cy="1198351"/>
          </a:xfrm>
          <a:prstGeom prst="roundRect">
            <a:avLst/>
          </a:prstGeom>
          <a:ln w="9525">
            <a:solidFill>
              <a:srgbClr val="C89C40"/>
            </a:solidFill>
          </a:ln>
        </p:spPr>
      </p:pic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71500" y="276225"/>
            <a:ext cx="11049000" cy="2381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  ·  PRIVATE LABEL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71500" y="552450"/>
            <a:ext cx="11049000" cy="552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формат під нашу марку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104900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Готовий рис у пластикових стаканчиках · Private Label · приклад — мережа супермаркетів SPAR</a:t>
            </a:r>
            <a:endParaRPr sz="125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noGrp="1"/>
          </p:cNvSpPr>
          <p:nvPr/>
        </p:nvSpPr>
        <p:spPr>
          <a:xfrm>
            <a:off x="6191250" y="1743075"/>
            <a:ext cx="542925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СПОЖИВЧА УПАКОВКА</a:t>
            </a:r>
            <a:endParaRPr sz="17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noGrp="1"/>
          </p:cNvSpPr>
          <p:nvPr/>
        </p:nvSpPr>
        <p:spPr>
          <a:xfrm>
            <a:off x="6143625" y="2238375"/>
            <a:ext cx="5476875" cy="8096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480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480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 × 125 г</a:t>
            </a:r>
            <a:endParaRPr sz="10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noGrp="1"/>
          </p:cNvSpPr>
          <p:nvPr/>
        </p:nvSpPr>
        <p:spPr>
          <a:xfrm>
            <a:off x="6191250" y="3105150"/>
            <a:ext cx="5429250" cy="3619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Два стаканчики у sleeve-боксі</a:t>
            </a:r>
            <a:endParaRPr sz="10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noGrp="1"/>
          </p:cNvSpPr>
          <p:nvPr/>
        </p:nvSpPr>
        <p:spPr>
          <a:xfrm>
            <a:off x="6191250" y="3524250"/>
            <a:ext cx="5429250" cy="3143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201168" indent="-201168" algn="l">
              <a:buClr>
                <a:srgbClr val="F5CE76"/>
              </a:buClr>
              <a:buFont typeface="Arial"/>
              <a:buNone/>
              <a:defRPr sz="17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250 г готового рису</a:t>
            </a:r>
            <a:endParaRPr sz="105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196FC4C-6289-4874-9259-944555FAC5FA}"/>
              </a:ext>
            </a:extLst>
          </p:cNvPr>
          <p:cNvSpPr>
            <a:spLocks noGrp="1"/>
          </p:cNvSpPr>
          <p:nvPr/>
        </p:nvSpPr>
        <p:spPr>
          <a:xfrm>
            <a:off x="6364082" y="4364601"/>
            <a:ext cx="5429250" cy="914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buNone/>
              <a:def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800" b="1" i="0" dirty="0" err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Тільки</a:t>
            </a:r>
            <a:r>
              <a:rPr sz="1800" b="1" i="0" dirty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 Private Label</a:t>
            </a:r>
          </a:p>
          <a:p>
            <a:pPr algn="l">
              <a:buNone/>
              <a:def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Власного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бренду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цьому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форматі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немає</a:t>
            </a:r>
            <a:r>
              <a:rPr sz="1500" b="0" i="0" dirty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buNone/>
            </a:pPr>
            <a:r>
              <a:rPr sz="1500" b="0" dirty="0" err="1">
                <a:solidFill>
                  <a:srgbClr val="FCF9F0"/>
                </a:solidFill>
                <a:latin typeface="Calibri"/>
              </a:rPr>
              <a:t>Тільки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FCF9F0"/>
                </a:solidFill>
                <a:latin typeface="Calibri"/>
              </a:rPr>
              <a:t>під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FCF9F0"/>
                </a:solidFill>
                <a:latin typeface="Calibri"/>
              </a:rPr>
              <a:t>торговою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FCF9F0"/>
                </a:solidFill>
                <a:latin typeface="Calibri"/>
              </a:rPr>
              <a:t>маркою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FCF9F0"/>
                </a:solidFill>
                <a:latin typeface="Calibri"/>
              </a:rPr>
              <a:t>замовника</a:t>
            </a:r>
            <a:r>
              <a:rPr sz="1500" b="0" dirty="0">
                <a:solidFill>
                  <a:srgbClr val="FCF9F0"/>
                </a:solidFill>
                <a:latin typeface="Calibri"/>
              </a:rPr>
              <a:t>.</a:t>
            </a:r>
          </a:p>
        </p:txBody>
      </p:sp>
      <p:pic>
        <p:nvPicPr>
          <p:cNvPr id="76" name="Рисунок 7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71500" y="2105025"/>
            <a:ext cx="4953000" cy="3714750"/>
          </a:xfrm>
          <a:prstGeom prst="roundRect">
            <a:avLst>
              <a:gd name="adj" fmla="val 3590"/>
            </a:avLst>
          </a:prstGeom>
          <a:ln w="9525">
            <a:solidFill>
              <a:srgbClr val="C89C40"/>
            </a:solidFill>
          </a:ln>
        </p:spPr>
      </p:pic>
      <p:sp>
        <p:nvSpPr>
          <p:cNvPr id="77" name="Rounded Rectangle 76"/>
          <p:cNvSpPr/>
          <p:nvPr/>
        </p:nvSpPr>
        <p:spPr>
          <a:xfrm>
            <a:off x="571500" y="5934456"/>
            <a:ext cx="4953305" cy="722376"/>
          </a:xfrm>
          <a:prstGeom prst="roundRect">
            <a:avLst>
              <a:gd name="adj" fmla="val 8000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929030" y="5905353"/>
            <a:ext cx="1188720" cy="72237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600" b="1" spc="100" dirty="0">
                <a:solidFill>
                  <a:srgbClr val="F5CE76"/>
                </a:solidFill>
                <a:latin typeface="Calibri"/>
              </a:rPr>
              <a:t>SPAR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103120" y="6071616"/>
            <a:ext cx="14630" cy="448056"/>
          </a:xfrm>
          <a:prstGeom prst="rect">
            <a:avLst/>
          </a:prstGeom>
          <a:solidFill>
            <a:srgbClr val="C89C40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2304288" y="6099436"/>
            <a:ext cx="2107821" cy="3924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50" b="1" dirty="0" err="1">
                <a:solidFill>
                  <a:srgbClr val="FCF9F0"/>
                </a:solidFill>
                <a:latin typeface="Calibri"/>
              </a:rPr>
              <a:t>Виготовлено</a:t>
            </a:r>
            <a:r>
              <a:rPr sz="1250" b="1" dirty="0">
                <a:solidFill>
                  <a:srgbClr val="FCF9F0"/>
                </a:solidFill>
                <a:latin typeface="Calibri"/>
              </a:rPr>
              <a:t> </a:t>
            </a:r>
            <a:r>
              <a:rPr sz="1250" b="1" dirty="0" err="1">
                <a:solidFill>
                  <a:srgbClr val="FCF9F0"/>
                </a:solidFill>
                <a:latin typeface="Calibri"/>
              </a:rPr>
              <a:t>для</a:t>
            </a:r>
            <a:r>
              <a:rPr sz="1250" b="1" dirty="0">
                <a:solidFill>
                  <a:srgbClr val="FCF9F0"/>
                </a:solidFill>
                <a:latin typeface="Calibri"/>
              </a:rPr>
              <a:t> </a:t>
            </a:r>
            <a:r>
              <a:rPr sz="1250" b="1" dirty="0" err="1">
                <a:solidFill>
                  <a:srgbClr val="FCF9F0"/>
                </a:solidFill>
                <a:latin typeface="Calibri"/>
              </a:rPr>
              <a:t>мережі</a:t>
            </a:r>
            <a:r>
              <a:rPr sz="1250" b="1" dirty="0">
                <a:solidFill>
                  <a:srgbClr val="FCF9F0"/>
                </a:solidFill>
                <a:latin typeface="Calibri"/>
              </a:rPr>
              <a:t> SPAR</a:t>
            </a:r>
            <a:endParaRPr lang="uk-UA" sz="1250" b="1" dirty="0">
              <a:solidFill>
                <a:srgbClr val="FCF9F0"/>
              </a:solidFill>
              <a:latin typeface="Calibri"/>
            </a:endParaRPr>
          </a:p>
          <a:p>
            <a:pPr algn="l">
              <a:spcBef>
                <a:spcPts val="300"/>
              </a:spcBef>
            </a:pPr>
            <a:r>
              <a:rPr lang="ru-UA" sz="1050" dirty="0">
                <a:solidFill>
                  <a:srgbClr val="D2E4CE"/>
                </a:solidFill>
                <a:latin typeface="Calibri"/>
              </a:rPr>
              <a:t>Р</a:t>
            </a:r>
            <a:r>
              <a:rPr lang="uk-UA" sz="1050" b="0" dirty="0" err="1">
                <a:solidFill>
                  <a:srgbClr val="D2E4CE"/>
                </a:solidFill>
                <a:latin typeface="Calibri"/>
              </a:rPr>
              <a:t>еальний</a:t>
            </a:r>
            <a:r>
              <a:rPr lang="uk-UA" sz="1050" b="0" dirty="0">
                <a:solidFill>
                  <a:srgbClr val="D2E4CE"/>
                </a:solidFill>
                <a:latin typeface="Calibri"/>
              </a:rPr>
              <a:t> кейс </a:t>
            </a:r>
            <a:r>
              <a:rPr lang="en-US" sz="1050" b="0" dirty="0">
                <a:solidFill>
                  <a:srgbClr val="D2E4CE"/>
                </a:solidFill>
                <a:latin typeface="Calibri"/>
              </a:rPr>
              <a:t>Private Label</a:t>
            </a:r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71500" y="276225"/>
            <a:ext cx="11049000" cy="2381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  ·  7 SKU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71500" y="552450"/>
            <a:ext cx="11049000" cy="552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асортимент і собівартість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71500" y="1162050"/>
            <a:ext cx="1104900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 dirty="0" err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</a:t>
            </a:r>
            <a:r>
              <a:rPr sz="1425" b="0" i="0" dirty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25" b="0" i="0" dirty="0" err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споживчу</a:t>
            </a:r>
            <a:r>
              <a:rPr sz="1425" b="0" i="0" dirty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425" b="0" i="0" dirty="0" err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упаковку</a:t>
            </a:r>
            <a:r>
              <a:rPr sz="1425" b="0" i="0" dirty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 2 × 125 г ·</a:t>
            </a:r>
            <a:endParaRPr sz="1250" dirty="0"/>
          </a:p>
        </p:txBody>
      </p:sp>
      <p:sp>
        <p:nvSpPr>
          <p:cNvPr id="63" name="Rounded Rectangle 62"/>
          <p:cNvSpPr/>
          <p:nvPr/>
        </p:nvSpPr>
        <p:spPr>
          <a:xfrm>
            <a:off x="571500" y="1885950"/>
            <a:ext cx="11048970" cy="3676620"/>
          </a:xfrm>
          <a:prstGeom prst="roundRect">
            <a:avLst>
              <a:gd name="adj" fmla="val 2000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91540" y="2123694"/>
            <a:ext cx="379476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000" b="1" spc="75">
                <a:solidFill>
                  <a:srgbClr val="F5CE76"/>
                </a:solidFill>
                <a:latin typeface="Calibri"/>
              </a:rPr>
              <a:t>READY RICE / SKU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86300" y="2123694"/>
            <a:ext cx="1653532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20′ FCL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39832" y="2123694"/>
            <a:ext cx="1653532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40′ FCL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93365" y="2123694"/>
            <a:ext cx="1653532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LCL 17 М³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46897" y="2123694"/>
            <a:ext cx="1653532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LCL 34 М³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1540" y="2452878"/>
            <a:ext cx="10408890" cy="12802"/>
          </a:xfrm>
          <a:prstGeom prst="rect">
            <a:avLst/>
          </a:prstGeom>
          <a:solidFill>
            <a:srgbClr val="C89C4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91540" y="2580894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· без олії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86300" y="2580894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39832" y="2580894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993365" y="2580894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46897" y="2580894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91540" y="2978109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891540" y="2978109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· з олією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86300" y="2978109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39832" y="2978109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993365" y="2978109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46897" y="2978109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91540" y="3375325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891540" y="3375325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(Pathum) · з олією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686300" y="337532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$1,480 / 66,58 ₴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39832" y="337532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$1,303 / 58,65 ₴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93365" y="337532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$1,485 / 66,82 ₴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646897" y="337532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$1,362 / 61,31 ₴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91540" y="3772540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891540" y="3772540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Brown Jasmine Rice · з олією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86300" y="3772540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39832" y="3772540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993365" y="3772540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75,14 ₴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646897" y="3772540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68,94 ₴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91540" y="4169755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891540" y="4169755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Brown Rice · з олією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86300" y="416975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39832" y="416975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93365" y="416975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646897" y="4169755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91540" y="4566971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891540" y="4566971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Basmati Rice* · з олією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686300" y="4566971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$1,776 / 79,90 ₴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339832" y="4566971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$1,564 / 70,38 ₴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993365" y="4566971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$1,782 / 80,19 ₴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646897" y="4566971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$1,635 / 73,57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91540" y="4964186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91540" y="4964186"/>
            <a:ext cx="3794760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Long Grain Rice · з олією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686300" y="4964186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$1,391 / 62,59 ₴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39832" y="4964186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$1,225 / 55,13 ₴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993365" y="4964186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$1,396 / 62,82 ₴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646897" y="4964186"/>
            <a:ext cx="1653532" cy="39721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$1,281 / 57,63 ₴</a:t>
            </a:r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noGrp="1"/>
          </p:cNvSpPr>
          <p:nvPr/>
        </p:nvSpPr>
        <p:spPr>
          <a:xfrm>
            <a:off x="571500" y="276225"/>
            <a:ext cx="9525000" cy="23812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noGrp="1"/>
          </p:cNvSpPr>
          <p:nvPr/>
        </p:nvSpPr>
        <p:spPr>
          <a:xfrm>
            <a:off x="571500" y="552450"/>
            <a:ext cx="11049000" cy="552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31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як виглядає упаковка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noGrp="1"/>
          </p:cNvSpPr>
          <p:nvPr/>
        </p:nvSpPr>
        <p:spPr>
          <a:xfrm>
            <a:off x="571500" y="1114425"/>
            <a:ext cx="1104900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35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Два стаканчики по 125 г у картонній обгортці · виробництво під Private Label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noGrp="1"/>
          </p:cNvSpPr>
          <p:nvPr/>
        </p:nvSpPr>
        <p:spPr>
          <a:xfrm>
            <a:off x="571500" y="1695450"/>
            <a:ext cx="11049000" cy="3400425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14288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noGrp="1"/>
          </p:cNvSpPr>
          <p:nvPr/>
        </p:nvSpPr>
        <p:spPr>
          <a:xfrm>
            <a:off x="571500" y="5334000"/>
            <a:ext cx="32385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 × 125 г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noGrp="1"/>
          </p:cNvSpPr>
          <p:nvPr/>
        </p:nvSpPr>
        <p:spPr>
          <a:xfrm>
            <a:off x="571500" y="5829300"/>
            <a:ext cx="333375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250 г у споживчій упаковці</a:t>
            </a:r>
            <a:endParaRPr sz="105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noGrp="1"/>
          </p:cNvSpPr>
          <p:nvPr/>
        </p:nvSpPr>
        <p:spPr>
          <a:xfrm>
            <a:off x="4429125" y="5334000"/>
            <a:ext cx="32385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Sleeve box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noGrp="1"/>
          </p:cNvSpPr>
          <p:nvPr/>
        </p:nvSpPr>
        <p:spPr>
          <a:xfrm>
            <a:off x="4429125" y="5829300"/>
            <a:ext cx="333375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Картонна обгортка</a:t>
            </a:r>
            <a:endParaRPr sz="1050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noGrp="1"/>
          </p:cNvSpPr>
          <p:nvPr/>
        </p:nvSpPr>
        <p:spPr>
          <a:xfrm>
            <a:off x="8096250" y="5334000"/>
            <a:ext cx="352425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Private Label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noGrp="1"/>
          </p:cNvSpPr>
          <p:nvPr/>
        </p:nvSpPr>
        <p:spPr>
          <a:xfrm>
            <a:off x="8096250" y="5829300"/>
            <a:ext cx="352425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Друк дизайну замовника</a:t>
            </a:r>
            <a:endParaRPr sz="1050"/>
          </a:p>
        </p:txBody>
      </p:sp>
      <p:pic>
        <p:nvPicPr>
          <p:cNvPr id="51" name="Picture 3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57250" y="1905000"/>
            <a:ext cx="3238500" cy="2952750"/>
          </a:xfrm>
          <a:prstGeom prst="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2" name="Picture 34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429125" y="1971675"/>
            <a:ext cx="3143250" cy="2809875"/>
          </a:xfrm>
          <a:prstGeom prst="rect">
            <a:avLst/>
          </a:prstGeom>
          <a:ln w="9525">
            <a:solidFill>
              <a:srgbClr val="C89C40"/>
            </a:solidFill>
          </a:ln>
        </p:spPr>
      </p:pic>
      <p:pic>
        <p:nvPicPr>
          <p:cNvPr id="53" name="Picture 35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096250" y="2038350"/>
            <a:ext cx="3190875" cy="2667000"/>
          </a:xfrm>
          <a:prstGeom prst="rect">
            <a:avLst/>
          </a:prstGeom>
          <a:ln w="9525">
            <a:solidFill>
              <a:srgbClr val="C89C40"/>
            </a:solidFill>
          </a:ln>
        </p:spPr>
      </p:pic>
    </p:spTree>
    <p:extLst>
      <p:ext uri="{BB962C8B-B14F-4D97-AF65-F5344CB8AC3E}">
        <p14:creationId xmlns:p14="http://schemas.microsoft.com/office/powerpoint/2010/main" val="598072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CD19144-9505-47D6-9275-6089C661FC3E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938D"/>
                </a:solidFill>
                <a:latin typeface="Calibri"/>
                <a:ea typeface="Calibri"/>
                <a:cs typeface="Calibri"/>
              </a:rPr>
              <a:t>ПОСТАЧАЛЬНИК 3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A44E652-7531-4B42-A2E4-24C4B8731333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One's International — профіль компанії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23ADB82-A208-4FF8-8484-E70CE2076607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Корейський виробник готових страв, бренд KBROS · Ready-to-eat Fried Rice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901CC53-360D-4866-8073-8A9412E5D929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FC212FD-4906-4748-A36F-7D4284B1BC29}"/>
              </a:ext>
            </a:extLst>
          </p:cNvPr>
          <p:cNvSpPr>
            <a:spLocks noGrp="1"/>
          </p:cNvSpPr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3820750-8730-426F-96FA-819EACDEEADD}"/>
              </a:ext>
            </a:extLst>
          </p:cNvPr>
          <p:cNvSpPr>
            <a:spLocks noGrp="1"/>
          </p:cNvSpPr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One's International Co., Ltd. — постачальник готових страв із Республіки Корея. Смажений рис у лотках під брендом KBROS: зберігання за кімнатної температури, розігрів у мікрохвильовці за 90 секунд.</a:t>
            </a:r>
            <a:endParaRPr sz="12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737FF36-89C7-40BF-8029-7E30F7FC5E72}"/>
              </a:ext>
            </a:extLst>
          </p:cNvPr>
          <p:cNvSpPr>
            <a:spLocks noGrp="1"/>
          </p:cNvSpPr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10913A5-A195-4C35-8BEC-22AF2B15B7E7}"/>
              </a:ext>
            </a:extLst>
          </p:cNvPr>
          <p:cNvSpPr>
            <a:spLocks noGrp="1"/>
          </p:cNvSpPr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6A606B1-78BD-42D4-97F2-25019B04EA50}"/>
              </a:ext>
            </a:extLst>
          </p:cNvPr>
          <p:cNvSpPr>
            <a:spLocks noGrp="1"/>
          </p:cNvSpPr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Гурі-сі, Кьонгідо, Республіка Корея</a:t>
            </a:r>
            <a:endParaRPr sz="115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578BF7FC-C005-4DB0-828C-5DE23D336C1C}"/>
              </a:ext>
            </a:extLst>
          </p:cNvPr>
          <p:cNvSpPr>
            <a:spLocks noGrp="1"/>
          </p:cNvSpPr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Бренд</a:t>
            </a:r>
            <a:endParaRPr sz="105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42A9028-10DB-4B72-B30E-FB49E15FA6C9}"/>
              </a:ext>
            </a:extLst>
          </p:cNvPr>
          <p:cNvSpPr>
            <a:spLocks noGrp="1"/>
          </p:cNvSpPr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KBROS · власна ТМ виробника</a:t>
            </a:r>
            <a:endParaRPr sz="115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E95C3E2-EA1E-42D7-A32D-5FC6276536E0}"/>
              </a:ext>
            </a:extLst>
          </p:cNvPr>
          <p:cNvSpPr>
            <a:spLocks noGrp="1"/>
          </p:cNvSpPr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Умови поставки</a:t>
            </a:r>
            <a:endParaRPr sz="105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D427EAD-08DF-4E7A-9C4C-835EFAE70855}"/>
              </a:ext>
            </a:extLst>
          </p:cNvPr>
          <p:cNvSpPr>
            <a:spLocks noGrp="1"/>
          </p:cNvSpPr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FOB Busan · передоплата 100% (T/T)</a:t>
            </a:r>
            <a:endParaRPr sz="115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D34AC2F-EE39-497C-8F1A-55D934AC95C0}"/>
              </a:ext>
            </a:extLst>
          </p:cNvPr>
          <p:cNvSpPr>
            <a:spLocks noGrp="1"/>
          </p:cNvSpPr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MOQ</a:t>
            </a:r>
            <a:endParaRPr sz="105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2B1EB85-2BAF-45AA-8C18-39BD7B6AE924}"/>
              </a:ext>
            </a:extLst>
          </p:cNvPr>
          <p:cNvSpPr>
            <a:spLocks noGrp="1"/>
          </p:cNvSpPr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200 коробів на кожне SKU</a:t>
            </a:r>
            <a:endParaRPr sz="115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C1BCD09-C026-44CF-8F8B-173FAD36743F}"/>
              </a:ext>
            </a:extLst>
          </p:cNvPr>
          <p:cNvSpPr>
            <a:spLocks noGrp="1"/>
          </p:cNvSpPr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D27C77E-48F9-4FBD-A728-1F2B80DFD2D6}"/>
              </a:ext>
            </a:extLst>
          </p:cNvPr>
          <p:cNvSpPr>
            <a:spLocks noGrp="1"/>
          </p:cNvSpPr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 місяців від дати виробництва</a:t>
            </a:r>
            <a:endParaRPr sz="115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4E2C5A1-D625-4BFD-AE8C-D9C86960782D}"/>
              </a:ext>
            </a:extLst>
          </p:cNvPr>
          <p:cNvSpPr>
            <a:spLocks noGrp="1"/>
          </p:cNvSpPr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Розігрів</a:t>
            </a:r>
            <a:endParaRPr sz="105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C81496A-087D-4BDF-97C0-9C0AD33F324A}"/>
              </a:ext>
            </a:extLst>
          </p:cNvPr>
          <p:cNvSpPr>
            <a:spLocks noGrp="1"/>
          </p:cNvSpPr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мікрохвильова піч, 90 сек</a:t>
            </a:r>
            <a:endParaRPr sz="115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29F56F1-072F-45B9-B669-E6DB5952B5DC}"/>
              </a:ext>
            </a:extLst>
          </p:cNvPr>
          <p:cNvSpPr>
            <a:spLocks noGrp="1"/>
          </p:cNvSpPr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105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22D9B28-342C-4F6C-855A-E29107EE1B2A}"/>
              </a:ext>
            </a:extLst>
          </p:cNvPr>
          <p:cNvSpPr>
            <a:spLocks noGrp="1"/>
          </p:cNvSpPr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лоток 200 г / 210 г · 12 шт у коробі</a:t>
            </a:r>
            <a:endParaRPr sz="115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FE1BA39C-F91D-4286-BEF8-67FC2D0BD2F1}"/>
              </a:ext>
            </a:extLst>
          </p:cNvPr>
          <p:cNvSpPr>
            <a:spLocks noGrp="1"/>
          </p:cNvSpPr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>
              <a:ext uri="{FF2B5EF4-FFF2-40B4-BE49-F238E27FC236}">
                <a16:creationId xmlns:a16="http://schemas.microsoft.com/office/drawing/2014/main" id="{FD7FBD8F-742F-466D-99D3-4E9D925A8522}"/>
              </a:ext>
            </a:extLst>
          </p:cNvPr>
          <p:cNvSpPr>
            <a:spLocks noGrp="1"/>
          </p:cNvSpPr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HACCP · FSSC 22000</a:t>
            </a:r>
            <a:endParaRPr sz="1150"/>
          </a:p>
        </p:txBody>
      </p:sp>
      <p:pic>
        <p:nvPicPr>
          <p:cNvPr id="37" name="Picture 36" descr="hero_coll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4656" y="1536192"/>
            <a:ext cx="4096512" cy="2834640"/>
          </a:xfrm>
          <a:prstGeom prst="roundRect">
            <a:avLst/>
          </a:prstGeom>
        </p:spPr>
      </p:pic>
      <p:sp>
        <p:nvSpPr>
          <p:cNvPr id="24" name="Shape 21">
            <a:extLst>
              <a:ext uri="{FF2B5EF4-FFF2-40B4-BE49-F238E27FC236}">
                <a16:creationId xmlns:a16="http://schemas.microsoft.com/office/drawing/2014/main" id="{0A6243D7-99BD-4671-9140-C29A8D2841F5}"/>
              </a:ext>
            </a:extLst>
          </p:cNvPr>
          <p:cNvSpPr>
            <a:spLocks noGrp="1"/>
          </p:cNvSpPr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FAD82CE1-305C-4565-A1FE-D051AE2156E0}"/>
              </a:ext>
            </a:extLst>
          </p:cNvPr>
          <p:cNvSpPr>
            <a:spLocks noGrp="1"/>
          </p:cNvSpPr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58CC28A-4F81-47DF-8E77-5628B5CD7532}"/>
              </a:ext>
            </a:extLst>
          </p:cNvPr>
          <p:cNvSpPr>
            <a:spLocks noGrp="1"/>
          </p:cNvSpPr>
          <p:nvPr/>
        </p:nvSpPr>
        <p:spPr>
          <a:xfrm>
            <a:off x="7717536" y="4581144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</a:t>
            </a:r>
            <a:r>
              <a:rPr sz="1100" b="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міс</a:t>
            </a:r>
            <a:endParaRPr sz="190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FCE24DD-1F3F-42BD-8089-4BCD25EBA58A}"/>
              </a:ext>
            </a:extLst>
          </p:cNvPr>
          <p:cNvSpPr>
            <a:spLocks noGrp="1"/>
          </p:cNvSpPr>
          <p:nvPr/>
        </p:nvSpPr>
        <p:spPr>
          <a:xfrm>
            <a:off x="9418320" y="4581144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89975636-2973-43EB-8284-82876E89595D}"/>
              </a:ext>
            </a:extLst>
          </p:cNvPr>
          <p:cNvSpPr>
            <a:spLocks noGrp="1"/>
          </p:cNvSpPr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A645AB62-8A4D-4512-8F74-DE418179E43B}"/>
              </a:ext>
            </a:extLst>
          </p:cNvPr>
          <p:cNvSpPr>
            <a:spLocks noGrp="1"/>
          </p:cNvSpPr>
          <p:nvPr/>
        </p:nvSpPr>
        <p:spPr>
          <a:xfrm>
            <a:off x="7717536" y="5148072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сек</a:t>
            </a:r>
            <a:endParaRPr sz="190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4117B712-25E2-4520-9FD2-EBDF52F2E339}"/>
              </a:ext>
            </a:extLst>
          </p:cNvPr>
          <p:cNvSpPr>
            <a:spLocks noGrp="1"/>
          </p:cNvSpPr>
          <p:nvPr/>
        </p:nvSpPr>
        <p:spPr>
          <a:xfrm>
            <a:off x="9418320" y="5148072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розігрів у мікрохвильовці</a:t>
            </a:r>
            <a:endParaRPr sz="105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E9455139-65F1-448B-8A7C-86FFA827F351}"/>
              </a:ext>
            </a:extLst>
          </p:cNvPr>
          <p:cNvSpPr>
            <a:spLocks noGrp="1"/>
          </p:cNvSpPr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D40C00FA-3D9E-4C88-BA29-ECBF4916B185}"/>
              </a:ext>
            </a:extLst>
          </p:cNvPr>
          <p:cNvSpPr>
            <a:spLocks noGrp="1"/>
          </p:cNvSpPr>
          <p:nvPr/>
        </p:nvSpPr>
        <p:spPr>
          <a:xfrm>
            <a:off x="7717536" y="571500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200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ctn</a:t>
            </a:r>
            <a:endParaRPr sz="190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5324D476-C6D4-42C7-BAFD-4CF0E84F17CB}"/>
              </a:ext>
            </a:extLst>
          </p:cNvPr>
          <p:cNvSpPr>
            <a:spLocks noGrp="1"/>
          </p:cNvSpPr>
          <p:nvPr/>
        </p:nvSpPr>
        <p:spPr>
          <a:xfrm>
            <a:off x="9418320" y="5715000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мінімальне замовлення, SKU</a:t>
            </a:r>
            <a:endParaRPr sz="105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E7A215B1-AD40-45DA-BB18-23E7B159186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Quotation One's International Co., Ltd. (бренд KBROS), FOB Busan, чинна до 31.12.2026; фото продукції — з комерційної пропозиції постачальника.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9735734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9A6D18B-A944-45D2-8E87-358191F7E4AF}"/>
              </a:ext>
            </a:extLst>
          </p:cNvPr>
          <p:cNvSpPr>
            <a:spLocks noGrp="1"/>
          </p:cNvSpPr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 spc="260">
                <a:solidFill>
                  <a:srgbClr val="F0938D"/>
                </a:solidFill>
                <a:latin typeface="Calibri"/>
                <a:ea typeface="Calibri"/>
                <a:cs typeface="Calibri"/>
              </a:rPr>
              <a:t>ПОСТАЧАЛЬНИК 3  ·  KBROS / ONE'S INTERNATIONAL</a:t>
            </a:r>
            <a:endParaRPr sz="11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B4F6B36-12AD-4E80-B246-044D6B11275B}"/>
              </a:ext>
            </a:extLst>
          </p:cNvPr>
          <p:cNvSpPr>
            <a:spLocks noGrp="1"/>
          </p:cNvSpPr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KBROS Fried Rice 12 × 200 г — собівартість</a:t>
            </a:r>
            <a:endParaRPr sz="31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B3E3610-3F77-4808-A291-CC88332A673B}"/>
              </a:ext>
            </a:extLst>
          </p:cNvPr>
          <p:cNvSpPr>
            <a:spLocks noGrp="1"/>
          </p:cNvSpPr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Постачання на європалетах, FOB Busan · 20′ FCL — 11 палет · 40′ FCL — 25 палет</a:t>
            </a:r>
            <a:endParaRPr sz="125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777A169-A18D-4352-B969-19E1FAD489B5}"/>
              </a:ext>
            </a:extLst>
          </p:cNvPr>
          <p:cNvSpPr>
            <a:spLocks noGrp="1"/>
          </p:cNvSpPr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3" name="Picture 132" descr="card_kimch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87232188-1DCC-4781-85AB-61CF6976C5DA}"/>
              </a:ext>
            </a:extLst>
          </p:cNvPr>
          <p:cNvSpPr>
            <a:spLocks noGrp="1"/>
          </p:cNvSpPr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AA2BFF8-08EA-4127-88A8-7020E461BE87}"/>
              </a:ext>
            </a:extLst>
          </p:cNvPr>
          <p:cNvSpPr>
            <a:spLocks noGrp="1"/>
          </p:cNvSpPr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3312D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9C00E7C-A4B5-4F70-BF95-2F612003EAA9}"/>
              </a:ext>
            </a:extLst>
          </p:cNvPr>
          <p:cNvSpPr>
            <a:spLocks noGrp="1"/>
          </p:cNvSpPr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ЛОТОК 200 Г · AMBIENT</a:t>
            </a:r>
            <a:endParaRPr sz="85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55875F5-C8AA-4604-BC2B-C7F2B6B61192}"/>
              </a:ext>
            </a:extLst>
          </p:cNvPr>
          <p:cNvSpPr>
            <a:spLocks noGrp="1"/>
          </p:cNvSpPr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Kimchi Fried Rice</a:t>
            </a:r>
            <a:endParaRPr sz="14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CC304521-7003-41C9-A3DF-B606C354369E}"/>
              </a:ext>
            </a:extLst>
          </p:cNvPr>
          <p:cNvSpPr>
            <a:spLocks noGrp="1"/>
          </p:cNvSpPr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$1,300 · </a:t>
            </a:r>
            <a:endParaRPr sz="100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4A033679-0F16-416E-9BC4-280F6974334A}"/>
              </a:ext>
            </a:extLst>
          </p:cNvPr>
          <p:cNvSpPr>
            <a:spLocks noGrp="1"/>
          </p:cNvSpPr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2BA45D7-6F03-4868-BDD2-44FC1BFF8AEA}"/>
              </a:ext>
            </a:extLst>
          </p:cNvPr>
          <p:cNvSpPr>
            <a:spLocks noGrp="1"/>
          </p:cNvSpPr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ЛОТОК</a:t>
            </a:r>
            <a:endParaRPr sz="75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D9F963D-2EFD-42F1-A3D8-955B0A886C4D}"/>
              </a:ext>
            </a:extLst>
          </p:cNvPr>
          <p:cNvSpPr>
            <a:spLocks noGrp="1"/>
          </p:cNvSpPr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6844CDDA-23FC-437B-9119-7C16195CDFA0}"/>
              </a:ext>
            </a:extLst>
          </p:cNvPr>
          <p:cNvSpPr>
            <a:spLocks noGrp="1"/>
          </p:cNvSpPr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$2,176 / 97,92 ₴</a:t>
            </a:r>
            <a:endParaRPr sz="9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7DB5FDD-4BCF-480F-AC44-12CE6BC0A357}"/>
              </a:ext>
            </a:extLst>
          </p:cNvPr>
          <p:cNvSpPr>
            <a:spLocks noGrp="1"/>
          </p:cNvSpPr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82BA0A6-D97E-4819-8CA9-388C425BB098}"/>
              </a:ext>
            </a:extLst>
          </p:cNvPr>
          <p:cNvSpPr>
            <a:spLocks noGrp="1"/>
          </p:cNvSpPr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$1,960 / 88,18 ₴</a:t>
            </a:r>
            <a:endParaRPr sz="95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noGrp="1"/>
          </p:cNvSpPr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10 палет</a:t>
            </a:r>
            <a:endParaRPr sz="90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noGrp="1"/>
          </p:cNvSpPr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$2,026 / 91,16 ₴</a:t>
            </a:r>
            <a:endParaRPr sz="95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221615AB-3FD4-4403-AFF6-D6A56343CBC2}"/>
              </a:ext>
            </a:extLst>
          </p:cNvPr>
          <p:cNvSpPr>
            <a:spLocks noGrp="1"/>
          </p:cNvSpPr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4" name="Picture 133" descr="card_vegetabl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>
            <a:extLst>
              <a:ext uri="{FF2B5EF4-FFF2-40B4-BE49-F238E27FC236}">
                <a16:creationId xmlns:a16="http://schemas.microsoft.com/office/drawing/2014/main" id="{04C442D0-2F30-4863-8F74-AF51825B409B}"/>
              </a:ext>
            </a:extLst>
          </p:cNvPr>
          <p:cNvSpPr>
            <a:spLocks noGrp="1"/>
          </p:cNvSpPr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8FDFA6F-6582-4237-9B22-00A082830131}"/>
              </a:ext>
            </a:extLst>
          </p:cNvPr>
          <p:cNvSpPr>
            <a:spLocks noGrp="1"/>
          </p:cNvSpPr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3312D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3BF42D84-D0AF-4217-B04F-C90FB592237C}"/>
              </a:ext>
            </a:extLst>
          </p:cNvPr>
          <p:cNvSpPr>
            <a:spLocks noGrp="1"/>
          </p:cNvSpPr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ЛОТОК 200 Г · AMBIENT</a:t>
            </a:r>
            <a:endParaRPr sz="85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CDE96DD-6C77-424C-B5EB-F3F2EA231669}"/>
              </a:ext>
            </a:extLst>
          </p:cNvPr>
          <p:cNvSpPr>
            <a:spLocks noGrp="1"/>
          </p:cNvSpPr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Vegetable Fried Rice</a:t>
            </a:r>
            <a:endParaRPr sz="145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68A85A44-B6CB-4D71-8000-A653E3694AD7}"/>
              </a:ext>
            </a:extLst>
          </p:cNvPr>
          <p:cNvSpPr>
            <a:spLocks noGrp="1"/>
          </p:cNvSpPr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$1,300 · </a:t>
            </a:r>
            <a:endParaRPr sz="100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BB6ACCF8-0216-4C21-8A34-38A25C9E2A95}"/>
              </a:ext>
            </a:extLst>
          </p:cNvPr>
          <p:cNvSpPr>
            <a:spLocks noGrp="1"/>
          </p:cNvSpPr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AE847F71-A762-450C-A559-36DCDA518904}"/>
              </a:ext>
            </a:extLst>
          </p:cNvPr>
          <p:cNvSpPr>
            <a:spLocks noGrp="1"/>
          </p:cNvSpPr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ЛОТОК</a:t>
            </a:r>
            <a:endParaRPr sz="75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716B44C2-FF59-4FA7-AB65-3092D174973A}"/>
              </a:ext>
            </a:extLst>
          </p:cNvPr>
          <p:cNvSpPr>
            <a:spLocks noGrp="1"/>
          </p:cNvSpPr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4BFD8799-39A3-483C-B443-61D7961487B8}"/>
              </a:ext>
            </a:extLst>
          </p:cNvPr>
          <p:cNvSpPr>
            <a:spLocks noGrp="1"/>
          </p:cNvSpPr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$2,176 / 97,92 ₴</a:t>
            </a:r>
            <a:endParaRPr sz="950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236FB47-8D66-49B9-890D-86AFDDAD03E0}"/>
              </a:ext>
            </a:extLst>
          </p:cNvPr>
          <p:cNvSpPr>
            <a:spLocks noGrp="1"/>
          </p:cNvSpPr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1C5B3AD2-2E31-4934-829B-92559C96C96C}"/>
              </a:ext>
            </a:extLst>
          </p:cNvPr>
          <p:cNvSpPr>
            <a:spLocks noGrp="1"/>
          </p:cNvSpPr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$1,960 / 88,18 ₴</a:t>
            </a:r>
            <a:endParaRPr sz="950"/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noGrp="1"/>
          </p:cNvSpPr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10 палет</a:t>
            </a:r>
            <a:endParaRPr sz="900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noGrp="1"/>
          </p:cNvSpPr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$2,026 / 91,16 ₴</a:t>
            </a:r>
            <a:endParaRPr sz="95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E9A5A22F-E04B-4856-A6EE-5DB1869CB5A4}"/>
              </a:ext>
            </a:extLst>
          </p:cNvPr>
          <p:cNvSpPr>
            <a:spLocks noGrp="1"/>
          </p:cNvSpPr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5" name="Picture 134" descr="card_japcha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>
            <a:extLst>
              <a:ext uri="{FF2B5EF4-FFF2-40B4-BE49-F238E27FC236}">
                <a16:creationId xmlns:a16="http://schemas.microsoft.com/office/drawing/2014/main" id="{F9B242CE-9FC3-4F31-9E90-E76F07CC34D9}"/>
              </a:ext>
            </a:extLst>
          </p:cNvPr>
          <p:cNvSpPr>
            <a:spLocks noGrp="1"/>
          </p:cNvSpPr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A50AE707-BF33-4DC0-8761-DC73CA95E9E3}"/>
              </a:ext>
            </a:extLst>
          </p:cNvPr>
          <p:cNvSpPr>
            <a:spLocks noGrp="1"/>
          </p:cNvSpPr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3312D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>
            <a:extLst>
              <a:ext uri="{FF2B5EF4-FFF2-40B4-BE49-F238E27FC236}">
                <a16:creationId xmlns:a16="http://schemas.microsoft.com/office/drawing/2014/main" id="{83B499CA-E5CA-4A54-A2B7-6FC3B8C2A8E6}"/>
              </a:ext>
            </a:extLst>
          </p:cNvPr>
          <p:cNvSpPr>
            <a:spLocks noGrp="1"/>
          </p:cNvSpPr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ЛОТОК 200 Г · AMBIENT</a:t>
            </a:r>
            <a:endParaRPr sz="850"/>
          </a:p>
        </p:txBody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44658F7D-867D-4A61-B46E-876DD11E5E0F}"/>
              </a:ext>
            </a:extLst>
          </p:cNvPr>
          <p:cNvSpPr>
            <a:spLocks noGrp="1"/>
          </p:cNvSpPr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Japchae Fried Rice</a:t>
            </a:r>
            <a:endParaRPr sz="1450"/>
          </a:p>
        </p:txBody>
      </p:sp>
      <p:sp>
        <p:nvSpPr>
          <p:cNvPr id="45" name="Text 40">
            <a:extLst>
              <a:ext uri="{FF2B5EF4-FFF2-40B4-BE49-F238E27FC236}">
                <a16:creationId xmlns:a16="http://schemas.microsoft.com/office/drawing/2014/main" id="{9C8F21B4-2ED4-4F90-8A4E-B929F37C5243}"/>
              </a:ext>
            </a:extLst>
          </p:cNvPr>
          <p:cNvSpPr>
            <a:spLocks noGrp="1"/>
          </p:cNvSpPr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$1,300 · </a:t>
            </a:r>
            <a:endParaRPr sz="1000"/>
          </a:p>
        </p:txBody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CB4E5E2B-AB82-4890-B02A-60C7FFBEFA40}"/>
              </a:ext>
            </a:extLst>
          </p:cNvPr>
          <p:cNvSpPr>
            <a:spLocks noGrp="1"/>
          </p:cNvSpPr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64AB014A-05C3-45B0-AEEE-0D5F7B45FEB4}"/>
              </a:ext>
            </a:extLst>
          </p:cNvPr>
          <p:cNvSpPr>
            <a:spLocks noGrp="1"/>
          </p:cNvSpPr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ЛОТОК</a:t>
            </a:r>
            <a:endParaRPr sz="750"/>
          </a:p>
        </p:txBody>
      </p:sp>
      <p:sp>
        <p:nvSpPr>
          <p:cNvPr id="48" name="Text 43">
            <a:extLst>
              <a:ext uri="{FF2B5EF4-FFF2-40B4-BE49-F238E27FC236}">
                <a16:creationId xmlns:a16="http://schemas.microsoft.com/office/drawing/2014/main" id="{19FE6818-4F14-4862-A822-5259E90FC4D8}"/>
              </a:ext>
            </a:extLst>
          </p:cNvPr>
          <p:cNvSpPr>
            <a:spLocks noGrp="1"/>
          </p:cNvSpPr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>
              <a:ext uri="{FF2B5EF4-FFF2-40B4-BE49-F238E27FC236}">
                <a16:creationId xmlns:a16="http://schemas.microsoft.com/office/drawing/2014/main" id="{5C9DFA8C-DC12-493F-89E1-05F82142934A}"/>
              </a:ext>
            </a:extLst>
          </p:cNvPr>
          <p:cNvSpPr>
            <a:spLocks noGrp="1"/>
          </p:cNvSpPr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$2,176 / 97,92 ₴</a:t>
            </a:r>
            <a:endParaRPr sz="950"/>
          </a:p>
        </p:txBody>
      </p:sp>
      <p:sp>
        <p:nvSpPr>
          <p:cNvPr id="50" name="Text 45">
            <a:extLst>
              <a:ext uri="{FF2B5EF4-FFF2-40B4-BE49-F238E27FC236}">
                <a16:creationId xmlns:a16="http://schemas.microsoft.com/office/drawing/2014/main" id="{351C6F62-3582-446E-9329-137053C4895C}"/>
              </a:ext>
            </a:extLst>
          </p:cNvPr>
          <p:cNvSpPr>
            <a:spLocks noGrp="1"/>
          </p:cNvSpPr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>
              <a:ext uri="{FF2B5EF4-FFF2-40B4-BE49-F238E27FC236}">
                <a16:creationId xmlns:a16="http://schemas.microsoft.com/office/drawing/2014/main" id="{1CB0E785-438F-46B1-9B4D-45FFA085CF82}"/>
              </a:ext>
            </a:extLst>
          </p:cNvPr>
          <p:cNvSpPr>
            <a:spLocks noGrp="1"/>
          </p:cNvSpPr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$1,960 / 88,18 ₴</a:t>
            </a:r>
            <a:endParaRPr sz="950"/>
          </a:p>
        </p:txBody>
      </p:sp>
      <p:sp>
        <p:nvSpPr>
          <p:cNvPr id="52" name="Text 47">
            <a:extLst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noGrp="1"/>
          </p:cNvSpPr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10 палет</a:t>
            </a:r>
            <a:endParaRPr sz="900"/>
          </a:p>
        </p:txBody>
      </p:sp>
      <p:sp>
        <p:nvSpPr>
          <p:cNvPr id="53" name="Text 48">
            <a:extLst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noGrp="1"/>
          </p:cNvSpPr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$2,026 / 91,16 ₴</a:t>
            </a:r>
            <a:endParaRPr sz="950"/>
          </a:p>
        </p:txBody>
      </p:sp>
      <p:sp>
        <p:nvSpPr>
          <p:cNvPr id="56" name="Shape 51">
            <a:extLst>
              <a:ext uri="{FF2B5EF4-FFF2-40B4-BE49-F238E27FC236}">
                <a16:creationId xmlns:a16="http://schemas.microsoft.com/office/drawing/2014/main" id="{251A2DC7-D0DC-4DDD-94FC-121AF67D8149}"/>
              </a:ext>
            </a:extLst>
          </p:cNvPr>
          <p:cNvSpPr>
            <a:spLocks noGrp="1"/>
          </p:cNvSpPr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6" name="Picture 135" descr="card_whit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>
            <a:extLst>
              <a:ext uri="{FF2B5EF4-FFF2-40B4-BE49-F238E27FC236}">
                <a16:creationId xmlns:a16="http://schemas.microsoft.com/office/drawing/2014/main" id="{F2C3BE02-E820-4936-861D-46D3D3E589BF}"/>
              </a:ext>
            </a:extLst>
          </p:cNvPr>
          <p:cNvSpPr>
            <a:spLocks noGrp="1"/>
          </p:cNvSpPr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3">
            <a:extLst>
              <a:ext uri="{FF2B5EF4-FFF2-40B4-BE49-F238E27FC236}">
                <a16:creationId xmlns:a16="http://schemas.microsoft.com/office/drawing/2014/main" id="{1490DA2D-D85E-4489-896A-3376EF0EC2F2}"/>
              </a:ext>
            </a:extLst>
          </p:cNvPr>
          <p:cNvSpPr>
            <a:spLocks noGrp="1"/>
          </p:cNvSpPr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B3312D"/>
          </a:solidFill>
          <a:ln w="6350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1BAD208D-D6B2-4DF7-AE5B-808AFC5016F0}"/>
              </a:ext>
            </a:extLst>
          </p:cNvPr>
          <p:cNvSpPr>
            <a:spLocks noGrp="1"/>
          </p:cNvSpPr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ЛОТОК 210 Г · AMBIENT</a:t>
            </a:r>
            <a:endParaRPr sz="850"/>
          </a:p>
        </p:txBody>
      </p:sp>
      <p:sp>
        <p:nvSpPr>
          <p:cNvPr id="61" name="Text 55">
            <a:extLst>
              <a:ext uri="{FF2B5EF4-FFF2-40B4-BE49-F238E27FC236}">
                <a16:creationId xmlns:a16="http://schemas.microsoft.com/office/drawing/2014/main" id="{D32F869F-1422-4380-8509-FD4EC7795CA7}"/>
              </a:ext>
            </a:extLst>
          </p:cNvPr>
          <p:cNvSpPr>
            <a:spLocks noGrp="1"/>
          </p:cNvSpPr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Cooked White Rice</a:t>
            </a:r>
            <a:endParaRPr sz="1450"/>
          </a:p>
        </p:txBody>
      </p:sp>
      <p:sp>
        <p:nvSpPr>
          <p:cNvPr id="62" name="Text 56">
            <a:extLst>
              <a:ext uri="{FF2B5EF4-FFF2-40B4-BE49-F238E27FC236}">
                <a16:creationId xmlns:a16="http://schemas.microsoft.com/office/drawing/2014/main" id="{C56AF3DF-CE25-4AEE-B9EA-65DA2178D6C8}"/>
              </a:ext>
            </a:extLst>
          </p:cNvPr>
          <p:cNvSpPr>
            <a:spLocks noGrp="1"/>
          </p:cNvSpPr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$0,600 · </a:t>
            </a:r>
            <a:endParaRPr sz="1000"/>
          </a:p>
        </p:txBody>
      </p:sp>
      <p:sp>
        <p:nvSpPr>
          <p:cNvPr id="63" name="Shape 57">
            <a:extLst>
              <a:ext uri="{FF2B5EF4-FFF2-40B4-BE49-F238E27FC236}">
                <a16:creationId xmlns:a16="http://schemas.microsoft.com/office/drawing/2014/main" id="{B87B54C9-A9BC-4125-8EB8-417D870F885A}"/>
              </a:ext>
            </a:extLst>
          </p:cNvPr>
          <p:cNvSpPr>
            <a:spLocks noGrp="1"/>
          </p:cNvSpPr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A5433">
              <a:alpha val="92000"/>
            </a:srgbClr>
          </a:solidFill>
          <a:ln w="9525">
            <a:solidFill>
              <a:srgbClr val="C89C4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5CDDC64B-111E-4034-BB84-739716A535C5}"/>
              </a:ext>
            </a:extLst>
          </p:cNvPr>
          <p:cNvSpPr>
            <a:spLocks noGrp="1"/>
          </p:cNvSpPr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ЛОТОК</a:t>
            </a:r>
            <a:endParaRPr sz="750"/>
          </a:p>
        </p:txBody>
      </p:sp>
      <p:sp>
        <p:nvSpPr>
          <p:cNvPr id="65" name="Text 59">
            <a:extLst>
              <a:ext uri="{FF2B5EF4-FFF2-40B4-BE49-F238E27FC236}">
                <a16:creationId xmlns:a16="http://schemas.microsoft.com/office/drawing/2014/main" id="{B6A939BB-1670-4E52-9CBF-2148FF618BE5}"/>
              </a:ext>
            </a:extLst>
          </p:cNvPr>
          <p:cNvSpPr>
            <a:spLocks noGrp="1"/>
          </p:cNvSpPr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>
              <a:ext uri="{FF2B5EF4-FFF2-40B4-BE49-F238E27FC236}">
                <a16:creationId xmlns:a16="http://schemas.microsoft.com/office/drawing/2014/main" id="{89315069-AA8B-4FB9-B0D8-4EEFAFCC5D68}"/>
              </a:ext>
            </a:extLst>
          </p:cNvPr>
          <p:cNvSpPr>
            <a:spLocks noGrp="1"/>
          </p:cNvSpPr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$2,176 / 97,92 ₴</a:t>
            </a:r>
            <a:endParaRPr sz="950"/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EF2C8EF4-AF40-4A42-B5F5-CD3A89AECD13}"/>
              </a:ext>
            </a:extLst>
          </p:cNvPr>
          <p:cNvSpPr>
            <a:spLocks noGrp="1"/>
          </p:cNvSpPr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4A437B21-276B-4A8E-B4FA-E55E4C8EB3D4}"/>
              </a:ext>
            </a:extLst>
          </p:cNvPr>
          <p:cNvSpPr>
            <a:spLocks noGrp="1"/>
          </p:cNvSpPr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$1,960 / 88,18 ₴</a:t>
            </a:r>
            <a:endParaRPr sz="950"/>
          </a:p>
        </p:txBody>
      </p:sp>
      <p:sp>
        <p:nvSpPr>
          <p:cNvPr id="69" name="Text 63">
            <a:extLst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noGrp="1"/>
          </p:cNvSpPr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10 палет</a:t>
            </a:r>
            <a:endParaRPr sz="90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noGrp="1"/>
          </p:cNvSpPr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$2,026 / 91,16 ₴</a:t>
            </a:r>
            <a:endParaRPr sz="950"/>
          </a:p>
        </p:txBody>
      </p:sp>
      <p:sp>
        <p:nvSpPr>
          <p:cNvPr id="137" name="TextBox 136"/>
          <p:cNvSpPr txBox="1"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>
                <a:solidFill>
                  <a:srgbClr val="C3D7BF"/>
                </a:solidFill>
                <a:latin typeface="Calibri"/>
              </a:rPr>
              <a:t>Джерело: Quotation One's International (KBROS); Self_Cost_Rice_Brand..xlsx, аркуш «ONE'S INTERNATIONAL_Паллеты» · мито 10%, ПДВ 20%, транспорт, кредитні гроші 2,5% · курс 45,00 UAH/USD.</a:t>
            </a:r>
          </a:p>
        </p:txBody>
      </p:sp>
    </p:spTree>
    <p:extLst>
      <p:ext uri="{BB962C8B-B14F-4D97-AF65-F5344CB8AC3E}">
        <p14:creationId xmlns:p14="http://schemas.microsoft.com/office/powerpoint/2010/main" val="11521376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2436</Words>
  <Application>Microsoft Office PowerPoint</Application>
  <DocSecurity>0</DocSecurity>
  <PresentationFormat>Широкий екран</PresentationFormat>
  <Paragraphs>442</Paragraphs>
  <Slides>13</Slides>
  <Notes>11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Чаплигін lлля</cp:lastModifiedBy>
  <cp:revision>4</cp:revision>
  <dcterms:created xsi:type="dcterms:W3CDTF">2026-09-05T17:09:19Z</dcterms:created>
  <dcterms:modified xsi:type="dcterms:W3CDTF">2026-09-07T16:50:32Z</dcterms:modified>
</cp:coreProperties>
</file>