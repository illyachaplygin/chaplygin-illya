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4.jpg" ContentType="image/jpg"/>
  <Override PartName="/ppt/media/image5.jpg" ContentType="image/jpg"/>
  <Override PartName="/ppt/media/image6.jpg" ContentType="image/jpg"/>
  <Override PartName="/ppt/media/image7.jpg" ContentType="image/jpg"/>
  <Override PartName="/ppt/media/image8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8" r:id="rId4"/>
    <p:sldId id="259" r:id="rId5"/>
    <p:sldId id="261" r:id="rId6"/>
    <p:sldId id="262" r:id="rId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474767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Relationship Id="rId4" Type="http://schemas.openxmlformats.org/officeDocument/2006/relationships/image" Target="../media/image9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eg"/><Relationship Id="rId4" Type="http://schemas.openxmlformats.org/officeDocument/2006/relationships/image" Target="../media/image10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eg"/><Relationship Id="rId4" Type="http://schemas.openxmlformats.org/officeDocument/2006/relationships/image" Target="../media/image11.jpg"/><Relationship Id="rId5" Type="http://schemas.openxmlformats.org/officeDocument/2006/relationships/image" Target="../media/image12.jpg"/><Relationship Id="rId6" Type="http://schemas.openxmlformats.org/officeDocument/2006/relationships/image" Target="../media/image13.jpg"/><Relationship Id="rId7" Type="http://schemas.openxmlformats.org/officeDocument/2006/relationships/image" Target="../media/image1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eg"/><Relationship Id="rId4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e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image" Target="../media/image7.jpg"/><Relationship Id="rId7" Type="http://schemas.openxmlformats.org/officeDocument/2006/relationships/image" Target="../media/image8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417320"/>
            <a:ext cx="5852160" cy="4023360"/>
          </a:xfrm>
          <a:prstGeom prst="roundRect">
            <a:avLst>
              <a:gd name="adj" fmla="val 3636"/>
            </a:avLst>
          </a:prstGeom>
          <a:solidFill>
            <a:srgbClr val="0A2214">
              <a:alpha val="92000"/>
            </a:srgbClr>
          </a:solidFill>
          <a:ln w="15875">
            <a:solidFill>
              <a:srgbClr val="A87C2A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3" name="Text 1"/>
          <p:cNvSpPr/>
          <p:nvPr/>
        </p:nvSpPr>
        <p:spPr>
          <a:xfrm>
            <a:off x="1143000" y="2276856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kern="0" spc="150" dirty="0">
                <a:solidFill>
                  <a:srgbClr val="E0B2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READY-TO-EAT RICE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143000" y="3099816"/>
            <a:ext cx="2011680" cy="0"/>
          </a:xfrm>
          <a:prstGeom prst="line">
            <a:avLst/>
          </a:prstGeom>
          <a:noFill/>
          <a:ln w="12700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5" name="Shape 3"/>
          <p:cNvSpPr/>
          <p:nvPr/>
        </p:nvSpPr>
        <p:spPr>
          <a:xfrm>
            <a:off x="2098548" y="3054096"/>
            <a:ext cx="100584" cy="100584"/>
          </a:xfrm>
          <a:prstGeom prst="diamond">
            <a:avLst/>
          </a:prstGeom>
          <a:solidFill>
            <a:srgbClr val="E0B252"/>
          </a:solidFill>
          <a:ln w="6350">
            <a:solidFill>
              <a:srgbClr val="E0B252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" name="Text 4"/>
          <p:cNvSpPr/>
          <p:nvPr/>
        </p:nvSpPr>
        <p:spPr>
          <a:xfrm>
            <a:off x="1143000" y="3282696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Постачальники та собівартість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43000" y="3831336"/>
            <a:ext cx="4983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BSCM Foods Co., Ltd.</a:t>
            </a:r>
            <a:r>
              <a:rPr lang="en-US" sz="1200" dirty="0">
                <a:solidFill>
                  <a:srgbClr val="A87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 Premium Rice Co., Ltd.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143000" y="4288536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Таїланд · FOB Bangkok · завантаження навалом</a:t>
            </a:r>
            <a:endParaRPr lang="en-US" sz="1150" dirty="0"/>
          </a:p>
        </p:txBody>
      </p:sp>
      <p:pic>
        <p:nvPicPr>
          <p:cNvPr id="9" name="Picture 8" descr="hero_ric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1417320"/>
            <a:ext cx="4599432" cy="4023360"/>
          </a:xfrm>
          <a:prstGeom prst="roundRect">
            <a:avLst/>
          </a:prstGeom>
          <a:ln w="15875">
            <a:solidFill>
              <a:srgbClr val="A87C2A"/>
            </a:solidFill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60" dirty="0">
                <a:solidFill>
                  <a:srgbClr val="D08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ПОСТАЧАЛЬНИК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BSCM Foods — профіль компанії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Тайський виробник готових страв за ретортною технологією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536192"/>
            <a:ext cx="6675120" cy="4626864"/>
          </a:xfrm>
          <a:prstGeom prst="roundRect">
            <a:avLst>
              <a:gd name="adj" fmla="val 2372"/>
            </a:avLst>
          </a:prstGeom>
          <a:solidFill>
            <a:srgbClr val="0A2214">
              <a:alpha val="90000"/>
            </a:srgbClr>
          </a:solidFill>
          <a:ln w="15875">
            <a:solidFill>
              <a:srgbClr val="A87C2A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6" name="Text 4"/>
          <p:cNvSpPr/>
          <p:nvPr/>
        </p:nvSpPr>
        <p:spPr>
          <a:xfrm>
            <a:off x="841248" y="1737360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0B2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 компанію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41248" y="2103120"/>
            <a:ext cx="6126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BSCM Foods Co., Ltd. — виробник готової до споживання їжі з Бангкока. Портфель поділений на чотири напрями: Ready Rice, Ready Meal, Ready Dessert та Ready Drink. Рис випускається у трьох форматах — пауч, стакан і лоток.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3017520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0B2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Ключові параметри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41248" y="338328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Локація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971800" y="338328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Бангкок, Таїланд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41248" y="371703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Технологія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971800" y="3717036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Ретортна стерилізація, без консервантів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41248" y="405079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Формат в офері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971800" y="405079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Пауч 240 г · 6 шт у коробі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41248" y="438454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Габарит короба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971800" y="438454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 × 140 × 185 мм · 0,004118 м³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41248" y="47183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Термін придатності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971800" y="471830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місяців за кімнатної температури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41248" y="505206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Розігрів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971800" y="505206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Мікрохвильова піч, 60–90 сек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41248" y="538581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 УКТЗЕД / HS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971800" y="5385816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1904 90 10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41248" y="571957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Сертифікація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971800" y="571957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BRCGS · HACCP · USDA/EU Organic · Halal</a:t>
            </a:r>
            <a:endParaRPr lang="en-US" sz="1150" dirty="0"/>
          </a:p>
        </p:txBody>
      </p:sp>
      <p:pic>
        <p:nvPicPr>
          <p:cNvPr id="35" name="Picture 34" descr="bscm_facility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4656" y="1536192"/>
            <a:ext cx="4096512" cy="2834640"/>
          </a:xfrm>
          <a:prstGeom prst="roundRect">
            <a:avLst/>
          </a:prstGeom>
        </p:spPr>
      </p:pic>
      <p:sp>
        <p:nvSpPr>
          <p:cNvPr id="24" name="Shape 21"/>
          <p:cNvSpPr/>
          <p:nvPr/>
        </p:nvSpPr>
        <p:spPr>
          <a:xfrm>
            <a:off x="7534656" y="1536192"/>
            <a:ext cx="4096512" cy="2834640"/>
          </a:xfrm>
          <a:prstGeom prst="rect">
            <a:avLst/>
          </a:prstGeom>
          <a:ln w="15875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5" name="Shape 22"/>
          <p:cNvSpPr/>
          <p:nvPr/>
        </p:nvSpPr>
        <p:spPr>
          <a:xfrm>
            <a:off x="7534656" y="4526280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0A2214">
              <a:alpha val="90000"/>
            </a:srgbClr>
          </a:solidFill>
          <a:ln w="15875">
            <a:solidFill>
              <a:srgbClr val="A87C2A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6" name="Text 23"/>
          <p:cNvSpPr/>
          <p:nvPr/>
        </p:nvSpPr>
        <p:spPr>
          <a:xfrm>
            <a:off x="7717536" y="458114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E0B2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r>
              <a:rPr lang="en-US" sz="1100" dirty="0">
                <a:solidFill>
                  <a:srgbClr val="E0B2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міс</a:t>
            </a:r>
            <a:endParaRPr lang="en-US" sz="1900" dirty="0"/>
          </a:p>
        </p:txBody>
      </p:sp>
      <p:sp>
        <p:nvSpPr>
          <p:cNvPr id="27" name="Text 24"/>
          <p:cNvSpPr/>
          <p:nvPr/>
        </p:nvSpPr>
        <p:spPr>
          <a:xfrm>
            <a:off x="9098280" y="458114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термін придатності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7534656" y="5093208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0A2214">
              <a:alpha val="90000"/>
            </a:srgbClr>
          </a:solidFill>
          <a:ln w="15875">
            <a:solidFill>
              <a:srgbClr val="A87C2A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9" name="Text 26"/>
          <p:cNvSpPr/>
          <p:nvPr/>
        </p:nvSpPr>
        <p:spPr>
          <a:xfrm>
            <a:off x="7717536" y="514807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E0B2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</a:t>
            </a:r>
            <a:r>
              <a:rPr lang="en-US" sz="1100" dirty="0">
                <a:solidFill>
                  <a:srgbClr val="E0B2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сек</a:t>
            </a:r>
            <a:endParaRPr lang="en-US" sz="1900" dirty="0"/>
          </a:p>
        </p:txBody>
      </p:sp>
      <p:sp>
        <p:nvSpPr>
          <p:cNvPr id="30" name="Text 27"/>
          <p:cNvSpPr/>
          <p:nvPr/>
        </p:nvSpPr>
        <p:spPr>
          <a:xfrm>
            <a:off x="9098280" y="514807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розігрів у мікрохвильовці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7534656" y="5660136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0A2214">
              <a:alpha val="90000"/>
            </a:srgbClr>
          </a:solidFill>
          <a:ln w="15875">
            <a:solidFill>
              <a:srgbClr val="A87C2A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32" name="Text 29"/>
          <p:cNvSpPr/>
          <p:nvPr/>
        </p:nvSpPr>
        <p:spPr>
          <a:xfrm>
            <a:off x="7717536" y="57150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E0B2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r>
              <a:rPr lang="en-US" sz="1100" dirty="0">
                <a:solidFill>
                  <a:srgbClr val="E0B2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SKU</a:t>
            </a:r>
            <a:endParaRPr lang="en-US" sz="1900" dirty="0"/>
          </a:p>
        </p:txBody>
      </p:sp>
      <p:sp>
        <p:nvSpPr>
          <p:cNvPr id="33" name="Text 30"/>
          <p:cNvSpPr/>
          <p:nvPr/>
        </p:nvSpPr>
        <p:spPr>
          <a:xfrm>
            <a:off x="9098280" y="57150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поточному офері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2D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Джерело: каталог продукції BSCM Foods, комерційна пропозиція постачальника та корпоративний сайт групи BSCM (bscm.co.th); сертифікати — за каталогом.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60" dirty="0">
                <a:solidFill>
                  <a:srgbClr val="D08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ПОСТАЧАЛЬНИК 1  ·  BSCM FOODS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Ready Rice 6 × 240 г — собівартість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Завантаження навалом, FOB Bangkok · курс 45,00 UAH/USD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0A2214">
              <a:alpha val="90000"/>
            </a:srgbClr>
          </a:solidFill>
          <a:ln w="15875">
            <a:solidFill>
              <a:srgbClr val="A87C2A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pic>
        <p:nvPicPr>
          <p:cNvPr id="74" name="Picture 73" descr="sku_bscm_jasmin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1700784"/>
            <a:ext cx="2340864" cy="1810512"/>
          </a:xfrm>
          <a:prstGeom prst="round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49808" y="1700784"/>
            <a:ext cx="2340864" cy="1810512"/>
          </a:xfrm>
          <a:prstGeom prst="rect">
            <a:avLst/>
          </a:prstGeom>
          <a:ln w="12700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8" name="Shape 5"/>
          <p:cNvSpPr/>
          <p:nvPr/>
        </p:nvSpPr>
        <p:spPr>
          <a:xfrm>
            <a:off x="749808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8A5A20"/>
          </a:solidFill>
          <a:ln w="6350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9" name="Text 6"/>
          <p:cNvSpPr/>
          <p:nvPr/>
        </p:nvSpPr>
        <p:spPr>
          <a:xfrm>
            <a:off x="749808" y="3621024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ПАУЧ 240 Г · RETORT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49808" y="3931920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Jasmine Rice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49808" y="449884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FOB $0,583 · базовий SKU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749808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6391F">
              <a:alpha val="92000"/>
            </a:srgbClr>
          </a:solidFill>
          <a:ln w="9525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3" name="Text 10"/>
          <p:cNvSpPr/>
          <p:nvPr/>
        </p:nvSpPr>
        <p:spPr>
          <a:xfrm>
            <a:off x="859536" y="4855464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E0B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СОБІВАРТІСТЬ, ЗА ПАУЧ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859536" y="505663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20′ FCL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499616" y="505663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$0,995 / 44,79 ₴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859536" y="526237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0B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40′ FCL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499616" y="526237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E0B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$0,892 / 40,15 ₴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859536" y="546811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17 м³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499616" y="546811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$1,001 / 45,03 ₴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859536" y="567385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34 м³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499616" y="567385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$0,928 / 41,77 ₴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3383280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0A2214">
              <a:alpha val="90000"/>
            </a:srgbClr>
          </a:solidFill>
          <a:ln w="15875">
            <a:solidFill>
              <a:srgbClr val="A87C2A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pic>
        <p:nvPicPr>
          <p:cNvPr id="75" name="Picture 74" descr="sku_bscm_mexican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6160" y="1700784"/>
            <a:ext cx="2340864" cy="1810512"/>
          </a:xfrm>
          <a:prstGeom prst="round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3566160" y="1700784"/>
            <a:ext cx="2340864" cy="1810512"/>
          </a:xfrm>
          <a:prstGeom prst="rect">
            <a:avLst/>
          </a:prstGeom>
          <a:ln w="12700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5" name="Shape 21"/>
          <p:cNvSpPr/>
          <p:nvPr/>
        </p:nvSpPr>
        <p:spPr>
          <a:xfrm>
            <a:off x="3566160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8A5A20"/>
          </a:solidFill>
          <a:ln w="6350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6" name="Text 22"/>
          <p:cNvSpPr/>
          <p:nvPr/>
        </p:nvSpPr>
        <p:spPr>
          <a:xfrm>
            <a:off x="3566160" y="3621024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ПАУЧ 240 Г · RETORT</a:t>
            </a:r>
            <a:endParaRPr lang="en-US" sz="850" dirty="0"/>
          </a:p>
        </p:txBody>
      </p:sp>
      <p:sp>
        <p:nvSpPr>
          <p:cNvPr id="27" name="Text 23"/>
          <p:cNvSpPr/>
          <p:nvPr/>
        </p:nvSpPr>
        <p:spPr>
          <a:xfrm>
            <a:off x="3566160" y="3931920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Mexican Rice</a:t>
            </a:r>
            <a:endParaRPr lang="en-US" sz="1450" dirty="0"/>
          </a:p>
        </p:txBody>
      </p:sp>
      <p:sp>
        <p:nvSpPr>
          <p:cNvPr id="28" name="Text 24"/>
          <p:cNvSpPr/>
          <p:nvPr/>
        </p:nvSpPr>
        <p:spPr>
          <a:xfrm>
            <a:off x="3566160" y="449884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FOB $0,667 · смаковий SKU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3566160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6391F">
              <a:alpha val="92000"/>
            </a:srgbClr>
          </a:solidFill>
          <a:ln w="9525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0" name="Text 26"/>
          <p:cNvSpPr/>
          <p:nvPr/>
        </p:nvSpPr>
        <p:spPr>
          <a:xfrm>
            <a:off x="3675888" y="4855464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E0B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СОБІВАРТІСТЬ, ЗА ПАУЧ</a:t>
            </a:r>
            <a:endParaRPr lang="en-US" sz="750" dirty="0"/>
          </a:p>
        </p:txBody>
      </p:sp>
      <p:sp>
        <p:nvSpPr>
          <p:cNvPr id="31" name="Text 27"/>
          <p:cNvSpPr/>
          <p:nvPr/>
        </p:nvSpPr>
        <p:spPr>
          <a:xfrm>
            <a:off x="3675888" y="505663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20′ FCL</a:t>
            </a:r>
            <a:endParaRPr lang="en-US" sz="900" dirty="0"/>
          </a:p>
        </p:txBody>
      </p:sp>
      <p:sp>
        <p:nvSpPr>
          <p:cNvPr id="32" name="Text 28"/>
          <p:cNvSpPr/>
          <p:nvPr/>
        </p:nvSpPr>
        <p:spPr>
          <a:xfrm>
            <a:off x="4315968" y="505663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$1,138 / 51,19 ₴</a:t>
            </a:r>
            <a:endParaRPr lang="en-US" sz="950" dirty="0"/>
          </a:p>
        </p:txBody>
      </p:sp>
      <p:sp>
        <p:nvSpPr>
          <p:cNvPr id="33" name="Text 29"/>
          <p:cNvSpPr/>
          <p:nvPr/>
        </p:nvSpPr>
        <p:spPr>
          <a:xfrm>
            <a:off x="3675888" y="526237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0B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40′ FCL</a:t>
            </a:r>
            <a:endParaRPr lang="en-US" sz="900" dirty="0"/>
          </a:p>
        </p:txBody>
      </p:sp>
      <p:sp>
        <p:nvSpPr>
          <p:cNvPr id="34" name="Text 30"/>
          <p:cNvSpPr/>
          <p:nvPr/>
        </p:nvSpPr>
        <p:spPr>
          <a:xfrm>
            <a:off x="4315968" y="526237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E0B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$1,020 / 45,89 ₴</a:t>
            </a:r>
            <a:endParaRPr lang="en-US" sz="950" dirty="0"/>
          </a:p>
        </p:txBody>
      </p:sp>
      <p:sp>
        <p:nvSpPr>
          <p:cNvPr id="35" name="Text 31"/>
          <p:cNvSpPr/>
          <p:nvPr/>
        </p:nvSpPr>
        <p:spPr>
          <a:xfrm>
            <a:off x="3675888" y="546811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17 м³</a:t>
            </a:r>
            <a:endParaRPr lang="en-US" sz="900" dirty="0"/>
          </a:p>
        </p:txBody>
      </p:sp>
      <p:sp>
        <p:nvSpPr>
          <p:cNvPr id="36" name="Text 32"/>
          <p:cNvSpPr/>
          <p:nvPr/>
        </p:nvSpPr>
        <p:spPr>
          <a:xfrm>
            <a:off x="4315968" y="546811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$1,144 / 51,46 ₴</a:t>
            </a:r>
            <a:endParaRPr lang="en-US" sz="950" dirty="0"/>
          </a:p>
        </p:txBody>
      </p:sp>
      <p:sp>
        <p:nvSpPr>
          <p:cNvPr id="37" name="Text 33"/>
          <p:cNvSpPr/>
          <p:nvPr/>
        </p:nvSpPr>
        <p:spPr>
          <a:xfrm>
            <a:off x="3675888" y="567385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34 м³</a:t>
            </a:r>
            <a:endParaRPr lang="en-US" sz="900" dirty="0"/>
          </a:p>
        </p:txBody>
      </p:sp>
      <p:sp>
        <p:nvSpPr>
          <p:cNvPr id="38" name="Text 34"/>
          <p:cNvSpPr/>
          <p:nvPr/>
        </p:nvSpPr>
        <p:spPr>
          <a:xfrm>
            <a:off x="4315968" y="567385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$1,061 / 47,74 ₴</a:t>
            </a:r>
            <a:endParaRPr lang="en-US" sz="950" dirty="0"/>
          </a:p>
        </p:txBody>
      </p:sp>
      <p:sp>
        <p:nvSpPr>
          <p:cNvPr id="39" name="Shape 35"/>
          <p:cNvSpPr/>
          <p:nvPr/>
        </p:nvSpPr>
        <p:spPr>
          <a:xfrm>
            <a:off x="6199632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0A2214">
              <a:alpha val="90000"/>
            </a:srgbClr>
          </a:solidFill>
          <a:ln w="15875">
            <a:solidFill>
              <a:srgbClr val="A87C2A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pic>
        <p:nvPicPr>
          <p:cNvPr id="76" name="Picture 75" descr="sku_bscm_japanes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2512" y="1700784"/>
            <a:ext cx="2340864" cy="1810512"/>
          </a:xfrm>
          <a:prstGeom prst="roundRect">
            <a:avLst/>
          </a:prstGeom>
        </p:spPr>
      </p:pic>
      <p:sp>
        <p:nvSpPr>
          <p:cNvPr id="41" name="Shape 36"/>
          <p:cNvSpPr/>
          <p:nvPr/>
        </p:nvSpPr>
        <p:spPr>
          <a:xfrm>
            <a:off x="6382512" y="1700784"/>
            <a:ext cx="2340864" cy="1810512"/>
          </a:xfrm>
          <a:prstGeom prst="rect">
            <a:avLst/>
          </a:prstGeom>
          <a:ln w="12700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2" name="Shape 37"/>
          <p:cNvSpPr/>
          <p:nvPr/>
        </p:nvSpPr>
        <p:spPr>
          <a:xfrm>
            <a:off x="6382512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8A5A20"/>
          </a:solidFill>
          <a:ln w="6350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3" name="Text 38"/>
          <p:cNvSpPr/>
          <p:nvPr/>
        </p:nvSpPr>
        <p:spPr>
          <a:xfrm>
            <a:off x="6382512" y="3621024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ПАУЧ 240 Г · RETORT</a:t>
            </a:r>
            <a:endParaRPr lang="en-US" sz="850" dirty="0"/>
          </a:p>
        </p:txBody>
      </p:sp>
      <p:sp>
        <p:nvSpPr>
          <p:cNvPr id="44" name="Text 39"/>
          <p:cNvSpPr/>
          <p:nvPr/>
        </p:nvSpPr>
        <p:spPr>
          <a:xfrm>
            <a:off x="6382512" y="3931920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Japanese Style Rice</a:t>
            </a:r>
            <a:endParaRPr lang="en-US" sz="1450" dirty="0"/>
          </a:p>
        </p:txBody>
      </p:sp>
      <p:sp>
        <p:nvSpPr>
          <p:cNvPr id="45" name="Text 40"/>
          <p:cNvSpPr/>
          <p:nvPr/>
        </p:nvSpPr>
        <p:spPr>
          <a:xfrm>
            <a:off x="6382512" y="449884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FOB $0,667 · смаковий SKU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6382512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6391F">
              <a:alpha val="92000"/>
            </a:srgbClr>
          </a:solidFill>
          <a:ln w="9525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7" name="Text 42"/>
          <p:cNvSpPr/>
          <p:nvPr/>
        </p:nvSpPr>
        <p:spPr>
          <a:xfrm>
            <a:off x="6492240" y="4855464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E0B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СОБІВАРТІСТЬ, ЗА ПАУЧ</a:t>
            </a:r>
            <a:endParaRPr lang="en-US" sz="750" dirty="0"/>
          </a:p>
        </p:txBody>
      </p:sp>
      <p:sp>
        <p:nvSpPr>
          <p:cNvPr id="48" name="Text 43"/>
          <p:cNvSpPr/>
          <p:nvPr/>
        </p:nvSpPr>
        <p:spPr>
          <a:xfrm>
            <a:off x="6492240" y="505663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20′ FCL</a:t>
            </a:r>
            <a:endParaRPr lang="en-US" sz="900" dirty="0"/>
          </a:p>
        </p:txBody>
      </p:sp>
      <p:sp>
        <p:nvSpPr>
          <p:cNvPr id="49" name="Text 44"/>
          <p:cNvSpPr/>
          <p:nvPr/>
        </p:nvSpPr>
        <p:spPr>
          <a:xfrm>
            <a:off x="7132320" y="505663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$1,138 / 51,19 ₴</a:t>
            </a:r>
            <a:endParaRPr lang="en-US" sz="950" dirty="0"/>
          </a:p>
        </p:txBody>
      </p:sp>
      <p:sp>
        <p:nvSpPr>
          <p:cNvPr id="50" name="Text 45"/>
          <p:cNvSpPr/>
          <p:nvPr/>
        </p:nvSpPr>
        <p:spPr>
          <a:xfrm>
            <a:off x="6492240" y="526237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0B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40′ FCL</a:t>
            </a:r>
            <a:endParaRPr lang="en-US" sz="900" dirty="0"/>
          </a:p>
        </p:txBody>
      </p:sp>
      <p:sp>
        <p:nvSpPr>
          <p:cNvPr id="51" name="Text 46"/>
          <p:cNvSpPr/>
          <p:nvPr/>
        </p:nvSpPr>
        <p:spPr>
          <a:xfrm>
            <a:off x="7132320" y="526237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E0B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$1,020 / 45,89 ₴</a:t>
            </a:r>
            <a:endParaRPr lang="en-US" sz="950" dirty="0"/>
          </a:p>
        </p:txBody>
      </p:sp>
      <p:sp>
        <p:nvSpPr>
          <p:cNvPr id="52" name="Text 47"/>
          <p:cNvSpPr/>
          <p:nvPr/>
        </p:nvSpPr>
        <p:spPr>
          <a:xfrm>
            <a:off x="6492240" y="546811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17 м³</a:t>
            </a:r>
            <a:endParaRPr lang="en-US" sz="900" dirty="0"/>
          </a:p>
        </p:txBody>
      </p:sp>
      <p:sp>
        <p:nvSpPr>
          <p:cNvPr id="53" name="Text 48"/>
          <p:cNvSpPr/>
          <p:nvPr/>
        </p:nvSpPr>
        <p:spPr>
          <a:xfrm>
            <a:off x="7132320" y="546811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$1,144 / 51,46 ₴</a:t>
            </a:r>
            <a:endParaRPr lang="en-US" sz="950" dirty="0"/>
          </a:p>
        </p:txBody>
      </p:sp>
      <p:sp>
        <p:nvSpPr>
          <p:cNvPr id="54" name="Text 49"/>
          <p:cNvSpPr/>
          <p:nvPr/>
        </p:nvSpPr>
        <p:spPr>
          <a:xfrm>
            <a:off x="6492240" y="567385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34 м³</a:t>
            </a:r>
            <a:endParaRPr lang="en-US" sz="900" dirty="0"/>
          </a:p>
        </p:txBody>
      </p:sp>
      <p:sp>
        <p:nvSpPr>
          <p:cNvPr id="55" name="Text 50"/>
          <p:cNvSpPr/>
          <p:nvPr/>
        </p:nvSpPr>
        <p:spPr>
          <a:xfrm>
            <a:off x="7132320" y="567385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$1,061 / 47,74 ₴</a:t>
            </a:r>
            <a:endParaRPr lang="en-US" sz="950" dirty="0"/>
          </a:p>
        </p:txBody>
      </p:sp>
      <p:sp>
        <p:nvSpPr>
          <p:cNvPr id="56" name="Shape 51"/>
          <p:cNvSpPr/>
          <p:nvPr/>
        </p:nvSpPr>
        <p:spPr>
          <a:xfrm>
            <a:off x="9015984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0A2214">
              <a:alpha val="90000"/>
            </a:srgbClr>
          </a:solidFill>
          <a:ln w="15875">
            <a:solidFill>
              <a:srgbClr val="A87C2A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pic>
        <p:nvPicPr>
          <p:cNvPr id="77" name="Picture 76" descr="sku_bscm_hotspicy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98864" y="1700784"/>
            <a:ext cx="2340864" cy="1810512"/>
          </a:xfrm>
          <a:prstGeom prst="roundRect">
            <a:avLst/>
          </a:prstGeom>
        </p:spPr>
      </p:pic>
      <p:sp>
        <p:nvSpPr>
          <p:cNvPr id="58" name="Shape 52"/>
          <p:cNvSpPr/>
          <p:nvPr/>
        </p:nvSpPr>
        <p:spPr>
          <a:xfrm>
            <a:off x="9198864" y="1700784"/>
            <a:ext cx="2340864" cy="1810512"/>
          </a:xfrm>
          <a:prstGeom prst="rect">
            <a:avLst/>
          </a:prstGeom>
          <a:ln w="12700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59" name="Shape 53"/>
          <p:cNvSpPr/>
          <p:nvPr/>
        </p:nvSpPr>
        <p:spPr>
          <a:xfrm>
            <a:off x="9198864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8A5A20"/>
          </a:solidFill>
          <a:ln w="6350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0" name="Text 54"/>
          <p:cNvSpPr/>
          <p:nvPr/>
        </p:nvSpPr>
        <p:spPr>
          <a:xfrm>
            <a:off x="9198864" y="3621024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ПАУЧ 240 Г · RETORT</a:t>
            </a:r>
            <a:endParaRPr lang="en-US" sz="850" dirty="0"/>
          </a:p>
        </p:txBody>
      </p:sp>
      <p:sp>
        <p:nvSpPr>
          <p:cNvPr id="61" name="Text 55"/>
          <p:cNvSpPr/>
          <p:nvPr/>
        </p:nvSpPr>
        <p:spPr>
          <a:xfrm>
            <a:off x="9198864" y="3931920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Hot and Spicy Rice</a:t>
            </a:r>
            <a:endParaRPr lang="en-US" sz="1450" dirty="0"/>
          </a:p>
        </p:txBody>
      </p:sp>
      <p:sp>
        <p:nvSpPr>
          <p:cNvPr id="62" name="Text 56"/>
          <p:cNvSpPr/>
          <p:nvPr/>
        </p:nvSpPr>
        <p:spPr>
          <a:xfrm>
            <a:off x="9198864" y="449884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FOB $0,750 · смаковий SKU</a:t>
            </a:r>
            <a:endParaRPr lang="en-US" sz="1000" dirty="0"/>
          </a:p>
        </p:txBody>
      </p:sp>
      <p:sp>
        <p:nvSpPr>
          <p:cNvPr id="63" name="Shape 57"/>
          <p:cNvSpPr/>
          <p:nvPr/>
        </p:nvSpPr>
        <p:spPr>
          <a:xfrm>
            <a:off x="9198864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6391F">
              <a:alpha val="92000"/>
            </a:srgbClr>
          </a:solidFill>
          <a:ln w="9525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4" name="Text 58"/>
          <p:cNvSpPr/>
          <p:nvPr/>
        </p:nvSpPr>
        <p:spPr>
          <a:xfrm>
            <a:off x="9308592" y="4855464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E0B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СОБІВАРТІСТЬ, ЗА ПАУЧ</a:t>
            </a:r>
            <a:endParaRPr lang="en-US" sz="750" dirty="0"/>
          </a:p>
        </p:txBody>
      </p:sp>
      <p:sp>
        <p:nvSpPr>
          <p:cNvPr id="65" name="Text 59"/>
          <p:cNvSpPr/>
          <p:nvPr/>
        </p:nvSpPr>
        <p:spPr>
          <a:xfrm>
            <a:off x="9308592" y="505663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20′ FCL</a:t>
            </a:r>
            <a:endParaRPr lang="en-US" sz="900" dirty="0"/>
          </a:p>
        </p:txBody>
      </p:sp>
      <p:sp>
        <p:nvSpPr>
          <p:cNvPr id="66" name="Text 60"/>
          <p:cNvSpPr/>
          <p:nvPr/>
        </p:nvSpPr>
        <p:spPr>
          <a:xfrm>
            <a:off x="9948672" y="505663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$1,280 / 57,59 ₴</a:t>
            </a:r>
            <a:endParaRPr lang="en-US" sz="950" dirty="0"/>
          </a:p>
        </p:txBody>
      </p:sp>
      <p:sp>
        <p:nvSpPr>
          <p:cNvPr id="67" name="Text 61"/>
          <p:cNvSpPr/>
          <p:nvPr/>
        </p:nvSpPr>
        <p:spPr>
          <a:xfrm>
            <a:off x="9308592" y="526237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0B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40′ FCL</a:t>
            </a:r>
            <a:endParaRPr lang="en-US" sz="900" dirty="0"/>
          </a:p>
        </p:txBody>
      </p:sp>
      <p:sp>
        <p:nvSpPr>
          <p:cNvPr id="68" name="Text 62"/>
          <p:cNvSpPr/>
          <p:nvPr/>
        </p:nvSpPr>
        <p:spPr>
          <a:xfrm>
            <a:off x="9948672" y="526237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E0B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$1,147 / 51,63 ₴</a:t>
            </a:r>
            <a:endParaRPr lang="en-US" sz="950" dirty="0"/>
          </a:p>
        </p:txBody>
      </p:sp>
      <p:sp>
        <p:nvSpPr>
          <p:cNvPr id="69" name="Text 63"/>
          <p:cNvSpPr/>
          <p:nvPr/>
        </p:nvSpPr>
        <p:spPr>
          <a:xfrm>
            <a:off x="9308592" y="546811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17 м³</a:t>
            </a:r>
            <a:endParaRPr lang="en-US" sz="900" dirty="0"/>
          </a:p>
        </p:txBody>
      </p:sp>
      <p:sp>
        <p:nvSpPr>
          <p:cNvPr id="70" name="Text 64"/>
          <p:cNvSpPr/>
          <p:nvPr/>
        </p:nvSpPr>
        <p:spPr>
          <a:xfrm>
            <a:off x="9948672" y="546811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$1,287 / 57,89 ₴</a:t>
            </a:r>
            <a:endParaRPr lang="en-US" sz="950" dirty="0"/>
          </a:p>
        </p:txBody>
      </p:sp>
      <p:sp>
        <p:nvSpPr>
          <p:cNvPr id="71" name="Text 65"/>
          <p:cNvSpPr/>
          <p:nvPr/>
        </p:nvSpPr>
        <p:spPr>
          <a:xfrm>
            <a:off x="9308592" y="567385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34 м³</a:t>
            </a:r>
            <a:endParaRPr lang="en-US" sz="900" dirty="0"/>
          </a:p>
        </p:txBody>
      </p:sp>
      <p:sp>
        <p:nvSpPr>
          <p:cNvPr id="72" name="Text 66"/>
          <p:cNvSpPr/>
          <p:nvPr/>
        </p:nvSpPr>
        <p:spPr>
          <a:xfrm>
            <a:off x="9948672" y="567385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$1,193 / 53,70 ₴</a:t>
            </a:r>
            <a:endParaRPr lang="en-US" sz="950" dirty="0"/>
          </a:p>
        </p:txBody>
      </p:sp>
      <p:sp>
        <p:nvSpPr>
          <p:cNvPr id="73" name="Text 67"/>
          <p:cNvSpPr/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2D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упаковки — з каталогу BSCM Foods; для Japanese Style Rice постачальник фото не надав. Собівартість: мито 10%, ПДВ 20%, транспорт, кредитні гроші 2,5%.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60" dirty="0">
                <a:solidFill>
                  <a:srgbClr val="6F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ПОСТАЧАЛЬНИК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CM Premium Rice — профіль компанії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Виробник органічного рису та готових страв, бренди Q Rice · Golden Phoenix · Chefrey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536192"/>
            <a:ext cx="6675120" cy="4626864"/>
          </a:xfrm>
          <a:prstGeom prst="roundRect">
            <a:avLst>
              <a:gd name="adj" fmla="val 2372"/>
            </a:avLst>
          </a:prstGeom>
          <a:solidFill>
            <a:srgbClr val="0A2214">
              <a:alpha val="90000"/>
            </a:srgbClr>
          </a:solidFill>
          <a:ln w="15875">
            <a:solidFill>
              <a:srgbClr val="A87C2A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6" name="Text 4"/>
          <p:cNvSpPr/>
          <p:nvPr/>
        </p:nvSpPr>
        <p:spPr>
          <a:xfrm>
            <a:off x="841248" y="1737360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0B2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 компанію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41248" y="2103120"/>
            <a:ext cx="6126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 Premium Rice Co., Ltd. — тайський переробник рису з власними елеваторами та лінією фасування у Nakhon Ratchasima. Працює під брендами Q Rice, Golden Phoenix і Chefrey; 99% сировини — тайського походження.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3017520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0B2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Ключові параметри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41248" y="340156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Локація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971800" y="340156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Офіс Nonthaburi · завод Nakhon Ratchasima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41248" y="376732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ринку з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971800" y="376732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2016 · останнє оновлення ліній 2024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41248" y="413308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Потужність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971800" y="413308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10 000 тонн на місяць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41248" y="449884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Сертифікація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971800" y="449884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USDA Organic · EU Organic · BRCGS · HACCP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41248" y="48646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Формат в офері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971800" y="486460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Пауч 250 г · 24 шт у коробі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41248" y="523036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Габарит короба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971800" y="523036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× 400 × 200 мм · 0,016 м³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41248" y="559612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Термін виконання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971800" y="559612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30 днів від контракту до ETD</a:t>
            </a:r>
            <a:endParaRPr lang="en-US" sz="1150" dirty="0"/>
          </a:p>
        </p:txBody>
      </p:sp>
      <p:pic>
        <p:nvPicPr>
          <p:cNvPr id="23" name="Image 0" descr="assets/cmp_silo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534656" y="1536192"/>
            <a:ext cx="4096512" cy="2834640"/>
          </a:xfrm>
          <a:prstGeom prst="roundRect">
            <a:avLst/>
          </a:prstGeom>
        </p:spPr>
      </p:pic>
      <p:sp>
        <p:nvSpPr>
          <p:cNvPr id="24" name="Shape 21"/>
          <p:cNvSpPr/>
          <p:nvPr/>
        </p:nvSpPr>
        <p:spPr>
          <a:xfrm>
            <a:off x="7534656" y="1536192"/>
            <a:ext cx="4096512" cy="2834640"/>
          </a:xfrm>
          <a:prstGeom prst="rect">
            <a:avLst/>
          </a:prstGeom>
          <a:ln w="15875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5" name="Shape 22"/>
          <p:cNvSpPr/>
          <p:nvPr/>
        </p:nvSpPr>
        <p:spPr>
          <a:xfrm>
            <a:off x="7534656" y="4526280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0A2214">
              <a:alpha val="90000"/>
            </a:srgbClr>
          </a:solidFill>
          <a:ln w="15875">
            <a:solidFill>
              <a:srgbClr val="A87C2A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6" name="Text 23"/>
          <p:cNvSpPr/>
          <p:nvPr/>
        </p:nvSpPr>
        <p:spPr>
          <a:xfrm>
            <a:off x="7717536" y="458114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E0B2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2016</a:t>
            </a:r>
            <a:endParaRPr lang="en-US" sz="1900" dirty="0"/>
          </a:p>
        </p:txBody>
      </p:sp>
      <p:sp>
        <p:nvSpPr>
          <p:cNvPr id="27" name="Text 24"/>
          <p:cNvSpPr/>
          <p:nvPr/>
        </p:nvSpPr>
        <p:spPr>
          <a:xfrm>
            <a:off x="9418320" y="4581144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рік початку роботи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7534656" y="5093208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0A2214">
              <a:alpha val="90000"/>
            </a:srgbClr>
          </a:solidFill>
          <a:ln w="15875">
            <a:solidFill>
              <a:srgbClr val="A87C2A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9" name="Text 26"/>
          <p:cNvSpPr/>
          <p:nvPr/>
        </p:nvSpPr>
        <p:spPr>
          <a:xfrm>
            <a:off x="7717536" y="514807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E0B2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10 000</a:t>
            </a:r>
            <a:r>
              <a:rPr lang="en-US" sz="1100" dirty="0">
                <a:solidFill>
                  <a:srgbClr val="E0B2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т/міс</a:t>
            </a:r>
            <a:endParaRPr lang="en-US" sz="1900" dirty="0"/>
          </a:p>
        </p:txBody>
      </p:sp>
      <p:sp>
        <p:nvSpPr>
          <p:cNvPr id="30" name="Text 27"/>
          <p:cNvSpPr/>
          <p:nvPr/>
        </p:nvSpPr>
        <p:spPr>
          <a:xfrm>
            <a:off x="9418320" y="5148072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виробнича потужність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7534656" y="5660136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0A2214">
              <a:alpha val="90000"/>
            </a:srgbClr>
          </a:solidFill>
          <a:ln w="15875">
            <a:solidFill>
              <a:srgbClr val="A87C2A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32" name="Text 29"/>
          <p:cNvSpPr/>
          <p:nvPr/>
        </p:nvSpPr>
        <p:spPr>
          <a:xfrm>
            <a:off x="7717536" y="57150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E0B2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</a:t>
            </a:r>
            <a:r>
              <a:rPr lang="en-US" sz="1100" dirty="0">
                <a:solidFill>
                  <a:srgbClr val="E0B2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%</a:t>
            </a:r>
            <a:endParaRPr lang="en-US" sz="1900" dirty="0"/>
          </a:p>
        </p:txBody>
      </p:sp>
      <p:sp>
        <p:nvSpPr>
          <p:cNvPr id="33" name="Text 30"/>
          <p:cNvSpPr/>
          <p:nvPr/>
        </p:nvSpPr>
        <p:spPr>
          <a:xfrm>
            <a:off x="9418320" y="571500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сировини з Таїланду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2D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Джерело: корпоративна презентація CM Premium Rice Co., Ltd. та прайс-лист Chefrey.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60" dirty="0">
                <a:solidFill>
                  <a:srgbClr val="6F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ПОСТАЧАЛЬНИК 2  ·  CHEFREY / CM PREMIUM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Chefrey Organic RTE 6 × 250 г — собівартість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Завантаження навалом, FOB Bangkok · курс 45,00 UAH/USD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0A2214">
              <a:alpha val="90000"/>
            </a:srgbClr>
          </a:solidFill>
          <a:ln w="15875">
            <a:solidFill>
              <a:srgbClr val="A87C2A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pic>
        <p:nvPicPr>
          <p:cNvPr id="6" name="Image 0" descr="assets/prod_turmeric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49808" y="1700784"/>
            <a:ext cx="2340864" cy="1810512"/>
          </a:xfrm>
          <a:prstGeom prst="round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49808" y="1700784"/>
            <a:ext cx="2340864" cy="1810512"/>
          </a:xfrm>
          <a:prstGeom prst="rect">
            <a:avLst/>
          </a:prstGeom>
          <a:ln w="12700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8" name="Shape 5"/>
          <p:cNvSpPr/>
          <p:nvPr/>
        </p:nvSpPr>
        <p:spPr>
          <a:xfrm>
            <a:off x="749808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2E6B3A"/>
          </a:solidFill>
          <a:ln w="6350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9" name="Text 6"/>
          <p:cNvSpPr/>
          <p:nvPr/>
        </p:nvSpPr>
        <p:spPr>
          <a:xfrm>
            <a:off x="749808" y="3621024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ПАУЧ 250 Г · ORGANIC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49808" y="3931920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Turmeric Basmati</a:t>
            </a:r>
            <a:endParaRPr lang="en-US" sz="1450" dirty="0"/>
          </a:p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Cumin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49808" y="449884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FOB $0,667 · Mixed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749808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6391F">
              <a:alpha val="92000"/>
            </a:srgbClr>
          </a:solidFill>
          <a:ln w="9525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3" name="Text 10"/>
          <p:cNvSpPr/>
          <p:nvPr/>
        </p:nvSpPr>
        <p:spPr>
          <a:xfrm>
            <a:off x="859536" y="4855464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E0B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СОБІВАРТІСТЬ, ЗА ПАУЧ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859536" y="505663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20′ FCL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499616" y="505663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$1,133 / 50,99 ₴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859536" y="526237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0B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40′ FCL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499616" y="526237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E0B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$1,028 / 46,27 ₴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859536" y="546811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17 м³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499616" y="546811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$1,339 / 60,27 ₴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859536" y="567385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34 м³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499616" y="567385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$1,056 / 47,53 ₴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3383280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0A2214">
              <a:alpha val="90000"/>
            </a:srgbClr>
          </a:solidFill>
          <a:ln w="15875">
            <a:solidFill>
              <a:srgbClr val="A87C2A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pic>
        <p:nvPicPr>
          <p:cNvPr id="23" name="Image 1" descr="assets/prod_garlic.jp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566160" y="1700784"/>
            <a:ext cx="2340864" cy="1810512"/>
          </a:xfrm>
          <a:prstGeom prst="round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3566160" y="1700784"/>
            <a:ext cx="2340864" cy="1810512"/>
          </a:xfrm>
          <a:prstGeom prst="rect">
            <a:avLst/>
          </a:prstGeom>
          <a:ln w="12700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5" name="Shape 21"/>
          <p:cNvSpPr/>
          <p:nvPr/>
        </p:nvSpPr>
        <p:spPr>
          <a:xfrm>
            <a:off x="3566160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2E6B3A"/>
          </a:solidFill>
          <a:ln w="6350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6" name="Text 22"/>
          <p:cNvSpPr/>
          <p:nvPr/>
        </p:nvSpPr>
        <p:spPr>
          <a:xfrm>
            <a:off x="3566160" y="3621024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ПАУЧ 250 Г · ORGANIC</a:t>
            </a:r>
            <a:endParaRPr lang="en-US" sz="850" dirty="0"/>
          </a:p>
        </p:txBody>
      </p:sp>
      <p:sp>
        <p:nvSpPr>
          <p:cNvPr id="27" name="Text 23"/>
          <p:cNvSpPr/>
          <p:nvPr/>
        </p:nvSpPr>
        <p:spPr>
          <a:xfrm>
            <a:off x="3566160" y="3931920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Garlic Fried Rice</a:t>
            </a:r>
            <a:endParaRPr lang="en-US" sz="1450" dirty="0"/>
          </a:p>
        </p:txBody>
      </p:sp>
      <p:sp>
        <p:nvSpPr>
          <p:cNvPr id="28" name="Text 24"/>
          <p:cNvSpPr/>
          <p:nvPr/>
        </p:nvSpPr>
        <p:spPr>
          <a:xfrm>
            <a:off x="3566160" y="449884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FOB $0,667 · Mixed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3566160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6391F">
              <a:alpha val="92000"/>
            </a:srgbClr>
          </a:solidFill>
          <a:ln w="9525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0" name="Text 26"/>
          <p:cNvSpPr/>
          <p:nvPr/>
        </p:nvSpPr>
        <p:spPr>
          <a:xfrm>
            <a:off x="3675888" y="4855464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E0B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СОБІВАРТІСТЬ, ЗА ПАУЧ</a:t>
            </a:r>
            <a:endParaRPr lang="en-US" sz="750" dirty="0"/>
          </a:p>
        </p:txBody>
      </p:sp>
      <p:sp>
        <p:nvSpPr>
          <p:cNvPr id="31" name="Text 27"/>
          <p:cNvSpPr/>
          <p:nvPr/>
        </p:nvSpPr>
        <p:spPr>
          <a:xfrm>
            <a:off x="3675888" y="505663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20′ FCL</a:t>
            </a:r>
            <a:endParaRPr lang="en-US" sz="900" dirty="0"/>
          </a:p>
        </p:txBody>
      </p:sp>
      <p:sp>
        <p:nvSpPr>
          <p:cNvPr id="32" name="Text 28"/>
          <p:cNvSpPr/>
          <p:nvPr/>
        </p:nvSpPr>
        <p:spPr>
          <a:xfrm>
            <a:off x="4315968" y="505663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$1,133 / 50,99 ₴</a:t>
            </a:r>
            <a:endParaRPr lang="en-US" sz="950" dirty="0"/>
          </a:p>
        </p:txBody>
      </p:sp>
      <p:sp>
        <p:nvSpPr>
          <p:cNvPr id="33" name="Text 29"/>
          <p:cNvSpPr/>
          <p:nvPr/>
        </p:nvSpPr>
        <p:spPr>
          <a:xfrm>
            <a:off x="3675888" y="526237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0B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40′ FCL</a:t>
            </a:r>
            <a:endParaRPr lang="en-US" sz="900" dirty="0"/>
          </a:p>
        </p:txBody>
      </p:sp>
      <p:sp>
        <p:nvSpPr>
          <p:cNvPr id="34" name="Text 30"/>
          <p:cNvSpPr/>
          <p:nvPr/>
        </p:nvSpPr>
        <p:spPr>
          <a:xfrm>
            <a:off x="4315968" y="526237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E0B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$1,028 / 46,27 ₴</a:t>
            </a:r>
            <a:endParaRPr lang="en-US" sz="950" dirty="0"/>
          </a:p>
        </p:txBody>
      </p:sp>
      <p:sp>
        <p:nvSpPr>
          <p:cNvPr id="35" name="Text 31"/>
          <p:cNvSpPr/>
          <p:nvPr/>
        </p:nvSpPr>
        <p:spPr>
          <a:xfrm>
            <a:off x="3675888" y="546811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17 м³</a:t>
            </a:r>
            <a:endParaRPr lang="en-US" sz="900" dirty="0"/>
          </a:p>
        </p:txBody>
      </p:sp>
      <p:sp>
        <p:nvSpPr>
          <p:cNvPr id="36" name="Text 32"/>
          <p:cNvSpPr/>
          <p:nvPr/>
        </p:nvSpPr>
        <p:spPr>
          <a:xfrm>
            <a:off x="4315968" y="546811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$1,339 / 60,27 ₴</a:t>
            </a:r>
            <a:endParaRPr lang="en-US" sz="950" dirty="0"/>
          </a:p>
        </p:txBody>
      </p:sp>
      <p:sp>
        <p:nvSpPr>
          <p:cNvPr id="37" name="Text 33"/>
          <p:cNvSpPr/>
          <p:nvPr/>
        </p:nvSpPr>
        <p:spPr>
          <a:xfrm>
            <a:off x="3675888" y="567385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34 м³</a:t>
            </a:r>
            <a:endParaRPr lang="en-US" sz="900" dirty="0"/>
          </a:p>
        </p:txBody>
      </p:sp>
      <p:sp>
        <p:nvSpPr>
          <p:cNvPr id="38" name="Text 34"/>
          <p:cNvSpPr/>
          <p:nvPr/>
        </p:nvSpPr>
        <p:spPr>
          <a:xfrm>
            <a:off x="4315968" y="567385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$1,056 / 47,53 ₴</a:t>
            </a:r>
            <a:endParaRPr lang="en-US" sz="950" dirty="0"/>
          </a:p>
        </p:txBody>
      </p:sp>
      <p:sp>
        <p:nvSpPr>
          <p:cNvPr id="39" name="Shape 35"/>
          <p:cNvSpPr/>
          <p:nvPr/>
        </p:nvSpPr>
        <p:spPr>
          <a:xfrm>
            <a:off x="6199632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0A2214">
              <a:alpha val="90000"/>
            </a:srgbClr>
          </a:solidFill>
          <a:ln w="15875">
            <a:solidFill>
              <a:srgbClr val="A87C2A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pic>
        <p:nvPicPr>
          <p:cNvPr id="40" name="Image 2" descr="assets/prod_cilantro.jp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382512" y="1700784"/>
            <a:ext cx="2340864" cy="1810512"/>
          </a:xfrm>
          <a:prstGeom prst="roundRect">
            <a:avLst/>
          </a:prstGeom>
        </p:spPr>
      </p:pic>
      <p:sp>
        <p:nvSpPr>
          <p:cNvPr id="41" name="Shape 36"/>
          <p:cNvSpPr/>
          <p:nvPr/>
        </p:nvSpPr>
        <p:spPr>
          <a:xfrm>
            <a:off x="6382512" y="1700784"/>
            <a:ext cx="2340864" cy="1810512"/>
          </a:xfrm>
          <a:prstGeom prst="rect">
            <a:avLst/>
          </a:prstGeom>
          <a:ln w="12700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2" name="Shape 37"/>
          <p:cNvSpPr/>
          <p:nvPr/>
        </p:nvSpPr>
        <p:spPr>
          <a:xfrm>
            <a:off x="6382512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2E6B3A"/>
          </a:solidFill>
          <a:ln w="6350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3" name="Text 38"/>
          <p:cNvSpPr/>
          <p:nvPr/>
        </p:nvSpPr>
        <p:spPr>
          <a:xfrm>
            <a:off x="6382512" y="3621024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ПАУЧ 250 Г · ORGANIC</a:t>
            </a:r>
            <a:endParaRPr lang="en-US" sz="850" dirty="0"/>
          </a:p>
        </p:txBody>
      </p:sp>
      <p:sp>
        <p:nvSpPr>
          <p:cNvPr id="44" name="Text 39"/>
          <p:cNvSpPr/>
          <p:nvPr/>
        </p:nvSpPr>
        <p:spPr>
          <a:xfrm>
            <a:off x="6382512" y="3931920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Cilantro Lime Rice</a:t>
            </a:r>
            <a:endParaRPr lang="en-US" sz="1450" dirty="0"/>
          </a:p>
        </p:txBody>
      </p:sp>
      <p:sp>
        <p:nvSpPr>
          <p:cNvPr id="45" name="Text 40"/>
          <p:cNvSpPr/>
          <p:nvPr/>
        </p:nvSpPr>
        <p:spPr>
          <a:xfrm>
            <a:off x="6382512" y="449884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FOB $0,667 · Mixed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6382512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6391F">
              <a:alpha val="92000"/>
            </a:srgbClr>
          </a:solidFill>
          <a:ln w="9525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7" name="Text 42"/>
          <p:cNvSpPr/>
          <p:nvPr/>
        </p:nvSpPr>
        <p:spPr>
          <a:xfrm>
            <a:off x="6492240" y="4855464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E0B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СОБІВАРТІСТЬ, ЗА ПАУЧ</a:t>
            </a:r>
            <a:endParaRPr lang="en-US" sz="750" dirty="0"/>
          </a:p>
        </p:txBody>
      </p:sp>
      <p:sp>
        <p:nvSpPr>
          <p:cNvPr id="48" name="Text 43"/>
          <p:cNvSpPr/>
          <p:nvPr/>
        </p:nvSpPr>
        <p:spPr>
          <a:xfrm>
            <a:off x="6492240" y="505663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20′ FCL</a:t>
            </a:r>
            <a:endParaRPr lang="en-US" sz="900" dirty="0"/>
          </a:p>
        </p:txBody>
      </p:sp>
      <p:sp>
        <p:nvSpPr>
          <p:cNvPr id="49" name="Text 44"/>
          <p:cNvSpPr/>
          <p:nvPr/>
        </p:nvSpPr>
        <p:spPr>
          <a:xfrm>
            <a:off x="7132320" y="505663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$1,133 / 50,99 ₴</a:t>
            </a:r>
            <a:endParaRPr lang="en-US" sz="950" dirty="0"/>
          </a:p>
        </p:txBody>
      </p:sp>
      <p:sp>
        <p:nvSpPr>
          <p:cNvPr id="50" name="Text 45"/>
          <p:cNvSpPr/>
          <p:nvPr/>
        </p:nvSpPr>
        <p:spPr>
          <a:xfrm>
            <a:off x="6492240" y="526237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0B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40′ FCL</a:t>
            </a:r>
            <a:endParaRPr lang="en-US" sz="900" dirty="0"/>
          </a:p>
        </p:txBody>
      </p:sp>
      <p:sp>
        <p:nvSpPr>
          <p:cNvPr id="51" name="Text 46"/>
          <p:cNvSpPr/>
          <p:nvPr/>
        </p:nvSpPr>
        <p:spPr>
          <a:xfrm>
            <a:off x="7132320" y="526237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E0B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$1,028 / 46,27 ₴</a:t>
            </a:r>
            <a:endParaRPr lang="en-US" sz="950" dirty="0"/>
          </a:p>
        </p:txBody>
      </p:sp>
      <p:sp>
        <p:nvSpPr>
          <p:cNvPr id="52" name="Text 47"/>
          <p:cNvSpPr/>
          <p:nvPr/>
        </p:nvSpPr>
        <p:spPr>
          <a:xfrm>
            <a:off x="6492240" y="546811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17 м³</a:t>
            </a:r>
            <a:endParaRPr lang="en-US" sz="900" dirty="0"/>
          </a:p>
        </p:txBody>
      </p:sp>
      <p:sp>
        <p:nvSpPr>
          <p:cNvPr id="53" name="Text 48"/>
          <p:cNvSpPr/>
          <p:nvPr/>
        </p:nvSpPr>
        <p:spPr>
          <a:xfrm>
            <a:off x="7132320" y="546811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$1,339 / 60,27 ₴</a:t>
            </a:r>
            <a:endParaRPr lang="en-US" sz="950" dirty="0"/>
          </a:p>
        </p:txBody>
      </p:sp>
      <p:sp>
        <p:nvSpPr>
          <p:cNvPr id="54" name="Text 49"/>
          <p:cNvSpPr/>
          <p:nvPr/>
        </p:nvSpPr>
        <p:spPr>
          <a:xfrm>
            <a:off x="6492240" y="567385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34 м³</a:t>
            </a:r>
            <a:endParaRPr lang="en-US" sz="900" dirty="0"/>
          </a:p>
        </p:txBody>
      </p:sp>
      <p:sp>
        <p:nvSpPr>
          <p:cNvPr id="55" name="Text 50"/>
          <p:cNvSpPr/>
          <p:nvPr/>
        </p:nvSpPr>
        <p:spPr>
          <a:xfrm>
            <a:off x="7132320" y="567385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$1,056 / 47,53 ₴</a:t>
            </a:r>
            <a:endParaRPr lang="en-US" sz="950" dirty="0"/>
          </a:p>
        </p:txBody>
      </p:sp>
      <p:sp>
        <p:nvSpPr>
          <p:cNvPr id="56" name="Shape 51"/>
          <p:cNvSpPr/>
          <p:nvPr/>
        </p:nvSpPr>
        <p:spPr>
          <a:xfrm>
            <a:off x="9015984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0A2214">
              <a:alpha val="90000"/>
            </a:srgbClr>
          </a:solidFill>
          <a:ln w="15875">
            <a:solidFill>
              <a:srgbClr val="A87C2A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pic>
        <p:nvPicPr>
          <p:cNvPr id="57" name="Image 3" descr="assets/prod_jasmine.jp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9198864" y="1700784"/>
            <a:ext cx="2340864" cy="1810512"/>
          </a:xfrm>
          <a:prstGeom prst="roundRect">
            <a:avLst/>
          </a:prstGeom>
        </p:spPr>
      </p:pic>
      <p:sp>
        <p:nvSpPr>
          <p:cNvPr id="58" name="Shape 52"/>
          <p:cNvSpPr/>
          <p:nvPr/>
        </p:nvSpPr>
        <p:spPr>
          <a:xfrm>
            <a:off x="9198864" y="1700784"/>
            <a:ext cx="2340864" cy="1810512"/>
          </a:xfrm>
          <a:prstGeom prst="rect">
            <a:avLst/>
          </a:prstGeom>
          <a:ln w="12700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59" name="Shape 53"/>
          <p:cNvSpPr/>
          <p:nvPr/>
        </p:nvSpPr>
        <p:spPr>
          <a:xfrm>
            <a:off x="9198864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2E6B3A"/>
          </a:solidFill>
          <a:ln w="6350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0" name="Text 54"/>
          <p:cNvSpPr/>
          <p:nvPr/>
        </p:nvSpPr>
        <p:spPr>
          <a:xfrm>
            <a:off x="9198864" y="3621024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ПАУЧ 250 Г · ORGANIC</a:t>
            </a:r>
            <a:endParaRPr lang="en-US" sz="850" dirty="0"/>
          </a:p>
        </p:txBody>
      </p:sp>
      <p:sp>
        <p:nvSpPr>
          <p:cNvPr id="61" name="Text 55"/>
          <p:cNvSpPr/>
          <p:nvPr/>
        </p:nvSpPr>
        <p:spPr>
          <a:xfrm>
            <a:off x="9198864" y="3931920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Jasmine Rice</a:t>
            </a:r>
            <a:endParaRPr lang="en-US" sz="1450" dirty="0"/>
          </a:p>
        </p:txBody>
      </p:sp>
      <p:sp>
        <p:nvSpPr>
          <p:cNvPr id="62" name="Text 56"/>
          <p:cNvSpPr/>
          <p:nvPr/>
        </p:nvSpPr>
        <p:spPr>
          <a:xfrm>
            <a:off x="9198864" y="449884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FOB $0,583 · Plain</a:t>
            </a:r>
            <a:endParaRPr lang="en-US" sz="1000" dirty="0"/>
          </a:p>
        </p:txBody>
      </p:sp>
      <p:sp>
        <p:nvSpPr>
          <p:cNvPr id="63" name="Shape 57"/>
          <p:cNvSpPr/>
          <p:nvPr/>
        </p:nvSpPr>
        <p:spPr>
          <a:xfrm>
            <a:off x="9198864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6391F">
              <a:alpha val="92000"/>
            </a:srgbClr>
          </a:solidFill>
          <a:ln w="9525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4" name="Text 58"/>
          <p:cNvSpPr/>
          <p:nvPr/>
        </p:nvSpPr>
        <p:spPr>
          <a:xfrm>
            <a:off x="9308592" y="4855464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E0B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СОБІВАРТІСТЬ, ЗА ПАУЧ</a:t>
            </a:r>
            <a:endParaRPr lang="en-US" sz="750" dirty="0"/>
          </a:p>
        </p:txBody>
      </p:sp>
      <p:sp>
        <p:nvSpPr>
          <p:cNvPr id="65" name="Text 59"/>
          <p:cNvSpPr/>
          <p:nvPr/>
        </p:nvSpPr>
        <p:spPr>
          <a:xfrm>
            <a:off x="9308592" y="505663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20′ FCL</a:t>
            </a:r>
            <a:endParaRPr lang="en-US" sz="900" dirty="0"/>
          </a:p>
        </p:txBody>
      </p:sp>
      <p:sp>
        <p:nvSpPr>
          <p:cNvPr id="66" name="Text 60"/>
          <p:cNvSpPr/>
          <p:nvPr/>
        </p:nvSpPr>
        <p:spPr>
          <a:xfrm>
            <a:off x="9948672" y="505663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$1,020 / 45,91 ₴</a:t>
            </a:r>
            <a:endParaRPr lang="en-US" sz="950" dirty="0"/>
          </a:p>
        </p:txBody>
      </p:sp>
      <p:sp>
        <p:nvSpPr>
          <p:cNvPr id="67" name="Text 61"/>
          <p:cNvSpPr/>
          <p:nvPr/>
        </p:nvSpPr>
        <p:spPr>
          <a:xfrm>
            <a:off x="9308592" y="526237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0B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40′ FCL</a:t>
            </a:r>
            <a:endParaRPr lang="en-US" sz="900" dirty="0"/>
          </a:p>
        </p:txBody>
      </p:sp>
      <p:sp>
        <p:nvSpPr>
          <p:cNvPr id="68" name="Text 62"/>
          <p:cNvSpPr/>
          <p:nvPr/>
        </p:nvSpPr>
        <p:spPr>
          <a:xfrm>
            <a:off x="9948672" y="526237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E0B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$0,915 / 41,20 ₴</a:t>
            </a:r>
            <a:endParaRPr lang="en-US" sz="950" dirty="0"/>
          </a:p>
        </p:txBody>
      </p:sp>
      <p:sp>
        <p:nvSpPr>
          <p:cNvPr id="69" name="Text 63"/>
          <p:cNvSpPr/>
          <p:nvPr/>
        </p:nvSpPr>
        <p:spPr>
          <a:xfrm>
            <a:off x="9308592" y="546811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17 м³</a:t>
            </a:r>
            <a:endParaRPr lang="en-US" sz="900" dirty="0"/>
          </a:p>
        </p:txBody>
      </p:sp>
      <p:sp>
        <p:nvSpPr>
          <p:cNvPr id="70" name="Text 64"/>
          <p:cNvSpPr/>
          <p:nvPr/>
        </p:nvSpPr>
        <p:spPr>
          <a:xfrm>
            <a:off x="9948672" y="546811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$1,215 / 54,68 ₴</a:t>
            </a:r>
            <a:endParaRPr lang="en-US" sz="950" dirty="0"/>
          </a:p>
        </p:txBody>
      </p:sp>
      <p:sp>
        <p:nvSpPr>
          <p:cNvPr id="71" name="Text 65"/>
          <p:cNvSpPr/>
          <p:nvPr/>
        </p:nvSpPr>
        <p:spPr>
          <a:xfrm>
            <a:off x="9308592" y="567385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34 м³</a:t>
            </a:r>
            <a:endParaRPr lang="en-US" sz="900" dirty="0"/>
          </a:p>
        </p:txBody>
      </p:sp>
      <p:sp>
        <p:nvSpPr>
          <p:cNvPr id="72" name="Text 66"/>
          <p:cNvSpPr/>
          <p:nvPr/>
        </p:nvSpPr>
        <p:spPr>
          <a:xfrm>
            <a:off x="9948672" y="567385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$0,944 / 42,48 ₴</a:t>
            </a:r>
            <a:endParaRPr lang="en-US" sz="950" dirty="0"/>
          </a:p>
        </p:txBody>
      </p:sp>
      <p:sp>
        <p:nvSpPr>
          <p:cNvPr id="73" name="Text 67"/>
          <p:cNvSpPr/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2D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Jasmine перерахований за прайсовою ціною Plain ($3,50 за 6 паучів); у вихідному файлі цей SKU помилково проведений за Mixed ($4,00). Решта — за файлом.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Офіс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Офіс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Офіс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862</Words>
  <Application>Microsoft Office PowerPoint</Application>
  <PresentationFormat>Широкий екран</PresentationFormat>
  <Paragraphs>172</Paragraphs>
  <Slides>6</Slides>
  <Notes>6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6</vt:i4>
      </vt:variant>
    </vt:vector>
  </HeadingPairs>
  <TitlesOfParts>
    <vt:vector size="10" baseType="lpstr">
      <vt:lpstr>Arial</vt:lpstr>
      <vt:lpstr>Calibri</vt:lpstr>
      <vt:lpstr>Cambria</vt:lpstr>
      <vt:lpstr>Office Theme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RTE Rice — постачальники та собівартість</dc:title>
  <dc:subject>PptxGenJS Presentation</dc:subject>
  <dc:creator>MD Eurotrade LLC</dc:creator>
  <cp:lastModifiedBy>Чаплигін lлля</cp:lastModifiedBy>
  <cp:revision>2</cp:revision>
  <dcterms:created xsi:type="dcterms:W3CDTF">2026-08-07T19:46:54Z</dcterms:created>
  <dcterms:modified xsi:type="dcterms:W3CDTF">2026-08-07T20:27:49Z</dcterms:modified>
</cp:coreProperties>
</file>