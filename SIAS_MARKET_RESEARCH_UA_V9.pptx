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5" r:id="rId33"/>
    <p:sldId id="258" r:id="rId3"/>
    <p:sldId id="286" r:id="rId34"/>
    <p:sldId id="260" r:id="rId5"/>
    <p:sldId id="287" r:id="rId35"/>
    <p:sldId id="288" r:id="rId36"/>
    <p:sldId id="289" r:id="rId37"/>
    <p:sldId id="290" r:id="rId38"/>
    <p:sldId id="291" r:id="rId39"/>
    <p:sldId id="265" r:id="rId10"/>
    <p:sldId id="292" r:id="rId40"/>
    <p:sldId id="293" r:id="rId41"/>
    <p:sldId id="294" r:id="rId42"/>
    <p:sldId id="295" r:id="rId43"/>
    <p:sldId id="270" r:id="rId15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280" r:id="rId24"/>
    <p:sldId id="305" r:id="rId53"/>
    <p:sldId id="306" r:id="rId54"/>
    <p:sldId id="307" r:id="rId55"/>
    <p:sldId id="308" r:id="rId56"/>
    <p:sldId id="28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5" Type="http://schemas.openxmlformats.org/officeDocument/2006/relationships/slide" Target="slides/slide14.xml"/><Relationship Id="rId24" Type="http://schemas.openxmlformats.org/officeDocument/2006/relationships/slide" Target="slides/slide23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image" Target="../media/image6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18.jpg"/><Relationship Id="rId5" Type="http://schemas.openxmlformats.org/officeDocument/2006/relationships/image" Target="../media/image23.jpg"/><Relationship Id="rId6" Type="http://schemas.openxmlformats.org/officeDocument/2006/relationships/image" Target="../media/image30.jpg"/><Relationship Id="rId7" Type="http://schemas.openxmlformats.org/officeDocument/2006/relationships/image" Target="../media/image14.jpg"/><Relationship Id="rId8" Type="http://schemas.openxmlformats.org/officeDocument/2006/relationships/image" Target="../media/image1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6.jpg"/><Relationship Id="rId11" Type="http://schemas.openxmlformats.org/officeDocument/2006/relationships/image" Target="../media/image18.jpg"/><Relationship Id="rId12" Type="http://schemas.openxmlformats.org/officeDocument/2006/relationships/image" Target="../media/image19.jpg"/><Relationship Id="rId13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7.jpg"/><Relationship Id="rId6" Type="http://schemas.openxmlformats.org/officeDocument/2006/relationships/image" Target="../media/image22.jpg"/><Relationship Id="rId7" Type="http://schemas.openxmlformats.org/officeDocument/2006/relationships/image" Target="../media/image19.jpg"/><Relationship Id="rId8" Type="http://schemas.openxmlformats.org/officeDocument/2006/relationships/image" Target="../media/image23.jpg"/><Relationship Id="rId9" Type="http://schemas.openxmlformats.org/officeDocument/2006/relationships/image" Target="../media/image24.jpg"/><Relationship Id="rId10" Type="http://schemas.openxmlformats.org/officeDocument/2006/relationships/image" Target="../media/image25.jpg"/><Relationship Id="rId11" Type="http://schemas.openxmlformats.org/officeDocument/2006/relationships/image" Target="../media/image26.jpg"/><Relationship Id="rId12" Type="http://schemas.openxmlformats.org/officeDocument/2006/relationships/image" Target="../media/image8.jpg"/><Relationship Id="rId13" Type="http://schemas.openxmlformats.org/officeDocument/2006/relationships/image" Target="../media/image2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2.jpg"/><Relationship Id="rId7" Type="http://schemas.openxmlformats.org/officeDocument/2006/relationships/image" Target="../media/image31.jpg"/><Relationship Id="rId8" Type="http://schemas.openxmlformats.org/officeDocument/2006/relationships/image" Target="../media/image9.jpg"/><Relationship Id="rId9" Type="http://schemas.openxmlformats.org/officeDocument/2006/relationships/image" Target="../media/image32.jpg"/><Relationship Id="rId10" Type="http://schemas.openxmlformats.org/officeDocument/2006/relationships/image" Target="../media/image33.jpg"/><Relationship Id="rId11" Type="http://schemas.openxmlformats.org/officeDocument/2006/relationships/image" Target="../media/image34.jpg"/><Relationship Id="rId12" Type="http://schemas.openxmlformats.org/officeDocument/2006/relationships/image" Target="../media/image35.jpg"/><Relationship Id="rId13" Type="http://schemas.openxmlformats.org/officeDocument/2006/relationships/image" Target="../media/image14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jpg"/><Relationship Id="rId4" Type="http://schemas.openxmlformats.org/officeDocument/2006/relationships/image" Target="../media/image52.jpg"/><Relationship Id="rId5" Type="http://schemas.openxmlformats.org/officeDocument/2006/relationships/image" Target="../media/image57.jpg"/><Relationship Id="rId6" Type="http://schemas.openxmlformats.org/officeDocument/2006/relationships/image" Target="../media/image47.jpg"/><Relationship Id="rId7" Type="http://schemas.openxmlformats.org/officeDocument/2006/relationships/image" Target="../media/image64.jpg"/><Relationship Id="rId8" Type="http://schemas.openxmlformats.org/officeDocument/2006/relationships/image" Target="../media/image4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jpg"/><Relationship Id="rId4" Type="http://schemas.openxmlformats.org/officeDocument/2006/relationships/image" Target="../media/image49.jpg"/><Relationship Id="rId5" Type="http://schemas.openxmlformats.org/officeDocument/2006/relationships/image" Target="../media/image50.jpg"/><Relationship Id="rId6" Type="http://schemas.openxmlformats.org/officeDocument/2006/relationships/image" Target="../media/image51.jpg"/><Relationship Id="rId7" Type="http://schemas.openxmlformats.org/officeDocument/2006/relationships/image" Target="../media/image43.jpg"/><Relationship Id="rId8" Type="http://schemas.openxmlformats.org/officeDocument/2006/relationships/image" Target="../media/image52.jpg"/><Relationship Id="rId9" Type="http://schemas.openxmlformats.org/officeDocument/2006/relationships/image" Target="../media/image53.jpg"/><Relationship Id="rId10" Type="http://schemas.openxmlformats.org/officeDocument/2006/relationships/image" Target="../media/image54.jpg"/><Relationship Id="rId11" Type="http://schemas.openxmlformats.org/officeDocument/2006/relationships/image" Target="../media/image55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45.jpg"/><Relationship Id="rId8" Type="http://schemas.openxmlformats.org/officeDocument/2006/relationships/image" Target="../media/image59.jpg"/><Relationship Id="rId9" Type="http://schemas.openxmlformats.org/officeDocument/2006/relationships/image" Target="../media/image3.jpg"/><Relationship Id="rId10" Type="http://schemas.openxmlformats.org/officeDocument/2006/relationships/image" Target="../media/image47.jpg"/><Relationship Id="rId11" Type="http://schemas.openxmlformats.org/officeDocument/2006/relationships/image" Target="../media/image60.jpg"/><Relationship Id="rId12" Type="http://schemas.openxmlformats.org/officeDocument/2006/relationships/image" Target="../media/image4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1.jpg"/><Relationship Id="rId4" Type="http://schemas.openxmlformats.org/officeDocument/2006/relationships/image" Target="../media/image62.jpg"/><Relationship Id="rId5" Type="http://schemas.openxmlformats.org/officeDocument/2006/relationships/image" Target="../media/image63.jpg"/><Relationship Id="rId6" Type="http://schemas.openxmlformats.org/officeDocument/2006/relationships/image" Target="../media/image64.jpg"/><Relationship Id="rId7" Type="http://schemas.openxmlformats.org/officeDocument/2006/relationships/image" Target="../media/image47.jpg"/><Relationship Id="rId8" Type="http://schemas.openxmlformats.org/officeDocument/2006/relationships/image" Target="../media/image65.jpg"/><Relationship Id="rId9" Type="http://schemas.openxmlformats.org/officeDocument/2006/relationships/image" Target="../media/image66.jpg"/><Relationship Id="rId10" Type="http://schemas.openxmlformats.org/officeDocument/2006/relationships/image" Target="../media/image42.jpg"/><Relationship Id="rId11" Type="http://schemas.openxmlformats.org/officeDocument/2006/relationships/image" Target="../media/image67.jpg"/><Relationship Id="rId12" Type="http://schemas.openxmlformats.org/officeDocument/2006/relationships/image" Target="../media/image4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Relationship Id="rId4" Type="http://schemas.openxmlformats.org/officeDocument/2006/relationships/image" Target="../media/image69.jpg"/><Relationship Id="rId5" Type="http://schemas.openxmlformats.org/officeDocument/2006/relationships/image" Target="../media/image78.jpg"/><Relationship Id="rId6" Type="http://schemas.openxmlformats.org/officeDocument/2006/relationships/image" Target="../media/image79.jpg"/><Relationship Id="rId7" Type="http://schemas.openxmlformats.org/officeDocument/2006/relationships/image" Target="../media/image72.jpg"/><Relationship Id="rId8" Type="http://schemas.openxmlformats.org/officeDocument/2006/relationships/image" Target="../media/image73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69.jpg"/><Relationship Id="rId7" Type="http://schemas.openxmlformats.org/officeDocument/2006/relationships/image" Target="../media/image76.jpg"/><Relationship Id="rId8" Type="http://schemas.openxmlformats.org/officeDocument/2006/relationships/image" Target="../media/image77.jpg"/><Relationship Id="rId9" Type="http://schemas.openxmlformats.org/officeDocument/2006/relationships/image" Target="../media/image4.jpg"/><Relationship Id="rId10" Type="http://schemas.openxmlformats.org/officeDocument/2006/relationships/image" Target="../media/image78.jpg"/><Relationship Id="rId11" Type="http://schemas.openxmlformats.org/officeDocument/2006/relationships/image" Target="../media/image7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6.jpg"/><Relationship Id="rId4" Type="http://schemas.openxmlformats.org/officeDocument/2006/relationships/image" Target="../media/image79.jpg"/><Relationship Id="rId5" Type="http://schemas.openxmlformats.org/officeDocument/2006/relationships/image" Target="../media/image71.jpg"/><Relationship Id="rId6" Type="http://schemas.openxmlformats.org/officeDocument/2006/relationships/image" Target="../media/image70.jpg"/><Relationship Id="rId7" Type="http://schemas.openxmlformats.org/officeDocument/2006/relationships/image" Target="../media/image80.jpg"/><Relationship Id="rId8" Type="http://schemas.openxmlformats.org/officeDocument/2006/relationships/image" Target="../media/image72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73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Скільки локшини ввозять в Україну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486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ОБСЯГ ІМПОРТУ, ТОНН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8" y="1883664"/>
            <a:ext cx="5486" cy="14630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84248" y="338328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9648" y="1883664"/>
            <a:ext cx="5486" cy="14630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13888" y="338328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9288" y="1883664"/>
            <a:ext cx="5486" cy="14630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3528" y="338328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38927" y="1883664"/>
            <a:ext cx="5486" cy="14630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7" y="338328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900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71116"/>
            <a:ext cx="16733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2025 · січень–травень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50008" y="2029968"/>
            <a:ext cx="742689" cy="23774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65849" y="206654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239,7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528316"/>
            <a:ext cx="16733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2026 · січень–травень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50008" y="2487168"/>
            <a:ext cx="2598281" cy="237744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1441" y="252374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838,5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985516"/>
            <a:ext cx="16733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2025 · увесь рік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50008" y="2944368"/>
            <a:ext cx="2205106" cy="2377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28266" y="298094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711,6 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675887"/>
            <a:ext cx="5486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ІНВОЙС, МЛН ДОЛАРІВ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50008" y="3931920"/>
            <a:ext cx="5486" cy="1005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984248" y="4974336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24707" y="3931920"/>
            <a:ext cx="5486" cy="1005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58947" y="4974336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99407" y="3931920"/>
            <a:ext cx="5486" cy="1005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33647" y="4974336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74108" y="3931920"/>
            <a:ext cx="5486" cy="1005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08347" y="4974336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119372"/>
            <a:ext cx="16733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2025 · січень–травень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50008" y="4078224"/>
            <a:ext cx="793749" cy="23774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16909" y="4114800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$1,02 млн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76572"/>
            <a:ext cx="16733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2026 · січень–травень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50008" y="4535424"/>
            <a:ext cx="2479520" cy="237744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902680" y="4572000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$3,20 млн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Сегментація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27632"/>
            <a:ext cx="3566160" cy="3657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1700784"/>
            <a:ext cx="33101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РАМЕН У ПАКЕТІ · З БУЛЬЙОНОМ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" y="2066543"/>
            <a:ext cx="3438144" cy="104241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088010430695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807" y="2130551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4944" y="316382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303A5D"/>
                </a:solidFill>
                <a:latin typeface="Segoe UI"/>
              </a:rPr>
              <a:t>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31012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позицій · 46 %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3657600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3639312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102–144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9044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МЕДІАНА ЦІНИ ЗА ПАЧКУ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3886200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95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4151376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ДІАПАЗОН ЦІН ПАЧКИ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4133088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67–209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398264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4379976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627632"/>
            <a:ext cx="3566160" cy="3657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43983" y="1700784"/>
            <a:ext cx="33101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РАМЕН У ПАКЕТІ · ІЗ СОУСОМ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9976" y="2066543"/>
            <a:ext cx="3438144" cy="104241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0064843631068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2130551"/>
            <a:ext cx="914400" cy="9144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43983" y="316382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C4820A"/>
                </a:solidFill>
                <a:latin typeface="Segoe UI"/>
              </a:rP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1808" y="331012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позицій · 34 %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3657600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3639312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105–145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39044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МЕДІАНА ЦІНИ ЗА ПАЧКУ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4768" y="3886200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106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3983" y="4151376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ДІАПАЗОН ЦІН ПАЧКИ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4133088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72–198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43983" y="4398264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4379976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1627632"/>
            <a:ext cx="3566160" cy="3657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93024" y="1700784"/>
            <a:ext cx="33101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РАМЕН У СТАКАНІ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29016" y="2066543"/>
            <a:ext cx="3438144" cy="104241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0880107321077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2130551"/>
            <a:ext cx="914400" cy="914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193024" y="316382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0848" y="331012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позицій · 20 %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4" y="3657600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93808" y="3639312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62–120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4" y="39044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МЕДІАНА ЦІНИ ЗА ПАЧКУ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93808" y="3886200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3024" y="4151376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ДІАПАЗОН ЦІН ПАЧКИ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93808" y="4133088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34–195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3024" y="4398264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379976"/>
            <a:ext cx="1627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4700016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СЕГМЕНТ × ЦІНОВА СМУГА · ПОЗИЦІЙ, грн за пачку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29968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до 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35808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80–95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95–110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47488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110–130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3328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130–150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59168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150–180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65008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180 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53728" y="484632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УСЬОГО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166360"/>
            <a:ext cx="13350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Пакет · з бульйоном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57400" y="5129784"/>
            <a:ext cx="950976" cy="256032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057400" y="5148072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63240" y="5129784"/>
            <a:ext cx="950976" cy="256032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063240" y="5148072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9080" y="5129784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069080" y="5148072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74920" y="5129784"/>
            <a:ext cx="950976" cy="256032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074920" y="5148072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80760" y="5129784"/>
            <a:ext cx="950976" cy="256032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080760" y="5148072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86600" y="5129784"/>
            <a:ext cx="950976" cy="256032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086600" y="5148072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92440" y="5129784"/>
            <a:ext cx="950976" cy="256032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092440" y="5148072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53728" y="5175504"/>
            <a:ext cx="2103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41 SKU · медіана 95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477256"/>
            <a:ext cx="13350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Пакет · із соусом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57400" y="5440680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57400" y="5458968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063240" y="5440680"/>
            <a:ext cx="950976" cy="256032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063240" y="5458968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069080" y="5440680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069080" y="5458968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74920" y="5440680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074920" y="5458968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80760" y="5440680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080760" y="5458968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086600" y="5440680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086600" y="5458968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2440" y="5440680"/>
            <a:ext cx="950976" cy="256032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092440" y="5458968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53728" y="5486400"/>
            <a:ext cx="2103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30 SKU · медіана 106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5788152"/>
            <a:ext cx="13350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57400" y="5751576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057400" y="57698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063240" y="5751576"/>
            <a:ext cx="950976" cy="256032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063240" y="57698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069080" y="5751576"/>
            <a:ext cx="950976" cy="256032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069080" y="57698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74920" y="5751576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074920" y="57698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80760" y="5751576"/>
            <a:ext cx="950976" cy="256032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080760" y="57698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86600" y="5751576"/>
            <a:ext cx="950976" cy="256032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086600" y="57698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92440" y="5751576"/>
            <a:ext cx="950976" cy="256032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092440" y="57698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253728" y="5797296"/>
            <a:ext cx="2103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· медіана 104 грн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з бульйоном: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4572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ПОЗИЦІЙ СЕГМЕНТА В МЕРЕЖІ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4248" y="1901952"/>
            <a:ext cx="5486" cy="38221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18488" y="576072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16252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4248" y="2007107"/>
            <a:ext cx="2867890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25290" y="2011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27148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84248" y="2318003"/>
            <a:ext cx="1017638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5038" y="232257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638044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84248" y="2628899"/>
            <a:ext cx="1017638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75038" y="26334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948939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84248" y="2939795"/>
            <a:ext cx="832613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90013" y="294436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59835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84248" y="3250691"/>
            <a:ext cx="462563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519963" y="325526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570731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84248" y="3561587"/>
            <a:ext cx="462563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19963" y="35661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81627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4248" y="3872483"/>
            <a:ext cx="370050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27450" y="387705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192523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84248" y="4183379"/>
            <a:ext cx="370050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427450" y="418795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503419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84248" y="4494275"/>
            <a:ext cx="370050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427450" y="449884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814315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84248" y="4805171"/>
            <a:ext cx="185025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2425" y="480974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125211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4248" y="5116067"/>
            <a:ext cx="92512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149912" y="512063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436107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84248" y="5426963"/>
            <a:ext cx="92512" cy="173736"/>
          </a:xfrm>
          <a:prstGeom prst="rect">
            <a:avLst/>
          </a:prstGeom>
          <a:solidFill>
            <a:srgbClr val="787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49912" y="543153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1*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1645920"/>
            <a:ext cx="41148" cy="138988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36208" y="1700784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Національні мережі ·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49840" y="1709928"/>
            <a:ext cx="1481328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149840" y="1737360"/>
            <a:ext cx="14813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6208" y="2029968"/>
            <a:ext cx="92537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27648" y="2089404"/>
            <a:ext cx="4681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95820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95820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53020" y="2029968"/>
            <a:ext cx="996696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44460" y="2089404"/>
            <a:ext cx="539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83956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83956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41156" y="2029968"/>
            <a:ext cx="996696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432596" y="2089404"/>
            <a:ext cx="539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72092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72092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29292" y="2029968"/>
            <a:ext cx="113934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520732" y="2089404"/>
            <a:ext cx="68214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«Зараз»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02875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0202875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36208" y="2377440"/>
            <a:ext cx="1210665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327648" y="2436876"/>
            <a:ext cx="75346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«Сільпо»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081113" y="2414016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081113" y="2436876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1*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35040" y="3127248"/>
            <a:ext cx="41148" cy="13898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36208" y="3182112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Регіональні мережі · 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49840" y="3191256"/>
            <a:ext cx="1481328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0149840" y="3218688"/>
            <a:ext cx="14813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36208" y="3511296"/>
            <a:ext cx="996696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327648" y="3570732"/>
            <a:ext cx="539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67144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867144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24344" y="3511296"/>
            <a:ext cx="92537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7415783" y="3570732"/>
            <a:ext cx="4681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83956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7883956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41156" y="3511296"/>
            <a:ext cx="1068019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432596" y="3570732"/>
            <a:ext cx="6108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«Клас»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43415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043415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500616" y="3511296"/>
            <a:ext cx="128198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592056" y="3570732"/>
            <a:ext cx="8247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«Восторг»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416844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416844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36208" y="3858768"/>
            <a:ext cx="1210665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327648" y="3918204"/>
            <a:ext cx="75346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«Космос»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1113" y="3895344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081113" y="39182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538313" y="3858768"/>
            <a:ext cx="135331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629753" y="3918204"/>
            <a:ext cx="89611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«Таврія В»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25865" y="3895344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525865" y="39182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83065" y="3858768"/>
            <a:ext cx="149595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074505" y="3918204"/>
            <a:ext cx="103875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13263" y="3895344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0113263" y="39182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35040" y="4608576"/>
            <a:ext cx="41148" cy="148132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236208" y="466344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Без позицій сегмента · 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149840" y="4672584"/>
            <a:ext cx="1481328" cy="2011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10149840" y="4700016"/>
            <a:ext cx="14813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36208" y="4992624"/>
            <a:ext cx="93268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327648" y="5052060"/>
            <a:ext cx="8046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60336" y="4992624"/>
            <a:ext cx="1004011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7351776" y="5052060"/>
            <a:ext cx="87599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355787" y="4992624"/>
            <a:ext cx="433425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47227" y="5052060"/>
            <a:ext cx="3054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880652" y="4992624"/>
            <a:ext cx="790041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8972092" y="5052060"/>
            <a:ext cx="66202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762134" y="4992624"/>
            <a:ext cx="71871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9853574" y="5052060"/>
            <a:ext cx="59070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«Торба»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572292" y="4992624"/>
            <a:ext cx="71871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10663732" y="5052060"/>
            <a:ext cx="59070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«Ідеал»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із соусом: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4572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ПОЗИЦІЙ СЕГМЕНТА В МЕРЕЖІ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4248" y="1901952"/>
            <a:ext cx="5486" cy="4133087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18488" y="6071616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16252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4248" y="2007107"/>
            <a:ext cx="2867890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25290" y="2011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27148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84248" y="2318003"/>
            <a:ext cx="1638794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96194" y="232257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638044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84248" y="2628899"/>
            <a:ext cx="1365662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23062" y="26334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948939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84248" y="2939795"/>
            <a:ext cx="955963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13363" y="294436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59835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84248" y="3250691"/>
            <a:ext cx="955963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13363" y="325526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570731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84248" y="3561587"/>
            <a:ext cx="819397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76797" y="35661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81627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4248" y="3872483"/>
            <a:ext cx="682831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0231" y="387705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192523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84248" y="4183379"/>
            <a:ext cx="682831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40231" y="418795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503419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84248" y="4494275"/>
            <a:ext cx="682831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0231" y="449884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814315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84248" y="4805171"/>
            <a:ext cx="40969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467098" y="480974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125211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4248" y="5116067"/>
            <a:ext cx="409698" cy="173736"/>
          </a:xfrm>
          <a:prstGeom prst="rect">
            <a:avLst/>
          </a:prstGeom>
          <a:solidFill>
            <a:srgbClr val="D8A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467098" y="512063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436107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84248" y="5426963"/>
            <a:ext cx="273132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330532" y="543153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47003"/>
            <a:ext cx="130759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84248" y="5737859"/>
            <a:ext cx="13656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193966" y="574243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1645920"/>
            <a:ext cx="41148" cy="138988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36208" y="1700784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Національні мережі · 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49840" y="1709928"/>
            <a:ext cx="1481328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149840" y="1737360"/>
            <a:ext cx="14813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36208" y="2029968"/>
            <a:ext cx="92537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27648" y="2089404"/>
            <a:ext cx="4681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95820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795820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21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253020" y="2029968"/>
            <a:ext cx="996696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344460" y="2089404"/>
            <a:ext cx="539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83956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83956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41156" y="2029968"/>
            <a:ext cx="996696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432596" y="2089404"/>
            <a:ext cx="539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72092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972092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29292" y="2029968"/>
            <a:ext cx="113934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520732" y="2089404"/>
            <a:ext cx="68214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«Зараз»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202875" y="2066544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202875" y="20894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36208" y="2377440"/>
            <a:ext cx="1210665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27648" y="2436876"/>
            <a:ext cx="75346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«Сільпо»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81113" y="2414016"/>
            <a:ext cx="31089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081113" y="2436876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3*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3127248"/>
            <a:ext cx="41148" cy="13898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236208" y="3182112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Регіональні мережі · 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49840" y="3191256"/>
            <a:ext cx="1481328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149840" y="3218688"/>
            <a:ext cx="14813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36208" y="3511296"/>
            <a:ext cx="996696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27648" y="3570732"/>
            <a:ext cx="539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67144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67144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324344" y="3511296"/>
            <a:ext cx="92537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415783" y="3570732"/>
            <a:ext cx="4681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83956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883956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41156" y="3511296"/>
            <a:ext cx="1068019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432596" y="3570732"/>
            <a:ext cx="6108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«Клас»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043415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9043415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500616" y="3511296"/>
            <a:ext cx="128198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592056" y="3570732"/>
            <a:ext cx="8247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«Восторг»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416844" y="3547872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416844" y="3570732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36208" y="3858768"/>
            <a:ext cx="1210665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327648" y="3918204"/>
            <a:ext cx="75346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«Космос»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81113" y="3895344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081113" y="39182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38313" y="3858768"/>
            <a:ext cx="135331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629753" y="3918204"/>
            <a:ext cx="89611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«Таврія В»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525865" y="3895344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525865" y="39182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83065" y="3858768"/>
            <a:ext cx="149595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9074505" y="3918204"/>
            <a:ext cx="103875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113263" y="3895344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0113263" y="3918204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36208" y="4206240"/>
            <a:ext cx="1139342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27648" y="4265676"/>
            <a:ext cx="68214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«Торба»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009790" y="4242816"/>
            <a:ext cx="31089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7009790" y="4265676"/>
            <a:ext cx="310896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035040" y="4608576"/>
            <a:ext cx="41148" cy="148132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36208" y="466344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Без позицій сегмента · 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149840" y="4672584"/>
            <a:ext cx="1481328" cy="2011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10149840" y="4700016"/>
            <a:ext cx="148132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236208" y="4992624"/>
            <a:ext cx="93268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6327648" y="5052060"/>
            <a:ext cx="8046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260336" y="4992624"/>
            <a:ext cx="1004011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7351776" y="5052060"/>
            <a:ext cx="87599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355787" y="4992624"/>
            <a:ext cx="433425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8447227" y="5052060"/>
            <a:ext cx="3054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880652" y="4992624"/>
            <a:ext cx="790041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972092" y="5052060"/>
            <a:ext cx="662025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762134" y="4992624"/>
            <a:ext cx="718718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9853574" y="5052060"/>
            <a:ext cx="59070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1C2235"/>
                </a:solidFill>
                <a:latin typeface="Segoe UI"/>
              </a:rPr>
              <a:t>«Ідеал»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ОКРЕМИЙ КОНКУРЕНТ · ЦІНА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у «Таврії В»: по чому продавали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Той самий бренд SIAS уже стоїть на українській полиці. Три дати й три рівні цін — щоб порівняти з нашою ціллю та поточною моделлю.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5669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303A5D"/>
                </a:solidFill>
                <a:latin typeface="Segoe UI"/>
              </a:rPr>
              <a:t>CHOI’S CARBONARA 131 Г · ЦІНА ЗА ПАЧКУ, ГРН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1883664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61488" y="493776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76135" y="1883664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10375" y="493776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5022" y="1883664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9262" y="493776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3909" y="1883664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08149" y="493776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22797" y="1883664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57037" y="493776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1684" y="1883664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05924" y="4937760"/>
            <a:ext cx="73152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2539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ЄС · dotasia.eu · акція €1,80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27248" y="1997964"/>
            <a:ext cx="1034236" cy="21031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34636" y="202082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92,2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9115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ЄС · dotasia.eu · звичайна €2,20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27248" y="2363724"/>
            <a:ext cx="1264066" cy="21031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64466" y="238658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112,6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75691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 · 29.09.2026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27248" y="2729484"/>
            <a:ext cx="1405017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05417" y="275234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125,20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12267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· 29.09.2026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27248" y="3095244"/>
            <a:ext cx="1405017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05417" y="311810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125,20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48843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 · 05–06.10 (за V3)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27248" y="3461003"/>
            <a:ext cx="1475716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76116" y="348386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131,50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85419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НАШ SIAS · ціль за моделлю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27248" y="3826763"/>
            <a:ext cx="1346661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47061" y="384962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120,00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21995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SIAS · зараз, 33 палети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27248" y="4192524"/>
            <a:ext cx="1819979" cy="210312"/>
          </a:xfrm>
          <a:prstGeom prst="rect">
            <a:avLst/>
          </a:prstGeom>
          <a:solidFill>
            <a:srgbClr val="F8C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20379" y="421538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162,18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585716"/>
            <a:ext cx="2450591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SIAS · зараз, 6 палет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27248" y="4558284"/>
            <a:ext cx="2339061" cy="210312"/>
          </a:xfrm>
          <a:prstGeom prst="rect">
            <a:avLst/>
          </a:prstGeom>
          <a:solidFill>
            <a:srgbClr val="F8C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39461" y="4581144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208,43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1645920"/>
            <a:ext cx="4754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ПОРІВНЯННЯ · «ЗАРАЗ» = 33 ПАЛЕТИ, МАРЖА 30 %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1920240"/>
            <a:ext cx="155448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58200" y="1920240"/>
            <a:ext cx="105156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CHOI’S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09760" y="1920240"/>
            <a:ext cx="105156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ЦІЛЬ 120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61320" y="1920240"/>
            <a:ext cx="1069848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3720" y="2103120"/>
            <a:ext cx="15544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Ціна,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58200" y="2103120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125,20 / 131,50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09760" y="2103120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120,00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61320" y="2103120"/>
            <a:ext cx="106984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162,18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30568" y="2468880"/>
            <a:ext cx="4727448" cy="3931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03720" y="2505456"/>
            <a:ext cx="15544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До Choi’s 125,20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58200" y="2505456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09760" y="2505456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−4,2 %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2505456"/>
            <a:ext cx="106984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+29,5 %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03720" y="2907792"/>
            <a:ext cx="15544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До медіани пакета 102,8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58200" y="2907792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+21,8 %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2907792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+16,7 %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61320" y="2907792"/>
            <a:ext cx="106984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+57,8 %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30568" y="3273552"/>
            <a:ext cx="4727448" cy="3931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903720" y="3310128"/>
            <a:ext cx="15544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Дорожчих у категорії*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3310128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13 з 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09760" y="3310128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18 з 71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61320" y="3310128"/>
            <a:ext cx="106984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3 з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ЧУТЛИВІСТЬ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Яка закупівля потрібна при іншій полиці й іншій маржі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Максимальна ціна закупівлі, €/пачку, за формулою вкладок «Цена 120 грн». Колір — порівняння з поточною ціною SIAS: €0,75 (Gouda, Carbonara) і €0,65 (решта).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394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1" spc="-10">
                <a:solidFill>
                  <a:srgbClr val="1E9EA6"/>
                </a:solidFill>
                <a:latin typeface="Segoe UI"/>
              </a:rPr>
              <a:t>33 ПАЛЕТИ · ПОВНА МАШИНА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38528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МАРЖА \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152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110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B53A3A"/>
                </a:solidFill>
                <a:latin typeface="Segoe UI"/>
              </a:rPr>
              <a:t>120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130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2624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140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8600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35 %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08760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08760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6584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86584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4408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64408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42232" y="2203703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42232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0056" y="2203703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0056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7980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B53A3A"/>
                </a:solidFill>
                <a:latin typeface="Segoe UI"/>
              </a:rPr>
              <a:t>30 %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08760" y="2715768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86584" y="2715768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386584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64408" y="2715768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64408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64408" y="2715768"/>
            <a:ext cx="822959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264408" y="3136391"/>
            <a:ext cx="822959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264408" y="2715768"/>
            <a:ext cx="36576" cy="4572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050791" y="2715768"/>
            <a:ext cx="36576" cy="4572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142232" y="2715768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42232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0056" y="2715768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0056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3101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25 %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08760" y="3227832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08760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86584" y="3227832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386584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64408" y="3227832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264408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42232" y="3227832"/>
            <a:ext cx="822959" cy="457200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42232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0056" y="3227832"/>
            <a:ext cx="822959" cy="457200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20056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€0,72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22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20 %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08760" y="3739896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508760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86584" y="3739896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386584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64408" y="3739896"/>
            <a:ext cx="822959" cy="457200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64408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42232" y="3739896"/>
            <a:ext cx="822959" cy="457200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142232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€0,73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0056" y="3739896"/>
            <a:ext cx="822959" cy="4572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0056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FFFFFF"/>
                </a:solidFill>
                <a:latin typeface="Segoe UI"/>
              </a:rPr>
              <a:t>€0,80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342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15 %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08760" y="4251960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508760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86584" y="4251960"/>
            <a:ext cx="822959" cy="457200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386584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64408" y="4251960"/>
            <a:ext cx="822959" cy="457200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264408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€0,74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42232" y="4251960"/>
            <a:ext cx="822959" cy="4572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142232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FFFFFF"/>
                </a:solidFill>
                <a:latin typeface="Segoe UI"/>
              </a:rPr>
              <a:t>€0,81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0056" y="4251960"/>
            <a:ext cx="822959" cy="4572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020056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FFFFFF"/>
                </a:solidFill>
                <a:latin typeface="Segoe UI"/>
              </a:rPr>
              <a:t>€0,88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1627632"/>
            <a:ext cx="53949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1" spc="-10">
                <a:solidFill>
                  <a:srgbClr val="B53A3A"/>
                </a:solidFill>
                <a:latin typeface="Segoe UI"/>
              </a:rPr>
              <a:t>6 ПАЛЕТ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1938528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МАРЖА \ ПОЛИЦЯ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0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10144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110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87967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B53A3A"/>
                </a:solidFill>
                <a:latin typeface="Segoe UI"/>
              </a:rPr>
              <a:t>120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65792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130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3616" y="19202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140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228600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35 %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159752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159752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€0,19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37575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037575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€0,21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15399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915399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€0,25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793224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9793224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71048" y="2203703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671048" y="232257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17920" y="27980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B53A3A"/>
                </a:solidFill>
                <a:latin typeface="Segoe UI"/>
              </a:rPr>
              <a:t>30 %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159752" y="2715768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159752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€0,24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037575" y="2715768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037575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€0,27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399" y="2715768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915399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15399" y="2715768"/>
            <a:ext cx="822959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8915399" y="3136391"/>
            <a:ext cx="822959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8915399" y="2715768"/>
            <a:ext cx="36576" cy="4572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9701784" y="2715768"/>
            <a:ext cx="36576" cy="4572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9793224" y="2715768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793224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671048" y="2715768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10671048" y="2834640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0" y="33101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25 %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159752" y="3227832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7159752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037575" y="3227832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037575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915399" y="3227832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8915399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93224" y="3227832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793224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671048" y="3227832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0671048" y="3346704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217920" y="3822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20 %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159752" y="3739896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159752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€0,36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37575" y="3739896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037575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15399" y="3739896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915399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793224" y="3739896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9793224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€0,52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671048" y="3739896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0671048" y="3858768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17920" y="43342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15 %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159752" y="4251960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7159752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037575" y="4251960"/>
            <a:ext cx="822959" cy="457200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8037575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915399" y="4251960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8915399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793224" y="4251960"/>
            <a:ext cx="822959" cy="457200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793224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671048" y="4251960"/>
            <a:ext cx="822959" cy="457200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0671048" y="4370832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€0,66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94944" y="4718304"/>
            <a:ext cx="164592" cy="1280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14400" y="4700016"/>
            <a:ext cx="23774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≥ €0,75 — досяжно для всіх SKU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419856" y="4718304"/>
            <a:ext cx="164592" cy="128016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3639312" y="4700016"/>
            <a:ext cx="23774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€0,65–0,75 — для чотирьох SKU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144768" y="4718304"/>
            <a:ext cx="164592" cy="128016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64224" y="4700016"/>
            <a:ext cx="23774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€0,50–0,65 — потрібне зниження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869680" y="4718304"/>
            <a:ext cx="164592" cy="128016"/>
          </a:xfrm>
          <a:prstGeom prst="rect">
            <a:avLst/>
          </a:prstGeom>
          <a:solidFill>
            <a:srgbClr val="DD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9089136" y="4700016"/>
            <a:ext cx="23774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&lt; €0,50 — суттєве зниження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94944" y="4901184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B53A3A"/>
                </a:solidFill>
                <a:latin typeface="Segoe UI"/>
              </a:rPr>
              <a:t>Червона рамка — ціль: полиця 120 грн, маржа 30 %.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6928" y="645566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9FA9C4"/>
                </a:solidFill>
                <a:latin typeface="Segoe UI"/>
              </a:rPr>
              <a:t>Розрахунок за формулою H66 вкладок «Цена 120 грн» (курс 51,20; бонус 25 %; націнка 1,40; фінансування 2,5 %; ПДВ 20 %). Ціна вниз до євроцента.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29400" y="0"/>
            <a:ext cx="5562295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640080"/>
            <a:ext cx="5120640" cy="5120640"/>
          </a:xfrm>
          <a:prstGeom prst="ellipse">
            <a:avLst/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35040" y="4297680"/>
            <a:ext cx="2286000" cy="2286000"/>
          </a:xfrm>
          <a:prstGeom prst="ellipse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0" y="4206240"/>
            <a:ext cx="2560320" cy="2560320"/>
          </a:xfrm>
          <a:prstGeom prst="ellipse">
            <a:avLst/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566928"/>
            <a:ext cx="2331720" cy="1024128"/>
          </a:xfrm>
          <a:prstGeom prst="roundRect">
            <a:avLst>
              <a:gd name="adj" fmla="val 12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658368"/>
            <a:ext cx="200253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331720"/>
            <a:ext cx="5669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C4820A"/>
                </a:solidFill>
                <a:latin typeface="Segoe UI"/>
              </a:rPr>
              <a:t>ДОСЛІДЖЕННЯ РИНКУ ТА ПОЗИЦІОНУВАННЯ · ЖОВТЕНЬ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9748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0">
                <a:solidFill>
                  <a:srgbClr val="303A5D"/>
                </a:solidFill>
                <a:latin typeface="Segoe UI"/>
              </a:rPr>
              <a:t>Корейський</a:t>
            </a:r>
          </a:p>
          <a:p>
            <a:pPr algn="l">
              <a:lnSpc>
                <a:spcPct val="100000"/>
              </a:lnSpc>
            </a:pPr>
            <a:r>
              <a:rPr sz="5800" b="1" spc="-10">
                <a:solidFill>
                  <a:srgbClr val="303A5D"/>
                </a:solidFill>
                <a:latin typeface="Segoe UI"/>
              </a:rPr>
              <a:t>рамен</a:t>
            </a:r>
          </a:p>
          <a:p>
            <a:pPr algn="l">
              <a:lnSpc>
                <a:spcPct val="100000"/>
              </a:lnSpc>
            </a:pPr>
            <a:r>
              <a:rPr sz="5800" b="1" spc="-10">
                <a:solidFill>
                  <a:srgbClr val="303A5D"/>
                </a:solidFill>
                <a:latin typeface="Segoe UI"/>
              </a:rPr>
              <a:t>в Україні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5532120"/>
            <a:ext cx="1463040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58583" y="566928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DF9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03720" y="502920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79" y="594360"/>
            <a:ext cx="2057400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958583" y="2990088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DF9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03720" y="2926080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79" y="3017520"/>
            <a:ext cx="2057400" cy="20574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56064" y="1389888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DF9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0" y="1325880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8360" y="1417320"/>
            <a:ext cx="2057400" cy="20574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656064" y="3858768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DF9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01200" y="3794760"/>
            <a:ext cx="23317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3886200"/>
            <a:ext cx="20574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МИТНА БАЗА · ПОХОДЖЕННЯ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Звідки їде локшина: усі напрямки ввозу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Січень–травень 2026 · вага нетто, тонн · частка в загальному ввозі 838,5 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303A5D"/>
                </a:solidFill>
                <a:latin typeface="Segoe UI"/>
              </a:rPr>
              <a:t>СТРУКТУРА ВВОЗУ,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47088"/>
            <a:ext cx="2181252" cy="4572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984248"/>
            <a:ext cx="21812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19,9 %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6468" y="1847088"/>
            <a:ext cx="1545354" cy="45720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6468" y="1984248"/>
            <a:ext cx="154535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14,1 %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0111" y="1847088"/>
            <a:ext cx="1128660" cy="4572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0111" y="1984248"/>
            <a:ext cx="11286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10,4 %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77059" y="1847088"/>
            <a:ext cx="754509" cy="4572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77059" y="1984248"/>
            <a:ext cx="7545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7,0 %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857" y="1847088"/>
            <a:ext cx="737879" cy="4572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9857" y="1984248"/>
            <a:ext cx="737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6,8 %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6024" y="1847088"/>
            <a:ext cx="652058" cy="4572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6024" y="1984248"/>
            <a:ext cx="65205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6,1 %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76370" y="1847088"/>
            <a:ext cx="625148" cy="457200"/>
          </a:xfrm>
          <a:prstGeom prst="rect">
            <a:avLst/>
          </a:prstGeom>
          <a:solidFill>
            <a:srgbClr val="4E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6370" y="1984248"/>
            <a:ext cx="6251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5,8 %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19806" y="1847088"/>
            <a:ext cx="3293073" cy="45720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9806" y="1984248"/>
            <a:ext cx="329307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FFFFFF"/>
                </a:solidFill>
                <a:latin typeface="Segoe UI"/>
              </a:rPr>
              <a:t>29,9 %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4871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303A5D"/>
                </a:solidFill>
                <a:latin typeface="Segoe UI"/>
              </a:rPr>
              <a:t>ПО КРАЇНАХ ПОХОДЖЕННЯ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852928"/>
            <a:ext cx="128016" cy="12801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281635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В’єтнам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2798064"/>
            <a:ext cx="3251606" cy="24688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1734" y="28163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166,7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8163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19,9 %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55264"/>
            <a:ext cx="128016" cy="128016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3218688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3200400"/>
            <a:ext cx="2311551" cy="24688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1679" y="3218688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118,5 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3218688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14,1 %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657600"/>
            <a:ext cx="128016" cy="1280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3621024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Румунія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3602736"/>
            <a:ext cx="1695547" cy="2468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05675" y="36210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86,9 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36210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10,4 %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059935"/>
            <a:ext cx="128016" cy="12801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02335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4005072"/>
            <a:ext cx="1142436" cy="24688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52564" y="4023359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58,6 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023359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7,0 %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462272"/>
            <a:ext cx="128016" cy="12801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442569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Латвія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407408"/>
            <a:ext cx="1117850" cy="2468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27978" y="442569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57,3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442569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6,8 %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864608"/>
            <a:ext cx="128016" cy="12801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482803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4809744"/>
            <a:ext cx="990980" cy="24688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01108" y="482803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50,8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0" y="482803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6,1 %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5266944"/>
            <a:ext cx="128016" cy="128016"/>
          </a:xfrm>
          <a:prstGeom prst="rect">
            <a:avLst/>
          </a:prstGeom>
          <a:solidFill>
            <a:srgbClr val="4E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5230368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5212080"/>
            <a:ext cx="951199" cy="246888"/>
          </a:xfrm>
          <a:prstGeom prst="rect">
            <a:avLst/>
          </a:prstGeom>
          <a:solidFill>
            <a:srgbClr val="4E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61327" y="5230368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48,8 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0" y="5230368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5,8 %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5669280"/>
            <a:ext cx="128016" cy="12801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5632704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Інші країни разом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0" y="5614416"/>
            <a:ext cx="4895224" cy="246888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05352" y="563270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250,9 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63270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717890"/>
                </a:solidFill>
                <a:latin typeface="Segoe UI"/>
              </a:rPr>
              <a:t>29,9 %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6016752"/>
            <a:ext cx="11064240" cy="109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6089904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Усього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089904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838,5 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24160" y="608990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437376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Митна база користувача, код УКТ ЗЕД 1902 30 10 00. «Інші країни» — одним рядком: розбивки за країнами в базі немає.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з бульйоном: найбільший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Основна частина корейської полиці: локшина й порошковий бульйон, вариться в каструлі.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41148" cy="107899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303A5D"/>
                </a:solidFill>
                <a:latin typeface="Segoe UI"/>
              </a:rPr>
              <a:t>41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6 брендів у 11 мережах.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46 % усієї категорії.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47872" y="1591056"/>
            <a:ext cx="41148" cy="107899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03904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4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303A5D"/>
                </a:solidFill>
                <a:latin typeface="Segoe UI"/>
              </a:rPr>
              <a:t>95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3904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P25–P75: 84–113 ₴.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Діапазон: 67–209 ₴.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28816" y="1591056"/>
            <a:ext cx="41148" cy="107899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ДОРОЖЧІ ЗА ЦІЛЬ 120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303A5D"/>
                </a:solidFill>
                <a:latin typeface="Segoe UI"/>
              </a:rPr>
              <a:t>7 з 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позицій сегмента.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Дорожчі за 140,55 ₴ (зараз): 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1591056"/>
            <a:ext cx="2121408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591056"/>
            <a:ext cx="41148" cy="107899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1746504"/>
            <a:ext cx="16459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ВАГА ПАЧКИ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1956816"/>
            <a:ext cx="16459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303A5D"/>
                </a:solidFill>
                <a:latin typeface="Segoe UI"/>
              </a:rPr>
              <a:t>102–144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2313305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межі сегмента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зрізом 29.09.2026.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779776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017520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55648" y="3040379"/>
            <a:ext cx="3474720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30368" y="301752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195827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55648" y="3218687"/>
            <a:ext cx="1737360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195827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374135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55648" y="3396995"/>
            <a:ext cx="1520189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30368" y="3374135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552443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55648" y="3575303"/>
            <a:ext cx="1085850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30368" y="3552443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730751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55648" y="3753611"/>
            <a:ext cx="868680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0368" y="373075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909059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55648" y="3931920"/>
            <a:ext cx="217170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0368" y="3909059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2779776"/>
            <a:ext cx="5303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ПОЗИЦІЙ ЗА ЦІНОВОЮ СМУГОЮ · ₴ ЗА ПАЧКУ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3597510"/>
            <a:ext cx="566928" cy="4075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414630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до 80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14032" y="3342785"/>
            <a:ext cx="566928" cy="66228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22592" y="3159905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22592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80–95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72983" y="3801291"/>
            <a:ext cx="566928" cy="2037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81544" y="361841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81544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95–110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31936" y="3291839"/>
            <a:ext cx="566928" cy="7132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3108959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110–130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90888" y="3986784"/>
            <a:ext cx="566928" cy="1828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99448" y="3803904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99448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130–150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49840" y="3954126"/>
            <a:ext cx="566928" cy="5094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0" y="3771246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8400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150–180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08792" y="3954126"/>
            <a:ext cx="566928" cy="5094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817352" y="3771246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17352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180 +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422452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423367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ПРЕДСТАВНИКИ СЕГМЕНТА · ВІД НАЙДЕШЕВШОЇ ДО НАЙДОРОЖЧОЇ ПОЗИЦІЇ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49884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0080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645152"/>
            <a:ext cx="1115568" cy="111556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58368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68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8368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28646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428646" y="449884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01798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86" y="4645152"/>
            <a:ext cx="1115568" cy="111556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2520086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20086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83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20086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111 г · Зараз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90364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90364" y="449884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363516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404" y="4645152"/>
            <a:ext cx="1115568" cy="111556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4381804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1804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67–101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1804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Космос · Grono +2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2083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52083" y="449884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225235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2123" y="4645152"/>
            <a:ext cx="1115568" cy="1115568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6243523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43523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43523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Onde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13801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13801" y="449884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086953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3841" y="4645152"/>
            <a:ext cx="1115568" cy="11155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105241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05241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98–129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5241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Космос · Клас · METRO +4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75519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875519" y="449884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948672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95559" y="4645152"/>
            <a:ext cx="1115568" cy="111556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9966959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66959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202–209 ₴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66959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 · Grono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з бульйоном: каталог 1 з 4 — 68–85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1 · РАМЕН У ПАКЕТІ · З БУЛЬЙОНОМ   ·   Варіння 4–5 хв · подається з бульйоном   ·   вага 102–144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68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68–72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144 г · Ашан · Зараз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72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Grono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74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67–85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Космос · Таврія 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74–80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129 г · Ашан · Зараз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74–80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103 г · Ашан · Зараз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74–84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102 г · Ашан · Зараз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83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111 г · Зараз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2083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2083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25235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7823" y="4389120"/>
            <a:ext cx="1344168" cy="134416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243523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43523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84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3523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13801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13801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86953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19541" y="4389120"/>
            <a:ext cx="1344168" cy="134416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105241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05241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85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05241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з бульйоном: каталог 2 з 4 — 88–98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1 · РАМЕН У ПАКЕТІ · З БУЛЬЙОНОМ   ·   Варіння 4–5 хв · подається з бульйоном   ·   вага 102–144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74–102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 г · Ашан · Onde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124 г · Ашан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87–93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Grono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92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93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Космос · Таврія 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67–101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Космос · Grono +2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93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76–113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110 г · Ашан · Grono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76–113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110 г · Ашан · Grono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2083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2083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25235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7823" y="4389120"/>
            <a:ext cx="1344168" cy="134416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243523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43523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95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3523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13801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13801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86953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19541" y="4389120"/>
            <a:ext cx="1344168" cy="134416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105241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05241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74–122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05241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125 г · Ашан · Onde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з бульйоном: каталог 3 з 4 — 104–117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1 · РАМЕН У ПАКЕТІ · З БУЛЬЙОНОМ   ·   Варіння 4–5 хв · подається з бульйоном   ·   вага 102–144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85–122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Onde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110 г · Ашан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Onde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89–132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Grono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112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115 г · Ашан · Зараз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108–169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135 г · Ашан · Grono · Зараз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99–124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Зараз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112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115 г · Ашан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112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2083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2083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25235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7823" y="4389120"/>
            <a:ext cx="1344168" cy="134416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243523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43523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85–125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3523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 · Клас · METRO +2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13801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13801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86953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19541" y="4389120"/>
            <a:ext cx="1344168" cy="134416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105241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05241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98–129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05241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Космос · Клас · METRO +4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з бульйоном: каталог 4 з 4 — 118–205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1 · РАМЕН У ПАКЕТІ · З БУЛЬЙОНОМ   ·   Варіння 4–5 хв · подається з бульйоном   ·   вага 102–144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98–124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ЧудоМаркет · Космос · G…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112–130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105 г · Ашан · Зараз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125–135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125 г · Клас · Onde · Восторг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125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Grono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128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Onde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116–142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123 г · Ашан · Grono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165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METRO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202–209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 · Grono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із соусом: 30 позицій, медіана 106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41148" cy="10789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C4820A"/>
                </a:solidFill>
                <a:latin typeface="Segoe UI"/>
              </a:rPr>
              <a:t>30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7 брендів у 12 мережах.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34 % усієї категорії.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47872" y="1591056"/>
            <a:ext cx="41148" cy="10789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3904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3904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C4820A"/>
                </a:solidFill>
                <a:latin typeface="Segoe UI"/>
              </a:rPr>
              <a:t>106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4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P25–P75: 86–137 ₴.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Діапазон: 72–198 ₴.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1591056"/>
            <a:ext cx="41148" cy="10789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ДОРОЖЧІ ЗА ЦІЛЬ 120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C4820A"/>
                </a:solidFill>
                <a:latin typeface="Segoe UI"/>
              </a:rPr>
              <a:t>11 з 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позицій сегмента.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Дорожчі за 140,55 ₴ (зараз): 5.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591056"/>
            <a:ext cx="2121408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60" y="1591056"/>
            <a:ext cx="41148" cy="10789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5792" y="1746504"/>
            <a:ext cx="16459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ВАГА ПАЧКИ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56816"/>
            <a:ext cx="16459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C4820A"/>
                </a:solidFill>
                <a:latin typeface="Segoe UI"/>
              </a:rPr>
              <a:t>105–145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2313305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межі сегмента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зрізом 29.09.2026.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779776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017520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55648" y="3040379"/>
            <a:ext cx="3474720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0368" y="301752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195827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55648" y="3218687"/>
            <a:ext cx="1895301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0368" y="3195827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374135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55648" y="3396995"/>
            <a:ext cx="1579418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30368" y="3374135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552443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55648" y="3575303"/>
            <a:ext cx="1263534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0368" y="3552443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3730751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55648" y="3753611"/>
            <a:ext cx="631767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30368" y="373075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909059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55648" y="3931920"/>
            <a:ext cx="315883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0368" y="3909059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2779776"/>
            <a:ext cx="5303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ПОЗИЦІЙ ЗА ЦІНОВОЮ СМУГОЮ · ₴ ЗА ПАЧКУ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3846576"/>
            <a:ext cx="566928" cy="1584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3663696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63640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до 80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4032" y="3291839"/>
            <a:ext cx="566928" cy="7132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22592" y="3108959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22592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80–95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72983" y="3608831"/>
            <a:ext cx="566928" cy="3962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81544" y="342595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81544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95–110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31936" y="3608831"/>
            <a:ext cx="566928" cy="3962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40496" y="342595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40496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110–130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90888" y="3608831"/>
            <a:ext cx="566928" cy="3962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342595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99448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130–150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49840" y="3767328"/>
            <a:ext cx="566928" cy="2377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58400" y="35844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150–180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908792" y="3925823"/>
            <a:ext cx="566928" cy="79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817352" y="3742943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17352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180 +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" y="422452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3232" y="423367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ПРЕДСТАВНИКИ СЕГМЕНТА · ВІД НАЙДЕШЕВШОЇ ДО НАЙДОРОЖЧОЇ ПОЗИЦІЇ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6928" y="449884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0080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645152"/>
            <a:ext cx="1115568" cy="111556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58368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8368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78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105 г · Onde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28646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428646" y="449884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501798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86" y="4645152"/>
            <a:ext cx="1115568" cy="1115568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2520086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520086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20086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122 г · Ашан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90364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90364" y="449884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363516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404" y="4645152"/>
            <a:ext cx="1115568" cy="11155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4381804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1804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72–124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1804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ЧудоМаркет · Grono · NO…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52083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52083" y="449884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25235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2123" y="4645152"/>
            <a:ext cx="1115568" cy="11155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6243523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43523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115 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43523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13801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013801" y="449884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86953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3841" y="4645152"/>
            <a:ext cx="1115568" cy="111556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105241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105241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93–156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05241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140 г · Ашан · Космос · Grono +4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875519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875519" y="449884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948672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95559" y="4645152"/>
            <a:ext cx="1115568" cy="111556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9966959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66959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198 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66959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137 г · Grono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   ·   30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із соусом: каталог 1 з 3 — 78–89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2 · РАМЕН У ПАКЕТІ · ІЗ СОУСОМ   ·   Варіння 4–5 хв · воду злити, змішати із соусом   ·   вага 105–145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78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105 г · Onde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01798" y="240944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78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138 г · Onde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80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105 г · Ашан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81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110 г · Ашан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122 г · Ашан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122 г · Ашан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122 г · Ашан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127 г · Ашан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2083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2083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25235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7823" y="4389120"/>
            <a:ext cx="1344168" cy="134416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243523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43523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3523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   ·   30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із соусом: каталог 2 з 3 — 89–123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2 · РАМЕН У ПАКЕТІ · ІЗ СОУСОМ   ·   Варіння 4–5 хв · воду злити, змішати із соусом   ·   вага 105–145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131 г · Ашан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96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136 г · Ашан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72–124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ЧудоМаркет · Grono · NO…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90–115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140 г · Ашан · Зараз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86–123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 · Grono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140 г · Ашан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105–121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 · Grono · Onde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115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Ашан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89–136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140 г · Ашан · Клас · METRO +3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2083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2083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25235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7823" y="4389120"/>
            <a:ext cx="1344168" cy="134416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243523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43523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84–123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3523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140 г · Ашан · Grono · Onde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   ·   30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Пакет із соусом: каталог 3 з 3 — 125–198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2 · РАМЕН У ПАКЕТІ · ІЗ СОУСОМ   ·   Варіння 4–5 хв · воду злити, змішати із соусом   ·   вага 105–145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125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131 г · Космос · Таврія 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94–184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145 г · Ашан · ЧудоМаркет · Кос…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86–151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140 г · Ашан · ЧудоМаркет · Кос…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93–156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140 г · Ашан · Космос · Grono +4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100–151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130 г · ЧудоМаркет · Космос · G…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131–154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137 г · Ашан · ЧудоМаркет · Gro…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78–157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105 г · Клас · Onde · Восторг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157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105 г · Клас · Восторг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78–157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105 г · Клас · Onde · Восторг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2083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2083" y="4242816"/>
            <a:ext cx="1755648" cy="365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25235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7823" y="4389120"/>
            <a:ext cx="1344168" cy="134416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243523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43523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198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3523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137 г · Grono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РАМЕН У СТАКАНІ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Стакан: заливається окропом, без плити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41148" cy="10789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5D4B96"/>
                </a:solidFill>
                <a:latin typeface="Segoe UI"/>
              </a:rPr>
              <a:t>18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4 брендів у 8 мережах.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20 % усієї категорії.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47872" y="1591056"/>
            <a:ext cx="41148" cy="10789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3904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3904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5D4B96"/>
                </a:solidFill>
                <a:latin typeface="Segoe UI"/>
              </a:rPr>
              <a:t>104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4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P25–P75: 93–111 ₴.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Діапазон: 34–195 ₴.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1591056"/>
            <a:ext cx="283464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1591056"/>
            <a:ext cx="41148" cy="10789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1746504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ДОРОЖЧІ ЗА ЦІЛЬ 120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195681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5D4B96"/>
                </a:solidFill>
                <a:latin typeface="Segoe UI"/>
              </a:rPr>
              <a:t>3 з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236093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позицій сегмента.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Дорожчі за 140,55 ₴ (зараз): 3.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591056"/>
            <a:ext cx="2121408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60" y="1591056"/>
            <a:ext cx="41148" cy="10789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5792" y="1746504"/>
            <a:ext cx="16459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ВАГА ПАЧКИ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56816"/>
            <a:ext cx="16459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5D4B96"/>
                </a:solidFill>
                <a:latin typeface="Segoe UI"/>
              </a:rPr>
              <a:t>62–120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2313305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межі сегмента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зрізом 29.09.2026.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779776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017520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55648" y="3040379"/>
            <a:ext cx="3474720" cy="960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0368" y="301752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195827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55648" y="3218687"/>
            <a:ext cx="1579418" cy="960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0368" y="3195827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374135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55648" y="3396995"/>
            <a:ext cx="315883" cy="960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30368" y="3374135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552443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55648" y="3575303"/>
            <a:ext cx="315883" cy="960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0368" y="3552443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2779776"/>
            <a:ext cx="5303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ПОЗИЦІЙ ЗА ЦІНОВОЮ СМУГОЮ · ₴ ЗА ПАЧКУ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699401"/>
            <a:ext cx="566928" cy="30567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351652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до 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14032" y="3903181"/>
            <a:ext cx="566928" cy="10189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22592" y="372030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22592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80–95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72983" y="3291839"/>
            <a:ext cx="566928" cy="7132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81544" y="3108959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81544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95–110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31936" y="3597510"/>
            <a:ext cx="566928" cy="40756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40496" y="3414630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0496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110–130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90888" y="3801291"/>
            <a:ext cx="566928" cy="2037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9448" y="361841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99448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130–150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149840" y="3986784"/>
            <a:ext cx="566928" cy="1828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3803904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150–180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908792" y="3903181"/>
            <a:ext cx="566928" cy="10189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17352" y="3720301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17352" y="4041648"/>
            <a:ext cx="7498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180 +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422452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423367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ПРЕДСТАВНИКИ СЕГМЕНТА · ВІД НАЙДЕШЕВШОЇ ДО НАЙДОРОЖЧОЇ ПОЗИЦІЇ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6928" y="449884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0080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645152"/>
            <a:ext cx="1115568" cy="111556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8368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8368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65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8368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 г · Ашан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28646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28646" y="449884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501798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86" y="4645152"/>
            <a:ext cx="1115568" cy="111556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520086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20086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82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20086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67 г · Ашан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0364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0364" y="449884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363516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404" y="4645152"/>
            <a:ext cx="1115568" cy="111556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381804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81804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103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381804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67 г · Ашан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2083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52083" y="449884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25235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2123" y="4645152"/>
            <a:ext cx="1115568" cy="111556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243523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43523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43523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68 г · METRO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13801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013801" y="449884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086953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3841" y="4645152"/>
            <a:ext cx="1115568" cy="1115568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8105241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5241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05241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67 г · METRO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875519" y="4498848"/>
            <a:ext cx="1755648" cy="22494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875519" y="449884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948672" y="4608576"/>
            <a:ext cx="1609344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95559" y="4645152"/>
            <a:ext cx="1115568" cy="11155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966959" y="587044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66959" y="619048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195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66959" y="64373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 г · Grono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РАМЕН У СТАКАНІ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Стакан: каталог 1 з 2 — 65–103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РАМЕН У СТАКАНІ   ·   Залити окропом 3–4 хв · без плити   ·   вага 62–120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65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 г · Ашан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65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 г · Ашан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65–86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 г · Ашан · Onde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82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67 г · Ашан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97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68 г · Ашан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99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 г · Ашан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34–149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70 г · Космос · Grono · Клас +3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103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67 г · Ашан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103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62 г · Ашан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РАМЕН У СТАКАНІ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Стакан: каталог 2 з 2 — 105–195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8988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РАМЕН У СТАКАНІ   ·   Залити окропом 3–4 хв · без плити   ·   вага 62–120 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810512"/>
            <a:ext cx="1344168" cy="1344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68 г · METRO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646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28646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01798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386" y="1810512"/>
            <a:ext cx="1344168" cy="1344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20086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86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68 г · METRO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0364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0364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3516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104" y="1810512"/>
            <a:ext cx="1344168" cy="13441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1804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804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804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67 г · METRO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2083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2083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5235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23" y="1810512"/>
            <a:ext cx="1344168" cy="1344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43523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3523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3523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62 г · METRO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13801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13801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6953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541" y="1810512"/>
            <a:ext cx="1344168" cy="13441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05241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5241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5241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62 г · METRO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19" y="1664208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9" y="1664208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48672" y="1773936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1259" y="1810512"/>
            <a:ext cx="1344168" cy="13441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966959" y="3264408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35844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383133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67 г · METRO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4242816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4389120"/>
            <a:ext cx="1344168" cy="1344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58368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137–150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70 г · Космос · Клас · Таврія 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646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28646" y="4242816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01798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4386" y="4389120"/>
            <a:ext cx="1344168" cy="134416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520086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86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100–158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20086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75 г · Grono · METRO · Onde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0364" y="4242816"/>
            <a:ext cx="1755648" cy="2468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0364" y="4242816"/>
            <a:ext cx="1755648" cy="3657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3516" y="4352544"/>
            <a:ext cx="1609344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6104" y="4389120"/>
            <a:ext cx="1344168" cy="13441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381804" y="5843016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4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1804" y="6163055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1C2235"/>
                </a:solidFill>
                <a:latin typeface="Segoe UI"/>
              </a:rPr>
              <a:t>195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804" y="640994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 г · Grono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ЗВЕДЕННЯ · БРЕНДИ ×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Усі бренди в усіх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261872"/>
            <a:ext cx="566928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98448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81328"/>
            <a:ext cx="5669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spc="-10">
                <a:solidFill>
                  <a:srgbClr val="FFFFFF"/>
                </a:solidFill>
                <a:latin typeface="Segoe UI"/>
              </a:rPr>
              <a:t>89 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1261872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верхнє число — кількість позицій (SKU) бренду в мережі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463040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нижнє число — медіанна ціна пачки в ₴  ·  чим темніше, тим більше позицій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7393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393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Ашан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257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257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Grono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7121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Onde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1985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METRO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849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«Зараз»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713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«Клас»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65775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65775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«Восторг»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1441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1441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«Космос»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5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5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«Таврія»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11695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1695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NOVUS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60336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0336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«ЧудоМ.»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08975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08975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«Торба»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7615" y="1810512"/>
            <a:ext cx="512063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5" y="192024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FFFFFF"/>
                </a:solidFill>
                <a:latin typeface="Segoe UI"/>
              </a:rPr>
              <a:t>«Сільпо»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7" y="1810512"/>
            <a:ext cx="539496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9407" y="1920240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46335" y="1810512"/>
            <a:ext cx="612647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46335" y="1920240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МЕРЕЖ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86415" y="1810512"/>
            <a:ext cx="722375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86415" y="1920240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МЕДІАНА,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36223" y="1810512"/>
            <a:ext cx="868680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36223" y="1920240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ВАГА ПАЧКИ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229743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73936" y="2212848"/>
            <a:ext cx="512063" cy="333756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73936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73936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FFFFFF"/>
                </a:solidFill>
                <a:latin typeface="Segoe UI"/>
              </a:rPr>
              <a:t>89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22576" y="2212848"/>
            <a:ext cx="512063" cy="33375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22576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145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71216" y="2212848"/>
            <a:ext cx="512063" cy="33375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71216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71216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FFFFFF"/>
                </a:solidFill>
                <a:latin typeface="Segoe UI"/>
              </a:rPr>
              <a:t>122 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19856" y="2212848"/>
            <a:ext cx="512063" cy="33375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19856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19856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FFFFFF"/>
                </a:solidFill>
                <a:latin typeface="Segoe UI"/>
              </a:rPr>
              <a:t>108 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68496" y="221284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68496" y="230428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17136" y="2212848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17136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17136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125 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65775" y="2212848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65775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65775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125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14416" y="2212848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14416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14416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116 ₴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63055" y="2212848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3055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63055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118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11695" y="2212848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11695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11695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126 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0336" y="2212848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60336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60336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808975" y="221284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08975" y="230428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57615" y="2212848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357615" y="222656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57615" y="240487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139 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79407" y="2212848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79407" y="2304288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33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546335" y="2212848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546335" y="2304288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186415" y="2212848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86415" y="2304288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111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936223" y="2212848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936223" y="230428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62–140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266776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773936" y="2583179"/>
            <a:ext cx="512063" cy="33375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773936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773936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FFFFFF"/>
                </a:solidFill>
                <a:latin typeface="Segoe UI"/>
              </a:rPr>
              <a:t>108 ₴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22576" y="2583179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322576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22576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152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71216" y="2583179"/>
            <a:ext cx="512063" cy="33375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871216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71216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86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419856" y="2583179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19856" y="267462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968496" y="2583179"/>
            <a:ext cx="512063" cy="33375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968496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68496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112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17136" y="2583179"/>
            <a:ext cx="512063" cy="33375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517136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17136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151 ₴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65775" y="2583179"/>
            <a:ext cx="512063" cy="33375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065775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65775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151 ₴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614416" y="2583179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614416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14416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140 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63055" y="2583179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163055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163055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140 ₴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711695" y="2583179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711695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711695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139 ₴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260336" y="2583179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260336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260336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130 ₴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08975" y="2583179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808975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808975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102 ₴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357615" y="2583179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357615" y="259689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357615" y="2775203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90 ₴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979407" y="2583179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979407" y="2674620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24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546335" y="2583179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46335" y="2674620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186415" y="2583179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186415" y="2674620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112 ₴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936223" y="2583179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936223" y="2674620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70–145 г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303809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773936" y="2953512"/>
            <a:ext cx="512063" cy="33375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773936" y="296722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73936" y="3145536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FFFFFF"/>
                </a:solidFill>
                <a:latin typeface="Segoe UI"/>
              </a:rPr>
              <a:t>89 ₴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322576" y="2953512"/>
            <a:ext cx="512063" cy="33375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322576" y="296722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322576" y="3145536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113 ₴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871216" y="2953512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871216" y="296722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71216" y="3145536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118 ₴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19856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19856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968496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968496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17136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517136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065775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065775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614416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614416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163055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163055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711695" y="2953512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711695" y="296722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711695" y="3145536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124 ₴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260336" y="2953512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260336" y="296722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260336" y="3145536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100 ₴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08975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808975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357615" y="295351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357615" y="304495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979407" y="2953512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979407" y="3044952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9546335" y="2953512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9546335" y="3044952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0186415" y="2953512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0186415" y="3044952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94 ₴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0936223" y="2953512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936223" y="3044952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105–140 г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66928" y="340842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773936" y="3323844"/>
            <a:ext cx="512063" cy="33375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773936" y="333756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73936" y="3515868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89 ₴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2322576" y="3323844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322576" y="333756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322576" y="3515868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101 ₴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871216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871216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3419856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3419856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968496" y="3323844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968496" y="333756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968496" y="3515868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67 ₴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17136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17136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065775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065775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614416" y="3323844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614416" y="333756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614416" y="3515868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93 ₴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163055" y="3323844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6163055" y="333756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163055" y="3515868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93 ₴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711695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711695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260336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260336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808975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808975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8357615" y="332384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8357615" y="341528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979407" y="3323844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979407" y="3415284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546335" y="3323844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9546335" y="3415284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0186415" y="3323844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10186415" y="3415284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89 ₴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0936223" y="3323844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936223" y="341528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67–130 г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566928" y="3778758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773936" y="3694176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773936" y="370789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773936" y="3886200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74 ₴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322576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2322576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2871216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871216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419856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3419856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3968496" y="3694176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3968496" y="370789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968496" y="3886200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80 ₴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4517136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4517136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5065775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5065775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5614416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5614416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163055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163055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6711695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711695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7260336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260336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7808975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7808975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8357615" y="3694176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8357615" y="378561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8979407" y="3694176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8979407" y="3785616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9546335" y="3694176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9546335" y="3785616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10186415" y="3694176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10186415" y="3785616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77 ₴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10936223" y="3694176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10936223" y="3785616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102–144 г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566928" y="414909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1773936" y="4064508"/>
            <a:ext cx="512063" cy="33375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773936" y="407822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773936" y="4256532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86 ₴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2322576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2322576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871216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871216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19856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19856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3968496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3968496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4517136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4517136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5065775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5065775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5614416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5614416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63055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163055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6711695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711695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260336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7260336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808975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7808975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8357615" y="4064508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8357615" y="415594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8979407" y="4064508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8979407" y="4155948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9546335" y="4064508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9546335" y="4155948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10186415" y="4064508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0186415" y="4155948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86 ₴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0936223" y="4064508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936223" y="415594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122–127 г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66928" y="451942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773936" y="4434840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773936" y="4448556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773936" y="4626864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95 ₴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2322576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2322576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2871216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2871216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3419856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3419856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968496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968496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517136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517136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065775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5065775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614416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614416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63055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6163055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711695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711695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60336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260336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808975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808975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57615" y="4434840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7615" y="452628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79407" y="4434840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8979407" y="4526280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9546335" y="4434840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546335" y="4526280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186415" y="4434840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186415" y="4526280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95 ₴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36223" y="4434840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936223" y="4526280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120 г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566928" y="488975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73936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1773936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2322576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2322576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2871216" y="4805172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2871216" y="4818888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2871216" y="4997196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78 ₴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3419856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3419856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3968496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3968496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4517136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4517136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5065775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5065775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5614416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5614416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6163055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163055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6711695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6711695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7260336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7260336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7808975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7808975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357615" y="4805172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57615" y="4896612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8979407" y="4805172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8979407" y="4896612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9546335" y="4805172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9546335" y="4896612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10186415" y="4805172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186415" y="4896612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78 ₴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10936223" y="4805172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10936223" y="4896612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137,8 г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566928" y="526008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C4820A"/>
                </a:solidFill>
                <a:latin typeface="Segoe UI"/>
              </a:rPr>
              <a:t>Choi’s (SIAS)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1773936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1773936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2322576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2322576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2871216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2871216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419856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3419856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3968496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3968496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4517136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4517136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5065775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5065775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5614416" y="5175504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5614416" y="518922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614416" y="5367528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125 ₴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6163055" y="5175504"/>
            <a:ext cx="512063" cy="33375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6163055" y="5189220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6163055" y="5367528"/>
            <a:ext cx="5120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125 ₴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6711695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711695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7260336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7260336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7808975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7808975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8357615" y="5175504"/>
            <a:ext cx="512063" cy="33375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8357615" y="5266944"/>
            <a:ext cx="5120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8979407" y="5175504"/>
            <a:ext cx="539496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8979407" y="5266944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9546335" y="5175504"/>
            <a:ext cx="612647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9546335" y="5266944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10186415" y="5175504"/>
            <a:ext cx="722375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10186415" y="5266944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125 ₴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10936223" y="5175504"/>
            <a:ext cx="868680" cy="3337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10936223" y="526694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131 г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1755648" y="5564124"/>
            <a:ext cx="10076688" cy="109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566928" y="565556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80" b="1" spc="-10">
                <a:solidFill>
                  <a:srgbClr val="C4820A"/>
                </a:solidFill>
                <a:latin typeface="Segoe UI"/>
              </a:rPr>
              <a:t>УСЬОГО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75564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60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75564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89 ₴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0428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24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30428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126 ₴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85292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24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285292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114 ₴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40156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12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340156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108 ₴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395020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395020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88 ₴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449884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449884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137 ₴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504748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504748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137 ₴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559612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12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559612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122 ₴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614476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12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614476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122 ₴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6693407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6693407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134 ₴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724204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6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724204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120 ₴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7790688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2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7790688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102 ₴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8339327" y="56189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spc="-10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8339327" y="58018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114 ₴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8979407" y="5710428"/>
            <a:ext cx="539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C4820A"/>
                </a:solidFill>
                <a:latin typeface="Segoe UI"/>
              </a:rPr>
              <a:t>93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9546335" y="5710428"/>
            <a:ext cx="61264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186415" y="5710428"/>
            <a:ext cx="72237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C4820A"/>
                </a:solidFill>
                <a:latin typeface="Segoe UI"/>
              </a:rPr>
              <a:t>103 ₴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10936223" y="571042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80" b="1" spc="-10">
                <a:solidFill>
                  <a:srgbClr val="C4820A"/>
                </a:solidFill>
                <a:latin typeface="Segoe UI"/>
              </a:rPr>
              <a:t>62–145 г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566928" y="6437376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9FA9C4"/>
                </a:solidFill>
                <a:latin typeface="Segoe UI"/>
              </a:rPr>
              <a:t>Каталоги мереж (zakaz.ua) і «Сільпо», 29.09.2026. Клітинка = унікальні EAN × медіана цін по магазинах мережі. «Сільпо» — 4 позиції без EAN (3 Samyang, 1 Nongshim); 93 = 89 позицій з EAN + 4 «Сільпо». Вага — мін.–макс. пачки бренду.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Кількість позицій і медіанна ціна пачки за ваговими смугами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146304" cy="12801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591056"/>
            <a:ext cx="4343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31036" y="1609344"/>
            <a:ext cx="146304" cy="12801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2204" y="1591056"/>
            <a:ext cx="5029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74519"/>
            <a:ext cx="6217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303A5D"/>
                </a:solidFill>
                <a:latin typeface="Segoe UI"/>
              </a:rPr>
              <a:t>ПОЗИЦІЙ У ВАГОВІЙ СМУЗІ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1874519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303A5D"/>
                </a:solidFill>
                <a:latin typeface="Segoe UI"/>
              </a:rPr>
              <a:t>МЕДІАННА ЦІНА ПАЧКИ, 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10127"/>
            <a:ext cx="11064240" cy="1133856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36829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19" y="2304288"/>
            <a:ext cx="1759016" cy="34747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2377440"/>
            <a:ext cx="1759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4976" y="237744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17  ·  19 %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2304288"/>
            <a:ext cx="1952243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2377440"/>
            <a:ext cx="18425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105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9352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2871216"/>
            <a:ext cx="827772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19" y="2944368"/>
            <a:ext cx="8277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3732" y="294436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8  ·  9 %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2871216"/>
            <a:ext cx="1877872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2944368"/>
            <a:ext cx="1768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101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502151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3438144"/>
            <a:ext cx="3621505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4519" y="3511296"/>
            <a:ext cx="362150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96025" y="3438144"/>
            <a:ext cx="103471" cy="34747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0936" y="3511296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36  ·  40 %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3438144"/>
            <a:ext cx="1729130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3511296"/>
            <a:ext cx="16194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93 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06908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4519" y="4005072"/>
            <a:ext cx="2793732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19" y="4078224"/>
            <a:ext cx="27937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9692" y="4078224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27  ·  30 %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5240" y="4005072"/>
            <a:ext cx="2082393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4078224"/>
            <a:ext cx="197266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112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636008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19" y="4572000"/>
            <a:ext cx="103471" cy="3474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69431" y="46451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  ·  1 %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35240" y="4572000"/>
            <a:ext cx="2510028" cy="3474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5240" y="4645152"/>
            <a:ext cx="24003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FFFFFF"/>
                </a:solidFill>
                <a:latin typeface="Segoe UI"/>
              </a:rPr>
              <a:t>135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60889" y="2176272"/>
            <a:ext cx="12801" cy="287121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54896" y="5065776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B53A3A"/>
                </a:solidFill>
                <a:latin typeface="Segoe UI"/>
              </a:rPr>
              <a:t>120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61320" y="3739896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наші SKU:</a:t>
            </a:r>
          </a:p>
          <a:p>
            <a:pPr algn="ctr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112,5–131 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614416"/>
            <a:ext cx="5413248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5614416"/>
            <a:ext cx="41148" cy="7863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7" y="5779007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ВАГА НАШИХ SKU — РИНКОВА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" y="6053327"/>
            <a:ext cx="4864608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112,5–131 г потрапляє у дві найщільніші смуги: 70 % усіх позицій ринку.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5614416"/>
            <a:ext cx="5413248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5614416"/>
            <a:ext cx="41148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5779007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ЦІНА НАШИХ SKU ПРОТИ ЦИХ СМУГ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6053327"/>
            <a:ext cx="4864608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При полиці 120 грн наші SKU на 29 % дорожчі за медіану смуги 110–125 г (93 грн), при поточних 140,55 грн — на 51 %.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 ·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 корейського рамену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146304" cy="12801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5569" y="1517904"/>
            <a:ext cx="146304" cy="12801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6737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9191" y="1517904"/>
            <a:ext cx="146304" cy="12801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47872" y="1517904"/>
            <a:ext cx="146304" cy="1280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1532" y="1517904"/>
            <a:ext cx="146304" cy="12801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2700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5193" y="1517904"/>
            <a:ext cx="146304" cy="128016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36361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78854" y="1517904"/>
            <a:ext cx="146304" cy="12801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0022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7534" y="1517904"/>
            <a:ext cx="146304" cy="12801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48702" y="1499616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1499616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ЦІНА ПАЧКИ, ₴: мін.–макс. (лінія) · медіана (мітка)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1847088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188823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65960" y="1892807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5960" y="1903780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1883664"/>
            <a:ext cx="845820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1894636"/>
            <a:ext cx="8458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43884" y="1883664"/>
            <a:ext cx="644652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3884" y="1894636"/>
            <a:ext cx="6446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1883664"/>
            <a:ext cx="594360" cy="1664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894636"/>
            <a:ext cx="594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01184" y="1883664"/>
            <a:ext cx="443484" cy="1664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01184" y="1894636"/>
            <a:ext cx="4434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53812" y="1883664"/>
            <a:ext cx="192024" cy="1664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53812" y="1894636"/>
            <a:ext cx="192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54980" y="1883664"/>
            <a:ext cx="192024" cy="1664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4980" y="1894636"/>
            <a:ext cx="192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56148" y="1883664"/>
            <a:ext cx="41148" cy="16642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59" y="188823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45780" y="1953158"/>
            <a:ext cx="2296668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520684" y="1888236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188823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65–202 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27080" y="1888236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89 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21369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65960" y="2141524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65960" y="2152497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88920" y="2132380"/>
            <a:ext cx="544068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88920" y="2143353"/>
            <a:ext cx="5440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42132" y="2132380"/>
            <a:ext cx="493776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2132" y="2143353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5052" y="2132380"/>
            <a:ext cx="91440" cy="1664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945636" y="2132380"/>
            <a:ext cx="41148" cy="16642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41648" y="21369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24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79307" y="2201875"/>
            <a:ext cx="1525524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939784" y="2136952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9696" y="21369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67–158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27080" y="2136952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114 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2344521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2385669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965960" y="2390241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965960" y="2401214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88920" y="2381097"/>
            <a:ext cx="443484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88920" y="2392070"/>
            <a:ext cx="4434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41548" y="2381097"/>
            <a:ext cx="393192" cy="1664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41548" y="2392070"/>
            <a:ext cx="3931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43884" y="2381097"/>
            <a:ext cx="292608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43884" y="2392070"/>
            <a:ext cx="2926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45635" y="2381097"/>
            <a:ext cx="41148" cy="1664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041647" y="238566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3127" y="2450592"/>
            <a:ext cx="2296668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40952" y="2385669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14660" y="238566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72–209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27080" y="2385669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126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263438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965960" y="2638958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965960" y="2649931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88920" y="2629814"/>
            <a:ext cx="342900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88920" y="2640787"/>
            <a:ext cx="3429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140963" y="2629814"/>
            <a:ext cx="192024" cy="1664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40963" y="2640787"/>
            <a:ext cx="192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42132" y="2629814"/>
            <a:ext cx="141732" cy="1664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38727" y="263438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179307" y="2699308"/>
            <a:ext cx="955547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03919" y="2634386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89719" y="263438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67–124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2634386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88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2841955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0080" y="288310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«Восторг»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965960" y="2887675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965960" y="2898648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88920" y="2878531"/>
            <a:ext cx="342900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8920" y="2889504"/>
            <a:ext cx="3429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140963" y="2878531"/>
            <a:ext cx="292608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40963" y="2889504"/>
            <a:ext cx="2926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88435" y="288310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017508" y="2948025"/>
            <a:ext cx="670559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325356" y="2883103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742932" y="288310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117–157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27080" y="2883103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137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" y="313182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«Клас»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965960" y="3136391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965960" y="3147364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88920" y="3127248"/>
            <a:ext cx="342900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88920" y="3138220"/>
            <a:ext cx="3429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140963" y="3127248"/>
            <a:ext cx="292608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140963" y="3138220"/>
            <a:ext cx="2926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88435" y="313182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017508" y="3196742"/>
            <a:ext cx="670559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325356" y="3131820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742932" y="313182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117–157 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27080" y="3131820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137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6928" y="3339388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0080" y="338053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965960" y="3385108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965960" y="3396081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88920" y="3375964"/>
            <a:ext cx="594360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788920" y="3386937"/>
            <a:ext cx="594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38144" y="338053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698991" y="3445459"/>
            <a:ext cx="1123188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839200" y="3380536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877044" y="338053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98–165 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27080" y="3380536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108 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0080" y="362925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965960" y="3633825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965960" y="3644798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88920" y="3624681"/>
            <a:ext cx="292608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788920" y="3635654"/>
            <a:ext cx="2926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090672" y="3624681"/>
            <a:ext cx="141732" cy="1664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41548" y="3624681"/>
            <a:ext cx="91440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42132" y="3624681"/>
            <a:ext cx="41148" cy="1664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438144" y="362925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26679" y="3694176"/>
            <a:ext cx="1844039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073896" y="3629253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625583" y="3629253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34–150 ₴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927080" y="3629253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122 ₴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66928" y="3836822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0080" y="387797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«Космос»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965960" y="3882542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965960" y="3893515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788920" y="3873398"/>
            <a:ext cx="292608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88920" y="3884371"/>
            <a:ext cx="2926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090672" y="3873398"/>
            <a:ext cx="141732" cy="1664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241548" y="3873398"/>
            <a:ext cx="91440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42132" y="3873398"/>
            <a:ext cx="41148" cy="1664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38144" y="387797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726679" y="3942892"/>
            <a:ext cx="1844039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073896" y="3877970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625583" y="387797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40–150 ₴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27080" y="3877970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122 ₴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40080" y="4126687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965960" y="4131259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965960" y="4142232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788920" y="4122115"/>
            <a:ext cx="192024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788920" y="4133087"/>
            <a:ext cx="192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990088" y="4122115"/>
            <a:ext cx="141732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140964" y="4122115"/>
            <a:ext cx="41148" cy="1664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236976" y="412668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051036" y="4191609"/>
            <a:ext cx="1089659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275064" y="4126687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0195560" y="4126687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119–184 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927080" y="4126687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134 ₴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66928" y="4334256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080" y="43754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965960" y="4379976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965960" y="4390948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788920" y="4370832"/>
            <a:ext cx="141732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939796" y="4370832"/>
            <a:ext cx="91440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040379" y="4370832"/>
            <a:ext cx="41148" cy="1664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136391" y="437540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732519" y="4440326"/>
            <a:ext cx="569975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040368" y="4375404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357360" y="4375404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100–134 ₴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927080" y="4375404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120 ₴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40080" y="462412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965960" y="4628692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965960" y="4639665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788920" y="4619548"/>
            <a:ext cx="141732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939796" y="4619548"/>
            <a:ext cx="41148" cy="1664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3035808" y="462412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564879" y="4689043"/>
            <a:ext cx="1827275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939784" y="4624120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447019" y="462412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90–199 ₴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927080" y="4624120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114 ₴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66928" y="4831689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0080" y="4872837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965960" y="4877409"/>
            <a:ext cx="713232" cy="1554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965960" y="4888382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 spc="-1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788920" y="4868265"/>
            <a:ext cx="91440" cy="1664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935223" y="487283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615171" y="4937760"/>
            <a:ext cx="301752" cy="3657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738616" y="4872837"/>
            <a:ext cx="54864" cy="1572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971788" y="4872837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93–111 ₴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927080" y="4872837"/>
            <a:ext cx="7040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102 ₴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66928" y="5080406"/>
            <a:ext cx="11064240" cy="2304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40080" y="5121554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717890"/>
                </a:solidFill>
                <a:latin typeface="Segoe UI"/>
              </a:rPr>
              <a:t>МегаМаркет · Ultramarket · ЕКО · Епіцентр · «Ідеал» — 0 позицій у зрізі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060484" y="1819656"/>
            <a:ext cx="14630" cy="327903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8610600" y="17190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60" b="1" spc="-10">
                <a:solidFill>
                  <a:srgbClr val="B53A3A"/>
                </a:solidFill>
                <a:latin typeface="Segoe UI"/>
              </a:rPr>
              <a:t>120 ₴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561320" y="1719072"/>
            <a:ext cx="1069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66928" y="5961888"/>
            <a:ext cx="3547872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66928" y="5961888"/>
            <a:ext cx="41148" cy="8046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841247" y="612647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ДІРКА №1 · «СІЛЬПО»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841247" y="6400800"/>
            <a:ext cx="2999232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Найбільша мережа країни тримає 4 позиції. Полиця відкрита, але вхід там 90–199 ₴.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315968" y="5961888"/>
            <a:ext cx="3547872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315968" y="5961888"/>
            <a:ext cx="41148" cy="8046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4590288" y="612647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ДІРКА №2 · П’ЯТЬ МЕРЕЖ З НУЛЕМ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590288" y="6400800"/>
            <a:ext cx="2999232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жодної позиції у зрізі.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8065008" y="5961888"/>
            <a:ext cx="356616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065008" y="5961888"/>
            <a:ext cx="41148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339328" y="6126479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8" y="6400800"/>
            <a:ext cx="3017520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«Космос» і «Таврія В» — по 12 позицій; 12 із них збігаються за EAN.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усі перевірені точки: де категорія є і скільки там позицій. Праворуч — хто туди приходить і чи це наш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8132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303A5D"/>
                </a:solidFill>
                <a:latin typeface="Segoe UI"/>
              </a:rPr>
              <a:t>ПЕРЕВІРЕНІ ТОЧКИ ПРОДАЖУ · ПОЗИЦІЙ У КОЖНІЙ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82496"/>
            <a:ext cx="6355080" cy="182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09928"/>
            <a:ext cx="6217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FFFFFF"/>
                </a:solidFill>
                <a:latin typeface="Segoe UI"/>
              </a:rPr>
              <a:t>ПРОДУКТОВІ МЕРЕЖІ · 18 ПЕРЕВІРЕНО · 13 МАЮТЬ РАМЕН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901952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5668"/>
            <a:ext cx="2831690" cy="95097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394" y="18928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042769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056485"/>
            <a:ext cx="1132676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6380" y="203362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183587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197303"/>
            <a:ext cx="1132676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6380" y="217444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2324404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2338120"/>
            <a:ext cx="660727" cy="95097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4431" y="23152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2465222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2478938"/>
            <a:ext cx="613532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7236" y="24560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2606039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2619756"/>
            <a:ext cx="613532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7236" y="259689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" y="2746857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2760573"/>
            <a:ext cx="566338" cy="95097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70042" y="273771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2887675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2901391"/>
            <a:ext cx="566338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70042" y="287853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" y="3028492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3042208"/>
            <a:ext cx="566338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042" y="301934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" y="316931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48840" y="3183026"/>
            <a:ext cx="377558" cy="95097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81262" y="31601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3310127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3323843"/>
            <a:ext cx="283169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86873" y="330098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" y="3450945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48840" y="3464661"/>
            <a:ext cx="188779" cy="95097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92483" y="344180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" y="3591763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48840" y="3605479"/>
            <a:ext cx="94389" cy="95097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98093" y="3582619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373258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48840" y="3732580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" y="3873398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48840" y="3873398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" y="4014215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ЕКО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4014215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" y="4155033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4155033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" y="4295851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«Ідеал»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4295851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4473244"/>
            <a:ext cx="6355080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4500676"/>
            <a:ext cx="6217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FFFFFF"/>
                </a:solidFill>
                <a:latin typeface="Segoe UI"/>
              </a:rPr>
              <a:t>АЗІЙСЬКІ ФУДШОПИ · 5 ПЕРЕВІРЕНО · 3 З ЦІНАМИ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2648" y="469270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Суші Повар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48840" y="4706416"/>
            <a:ext cx="3634002" cy="95097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37706" y="468355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" y="4833518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Тайякі Март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48840" y="4847234"/>
            <a:ext cx="1132676" cy="95097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36380" y="482437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" y="4974335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Asia Foods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48840" y="4988051"/>
            <a:ext cx="1085481" cy="95097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89185" y="496519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2648" y="5115153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OMG! Asia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8840" y="5115153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цінових даних немає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" y="5255971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Panda Asian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8840" y="5255971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цінових даних немає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433364"/>
            <a:ext cx="6355080" cy="18288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5460796"/>
            <a:ext cx="6217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FFFFFF"/>
                </a:solidFill>
                <a:latin typeface="Segoe UI"/>
              </a:rPr>
              <a:t>МАРКЕТПЛЕЙСИ · 4 ПЕРЕВІРЕНО · 1 З ЦІНАМИ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" y="565282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Prom.ua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148840" y="5666536"/>
            <a:ext cx="1132676" cy="9509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336380" y="564367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303A5D"/>
                </a:solidFill>
                <a:latin typeface="Segoe UI"/>
              </a:rP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" y="5793638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Rozetka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48840" y="5793638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цінових даних немає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2648" y="5934455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MAUDAU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48840" y="5934455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цінових даних немає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2648" y="6075273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Bigl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48840" y="6075273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цінових даних немає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178040" y="1481328"/>
            <a:ext cx="4453128" cy="11338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178040" y="1481328"/>
            <a:ext cx="41148" cy="113385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60920" y="156362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012680" y="1563624"/>
            <a:ext cx="1508760" cy="192024"/>
          </a:xfrm>
          <a:prstGeom prst="roundRect">
            <a:avLst>
              <a:gd name="adj" fmla="val 30000"/>
            </a:avLst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1591056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60920" y="1810512"/>
            <a:ext cx="41605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B53A3A"/>
                </a:solidFill>
                <a:latin typeface="Segoe UI"/>
              </a:rPr>
              <a:t>МЕРЕЖІ НАЦІОНАЛЬНОГО ПОКРИТТЯ · 18 ПЕРЕВІРЕНО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20" y="1984248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13 мереж мають корейський рамен, 5 — жодної позиції. «Сільпо» — 4 позиції на всю мережу.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60920" y="2414016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78040" y="2688336"/>
            <a:ext cx="4453128" cy="11338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178040" y="2688336"/>
            <a:ext cx="41148" cy="11338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60920" y="277063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12680" y="2770632"/>
            <a:ext cx="1508760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012680" y="2798064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60920" y="3017520"/>
            <a:ext cx="41605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C4820A"/>
                </a:solidFill>
                <a:latin typeface="Segoe UI"/>
              </a:rPr>
              <a:t>УНІВЕРСАЛЬНІ МАЙДАНЧИКИ · 4 МАЙДАНЧИКИ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60920" y="3191256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Prom · Rozetka · MAUDAU · Bigl. Ціни є лише з Prom: 24 пропозицій, медіана 116 ₴, мінімум 80 ₴.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60920" y="3621024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ПОКУПЕЦЬ:  Масовий покупець · планована закупівля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78040" y="3895344"/>
            <a:ext cx="4453128" cy="11338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178040" y="3895344"/>
            <a:ext cx="41148" cy="11338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60920" y="397763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012680" y="3977639"/>
            <a:ext cx="1508760" cy="192024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012680" y="4005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ВХІД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60920" y="4224528"/>
            <a:ext cx="41605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1E9EA6"/>
                </a:solidFill>
                <a:latin typeface="Segoe UI"/>
              </a:rPr>
              <a:t>СПЕЦІАЛІЗОВАНИЙ ФУДРІТЕЙЛ · 5 МАГАЗИНІВ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60920" y="4398264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OMG! Asia · Тайякі Март · Суші Повар · Asia Foods · Panda Asian. Ціни є з трьох: 42–175 ₴.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4828031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178040" y="5102352"/>
            <a:ext cx="4453128" cy="11338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78040" y="5102352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60920" y="518464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012680" y="5184648"/>
            <a:ext cx="1508760" cy="192024"/>
          </a:xfrm>
          <a:prstGeom prst="roundRect">
            <a:avLst>
              <a:gd name="adj" fmla="val 3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012680" y="521208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1" spc="-10">
                <a:solidFill>
                  <a:srgbClr val="FFFFFF"/>
                </a:solidFill>
                <a:latin typeface="Segoe UI"/>
              </a:rPr>
              <a:t>НЕ НАШ КАНАЛ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5431536"/>
            <a:ext cx="41605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9FA9C4"/>
                </a:solidFill>
                <a:latin typeface="Segoe UI"/>
              </a:rPr>
              <a:t>ТУРИСТИЧНІ ТА ВІЙСЬКОВІ МАГАЗИНИ · 0 ПОЗИЦІЙ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60920" y="560527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Рамену там немає: він потребує окропу й каструлі.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360920" y="6035040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455664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9FA9C4"/>
                </a:solidFill>
                <a:latin typeface="Segoe UI"/>
              </a:rPr>
              <a:t>Мережі — каталоги zakaz.ua і «Сільпо» 29.09.2026. Фудшопи — сторінки категорій (Суші Повар, Asia Foods, Тайякі Март), Prom.ua — одна сторінка видачі, жовтень 2026; без наборів дорожче 250 ₴. Rozetka, MAUDAU, Bigl, OMG! Asia, Panda Asian цінових даних не дали.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 · ЦІНИ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Ціна пачки по каналах і наша поточна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Мін.–макс. (лінія), 25–75 % пропозицій (блок), медіана (риска) · ціна пачки, ₴ · смуги — наша поточна полиця у двох варіантах закупівлі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86000"/>
            <a:ext cx="11064240" cy="5486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419856"/>
            <a:ext cx="11064240" cy="5486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553712"/>
            <a:ext cx="11064240" cy="5486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85674" y="2240280"/>
            <a:ext cx="735980" cy="3447287"/>
          </a:xfrm>
          <a:prstGeom prst="rect">
            <a:avLst/>
          </a:prstGeom>
          <a:solidFill>
            <a:srgbClr val="FDF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0099" y="2240280"/>
            <a:ext cx="945892" cy="3447287"/>
          </a:xfrm>
          <a:prstGeom prst="rect">
            <a:avLst/>
          </a:prstGeom>
          <a:solidFill>
            <a:srgbClr val="F6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396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964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468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5036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540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108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8612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180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684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252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4756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7324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28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396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900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34679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2286000"/>
            <a:ext cx="5486" cy="340156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15400" y="57332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1828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ПРОПОЗИЦІЙ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52760" y="1828800"/>
            <a:ext cx="978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ДО 120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36829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" y="2569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5 мереж · Ашан, METRO, NOVUS…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14140" y="2546604"/>
            <a:ext cx="4645914" cy="45720"/>
          </a:xfrm>
          <a:prstGeom prst="rect">
            <a:avLst/>
          </a:prstGeom>
          <a:solidFill>
            <a:srgbClr val="828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49762" y="2459736"/>
            <a:ext cx="965771" cy="219456"/>
          </a:xfrm>
          <a:prstGeom prst="rect">
            <a:avLst/>
          </a:prstGeom>
          <a:solidFill>
            <a:srgbClr val="4F57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23739" y="2414016"/>
            <a:ext cx="36576" cy="31089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6267" y="2295144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95 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33206" y="248716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246888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468880"/>
            <a:ext cx="978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85 %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" y="293522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" y="313639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8 мереж · Grono, Onde, «Космос»…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63240" y="3113532"/>
            <a:ext cx="5752084" cy="45720"/>
          </a:xfrm>
          <a:prstGeom prst="rect">
            <a:avLst/>
          </a:prstGeom>
          <a:solidFill>
            <a:srgbClr val="8B9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70436" y="3026664"/>
            <a:ext cx="1084046" cy="219456"/>
          </a:xfrm>
          <a:prstGeom prst="rect">
            <a:avLst/>
          </a:prstGeom>
          <a:solidFill>
            <a:srgbClr val="5A7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938012" y="2980944"/>
            <a:ext cx="36576" cy="310896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0540" y="2862072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125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88476" y="30540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6920" y="303580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3035808"/>
            <a:ext cx="978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41 %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" y="350215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Суші Повар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" y="37033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фудшоп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31312" y="3680459"/>
            <a:ext cx="3301492" cy="45720"/>
          </a:xfrm>
          <a:prstGeom prst="rect">
            <a:avLst/>
          </a:prstGeom>
          <a:solidFill>
            <a:srgbClr val="78C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731004" y="3593591"/>
            <a:ext cx="918971" cy="219456"/>
          </a:xfrm>
          <a:prstGeom prst="rect">
            <a:avLst/>
          </a:prstGeom>
          <a:solidFill>
            <a:srgbClr val="3FA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53076" y="3547872"/>
            <a:ext cx="36576" cy="3108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05604" y="3429000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99 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05956" y="362102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6920" y="360273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52760" y="3602736"/>
            <a:ext cx="978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90 %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" y="4069079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Asia Foods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6656" y="4270247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фудшоп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41852" y="4247387"/>
            <a:ext cx="4016248" cy="45720"/>
          </a:xfrm>
          <a:prstGeom prst="rect">
            <a:avLst/>
          </a:prstGeom>
          <a:solidFill>
            <a:srgbClr val="78C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41544" y="4160519"/>
            <a:ext cx="850899" cy="219456"/>
          </a:xfrm>
          <a:prstGeom prst="rect">
            <a:avLst/>
          </a:prstGeom>
          <a:solidFill>
            <a:srgbClr val="3FA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5724" y="4114799"/>
            <a:ext cx="36576" cy="3108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8252" y="3995927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117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31252" y="4187951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6920" y="416966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4169663"/>
            <a:ext cx="978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61 %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6656" y="463600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Тайякі Март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6656" y="48371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фудшоп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77996" y="4814316"/>
            <a:ext cx="3301492" cy="45720"/>
          </a:xfrm>
          <a:prstGeom prst="rect">
            <a:avLst/>
          </a:prstGeom>
          <a:solidFill>
            <a:srgbClr val="78C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050283" y="4727448"/>
            <a:ext cx="2025142" cy="219456"/>
          </a:xfrm>
          <a:prstGeom prst="rect">
            <a:avLst/>
          </a:prstGeom>
          <a:solidFill>
            <a:srgbClr val="3FA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813780" y="4681728"/>
            <a:ext cx="36576" cy="3108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66308" y="4562856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121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2640" y="47548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920" y="4736592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52760" y="4736592"/>
            <a:ext cx="978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50 %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6656" y="520293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Prom.ua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" y="5404103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4680" y="5381243"/>
            <a:ext cx="4050283" cy="45720"/>
          </a:xfrm>
          <a:prstGeom prst="rect">
            <a:avLst/>
          </a:prstGeom>
          <a:solidFill>
            <a:srgbClr val="DBB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113909" y="5294375"/>
            <a:ext cx="1608201" cy="219456"/>
          </a:xfrm>
          <a:prstGeom prst="rect">
            <a:avLst/>
          </a:prstGeom>
          <a:solidFill>
            <a:srgbClr val="CC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31688" y="5248655"/>
            <a:ext cx="36576" cy="3108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84215" y="5129783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116 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48116" y="5321807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199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46920" y="53035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52760" y="5303520"/>
            <a:ext cx="978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778804" y="2240280"/>
            <a:ext cx="16459" cy="34747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871720" y="203911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B53A3A"/>
                </a:solidFill>
                <a:latin typeface="Segoe UI"/>
              </a:rPr>
              <a:t>ціль 120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03962" y="2039112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зараз · 33 палети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03962" y="2176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C4820A"/>
                </a:solidFill>
                <a:latin typeface="Segoe UI"/>
              </a:rPr>
              <a:t>141–162 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8387" y="2039112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B53A3A"/>
                </a:solidFill>
                <a:latin typeface="Segoe UI"/>
              </a:rPr>
              <a:t>зараз · 6 палет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868387" y="2176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B53A3A"/>
                </a:solidFill>
                <a:latin typeface="Segoe UI"/>
              </a:rPr>
              <a:t>181–208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437376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9FA9C4"/>
                </a:solidFill>
                <a:latin typeface="Segoe UI"/>
              </a:rPr>
              <a:t>Мережі: каталоги 29.09.2026, медіана ціни позиції в мережі. Фудшопи й Prom.ua: сторінки категорій, жовтень 2026, без наборів дорожче 250 ₴. Смуги: Vegetable/Spicy/Beef/Chicken (нижня межа) і Gouda/Carbonara (верхня межа) за фінмоделлю, маржа 30 %.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 · ЦІНОВІ РІВНІ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Частка пропозицій за ціною пачки в кожному каналі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Мережі — 89 SKU корейського рамену (пакети й стакани); фудшопи й Prom.ua — рамен зі сторінок категорій, без наборів. Числа в смугах — % пропозицій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146304" cy="1280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499616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до 100 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8216" y="1517904"/>
            <a:ext cx="146304" cy="128016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9384" y="1499616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100–120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20924" y="1517904"/>
            <a:ext cx="146304" cy="128016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2092" y="1499616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120–140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13631" y="1517904"/>
            <a:ext cx="146304" cy="12801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9" y="1499616"/>
            <a:ext cx="8458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понад 140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1517904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ДО 120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51790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517904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ЯКІ БРЕНДИ (ПОЗИЦІЙ)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184708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23160" y="1837943"/>
            <a:ext cx="22860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1860804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1837943"/>
            <a:ext cx="2286000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1860804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184708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100 %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18562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1856231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105863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3160" y="2096719"/>
            <a:ext cx="32766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23160" y="2119579"/>
            <a:ext cx="3276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72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99760" y="2096719"/>
            <a:ext cx="1066800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9760" y="2119579"/>
            <a:ext cx="1066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2096719"/>
            <a:ext cx="762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42760" y="2096719"/>
            <a:ext cx="152400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21058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95 %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211500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115007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Nongshim 17 · Samyang 13 · Paldo 12 · Ottogi 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36463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23160" y="2355494"/>
            <a:ext cx="11430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23160" y="2378354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66160" y="2355494"/>
            <a:ext cx="3047999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0" y="2378354"/>
            <a:ext cx="3047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14159" y="2355494"/>
            <a:ext cx="380999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14159" y="2378354"/>
            <a:ext cx="380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236463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92 %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237378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2373782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Nongshim 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2623413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Суші Повар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23160" y="2614269"/>
            <a:ext cx="2671948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23160" y="2637129"/>
            <a:ext cx="26719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58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95108" y="2614269"/>
            <a:ext cx="1425038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95108" y="2637129"/>
            <a:ext cx="14250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20147" y="2614269"/>
            <a:ext cx="475012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20147" y="2637129"/>
            <a:ext cx="4750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95160" y="262341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90 %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263255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2632557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28 · інші 16 · Paldo 15 · Nongshim 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88218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3160" y="2873044"/>
            <a:ext cx="2612571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23160" y="2895904"/>
            <a:ext cx="261257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57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35731" y="2873044"/>
            <a:ext cx="1306285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35731" y="2895904"/>
            <a:ext cx="130628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29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42017" y="2873044"/>
            <a:ext cx="653142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42017" y="2895904"/>
            <a:ext cx="65314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95160" y="288218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86 %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289133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0" y="2891332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7 · O'Food 4 · Ottogi 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140963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Prom.ua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23160" y="3131819"/>
            <a:ext cx="11430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23160" y="3154679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66160" y="3131819"/>
            <a:ext cx="1714500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66160" y="3154679"/>
            <a:ext cx="1714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80660" y="3131819"/>
            <a:ext cx="190499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1160" y="3131819"/>
            <a:ext cx="1523999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71160" y="3154679"/>
            <a:ext cx="1523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60" y="31409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62 %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0" y="315010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52560" y="3150107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8 · Nongshim 6 · Paldo 4 · Ottogi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39973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Asia Foods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423160" y="3390595"/>
            <a:ext cx="993913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23160" y="3413455"/>
            <a:ext cx="99391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22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417073" y="3390595"/>
            <a:ext cx="1789043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17073" y="3413455"/>
            <a:ext cx="17890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39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06116" y="3390595"/>
            <a:ext cx="1391478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06116" y="3413455"/>
            <a:ext cx="139147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30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597594" y="3390595"/>
            <a:ext cx="397565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97594" y="3413455"/>
            <a:ext cx="39756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95160" y="33997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61 %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12480" y="340888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52560" y="3408883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інші 18 · Paldo 3 · Nongshim 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365851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423160" y="3649370"/>
            <a:ext cx="13335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423160" y="3672230"/>
            <a:ext cx="1333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29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56660" y="3649370"/>
            <a:ext cx="1333500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756660" y="3672230"/>
            <a:ext cx="1333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29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90160" y="3649370"/>
            <a:ext cx="13335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90160" y="3672230"/>
            <a:ext cx="1333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29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23660" y="3649370"/>
            <a:ext cx="571500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23660" y="3672230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95160" y="365851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58 %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366765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52560" y="3667658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Nongshim 11 · Samyang 10 · Paldo 2 · fire bull 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91728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423160" y="3908145"/>
            <a:ext cx="1523999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23160" y="3931005"/>
            <a:ext cx="1523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947160" y="3908145"/>
            <a:ext cx="761999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47160" y="3931005"/>
            <a:ext cx="761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09159" y="3908145"/>
            <a:ext cx="19050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09159" y="3931005"/>
            <a:ext cx="1905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42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614159" y="3908145"/>
            <a:ext cx="380999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14159" y="3931005"/>
            <a:ext cx="380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95160" y="391728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50 %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12480" y="392643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052560" y="3926433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6 · Ottogi 3 · Nongshim 2 · Choi's 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417606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«Космос»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423160" y="4166920"/>
            <a:ext cx="1523999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23160" y="4189780"/>
            <a:ext cx="1523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947160" y="4166920"/>
            <a:ext cx="761999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947160" y="4189780"/>
            <a:ext cx="761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709159" y="4166920"/>
            <a:ext cx="19050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709159" y="4189780"/>
            <a:ext cx="1905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42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614159" y="4166920"/>
            <a:ext cx="380999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614159" y="4189780"/>
            <a:ext cx="380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995160" y="417606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50 %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12480" y="418520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52560" y="4185208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6 · Ottogi 3 · Nongshim 2 · Choi's 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6928" y="44348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23160" y="4425696"/>
            <a:ext cx="1523999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23160" y="4448555"/>
            <a:ext cx="1523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947160" y="4425696"/>
            <a:ext cx="761999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947160" y="4448555"/>
            <a:ext cx="7619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709159" y="4425696"/>
            <a:ext cx="22860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709159" y="4448555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95160" y="443484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50 %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412480" y="444398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52560" y="4443983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3 · Nongshim 2 · Paldo 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4693615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423160" y="4684471"/>
            <a:ext cx="22860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423160" y="4707331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684471"/>
            <a:ext cx="11430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709160" y="4707331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25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852160" y="4684471"/>
            <a:ext cx="1143000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52160" y="4707331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95160" y="469361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50 %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412480" y="470275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052560" y="4702759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3 · Nongshim 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66928" y="495239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Тайякі Март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23160" y="4943246"/>
            <a:ext cx="17145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23160" y="4966106"/>
            <a:ext cx="1714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137660" y="4943246"/>
            <a:ext cx="571500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137660" y="4966106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43246"/>
            <a:ext cx="17145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709160" y="4966106"/>
            <a:ext cx="1714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423660" y="4943246"/>
            <a:ext cx="571500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23660" y="4966106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995160" y="495239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50 %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2480" y="496153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052560" y="4961534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інші 10 · Samyang 7 · Ottogi 4 · Nongshim 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6928" y="5211165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423160" y="5202021"/>
            <a:ext cx="571500" cy="2039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423160" y="5224881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994660" y="5202021"/>
            <a:ext cx="952500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994660" y="5224881"/>
            <a:ext cx="952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21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47160" y="5202021"/>
            <a:ext cx="11430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47160" y="5224881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25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090160" y="5202021"/>
            <a:ext cx="1905000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90160" y="5224881"/>
            <a:ext cx="1905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995160" y="521116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33 %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412480" y="522030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052560" y="5220309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Nongshim 9 · Paldo 8 · Samyang 6 · Ottogi 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6928" y="54699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«Восторг»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423160" y="5460796"/>
            <a:ext cx="703384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423160" y="5483656"/>
            <a:ext cx="7033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126544" y="5460796"/>
            <a:ext cx="1758461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126544" y="5483656"/>
            <a:ext cx="175846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885006" y="5460796"/>
            <a:ext cx="2110153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885006" y="5483656"/>
            <a:ext cx="21101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995160" y="546994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15 %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412480" y="547908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052560" y="5479084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7 · Nongshim 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66928" y="572871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«Клас»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423160" y="5719572"/>
            <a:ext cx="703384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423160" y="5742431"/>
            <a:ext cx="7033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126544" y="5719572"/>
            <a:ext cx="1758461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126544" y="5742431"/>
            <a:ext cx="175846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4885006" y="5719572"/>
            <a:ext cx="2110153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885006" y="5742431"/>
            <a:ext cx="21101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995160" y="572871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15 %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412480" y="573785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052560" y="5737859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Samyang 7 · Nongshim 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66928" y="5987491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23160" y="5978347"/>
            <a:ext cx="571500" cy="203911"/>
          </a:xfrm>
          <a:prstGeom prst="rect">
            <a:avLst/>
          </a:prstGeom>
          <a:solidFill>
            <a:srgbClr val="9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23160" y="6001207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994660" y="5978347"/>
            <a:ext cx="2857500" cy="203911"/>
          </a:xfrm>
          <a:prstGeom prst="rect">
            <a:avLst/>
          </a:prstGeom>
          <a:solidFill>
            <a:srgbClr val="FBC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2994660" y="6001207"/>
            <a:ext cx="2857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62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852160" y="5978347"/>
            <a:ext cx="1143000" cy="2039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852160" y="6001207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95160" y="598749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12 %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412480" y="599663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052560" y="5996635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Nongshim 4 · Samyang 3 · Paldo 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66928" y="6437376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9FA9C4"/>
                </a:solidFill>
                <a:latin typeface="Segoe UI"/>
              </a:rPr>
              <a:t>Мережі — унікальні позиції (EAN) за медіанною ціною в мережі, 29.09.2026; «Сільпо» — 4 позиції. Фудшопи й Prom.ua — сторінки категорій, жовтень 2026 (бренд визначено за назвою; «інші» — не корейські або без бренду).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КОНКУРЕНТИ · ПОПУЛЯРНІ ПАКЕТИ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Популярні пакети: кожна позиція та її ціна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16736"/>
            <a:ext cx="146304" cy="12801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29844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09928" y="1316736"/>
            <a:ext cx="146304" cy="12801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1096" y="129844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5204" y="1316736"/>
            <a:ext cx="146304" cy="12801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6372" y="129844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85032" y="1316736"/>
            <a:ext cx="146304" cy="1280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129844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72584" y="1316736"/>
            <a:ext cx="146304" cy="128016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3752" y="129844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1316736"/>
            <a:ext cx="146304" cy="12801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61304" y="129844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7688" y="1316736"/>
            <a:ext cx="146304" cy="12801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129844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57516" y="1316736"/>
            <a:ext cx="146304" cy="12801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58684" y="129844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C4820A"/>
                </a:solidFill>
                <a:latin typeface="Segoe UI"/>
              </a:rPr>
              <a:t>SIAS: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7596" y="12984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 spc="-10">
                <a:solidFill>
                  <a:srgbClr val="C4820A"/>
                </a:solidFill>
                <a:latin typeface="Segoe UI"/>
              </a:rPr>
              <a:t>смуга: ціль 120 → зараз 33 палети → 6 палет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645920"/>
            <a:ext cx="5440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ПАКЕТ 120 Г · 22 ПОЗИЦІЙ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1828800"/>
            <a:ext cx="5440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68–128 ₴ · до 120 ₴ включно: 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72968" y="2048256"/>
            <a:ext cx="5486" cy="414223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62402" y="2020824"/>
            <a:ext cx="13716" cy="4178807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080260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72968" y="2093976"/>
            <a:ext cx="735386" cy="960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63218" y="2075688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68 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240280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Teumsae Ramen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72968" y="2253996"/>
            <a:ext cx="777501" cy="9601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5333" y="2235708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72 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400300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72968" y="2414015"/>
            <a:ext cx="793699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21531" y="239572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74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560320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Kimchi Ramen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72968" y="2574035"/>
            <a:ext cx="830414" cy="960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58246" y="255574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77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72033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Jin гостра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72968" y="2734055"/>
            <a:ext cx="903845" cy="960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31677" y="271576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84 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288035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Кімчі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72968" y="2894075"/>
            <a:ext cx="916803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44635" y="287578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85 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04037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Stir-Fry із сиром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72968" y="3054095"/>
            <a:ext cx="961077" cy="960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88909" y="303580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89 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20039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Hwa Ramyun з гострим перцем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72968" y="3214115"/>
            <a:ext cx="971336" cy="9601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99168" y="319582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90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36041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Kokomen зі смаком курки го…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72968" y="3374135"/>
            <a:ext cx="993473" cy="9601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21305" y="335584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92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352043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Jin гостра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72968" y="3534155"/>
            <a:ext cx="1001032" cy="960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28864" y="351586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93 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68045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72968" y="3694175"/>
            <a:ext cx="1001032" cy="960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28864" y="367588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93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384047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172968" y="3854195"/>
            <a:ext cx="1003192" cy="9601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31024" y="383590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93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00049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Otoki · Cheesy Ramen зі смаком сир…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72968" y="4014215"/>
            <a:ext cx="1024789" cy="96011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52621" y="399592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95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416051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72968" y="4174235"/>
            <a:ext cx="1118197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46029" y="415594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104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32053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72968" y="4334255"/>
            <a:ext cx="1166251" cy="960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94083" y="431596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108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48055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Shin Ramyun зі смаком гост…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72968" y="4494275"/>
            <a:ext cx="1193248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21080" y="447598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110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464057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Ramen з сиром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72968" y="4654295"/>
            <a:ext cx="1206746" cy="96011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34578" y="463600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112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80059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з морепродуктами середньог…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172968" y="4814315"/>
            <a:ext cx="1226724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54556" y="479602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114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496061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172968" y="4974335"/>
            <a:ext cx="1263439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491271" y="495604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117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12063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172968" y="5134355"/>
            <a:ext cx="1274238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02070" y="511606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118 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262371"/>
            <a:ext cx="5440680" cy="292608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3504" y="527608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1" spc="-10">
                <a:solidFill>
                  <a:srgbClr val="C4820A"/>
                </a:solidFill>
                <a:latin typeface="Segoe UI"/>
              </a:rPr>
              <a:t>SIAS · Vegetable/Spicy/Beef/Chicken 113 г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172968" y="5294375"/>
            <a:ext cx="1295835" cy="10972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468803" y="5294375"/>
            <a:ext cx="221948" cy="109728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690751" y="5294375"/>
            <a:ext cx="432892" cy="109728"/>
          </a:xfrm>
          <a:prstGeom prst="rect">
            <a:avLst/>
          </a:prstGeom>
          <a:solidFill>
            <a:srgbClr val="E1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3504" y="5426963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ціль 120 ₴  ·  зараз: 33 палети 141 ₴  ·  6 палет 181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" y="5554979"/>
            <a:ext cx="5440680" cy="292608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03504" y="5568695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1" spc="-10">
                <a:solidFill>
                  <a:srgbClr val="C4820A"/>
                </a:solidFill>
                <a:latin typeface="Segoe UI"/>
              </a:rPr>
              <a:t>SIAS · Gouda Cheese 123 г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172968" y="5586983"/>
            <a:ext cx="1295835" cy="10972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468803" y="5586983"/>
            <a:ext cx="455453" cy="109728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924256" y="5586983"/>
            <a:ext cx="499490" cy="109728"/>
          </a:xfrm>
          <a:prstGeom prst="rect">
            <a:avLst/>
          </a:prstGeom>
          <a:solidFill>
            <a:srgbClr val="E1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3504" y="5719571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ціль 120 ₴  ·  зараз: 33 палети 162 ₴  ·  6 палет 208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5865875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172968" y="5879591"/>
            <a:ext cx="1349828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77660" y="5861303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125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6025895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172968" y="6039611"/>
            <a:ext cx="1386543" cy="9601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14375" y="6021323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128 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6208775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592285" y="6208775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40203" y="6208775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8121" y="6208775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36208" y="1645920"/>
            <a:ext cx="539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ПАКЕТ 130 Г · 9 ПОЗИЦІЙ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1828800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89–205 ₴ · до 120 ₴ включно: 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42248" y="2048256"/>
            <a:ext cx="5486" cy="1869948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105556" y="2020824"/>
            <a:ext cx="13716" cy="190652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236208" y="2080260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Stir-Fry із сиром гостра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842248" y="2093976"/>
            <a:ext cx="941701" cy="10515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838813" y="2075688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89 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2249424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Bibim Men в корейському ст…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842248" y="2263140"/>
            <a:ext cx="1057033" cy="10515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54145" y="224485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100 ₴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36208" y="241858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842248" y="2432304"/>
            <a:ext cx="1103060" cy="10515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000172" y="241401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104 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36208" y="25877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Ottogi · Jin Jjambbong Ramen з море…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42248" y="2601468"/>
            <a:ext cx="1190352" cy="10515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87464" y="25831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112 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36208" y="275691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42248" y="2770632"/>
            <a:ext cx="1201991" cy="10515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099103" y="2752344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114 ₴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36208" y="2926080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Ramen з сиром гостра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842248" y="2939796"/>
            <a:ext cx="1217863" cy="105155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114975" y="2921508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115 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236208" y="3076956"/>
            <a:ext cx="5394960" cy="310896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72784" y="30906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1" spc="-10">
                <a:solidFill>
                  <a:srgbClr val="C4820A"/>
                </a:solidFill>
                <a:latin typeface="Segoe UI"/>
              </a:rPr>
              <a:t>SIAS · Carbonara Spicy 131 г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842248" y="3108960"/>
            <a:ext cx="1269709" cy="10972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0111957" y="3108960"/>
            <a:ext cx="446271" cy="109728"/>
          </a:xfrm>
          <a:prstGeom prst="rect">
            <a:avLst/>
          </a:prstGeom>
          <a:solidFill>
            <a:srgbClr val="FCD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558228" y="3108960"/>
            <a:ext cx="489420" cy="109728"/>
          </a:xfrm>
          <a:prstGeom prst="rect">
            <a:avLst/>
          </a:prstGeom>
          <a:solidFill>
            <a:srgbClr val="E1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72784" y="3241548"/>
            <a:ext cx="5303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ціль 120 ₴  ·  зараз: 33 палети 162 ₴  ·  6 палет 208 ₴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36208" y="3406140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842248" y="3419856"/>
            <a:ext cx="1470747" cy="105155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367859" y="3401568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139 ₴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236208" y="3575304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Шин Black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842248" y="3589020"/>
            <a:ext cx="1748390" cy="10515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45502" y="357073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165 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36208" y="374446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42248" y="3758184"/>
            <a:ext cx="2171732" cy="10515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068844" y="3739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205 ₴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613648" y="393649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248502" y="393649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883357" y="393649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518212" y="393649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236208" y="4101083"/>
            <a:ext cx="539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ПАКЕТ 140 Г · 6 ПОЗИЦІЙ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36208" y="428396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103–138 ₴ · до 120 ₴ включно: 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842248" y="4503420"/>
            <a:ext cx="5486" cy="105156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105556" y="4475988"/>
            <a:ext cx="13716" cy="108813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236208" y="453542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Chacharoni зі смаком чорни…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842248" y="4549140"/>
            <a:ext cx="1087717" cy="105155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984829" y="4530851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103 ₴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6208" y="470458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Buldak Jjajang зі смаком г…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842248" y="4718303"/>
            <a:ext cx="1148029" cy="105155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045141" y="4700015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108 ₴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236208" y="487375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Nongshim · Chapaghetti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842248" y="4887467"/>
            <a:ext cx="1269709" cy="10515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0166821" y="4869179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120 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236208" y="5042915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Paldo · Volcano Chicken з куркою д…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842248" y="5056631"/>
            <a:ext cx="1301452" cy="10515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0198564" y="5038343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123 ₴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236208" y="5212079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зі смаком курки дуже гостра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842248" y="5225795"/>
            <a:ext cx="1445352" cy="105155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0342464" y="5207507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137 ₴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36208" y="538124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0" b="0" spc="-10">
                <a:solidFill>
                  <a:srgbClr val="303A5D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842248" y="5394959"/>
            <a:ext cx="1458049" cy="105155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355161" y="5376671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138 ₴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613648" y="5573267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48502" y="5573267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883357" y="5573267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18212" y="5573267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9FA9C4"/>
                </a:solidFill>
                <a:latin typeface="Segoe UI"/>
              </a:rPr>
              <a:t>Каталоги мереж 29.09.2026: медіанна ціна пачки по мережах, де позиція є. Червона лінія — 120 ₴. SIAS: поточна полиця за фінмоделлю, маржа 30 %.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КОНКУРЕНТИ · НИЖЧЕ 120 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Ключові конкуренти продаються нижче 120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89888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ДІАПАЗОН ЦІНИ ПАЧКИ ПО МЕРЕЖАХ, 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6304" cy="1280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27632"/>
            <a:ext cx="15316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дешевше за ціль 120 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4036" y="1645920"/>
            <a:ext cx="146304" cy="12801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5204" y="1627632"/>
            <a:ext cx="11201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дорожче за ціль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06587" y="2167128"/>
            <a:ext cx="568462" cy="3749039"/>
          </a:xfrm>
          <a:prstGeom prst="rect">
            <a:avLst/>
          </a:prstGeom>
          <a:solidFill>
            <a:srgbClr val="FDF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60453" y="2167128"/>
            <a:ext cx="730595" cy="3749039"/>
          </a:xfrm>
          <a:prstGeom prst="rect">
            <a:avLst/>
          </a:prstGeom>
          <a:solidFill>
            <a:srgbClr val="F6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4600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4700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40380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79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59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6260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1940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7819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3499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69380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5060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95159" y="2212848"/>
            <a:ext cx="5486" cy="37033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59618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24942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Samyang Buldak 2× spicy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3230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140 г · 10 мереж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7691" y="2322576"/>
            <a:ext cx="888568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66260" y="2322576"/>
            <a:ext cx="814958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3291" y="222199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86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8971" y="239572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6082" y="2221991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151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6082" y="23957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«Восторг»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66090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Nongshim Chapaghetti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4378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140 г · 6 мереж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51300" y="2734056"/>
            <a:ext cx="814959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66260" y="2734056"/>
            <a:ext cx="420623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36900" y="263347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89 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2580" y="28072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1747" y="2633472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136 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1747" y="28072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«Восторг»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07238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Samyang Buldak Hot Chicken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255263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140 г · 7 мереж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3828" y="3145536"/>
            <a:ext cx="712431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66260" y="3145536"/>
            <a:ext cx="946403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39428" y="304495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93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5108" y="321868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«Торба»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67527" y="3044951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156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67527" y="321868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348386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Samyang Buldak тушкована курка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66674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145 г · 7 мереж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69601" y="3557016"/>
            <a:ext cx="696658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66260" y="3557016"/>
            <a:ext cx="1682495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55201" y="345643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94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80881" y="36301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03620" y="3456432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184 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03620" y="363016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NOVUS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8953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Nongshim Рамен зі спеціями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120 г · 7 мереж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95262" y="3968496"/>
            <a:ext cx="570997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66260" y="3968496"/>
            <a:ext cx="236600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80862" y="386791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98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06542" y="404164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57724" y="3867911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129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7724" y="40416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NOVUS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30682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Nongshim Kimchi Ramyun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48970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120 г · 9 мереж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795262" y="4379976"/>
            <a:ext cx="570997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66260" y="4379976"/>
            <a:ext cx="105155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880862" y="427939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98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542" y="445312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26279" y="4279392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124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26279" y="44531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NOVUS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71830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Samyang Buldak з сиром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90118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130 г · 9 мереж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837851" y="4791456"/>
            <a:ext cx="528408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366260" y="4791456"/>
            <a:ext cx="814958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923451" y="469087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100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49131" y="48646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36082" y="4690872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151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36082" y="48646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«Восторг»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512978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Paldo Volcano Carbonara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" y="531266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130 г · 3 мереж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979811" y="5202936"/>
            <a:ext cx="386448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366260" y="5202936"/>
            <a:ext cx="26288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065411" y="510235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105 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91091" y="527608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47412" y="5102352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121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47412" y="527608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554126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Nongshim Toomba Spicy &amp; Creamy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572414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137 г · 7 мереж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58067" y="5614416"/>
            <a:ext cx="602018" cy="18288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43667" y="551383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131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69347" y="56875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314949" y="5513831"/>
            <a:ext cx="731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154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14949" y="568756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358944" y="2167128"/>
            <a:ext cx="16459" cy="377647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51860" y="1965960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B53A3A"/>
                </a:solidFill>
                <a:latin typeface="Segoe UI"/>
              </a:rPr>
              <a:t>ціль 120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24875" y="196596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зараз · 33 палети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78741" y="196596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B53A3A"/>
                </a:solidFill>
                <a:latin typeface="Segoe UI"/>
              </a:rPr>
              <a:t>зараз · 6 палет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01000" y="138988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АКЦІЇ: ЗВИЧАЙНА ЦІНА → АКЦІЙНА, ₴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01000" y="1645920"/>
            <a:ext cx="146304" cy="128016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202168" y="16276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звичайна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16568" y="1645920"/>
            <a:ext cx="146304" cy="12801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17736" y="1627632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акційна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01000" y="2084831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Samyang Buldak курка та сир · 140 г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001000" y="2286000"/>
            <a:ext cx="2847152" cy="13716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903016" y="226771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01000" y="2450591"/>
            <a:ext cx="1472501" cy="137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528365" y="2432303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C4820A"/>
                </a:solidFill>
                <a:latin typeface="Segoe UI"/>
              </a:rPr>
              <a:t>90 ₴  (−48 %) · «Сільпо»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001000" y="2724911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Samyang Buldak карбонара · 130 г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01000" y="2926079"/>
            <a:ext cx="2847152" cy="13716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903016" y="2907791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174 ₴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001000" y="3090671"/>
            <a:ext cx="1472501" cy="137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528365" y="3072383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C4820A"/>
                </a:solidFill>
                <a:latin typeface="Segoe UI"/>
              </a:rPr>
              <a:t>90 ₴  (−48 %) · «Сільпо»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001000" y="3364991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Samyang · Ramen зі смаком курки з… · 135 г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001000" y="3566160"/>
            <a:ext cx="2909332" cy="13716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965196" y="354787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178 ₴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001000" y="3730752"/>
            <a:ext cx="1775379" cy="137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831243" y="3712463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C4820A"/>
                </a:solidFill>
                <a:latin typeface="Segoe UI"/>
              </a:rPr>
              <a:t>108 ₴  (−39 %) · Ашан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01000" y="400507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Samyang · зі смаком курки гостра · 140 г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001000" y="4206240"/>
            <a:ext cx="2364445" cy="13716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420309" y="418795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144 ₴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001000" y="4370832"/>
            <a:ext cx="1520117" cy="137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575981" y="435254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C4820A"/>
                </a:solidFill>
                <a:latin typeface="Segoe UI"/>
              </a:rPr>
              <a:t>93 ₴  (−36 %) · «Торба»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01000" y="46451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Nongshim · Soon Veggie Ramyun овоч… · 112 г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001000" y="4846320"/>
            <a:ext cx="1564297" cy="13716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620161" y="482803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96 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001000" y="5010912"/>
            <a:ext cx="1202676" cy="137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258540" y="499262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C4820A"/>
                </a:solidFill>
                <a:latin typeface="Segoe UI"/>
              </a:rPr>
              <a:t>74 ₴  (−23 %) · Ашан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001000" y="528523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Ottogi · Jin Jjambbong Ramen з м… · 130 г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001000" y="5486400"/>
            <a:ext cx="2393899" cy="137160"/>
          </a:xfrm>
          <a:prstGeom prst="rect">
            <a:avLst/>
          </a:prstGeom>
          <a:solidFill>
            <a:srgbClr val="9AA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449763" y="546811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146 ₴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001000" y="5650992"/>
            <a:ext cx="1840831" cy="137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896695" y="563270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C4820A"/>
                </a:solidFill>
                <a:latin typeface="Segoe UI"/>
              </a:rPr>
              <a:t>112 ₴  (−23 %) · Ашан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6928" y="6437376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9FA9C4"/>
                </a:solidFill>
                <a:latin typeface="Segoe UI"/>
              </a:rPr>
              <a:t>Каталоги мереж 29.09.2026: ціна позиції в мережі (медіана по магазинах); «стара ціна» віддається не всіма мережами, тому акцій насправді більше. Смуги — наша поточна полиця: Vegetable/Spicy/Beef/Chicken (нижня межа) і Gouda/Carbonara (верхня).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· 33 ПАЛЕТИ · ФІНАЛЬНІ ЦИФРИ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33 палети: закупівля €0,65–0,75 → €0,54, полиця 120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298448"/>
            <a:ext cx="3566160" cy="9326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298448"/>
            <a:ext cx="45720" cy="93268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371600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ЗАРАЗ ·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1554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spc="-10">
                <a:solidFill>
                  <a:srgbClr val="B53A3A"/>
                </a:solidFill>
                <a:latin typeface="Segoe UI"/>
              </a:rPr>
              <a:t>140,55 / 162,18 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6596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закупівля €0,65 / €0,75 · +17…35 % до цілі 120 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1298448"/>
            <a:ext cx="3566160" cy="9326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298448"/>
            <a:ext cx="45720" cy="9326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1371600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ЗАПИТ ДО SIAS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1554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1E9EA6"/>
                </a:solidFill>
                <a:latin typeface="Segoe UI"/>
              </a:rPr>
              <a:t>€0,54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96596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−17 % / −28 % від теперішньої закупівлі (одна ціна для 6 SKU)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7" y="1298448"/>
            <a:ext cx="3566160" cy="9326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7" y="1298448"/>
            <a:ext cx="45720" cy="9326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7" y="1371600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ПІСЛЯ · ПОЛИЦЯ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7" y="1554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spc="-10">
                <a:solidFill>
                  <a:srgbClr val="1E9EA6"/>
                </a:solidFill>
                <a:latin typeface="Segoe UI"/>
              </a:rPr>
              <a:t>119,86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196596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маржа 30 % · собівартість 38,53 ₴ · запас до 120 ₴: 0,14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2395728"/>
            <a:ext cx="1371600" cy="512064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91256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256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C7CBD9"/>
                </a:solidFill>
                <a:latin typeface="Segoe UI"/>
              </a:rPr>
              <a:t>в Україні (Self-Cost)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62856" y="2395728"/>
            <a:ext cx="1371600" cy="51206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9432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СС ÷ 0,45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71032" y="2395728"/>
            <a:ext cx="1371600" cy="51206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07608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7608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EDD9B5"/>
                </a:solidFill>
                <a:latin typeface="Segoe UI"/>
              </a:rPr>
              <a:t>25 % ціни партнеру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79208" y="2395728"/>
            <a:ext cx="1371600" cy="51206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15783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Наш прибуток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15783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EDD9B5"/>
                </a:solidFill>
                <a:latin typeface="Segoe UI"/>
              </a:rPr>
              <a:t>30 % ціни партнеру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87384" y="2395728"/>
            <a:ext cx="1371600" cy="512064"/>
          </a:xfrm>
          <a:prstGeom prst="rect">
            <a:avLst/>
          </a:prstGeom>
          <a:solidFill>
            <a:srgbClr val="7C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59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D7DAE4"/>
                </a:solidFill>
                <a:latin typeface="Segoe UI"/>
              </a:rPr>
              <a:t>+40 % до ціни партнеру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95560" y="2395728"/>
            <a:ext cx="1371600" cy="51206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32136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ПОЛИЦЯ з ПДВ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32136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E8C3C3"/>
                </a:solidFill>
                <a:latin typeface="Segoe UI"/>
              </a:rPr>
              <a:t>партнеру × 1,40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2962656"/>
            <a:ext cx="2542032" cy="512063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303580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1C2235"/>
                </a:solidFill>
                <a:latin typeface="Segoe UI"/>
              </a:rPr>
              <a:t>ДО · 4 SKU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3264408"/>
            <a:ext cx="2395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Vegetable, Spicy, Beef, Chicken · закупівля €0,65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54680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54680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54680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54680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45,18 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€0,882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62856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62856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2856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62856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100,40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62856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€1,961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71032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71032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71032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1032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25,10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71032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€0,490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79208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79208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79208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79208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30,12 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79208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€0,588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87384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787384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787384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87384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40,16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87384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€0,784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195560" y="2962656"/>
            <a:ext cx="1371600" cy="512063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95560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-10">
                <a:solidFill>
                  <a:srgbClr val="B53A3A"/>
                </a:solidFill>
                <a:latin typeface="Segoe UI"/>
              </a:rPr>
              <a:t>140,55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95560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€2,745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3511296"/>
            <a:ext cx="2542032" cy="512063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35844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1C2235"/>
                </a:solidFill>
                <a:latin typeface="Segoe UI"/>
              </a:rPr>
              <a:t>ДО · 2 SKU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3813048"/>
            <a:ext cx="2395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Gouda, Carbonara · закупівля €0,75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54680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154680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54680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54680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52,13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54680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€1,018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62856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62856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62856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62856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115,84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62856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€2,263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71032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971032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971032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71032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28,96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71032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€0,566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79208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79208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379208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79208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34,75 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9208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€0,679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787384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787384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87384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87384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46,34 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787384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€0,905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195560" y="3511296"/>
            <a:ext cx="1371600" cy="512063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95560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-10">
                <a:solidFill>
                  <a:srgbClr val="B53A3A"/>
                </a:solidFill>
                <a:latin typeface="Segoe UI"/>
              </a:rPr>
              <a:t>162,18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95560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€3,168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6928" y="4059936"/>
            <a:ext cx="2542032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8368" y="413308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ПІСЛЯ · запит SIAS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8368" y="4361688"/>
            <a:ext cx="2395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усі 6 SKU · закупівля €0,54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154680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154680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38,53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54680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€0,752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62856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62856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85,62 ₴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62856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€1,672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971032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971032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21,40 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971032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€0,418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79208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79208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25,68 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79208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€0,502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787384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787384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34,25 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87384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€0,669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195560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195560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-10">
                <a:solidFill>
                  <a:srgbClr val="1E9EA6"/>
                </a:solidFill>
                <a:latin typeface="Segoe UI"/>
              </a:rPr>
              <a:t>119,86 ₴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95560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€2,341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66928" y="4608576"/>
            <a:ext cx="2542032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58368" y="470916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B53A3A"/>
                </a:solidFill>
                <a:latin typeface="Segoe UI"/>
              </a:rPr>
              <a:t>ЗМІНА · ПІСЛЯ − ДО (4 SKU)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154680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154680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−6,65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154680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−€0,130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62856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562856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−14,78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62856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−€0,289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971032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971032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−3,69 ₴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971032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−€0,072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79208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79208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−4,43 ₴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79208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−€0,087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787384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787384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−5,91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787384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−€0,115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195560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195560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−20,69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95560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−€0,404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6928" y="508406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ЗАКУПІВЛЯ SIAS ПО ПОЗИЦІЯХ · ЗАРАЗ → ЗАПИТ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2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66928" y="5303520"/>
            <a:ext cx="1764792" cy="3657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58368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58368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58368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€0,54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81051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1051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−17 %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41858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418588" y="5303520"/>
            <a:ext cx="1764792" cy="3657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510028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10028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10028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€0,54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6217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6217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−17 %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27024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270248" y="5303520"/>
            <a:ext cx="1764792" cy="3657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361688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61688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361688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€0,54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51383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51383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−17 %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121907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121907" y="5303520"/>
            <a:ext cx="1764792" cy="3657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213347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13347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213347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€0,54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36549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36549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−17 %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973567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973567" y="5303520"/>
            <a:ext cx="1764792" cy="3657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8065007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65007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065007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€0,75 → €0,54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217151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217151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−28 %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982522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9825228" y="5303520"/>
            <a:ext cx="1764792" cy="3657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916667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916667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916667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€0,75 → €0,54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11068811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068811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−28 %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6928" y="64465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spc="-10">
                <a:solidFill>
                  <a:srgbClr val="9FA9C4"/>
                </a:solidFill>
                <a:latin typeface="Segoe UI"/>
              </a:rPr>
              <a:t>Курс 51,20 ₴/€. Ціна партнеру = СС ÷ (1 − бонус 25 % − маржа 30 %), полиця = ціна партнеру × 1,40; усі ціни з ПДВ, за пачку. Собівартість «до» — з Self-Cost; «після» — за запитом €0,54. Джерело: RAMEN_FINMODEL_4_TABS, вкладка «Цена 120 грн — 33 паллет». Згоди SIAS немає — ціна для переговорів.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· 6 ПАЛЕТ · ФІНАЛЬНІ ЦИФРИ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6 палет: закупівля €0,65–0,75 → €0,32, полиця 120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298448"/>
            <a:ext cx="3566160" cy="9326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298448"/>
            <a:ext cx="45720" cy="93268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371600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ЗАРАЗ ·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1554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spc="-10">
                <a:solidFill>
                  <a:srgbClr val="B53A3A"/>
                </a:solidFill>
                <a:latin typeface="Segoe UI"/>
              </a:rPr>
              <a:t>180,64 / 208,43 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6596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закупівля €0,65 / €0,75 · +51…74 % до цілі 120 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1298448"/>
            <a:ext cx="3566160" cy="9326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298448"/>
            <a:ext cx="45720" cy="93268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1371600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ЗАПИТ ДО SIAS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1554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B53A3A"/>
                </a:solidFill>
                <a:latin typeface="Segoe UI"/>
              </a:rPr>
              <a:t>€0,32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96596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−51 % / −57 % від теперішньої закупівлі (одна ціна для 6 SKU)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7" y="1298448"/>
            <a:ext cx="3566160" cy="9326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7" y="1298448"/>
            <a:ext cx="45720" cy="9326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7" y="1371600"/>
            <a:ext cx="3200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ПІСЛЯ · ПОЛИЦЯ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7" y="1554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spc="-10">
                <a:solidFill>
                  <a:srgbClr val="1E9EA6"/>
                </a:solidFill>
                <a:latin typeface="Segoe UI"/>
              </a:rPr>
              <a:t>118,72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196596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маржа 30 % · собівартість 38,16 ₴ · запас до 120 ₴: 1,28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2395728"/>
            <a:ext cx="1371600" cy="512064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91256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256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C7CBD9"/>
                </a:solidFill>
                <a:latin typeface="Segoe UI"/>
              </a:rPr>
              <a:t>в Україні (Self-Cost)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62856" y="2395728"/>
            <a:ext cx="1371600" cy="51206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9432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9FA9C4"/>
                </a:solidFill>
                <a:latin typeface="Segoe UI"/>
              </a:rPr>
              <a:t>СС ÷ 0,45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71032" y="2395728"/>
            <a:ext cx="1371600" cy="51206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07608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7608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EDD9B5"/>
                </a:solidFill>
                <a:latin typeface="Segoe UI"/>
              </a:rPr>
              <a:t>25 % ціни партнеру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79208" y="2395728"/>
            <a:ext cx="1371600" cy="51206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15783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Наш прибуток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15783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EDD9B5"/>
                </a:solidFill>
                <a:latin typeface="Segoe UI"/>
              </a:rPr>
              <a:t>30 % ціни партнеру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87384" y="2395728"/>
            <a:ext cx="1371600" cy="512064"/>
          </a:xfrm>
          <a:prstGeom prst="rect">
            <a:avLst/>
          </a:prstGeom>
          <a:solidFill>
            <a:srgbClr val="7C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59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D7DAE4"/>
                </a:solidFill>
                <a:latin typeface="Segoe UI"/>
              </a:rPr>
              <a:t>+40 % до ціни партнеру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95560" y="2395728"/>
            <a:ext cx="1371600" cy="51206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32136" y="248716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ПОЛИЦЯ з ПДВ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32136" y="269748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E8C3C3"/>
                </a:solidFill>
                <a:latin typeface="Segoe UI"/>
              </a:rPr>
              <a:t>партнеру × 1,40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2962656"/>
            <a:ext cx="2542032" cy="512063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303580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1C2235"/>
                </a:solidFill>
                <a:latin typeface="Segoe UI"/>
              </a:rPr>
              <a:t>ДО · 4 SKU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3264408"/>
            <a:ext cx="2395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Vegetable, Spicy, Beef, Chicken · закупівля €0,65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54680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54680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54680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54680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58,06 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€1,134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62856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62856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2856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62856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129,03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62856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€2,520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71032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71032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71032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1032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32,26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71032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€0,630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79208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79208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79208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79208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38,71 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79208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€0,756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87384" y="296265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787384" y="296265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787384" y="346557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87384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51,61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87384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€1,008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195560" y="2962656"/>
            <a:ext cx="1371600" cy="512063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95560" y="30175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-10">
                <a:solidFill>
                  <a:srgbClr val="B53A3A"/>
                </a:solidFill>
                <a:latin typeface="Segoe UI"/>
              </a:rPr>
              <a:t>180,64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95560" y="32735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€3,528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3511296"/>
            <a:ext cx="2542032" cy="512063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35844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1C2235"/>
                </a:solidFill>
                <a:latin typeface="Segoe UI"/>
              </a:rPr>
              <a:t>ДО · 2 SKU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3813048"/>
            <a:ext cx="2395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Gouda, Carbonara · закупівля €0,75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54680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154680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54680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54680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67,00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54680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€1,309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62856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62856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62856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62856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148,88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62856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€2,908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71032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971032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971032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71032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37,22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71032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€0,727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79208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79208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379208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79208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44,66 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9208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€0,872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787384" y="3511296"/>
            <a:ext cx="1371600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787384" y="351129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87384" y="4014216"/>
            <a:ext cx="1371600" cy="9144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87384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59,55 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787384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€1,163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195560" y="3511296"/>
            <a:ext cx="1371600" cy="512063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95560" y="35661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-10">
                <a:solidFill>
                  <a:srgbClr val="B53A3A"/>
                </a:solidFill>
                <a:latin typeface="Segoe UI"/>
              </a:rPr>
              <a:t>208,43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95560" y="382219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€4,071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6928" y="4059936"/>
            <a:ext cx="2542032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8368" y="413308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ПІСЛЯ · запит SIAS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8368" y="4361688"/>
            <a:ext cx="23957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усі 6 SKU · закупівля €0,32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154680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154680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38,16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54680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€0,745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62856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62856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84,80 ₴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62856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€1,656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971032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971032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21,20 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971032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€0,414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79208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79208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25,44 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79208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€0,497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787384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787384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spc="-10">
                <a:solidFill>
                  <a:srgbClr val="303A5D"/>
                </a:solidFill>
                <a:latin typeface="Segoe UI"/>
              </a:rPr>
              <a:t>33,92 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87384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€0,662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195560" y="4059936"/>
            <a:ext cx="1371600" cy="512063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195560" y="41148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-10">
                <a:solidFill>
                  <a:srgbClr val="1E9EA6"/>
                </a:solidFill>
                <a:latin typeface="Segoe UI"/>
              </a:rPr>
              <a:t>118,72 ₴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95560" y="43708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€2,319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66928" y="4608576"/>
            <a:ext cx="2542032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58368" y="470916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 spc="-10">
                <a:solidFill>
                  <a:srgbClr val="B53A3A"/>
                </a:solidFill>
                <a:latin typeface="Segoe UI"/>
              </a:rPr>
              <a:t>ЗМІНА · ПІСЛЯ − ДО (4 SKU)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154680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154680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−19,90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154680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−€0,389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62856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562856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−44,23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62856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−€0,864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971032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971032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−11,06 ₴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971032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−€0,216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79208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79208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−13,27 ₴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79208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−€0,259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787384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787384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−17,69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787384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−€0,346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195560" y="4608576"/>
            <a:ext cx="1371600" cy="365760"/>
          </a:xfrm>
          <a:prstGeom prst="rect">
            <a:avLst/>
          </a:prstGeom>
          <a:solidFill>
            <a:srgbClr val="F8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195560" y="46451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40" b="1" spc="-10">
                <a:solidFill>
                  <a:srgbClr val="B53A3A"/>
                </a:solidFill>
                <a:latin typeface="Segoe UI"/>
              </a:rPr>
              <a:t>−61,92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95560" y="480974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−€1,209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6928" y="508406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03A5D"/>
                </a:solidFill>
                <a:latin typeface="Segoe UI"/>
              </a:rPr>
              <a:t>ЗАКУПІВЛЯ SIAS ПО ПОЗИЦІЯХ · ЗАРАЗ → ЗАПИТ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2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66928" y="5303520"/>
            <a:ext cx="1764792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58368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58368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58368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€0,32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81051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1051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−51 %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41858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418588" y="5303520"/>
            <a:ext cx="1764792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510028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10028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10028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€0,32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6217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6217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−51 %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27024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270248" y="5303520"/>
            <a:ext cx="1764792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361688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61688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361688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€0,32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51383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51383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−51 %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121907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121907" y="5303520"/>
            <a:ext cx="1764792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213347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13347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213347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€0,65 → €0,32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365492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365492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−51 %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973567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973567" y="5303520"/>
            <a:ext cx="1764792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8065007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65007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065007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€0,75 → €0,32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217151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217151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−57 %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9825228" y="5303520"/>
            <a:ext cx="1764792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9825228" y="5303520"/>
            <a:ext cx="1764792" cy="365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916667" y="539496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916667" y="555955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916667" y="572414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1C2235"/>
                </a:solidFill>
                <a:latin typeface="Segoe UI"/>
              </a:rPr>
              <a:t>€0,75 → €0,32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11068811" y="5742432"/>
            <a:ext cx="457200" cy="201168"/>
          </a:xfrm>
          <a:prstGeom prst="roundRect">
            <a:avLst>
              <a:gd name="adj" fmla="val 30000"/>
            </a:avLst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068811" y="576986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spc="-10">
                <a:solidFill>
                  <a:srgbClr val="FFFFFF"/>
                </a:solidFill>
                <a:latin typeface="Segoe UI"/>
              </a:rPr>
              <a:t>−57 %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6928" y="64465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spc="-10">
                <a:solidFill>
                  <a:srgbClr val="9FA9C4"/>
                </a:solidFill>
                <a:latin typeface="Segoe UI"/>
              </a:rPr>
              <a:t>Курс 51,20 ₴/€. Ціна партнеру = СС ÷ (1 − бонус 25 % − маржа 30 %), полиця = ціна партнеру × 1,40; усі ціни з ПДВ, за пачку. Собівартість «до» — з Self-Cost; «після» — за запитом €0,32. Джерело: RAMEN_FINMODEL_4_TABS, вкладка «Цена 120 грн — 6 паллет». Згоди SIAS немає — ціна для переговорів.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5856</Words>
  <Application>Microsoft Office PowerPoint</Application>
  <PresentationFormat>Широкий екран</PresentationFormat>
  <Paragraphs>1760</Paragraphs>
  <Slides>27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27</vt:i4>
      </vt:variant>
    </vt:vector>
  </HeadingPairs>
  <TitlesOfParts>
    <vt:vector size="31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2026-10-06T15:06:11Z</dcterms:modified>
  <cp:category/>
</cp:coreProperties>
</file>