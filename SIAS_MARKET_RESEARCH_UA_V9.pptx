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5" r:id="rId33"/>
    <p:sldId id="258" r:id="rId3"/>
    <p:sldId id="286" r:id="rId34"/>
    <p:sldId id="260" r:id="rId5"/>
    <p:sldId id="287" r:id="rId35"/>
    <p:sldId id="288" r:id="rId36"/>
    <p:sldId id="289" r:id="rId37"/>
    <p:sldId id="290" r:id="rId38"/>
    <p:sldId id="291" r:id="rId39"/>
    <p:sldId id="265" r:id="rId10"/>
    <p:sldId id="292" r:id="rId40"/>
    <p:sldId id="293" r:id="rId41"/>
    <p:sldId id="294" r:id="rId42"/>
    <p:sldId id="295" r:id="rId43"/>
    <p:sldId id="270" r:id="rId15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280" r:id="rId24"/>
    <p:sldId id="305" r:id="rId53"/>
    <p:sldId id="306" r:id="rId54"/>
    <p:sldId id="307" r:id="rId55"/>
    <p:sldId id="308" r:id="rId56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5" Type="http://schemas.openxmlformats.org/officeDocument/2006/relationships/slide" Target="slides/slide14.xml"/><Relationship Id="rId24" Type="http://schemas.openxmlformats.org/officeDocument/2006/relationships/slide" Target="slides/slide23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4.jpg"/><Relationship Id="rId4" Type="http://schemas.openxmlformats.org/officeDocument/2006/relationships/image" Target="../media/image14.jpg"/><Relationship Id="rId5" Type="http://schemas.openxmlformats.org/officeDocument/2006/relationships/image" Target="../media/image3.jpg"/><Relationship Id="rId6" Type="http://schemas.openxmlformats.org/officeDocument/2006/relationships/image" Target="../media/image6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8.jpg"/><Relationship Id="rId5" Type="http://schemas.openxmlformats.org/officeDocument/2006/relationships/image" Target="../media/image23.jpg"/><Relationship Id="rId6" Type="http://schemas.openxmlformats.org/officeDocument/2006/relationships/image" Target="../media/image30.jpg"/><Relationship Id="rId7" Type="http://schemas.openxmlformats.org/officeDocument/2006/relationships/image" Target="../media/image14.jpg"/><Relationship Id="rId8" Type="http://schemas.openxmlformats.org/officeDocument/2006/relationships/image" Target="../media/image1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5.jpg"/><Relationship Id="rId8" Type="http://schemas.openxmlformats.org/officeDocument/2006/relationships/image" Target="../media/image16.jpg"/><Relationship Id="rId9" Type="http://schemas.openxmlformats.org/officeDocument/2006/relationships/image" Target="../media/image17.jpg"/><Relationship Id="rId10" Type="http://schemas.openxmlformats.org/officeDocument/2006/relationships/image" Target="../media/image6.jpg"/><Relationship Id="rId11" Type="http://schemas.openxmlformats.org/officeDocument/2006/relationships/image" Target="../media/image18.jpg"/><Relationship Id="rId12" Type="http://schemas.openxmlformats.org/officeDocument/2006/relationships/image" Target="../media/image19.jpg"/><Relationship Id="rId13" Type="http://schemas.openxmlformats.org/officeDocument/2006/relationships/image" Target="../media/image1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7.jpg"/><Relationship Id="rId6" Type="http://schemas.openxmlformats.org/officeDocument/2006/relationships/image" Target="../media/image22.jpg"/><Relationship Id="rId7" Type="http://schemas.openxmlformats.org/officeDocument/2006/relationships/image" Target="../media/image19.jpg"/><Relationship Id="rId8" Type="http://schemas.openxmlformats.org/officeDocument/2006/relationships/image" Target="../media/image23.jpg"/><Relationship Id="rId9" Type="http://schemas.openxmlformats.org/officeDocument/2006/relationships/image" Target="../media/image24.jpg"/><Relationship Id="rId10" Type="http://schemas.openxmlformats.org/officeDocument/2006/relationships/image" Target="../media/image25.jpg"/><Relationship Id="rId11" Type="http://schemas.openxmlformats.org/officeDocument/2006/relationships/image" Target="../media/image26.jpg"/><Relationship Id="rId12" Type="http://schemas.openxmlformats.org/officeDocument/2006/relationships/image" Target="../media/image8.jpg"/><Relationship Id="rId13" Type="http://schemas.openxmlformats.org/officeDocument/2006/relationships/image" Target="../media/image2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2.jpg"/><Relationship Id="rId7" Type="http://schemas.openxmlformats.org/officeDocument/2006/relationships/image" Target="../media/image31.jpg"/><Relationship Id="rId8" Type="http://schemas.openxmlformats.org/officeDocument/2006/relationships/image" Target="../media/image9.jpg"/><Relationship Id="rId9" Type="http://schemas.openxmlformats.org/officeDocument/2006/relationships/image" Target="../media/image32.jpg"/><Relationship Id="rId10" Type="http://schemas.openxmlformats.org/officeDocument/2006/relationships/image" Target="../media/image33.jpg"/><Relationship Id="rId11" Type="http://schemas.openxmlformats.org/officeDocument/2006/relationships/image" Target="../media/image34.jpg"/><Relationship Id="rId12" Type="http://schemas.openxmlformats.org/officeDocument/2006/relationships/image" Target="../media/image35.jpg"/><Relationship Id="rId13" Type="http://schemas.openxmlformats.org/officeDocument/2006/relationships/image" Target="../media/image1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Relationship Id="rId4" Type="http://schemas.openxmlformats.org/officeDocument/2006/relationships/image" Target="../media/image36.jp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1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52.jpg"/><Relationship Id="rId5" Type="http://schemas.openxmlformats.org/officeDocument/2006/relationships/image" Target="../media/image57.jpg"/><Relationship Id="rId6" Type="http://schemas.openxmlformats.org/officeDocument/2006/relationships/image" Target="../media/image47.jpg"/><Relationship Id="rId7" Type="http://schemas.openxmlformats.org/officeDocument/2006/relationships/image" Target="../media/image64.jpg"/><Relationship Id="rId8" Type="http://schemas.openxmlformats.org/officeDocument/2006/relationships/image" Target="../media/image4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jpg"/><Relationship Id="rId4" Type="http://schemas.openxmlformats.org/officeDocument/2006/relationships/image" Target="../media/image49.jpg"/><Relationship Id="rId5" Type="http://schemas.openxmlformats.org/officeDocument/2006/relationships/image" Target="../media/image50.jpg"/><Relationship Id="rId6" Type="http://schemas.openxmlformats.org/officeDocument/2006/relationships/image" Target="../media/image51.jpg"/><Relationship Id="rId7" Type="http://schemas.openxmlformats.org/officeDocument/2006/relationships/image" Target="../media/image43.jpg"/><Relationship Id="rId8" Type="http://schemas.openxmlformats.org/officeDocument/2006/relationships/image" Target="../media/image52.jpg"/><Relationship Id="rId9" Type="http://schemas.openxmlformats.org/officeDocument/2006/relationships/image" Target="../media/image53.jpg"/><Relationship Id="rId10" Type="http://schemas.openxmlformats.org/officeDocument/2006/relationships/image" Target="../media/image54.jpg"/><Relationship Id="rId11" Type="http://schemas.openxmlformats.org/officeDocument/2006/relationships/image" Target="../media/image5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jpg"/><Relationship Id="rId4" Type="http://schemas.openxmlformats.org/officeDocument/2006/relationships/image" Target="../media/image56.jpg"/><Relationship Id="rId5" Type="http://schemas.openxmlformats.org/officeDocument/2006/relationships/image" Target="../media/image57.jpg"/><Relationship Id="rId6" Type="http://schemas.openxmlformats.org/officeDocument/2006/relationships/image" Target="../media/image58.jpg"/><Relationship Id="rId7" Type="http://schemas.openxmlformats.org/officeDocument/2006/relationships/image" Target="../media/image45.jpg"/><Relationship Id="rId8" Type="http://schemas.openxmlformats.org/officeDocument/2006/relationships/image" Target="../media/image59.jpg"/><Relationship Id="rId9" Type="http://schemas.openxmlformats.org/officeDocument/2006/relationships/image" Target="../media/image3.jpg"/><Relationship Id="rId10" Type="http://schemas.openxmlformats.org/officeDocument/2006/relationships/image" Target="../media/image47.jpg"/><Relationship Id="rId11" Type="http://schemas.openxmlformats.org/officeDocument/2006/relationships/image" Target="../media/image60.jpg"/><Relationship Id="rId12" Type="http://schemas.openxmlformats.org/officeDocument/2006/relationships/image" Target="../media/image4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jpg"/><Relationship Id="rId4" Type="http://schemas.openxmlformats.org/officeDocument/2006/relationships/image" Target="../media/image62.jpg"/><Relationship Id="rId5" Type="http://schemas.openxmlformats.org/officeDocument/2006/relationships/image" Target="../media/image63.jpg"/><Relationship Id="rId6" Type="http://schemas.openxmlformats.org/officeDocument/2006/relationships/image" Target="../media/image64.jpg"/><Relationship Id="rId7" Type="http://schemas.openxmlformats.org/officeDocument/2006/relationships/image" Target="../media/image47.jpg"/><Relationship Id="rId8" Type="http://schemas.openxmlformats.org/officeDocument/2006/relationships/image" Target="../media/image65.jpg"/><Relationship Id="rId9" Type="http://schemas.openxmlformats.org/officeDocument/2006/relationships/image" Target="../media/image66.jpg"/><Relationship Id="rId10" Type="http://schemas.openxmlformats.org/officeDocument/2006/relationships/image" Target="../media/image42.jpg"/><Relationship Id="rId11" Type="http://schemas.openxmlformats.org/officeDocument/2006/relationships/image" Target="../media/image67.jpg"/><Relationship Id="rId12" Type="http://schemas.openxmlformats.org/officeDocument/2006/relationships/image" Target="../media/image4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69.jpg"/><Relationship Id="rId5" Type="http://schemas.openxmlformats.org/officeDocument/2006/relationships/image" Target="../media/image78.jpg"/><Relationship Id="rId6" Type="http://schemas.openxmlformats.org/officeDocument/2006/relationships/image" Target="../media/image79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8.jpg"/><Relationship Id="rId4" Type="http://schemas.openxmlformats.org/officeDocument/2006/relationships/image" Target="../media/image74.jpg"/><Relationship Id="rId5" Type="http://schemas.openxmlformats.org/officeDocument/2006/relationships/image" Target="../media/image75.jpg"/><Relationship Id="rId6" Type="http://schemas.openxmlformats.org/officeDocument/2006/relationships/image" Target="../media/image69.jpg"/><Relationship Id="rId7" Type="http://schemas.openxmlformats.org/officeDocument/2006/relationships/image" Target="../media/image76.jpg"/><Relationship Id="rId8" Type="http://schemas.openxmlformats.org/officeDocument/2006/relationships/image" Target="../media/image77.jpg"/><Relationship Id="rId9" Type="http://schemas.openxmlformats.org/officeDocument/2006/relationships/image" Target="../media/image4.jpg"/><Relationship Id="rId10" Type="http://schemas.openxmlformats.org/officeDocument/2006/relationships/image" Target="../media/image78.jpg"/><Relationship Id="rId11" Type="http://schemas.openxmlformats.org/officeDocument/2006/relationships/image" Target="../media/image7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6.jpg"/><Relationship Id="rId4" Type="http://schemas.openxmlformats.org/officeDocument/2006/relationships/image" Target="../media/image79.jpg"/><Relationship Id="rId5" Type="http://schemas.openxmlformats.org/officeDocument/2006/relationships/image" Target="../media/image71.jpg"/><Relationship Id="rId6" Type="http://schemas.openxmlformats.org/officeDocument/2006/relationships/image" Target="../media/image70.jpg"/><Relationship Id="rId7" Type="http://schemas.openxmlformats.org/officeDocument/2006/relationships/image" Target="../media/image80.jpg"/><Relationship Id="rId8" Type="http://schemas.openxmlformats.org/officeDocument/2006/relationships/image" Target="../media/image72.jpg"/><Relationship Id="rId9" Type="http://schemas.openxmlformats.org/officeDocument/2006/relationships/image" Target="../media/image81.jpg"/><Relationship Id="rId10" Type="http://schemas.openxmlformats.org/officeDocument/2006/relationships/image" Target="../media/image82.jpg"/><Relationship Id="rId11" Type="http://schemas.openxmlformats.org/officeDocument/2006/relationships/image" Target="../media/image7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Скільки локшини ввозять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ОБСЯГ ІМПОРТУ, ТОНН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000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8424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964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1388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9288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3528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1883664"/>
            <a:ext cx="5486" cy="14630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7" y="338328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900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0711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0008" y="2029968"/>
            <a:ext cx="74268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65849" y="20665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239,7 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5283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50008" y="2487168"/>
            <a:ext cx="2598281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1441" y="25237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2985516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увесь рік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50008" y="2944368"/>
            <a:ext cx="2205106" cy="2377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28266" y="2980944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711,6 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675887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ІНВОЙС, МЛН ДОЛАРІВ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00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984248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247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89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99407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5336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74108" y="3931920"/>
            <a:ext cx="5486" cy="100584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08347" y="497433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1193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2025 · січень–травень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0008" y="4078224"/>
            <a:ext cx="793749" cy="237744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216909" y="41148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$1,02 млн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76572"/>
            <a:ext cx="16733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50008" y="4535424"/>
            <a:ext cx="2479520" cy="237744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02680" y="457200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$3,20 млн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Сегментація за способом приготування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27632"/>
            <a:ext cx="3566160" cy="3657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З БУЛЬЙОНОМ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88010430695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7" y="2130551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303A5D"/>
                </a:solidFill>
                <a:latin typeface="Segoe UI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46 %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95 грн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67–209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1627632"/>
            <a:ext cx="3566160" cy="3657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ПАКЕТІ · ІЗ СОУСОМ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7997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0064843631068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848" y="2130551"/>
            <a:ext cx="914400" cy="914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43983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C4820A"/>
                </a:solidFill>
                <a:latin typeface="Segoe UI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2180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34 %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3983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476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105–145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4476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106 грн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43983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4476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72–198 грн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43983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4476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65008" y="1627632"/>
            <a:ext cx="3566160" cy="3657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93024" y="1700784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РАМЕН У СТАКАНІ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29016" y="2066543"/>
            <a:ext cx="3438144" cy="104241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0880107321077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0888" y="2130551"/>
            <a:ext cx="914400" cy="914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193024" y="3163824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spc="-10">
                <a:solidFill>
                  <a:srgbClr val="5D4B96"/>
                </a:solidFill>
                <a:latin typeface="Segoe UI"/>
              </a:rPr>
              <a:t>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70848" y="3310128"/>
            <a:ext cx="2377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позицій · 20 %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3657600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93808" y="3639312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62–120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3904487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МЕДІАНА ЦІНИ ЗА ПАЧКУ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93808" y="3886200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104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4151376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ДІАПАЗОН ЦІН ПАЧКИ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93808" y="4133088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34–195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4398264"/>
            <a:ext cx="18288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4379976"/>
            <a:ext cx="1627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4700016"/>
            <a:ext cx="73152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СЕГМЕНТ × ЦІНОВА СМУГА · ПОЗИЦІЙ, грн за пачку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299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до 80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358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80–95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4164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95–110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4748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110–130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5332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130–150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5916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150–180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65008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180 +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53728" y="4846320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УСЬОГО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5166360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з бульйоном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057400" y="5129784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0574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06324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0632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69080" y="5129784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06908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74920" y="5129784"/>
            <a:ext cx="950976" cy="256032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7492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80760" y="5129784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076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8660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08660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9784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092440" y="5148072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53728" y="5175504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41 SKU · медіана 95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5477256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Пакет · із соусом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574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0574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063240" y="5440680"/>
            <a:ext cx="950976" cy="256032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0632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6908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06908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07492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7492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8076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8076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5440680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08660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92440" y="5440680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092440" y="5458968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253728" y="5486400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30 SKU · медіана 106 грн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66928" y="5788152"/>
            <a:ext cx="13350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5740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20574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632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30632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69080" y="5751576"/>
            <a:ext cx="950976" cy="256032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406908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07492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507492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080760" y="5751576"/>
            <a:ext cx="950976" cy="256032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08076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086600" y="5751576"/>
            <a:ext cx="950976" cy="256032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08660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92440" y="5751576"/>
            <a:ext cx="950976" cy="256032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092440" y="5769864"/>
            <a:ext cx="9509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53728" y="5797296"/>
            <a:ext cx="21031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18 SKU · медіана 104 грн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382219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576072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075038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017638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75038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83261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9001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199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462563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519963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427450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427450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370050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7450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185025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42425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92512" cy="1737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49912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92512" cy="173736"/>
          </a:xfrm>
          <a:prstGeom prst="rect">
            <a:avLst/>
          </a:prstGeom>
          <a:solidFill>
            <a:srgbClr val="787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991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1*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1*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572292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663732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45720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ПОЗИЦІЙ СЕГМЕНТА В МЕРЕЖІ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1901952"/>
            <a:ext cx="5486" cy="4133087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18488" y="6071616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016252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84248" y="2007107"/>
            <a:ext cx="2867890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25290" y="201168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27148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84248" y="2318003"/>
            <a:ext cx="1638794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96194" y="2322576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638044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84248" y="2628899"/>
            <a:ext cx="136566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23062" y="263347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294893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84248" y="2939795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13363" y="294436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25983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3250691"/>
            <a:ext cx="955963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13363" y="325526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57073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84248" y="3561587"/>
            <a:ext cx="819397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76797" y="356615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88162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984248" y="3872483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0231" y="387705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19252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4248" y="4183379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0231" y="418795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4503419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84248" y="4494275"/>
            <a:ext cx="682831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740231" y="4498847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814315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84248" y="4805171"/>
            <a:ext cx="409698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7098" y="4809743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125211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4248" y="5116067"/>
            <a:ext cx="409698" cy="173736"/>
          </a:xfrm>
          <a:prstGeom prst="rect">
            <a:avLst/>
          </a:prstGeom>
          <a:solidFill>
            <a:srgbClr val="D8AD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467098" y="5120639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3*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5436107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84248" y="5426963"/>
            <a:ext cx="273132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330532" y="5431535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7003"/>
            <a:ext cx="130759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5737859"/>
            <a:ext cx="136566" cy="1737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193966" y="5742431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1645920"/>
            <a:ext cx="41148" cy="1389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1700784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Національні мережі · 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49840" y="1709928"/>
            <a:ext cx="1481328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149840" y="1737360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36208" y="2029968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327648" y="2089404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95820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795820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53020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344460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83956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83956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41156" y="2029968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432596" y="2089404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72092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72092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9292" y="2029968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520732" y="2089404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«Зараз»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02875" y="2066544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02875" y="20894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36208" y="2377440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327648" y="2436876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«Сільпо»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081113" y="2414016"/>
            <a:ext cx="310896" cy="20116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81113" y="24368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3*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35040" y="3127248"/>
            <a:ext cx="41148" cy="1389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236208" y="3182112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Регіональні мережі · 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149840" y="3191256"/>
            <a:ext cx="1481328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0149840" y="3218688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36208" y="3511296"/>
            <a:ext cx="996696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3570732"/>
            <a:ext cx="539496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8671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8671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324344" y="3511296"/>
            <a:ext cx="92537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415783" y="3570732"/>
            <a:ext cx="4681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83956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883956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41156" y="3511296"/>
            <a:ext cx="1068019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432596" y="3570732"/>
            <a:ext cx="6108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«Клас»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043415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043415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500616" y="3511296"/>
            <a:ext cx="12819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9592056" y="3570732"/>
            <a:ext cx="82478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«Восторг»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16844" y="3547872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10416844" y="3570732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36208" y="3858768"/>
            <a:ext cx="121066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327648" y="3918204"/>
            <a:ext cx="75346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«Космос»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08111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08111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538313" y="3858768"/>
            <a:ext cx="135331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7629753" y="3918204"/>
            <a:ext cx="8961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«Таврія В»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5865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8525865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983065" y="3858768"/>
            <a:ext cx="149595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074505" y="3918204"/>
            <a:ext cx="103875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113263" y="3895344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10113263" y="3918204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36208" y="4206240"/>
            <a:ext cx="1139342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4265676"/>
            <a:ext cx="68214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«Торба»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09790" y="4242816"/>
            <a:ext cx="310896" cy="20116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09790" y="4265676"/>
            <a:ext cx="310896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35040" y="4608576"/>
            <a:ext cx="41148" cy="148132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236208" y="46634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Без позицій сегмента · 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149840" y="4672584"/>
            <a:ext cx="1481328" cy="201168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149840" y="4700016"/>
            <a:ext cx="1481328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36208" y="4992624"/>
            <a:ext cx="93268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327648" y="5052060"/>
            <a:ext cx="80467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260336" y="4992624"/>
            <a:ext cx="100401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351776" y="5052060"/>
            <a:ext cx="87599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55787" y="4992624"/>
            <a:ext cx="433425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447227" y="5052060"/>
            <a:ext cx="30540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80652" y="4992624"/>
            <a:ext cx="790041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8972092" y="5052060"/>
            <a:ext cx="662025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762134" y="4992624"/>
            <a:ext cx="718718" cy="2743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9853574" y="5052060"/>
            <a:ext cx="59070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1C2235"/>
                </a:solidFill>
                <a:latin typeface="Segoe UI"/>
              </a:rPr>
              <a:t>«Ідеал»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ОКРЕМИЙ КОНКУРЕНТ · ЦІНА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Choi’s у «Таврії В»: по чому продавали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Той самий бренд SIAS уже стоїть на українській полиці. Три дати й три рівні цін — щоб порівняти з нашою ціллю та поточною моделлю.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45920"/>
            <a:ext cx="56692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CHOI’S CARBONARA 131 Г · ЦІНА ЗА ПАЧКУ, ГРН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27248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61488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76135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10375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5022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9262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73909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08149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22797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7037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71684" y="1883664"/>
            <a:ext cx="5486" cy="30175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5924" y="4937760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0253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акція €1,80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1997964"/>
            <a:ext cx="103423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34636" y="20208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92,2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3911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ЄС · dotasia.eu · звичайна €2,20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27248" y="2363724"/>
            <a:ext cx="1264066" cy="210312"/>
          </a:xfrm>
          <a:prstGeom prst="rect">
            <a:avLst/>
          </a:prstGeom>
          <a:solidFill>
            <a:srgbClr val="C2C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64466" y="23865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112,6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569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29.09.2026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27248" y="272948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05417" y="27523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312267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 · 29.09.2026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27248" y="3095244"/>
            <a:ext cx="1405017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05417" y="311810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125,20 грн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348843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 · 05–06.10 (за V3)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27248" y="3461003"/>
            <a:ext cx="1475716" cy="2103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76116" y="348386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303A5D"/>
                </a:solidFill>
                <a:latin typeface="Segoe UI"/>
              </a:rPr>
              <a:t>131,50 грн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85419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НАШ SIAS · ціль за моделлю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27248" y="3826763"/>
            <a:ext cx="1346661" cy="210312"/>
          </a:xfrm>
          <a:prstGeom prst="rect">
            <a:avLst/>
          </a:prstGeom>
          <a:solidFill>
            <a:srgbClr val="F5A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47061" y="384962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C4820A"/>
                </a:solidFill>
                <a:latin typeface="Segoe UI"/>
              </a:rPr>
              <a:t>120,00 грн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21995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33 палети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27248" y="4192524"/>
            <a:ext cx="1819979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0379" y="421538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162,18 грн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4585716"/>
            <a:ext cx="2450591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НАШ SIAS · зараз, 6 палет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27248" y="4558284"/>
            <a:ext cx="2339061" cy="210312"/>
          </a:xfrm>
          <a:prstGeom prst="rect">
            <a:avLst/>
          </a:prstGeom>
          <a:solidFill>
            <a:srgbClr val="F8C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539461" y="4581144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0" spc="-10">
                <a:solidFill>
                  <a:srgbClr val="717890"/>
                </a:solidFill>
                <a:latin typeface="Segoe UI"/>
              </a:rPr>
              <a:t>208,43 грн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3720" y="1645920"/>
            <a:ext cx="475488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ПОРІВНЯННЯ · «ЗАРАЗ» = 33 ПАЛЕТИ, МАРЖА 30 %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1920240"/>
            <a:ext cx="155448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45820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CHOI’S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1920240"/>
            <a:ext cx="1051560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ЦІЛЬ 120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61320" y="1920240"/>
            <a:ext cx="1069848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1" spc="-10">
                <a:solidFill>
                  <a:srgbClr val="717890"/>
                </a:solidFill>
                <a:latin typeface="Segoe UI"/>
              </a:rPr>
              <a:t>ЗАРАЗ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2103120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Ціна, грн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125,20 / 131,50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0" y="2103120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120,00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2103120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162,18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30568" y="2468880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03720" y="2505456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Choi’s 125,20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5820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09760" y="2505456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−4,2 %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61320" y="2505456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+29,5 %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03720" y="2907792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медіани пакета 102,8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5820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+21,8 %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09760" y="2907792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+16,7 %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61320" y="2907792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+57,8 %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30568" y="3273552"/>
            <a:ext cx="4727448" cy="3931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903720" y="3310128"/>
            <a:ext cx="155448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Дорожчих у категорії*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5820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13 з 71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3310128"/>
            <a:ext cx="1051560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18 з 71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61320" y="3310128"/>
            <a:ext cx="1069848" cy="128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3 з 71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Яка закупівля потрібна при іншій полиці й іншій маржі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Максимальна ціна закупівлі, €/пачку, за формулою вкладок «Цена 120 грн». Колір — порівняння з поточною ціною SIAS: €0,75 (Gouda, Carbonara) і €0,65 (решта).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1E9EA6"/>
                </a:solidFill>
                <a:latin typeface="Segoe UI"/>
              </a:rPr>
              <a:t>33 ПАЛЕТИ · ПОВНА МАШИНА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697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9262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08760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8658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6440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2232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4223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6" y="2203703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0056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08760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508760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38658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4408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6440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64408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64408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64408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050791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42232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4223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6" y="2715768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0056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08760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08760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386584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38658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6440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26440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2232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4223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0056" y="3227832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0056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508760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508760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8658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38658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64408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6440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42232" y="3739896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14223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0056" y="3739896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0056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66928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508760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08760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86584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38658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6440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6440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€0,74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42232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4223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0056" y="4251960"/>
            <a:ext cx="822959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20056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FFFFFF"/>
                </a:solidFill>
                <a:latin typeface="Segoe UI"/>
              </a:rPr>
              <a:t>€0,88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1627632"/>
            <a:ext cx="5394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B53A3A"/>
                </a:solidFill>
                <a:latin typeface="Segoe UI"/>
              </a:rPr>
              <a:t>6 ПАЛЕТ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17920" y="1938528"/>
            <a:ext cx="91440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" b="1" spc="-10">
                <a:solidFill>
                  <a:srgbClr val="717890"/>
                </a:solidFill>
                <a:latin typeface="Segoe UI"/>
              </a:rPr>
              <a:t>МАРЖА \ ПОЛИЦЯ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105 грн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10144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110 грн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87967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765792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130 грн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43616" y="1920240"/>
            <a:ext cx="87782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140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17920" y="2286000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35 %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59752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159752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€0,19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37575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8037575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15399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8915399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793224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9793224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671048" y="2203703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0671048" y="2322576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17920" y="2798064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B53A3A"/>
                </a:solidFill>
                <a:latin typeface="Segoe UI"/>
              </a:rPr>
              <a:t>30 %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159752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159752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037575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37575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€0,27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915399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915399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€0,32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915399" y="2715768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915399" y="3136391"/>
            <a:ext cx="822959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915399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701784" y="2715768"/>
            <a:ext cx="36576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793224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9793224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€0,37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671048" y="2715768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671048" y="2834640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217920" y="3310128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25 %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59752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159752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037575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037575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15399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915399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793224" y="3227832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9793224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671048" y="3227832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10671048" y="3346704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3822192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20 %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159752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7159752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€0,36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37575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8037575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915399" y="3739896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8915399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793224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793224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671048" y="3739896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0671048" y="3858768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17920" y="4334256"/>
            <a:ext cx="822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159752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7159752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037575" y="4251960"/>
            <a:ext cx="822959" cy="457200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8037575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€0,46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915399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8915399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€0,53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793224" y="4251960"/>
            <a:ext cx="822959" cy="457200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9793224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€0,59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0671048" y="4251960"/>
            <a:ext cx="822959" cy="457200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10671048" y="4370832"/>
            <a:ext cx="82295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spc="-10">
                <a:solidFill>
                  <a:srgbClr val="303A5D"/>
                </a:solidFill>
                <a:latin typeface="Segoe UI"/>
              </a:rPr>
              <a:t>€0,66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94944" y="4718304"/>
            <a:ext cx="164592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914400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≥ €0,75 — досяжно для всіх SKU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419856" y="4718304"/>
            <a:ext cx="164592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3639312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€0,65–0,75 — для чотирьох SKU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144768" y="4718304"/>
            <a:ext cx="164592" cy="128016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6364224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€0,50–0,65 — потрібне зниження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869680" y="4718304"/>
            <a:ext cx="164592" cy="128016"/>
          </a:xfrm>
          <a:prstGeom prst="rect">
            <a:avLst/>
          </a:prstGeom>
          <a:solidFill>
            <a:srgbClr val="DD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9089136" y="4700016"/>
            <a:ext cx="237744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&lt; €0,50 — суттєве зниження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901184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Червона рамка — ціль: полиця 120 грн, маржа 30 %.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Розрахунок за формулою H66 вкладок «Цена 120 грн» (курс 51,20; бонус 25 %; націнка 1,40; фінансування 2,5 %; ПДВ 20 %). Ціна вниз до євроцента.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29400" y="0"/>
            <a:ext cx="5562295" cy="68580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0" y="640080"/>
            <a:ext cx="5120640" cy="512064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035040" y="4297680"/>
            <a:ext cx="2286000" cy="2286000"/>
          </a:xfrm>
          <a:prstGeom prst="ellipse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4206240"/>
            <a:ext cx="2560320" cy="2560320"/>
          </a:xfrm>
          <a:prstGeom prst="ellipse">
            <a:avLst/>
          </a:prstGeom>
          <a:solidFill>
            <a:srgbClr val="FFC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566928"/>
            <a:ext cx="2331720" cy="1024128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658368"/>
            <a:ext cx="200253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331720"/>
            <a:ext cx="5669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C4820A"/>
                </a:solidFill>
                <a:latin typeface="Segoe UI"/>
              </a:rPr>
              <a:t>ДОСЛІДЖЕННЯ РИНКУ ТА ПОЗИЦІОНУВАННЯ · ЖОВТЕНЬ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97480"/>
            <a:ext cx="58521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Корейський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рамен</a:t>
            </a:r>
          </a:p>
          <a:p>
            <a:pPr algn="l">
              <a:lnSpc>
                <a:spcPct val="100000"/>
              </a:lnSpc>
            </a:pPr>
            <a:r>
              <a:rPr sz="5800" b="1" spc="-10">
                <a:solidFill>
                  <a:srgbClr val="303A5D"/>
                </a:solidFill>
                <a:latin typeface="Segoe UI"/>
              </a:rPr>
              <a:t>в Україні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" y="5532120"/>
            <a:ext cx="1463040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58583" y="56692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03720" y="50292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79" y="594360"/>
            <a:ext cx="2057400" cy="2057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958583" y="29900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29260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79" y="3017520"/>
            <a:ext cx="2057400" cy="20574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9656064" y="138988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01200" y="132588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0" y="1417320"/>
            <a:ext cx="2057400" cy="2057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656064" y="3858768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DF9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0" y="3794760"/>
            <a:ext cx="2331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3886200"/>
            <a:ext cx="20574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МИТНА БАЗА · ПОХОДЖЕННЯ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Звідки їде локшина: усі напрямки ввозу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Січень–травень 2026 · вага нетто, тонн · частка в загальному ввозі 838,5 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627632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СТРУКТУРА ВВОЗУ,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847088"/>
            <a:ext cx="2181252" cy="4572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984248"/>
            <a:ext cx="21812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19,9 %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66468" y="1847088"/>
            <a:ext cx="1545354" cy="45720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6468" y="1984248"/>
            <a:ext cx="154535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14,1 %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0111" y="1847088"/>
            <a:ext cx="1128660" cy="45720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0111" y="1984248"/>
            <a:ext cx="11286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10,4 %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77059" y="1847088"/>
            <a:ext cx="754509" cy="4572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77059" y="1984248"/>
            <a:ext cx="75450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7,0 %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857" y="1847088"/>
            <a:ext cx="737879" cy="4572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9857" y="1984248"/>
            <a:ext cx="7378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6,8 %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6024" y="1847088"/>
            <a:ext cx="652058" cy="45720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6024" y="1984248"/>
            <a:ext cx="65205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6,1 %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6370" y="1847088"/>
            <a:ext cx="625148" cy="457200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6370" y="1984248"/>
            <a:ext cx="6251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5,8 %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19806" y="1847088"/>
            <a:ext cx="3293073" cy="45720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9806" y="1984248"/>
            <a:ext cx="329307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FFFFFF"/>
                </a:solidFill>
                <a:latin typeface="Segoe UI"/>
              </a:rPr>
              <a:t>29,9 %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2487168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 КРАЇНАХ ПОХОДЖЕННЯ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852928"/>
            <a:ext cx="128016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281635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В’єтнам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0" y="2798064"/>
            <a:ext cx="3251606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1734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166,7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281635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19,9 %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255264"/>
            <a:ext cx="128016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321868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3200400"/>
            <a:ext cx="2311551" cy="246888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21679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118,5 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321868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14,1 %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657600"/>
            <a:ext cx="128016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362102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Румунія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3602736"/>
            <a:ext cx="1695547" cy="2468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05675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86,9 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36210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10,4 %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059935"/>
            <a:ext cx="128016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4023359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Велика Британія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4005072"/>
            <a:ext cx="1142436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52564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58,6 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023359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7,0 %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462272"/>
            <a:ext cx="128016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4672" y="4425696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Латвія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4407408"/>
            <a:ext cx="111785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27978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57,3 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24160" y="44256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6,8 %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864608"/>
            <a:ext cx="128016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" y="4828032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Чехія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4809744"/>
            <a:ext cx="990980" cy="2468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01108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50,8 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4828032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6,1 %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" y="5266944"/>
            <a:ext cx="128016" cy="128016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4672" y="5230368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Польща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5212080"/>
            <a:ext cx="951199" cy="246888"/>
          </a:xfrm>
          <a:prstGeom prst="rect">
            <a:avLst/>
          </a:prstGeom>
          <a:solidFill>
            <a:srgbClr val="4E8F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61327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48,8 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424160" y="523036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5,8 %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5669280"/>
            <a:ext cx="128016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4672" y="56327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Інші країни разом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0" y="5614416"/>
            <a:ext cx="4895224" cy="246888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05352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250,9 т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424160" y="56327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717890"/>
                </a:solidFill>
                <a:latin typeface="Segoe UI"/>
              </a:rPr>
              <a:t>29,9 %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6928" y="6016752"/>
            <a:ext cx="11064240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04672" y="6089904"/>
            <a:ext cx="2286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200400" y="608990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838,5 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24160" y="608990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100 %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37376"/>
            <a:ext cx="11064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Митна база користувача, код УКТ ЗЕД 1902 30 10 00. «Інші країни» — одним рядком: розбивки за країнами в базі немає.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найбільший сегмент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Основна частина корейської полиці: локшина й порошковий бульйон, вариться в каструлі.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41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 брендів у 11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46 % усієї категорії.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84–113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67–209 ₴.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303A5D"/>
                </a:solidFill>
                <a:latin typeface="Segoe UI"/>
              </a:rPr>
              <a:t>7 з 41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55648" y="3218687"/>
            <a:ext cx="173736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55648" y="3396995"/>
            <a:ext cx="1520189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755648" y="3575303"/>
            <a:ext cx="108585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55648" y="3753611"/>
            <a:ext cx="86868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55648" y="3931920"/>
            <a:ext cx="217170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597510"/>
            <a:ext cx="566928" cy="4075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341463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14032" y="3342785"/>
            <a:ext cx="566928" cy="66228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22592" y="3159905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72983" y="3801291"/>
            <a:ext cx="566928" cy="2037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81544" y="361841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31936" y="3291839"/>
            <a:ext cx="566928" cy="7132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40496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90888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80390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149840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58400" y="377124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08792" y="3954126"/>
            <a:ext cx="566928" cy="509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817352" y="377124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1 з 4 — 68–85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 локшина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68–72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144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Teumsae Ramen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Kimchi Ramen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67–85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Таврія 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Кімчі Рамен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129 г · Ашан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Сівід Рамен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103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O'Food · Смак морепродуктів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74–84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102 г · Ашан · Зараз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111 г · Зараз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Кімчі Рамьон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2 з 4 — 88–98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Ramyun овоч…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74–102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112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Cham-Pong Ramyun з море…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124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Hwa Ramyun з гострим пе…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87–93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Kokomen зі смаком курки…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рамен гостра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Таврія В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67–101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Космос · Grono +2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Spicy Zanmang Loopy з б…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Zanmang Loopy оригіналь…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76–113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 · Grono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Otoki · Cheesy Ramen зі смаком…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AnSungTangMyun з грибам…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74–122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Ашан · Onde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3 з 4 — 104–117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З сиром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зі смаком г…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Макаронні вироби Samyan…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 · Зараз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Локшина зі смаком курки…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108–169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135 г · Ашан · Grono · Зараз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99–124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Зараз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З кунжутом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115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Jjambbong Ramen з м…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 середн…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85–125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 · Клас · METRO +2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13801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013801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086953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9541" y="4389120"/>
            <a:ext cx="1344168" cy="134416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105241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05241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05241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Космос · Клас · METRO +4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1 · РАМЕН У ПАКЕТІ · З БУЛЬЙОНОМ   ·   41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з бульйоном: каталог 4 з 4 — 118–205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303A5D"/>
                </a:solidFill>
                <a:latin typeface="Segoe UI"/>
              </a:rPr>
              <a:t>СЕГМЕНТ 1 · РАМЕН У ПАКЕТІ · З БУЛЬЙОНОМ   ·   Варіння 4–5 хв · подається з бульйоном   ·   вага 102–144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98–124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ЧудоМаркет · Космос · G…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сиру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112–130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 · Зараз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 морепродуктами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125–135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125 г · Клас · Onde · Восторг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Grono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Onde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Tom Yum Том…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116–142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123 г · Ашан · Grono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Рамен Black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165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METRO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202–209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30 позицій, медіана 106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30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 брендів у 12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34 %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106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86–137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72–198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C4820A"/>
                </a:solidFill>
                <a:latin typeface="Segoe UI"/>
              </a:rPr>
              <a:t>11 з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5.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C4820A"/>
                </a:solidFill>
                <a:latin typeface="Segoe UI"/>
              </a:rPr>
              <a:t>105–145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895301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1579418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1263534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730751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755648" y="3753611"/>
            <a:ext cx="631767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0368" y="373075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3909059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55648" y="3931920"/>
            <a:ext cx="315883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3909059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3846576"/>
            <a:ext cx="566928" cy="1584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63640" y="366369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14032" y="3291839"/>
            <a:ext cx="566928" cy="7132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2592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72983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781544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31936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40496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390888" y="3608831"/>
            <a:ext cx="566928" cy="3962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99448" y="342595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149840" y="3767328"/>
            <a:ext cx="566928" cy="2377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0" y="35844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908792" y="3925823"/>
            <a:ext cx="566928" cy="7924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817352" y="3742943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2" name="Picture 81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1 з 3 — 78–89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Onde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1798" y="2409444"/>
            <a:ext cx="160934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9FA9C4"/>
                </a:solidFill>
                <a:latin typeface="Segoe UI"/>
              </a:rPr>
              <a:t>фото немає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fire bull · Stir-Fried Ramen Beef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138 г · 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гостр…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Ашан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Compaghetti локшина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110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зі смак…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Курка б…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Spicy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122 г · Ашан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Bibigo · Стір-фрай Рамен Cheese…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Stir-Fry Рамен із сиром…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2 з 3 — 89–123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Stir Fry Шин Рамьойн го…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Ramyun Stir Fry зі…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136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Bibim Men в корейському…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72–124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Grono · NO…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Chacharoni зі смаком чо…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90–115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Зараз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86–123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Jjajang зі смако…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105–121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 · Grono · Onde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 сиром гостра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Chapaghetti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89–136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Клас · METRO +3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Volcano Chicken з курко…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84–123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Grono · Onde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2 · РАМЕН У ПАКЕТІ · ІЗ СОУСОМ   ·   30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Пакет із соусом: каталог 3 з 3 — 125–198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C4820A"/>
                </a:solidFill>
                <a:latin typeface="Segoe UI"/>
              </a:rPr>
              <a:t>СЕГМЕНТ 2 · РАМЕН У ПАКЕТІ · ІЗ СОУСОМ   ·   Варіння 4–5 хв · воду злити, змішати із соусом   ·   вага 105–145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Choi's · Карбон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131 г · Космос · Таврія 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Рамен з гострою…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94–184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145 г · Ашан · ЧудоМаркет · Кос…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дуже го…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86–151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ЧудоМаркет · Кос…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93–156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140 г · Ашан · Космос · Grono +4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130 г · ЧудоМаркет · Космос · G…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Toomba Spicy&amp;Creamy Sti…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131–154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Ашан · ЧудоМаркет · Gro…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вершко…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157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Восторг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Tangle зі смаком часник…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78–157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105 г · Клас · Onde · Восторг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52083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52083" y="4242816"/>
            <a:ext cx="1755648" cy="365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25235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7" name="Picture 76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7823" y="4389120"/>
            <a:ext cx="1344168" cy="1344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6243523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Spicy &amp; Creamy Toomba K…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43523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43523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137 г · Grono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заливається окропом, без плити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18 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 брендів у 8 мережах.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20 % усієї категорії.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47872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47872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03904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МЕДІАНА ПОЛИЦІ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3904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104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3904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P25–P75: 93–111 ₴.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Діапазон: 34–195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28816" y="1591056"/>
            <a:ext cx="2834640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28816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1746504"/>
            <a:ext cx="2359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ДОРОЖЧІ ЗА ЦІЛЬ 120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1956816"/>
            <a:ext cx="235915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5D4B96"/>
                </a:solidFill>
                <a:latin typeface="Segoe UI"/>
              </a:rPr>
              <a:t>3 з 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236093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позицій сегмента.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Дорожчі за 140,55 ₴ (зараз): 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09760" y="1591056"/>
            <a:ext cx="2121408" cy="107899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09760" y="1591056"/>
            <a:ext cx="41148" cy="107899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746504"/>
            <a:ext cx="164591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ВАГА ПАЧКИ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1956816"/>
            <a:ext cx="1645919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5D4B96"/>
                </a:solidFill>
                <a:latin typeface="Segoe UI"/>
              </a:rPr>
              <a:t>62–120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313305"/>
            <a:ext cx="16459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межі сегмента</a:t>
            </a:r>
          </a:p>
          <a:p>
            <a:pPr algn="l">
              <a:lnSpc>
                <a:spcPct val="130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за зрізом 29.09.2026.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779776"/>
            <a:ext cx="5120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017520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55648" y="3040379"/>
            <a:ext cx="3474720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3017520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195827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5648" y="3218687"/>
            <a:ext cx="1579418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319582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374135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5648" y="3396995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0368" y="337413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552443"/>
            <a:ext cx="111556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55648" y="3575303"/>
            <a:ext cx="315883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30368" y="3552443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79776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ПОЗИЦІЙ ЗА ЦІНОВОЮ СМУГОЮ · ₴ ЗА ПАЧКУ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99401"/>
            <a:ext cx="566928" cy="3056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63640" y="351652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1403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022592" y="372030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2259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80–95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72983" y="3291839"/>
            <a:ext cx="566928" cy="7132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1544" y="3108959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81544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95–110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31936" y="3597510"/>
            <a:ext cx="566928" cy="40756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341463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390888" y="3801291"/>
            <a:ext cx="566928" cy="2037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9448" y="361841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99448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130–150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49840" y="3986784"/>
            <a:ext cx="566928" cy="1828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380390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150–180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08792" y="3903181"/>
            <a:ext cx="566928" cy="1018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817352" y="3720301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404164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180 +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4224528"/>
            <a:ext cx="36576" cy="1737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4233672"/>
            <a:ext cx="640080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spc="-1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 ПОЗИЦІЇ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66928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45152"/>
            <a:ext cx="1115568" cy="11155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58368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428646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428646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501798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4645152"/>
            <a:ext cx="1115568" cy="111556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520086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20086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20086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0364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290364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63516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404" y="4645152"/>
            <a:ext cx="1115568" cy="11155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381804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381804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81804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2083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52083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225235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Picture 89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2123" y="4645152"/>
            <a:ext cx="1115568" cy="111556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6243523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243523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243523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3801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013801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086953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3841" y="4645152"/>
            <a:ext cx="1115568" cy="1115568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8105241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105241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05241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75519" y="4498848"/>
            <a:ext cx="1755648" cy="22494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875519" y="449884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948672" y="4608576"/>
            <a:ext cx="1609344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95559" y="4645152"/>
            <a:ext cx="1115568" cy="111556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966959" y="587044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966959" y="619048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966959" y="643737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1 з 2 — 65–103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Bulgogi Рамен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Jjanang Рамен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Кімчі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65–86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Ашан · Onde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Ottogi · Jin Ramen Гостра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Ашан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Paldo · Jumbo Noodle Hot &amp; Spic…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120 г · 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34–149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Grono · Клас +3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Shrimp в стакані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Ашан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103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Ашан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СЕГМЕНТ 3 · РАМЕН У СТАКАНІ   ·   18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Стакан: каталог 2 з 2 — 105–195 грн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71600"/>
            <a:ext cx="36576" cy="19202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89888"/>
            <a:ext cx="1069848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5D4B96"/>
                </a:solidFill>
                <a:latin typeface="Segoe UI"/>
              </a:rPr>
              <a:t>СЕГМЕНТ 3 · РАМЕН У СТАКАНІ   ·   Залити окропом 3–4 хв · без плити   ·   вага 62–120 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1810512"/>
            <a:ext cx="1344168" cy="13441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Шин Рамьон гостра сублі…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8646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28646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798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4386" y="1810512"/>
            <a:ext cx="1344168" cy="13441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20086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Red Super Spicy го…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0086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0086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68 г · METRO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0364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0364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3516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104" y="1810512"/>
            <a:ext cx="1344168" cy="134416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381804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Cup Ramyun Shrimp гостра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1804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1804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2083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52083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25235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823" y="1810512"/>
            <a:ext cx="1344168" cy="1344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243523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Tempura Udon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3523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3523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13801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13801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86953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9541" y="1810512"/>
            <a:ext cx="1344168" cy="134416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105241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Суп Neoguri з морепроду…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5241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5241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62 г · METRO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19" y="1664208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75519" y="1664208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8672" y="1773936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1259" y="1810512"/>
            <a:ext cx="1344168" cy="134416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966959" y="3264408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Soon Veggie Cup Noodle…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6959" y="35844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59" y="3831336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67 г · METRO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0080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" y="4389120"/>
            <a:ext cx="1344168" cy="134416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58368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Samyang · Buldak Hot Chicken сир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8368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137–150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8368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70 г · Космос · Клас · Таврія …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8646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428646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501798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4386" y="4389120"/>
            <a:ext cx="1344168" cy="1344168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2520086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Kimchi Shin Ramyun Cup…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20086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100–158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20086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75 г · Grono · METRO · Onde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0364" y="4242816"/>
            <a:ext cx="1755648" cy="24688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90364" y="4242816"/>
            <a:ext cx="1755648" cy="3657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3516" y="4352544"/>
            <a:ext cx="1609344" cy="1417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6104" y="4389120"/>
            <a:ext cx="1344168" cy="134416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381804" y="5843016"/>
            <a:ext cx="157276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40" b="1" spc="-10">
                <a:solidFill>
                  <a:srgbClr val="1C2235"/>
                </a:solidFill>
                <a:latin typeface="Segoe UI"/>
              </a:rPr>
              <a:t>Nongshim · Shin Cup локшина з гриб…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81804" y="6163055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spc="-1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81804" y="6409944"/>
            <a:ext cx="15727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80 г · Grono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Усі бренди в усіх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61872"/>
            <a:ext cx="566928" cy="40233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9844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6692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1261872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верхнє число — кількість позицій (SKU) бренду в мережі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146304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717890"/>
                </a:solidFill>
                <a:latin typeface="Segoe UI"/>
              </a:rPr>
              <a:t>нижнє число — медіанна ціна пачки в ₴  ·  чим темніше, тим більше позицій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739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712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712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1985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849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849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«Зараз»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171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657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657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«Восторг»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1441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«Космос»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«Таврія»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1169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0336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«ЧудоМ.»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897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«Торба»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57615" y="1810512"/>
            <a:ext cx="512063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57615" y="192024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80" b="1" spc="-10">
                <a:solidFill>
                  <a:srgbClr val="FFFFFF"/>
                </a:solidFill>
                <a:latin typeface="Segoe UI"/>
              </a:rPr>
              <a:t>«Сільпо»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7" y="1810512"/>
            <a:ext cx="539496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192024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6335" y="1810512"/>
            <a:ext cx="612647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46335" y="192024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86415" y="1810512"/>
            <a:ext cx="722375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86415" y="192024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МЕДІАНА,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36223" y="1810512"/>
            <a:ext cx="86868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36223" y="192024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ВАГА ПАЧКИ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229743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73936" y="2212848"/>
            <a:ext cx="512063" cy="333756"/>
          </a:xfrm>
          <a:prstGeom prst="rect">
            <a:avLst/>
          </a:prstGeom>
          <a:solidFill>
            <a:srgbClr val="1A7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7739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39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22576" y="2212848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2257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257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145 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87121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712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12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122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19856" y="2212848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1985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1985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968496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68496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17136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171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171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6577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6577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6577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61441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1441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1441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16305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16305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16305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11695" y="221284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71169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71169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260336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60336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60336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08975" y="221284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08975" y="23042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357615" y="2212848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357615" y="222656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57615" y="240487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79407" y="221284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979407" y="230428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33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546335" y="221284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546335" y="230428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186415" y="221284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86415" y="230428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111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936223" y="221284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936223" y="230428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62–140 г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66928" y="266776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73936" y="2583179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7739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7739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108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32257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32257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32257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7121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8712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2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19856" y="2583179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19856" y="26746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96849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6849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6849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17136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171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5171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065775" y="2583179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0657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0657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61441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61441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1441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6305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6305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16305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140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71169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1169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71169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260336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260336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260336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130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808975" y="2583179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780897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80897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357615" y="2583179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357615" y="259689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357615" y="2775203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979407" y="2583179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8979407" y="267462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546335" y="2583179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546335" y="267462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86415" y="2583179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86415" y="267462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936223" y="2583179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936223" y="267462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70–145 г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303809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773936" y="2953512"/>
            <a:ext cx="512063" cy="333756"/>
          </a:xfrm>
          <a:prstGeom prst="rect">
            <a:avLst/>
          </a:prstGeom>
          <a:solidFill>
            <a:srgbClr val="359B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7739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739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FFFFFF"/>
                </a:solidFill>
                <a:latin typeface="Segoe UI"/>
              </a:rPr>
              <a:t>89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322576" y="2953512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32257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32257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113 ₴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87121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87121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7121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341985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1985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396849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96849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51713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51713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657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0657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614416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614416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16305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6305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711695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711695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711695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260336" y="295351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7260336" y="296722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260336" y="314553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80897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80897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357615" y="295351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357615" y="304495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979407" y="295351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979407" y="304495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9546335" y="295351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46335" y="304495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186415" y="295351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186415" y="304495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94 ₴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10936223" y="295351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10936223" y="304495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105–140 г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66928" y="340842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1773936" y="3323844"/>
            <a:ext cx="512063" cy="333756"/>
          </a:xfrm>
          <a:prstGeom prst="rect">
            <a:avLst/>
          </a:prstGeom>
          <a:solidFill>
            <a:srgbClr val="6BB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177393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77393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2322576" y="332384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232257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32257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101 ₴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87121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87121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341985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341985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96849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396849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96849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67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5171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171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0657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0657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14416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614416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614416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163055" y="3323844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163055" y="333756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163055" y="351586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671169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671169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260336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7260336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80897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80897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8357615" y="332384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8357615" y="341528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8979407" y="332384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979407" y="341528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9546335" y="332384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546335" y="341528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0186415" y="332384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0186415" y="341528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10936223" y="332384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10936223" y="341528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67–130 г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566928" y="3778758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177393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177393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77393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32257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32257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712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8712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41985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41985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3968496" y="3694176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3968496" y="370789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3968496" y="3886200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80 ₴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5171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45171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50657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50657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561441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561441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616305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616305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71169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71169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260336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7260336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780897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780897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8357615" y="3694176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357615" y="378561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8979407" y="3694176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8979407" y="3785616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546335" y="3694176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546335" y="3785616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10186415" y="3694176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0186415" y="3785616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10936223" y="3694176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0936223" y="378561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102–144 г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66928" y="4149090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1773936" y="4064508"/>
            <a:ext cx="512063" cy="333756"/>
          </a:xfrm>
          <a:prstGeom prst="rect">
            <a:avLst/>
          </a:prstGeom>
          <a:solidFill>
            <a:srgbClr val="A1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1773936" y="407822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773936" y="4256532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232257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232257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28712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8712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341985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341985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396849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396849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45171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45171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50657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50657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561441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561441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616305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616305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671169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71169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7260336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7260336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780897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780897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8357615" y="4064508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8357615" y="415594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8979407" y="4064508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8979407" y="415594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9546335" y="4064508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9546335" y="415594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10186415" y="4064508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0186415" y="415594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86 ₴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10936223" y="4064508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0936223" y="415594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122–127 г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566928" y="4519422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1773936" y="4434840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1773936" y="4448556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773936" y="4626864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232257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232257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28712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28712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341985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41985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396849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396849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45171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45171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50657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50657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61441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561441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616305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616305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671169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671169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7260336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7260336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780897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780897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8357615" y="4434840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8357615" y="452628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8979407" y="4434840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8979407" y="4526280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9546335" y="4434840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9546335" y="4526280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10186415" y="4434840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10186415" y="4526280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10936223" y="4434840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10936223" y="4526280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120 г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566928" y="488975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fire bull</a:t>
            </a:r>
          </a:p>
        </p:txBody>
      </p:sp>
      <p:sp>
        <p:nvSpPr>
          <p:cNvPr id="331" name="Rectangle 330"/>
          <p:cNvSpPr/>
          <p:nvPr/>
        </p:nvSpPr>
        <p:spPr>
          <a:xfrm>
            <a:off x="17739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17739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3" name="Rectangle 332"/>
          <p:cNvSpPr/>
          <p:nvPr/>
        </p:nvSpPr>
        <p:spPr>
          <a:xfrm>
            <a:off x="232257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TextBox 333"/>
          <p:cNvSpPr txBox="1"/>
          <p:nvPr/>
        </p:nvSpPr>
        <p:spPr>
          <a:xfrm>
            <a:off x="232257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35" name="Rectangle 334"/>
          <p:cNvSpPr/>
          <p:nvPr/>
        </p:nvSpPr>
        <p:spPr>
          <a:xfrm>
            <a:off x="2871216" y="4805172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2871216" y="4818888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871216" y="4997196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341985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341985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396849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396849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45171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45171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50657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50657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561441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561441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16305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616305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671169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671169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7260336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7260336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780897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780897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8357615" y="4805172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8357615" y="4896612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8979407" y="4805172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8979407" y="4896612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9546335" y="4805172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9546335" y="4896612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10186415" y="4805172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10186415" y="4896612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78 ₴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10936223" y="4805172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10936223" y="4896612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137,8 г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566928" y="5260086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Choi’s (SIAS)</a:t>
            </a:r>
          </a:p>
        </p:txBody>
      </p:sp>
      <p:sp>
        <p:nvSpPr>
          <p:cNvPr id="367" name="Rectangle 366"/>
          <p:cNvSpPr/>
          <p:nvPr/>
        </p:nvSpPr>
        <p:spPr>
          <a:xfrm>
            <a:off x="17739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17739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69" name="Rectangle 368"/>
          <p:cNvSpPr/>
          <p:nvPr/>
        </p:nvSpPr>
        <p:spPr>
          <a:xfrm>
            <a:off x="232257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TextBox 369"/>
          <p:cNvSpPr txBox="1"/>
          <p:nvPr/>
        </p:nvSpPr>
        <p:spPr>
          <a:xfrm>
            <a:off x="232257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1" name="Rectangle 370"/>
          <p:cNvSpPr/>
          <p:nvPr/>
        </p:nvSpPr>
        <p:spPr>
          <a:xfrm>
            <a:off x="287121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287121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3" name="Rectangle 372"/>
          <p:cNvSpPr/>
          <p:nvPr/>
        </p:nvSpPr>
        <p:spPr>
          <a:xfrm>
            <a:off x="341985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TextBox 373"/>
          <p:cNvSpPr txBox="1"/>
          <p:nvPr/>
        </p:nvSpPr>
        <p:spPr>
          <a:xfrm>
            <a:off x="341985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396849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396849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45171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45171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79" name="Rectangle 378"/>
          <p:cNvSpPr/>
          <p:nvPr/>
        </p:nvSpPr>
        <p:spPr>
          <a:xfrm>
            <a:off x="50657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TextBox 379"/>
          <p:cNvSpPr txBox="1"/>
          <p:nvPr/>
        </p:nvSpPr>
        <p:spPr>
          <a:xfrm>
            <a:off x="50657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1" name="Rectangle 380"/>
          <p:cNvSpPr/>
          <p:nvPr/>
        </p:nvSpPr>
        <p:spPr>
          <a:xfrm>
            <a:off x="5614416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5614416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5614416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6163055" y="5175504"/>
            <a:ext cx="512063" cy="333756"/>
          </a:xfrm>
          <a:prstGeom prst="rect">
            <a:avLst/>
          </a:prstGeom>
          <a:solidFill>
            <a:srgbClr val="CCE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6163055" y="5189220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163055" y="5367528"/>
            <a:ext cx="512063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387" name="Rectangle 386"/>
          <p:cNvSpPr/>
          <p:nvPr/>
        </p:nvSpPr>
        <p:spPr>
          <a:xfrm>
            <a:off x="671169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TextBox 387"/>
          <p:cNvSpPr txBox="1"/>
          <p:nvPr/>
        </p:nvSpPr>
        <p:spPr>
          <a:xfrm>
            <a:off x="671169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260336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7260336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80897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TextBox 391"/>
          <p:cNvSpPr txBox="1"/>
          <p:nvPr/>
        </p:nvSpPr>
        <p:spPr>
          <a:xfrm>
            <a:off x="780897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8357615" y="5175504"/>
            <a:ext cx="512063" cy="333756"/>
          </a:xfrm>
          <a:prstGeom prst="rect">
            <a:avLst/>
          </a:prstGeom>
          <a:solidFill>
            <a:srgbClr val="EC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8357615" y="5266944"/>
            <a:ext cx="512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spc="-10">
                <a:solidFill>
                  <a:srgbClr val="9FA9C4"/>
                </a:solidFill>
                <a:latin typeface="Segoe UI"/>
              </a:rPr>
              <a:t>—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8979407" y="5175504"/>
            <a:ext cx="539496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TextBox 395"/>
          <p:cNvSpPr txBox="1"/>
          <p:nvPr/>
        </p:nvSpPr>
        <p:spPr>
          <a:xfrm>
            <a:off x="8979407" y="5266944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9546335" y="5175504"/>
            <a:ext cx="612647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9546335" y="5266944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10186415" y="5175504"/>
            <a:ext cx="722375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TextBox 399"/>
          <p:cNvSpPr txBox="1"/>
          <p:nvPr/>
        </p:nvSpPr>
        <p:spPr>
          <a:xfrm>
            <a:off x="10186415" y="5266944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10936223" y="5175504"/>
            <a:ext cx="868680" cy="3337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TextBox 401"/>
          <p:cNvSpPr txBox="1"/>
          <p:nvPr/>
        </p:nvSpPr>
        <p:spPr>
          <a:xfrm>
            <a:off x="10936223" y="5266944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131 г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1755648" y="5564124"/>
            <a:ext cx="10076688" cy="109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566928" y="5655564"/>
            <a:ext cx="10972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УСЬОГО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7556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60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7556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89 ₴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23042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23042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28529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24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28529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34015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34015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108 ₴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395020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14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95020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88 ₴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44988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44988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0474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50474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137 ₴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559612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559612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614476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12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14476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122 ₴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669340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8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669340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134 ₴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724204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6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724204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120 ₴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7790688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2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7790688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102 ₴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8339327" y="561898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spc="-10">
                <a:solidFill>
                  <a:srgbClr val="C4820A"/>
                </a:solidFill>
                <a:latin typeface="Segoe UI"/>
              </a:rPr>
              <a:t>4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339327" y="580186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114 ₴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8979407" y="5710428"/>
            <a:ext cx="53949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93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9546335" y="5710428"/>
            <a:ext cx="612647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13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186415" y="5710428"/>
            <a:ext cx="72237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103 ₴</a:t>
            </a:r>
          </a:p>
        </p:txBody>
      </p:sp>
      <p:sp>
        <p:nvSpPr>
          <p:cNvPr id="434" name="TextBox 433"/>
          <p:cNvSpPr txBox="1"/>
          <p:nvPr/>
        </p:nvSpPr>
        <p:spPr>
          <a:xfrm>
            <a:off x="10936223" y="5710428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62–145 г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(zakaz.ua) і «Сільпо», 29.09.2026. Клітинка = унікальні EAN × медіана цін по магазинах мережі. «Сільпо» — 4 позиції без EAN (3 Samyang, 1 Nongshim); 93 = 89 позицій з EAN + 4 «Сільпо». Вага — мін.–макс. пачки бренду.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насправді щільна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Кількість позицій і медіанна ціна пачки за ваговими смугами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0934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591056"/>
            <a:ext cx="4343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Пакет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1036" y="160934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32204" y="1591056"/>
            <a:ext cx="5029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Стакан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1874519"/>
            <a:ext cx="6217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ПОЗИЦІЙ У ВАГОВІЙ СМУЗІ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МЕДІАННА ЦІНА ПАЧКИ, 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310127"/>
            <a:ext cx="11064240" cy="113385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368296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40–90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2304288"/>
            <a:ext cx="1759016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4519" y="2377440"/>
            <a:ext cx="17590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976" y="2377440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17  ·  19 %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2304288"/>
            <a:ext cx="195224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377440"/>
            <a:ext cx="18425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93522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90–110 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19" y="2871216"/>
            <a:ext cx="82777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74519" y="2944368"/>
            <a:ext cx="8277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93732" y="294436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  ·  9 %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871216"/>
            <a:ext cx="1877872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2944368"/>
            <a:ext cx="17681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101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3502151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110–125 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74519" y="3438144"/>
            <a:ext cx="3621505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511296"/>
            <a:ext cx="362150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96025" y="3438144"/>
            <a:ext cx="103471" cy="34747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0936" y="3511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36  ·  40 %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3438144"/>
            <a:ext cx="1729130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3511296"/>
            <a:ext cx="161940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93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406908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125–145 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05072"/>
            <a:ext cx="2793732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4078224"/>
            <a:ext cx="27937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spc="-10">
                <a:solidFill>
                  <a:srgbClr val="FFFFFF"/>
                </a:solidFill>
                <a:latin typeface="Segoe UI"/>
              </a:rPr>
              <a:t>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9692" y="407822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27  ·  30 %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35240" y="4005072"/>
            <a:ext cx="2082393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35240" y="4078224"/>
            <a:ext cx="197266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112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36008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-10">
                <a:solidFill>
                  <a:srgbClr val="303A5D"/>
                </a:solidFill>
                <a:latin typeface="Segoe UI"/>
              </a:rPr>
              <a:t>145 г 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572000"/>
            <a:ext cx="103471" cy="3474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69431" y="46451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  ·  1 %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4572000"/>
            <a:ext cx="2510028" cy="34747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4645152"/>
            <a:ext cx="24003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FFFFFF"/>
                </a:solidFill>
                <a:latin typeface="Segoe UI"/>
              </a:rPr>
              <a:t>135 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0889" y="2176272"/>
            <a:ext cx="12801" cy="28712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54896" y="5065776"/>
            <a:ext cx="822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-10">
                <a:solidFill>
                  <a:srgbClr val="B53A3A"/>
                </a:solidFill>
                <a:latin typeface="Segoe UI"/>
              </a:rPr>
              <a:t>120 грн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61320" y="373989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наші SKU:</a:t>
            </a:r>
          </a:p>
          <a:p>
            <a:pPr algn="ctr">
              <a:lnSpc>
                <a:spcPct val="110000"/>
              </a:lnSpc>
            </a:pPr>
            <a:r>
              <a:rPr sz="850" b="1" spc="-10">
                <a:solidFill>
                  <a:srgbClr val="C4820A"/>
                </a:solidFill>
                <a:latin typeface="Segoe UI"/>
              </a:rPr>
              <a:t>112,5–131 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" y="5614416"/>
            <a:ext cx="41148" cy="78638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7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ВАГА НАШИХ SKU — РИНКОВА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7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112,5–131 г потрапляє у дві найщільніші смуги: 70 % усіх позицій ринку.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5614416"/>
            <a:ext cx="5413248" cy="78638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7920" y="5614416"/>
            <a:ext cx="41148" cy="78638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779007"/>
            <a:ext cx="48646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1" spc="-10">
                <a:solidFill>
                  <a:srgbClr val="303A5D"/>
                </a:solidFill>
                <a:latin typeface="Segoe UI"/>
              </a:rPr>
              <a:t>ЦІНА НАШИХ SKU ПРОТИ ЦИХ СМУГ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6053327"/>
            <a:ext cx="4864608" cy="1828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0" b="0" spc="-10">
                <a:solidFill>
                  <a:srgbClr val="717890"/>
                </a:solidFill>
                <a:latin typeface="Segoe UI"/>
              </a:rPr>
              <a:t>При полиці 120 грн наші SKU на 29 % дорожчі за медіану смуги 110–125 г (93 грн), при поточних 140,55 грн — на 51 %.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Що з корейського рамену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Суцільна перевірка онлайн-каталогів 18 мереж, зріз 29.09.2026. SKU — унікальні позиції корейського рамену в каталозі мережі.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85569" y="1517904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6737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1" y="1517904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1532" y="1517904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2700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5193" y="1517904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36361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8854" y="1517904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0022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7534" y="1517904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48702" y="1499616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303A5D"/>
                </a:solidFill>
                <a:latin typeface="Segoe UI"/>
              </a:rPr>
              <a:t>Choi's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1499616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ЦІНА ПАЧКИ, ₴: мін.–макс. (лінія) · медіана (мітка)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18470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18882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65960" y="1892807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5960" y="1903780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1883664"/>
            <a:ext cx="84582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1894636"/>
            <a:ext cx="8458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43884" y="1883664"/>
            <a:ext cx="64465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43884" y="1894636"/>
            <a:ext cx="6446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883664"/>
            <a:ext cx="59436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1894636"/>
            <a:ext cx="594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01184" y="1883664"/>
            <a:ext cx="443484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01184" y="1894636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53812" y="188366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53812" y="1894636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54980" y="1883664"/>
            <a:ext cx="192024" cy="166420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54980" y="1894636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56148" y="1883664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59" y="18882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5780" y="1953158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520684" y="18882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97312" y="18882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65–202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188823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21369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65960" y="2141524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65960" y="2152497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88920" y="2132380"/>
            <a:ext cx="54406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88920" y="2143353"/>
            <a:ext cx="5440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42132" y="2132380"/>
            <a:ext cx="493776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2132" y="2143353"/>
            <a:ext cx="49377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45052" y="2132380"/>
            <a:ext cx="91440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45636" y="2132380"/>
            <a:ext cx="41148" cy="16642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41648" y="213695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79307" y="2201875"/>
            <a:ext cx="1525524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939784" y="2136952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9696" y="2136952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27080" y="2136952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" y="2344521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0080" y="2385669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965960" y="239024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65960" y="240121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88920" y="2381097"/>
            <a:ext cx="44348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88920" y="2392070"/>
            <a:ext cx="44348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41548" y="2381097"/>
            <a:ext cx="393192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41548" y="2392070"/>
            <a:ext cx="3931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43884" y="2381097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43884" y="239207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45635" y="2381097"/>
            <a:ext cx="41148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41647" y="238566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63127" y="2450592"/>
            <a:ext cx="229666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140952" y="2385669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14660" y="238566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72–209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927080" y="2385669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126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263438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965960" y="263895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965960" y="264993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88920" y="2629814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88920" y="2640787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40963" y="2629814"/>
            <a:ext cx="192024" cy="1664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40963" y="2640787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42132" y="262981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38727" y="263438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79307" y="2699308"/>
            <a:ext cx="955547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03919" y="263438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89719" y="263438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67–124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27080" y="263438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88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6928" y="2841955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288310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1965960" y="288767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65960" y="289864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88920" y="2878531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88920" y="2889504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40963" y="2878531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140963" y="2889504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88435" y="288310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017508" y="2948025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325356" y="288310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742932" y="288310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927080" y="288310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31318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965960" y="3136391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65960" y="3147364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88920" y="3127248"/>
            <a:ext cx="34290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88920" y="3138220"/>
            <a:ext cx="3429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140963" y="3127248"/>
            <a:ext cx="29260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140963" y="3138220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435" y="31318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017508" y="3196742"/>
            <a:ext cx="6705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325356" y="31318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742932" y="31318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117–157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927080" y="313182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3339388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0080" y="33805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1965960" y="3385108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965960" y="3396081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88920" y="3375964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88920" y="3386937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090672" y="3375964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241548" y="3375964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342132" y="3375964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38144" y="33805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26679" y="3445459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9073896" y="3380536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625583" y="33805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40–150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27080" y="3380536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0080" y="362925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965960" y="3633825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965960" y="364479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788920" y="3624681"/>
            <a:ext cx="59436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788920" y="3635654"/>
            <a:ext cx="5943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438144" y="362925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698991" y="3694176"/>
            <a:ext cx="1123188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839200" y="3629253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877044" y="3629253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98–165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27080" y="3629253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3836822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0080" y="387797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965960" y="388254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965960" y="3893515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788920" y="3873398"/>
            <a:ext cx="292608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788920" y="3884371"/>
            <a:ext cx="29260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090672" y="3873398"/>
            <a:ext cx="141732" cy="1664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241548" y="3873398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342132" y="3873398"/>
            <a:ext cx="41148" cy="16642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38144" y="387797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726679" y="3942892"/>
            <a:ext cx="184403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073896" y="387797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625583" y="387797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34–150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27080" y="387797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40080" y="412668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1965960" y="413125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965960" y="4142232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88920" y="4122115"/>
            <a:ext cx="192024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88920" y="4133087"/>
            <a:ext cx="19202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90088" y="4122115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140964" y="4122115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3236976" y="412668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051036" y="4191609"/>
            <a:ext cx="1089659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9275064" y="412668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195560" y="412668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119–184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27080" y="412668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134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66928" y="433425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40080" y="43754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1965960" y="4379976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965960" y="4390948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2788920" y="4370832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939796" y="4370832"/>
            <a:ext cx="91440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3040379" y="4370832"/>
            <a:ext cx="41148" cy="1664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136391" y="437540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8732519" y="4440326"/>
            <a:ext cx="5699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9040368" y="4375404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357360" y="4375404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100–134 ₴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927080" y="4375404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40080" y="46241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965960" y="4628692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1965960" y="4639665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2788920" y="4619548"/>
            <a:ext cx="141732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2939796" y="4619548"/>
            <a:ext cx="41148" cy="16642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3035808" y="462412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564879" y="4689043"/>
            <a:ext cx="1827275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939784" y="4624120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447019" y="46241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90–199 ₴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927080" y="4624120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66928" y="4831689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640080" y="4872837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965960" y="4877409"/>
            <a:ext cx="713232" cy="15544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965960" y="4888382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 spc="-1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788920" y="4868265"/>
            <a:ext cx="91440" cy="1664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935223" y="487283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615171" y="4937760"/>
            <a:ext cx="301752" cy="3657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738616" y="4872837"/>
            <a:ext cx="54864" cy="1572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971788" y="4872837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93–111 ₴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27080" y="4872837"/>
            <a:ext cx="7040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-10">
                <a:solidFill>
                  <a:srgbClr val="303A5D"/>
                </a:solidFill>
                <a:latin typeface="Segoe UI"/>
              </a:rPr>
              <a:t>102 ₴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66928" y="5080406"/>
            <a:ext cx="11064240" cy="23042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40080" y="5121554"/>
            <a:ext cx="7772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717890"/>
                </a:solidFill>
                <a:latin typeface="Segoe UI"/>
              </a:rPr>
              <a:t>МегаМаркет · Ultramarket · ЕКО · Епіцентр · «Ідеал» — 0 позицій у зрізі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060484" y="1819656"/>
            <a:ext cx="14630" cy="327903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610600" y="1719072"/>
            <a:ext cx="9144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120 ₴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0561320" y="1719072"/>
            <a:ext cx="10698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56692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6692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841247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№1 · «СІЛЬПО»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841247" y="6400800"/>
            <a:ext cx="299923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Найбільша мережа країни тримає 4 позиції. Полиця відкрита, але вхід там 90–199 ₴.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315968" y="5961888"/>
            <a:ext cx="3547872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4315968" y="5961888"/>
            <a:ext cx="41148" cy="8046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590288" y="6126479"/>
            <a:ext cx="2999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ДІРКА №2 · П’ЯТЬ МЕРЕЖ З НУЛЕМ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4590288" y="6400800"/>
            <a:ext cx="2999232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МегаМаркет, Ultramarket, ЕКО, Епіцентр, «Ідеал» — жодної позиції у зрізі.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065008" y="5961888"/>
            <a:ext cx="3566160" cy="804672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065008" y="5961888"/>
            <a:ext cx="41148" cy="80467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39328" y="6126479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ОДИН ПОСТАЧАЛЬНИК НА ДВІ МЕРЕЖІ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8339328" y="6400800"/>
            <a:ext cx="3017520" cy="201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«Космос» і «Таврія В» — по 12 позицій; 12 із них збігаються за EAN.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Ліворуч — усі перевірені точки: де категорія є і скільки там позицій. Праворуч — хто туди приходить і чи це наш покупець.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481328"/>
            <a:ext cx="6400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303A5D"/>
                </a:solidFill>
                <a:latin typeface="Segoe UI"/>
              </a:rPr>
              <a:t>ПЕРЕВІРЕНІ ТОЧКИ ПРОДАЖУ · ПОЗИЦІЙ У КОЖНІЙ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682496"/>
            <a:ext cx="6355080" cy="1828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709928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FFFFFF"/>
                </a:solidFill>
                <a:latin typeface="Segoe UI"/>
              </a:rPr>
              <a:t>ПРОДУКТОВІ МЕРЕЖІ · 18 ПЕРЕВІРЕНО · 13 МАЮТЬ РАМЕН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190195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915668"/>
            <a:ext cx="2831690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5394" y="189280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042769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056485"/>
            <a:ext cx="1132676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6380" y="2033625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18358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2197303"/>
            <a:ext cx="1132676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6380" y="217444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2324404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338120"/>
            <a:ext cx="660727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4431" y="2315260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246522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8840" y="2478938"/>
            <a:ext cx="613532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17236" y="245607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2606039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48840" y="2619756"/>
            <a:ext cx="613532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7236" y="259689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74685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48840" y="2760573"/>
            <a:ext cx="566338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0042" y="273771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" y="288767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48840" y="2901391"/>
            <a:ext cx="566338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70042" y="287853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3028492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3042208"/>
            <a:ext cx="566338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0042" y="3019348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" y="316931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48840" y="3183026"/>
            <a:ext cx="377558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81262" y="316016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" y="3310127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48840" y="3323843"/>
            <a:ext cx="283169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486873" y="3300983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" y="345094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3464661"/>
            <a:ext cx="188779" cy="95097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92483" y="344180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359176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48840" y="3605479"/>
            <a:ext cx="94389" cy="95097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98093" y="3582619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" y="373258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МегаМаркет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48840" y="3732580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387339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Ultramarket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48840" y="387339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" y="401421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ЕКО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48840" y="4014215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" y="415503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Епіцентр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48840" y="415503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" y="4295851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«Ідеал»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4295851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категорії немає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6928" y="4473244"/>
            <a:ext cx="6355080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" y="4500676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FFFFFF"/>
                </a:solidFill>
                <a:latin typeface="Segoe UI"/>
              </a:rPr>
              <a:t>АЗІЙСЬКІ ФУДШОПИ · 5 ПЕРЕВІРЕНО · 3 З ЦІНАМИ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" y="469270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48840" y="4706416"/>
            <a:ext cx="3634002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837706" y="468355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77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2648" y="483351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48840" y="4847234"/>
            <a:ext cx="1132676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36380" y="4824374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2648" y="497433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148840" y="4988051"/>
            <a:ext cx="1085481" cy="95097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289185" y="4965191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2648" y="511515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OMG! Asia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148840" y="511515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12648" y="5255971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Panda Asian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8840" y="5255971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8" y="5433364"/>
            <a:ext cx="6355080" cy="18288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460796"/>
            <a:ext cx="62179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 spc="-10">
                <a:solidFill>
                  <a:srgbClr val="FFFFFF"/>
                </a:solidFill>
                <a:latin typeface="Segoe UI"/>
              </a:rPr>
              <a:t>МАРКЕТПЛЕЙСИ · 4 ПЕРЕВІРЕНО · 1 З ЦІНАМИ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2648" y="565282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48840" y="5666536"/>
            <a:ext cx="1132676" cy="9509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36380" y="5643676"/>
            <a:ext cx="731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303A5D"/>
                </a:solidFill>
                <a:latin typeface="Segoe UI"/>
              </a:rPr>
              <a:t>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5793638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Rozetka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148840" y="5793638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" y="5934455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MAUDAU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148840" y="5934455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12648" y="6075273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303A5D"/>
                </a:solidFill>
                <a:latin typeface="Segoe UI"/>
              </a:rPr>
              <a:t>Bigl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148840" y="6075273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цінових даних немає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178040" y="1481328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178040" y="1481328"/>
            <a:ext cx="41148" cy="113385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360920" y="156362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Продуктовий роздріб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012680" y="1563624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0012680" y="1591056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60920" y="1810512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B53A3A"/>
                </a:solidFill>
                <a:latin typeface="Segoe UI"/>
              </a:rPr>
              <a:t>МЕРЕЖІ НАЦІОНАЛЬНОГО ПОКРИТТЯ · 18 ПЕРЕВІРЕНО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360920" y="1984248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13 мереж мають корейський рамен, 5 — жодної позиції. «Сільпо» — 4 позиції на всю мережу.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360920" y="2414016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щоденне харчування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178040" y="2688336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178040" y="2688336"/>
            <a:ext cx="41148" cy="11338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360920" y="27706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Онлайн-маркетплейси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012680" y="2770632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012680" y="2798064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360920" y="3017520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C4820A"/>
                </a:solidFill>
                <a:latin typeface="Segoe UI"/>
              </a:rPr>
              <a:t>УНІВЕРСАЛЬНІ МАЙДАНЧИКИ · 4 МАЙДАНЧИКИ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360920" y="3191256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Prom · Rozetka · MAUDAU · Bigl. Ціни є лише з Prom: 24 пропозицій, медіана 116 ₴, мінімум 80 ₴.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360920" y="3621024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Масовий покупець · планована закупівля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178040" y="3895344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78040" y="3895344"/>
            <a:ext cx="41148" cy="113385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60920" y="397763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012680" y="3977639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012680" y="4005072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360920" y="4224528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1E9EA6"/>
                </a:solidFill>
                <a:latin typeface="Segoe UI"/>
              </a:rPr>
              <a:t>СПЕЦІАЛІЗОВАНИЙ ФУДРІТЕЙЛ · 5 МАГАЗИНІВ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360920" y="4398264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OMG! Asia · Тайякі Март · Суші Повар · Asia Foods · Panda Asian. Ціни є з трьох: 42–175 ₴.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360920" y="4828031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Покупець азійської кухні · знає категорію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78040" y="5102352"/>
            <a:ext cx="4453128" cy="113385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178040" y="5102352"/>
            <a:ext cx="41148" cy="1133856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360920" y="518464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Outdoor- і мілітарі-рітейл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10012680" y="5184648"/>
            <a:ext cx="1508760" cy="192024"/>
          </a:xfrm>
          <a:prstGeom prst="roundRect">
            <a:avLst>
              <a:gd name="adj" fmla="val 30000"/>
            </a:avLst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12680" y="5212080"/>
            <a:ext cx="15087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40" b="1" spc="-10">
                <a:solidFill>
                  <a:srgbClr val="FFFFFF"/>
                </a:solidFill>
                <a:latin typeface="Segoe UI"/>
              </a:rPr>
              <a:t>НЕ НАШ КАНАЛ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60920" y="5431536"/>
            <a:ext cx="416052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60" b="1" spc="-10">
                <a:solidFill>
                  <a:srgbClr val="9FA9C4"/>
                </a:solidFill>
                <a:latin typeface="Segoe UI"/>
              </a:rPr>
              <a:t>ТУРИСТИЧНІ ТА ВІЙСЬКОВІ МАГАЗИНИ · 0 ПОЗИЦІЙ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360920" y="5605272"/>
            <a:ext cx="4160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00" b="0" spc="-10">
                <a:solidFill>
                  <a:srgbClr val="303A5D"/>
                </a:solidFill>
                <a:latin typeface="Segoe UI"/>
              </a:rPr>
              <a:t>Рамену там немає: він потребує окропу й каструлі.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60920" y="6035040"/>
            <a:ext cx="4160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 spc="-10">
                <a:solidFill>
                  <a:srgbClr val="717890"/>
                </a:solidFill>
                <a:latin typeface="Segoe UI"/>
              </a:rPr>
              <a:t>ПОКУПЕЦЬ:  Турист і військовий · автономне харчування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6928" y="6455664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каталоги zakaz.ua і «Сільпо» 29.09.2026. Фудшопи — сторінки категорій (Суші Повар, Asia Foods, Тайякі Март), Prom.ua — одна сторінка видачі, жовтень 2026; без наборів дорожче 250 ₴. Rozetka, MAUDAU, Bigl, OMG! Asia, Panda Asian цінових даних не дали.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Ціна пачки по каналах і наша поточна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Мін.–макс. (лінія), 25–75 % пропозицій (блок), медіана (риска) · ціна пачки, ₴ · смуги — наша поточна полиця у двох варіантах закупівлі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419856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4553712"/>
            <a:ext cx="11064240" cy="5486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85674" y="2240280"/>
            <a:ext cx="735980" cy="3447287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50099" y="2240280"/>
            <a:ext cx="945892" cy="3447287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39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6964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46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5036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054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861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1180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6684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252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4756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324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2828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396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00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4679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2286000"/>
            <a:ext cx="5486" cy="340156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15400" y="57332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1828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ПРОПОЗИЦІЙ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1828800"/>
            <a:ext cx="978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4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36829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Національні мережі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256946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5 мереж · Ашан, METRO, NOVUS…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14140" y="2546604"/>
            <a:ext cx="4645914" cy="45720"/>
          </a:xfrm>
          <a:prstGeom prst="rect">
            <a:avLst/>
          </a:prstGeom>
          <a:solidFill>
            <a:srgbClr val="828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49762" y="2459736"/>
            <a:ext cx="965771" cy="219456"/>
          </a:xfrm>
          <a:prstGeom prst="rect">
            <a:avLst/>
          </a:prstGeom>
          <a:solidFill>
            <a:srgbClr val="4F57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923739" y="2414016"/>
            <a:ext cx="36576" cy="31089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6267" y="229514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33206" y="2487168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246888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52760" y="246888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85 %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2935224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Регіональні мережі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" y="313639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8 мереж · Grono, Onde, «Космос»…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63240" y="3113532"/>
            <a:ext cx="5752084" cy="45720"/>
          </a:xfrm>
          <a:prstGeom prst="rect">
            <a:avLst/>
          </a:prstGeom>
          <a:solidFill>
            <a:srgbClr val="8B9B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70436" y="3026664"/>
            <a:ext cx="1084046" cy="219456"/>
          </a:xfrm>
          <a:prstGeom prst="rect">
            <a:avLst/>
          </a:prstGeom>
          <a:solidFill>
            <a:srgbClr val="5A7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38012" y="2980944"/>
            <a:ext cx="36576" cy="31089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590540" y="28620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8476" y="3054096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209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46920" y="30358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106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652760" y="3035808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41 %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" y="3502152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6656" y="370332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31312" y="3680459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731004" y="3593591"/>
            <a:ext cx="918971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053076" y="3547872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5604" y="342900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99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05956" y="3621024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139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46920" y="3602736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52760" y="3602736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6656" y="4069079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6656" y="4270247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41852" y="4247387"/>
            <a:ext cx="4016248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241544" y="4160519"/>
            <a:ext cx="850899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65724" y="4114799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318252" y="3995927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31252" y="4187951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175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46920" y="4169663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52760" y="4169663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6656" y="46360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76656" y="483717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фудшоп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777996" y="4814316"/>
            <a:ext cx="3301492" cy="45720"/>
          </a:xfrm>
          <a:prstGeom prst="rect">
            <a:avLst/>
          </a:prstGeom>
          <a:solidFill>
            <a:srgbClr val="78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50283" y="4727448"/>
            <a:ext cx="2025142" cy="219456"/>
          </a:xfrm>
          <a:prstGeom prst="rect">
            <a:avLst/>
          </a:prstGeom>
          <a:solidFill>
            <a:srgbClr val="3FAC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813780" y="4681728"/>
            <a:ext cx="36576" cy="3108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66308" y="456285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2640" y="4754880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158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46920" y="4736592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652760" y="4736592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6656" y="5202936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6656" y="5404103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24680" y="5381243"/>
            <a:ext cx="4050283" cy="45720"/>
          </a:xfrm>
          <a:prstGeom prst="rect">
            <a:avLst/>
          </a:prstGeom>
          <a:solidFill>
            <a:srgbClr val="DBB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113909" y="5294375"/>
            <a:ext cx="1608201" cy="219456"/>
          </a:xfrm>
          <a:prstGeom prst="rect">
            <a:avLst/>
          </a:prstGeom>
          <a:solidFill>
            <a:srgbClr val="CC9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631688" y="5248655"/>
            <a:ext cx="36576" cy="31089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84215" y="5129783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116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48116" y="5321807"/>
            <a:ext cx="5486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717890"/>
                </a:solidFill>
                <a:latin typeface="Segoe UI"/>
              </a:rPr>
              <a:t>199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0352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6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652760" y="5303520"/>
            <a:ext cx="97840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78804" y="2240280"/>
            <a:ext cx="16459" cy="3474720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71720" y="203911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503962" y="20391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503962" y="217627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C4820A"/>
                </a:solidFill>
                <a:latin typeface="Segoe UI"/>
              </a:rPr>
              <a:t>141–162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68387" y="2039112"/>
            <a:ext cx="2011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8387" y="2176272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B53A3A"/>
                </a:solidFill>
                <a:latin typeface="Segoe UI"/>
              </a:rPr>
              <a:t>181–208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Мережі: каталоги 29.09.2026, медіана ціни позиції в мережі. Фудшопи й Prom.ua: сторінки категорій, жовтень 2026, без наборів дорожче 250 ₴. Смуги: Vegetable/Spicy/Beef/Chicken (нижня межа) і Gouda/Carbonara (верхня межа) за фінмоделлю, маржа 30 %.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КАНАЛИ · ЦІНОВІ РІВНІ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Частка пропозицій за ціною пачки в кожному каналі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125272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spc="-10">
                <a:solidFill>
                  <a:srgbClr val="717890"/>
                </a:solidFill>
                <a:latin typeface="Segoe UI"/>
              </a:rPr>
              <a:t>Мережі — 89 SKU корейського рамену (пакети й стакани); фудшопи й Prom.ua — рамен зі сторінок категорій, без наборів. Числа в смугах — % пропозицій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517904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до 100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28216" y="1517904"/>
            <a:ext cx="146304" cy="128016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29384" y="149961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100–120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20924" y="1517904"/>
            <a:ext cx="146304" cy="128016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22092" y="149961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120–140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13631" y="1517904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9" y="1499616"/>
            <a:ext cx="84581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-10">
                <a:solidFill>
                  <a:srgbClr val="303A5D"/>
                </a:solidFill>
                <a:latin typeface="Segoe UI"/>
              </a:rPr>
              <a:t>понад 140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151790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ДО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51790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ПОЗ.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51790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717890"/>
                </a:solidFill>
                <a:latin typeface="Segoe UI"/>
              </a:rPr>
              <a:t>ЯКІ БРЕНДИ (ПОЗИЦІЙ)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184708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«Торба»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23160" y="1837943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3160" y="1860804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1837943"/>
            <a:ext cx="22860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1860804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8470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100 %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185623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1856231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10586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23160" y="2096719"/>
            <a:ext cx="32766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23160" y="2119579"/>
            <a:ext cx="3276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72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99760" y="2096719"/>
            <a:ext cx="10668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99760" y="2119579"/>
            <a:ext cx="106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2096719"/>
            <a:ext cx="762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42760" y="2096719"/>
            <a:ext cx="1524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95160" y="21058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95 %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150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11500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17 · Samyang 13 · Paldo 12 · Ottogi 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36463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2355494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237835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566160" y="2355494"/>
            <a:ext cx="3047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66160" y="2378354"/>
            <a:ext cx="3047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14159" y="2355494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14159" y="2378354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236463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92 %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37378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2373782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262341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Суші Повар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23160" y="2614269"/>
            <a:ext cx="2671948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23160" y="2637129"/>
            <a:ext cx="26719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95108" y="2614269"/>
            <a:ext cx="1425038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95108" y="2637129"/>
            <a:ext cx="142503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20147" y="2614269"/>
            <a:ext cx="47501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20147" y="2637129"/>
            <a:ext cx="47501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5160" y="262341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90 %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263255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77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263255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28 · інші 16 · Paldo 15 · Nongshim 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288218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«Зараз»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23160" y="2873044"/>
            <a:ext cx="2612571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423160" y="2895904"/>
            <a:ext cx="261257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35731" y="2873044"/>
            <a:ext cx="1306285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35731" y="2895904"/>
            <a:ext cx="130628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2017" y="2873044"/>
            <a:ext cx="653142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2017" y="2895904"/>
            <a:ext cx="65314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95160" y="2882188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86 %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2891332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0" y="2891332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O'Food 4 · Ottogi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140963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Prom.ua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23160" y="3131819"/>
            <a:ext cx="1143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23160" y="3154679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566160" y="3131819"/>
            <a:ext cx="1714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566160" y="3154679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280660" y="3131819"/>
            <a:ext cx="190499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71160" y="3131819"/>
            <a:ext cx="1523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71160" y="3154679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995160" y="31409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62 %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412480" y="3150107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0" y="3150107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8 · Nongshim 6 · Paldo 4 · Ottogi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339973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Asia Foods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23160" y="3390595"/>
            <a:ext cx="993913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423160" y="3413455"/>
            <a:ext cx="99391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22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17073" y="3390595"/>
            <a:ext cx="1789043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17073" y="3413455"/>
            <a:ext cx="17890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39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06116" y="3390595"/>
            <a:ext cx="1391478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206116" y="3413455"/>
            <a:ext cx="139147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597594" y="3390595"/>
            <a:ext cx="397565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97594" y="3413455"/>
            <a:ext cx="397565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5160" y="33997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61 %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12480" y="34088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0" y="340888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18 · Paldo 3 · Nongshim 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365851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23160" y="3649370"/>
            <a:ext cx="1333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4231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756660" y="3649370"/>
            <a:ext cx="1333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7566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090160" y="3649370"/>
            <a:ext cx="1333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090160" y="3672230"/>
            <a:ext cx="1333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29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423660" y="3649370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23660" y="3672230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995160" y="365851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58 %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412480" y="366765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0" y="366765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11 · Samyang 10 · Paldo 2 · fire bull 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66928" y="391728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«Таврія В»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23160" y="3908145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423160" y="3931005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947160" y="3908145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947160" y="3931005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709159" y="3908145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709159" y="3931005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14159" y="3908145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14159" y="3931005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391728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12480" y="392643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052560" y="392643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66928" y="417606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«Космос»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23160" y="4166920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23160" y="4189780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947160" y="4166920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47160" y="4189780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709159" y="4166920"/>
            <a:ext cx="1905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4709159" y="4189780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614159" y="4166920"/>
            <a:ext cx="380999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614159" y="4189780"/>
            <a:ext cx="380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95160" y="4176064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80" y="418520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052560" y="4185208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6 · Ottogi 3 · Nongshim 2 · Choi's 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66928" y="44348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3160" y="4425696"/>
            <a:ext cx="1523999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423160" y="4448555"/>
            <a:ext cx="1523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947160" y="4425696"/>
            <a:ext cx="761999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947160" y="4448555"/>
            <a:ext cx="7619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709159" y="4425696"/>
            <a:ext cx="2286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709159" y="4448555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50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95160" y="44348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412480" y="4443983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52560" y="4443983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2 · Paldo 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66928" y="469361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«Сільпо»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23160" y="4684471"/>
            <a:ext cx="22860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423160" y="4707331"/>
            <a:ext cx="2286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50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709160" y="468447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709160" y="470733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52160" y="4684471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852160" y="470733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995160" y="469361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12480" y="470275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470275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3 · Nongshim 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66928" y="495239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Тайякі Март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423160" y="4943246"/>
            <a:ext cx="1714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423160" y="4966106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137660" y="4943246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4137660" y="496610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709160" y="4943246"/>
            <a:ext cx="1714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709160" y="4966106"/>
            <a:ext cx="1714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423660" y="4943246"/>
            <a:ext cx="5715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423660" y="4966106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995160" y="495239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50 %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8412480" y="496153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9052560" y="496153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інші 10 · Samyang 7 · Ottogi 4 · Nongshim 3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66928" y="5211165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423160" y="5202021"/>
            <a:ext cx="571500" cy="2039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423160" y="5224881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94660" y="5202021"/>
            <a:ext cx="952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994660" y="5224881"/>
            <a:ext cx="952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947160" y="5202021"/>
            <a:ext cx="11430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947160" y="5224881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25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90160" y="5202021"/>
            <a:ext cx="1905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90160" y="5224881"/>
            <a:ext cx="1905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995160" y="521116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33 %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412480" y="522030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24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9052560" y="522030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9 · Paldo 8 · Samyang 6 · Ottogi 1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566928" y="54699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«Восторг»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423160" y="5460796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423160" y="5483656"/>
            <a:ext cx="703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126544" y="5460796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126544" y="5483656"/>
            <a:ext cx="175846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885006" y="5460796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885006" y="5483656"/>
            <a:ext cx="21101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995160" y="546994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8412480" y="5479084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9052560" y="5479084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572871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«Клас»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2423160" y="5719572"/>
            <a:ext cx="703384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2423160" y="5742431"/>
            <a:ext cx="7033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3126544" y="5719572"/>
            <a:ext cx="1758461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3126544" y="5742431"/>
            <a:ext cx="1758461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38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4885006" y="5719572"/>
            <a:ext cx="2110153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4885006" y="5742431"/>
            <a:ext cx="211015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995160" y="572871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15 %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412480" y="573785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9052560" y="5737859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Samyang 7 · Nongshim 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66928" y="5987491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423160" y="5978347"/>
            <a:ext cx="571500" cy="203911"/>
          </a:xfrm>
          <a:prstGeom prst="rect">
            <a:avLst/>
          </a:prstGeom>
          <a:solidFill>
            <a:srgbClr val="99D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423160" y="6001207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994660" y="5978347"/>
            <a:ext cx="2857500" cy="203911"/>
          </a:xfrm>
          <a:prstGeom prst="rect">
            <a:avLst/>
          </a:prstGeom>
          <a:solidFill>
            <a:srgbClr val="FBCD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994660" y="6001207"/>
            <a:ext cx="2857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62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5852160" y="5978347"/>
            <a:ext cx="1143000" cy="2039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852160" y="6001207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995160" y="598749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12 %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8412480" y="5996635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052560" y="5996635"/>
            <a:ext cx="2606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0" spc="-10">
                <a:solidFill>
                  <a:srgbClr val="303A5D"/>
                </a:solidFill>
                <a:latin typeface="Segoe UI"/>
              </a:rPr>
              <a:t>Nongshim 4 · Samyang 3 · Paldo 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Мережі — унікальні позиції (EAN) за медіанною ціною в мережі, 29.09.2026; «Сільпо» — 4 позиції. Фудшопи й Prom.ua — сторінки категорій, жовтень 2026 (бренд визначено за назвою; «інші» — не корейські або без бренду).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ПОПУЛЯРНІ ПАКЕТИ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Популярні пакети: кожна позиція та її ціна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316736"/>
            <a:ext cx="146304" cy="12801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Nongshim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09928" y="1316736"/>
            <a:ext cx="146304" cy="12801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109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Samyang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75204" y="1316736"/>
            <a:ext cx="146304" cy="12801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637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Paldo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85032" y="1316736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86200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Ottogi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72584" y="1316736"/>
            <a:ext cx="146304" cy="128016"/>
          </a:xfrm>
          <a:prstGeom prst="rect">
            <a:avLst/>
          </a:prstGeom>
          <a:solidFill>
            <a:srgbClr val="3E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3752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Bibigo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0136" y="1316736"/>
            <a:ext cx="146304" cy="12801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61304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O'Food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47688" y="1316736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8856" y="1298448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spc="-10">
                <a:solidFill>
                  <a:srgbClr val="303A5D"/>
                </a:solidFill>
                <a:latin typeface="Segoe UI"/>
              </a:rPr>
              <a:t>Otoki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57516" y="1316736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58684" y="12984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C4820A"/>
                </a:solidFill>
                <a:latin typeface="Segoe UI"/>
              </a:rPr>
              <a:t>SIAS: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1298448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0" spc="-10">
                <a:solidFill>
                  <a:srgbClr val="C4820A"/>
                </a:solidFill>
                <a:latin typeface="Segoe UI"/>
              </a:rPr>
              <a:t>смуга: ціль 120 → зараз 33 палети → 6 палет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645920"/>
            <a:ext cx="5440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120 Г · 22 ПОЗИЦІЙ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1828800"/>
            <a:ext cx="5440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68–128 ₴ · до 120 ₴ включно: 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72968" y="2048256"/>
            <a:ext cx="5486" cy="4142231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62402" y="2020824"/>
            <a:ext cx="13716" cy="4178807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Yeul Ramen дуже гостра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72968" y="2093976"/>
            <a:ext cx="735386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3218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2402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Teumsae Ramen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72968" y="2253996"/>
            <a:ext cx="777501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05333" y="22357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40030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72968" y="2414015"/>
            <a:ext cx="79369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1531" y="23957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74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256032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Kimchi Ramen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72968" y="2574035"/>
            <a:ext cx="830414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58246" y="25557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77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7203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72968" y="2734055"/>
            <a:ext cx="903845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31677" y="27157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84 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28803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Кімчі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2894075"/>
            <a:ext cx="91680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44635" y="28757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85 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30403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72968" y="3054095"/>
            <a:ext cx="961077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88909" y="30358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003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Hwa Ramyun з гострим перцем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72968" y="3214115"/>
            <a:ext cx="971336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99168" y="31958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90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33604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Kokomen зі смаком курки го…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72968" y="3374135"/>
            <a:ext cx="993473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21305" y="33558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92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35204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гостра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172968" y="353415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28864" y="35158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36804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середньогостра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72968" y="3694175"/>
            <a:ext cx="1001032" cy="96011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28864" y="36758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38404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зі смаком морепродуктів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72968" y="3854195"/>
            <a:ext cx="1003192" cy="96011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31024" y="38359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0004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Otoki · Cheesy Ramen зі смаком сир…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72968" y="4014215"/>
            <a:ext cx="1024789" cy="96011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252621" y="39959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95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41605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гостра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72968" y="4174235"/>
            <a:ext cx="1118197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46029" y="41559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43205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морепродуктів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72968" y="4334255"/>
            <a:ext cx="1166251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94083" y="43159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055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зі смаком гост…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172968" y="4494275"/>
            <a:ext cx="119324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21080" y="447598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110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6928" y="46405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72968" y="4654295"/>
            <a:ext cx="1206746" cy="96011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434578" y="46360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480059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 морепродуктами середньог…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172968" y="4814315"/>
            <a:ext cx="1226724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54556" y="479602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66928" y="496061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172968" y="4974335"/>
            <a:ext cx="1263439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491271" y="495604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117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66928" y="512063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Kimchi Ramyun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172968" y="5134355"/>
            <a:ext cx="127423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02070" y="511606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118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5262371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03504" y="527608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Vegetable/Spicy/Beef/Chicken 113 г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172968" y="5294375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468803" y="5294375"/>
            <a:ext cx="221948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690751" y="5294375"/>
            <a:ext cx="432892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" y="5426963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141 ₴  ·  6 палет 181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66928" y="5554979"/>
            <a:ext cx="5440680" cy="292608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3504" y="556869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Gouda Cheese 123 г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172968" y="5586983"/>
            <a:ext cx="1295835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468803" y="5586983"/>
            <a:ext cx="455453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924256" y="5586983"/>
            <a:ext cx="49949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03504" y="5719571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6928" y="586587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зі спеціями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172968" y="5879591"/>
            <a:ext cx="1349828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577660" y="586130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125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6928" y="602589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з грибами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172968" y="6039611"/>
            <a:ext cx="1386543" cy="9601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614375" y="602132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128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44368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592285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40203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888121" y="6208775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236208" y="1645920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130 Г · 9 ПОЗИЦІЙ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236208" y="1828800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89–205 ₴ · до 120 ₴ включно: 6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842248" y="2048256"/>
            <a:ext cx="5486" cy="1869948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105556" y="2020824"/>
            <a:ext cx="13716" cy="190652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236208" y="208026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Stir-Fry із сиром гостра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842248" y="2093976"/>
            <a:ext cx="941701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838813" y="207568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89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236208" y="224942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Bibim Men в корейському ст…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842248" y="2263140"/>
            <a:ext cx="1057033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954145" y="22448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100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236208" y="241858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Stir fried з куркою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842248" y="2432304"/>
            <a:ext cx="1103060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000172" y="241401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104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236208" y="258775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Ottogi · Jin Jjambbong Ramen з море…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842248" y="2601468"/>
            <a:ext cx="1190352" cy="105155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87464" y="2583180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236208" y="2756916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Carbonara куряча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842248" y="2770632"/>
            <a:ext cx="1201991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099103" y="2752344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114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36208" y="292608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Ramen з сиром гостра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842248" y="2939796"/>
            <a:ext cx="1217863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114975" y="292150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115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36208" y="3076956"/>
            <a:ext cx="5394960" cy="310896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272784" y="3090672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1" spc="-10">
                <a:solidFill>
                  <a:srgbClr val="C4820A"/>
                </a:solidFill>
                <a:latin typeface="Segoe UI"/>
              </a:rPr>
              <a:t>SIAS · Carbonara Spicy 131 г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842248" y="3108960"/>
            <a:ext cx="1269709" cy="10972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111957" y="3108960"/>
            <a:ext cx="446271" cy="109728"/>
          </a:xfrm>
          <a:prstGeom prst="rect">
            <a:avLst/>
          </a:prstGeom>
          <a:solidFill>
            <a:srgbClr val="FCD6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558228" y="3108960"/>
            <a:ext cx="489420" cy="109728"/>
          </a:xfrm>
          <a:prstGeom prst="rect">
            <a:avLst/>
          </a:prstGeom>
          <a:solidFill>
            <a:srgbClr val="E1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272784" y="3241548"/>
            <a:ext cx="53035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20" b="0" spc="-10">
                <a:solidFill>
                  <a:srgbClr val="717890"/>
                </a:solidFill>
                <a:latin typeface="Segoe UI"/>
              </a:rPr>
              <a:t>ціль 120 ₴  ·  зараз: 33 палети 162 ₴  ·  6 палет 208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36208" y="3406140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гостра з сиром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842248" y="3419856"/>
            <a:ext cx="147074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367859" y="3401568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139 ₴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36208" y="3575304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Шин Black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842248" y="3589020"/>
            <a:ext cx="1748390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10645502" y="35707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165 ₴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236208" y="3744468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Shin Ramyun Black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842248" y="3758184"/>
            <a:ext cx="2171732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1068844" y="3739896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205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613648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9248502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883357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518212" y="3936491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236208" y="4101083"/>
            <a:ext cx="5394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1" spc="-10">
                <a:solidFill>
                  <a:srgbClr val="303A5D"/>
                </a:solidFill>
                <a:latin typeface="Segoe UI"/>
              </a:rPr>
              <a:t>ПАКЕТ 140 Г · 6 ПОЗИЦІЙ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36208" y="4283964"/>
            <a:ext cx="5394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80" b="0" spc="-10">
                <a:solidFill>
                  <a:srgbClr val="717890"/>
                </a:solidFill>
                <a:latin typeface="Segoe UI"/>
              </a:rPr>
              <a:t>103–138 ₴ · до 120 ₴ включно: 3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8842248" y="4503420"/>
            <a:ext cx="5486" cy="105156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0105556" y="4475988"/>
            <a:ext cx="13716" cy="108813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236208" y="453542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Chacharoni зі смаком чорни…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842248" y="4549140"/>
            <a:ext cx="1087717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984829" y="453085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103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4704587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Buldak Jjajang зі смаком г…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842248" y="4718303"/>
            <a:ext cx="114802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045141" y="4700015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108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236208" y="4873751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Nongshim · Chapaghetti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8842248" y="4887467"/>
            <a:ext cx="1269709" cy="10515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0166821" y="4869179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120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236208" y="5042915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Paldo · Volcano Chicken з куркою д…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842248" y="5056631"/>
            <a:ext cx="1301452" cy="1051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0198564" y="5038343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123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36208" y="5212079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дуже гостра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842248" y="5225795"/>
            <a:ext cx="1445352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342464" y="5207507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137 ₴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236208" y="5381243"/>
            <a:ext cx="25603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90" b="0" spc="-10">
                <a:solidFill>
                  <a:srgbClr val="303A5D"/>
                </a:solidFill>
                <a:latin typeface="Segoe UI"/>
              </a:rPr>
              <a:t>Samyang · зі смаком курки гостра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842248" y="5394959"/>
            <a:ext cx="1458049" cy="105155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0355161" y="537667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303A5D"/>
                </a:solidFill>
                <a:latin typeface="Segoe UI"/>
              </a:rPr>
              <a:t>138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613648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248502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9883357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518212" y="5573267"/>
            <a:ext cx="457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66928" y="65105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медіанна ціна пачки по мережах, де позиція є. Червона лінія — 120 ₴. SIAS: поточна полиця за фінмоделлю, маржа 30 %.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КОНКУРЕНТИ · НИЖЧЕ 120 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Ключові конкуренти продаються нижче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ДІАПАЗОН ЦІНИ ПАЧКИ ПО МЕРЕЖАХ, 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645920"/>
            <a:ext cx="146304" cy="12801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627632"/>
            <a:ext cx="15316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дешевше за ціль 120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74036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5204" y="1627632"/>
            <a:ext cx="11201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дорожче за ціль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06587" y="2167128"/>
            <a:ext cx="568462" cy="3749039"/>
          </a:xfrm>
          <a:prstGeom prst="rect">
            <a:avLst/>
          </a:prstGeom>
          <a:solidFill>
            <a:srgbClr val="FDF0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60453" y="2167128"/>
            <a:ext cx="730595" cy="3749039"/>
          </a:xfrm>
          <a:prstGeom prst="rect">
            <a:avLst/>
          </a:prstGeom>
          <a:solidFill>
            <a:srgbClr val="F6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47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4038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7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59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626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194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9204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781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43499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9380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506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59" y="2212848"/>
            <a:ext cx="5486" cy="3703320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5961888"/>
            <a:ext cx="5486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spc="-1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224942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2× spicy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323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10 мереж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7691" y="2322576"/>
            <a:ext cx="88856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66260" y="232257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3291" y="222199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8971" y="239572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36082" y="222199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6082" y="23957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266090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Chapaghetti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284378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6 мереж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51300" y="2734056"/>
            <a:ext cx="814959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66260" y="2734056"/>
            <a:ext cx="42062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36900" y="263347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89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62580" y="28072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1747" y="26334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136 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1747" y="280720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307238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Hot Chicken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3255263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140 г · 7 мереж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3828" y="3145536"/>
            <a:ext cx="712431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66260" y="3145536"/>
            <a:ext cx="946403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39428" y="304495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93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65108" y="321868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«Торба»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67527" y="304495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67527" y="321868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" y="34838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тушкована курка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366674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145 г · 7 мереж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669601" y="3557016"/>
            <a:ext cx="69665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366260" y="3557016"/>
            <a:ext cx="168249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55201" y="345643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94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80881" y="36301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3620" y="34564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184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03620" y="363016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38953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Рамен зі спеціями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07822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7 мереж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95262" y="396849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66260" y="3968496"/>
            <a:ext cx="236600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880862" y="386791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06542" y="404164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57724" y="386791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129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7724" y="404164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430682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Kimchi Ramyun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448970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120 г · 9 мереж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795262" y="4379976"/>
            <a:ext cx="570997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366260" y="4379976"/>
            <a:ext cx="105155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80862" y="427939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98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06542" y="445312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526279" y="427939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124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26279" y="445312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NOVUS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471830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Samyang Buldak з сиром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66928" y="490118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9 мереж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37851" y="4791456"/>
            <a:ext cx="52840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66260" y="4791456"/>
            <a:ext cx="81495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923451" y="469087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100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49131" y="486460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6082" y="469087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6082" y="486460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«Восторг»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512978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Paldo Volcano Carbonara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66928" y="531266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130 г · 3 мереж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979811" y="5202936"/>
            <a:ext cx="386448" cy="1828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66260" y="5202936"/>
            <a:ext cx="2628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65411" y="5102352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1E9EA6"/>
                </a:solidFill>
                <a:latin typeface="Segoe UI"/>
              </a:rPr>
              <a:t>105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791091" y="527608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47412" y="510235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121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447412" y="527608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6928" y="554126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Nongshim Toomba Spicy &amp; Creamy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5724144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137 г · 7 мереж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658067" y="5614416"/>
            <a:ext cx="602018" cy="18288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43667" y="5513831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131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469347" y="5687568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«ЧудоМаркет»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314949" y="5513831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60" b="1" spc="-10">
                <a:solidFill>
                  <a:srgbClr val="303A5D"/>
                </a:solidFill>
                <a:latin typeface="Segoe UI"/>
              </a:rPr>
              <a:t>154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14949" y="5687568"/>
            <a:ext cx="1005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-1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358944" y="2167128"/>
            <a:ext cx="16459" cy="3776472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451860" y="1965960"/>
            <a:ext cx="8686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780" b="1" spc="-10">
                <a:solidFill>
                  <a:srgbClr val="B53A3A"/>
                </a:solidFill>
                <a:latin typeface="Segoe UI"/>
              </a:rPr>
              <a:t>ціль 120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924875" y="196596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C4820A"/>
                </a:solidFill>
                <a:latin typeface="Segoe UI"/>
              </a:rPr>
              <a:t>зараз · 33 палети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978741" y="1965960"/>
            <a:ext cx="1463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60" b="1" spc="-10">
                <a:solidFill>
                  <a:srgbClr val="B53A3A"/>
                </a:solidFill>
                <a:latin typeface="Segoe UI"/>
              </a:rPr>
              <a:t>зараз · 6 палет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001000" y="138988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АКЦІЇ: ЗВИЧАЙНА ЦІНА → АКЦІЙНА, ₴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001000" y="1645920"/>
            <a:ext cx="146304" cy="128016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02168" y="16276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звичайна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16568" y="1645920"/>
            <a:ext cx="146304" cy="12801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317736" y="1627632"/>
            <a:ext cx="5715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spc="-10">
                <a:solidFill>
                  <a:srgbClr val="303A5D"/>
                </a:solidFill>
                <a:latin typeface="Segoe UI"/>
              </a:rPr>
              <a:t>акційна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01000" y="208483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курка та сир · 140 г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01000" y="2286000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903016" y="22677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001000" y="245059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528365" y="243230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01000" y="272491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Buldak карбонара · 130 г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01000" y="2926079"/>
            <a:ext cx="284715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903016" y="2907791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174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001000" y="3090671"/>
            <a:ext cx="147250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528365" y="307238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90 ₴  (−48 %) · «Сільпо»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001000" y="3364991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Ramen зі смаком курки з… · 135 г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001000" y="3566160"/>
            <a:ext cx="2909332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965196" y="354787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178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001000" y="3730752"/>
            <a:ext cx="1775379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831243" y="3712463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108 ₴  (−39 %) · Ашан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400507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Samyang · зі смаком курки гостра · 140 г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001000" y="4206240"/>
            <a:ext cx="2364445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20309" y="418795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144 ₴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001000" y="4370832"/>
            <a:ext cx="1520117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75981" y="435254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93 ₴  (−36 %) · «Торба»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001000" y="46451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Nongshim · Soon Veggie Ramyun овоч… · 112 г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01000" y="4846320"/>
            <a:ext cx="1564297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620161" y="482803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01000" y="5010912"/>
            <a:ext cx="1202676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58540" y="499262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74 ₴  (−23 %) · Ашан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001000" y="528523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Ottogi · Jin Jjambbong Ramen з м… · 130 г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8001000" y="5486400"/>
            <a:ext cx="2393899" cy="137160"/>
          </a:xfrm>
          <a:prstGeom prst="rect">
            <a:avLst/>
          </a:prstGeom>
          <a:solidFill>
            <a:srgbClr val="9AA1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449763" y="5468112"/>
            <a:ext cx="5486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001000" y="5650992"/>
            <a:ext cx="1840831" cy="13716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896695" y="5632704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C4820A"/>
                </a:solidFill>
                <a:latin typeface="Segoe UI"/>
              </a:rPr>
              <a:t>112 ₴  (−23 %) · Ашан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66928" y="6437376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720" b="0" spc="-10">
                <a:solidFill>
                  <a:srgbClr val="9FA9C4"/>
                </a:solidFill>
                <a:latin typeface="Segoe UI"/>
              </a:rPr>
              <a:t>Каталоги мереж 29.09.2026: ціна позиції в мережі (медіана по магазинах); «стара ціна» віддається не всіма мережами, тому акцій насправді більше. Смуги — наша поточна полиця: Vegetable/Spicy/Beef/Chicken (нижня межа) і Gouda/Carbonara (верхня).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33 ПАЛЕТИ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33 палети: закупівля €0,65–0,75 → €0,54,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140,55 / 162,18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+17…35 %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1E9EA6"/>
                </a:solidFill>
                <a:latin typeface="Segoe UI"/>
              </a:rPr>
              <a:t>€0,54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−17 % / −28 %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маржа 30 % · собівартість 38,53 ₴ · запас до 120 ₴: 0,14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СС ÷ 0,45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25 %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Наш прибуток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30 % ціни партнеру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45,18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€0,882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100,40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€1,961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25,10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€0,490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30,12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€0,588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40,16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€0,784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140,55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€2,745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52,13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€1,018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115,84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€2,263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28,96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€0,566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34,75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€0,679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46,34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€0,905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162,18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€3,168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€0,54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27,65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€0,540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38,53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85,62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€1,672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21,40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€0,418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25,68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€0,502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34,25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119,86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€2,341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−5,63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−6,65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−€0,130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−14,78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−€0,289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−3,69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−€0,072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−4,43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−€0,087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−5,91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−€0,115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−20,69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−€0,404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€0,54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−17 %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€0,54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−28 %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25 % − маржа 30 %), полиця = ціна партнеру × 1,40; усі ціни з ПДВ, за пачку. Собівартість «до» — з Self-Cost; «після» — за запитом €0,54. Джерело: RAMEN_FINMODEL_4_TABS, вкладка «Цена 120 грн — 33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607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60704"/>
            <a:ext cx="12191695" cy="5486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37744"/>
            <a:ext cx="1389888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4288" y="310896"/>
            <a:ext cx="8503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spc="-10">
                <a:solidFill>
                  <a:srgbClr val="FFC95C"/>
                </a:solidFill>
                <a:latin typeface="Segoe UI"/>
              </a:rPr>
              <a:t>ФІНМОДЕЛЬ · 6 ПАЛЕТ · ФІНАЛЬНІ ЦИФРИ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04288" y="54864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spc="-10">
                <a:solidFill>
                  <a:srgbClr val="FFFFFF"/>
                </a:solidFill>
                <a:latin typeface="Segoe UI"/>
              </a:rPr>
              <a:t>6 палет: закупівля €0,65–0,75 → €0,32, полиця 120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402336"/>
            <a:ext cx="102412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 spc="-1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ЗАРАЗ ·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B53A3A"/>
                </a:solidFill>
                <a:latin typeface="Segoe UI"/>
              </a:rPr>
              <a:t>180,64 / 208,43 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закупівля €0,65 / €0,75 · +51…74 % до цілі 120 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298448"/>
            <a:ext cx="45720" cy="932688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ЗАПИТ ДО SIAS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spc="-10">
                <a:solidFill>
                  <a:srgbClr val="B53A3A"/>
                </a:solidFill>
                <a:latin typeface="Segoe UI"/>
              </a:rPr>
              <a:t>€0,32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−51 % / −57 % від теперішньої закупівлі (одна ціна для 6 SKU)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65007" y="1298448"/>
            <a:ext cx="3566160" cy="9326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7" y="1298448"/>
            <a:ext cx="45720" cy="93268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7" y="1371600"/>
            <a:ext cx="3200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-10">
                <a:solidFill>
                  <a:srgbClr val="717890"/>
                </a:solidFill>
                <a:latin typeface="Segoe UI"/>
              </a:rPr>
              <a:t>ПІСЛЯ · ПОЛИЦЯ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7" y="15544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7" y="19659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-10">
                <a:solidFill>
                  <a:srgbClr val="717890"/>
                </a:solidFill>
                <a:latin typeface="Segoe UI"/>
              </a:rPr>
              <a:t>маржа 30 % · собівартість 38,16 ₴ · запас до 120 ₴: 1,28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2395728"/>
            <a:ext cx="1170432" cy="512064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Закупівля SIAS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125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BBE1E4"/>
                </a:solidFill>
                <a:latin typeface="Segoe UI"/>
              </a:rPr>
              <a:t>ціна пачки, 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61688" y="2395728"/>
            <a:ext cx="1170432" cy="512064"/>
          </a:xfrm>
          <a:prstGeom prst="rect">
            <a:avLst/>
          </a:prstGeom>
          <a:solidFill>
            <a:srgbClr val="4653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9826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9826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C7CBD9"/>
                </a:solidFill>
                <a:latin typeface="Segoe UI"/>
              </a:rPr>
              <a:t>повна, в Україні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68696" y="2395728"/>
            <a:ext cx="1170432" cy="5120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05272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05272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9FA9C4"/>
                </a:solidFill>
                <a:latin typeface="Segoe UI"/>
              </a:rPr>
              <a:t>СС ÷ 0,45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75704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Бонус мережі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25 % ціни партнеру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82712" y="2395728"/>
            <a:ext cx="1170432" cy="5120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19288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Наш прибуток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DD9B5"/>
                </a:solidFill>
                <a:latin typeface="Segoe UI"/>
              </a:rPr>
              <a:t>30 % ціни партнеру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89720" y="2395728"/>
            <a:ext cx="1170432" cy="512064"/>
          </a:xfrm>
          <a:prstGeom prst="rect">
            <a:avLst/>
          </a:prstGeom>
          <a:solidFill>
            <a:srgbClr val="7C8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26296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Націнка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296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D7DAE4"/>
                </a:solidFill>
                <a:latin typeface="Segoe UI"/>
              </a:rPr>
              <a:t>магазину · +40 %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96728" y="2395728"/>
            <a:ext cx="1170432" cy="512064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33304" y="2487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spc="-10">
                <a:solidFill>
                  <a:srgbClr val="FFFFFF"/>
                </a:solidFill>
                <a:latin typeface="Segoe UI"/>
              </a:rPr>
              <a:t>ПОЛИЦЯ з ПДВ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4" y="2697480"/>
            <a:ext cx="10972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E8C3C3"/>
                </a:solidFill>
                <a:latin typeface="Segoe UI"/>
              </a:rPr>
              <a:t>партнеру × 1,40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96265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303580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4 SKU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26440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Vegetable, Spicy, Beef, Chicken · закупівля €0,65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5468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5468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468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5468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33,28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€0,650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61688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61688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61688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6168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58,06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6168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€1,134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68696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8696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568696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68696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129,03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68696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€2,520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75704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75704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75704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775704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32,26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4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€0,630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82712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982712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982712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82712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38,71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982712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296265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189720" y="296265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189720" y="346557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51,61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189720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€1,008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396728" y="296265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96728" y="301752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180,64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6728" y="327355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€3,528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66928" y="3511296"/>
            <a:ext cx="2542032" cy="512063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58368" y="358444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1C2235"/>
                </a:solidFill>
                <a:latin typeface="Segoe UI"/>
              </a:rPr>
              <a:t>ДО · 2 SKU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58368" y="381304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Gouda, Carbonara · закупівля €0,75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15468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5468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5468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15468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38,40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5468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€0,750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361688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361688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361688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168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67,00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6168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€1,309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568696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5568696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568696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68696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148,88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68696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€2,908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775704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75704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75704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775704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37,22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75704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€0,727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82712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982712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982712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982712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44,66 ₴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82712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€0,872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89720" y="3511296"/>
            <a:ext cx="1170432" cy="5120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189720" y="351129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189720" y="4014216"/>
            <a:ext cx="1170432" cy="9144"/>
          </a:xfrm>
          <a:prstGeom prst="rect">
            <a:avLst/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189720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59,55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189720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€1,163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396728" y="3511296"/>
            <a:ext cx="1170432" cy="512063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96728" y="356616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B53A3A"/>
                </a:solidFill>
                <a:latin typeface="Segoe UI"/>
              </a:rPr>
              <a:t>208,43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396728" y="382219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€4,071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66928" y="4059936"/>
            <a:ext cx="25420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8368" y="4133088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-10">
                <a:solidFill>
                  <a:srgbClr val="303A5D"/>
                </a:solidFill>
                <a:latin typeface="Segoe UI"/>
              </a:rPr>
              <a:t>ПІСЛЯ · запит SIAS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58368" y="4361688"/>
            <a:ext cx="2395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усі 6 SKU · закупівля €0,32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5468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5468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16,38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5468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€0,320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36168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36168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38,16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36168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€0,745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568696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68696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84,80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568696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€1,656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775704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75704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21,20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75704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€0,414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982712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982712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25,44 ₴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982712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€0,497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189720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189720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spc="-10">
                <a:solidFill>
                  <a:srgbClr val="303A5D"/>
                </a:solidFill>
                <a:latin typeface="Segoe UI"/>
              </a:rPr>
              <a:t>33,92 ₴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189720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€0,662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396728" y="4059936"/>
            <a:ext cx="1170432" cy="512063"/>
          </a:xfrm>
          <a:prstGeom prst="rect">
            <a:avLst/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396728" y="4114800"/>
            <a:ext cx="117043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spc="-10">
                <a:solidFill>
                  <a:srgbClr val="1E9EA6"/>
                </a:solidFill>
                <a:latin typeface="Segoe UI"/>
              </a:rPr>
              <a:t>118,72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396728" y="4370832"/>
            <a:ext cx="117043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40" b="0" spc="-10">
                <a:solidFill>
                  <a:srgbClr val="717890"/>
                </a:solidFill>
                <a:latin typeface="Segoe UI"/>
              </a:rPr>
              <a:t>€2,319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66928" y="4608576"/>
            <a:ext cx="25420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58368" y="470916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40" b="1" spc="-10">
                <a:solidFill>
                  <a:srgbClr val="B53A3A"/>
                </a:solidFill>
                <a:latin typeface="Segoe UI"/>
              </a:rPr>
              <a:t>ЗМІНА · ПІСЛЯ − ДО (4 SKU)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15468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315468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−16,90 ₴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5468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−€0,330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36168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6168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−19,90 ₴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36168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−€0,389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568696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568696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−44,23 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−€0,864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775704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5704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−11,06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5704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−€0,216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982712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2712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−13,27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982712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−€0,259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189720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9189720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−17,69 ₴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9189720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−€0,346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396728" y="4608576"/>
            <a:ext cx="1170432" cy="365760"/>
          </a:xfrm>
          <a:prstGeom prst="rect">
            <a:avLst/>
          </a:prstGeom>
          <a:solidFill>
            <a:srgbClr val="F8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396728" y="464515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40" b="1" spc="-10">
                <a:solidFill>
                  <a:srgbClr val="B53A3A"/>
                </a:solidFill>
                <a:latin typeface="Segoe UI"/>
              </a:rPr>
              <a:t>−61,92 ₴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396728" y="4809744"/>
            <a:ext cx="117043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−€1,209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66928" y="5084064"/>
            <a:ext cx="5486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19" b="1" spc="-10">
                <a:solidFill>
                  <a:srgbClr val="303A5D"/>
                </a:solidFill>
                <a:latin typeface="Segoe UI"/>
              </a:rPr>
              <a:t>ЗАКУПІВЛЯ SIAS ПО ПОЗИЦІЯХ · ЗАРАЗ → ЗАПИТ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669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5669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836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Vegetable Flavor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836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836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0" name="Rounded Rectangle 169"/>
          <p:cNvSpPr/>
          <p:nvPr/>
        </p:nvSpPr>
        <p:spPr>
          <a:xfrm>
            <a:off x="181051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81051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241858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41858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51002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Spicy Flavor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51002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112,5 г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51002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366217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366217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27024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427024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4361688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Beef Flavor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361688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4361688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551383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51383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2190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12190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621334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Chicken Flavor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21334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113 г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21334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€0,65 → €0,32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7365492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7365492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−51 %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7973567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7973567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06500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Gouda Cheese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06500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123 г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6500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921715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21715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825228" y="5303520"/>
            <a:ext cx="1764792" cy="7315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825228" y="5303520"/>
            <a:ext cx="1764792" cy="36576"/>
          </a:xfrm>
          <a:prstGeom prst="rect">
            <a:avLst/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916667" y="5394960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1" spc="-10">
                <a:solidFill>
                  <a:srgbClr val="303A5D"/>
                </a:solidFill>
                <a:latin typeface="Segoe UI"/>
              </a:rPr>
              <a:t>Carbonara Spicy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916667" y="5559552"/>
            <a:ext cx="16002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 spc="-10">
                <a:solidFill>
                  <a:srgbClr val="717890"/>
                </a:solidFill>
                <a:latin typeface="Segoe UI"/>
              </a:rPr>
              <a:t>131 г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9916667" y="572414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spc="-10">
                <a:solidFill>
                  <a:srgbClr val="1C2235"/>
                </a:solidFill>
                <a:latin typeface="Segoe UI"/>
              </a:rPr>
              <a:t>€0,75 → €0,32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1068811" y="5742432"/>
            <a:ext cx="457200" cy="201168"/>
          </a:xfrm>
          <a:prstGeom prst="roundRect">
            <a:avLst>
              <a:gd name="adj" fmla="val 30000"/>
            </a:avLst>
          </a:prstGeom>
          <a:solidFill>
            <a:srgbClr val="B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1068811" y="5769864"/>
            <a:ext cx="457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spc="-10">
                <a:solidFill>
                  <a:srgbClr val="FFFFFF"/>
                </a:solidFill>
                <a:latin typeface="Segoe UI"/>
              </a:rPr>
              <a:t>−57 %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spc="-10">
                <a:solidFill>
                  <a:srgbClr val="9FA9C4"/>
                </a:solidFill>
                <a:latin typeface="Segoe UI"/>
              </a:rPr>
              <a:t>Курс 51,20 ₴/€. Ціна партнеру = СС ÷ (1 − бонус 25 % − маржа 30 %), полиця = ціна партнеру × 1,40; усі ціни з ПДВ, за пачку. Собівартість «до» — з Self-Cost; «після» — за запитом €0,32. Джерело: RAMEN_FINMODEL_4_TABS, вкладка «Цена 120 грн — 6 паллет». Згоди SIAS немає — ціна для переговорів.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5856</Words>
  <Application>Microsoft Office PowerPoint</Application>
  <PresentationFormat>Широкий екран</PresentationFormat>
  <Paragraphs>1760</Paragraphs>
  <Slides>27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27</vt:i4>
      </vt:variant>
    </vt:vector>
  </HeadingPairs>
  <TitlesOfParts>
    <vt:vector size="31" baseType="lpstr">
      <vt:lpstr>Arial</vt:lpstr>
      <vt:lpstr>Calibri</vt:lpstr>
      <vt:lpstr>Segoe UI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Чаплигін lлля</cp:lastModifiedBy>
  <cp:revision>2</cp:revision>
  <dcterms:created xsi:type="dcterms:W3CDTF">2013-01-27T09:14:16Z</dcterms:created>
  <dcterms:modified xsi:type="dcterms:W3CDTF">2026-10-06T15:06:11Z</dcterms:modified>
  <cp:category/>
</cp:coreProperties>
</file>