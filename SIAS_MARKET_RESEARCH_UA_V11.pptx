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2"/>
    <p:sldId id="258" r:id="rId3"/>
    <p:sldId id="286" r:id="rId4"/>
    <p:sldId id="260" r:id="rId5"/>
    <p:sldId id="287" r:id="rId6"/>
    <p:sldId id="288" r:id="rId7"/>
    <p:sldId id="289" r:id="rId8"/>
    <p:sldId id="290" r:id="rId9"/>
    <p:sldId id="291" r:id="rId10"/>
    <p:sldId id="265" r:id="rId11"/>
    <p:sldId id="292" r:id="rId12"/>
    <p:sldId id="293" r:id="rId13"/>
    <p:sldId id="294" r:id="rId14"/>
    <p:sldId id="295" r:id="rId15"/>
    <p:sldId id="270" r:id="rId16"/>
    <p:sldId id="296" r:id="rId17"/>
    <p:sldId id="297" r:id="rId18"/>
    <p:sldId id="298" r:id="rId19"/>
    <p:sldId id="299" r:id="rId20"/>
    <p:sldId id="300" r:id="rId21"/>
    <p:sldId id="301" r:id="rId22"/>
    <p:sldId id="303" r:id="rId23"/>
    <p:sldId id="304" r:id="rId24"/>
    <p:sldId id="280" r:id="rId25"/>
    <p:sldId id="305" r:id="rId26"/>
    <p:sldId id="306" r:id="rId27"/>
    <p:sldId id="309" r:id="rId35"/>
    <p:sldId id="310" r:id="rId36"/>
    <p:sldId id="31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3.jpg"/><Relationship Id="rId8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3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9.jpg"/><Relationship Id="rId12" Type="http://schemas.openxmlformats.org/officeDocument/2006/relationships/image" Target="../media/image19.jpg"/><Relationship Id="rId13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19.jpg"/><Relationship Id="rId8" Type="http://schemas.openxmlformats.org/officeDocument/2006/relationships/image" Target="../media/image10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11.jpg"/><Relationship Id="rId6" Type="http://schemas.openxmlformats.org/officeDocument/2006/relationships/image" Target="../media/image6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jpg"/><Relationship Id="rId9" Type="http://schemas.openxmlformats.org/officeDocument/2006/relationships/image" Target="../media/image43.jpg"/><Relationship Id="rId10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2.jpg"/><Relationship Id="rId8" Type="http://schemas.openxmlformats.org/officeDocument/2006/relationships/image" Target="../media/image4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Relationship Id="rId8" Type="http://schemas.openxmlformats.org/officeDocument/2006/relationships/image" Target="../media/image45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46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4.jpg"/><Relationship Id="rId10" Type="http://schemas.openxmlformats.org/officeDocument/2006/relationships/image" Target="../media/image47.jpg"/><Relationship Id="rId11" Type="http://schemas.openxmlformats.org/officeDocument/2006/relationships/image" Target="../media/image61.jpg"/><Relationship Id="rId12" Type="http://schemas.openxmlformats.org/officeDocument/2006/relationships/image" Target="../media/image6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2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4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7.jpg"/><Relationship Id="rId10" Type="http://schemas.openxmlformats.org/officeDocument/2006/relationships/image" Target="../media/image70.jpg"/><Relationship Id="rId11" Type="http://schemas.openxmlformats.org/officeDocument/2006/relationships/image" Target="../media/image7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1.jpg"/><Relationship Id="rId5" Type="http://schemas.openxmlformats.org/officeDocument/2006/relationships/image" Target="../media/image79.jpg"/><Relationship Id="rId6" Type="http://schemas.openxmlformats.org/officeDocument/2006/relationships/image" Target="../media/image78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C4820A"/>
                </a:solidFill>
                <a:latin typeface="Segoe UI"/>
              </a:rPr>
              <a:t>ДОСЛІДЖЕННЯ РИНКУ ТА ПОЗИЦІОНУВАННЯ · ЖОВТЕНЬ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Корейський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рамен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в Україні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локшини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ОБСЯГ ІМПОРТУ,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239,7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увесь рік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711,6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ІНВОЙС, МЛН ДОЛАРІВ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$1,02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$3,20 млн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МИТНА БАЗА · ПОХОДЖЕННЯ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Звідки їде локшина: усі напрямки ввозу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Січень–травень 2026 · вага нетто, тонн · частка в загальному ввозі 838,5 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СТРУКТУРА ВВОЗУ,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19,9 %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14,1 %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10,4 %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7,0 %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5,8 %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29,9 %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 КРАЇНАХ ПОХОДЖЕННЯ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В’єтнам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166,7 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19,9 %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118,5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14,1 %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Румунія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86,9 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10,4 %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58,6 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7,0 %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Латвія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57,3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50,8 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48,8 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5,8 %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Інші країни разом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250,9 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29,9 %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00. «Інші країни» — одним рядком: розбивки за країнами в базі немає.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Сегментація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67–209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105–145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106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72–198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62–120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34–195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СЕГМЕНТ × ЦІНОВА СМУГА · ПОЗИЦІЙ, грн за пачку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до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УСЬОГО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з бульйоном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41 SKU · медіана 95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із соусом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30 SKU · медіана 106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· медіана 104 грн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найбільший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Основна частина корейської полиці: локшина й порошковий бульйон, вариться в каструлі.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 брендів у 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46 %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67–209 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7 з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218687"/>
            <a:ext cx="173736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396995"/>
            <a:ext cx="1520189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575303"/>
            <a:ext cx="108585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753611"/>
            <a:ext cx="86868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931920"/>
            <a:ext cx="21717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597510"/>
            <a:ext cx="566928" cy="4075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342785"/>
            <a:ext cx="566928" cy="66228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22592" y="3159905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3" y="3801291"/>
            <a:ext cx="566928" cy="2037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81544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31936" y="3291839"/>
            <a:ext cx="566928" cy="7132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40496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99448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058400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08792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817352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1 з 4 — 68–85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68–72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144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67–85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Таврія 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129 г · Ашан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103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102 г · Ашан · Зараз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2 з 4 — 88–98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74–102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112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124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87–93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Таврія 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74–122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Ашан · Onde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3 з 4 — 104–117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 · Зараз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108–169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135 г · Ашан · Grono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99–124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Клас · METRO +2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4 з 4 — 118–205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98–124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ЧудоМаркет · Космос · G…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112–130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125–135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Клас · Onde · Восторг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116–142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123 г · Ашан · Grono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165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METRO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30 позицій, медіана 106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 брендів у 12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34 %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72–198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11 з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105–145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89530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1579418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1263534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3753611"/>
            <a:ext cx="63176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5648" y="3931920"/>
            <a:ext cx="315883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46576"/>
            <a:ext cx="566928" cy="1584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366369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4032" y="3291839"/>
            <a:ext cx="566928" cy="7132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22592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3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81544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1936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40496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0888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99448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767328"/>
            <a:ext cx="566928" cy="2377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58400" y="35844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08792" y="3925823"/>
            <a:ext cx="566928" cy="79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817352" y="3742943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1 з 3 — 78–89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1798" y="2409444"/>
            <a:ext cx="1609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138 г · 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2 з 3 — 89–123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136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90–115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Зараз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86–123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105–121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 · Onde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89–136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Клас · METRO +3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84–123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Grono · Onde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3 з 3 — 125–198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Космос · Таврія 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94–184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145 г · Ашан · ЧудоМаркет · Кос…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86–151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ЧудоМаркет · Кос…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Космос · 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131–154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Ашан · ЧудоМаркет · Gro…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157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Восторг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заливається окропом, без плити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брендів у 8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20 %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34–195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3 з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5D4B96"/>
                </a:solidFill>
                <a:latin typeface="Segoe UI"/>
              </a:rPr>
              <a:t>62–120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579418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99401"/>
            <a:ext cx="566928" cy="3056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51652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2259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3291839"/>
            <a:ext cx="566928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81544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31936" y="3597510"/>
            <a:ext cx="566928" cy="40756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0496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0888" y="3801291"/>
            <a:ext cx="566928" cy="2037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99448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0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0879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81735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1 з 2 — 65–103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65–86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34–149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Grono · Клас +3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Ашан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2 з 2 — 105–195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137–150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Клас · Таврія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75 г · Grono · METRO · Onde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ЗВЕДЕННЯ · БРЕНДИ ×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Усі бренди в усіх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верхнє число — кількість позицій (SKU) бренду в мережі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нижнє число — медіанна ціна пачки в ₴  ·  чим темніше, тим більше позицій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Ашан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«Зараз»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«Клас»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«Восторг»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«Космос»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«Таврія»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«ЧудоМ.»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«Торба»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«Сільпо»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МЕДІАНА,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 ПАЧКИ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122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62–140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70–145 г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113 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 ₴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105–140 г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101 ₴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67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67–130 г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80 ₴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122–127 г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137,8 г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131 г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89 ₴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108 ₴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88 ₴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134 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₴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 ₴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 ₴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62–145 г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(zakaz.ua) і «Сільпо», 29.09.2026. Клітинка = унікальні EAN × медіана цін по магазинах мережі. «Сільпо» — 4 позиції без EAN (3 Samyang, 1 Nongshim); 93 = 89 позицій з EAN + 4 «Сільпо». Вага — мін.–макс. пачки бренду.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Кількість позицій і медіанна ціна пачки за ваговими смугами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ПОЗИЦІЙ У ВАГОВІЙ СМУЗІ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МЕДІАННА ЦІНА ПАЧКИ,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наші SKU:</a:t>
            </a:r>
          </a:p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112,5–131 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ВАГА НАШИХ SKU — РИНКОВА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70 % усіх позицій ринку.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ЦІНА НАШИХ SKU ПРОТИ ЦИХ СМУГ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При полиці 120 грн наші SKU на 29 % дорожчі за медіану смуги 110–125 г (93 грн), при поточних 140,55 грн — на 51 %.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 корейського рамену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5569" y="151790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6737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51790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1532" y="1517904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270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5193" y="1517904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36361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8854" y="1517904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002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534" y="1517904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870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499616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ЦІНА ПАЧКИ, ₴: мін.–макс. (лінія) · медіана (мітка)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8470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18882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1892807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65960" y="190378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883664"/>
            <a:ext cx="84582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88920" y="1894636"/>
            <a:ext cx="8458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3884" y="1883664"/>
            <a:ext cx="64465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43884" y="1894636"/>
            <a:ext cx="6446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83664"/>
            <a:ext cx="59436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0" y="1894636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1184" y="1883664"/>
            <a:ext cx="443484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01184" y="1894636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3812" y="188366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53812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4980" y="1883664"/>
            <a:ext cx="192024" cy="1664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54980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6148" y="1883664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52159" y="18882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5780" y="1953158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20684" y="18882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497312" y="18882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65–202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18882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1369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2141524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65960" y="2152497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2132380"/>
            <a:ext cx="54406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88920" y="2143353"/>
            <a:ext cx="5440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42132" y="2132380"/>
            <a:ext cx="493776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42132" y="2143353"/>
            <a:ext cx="493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5052" y="2132380"/>
            <a:ext cx="9144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945636" y="2132380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41648" y="213695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9307" y="2201875"/>
            <a:ext cx="1525524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939784" y="2136952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59696" y="213695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67–158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2136952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344521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238566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65960" y="239024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65960" y="240121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2381097"/>
            <a:ext cx="44348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88920" y="2392070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1548" y="2381097"/>
            <a:ext cx="393192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41548" y="239207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3884" y="2381097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43884" y="239207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5635" y="2381097"/>
            <a:ext cx="41148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041647" y="238566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3127" y="2450592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140952" y="2385669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614660" y="2385669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72–209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385669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263438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263895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65960" y="264993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2629814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88920" y="2640787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40963" y="262981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40963" y="26407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42132" y="262981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38727" y="263438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79307" y="2699308"/>
            <a:ext cx="955547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503919" y="263438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89719" y="263438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67–124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263438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88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2841955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0080" y="28831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65960" y="288767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965960" y="28986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878531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88920" y="2889504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40963" y="2878531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140963" y="2889504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8435" y="288310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17508" y="2948025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325356" y="288310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310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288310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1318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965960" y="313639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965960" y="314736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88920" y="3127248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788920" y="3138220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40963" y="3127248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140963" y="313822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435" y="31318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17508" y="3196742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9325356" y="31318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742932" y="31318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27080" y="31318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33393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0080" y="33805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65960" y="338510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965960" y="339608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88920" y="3375964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788920" y="3386937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90672" y="337596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241548" y="3375964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342132" y="3375964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438144" y="33805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26679" y="3445459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073896" y="33805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625583" y="33805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40–150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27080" y="33805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362925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965960" y="363382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965960" y="364479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88920" y="3624681"/>
            <a:ext cx="59436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788920" y="3635654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38144" y="362925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98991" y="3694176"/>
            <a:ext cx="112318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839200" y="362925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877044" y="362925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98–165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27080" y="362925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3836822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40080" y="387797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65960" y="388254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965960" y="389351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88920" y="3873398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788920" y="3884371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90672" y="3873398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241548" y="3873398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342132" y="3873398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438144" y="387797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26679" y="3942892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073896" y="387797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625583" y="387797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34–150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27080" y="387797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41266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965960" y="413125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965960" y="414223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88920" y="4122115"/>
            <a:ext cx="19202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788920" y="41330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90088" y="4122115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140964" y="4122115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236976" y="412668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051036" y="4191609"/>
            <a:ext cx="10896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9275064" y="412668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95560" y="412668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119–184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27080" y="412668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6928" y="433425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40080" y="437540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65960" y="4379976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965960" y="43909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370832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939796" y="4370832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3040379" y="4370832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136391" y="43754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32519" y="4440326"/>
            <a:ext cx="5699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040368" y="4375404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57360" y="437540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100–134 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927080" y="4375404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0080" y="46241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965960" y="462869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965960" y="463966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4619548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2939796" y="4619548"/>
            <a:ext cx="4114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3035808" y="46241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64879" y="4689043"/>
            <a:ext cx="18272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939784" y="46241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0447019" y="46241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90–199 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27080" y="46241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66928" y="4831689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40080" y="487283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65960" y="487740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965960" y="488838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88920" y="4868265"/>
            <a:ext cx="9144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935223" y="487283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5171" y="4937760"/>
            <a:ext cx="301752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8738616" y="487283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8971788" y="487283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93–111 ₴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27080" y="487283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6928" y="508040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40080" y="5121554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717890"/>
                </a:solidFill>
                <a:latin typeface="Segoe UI"/>
              </a:rPr>
              <a:t>МегаМаркет · Ultramarket · ЕКО · Епіцентр · «Ідеал» — 0 позицій у зрізі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0484" y="1819656"/>
            <a:ext cx="14630" cy="327903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8610600" y="171907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171907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692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56692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№1 · «СІЛЬПО»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247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 тримає 4 позиції. Полиця відкрита, але вхід там 90–199 ₴.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1596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431596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№2 · П’ЯТЬ МЕРЕЖ З НУЛЕМ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0288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жодної позиції у зрізі.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065008" y="5961888"/>
            <a:ext cx="356616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8065008" y="5961888"/>
            <a:ext cx="41148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8" y="6400800"/>
            <a:ext cx="3017520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«Космос» і «Таврія В» — по 12 позицій; 12 із них збігаються за EAN.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пачки по каналах і наша поточна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Мін.–макс. (лінія), 25–75 % пропозицій (блок), медіана (риска) · ціна пачки, ₴ · смуги — наша поточна полиця у двох варіантах закупівлі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41985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553712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85674" y="2240280"/>
            <a:ext cx="735980" cy="3447287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50099" y="2240280"/>
            <a:ext cx="945892" cy="3447287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9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696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46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503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3108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1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18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68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25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75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732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2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539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0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4679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54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828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ПРОПОЗИЦІЙ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828800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36829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Національні мережі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56946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5 мереж · Ашан, METRO, NOVUS…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4140" y="2546604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49762" y="2459736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23739" y="2414016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6267" y="229514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3206" y="24871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688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46888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293522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Регіональні мережі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1363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8 мереж · Grono, Onde, «Космос»…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113532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70436" y="3026664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38012" y="2980944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90540" y="28620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476" y="30540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303580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3035808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35021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312" y="3680459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731004" y="3593591"/>
            <a:ext cx="918971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53076" y="354787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05604" y="342900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99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956" y="362102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6027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602736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069079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270247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41852" y="4247387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241544" y="4160519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665724" y="4114799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18252" y="3995927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1252" y="4187951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169663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169663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46360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483717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77996" y="4814316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050283" y="4727448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813780" y="468172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66308" y="4562856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2640" y="47548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73659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736592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" y="520293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404103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4680" y="5381243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113909" y="5294375"/>
            <a:ext cx="1608201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631688" y="5248655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84215" y="5129783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116" y="5321807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035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52760" y="530352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8804" y="2240280"/>
            <a:ext cx="16459" cy="3474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871720" y="203911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3962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3962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C4820A"/>
                </a:solidFill>
                <a:latin typeface="Segoe UI"/>
              </a:rPr>
              <a:t>141–162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8387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8387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B53A3A"/>
                </a:solidFill>
                <a:latin typeface="Segoe UI"/>
              </a:rPr>
              <a:t>181–208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Мережі: каталоги 29.09.2026, медіана ціни позиції в мережі. Фудшопи й Prom.ua: сторінки категорій, жовтень 2026, без наборів дорожче 250 ₴. Смуги: Vegetable/Spicy/Beef/Chicken (нижня межа) і Gouda/Carbonara (верхня межа) за фінмоделлю, бонус мережі 35 %.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ЦІНОВІ РІВНІ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Частка пропозицій за ціною пачки в кожному каналі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Мережі — 89 SKU корейського рамену (пакети й стакани); фудшопи й Prom.ua — рамен зі сторінок категорій, без наборів. Числа в смугах — % пропозицій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100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1517904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9384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0924" y="1517904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2092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1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9" y="1499616"/>
            <a:ext cx="845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понад 140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5179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ЯКІ БРЕНДИ (ПОЗИЦІЙ)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837943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37943"/>
            <a:ext cx="22860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470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56231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56231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058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096719"/>
            <a:ext cx="32766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119579"/>
            <a:ext cx="3276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9760" y="2096719"/>
            <a:ext cx="10668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9760" y="2119579"/>
            <a:ext cx="106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96719"/>
            <a:ext cx="762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42760" y="2096719"/>
            <a:ext cx="1524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95160" y="21058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150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150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17 · Samyang 13 · Paldo 12 · Ottogi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36463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355494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378354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355494"/>
            <a:ext cx="3047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2378354"/>
            <a:ext cx="3047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159" y="2355494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4159" y="2378354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36463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7378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37378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262341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2614269"/>
            <a:ext cx="2671948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637129"/>
            <a:ext cx="26719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95108" y="2614269"/>
            <a:ext cx="1425038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95108" y="2637129"/>
            <a:ext cx="142503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0147" y="2614269"/>
            <a:ext cx="47501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20147" y="2637129"/>
            <a:ext cx="4750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2341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3255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63255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28 · інші 16 · Paldo 15 · Nongshim 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8821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873044"/>
            <a:ext cx="2612571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2895904"/>
            <a:ext cx="261257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5731" y="2873044"/>
            <a:ext cx="1306285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35731" y="2895904"/>
            <a:ext cx="130628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2017" y="2873044"/>
            <a:ext cx="65314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42017" y="2895904"/>
            <a:ext cx="653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28821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913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28913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O'Food 4 · Ottogi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1409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3131819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423160" y="3154679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3131819"/>
            <a:ext cx="1714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66160" y="3154679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80660" y="3131819"/>
            <a:ext cx="190499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471160" y="3131819"/>
            <a:ext cx="1523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1160" y="3154679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31409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31501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1501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8 · Nongshim 6 · Paldo 4 · Ottogi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39973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3390595"/>
            <a:ext cx="993913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3413455"/>
            <a:ext cx="99391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17073" y="3390595"/>
            <a:ext cx="1789043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417073" y="3413455"/>
            <a:ext cx="178904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06116" y="3390595"/>
            <a:ext cx="1391478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06116" y="3413455"/>
            <a:ext cx="139147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97594" y="3390595"/>
            <a:ext cx="397565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97594" y="3413455"/>
            <a:ext cx="3975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339973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4088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34088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18 · Paldo 3 · Nongshim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365851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23160" y="3649370"/>
            <a:ext cx="1333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423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56660" y="3649370"/>
            <a:ext cx="1333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7566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90160" y="3649370"/>
            <a:ext cx="1333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090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23660" y="3649370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423660" y="3672230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95160" y="365851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6765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366765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11 · Samyang 10 · Paldo 2 · fire bull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91728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23160" y="3908145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423160" y="393100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160" y="3908145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947160" y="393100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59" y="3908145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709159" y="3931005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4159" y="3908145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614159" y="3931005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391728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392643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392643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176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23160" y="4166920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423160" y="4189780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47160" y="4166920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947160" y="4189780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59" y="4166920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709159" y="4189780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4159" y="4166920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614159" y="4189780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95160" y="417606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418520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41852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44348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3160" y="4425696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423160" y="444855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47160" y="4425696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947160" y="444855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59" y="4425696"/>
            <a:ext cx="2286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709159" y="4448555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4348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4439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4439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2 · Paldo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9361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3160" y="4684471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423160" y="4707331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68447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709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52160" y="4684471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852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469361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12480" y="47027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47027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495239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3160" y="4943246"/>
            <a:ext cx="1714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423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37660" y="4943246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137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43246"/>
            <a:ext cx="1714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709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23660" y="4943246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23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95160" y="495239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96153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52560" y="496153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10 · Samyang 7 · Ottogi 4 · Nongshim 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21116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423160" y="5202021"/>
            <a:ext cx="571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423160" y="5224881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94660" y="5202021"/>
            <a:ext cx="952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94660" y="5224881"/>
            <a:ext cx="952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47160" y="520202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947160" y="522488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90160" y="5202021"/>
            <a:ext cx="1905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090160" y="5224881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95160" y="521116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22030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52560" y="522030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9 · Paldo 8 · Samyang 6 · Ottogi 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54699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23160" y="5460796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423160" y="5483656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26544" y="5460796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126544" y="5483656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85006" y="5460796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885006" y="5483656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95160" y="54699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47908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52560" y="547908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572871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3160" y="5719572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423160" y="5742431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26544" y="5719572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3126544" y="5742431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85006" y="5719572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885006" y="5742431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95160" y="572871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12480" y="57378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052560" y="57378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5987491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23160" y="5978347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423160" y="6001207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994660" y="5978347"/>
            <a:ext cx="2857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2994660" y="6001207"/>
            <a:ext cx="2857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978347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852160" y="6001207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5987491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12480" y="5996635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2560" y="5996635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4 · Samyang 3 · Paldo 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 — унікальні позиції (EAN) за медіанною ціною в мережі, 29.09.2026; «Сільпо» — 4 позиції. Фудшопи й Prom.ua — сторінки категорій, жовтень 2026 (бренд визначено за назвою; «інші» — не корейські або без бренду).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 · ЦІНА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у «Таврії В»: по чому продавали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Той самий бренд SIAS уже стоїть на українській полиці. Три дати й три рівні цін — щоб порівняти з нашою ціллю та поточною моделлю.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CHOI’S CARBONARA 131 Г · ЦІНА ЗА ПАЧКУ,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акція €1,80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92,2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звичайна €2,20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112,6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29.09.2026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· 29.09.2026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05–06.10 (за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131,50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НАШ SIAS · ціль за моделлю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120,00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33 палети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162,18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6 палет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208,43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ПОРІВНЯННЯ · «ЗАРАЗ» = 33 ПАЛЕТИ, БОНУС МЕРЕЖІ 35 %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Ціна,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125,20 / 131,50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Choi’s 125,20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−4,2 %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+29,5 %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медіани пакета 102,8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+21,8 %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+16,7 %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+57,8 %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Дорожчих у категорії*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13 з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 з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3 з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ПОПУЛЯРНІ ПАКЕТИ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Популярні пакети: кожна позиція та її ціна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12984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C4820A"/>
                </a:solidFill>
                <a:latin typeface="Segoe UI"/>
              </a:rPr>
              <a:t>смуга: ціль 120 → зараз 33 палети → 6 палет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120 Г · 22 ПОЗИЦІЙ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68–128 ₴ · до 120 ₴ включно: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048256"/>
            <a:ext cx="5486" cy="414223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62402" y="2020824"/>
            <a:ext cx="13716" cy="41788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093976"/>
            <a:ext cx="735386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2253996"/>
            <a:ext cx="777501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05333" y="22357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0030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2414015"/>
            <a:ext cx="79369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21531" y="23957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6032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2574035"/>
            <a:ext cx="830414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58246" y="25557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203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2734055"/>
            <a:ext cx="903845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31677" y="27157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28803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Кімчі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2894075"/>
            <a:ext cx="91680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44635" y="28757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0403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3054095"/>
            <a:ext cx="961077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88909" y="30358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003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Hwa Ramyun з гострим перцем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214115"/>
            <a:ext cx="971336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99168" y="31958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3604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Kokomen зі смаком курки го…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72968" y="3374135"/>
            <a:ext cx="993473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21305" y="33558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5204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53415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28864" y="35158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6804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369417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8864" y="36758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8404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854195"/>
            <a:ext cx="1003192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31024" y="38359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004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Otoki · Cheesy Ramen зі смаком сир…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014215"/>
            <a:ext cx="1024789" cy="96011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52621" y="39959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1605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174235"/>
            <a:ext cx="1118197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6029" y="41559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05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72968" y="4334255"/>
            <a:ext cx="1166251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94083" y="43159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05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зі смаком гост…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494275"/>
            <a:ext cx="119324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21080" y="44759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6405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72968" y="4654295"/>
            <a:ext cx="1206746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34578" y="46360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8005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середньог…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814315"/>
            <a:ext cx="1226724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454556" y="47960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9606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72968" y="4974335"/>
            <a:ext cx="126343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91271" y="49560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1206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5134355"/>
            <a:ext cx="127423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02070" y="51160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262371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3504" y="52760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Vegetable/Spicy/Beef/Chicken 113 г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72968" y="5294375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468803" y="5294375"/>
            <a:ext cx="221948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690751" y="5294375"/>
            <a:ext cx="432892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03504" y="5426963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141 ₴  ·  6 палет 181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5554979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3504" y="55686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Gouda Cheese 123 г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72968" y="5586983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468803" y="5586983"/>
            <a:ext cx="455453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924256" y="5586983"/>
            <a:ext cx="49949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3504" y="5719571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86587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879591"/>
            <a:ext cx="134982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77660" y="586130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0258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6039611"/>
            <a:ext cx="138654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614375" y="602132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2285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0203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8121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130 Г · 9 ПОЗИЦІЙ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89–205 ₴ · до 120 ₴ включно: 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48256"/>
            <a:ext cx="5486" cy="186994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105556" y="2020824"/>
            <a:ext cx="13716" cy="19065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 гостра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Bibim Men в корейському ст…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Jjambbong Ramen з море…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 гостра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36208" y="3076956"/>
            <a:ext cx="5394960" cy="3108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272784" y="309067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Carbonara Spicy 131 г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42248" y="3108960"/>
            <a:ext cx="1269709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111957" y="3108960"/>
            <a:ext cx="446271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558228" y="3108960"/>
            <a:ext cx="48942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72784" y="3241548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36208" y="340614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2248" y="3419856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367859" y="340156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36208" y="35753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Шин Black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842248" y="3589020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645502" y="35707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 ₴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36208" y="374446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3758184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1068844" y="3739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3648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4850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883357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821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36208" y="4101083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140 Г · 6 ПОЗИЦІЙ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36208" y="4283964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103–138 ₴ · до 120 ₴ включно: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842248" y="4503420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0105556" y="4475988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236208" y="453542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Chacharoni зі смаком чорни…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42248" y="4549140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984829" y="453085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47045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Buldak Jjajang зі смаком г…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42248" y="4718303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045141" y="4700015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36208" y="4873751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42248" y="4887467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66821" y="4869179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36208" y="504291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Chicken з куркою д…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42248" y="5056631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0198564" y="503834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36208" y="52120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дуже гостра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842248" y="5225795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0342464" y="52075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538124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42248" y="5394959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0355161" y="537667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3648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850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883357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821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медіанна ціна пачки по мережах, де позиція є. Червона лінія — 120 ₴. SIAS: поточна полиця за фінмоделлю, бонус мережі 35 %.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НИЖЧЕ 120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Ключові конкуренти продаються нижче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ДІАПАЗОН ЦІНИ ПАЧКИ ПО МЕРЕЖАХ, 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5316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дешевше за ціль 120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403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5204" y="1627632"/>
            <a:ext cx="1120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дорожче за ціль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6587" y="2167128"/>
            <a:ext cx="568462" cy="3749039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60453" y="2167128"/>
            <a:ext cx="730595" cy="3749039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8892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47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03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5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626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919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81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349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938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506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2494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323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10 мереж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7691" y="2322576"/>
            <a:ext cx="88856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66260" y="232257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63291" y="222199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8971" y="23957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6082" y="222199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6082" y="23957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6609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8437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6 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1300" y="2734056"/>
            <a:ext cx="81495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66260" y="2734056"/>
            <a:ext cx="42062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36900" y="26334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580" y="28072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747" y="26334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7" y="28072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0723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55263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7 мереж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3828" y="3145536"/>
            <a:ext cx="712431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66260" y="3145536"/>
            <a:ext cx="94640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39428" y="304495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5108" y="32186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«Торба»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7" y="304495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7" y="32186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4838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тушкована курка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667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145 г · 7 мереж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9601" y="3557016"/>
            <a:ext cx="69665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66260" y="3557016"/>
            <a:ext cx="168249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55201" y="345643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0881" y="36301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3620" y="345643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3620" y="36301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89534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Рамен зі спеціями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07822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7 мереж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5262" y="396849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6260" y="3968496"/>
            <a:ext cx="23660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80862" y="38679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542" y="404164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7724" y="386791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7724" y="404164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3068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97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9 мереж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5262" y="437997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366260" y="4379976"/>
            <a:ext cx="10515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80862" y="427939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542" y="44531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427939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79" y="44531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47183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з сиром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9011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9 мереж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7851" y="4791456"/>
            <a:ext cx="52840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66260" y="479145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923451" y="46908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49131" y="48646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6082" y="46908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6082" y="48646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5129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31266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3 мереж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9811" y="5202936"/>
            <a:ext cx="38644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366260" y="5202936"/>
            <a:ext cx="2628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065411" y="510235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091" y="52760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7412" y="510235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7412" y="52760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5412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7241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137 г · 7 мереж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58067" y="5614416"/>
            <a:ext cx="60201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743667" y="551383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9347" y="56875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14949" y="551383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4949" y="56875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58944" y="2167128"/>
            <a:ext cx="16459" cy="377647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451860" y="196596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24875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78741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0" y="138988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АКЦІЇ: ЗВИЧАЙНА ЦІНА → АКЦІЙНА, 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02168" y="16276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звичайна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1656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317736" y="1627632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акційна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208483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курка та сир · 140 г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2286000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03016" y="22677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1000" y="245059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528365" y="243230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01000" y="272491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карбонара · 130 г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01000" y="2926079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903016" y="290779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01000" y="309067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528365" y="307238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36499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Ramen зі смаком курки з… · 135 г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566160"/>
            <a:ext cx="290933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965196" y="354787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01000" y="3730752"/>
            <a:ext cx="1775379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831243" y="371246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108 ₴  (−39 %) · Ашан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00507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зі смаком курки гостра · 140 г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01000" y="4206240"/>
            <a:ext cx="2364445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420309" y="41879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 ₴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370832"/>
            <a:ext cx="1520117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575981" y="435254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93 ₴  (−36 %) · «Торба»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6451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Nongshim · Soon Veggie Ramyun овоч… · 112 г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01000" y="4846320"/>
            <a:ext cx="1564297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620161" y="48280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5010912"/>
            <a:ext cx="1202676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258540" y="499262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74 ₴  (−23 %) · Ашан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01000" y="528523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Ottogi · Jin Jjambbong Ramen з м… · 130 г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01000" y="5486400"/>
            <a:ext cx="2393899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449763" y="54681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001000" y="5650992"/>
            <a:ext cx="184083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896695" y="5632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112 ₴  (−23 %) · Ашан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ціна позиції в мережі (медіана по магазинах); «стара ціна» віддається не всіма мережами, тому акцій насправді більше. Смуги — наша поточна полиця: Vegetable/Spicy/Beef/Chicken (нижня межа) і Gouda/Carbonara (верхня).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33 ПАЛЕТИ · ФІНАЛЬНІ ЦИФРИ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33 палети: закупівля €0,65–0,75 → €0,54, полиця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ЗАРАЗ ·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B53A3A"/>
                </a:solidFill>
                <a:latin typeface="Segoe UI"/>
              </a:rPr>
              <a:t>140,55 / 162,18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€0,65 / €0,75 · +17…35 % до цілі 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ЗАПИТ ДО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1E9EA6"/>
                </a:solidFill>
                <a:latin typeface="Segoe UI"/>
              </a:rPr>
              <a:t>€0,54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−17 % / −28 % від теперішньої закупівлі (одна ціна для 6 SKU)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ПІСЛЯ · ПОЛИЦЯ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1E9EA6"/>
                </a:solidFill>
                <a:latin typeface="Segoe UI"/>
              </a:rPr>
              <a:t>119,86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бонус мережі 35 % · СС 38,53 ₴ · запас 0,14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BBE1E4"/>
                </a:solidFill>
                <a:latin typeface="Segoe UI"/>
              </a:rPr>
              <a:t>ціна пачки,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C7CBD9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від собівартості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Бонус мережі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35 % ціни партнеру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Залишається нам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витрати та маржа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Націнка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D7DAE4"/>
                </a:solidFill>
                <a:latin typeface="Segoe UI"/>
              </a:rPr>
              <a:t>магазину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ПОЛИЦЯ з ПДВ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8C3C3"/>
                </a:solidFill>
                <a:latin typeface="Segoe UI"/>
              </a:rPr>
              <a:t>партнеру × 1,40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Vegetable, Spicy, Beef, Chicken · закупівля €0,65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45,18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€0,882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100,40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€1,961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35,14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20,08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40,16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140,55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€2,745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Gouda, Carbonara · закупівля €0,75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52,13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115,84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€2,263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40,54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€0,792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23,17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€0,453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46,34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€0,905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162,18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€3,168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усі 6 SKU · закупівля €0,54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27,65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€0,540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38,53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85,62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€1,672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29,97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17,12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€0,334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34,25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€0,669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119,86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€2,341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ЗМІНА · ПІСЛЯ − ДО (4 SKU)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−5,63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−€0,110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−6,65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−14,78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−€0,289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−5,17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−€0,101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−2,96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−€0,058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−5,91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−€0,115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−20,69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−€0,404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ЗАКУПІВЛЯ SIAS ПО ПОЗИЦІЯХ · ЗАРАЗ → ЗАПИТ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€0,54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€0,54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>
                <a:solidFill>
                  <a:srgbClr val="9FA9C4"/>
                </a:solidFill>
                <a:latin typeface="Segoe UI"/>
              </a:rPr>
              <a:t>Курс 51,20 ₴/€. Ціна партнеру = СС ÷ (1 − бонус мережі 35 % − наша частка 20 %), полиця = ціна партнеру × 1,40; усі ціни з ПДВ, за пачку. Собівартість «до» — з Self-Cost; «після» — за запитом €0,54. Джерело: RAMEN_FINMODEL_4_TABS, вкладка «Цена 120 грн — 33 паллет». Згоди SIAS немає — ціна для переговорів.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6 ПАЛЕТ · ФІНАЛЬНІ ЦИФРИ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6 палет: закупівля €0,65–0,75 → €0,32, полиця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ЗАРАЗ ·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B53A3A"/>
                </a:solidFill>
                <a:latin typeface="Segoe UI"/>
              </a:rPr>
              <a:t>180,64 / 208,43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€0,65 / €0,75 · +51…74 % до цілі 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ЗАПИТ ДО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B53A3A"/>
                </a:solidFill>
                <a:latin typeface="Segoe UI"/>
              </a:rPr>
              <a:t>€0,32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−51 % / −57 % від теперішньої закупівлі (одна ціна для 6 SKU)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ПІСЛЯ · ПОЛИЦЯ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1E9EA6"/>
                </a:solidFill>
                <a:latin typeface="Segoe UI"/>
              </a:rPr>
              <a:t>118,72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бонус мережі 35 % · СС 38,16 ₴ · запас 1,28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BBE1E4"/>
                </a:solidFill>
                <a:latin typeface="Segoe UI"/>
              </a:rPr>
              <a:t>ціна пачки,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C7CBD9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від собівартості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Бонус мережі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35 % ціни партнеру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Залишається нам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витрати та маржа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Націнка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D7DAE4"/>
                </a:solidFill>
                <a:latin typeface="Segoe UI"/>
              </a:rPr>
              <a:t>магазину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ПОЛИЦЯ з ПДВ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8C3C3"/>
                </a:solidFill>
                <a:latin typeface="Segoe UI"/>
              </a:rPr>
              <a:t>партнеру × 1,40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Vegetable, Spicy, Beef, Chicken · закупівля €0,65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58,06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€1,134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129,03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€2,520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45,16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€0,882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25,81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€0,504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51,61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180,64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€3,528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Gouda, Carbonara · закупівля €0,75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67,00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€1,309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148,88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€2,908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52,11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€1,018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29,78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59,55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€1,163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208,43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€4,071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усі 6 SKU · закупівля €0,32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16,38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38,16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€0,745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84,80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€1,656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29,68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16,96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33,92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118,72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€2,319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ЗМІНА · ПІСЛЯ − ДО (4 SKU)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−16,90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−€0,330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−19,90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−€0,389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−44,23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−€0,864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−15,48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−€0,302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−8,85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−€0,173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−17,69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−€0,346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−61,92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−€1,209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ЗАКУПІВЛЯ SIAS ПО ПОЗИЦІЯХ · ЗАРАЗ → ЗАПИТ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€0,32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€0,32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>
                <a:solidFill>
                  <a:srgbClr val="9FA9C4"/>
                </a:solidFill>
                <a:latin typeface="Segoe UI"/>
              </a:rPr>
              <a:t>Курс 51,20 ₴/€. Ціна партнеру = СС ÷ (1 − бонус мережі 35 % − наша частка 20 %), полиця = ціна партнеру × 1,40; усі ціни з ПДВ, за пачку. Собівартість «до» — з Self-Cost; «після» — за запитом €0,32. Джерело: RAMEN_FINMODEL_4_TABS, вкладка «Цена 120 грн — 6 паллет». Згоди SIAS немає — ціна для переговорів.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ЧУТЛИВІСТЬ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при іншій полиці й іншій нашій частці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Максимальна ціна закупівлі, €/пачку, при бонусі мережі 35 %. Колір — порівняння з поточною ціною SIAS: €0,75 (Gouda, Carbonara) і €0,65 (решта).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НАМ \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4408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64408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50791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НАМ \ ПОЛИЦЯ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15399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915399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01784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≥ €0,75 — досяжно для всіх SKU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€0,65–0,75 — для чотирьох SKU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€0,50–0,65 — потрібне зниження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&lt; €0,50 — суттєве зниження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Червона рамка — ціль: полиця 120 грн, бонус мережі 35 %, частка «залишається нам» 20 %.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Розрахунок за формулою вкладок «Цена 120 грн» (курс 51,20; бонус 35 %; націнка 1,40; фінансування 2,5 %; ПДВ 20 %). Ціна вниз до євроцента.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6507</Words>
  <Application>Microsoft Office PowerPoint</Application>
  <PresentationFormat>Широкий екран</PresentationFormat>
  <Paragraphs>1932</Paragraphs>
  <Slides>29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29</vt:i4>
      </vt:variant>
    </vt:vector>
  </HeadingPairs>
  <TitlesOfParts>
    <vt:vector size="3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3</cp:revision>
  <dcterms:created xsi:type="dcterms:W3CDTF">2013-01-27T09:14:16Z</dcterms:created>
  <dcterms:modified xsi:type="dcterms:W3CDTF">2026-10-13T12:43:07Z</dcterms:modified>
  <cp:category/>
</cp:coreProperties>
</file>