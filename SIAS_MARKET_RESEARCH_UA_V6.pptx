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6.jpg"/><Relationship Id="rId11" Type="http://schemas.openxmlformats.org/officeDocument/2006/relationships/image" Target="../media/image18.jpg"/><Relationship Id="rId12" Type="http://schemas.openxmlformats.org/officeDocument/2006/relationships/image" Target="../media/image19.jpg"/><Relationship Id="rId13" Type="http://schemas.openxmlformats.org/officeDocument/2006/relationships/image" Target="../media/image10.jpg"/><Relationship Id="rId14" Type="http://schemas.openxmlformats.org/officeDocument/2006/relationships/image" Target="../media/image20.jpg"/><Relationship Id="rId15" Type="http://schemas.openxmlformats.org/officeDocument/2006/relationships/image" Target="../media/image21.jpg"/><Relationship Id="rId16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jpg"/><Relationship Id="rId4" Type="http://schemas.openxmlformats.org/officeDocument/2006/relationships/image" Target="../media/image19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25.jpg"/><Relationship Id="rId8" Type="http://schemas.openxmlformats.org/officeDocument/2006/relationships/image" Target="../media/image26.jpg"/><Relationship Id="rId9" Type="http://schemas.openxmlformats.org/officeDocument/2006/relationships/image" Target="../media/image8.jpg"/><Relationship Id="rId10" Type="http://schemas.openxmlformats.org/officeDocument/2006/relationships/image" Target="../media/image27.jpg"/><Relationship Id="rId11" Type="http://schemas.openxmlformats.org/officeDocument/2006/relationships/image" Target="../media/image28.jpg"/><Relationship Id="rId12" Type="http://schemas.openxmlformats.org/officeDocument/2006/relationships/image" Target="../media/image29.jpg"/><Relationship Id="rId13" Type="http://schemas.openxmlformats.org/officeDocument/2006/relationships/image" Target="../media/image30.jpg"/><Relationship Id="rId14" Type="http://schemas.openxmlformats.org/officeDocument/2006/relationships/image" Target="../media/image2.jpg"/><Relationship Id="rId15" Type="http://schemas.openxmlformats.org/officeDocument/2006/relationships/image" Target="../media/image31.jpg"/><Relationship Id="rId16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image" Target="../media/image35.jpg"/><Relationship Id="rId7" Type="http://schemas.openxmlformats.org/officeDocument/2006/relationships/image" Target="../media/image14.jpg"/><Relationship Id="rId8" Type="http://schemas.openxmlformats.org/officeDocument/2006/relationships/image" Target="../media/image10.jpg"/><Relationship Id="rId9" Type="http://schemas.openxmlformats.org/officeDocument/2006/relationships/image" Target="../media/image36.jpg"/><Relationship Id="rId10" Type="http://schemas.openxmlformats.org/officeDocument/2006/relationships/image" Target="../media/image37.jpg"/><Relationship Id="rId11" Type="http://schemas.openxmlformats.org/officeDocument/2006/relationships/image" Target="../media/image38.jpg"/><Relationship Id="rId12" Type="http://schemas.openxmlformats.org/officeDocument/2006/relationships/image" Target="../media/image39.jpg"/><Relationship Id="rId13" Type="http://schemas.openxmlformats.org/officeDocument/2006/relationships/image" Target="../media/image40.jpg"/><Relationship Id="rId14" Type="http://schemas.openxmlformats.org/officeDocument/2006/relationships/image" Target="../media/image41.jpg"/><Relationship Id="rId15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7.jpg"/><Relationship Id="rId9" Type="http://schemas.openxmlformats.org/officeDocument/2006/relationships/image" Target="../media/image4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43.jpg"/><Relationship Id="rId8" Type="http://schemas.openxmlformats.org/officeDocument/2006/relationships/image" Target="../media/image52.jpg"/><Relationship Id="rId9" Type="http://schemas.openxmlformats.org/officeDocument/2006/relationships/image" Target="../media/image53.jpg"/><Relationship Id="rId10" Type="http://schemas.openxmlformats.org/officeDocument/2006/relationships/image" Target="../media/image54.jpg"/><Relationship Id="rId11" Type="http://schemas.openxmlformats.org/officeDocument/2006/relationships/image" Target="../media/image5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Relationship Id="rId7" Type="http://schemas.openxmlformats.org/officeDocument/2006/relationships/image" Target="../media/image45.jpg"/><Relationship Id="rId8" Type="http://schemas.openxmlformats.org/officeDocument/2006/relationships/image" Target="../media/image59.jpg"/><Relationship Id="rId9" Type="http://schemas.openxmlformats.org/officeDocument/2006/relationships/image" Target="../media/image3.jpg"/><Relationship Id="rId10" Type="http://schemas.openxmlformats.org/officeDocument/2006/relationships/image" Target="../media/image47.jpg"/><Relationship Id="rId11" Type="http://schemas.openxmlformats.org/officeDocument/2006/relationships/image" Target="../media/image60.jpg"/><Relationship Id="rId12" Type="http://schemas.openxmlformats.org/officeDocument/2006/relationships/image" Target="../media/image4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jpg"/><Relationship Id="rId4" Type="http://schemas.openxmlformats.org/officeDocument/2006/relationships/image" Target="../media/image62.jpg"/><Relationship Id="rId5" Type="http://schemas.openxmlformats.org/officeDocument/2006/relationships/image" Target="../media/image63.jpg"/><Relationship Id="rId6" Type="http://schemas.openxmlformats.org/officeDocument/2006/relationships/image" Target="../media/image64.jpg"/><Relationship Id="rId7" Type="http://schemas.openxmlformats.org/officeDocument/2006/relationships/image" Target="../media/image47.jpg"/><Relationship Id="rId8" Type="http://schemas.openxmlformats.org/officeDocument/2006/relationships/image" Target="../media/image65.jpg"/><Relationship Id="rId9" Type="http://schemas.openxmlformats.org/officeDocument/2006/relationships/image" Target="../media/image66.jpg"/><Relationship Id="rId10" Type="http://schemas.openxmlformats.org/officeDocument/2006/relationships/image" Target="../media/image42.jpg"/><Relationship Id="rId11" Type="http://schemas.openxmlformats.org/officeDocument/2006/relationships/image" Target="../media/image67.jpg"/><Relationship Id="rId12" Type="http://schemas.openxmlformats.org/officeDocument/2006/relationships/image" Target="../media/image4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4.jpg"/><Relationship Id="rId6" Type="http://schemas.openxmlformats.org/officeDocument/2006/relationships/image" Target="../media/image70.jpg"/><Relationship Id="rId7" Type="http://schemas.openxmlformats.org/officeDocument/2006/relationships/image" Target="../media/image71.jpg"/><Relationship Id="rId8" Type="http://schemas.openxmlformats.org/officeDocument/2006/relationships/image" Target="../media/image72.jpg"/><Relationship Id="rId9" Type="http://schemas.openxmlformats.org/officeDocument/2006/relationships/image" Target="../media/image7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69.jpg"/><Relationship Id="rId7" Type="http://schemas.openxmlformats.org/officeDocument/2006/relationships/image" Target="../media/image76.jpg"/><Relationship Id="rId8" Type="http://schemas.openxmlformats.org/officeDocument/2006/relationships/image" Target="../media/image77.jpg"/><Relationship Id="rId9" Type="http://schemas.openxmlformats.org/officeDocument/2006/relationships/image" Target="../media/image4.jpg"/><Relationship Id="rId10" Type="http://schemas.openxmlformats.org/officeDocument/2006/relationships/image" Target="../media/image78.jpg"/><Relationship Id="rId11" Type="http://schemas.openxmlformats.org/officeDocument/2006/relationships/image" Target="../media/image7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jpg"/><Relationship Id="rId4" Type="http://schemas.openxmlformats.org/officeDocument/2006/relationships/image" Target="../media/image79.jpg"/><Relationship Id="rId5" Type="http://schemas.openxmlformats.org/officeDocument/2006/relationships/image" Target="../media/image71.jpg"/><Relationship Id="rId6" Type="http://schemas.openxmlformats.org/officeDocument/2006/relationships/image" Target="../media/image70.jpg"/><Relationship Id="rId7" Type="http://schemas.openxmlformats.org/officeDocument/2006/relationships/image" Target="../media/image80.jpg"/><Relationship Id="rId8" Type="http://schemas.openxmlformats.org/officeDocument/2006/relationships/image" Target="../media/image72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7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3.jpg"/><Relationship Id="rId4" Type="http://schemas.openxmlformats.org/officeDocument/2006/relationships/image" Target="../media/image84.jpg"/><Relationship Id="rId5" Type="http://schemas.openxmlformats.org/officeDocument/2006/relationships/image" Target="../media/image85.jpg"/><Relationship Id="rId6" Type="http://schemas.openxmlformats.org/officeDocument/2006/relationships/image" Target="../media/image86.jpg"/><Relationship Id="rId7" Type="http://schemas.openxmlformats.org/officeDocument/2006/relationships/image" Target="../media/image87.jpg"/><Relationship Id="rId8" Type="http://schemas.openxmlformats.org/officeDocument/2006/relationships/image" Target="../media/image8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1920240" cy="832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230428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FFC95C"/>
                </a:solidFill>
                <a:latin typeface="Segoe UI"/>
              </a:rPr>
              <a:t>ДОСЛІДЖЕННЯ РИНКУ ТА ПОЗИЦІОНУВАННЯ · ЖОВТЕНЬ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33472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spc="-10">
                <a:solidFill>
                  <a:srgbClr val="FFFFFF"/>
                </a:solidFill>
                <a:latin typeface="Segoe UI"/>
              </a:rPr>
              <a:t>Корейський рамен</a:t>
            </a:r>
          </a:p>
          <a:p>
            <a:pPr algn="l">
              <a:lnSpc>
                <a:spcPct val="105000"/>
              </a:lnSpc>
            </a:pPr>
            <a:r>
              <a:rPr sz="4600" b="1" spc="-10">
                <a:solidFill>
                  <a:srgbClr val="FFFFFF"/>
                </a:solidFill>
                <a:latin typeface="Segoe UI"/>
              </a:rPr>
              <a:t>в Україні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5371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9FA9C4"/>
                </a:solidFill>
                <a:latin typeface="Segoe UI"/>
              </a:rPr>
              <a:t>Оцінка шести SKU SIAS — рамену в пакеті — проти ринкової полиці та ціна закупівлі для полиці 120 грн:</a:t>
            </a:r>
          </a:p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9FA9C4"/>
                </a:solidFill>
                <a:latin typeface="Segoe UI"/>
              </a:rPr>
              <a:t>89 SKU корейського рамену · 9 брендів · 13 мереж із 18 · зріз каталогів 29.09.2026 · митна база 2025–2026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449824"/>
            <a:ext cx="45720" cy="8412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5477256"/>
            <a:ext cx="100584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Усі ціни — роздріб за одну пачку, з ПДВ, на дату зрізу. Опт, ящики та мультипаки до медіан не входять.</a:t>
            </a:r>
          </a:p>
          <a:p>
            <a:pPr algn="l">
              <a:lnSpc>
                <a:spcPct val="14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Фото товарів — з каталогів мереж, як ідентифікація SKU. Фінансова модель — RAMEN_FINMODEL_4_TABS_PRESENTATION.xlsx.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Шість цифр, які описують ринок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Усі ціни в колоді — за одну упаковку, з ПДВ. Опт і ящики до розрахунку не входять.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ПРОДАЖУ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50592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9 брендів · 3 сегменти · 13 мереж із 18. Кожна позиція має ціну в каталозі.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627632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627632"/>
            <a:ext cx="41148" cy="12984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8308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ІМПОРТ ЗА МИТНИЦЕЮ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93392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1E9EA6"/>
                </a:solidFill>
                <a:latin typeface="Segoe UI"/>
              </a:rPr>
              <a:t>838,5 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50592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Січень–травень 2026, код УКТ ЗЕД 1902 30 10 00. За весь 2025 рік — 711,6 т.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1627632"/>
            <a:ext cx="3566160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1627632"/>
            <a:ext cx="41148" cy="129844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783080"/>
            <a:ext cx="3090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2026 ПРОТИ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93392"/>
            <a:ext cx="30906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×3,5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50592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Ті самі п’ять місяців: 239,7 → 838,5 т (+249,8 %); інвойс $1,02 → $3,20 млн.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054096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054096"/>
            <a:ext cx="41148" cy="129844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209544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ІМПОРТ З КОРЕЇ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419856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118,5 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877056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Січень–травень 2026: +116,3 % до 54,8 т торік. Це 14 % коду; лідер — В’єтнам, 166,7 т.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5968" y="3054096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3054096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209544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ПАЧКИ НА ПОЛИЦІ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419856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102,8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877056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71 пакетних позицій: від 68 до 205 грн; половина — 86–121 грн.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5008" y="3054096"/>
            <a:ext cx="3566160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5008" y="3054096"/>
            <a:ext cx="41148" cy="129844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209544"/>
            <a:ext cx="3090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ЦІЛЬОВА ПОЛИЦЯ SIAS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419856"/>
            <a:ext cx="30906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877056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P75 серед 71 пакетів: +17 % до медіани 102,8 грн; дорожчих — 18 із 71.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517136"/>
            <a:ext cx="5413248" cy="16459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4517136"/>
            <a:ext cx="41148" cy="16459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" y="4681728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" y="4956048"/>
            <a:ext cx="4864608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1. Категорія повністю імпортна і швидко росте: ввіз за п’ять місяців 2026 року вже більший за весь 2025.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2. Корея росте повільніше за код в цілому: її частка впала з 23 % до 14 %.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3. Полиця концентрована: Samyang і Nongshim дають 53 позицій з 89 і стоять у 11–12 мережах.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517136"/>
            <a:ext cx="5413248" cy="16459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4517136"/>
            <a:ext cx="41148" cy="16459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681728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ПОТРІБНО ВІД SIAS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956048"/>
            <a:ext cx="4864608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1. Полиця 120 грн за моделлю з маржею 30 % вимагає закупівлі €0,54 (повна машина) або €0,32 (6 палет).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2. Зараз SIAS пропонує €0,65–0,75: потрібне зниження — на 17–28 % для повної машини і на 51–57 % для 6 палет.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3. Тому торг іде про ціну закупівлі, а не про ціну на полиці.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Джерела: каталоги мереж 29.09.2026 (89 SKU); митна база користувача, код 1902 30 10 00, січень–травень 2025 і 2026; фінмодель RAMEN_FINMODEL_4_TABS (вкладки «Цена 120 грн»).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ОБСЯГ РИНКУ · МИТНА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Скільки локшини ввозять в Україну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Код УКТ ЗЕД 1902 30 10 00: обсяг товарного коду, а не роздрібні продажі рамену. Однакові п’ять місяців для порівняння.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ОБСЯГ ІМПОРТУ, ТОНН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33832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964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3888" y="33832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928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3528" y="33832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7" y="33832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29968"/>
            <a:ext cx="74268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65849" y="206654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239,7 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52831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487168"/>
            <a:ext cx="2598281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1441" y="252374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838,5 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98551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увесь рік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944368"/>
            <a:ext cx="2205106" cy="2377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8266" y="298094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711,6 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675887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ІНВОЙС, МЛН ДОЛАРІВ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84248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47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58947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94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33647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41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08347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119372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078224"/>
            <a:ext cx="79374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16909" y="411480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$1,02 млн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76572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535424"/>
            <a:ext cx="2479520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02680" y="457200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$3,20 млн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1627632"/>
            <a:ext cx="2487168" cy="11887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92240" y="1627632"/>
            <a:ext cx="41148" cy="11887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48272" y="178308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ОБСЯГ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48272" y="1993392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F9A50B"/>
                </a:solidFill>
                <a:latin typeface="Segoe UI"/>
              </a:rPr>
              <a:t>+249,8 %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8272" y="2381631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239,7 → 838,5 т за січень–травень: ×3,5.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0" y="1627632"/>
            <a:ext cx="2487168" cy="11887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44000" y="1627632"/>
            <a:ext cx="41148" cy="11887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00032" y="178308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ІНВОЙС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00032" y="1993392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1E9EA6"/>
                </a:solidFill>
                <a:latin typeface="Segoe UI"/>
              </a:rPr>
              <a:t>+212,4 %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00032" y="2381631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$1,02 → $3,20 млн: ×3,1.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2944368"/>
            <a:ext cx="5138928" cy="16276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2944368"/>
            <a:ext cx="41148" cy="162763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59" y="3108960"/>
            <a:ext cx="45902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КАЖЕ СЕРЕДНЯ ЦІНА ІМПОРТУ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59" y="3383280"/>
            <a:ext cx="459028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Митна вартість за кілограм: $4,27 у 2025 → $3,82 у 2026, тобто −10,7 %. Ввіз росте швидше за гроші: ймовірно, в обсязі додається дешевший товар.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Для SIAS це означає: категорія розширюється за рахунок цінового низу, а не премії.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4681728"/>
            <a:ext cx="5138928" cy="14813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92240" y="4681728"/>
            <a:ext cx="41148" cy="14813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66559" y="4846320"/>
            <a:ext cx="45902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ЧОГО ЦЕ НЕ ПОКАЗУЄ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59" y="5120640"/>
            <a:ext cx="4590288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Код охоплює товар усіх країн походження, не лише корейський. Частки брендів і форматів у митній базі не видно — вони взяті з каталогів мереж.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5303520"/>
            <a:ext cx="5669280" cy="8778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" y="5303520"/>
            <a:ext cx="41148" cy="8778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7" y="5468112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ЯК ЧИТАТИ ЦИФРИ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7" y="5742431"/>
            <a:ext cx="5120640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Порівняння — за однакові п’ять місяців (01–05). За увесь 2025 рік — 711,6 т: за п’ять місяців 2026-го ввезено вже на 18 % більше.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Митна база користувача, код УКТ ЗЕД 1902 30 10 00, січень–травень 2025 і 2026; повний 2025 рік — 711,6 т. Митна вартість на кілограм — власний розрахунок: інвойс ÷ вага.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МИТНА БАЗА · ПОХОДЖЕННЯ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Звідки їде: Корея — друга за обсягом країна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Січень–травень 2026, код УКТ ЗЕД 1902 30 10 00. Країни за вагою нетто, тонн.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ПО КРАЇНАХ ПОХОДЖЕННЯ, ТОНН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3163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50840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7" y="1883664"/>
            <a:ext cx="5486" cy="3163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50840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883664"/>
            <a:ext cx="5486" cy="3163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7" y="50840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0367" y="1883664"/>
            <a:ext cx="5486" cy="3163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7" y="50840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34540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В’єтнам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11680"/>
            <a:ext cx="1600400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560" y="202996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166,7 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418588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Корея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395728"/>
            <a:ext cx="1137716" cy="201168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0876" y="241401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118,5 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80263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Румунія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779776"/>
            <a:ext cx="834527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7687" y="279806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86,9 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186684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Велика Британія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163824"/>
            <a:ext cx="562292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85452" y="318211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58,6 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570732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Латвія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50008" y="3547872"/>
            <a:ext cx="550192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3352" y="356616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57,3 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954780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Чехія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50008" y="3931920"/>
            <a:ext cx="487748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10908" y="395020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50,8 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338828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Польща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315968"/>
            <a:ext cx="468168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91328" y="433425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48,8 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72287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Інші країни разом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700016"/>
            <a:ext cx="2409368" cy="2011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32528" y="471830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250,9 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1627632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КОРЕЯ → УКРАЇНА · ПОРІВНЯННЯ ОДНАКОВИХ ПЕРІОДІВ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1920240"/>
            <a:ext cx="1737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СІЧЕНЬ–ТРАВЕНЬ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1920240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1920240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1920240"/>
            <a:ext cx="102412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ЗМІНА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2103120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-10">
                <a:solidFill>
                  <a:srgbClr val="303A5D"/>
                </a:solidFill>
                <a:latin typeface="Segoe UI"/>
              </a:rPr>
              <a:t>Обсяг, 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210312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54,8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210312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118,5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2103120"/>
            <a:ext cx="1024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+116,3 %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19088" y="2414016"/>
            <a:ext cx="5138928" cy="3383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2450592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-10">
                <a:solidFill>
                  <a:srgbClr val="303A5D"/>
                </a:solidFill>
                <a:latin typeface="Segoe UI"/>
              </a:rPr>
              <a:t>Інвойс, тис. $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245059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348,6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245059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809,2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2450592"/>
            <a:ext cx="1024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+132,1 %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798064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-10">
                <a:solidFill>
                  <a:srgbClr val="303A5D"/>
                </a:solidFill>
                <a:latin typeface="Segoe UI"/>
              </a:rPr>
              <a:t>$ за кг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279806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6,36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20" y="279806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6,83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2798064"/>
            <a:ext cx="1024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+7,4 %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19088" y="3108960"/>
            <a:ext cx="5138928" cy="3383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3145536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-10">
                <a:solidFill>
                  <a:srgbClr val="303A5D"/>
                </a:solidFill>
                <a:latin typeface="Segoe UI"/>
              </a:rPr>
              <a:t>Частка в імпорті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3145536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22,9 %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18320" y="3145536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14,1 %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07040" y="3145536"/>
            <a:ext cx="1024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−8,7 п.п.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92240" y="3639312"/>
            <a:ext cx="5138928" cy="14813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92240" y="3639312"/>
            <a:ext cx="41148" cy="148132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66559" y="3803904"/>
            <a:ext cx="45902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КОРЕЯ ДОРОЖЧА ЗА СЕРЕДНЄ В 1,8 РАЗА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6559" y="4078224"/>
            <a:ext cx="4590288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Митна вартість корейського ввозу — $6,83/кг проти $3,82 в цілому по коду. Покупець у категорії вже платить премію за корейський товар.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92240" y="5285232"/>
            <a:ext cx="5138928" cy="914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92240" y="5285232"/>
            <a:ext cx="41148" cy="9144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66559" y="5449824"/>
            <a:ext cx="45902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АЛЕ ЧАСТКА КОРЕЇ ПАДАЄ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59" y="5724144"/>
            <a:ext cx="4590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Код в цілому виріс на 250 %, Корея — на 116 %: різницю забрав дешевший ввіз.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6928" y="5285232"/>
            <a:ext cx="5760720" cy="914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66928" y="5285232"/>
            <a:ext cx="41148" cy="9144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7" y="5449824"/>
            <a:ext cx="5212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СКІЛЬКИ ЦЕ В ПАЧКАХ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1247" y="5724144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118,5 т при середній вазі пачки 120 г — близько 0,99 млн пачок за п’ять місяців. Це оцінка порядку величини, не продажі.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Митна база користувача, код УКТ ЗЕД 1902 30 10 00, січень–травень. Частка Кореї, $/кг і кількість пачок — власний розрахунок. Країна походження за митною декларацією.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Сегментація за способом приготування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Три сегменти, 89 позицій: спершу спосіб приготування, далі вага, ціна й бренди. Належність наших шести SKU до сегментів 1 чи 2 потребує інструкцій приготування.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566160" cy="3657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700784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З БУЛЬЙОНОМ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88010430695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7" y="2130551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" y="316382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101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46 %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5760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639312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04487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886200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151376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133088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67–209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39826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379976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627632"/>
            <a:ext cx="3566160" cy="3657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3983" y="1700784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ІЗ СОУСОМ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0648436310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130551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43983" y="316382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33101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34 %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365760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3639312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105–145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3904487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886200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106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3" y="4151376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133088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72–198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3" y="439826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379976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1627632"/>
            <a:ext cx="3566160" cy="3657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93024" y="1700784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СТАКАНІ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901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130551"/>
            <a:ext cx="914400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193024" y="316382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33101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20 %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365760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3639312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62–120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3904487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3808" y="3886200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104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4151376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93808" y="4133088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34–195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439826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379976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700016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СЕГМЕНТ × ЦІНОВА СМУГА · ПОЗИЦІЙ, грн за пачку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до 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3580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80–95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164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95–110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110–130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130–150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150–180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6500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180 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53728" y="484632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УСЬОГО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5166360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з бульйоном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5129784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5148072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63240" y="5148072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9080" y="5129784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69080" y="5148072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74920" y="5148072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5129784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80760" y="5148072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8660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086600" y="5148072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92440" y="5148072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53728" y="5175504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41 SKU · медіана 95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477256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із соусом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57400" y="545896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63240" y="5440680"/>
            <a:ext cx="950976" cy="25603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063240" y="545896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6908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69080" y="545896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74920" y="545896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076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80760" y="545896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086600" y="545896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92440" y="5440680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92440" y="545896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53728" y="548640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30 SKU · медіана 106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5788152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40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057400" y="5769864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632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63240" y="5769864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069080" y="5751576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069080" y="5769864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7492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74920" y="5769864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8076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80760" y="5769864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86600" y="5751576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086600" y="5769864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924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092440" y="5769864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53728" y="5797296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18 SKU · медіана 104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" y="6382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Сегмент визначено за способом приготування й форматом упаковки на фото картки; медіана — за медіанними цінами позицій у каталогах 18 мереж, 29.09.2026. Сільпо (4 позиції без ваги) до сегментів не віднесено.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найбільший сегмент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Основна частина корейської полиці: локшина й порошковий бульйон, вариться в каструлі. Показано сім позицій, рівновіддалених по ціні.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41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 брендів у 11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46 %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84–113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67–209 грн.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28816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7 з 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 дорожчі.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грн (зараз): 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627632"/>
            <a:ext cx="212140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783080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ВАГОВИЙ ДІАПАЗОН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93392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49881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фактичні 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907792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145536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168396"/>
            <a:ext cx="320040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6048" y="314553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332988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355848"/>
            <a:ext cx="160020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3332988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2044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543300"/>
            <a:ext cx="1400175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56048" y="352044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70789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730752"/>
            <a:ext cx="1000125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6048" y="37078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895344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918204"/>
            <a:ext cx="80010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56048" y="3895344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082796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4105656"/>
            <a:ext cx="200025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6048" y="408279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907792"/>
            <a:ext cx="5596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ЩО ЦЕ ОЗНАЧАЄ ДЛЯ НАС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3127248"/>
            <a:ext cx="55961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Сюди найімовірніше потраплять чотири наші SKU по 112,5–113 г — якщо їх спосіб приготування варіння з бульйоном (не підтверджено).</a:t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Ціль 120 грн — на 26 % вище за медіану сегмента (95 грн) і вище за P75 (113 грн): дорожчих за 120 лише 7 із 41. Поточна розрахункова полиця 140,55 грн дорожча за всіх, крім 2.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40740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441655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4416552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фото — з каталогів мереж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0645175521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828032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858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68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671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2311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5211455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4828032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2860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Смак морепродуктів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102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74–84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673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8313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064843610042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4828032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38862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Hwa Ramyun з гострим пе…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862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862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87–93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62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675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4315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85006966714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828032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4864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Otoki · Cheesy Ramen зі смаком…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585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225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80107311551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4828032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0774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Локшина зі смаком курки…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774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135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774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108–169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774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Зараз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587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227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4315774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4828032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6776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776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776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98–124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776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1589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2229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4306022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4828032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102778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778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778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202–209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2778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1 з 3 — 68–90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14 позицій за медіанною ціною 68–90 грн за пачку.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645175521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68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521145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Кімчі Рамен локшина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144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68–72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064843610061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Teumsae Ramen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72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0311461506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880104552131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Kimchi Ramen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67–85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Таврія В +1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5211438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Кімчі Рамен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129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74–80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5211454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Сівід Рамен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103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5211455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Смак морепродуктів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102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74–84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552467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111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83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Зараз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104552226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84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80104315774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Кімчі Рамьон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85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43022705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Soon Veggie Ramyun овоч…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112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74–102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43157759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Cham-Pong Ramyun з море…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124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064843610042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Hwa Ramyun з гострим пе…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87–93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Ottogi (4), O'Food (4), Nongshim (4). Уся ця частина дешевша за нашу ціль 120 грн (максимум 90 грн).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2 з 3 — 92–112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14 позицій за медіанною ціною 92–112 грн за пачку.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64843610068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Kokomen зі смаком курки…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92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4552226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93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459999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67–101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Grono +2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64843610058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93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064843631077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Spicy Zanmang Loopy з б…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76–113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064843631074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Zanmang Loopy оригіналь…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76–113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085006966714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Otoki · Cheesy Ramen зі смаком…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95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4315773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AnSungTangMyun з грибам…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74–122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15771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85–122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64843610093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З сиром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007460300668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43069588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зі смаком г…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89–132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73112278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Макаронні вироби Samyan…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115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880107311551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Локшина зі смаком курки…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135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108–169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Зараз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Paldo (5), Nongshim (3), Samyang (3). Уся ця частина дешевша за нашу ціль 120 грн (максимум 112 грн).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3 з 3 — 112–205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13 позицій за медіанною ціною 112–205 грн за пачку.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8010731141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 сиром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99–124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4552523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З кунжутом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4552255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Jjambbong Ramen з м…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880104315777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 морепродуктами середн…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85–125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Клас · METRO +2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00311461506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98–129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Клас · METRO +4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4315774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98–124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7321177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сиру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105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112–130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4315776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 морепродуктами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125–135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01480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1043150026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128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80104307036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Tom Yum Том…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123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116–142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0031146017379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Шин Рамен Black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165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43060226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202–209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Nongshim (9), Samyang (2), Ottogi (2). Наша ціль 120 грн потрапляє в цю частину: дешевших за неї 6 із 13, дорожчих — 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12 мереж із 18 мають позиції цього сегмента; число поруч — скільки позицій сегмента є в мережі.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382219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18488" y="576072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5038" y="232257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5038" y="263347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83261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90013" y="2944368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9963" y="325526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9963" y="356615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7450" y="3877055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7450" y="4187951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7450" y="449884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185025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42425" y="480974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92512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49912" y="512063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92512" cy="173736"/>
          </a:xfrm>
          <a:prstGeom prst="rect">
            <a:avLst/>
          </a:prstGeom>
          <a:solidFill>
            <a:srgbClr val="787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49912" y="5431535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1*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572292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663732" y="5052060"/>
            <a:ext cx="59070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66928" y="6382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Суцільна перевірка каталогів 18 мереж, 29.09.2026. * «Сільпо» — позиція без ваги в каталозі, віднесена за назвою (Nongshim Shin Ramyun).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30 позицій, медіана 106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Локшина, з якої воду зливають, а смак дає соус: Buldak, Toomba, Chapaghetti, Volcano, Carbonara. Показано сім позицій, рівновіддалених по ціні.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30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 брендів у 12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34 %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106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86–137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72–198 грн.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28816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11 з 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 дорожчі.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грн (зараз): 5.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627632"/>
            <a:ext cx="212140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783080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ВАГОВИЙ ДІАПАЗОН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93392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C4820A"/>
                </a:solidFill>
                <a:latin typeface="Segoe UI"/>
              </a:rPr>
              <a:t>105–145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49881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фактичні 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907792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145536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168396"/>
            <a:ext cx="320040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6048" y="314553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332988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355848"/>
            <a:ext cx="1745672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3332988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2044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543300"/>
            <a:ext cx="1454727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56048" y="352044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70789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730752"/>
            <a:ext cx="1163781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6048" y="37078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895344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918204"/>
            <a:ext cx="58189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56048" y="3895344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082796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4105656"/>
            <a:ext cx="290945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6048" y="408279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907792"/>
            <a:ext cx="5596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ЩО ЦЕ ОЗНАЧАЄ ДЛЯ НАС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3127248"/>
            <a:ext cx="55961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Сюди найімовірніше потраплять Gouda Cheese 123 г і Carbonara Spicy 131 г — якщо їх спосіб приготування це підтвердить.</a:t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Ціль 120 грн — на 13 % вище за медіану сегмента (106 грн), але нижче P75 (137 грн): дорожчих за 120 — 11 із 30. Прямі аналоги за вагою: Paldo Volcano Carbonara 130 г — 114 грн, Choi’s Carbonara 131 г — 125,20 грн. Поточна полиця 162,18 грн дорожча за 29 із 30.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40740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441655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4416552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фото — з каталогів мереж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08801731168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828032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858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671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2311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955505030283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4828032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2860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Курка б…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673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8313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0616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4828032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38862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Stir Fry Шин Рамьойн го…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862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131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862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62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675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4315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6484361013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828032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4864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86–123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585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225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064843610127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4828032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0774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Chicken з курко…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774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774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84–123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774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587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227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7311647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4828032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6776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776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776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100–151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776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1589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2229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43015479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4828032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102778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778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137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778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198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2778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1 з 3 — 78–89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10 позицій за медіанною ціною 78–89 грн за пачку.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8801731168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311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fire bull · Stir-Fried Ramen Beef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138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06484363107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Carbonara гостр…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6484363100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Compaghetti локшина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110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81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955505030284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зі смак…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955505030283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Курка б…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955505030280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Spicy 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955505030281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Cheese…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127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500920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Stir-Fry Рамен із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104517822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Stir-Fry Рамен із сиром…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Bibigo (4), Paldo (2), Ottogi (2). Уся ця частина дешевша за нашу ціль 120 грн (максимум 89 грн).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2 з 3 — 89–123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10 позицій за медіанною ціною 89–123 грн за пачку.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8010430616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Stir Fry Шин Рамьойн го…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131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430687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Stir Fry зі…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136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96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064843610005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Bibim Men в корейському…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72–124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Grono · NOVUS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07460300592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Chacharoni зі смаком чо…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90–115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06484361013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86–123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7311394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Jjajang зі смако…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064843631068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105–121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7311647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 сиром гостра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115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157728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Chapaghetti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89–136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Клас · METRO +3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648436101276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Chicken з курко…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84–123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Paldo (4), Nongshim (3), Samyang (3). Наша ціль 120 грн потрапляє в цю частину: дешевших за неї 9 із 10, дорожчих — 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3 з 3 — 125–198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10 позицій за медіанною ціною 125–198 грн за пачку.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7603443508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Choi's · Карбон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131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7311338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Рамен з гострою…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94–184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7311342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курки дуже го…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86–151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880107311050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93–156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Grono +4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880107311647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100–151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4301847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Toomba Spicy&amp;Creamy Sti…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137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131–154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Grono +4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7311683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78–157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088017311686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157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Восторг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7311684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часник…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78–157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1043015479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137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198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Samyang (7), Nongshim (2), Choi's (1). Уся ця частина дорожча за нашу ціль 120 грн (мінімум 125 грн).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13 мереж із 18 мають позиції цього сегмента; число поруч — скільки позицій сегмента є в мережі.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4133087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18488" y="607161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638794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96194" y="232257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36566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3062" y="263347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3363" y="2944368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3363" y="325526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819397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76797" y="356615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0231" y="3877055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0231" y="4187951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0231" y="449884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40969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67098" y="480974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409698" cy="173736"/>
          </a:xfrm>
          <a:prstGeom prst="rect">
            <a:avLst/>
          </a:prstGeom>
          <a:solidFill>
            <a:srgbClr val="D8A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7098" y="512063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27313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30532" y="5431535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47003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5737859"/>
            <a:ext cx="13656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3966" y="5742431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3*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36208" y="4206240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27648" y="4265676"/>
            <a:ext cx="6821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09790" y="4242816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009790" y="4265676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" y="6382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Суцільна перевірка каталогів 18 мереж, 29.09.2026. * «Сільпо» — три позиції Samyang Buldak без ваги в каталозі, віднесені за назвою.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вузький сегмент поза домом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Заливається окропом, готується без плити: формат для споживання поза домом. Наші шість SKU — пакет, тому це ринковий контекст, а не пряма конкуренція.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18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 брендів у 8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20 %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104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93–111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34–195 грн.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28816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3 з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 дорожчі.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грн (зараз): 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627632"/>
            <a:ext cx="212140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783080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ВАГОВИЙ ДІАПАЗОН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93392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5D4B96"/>
                </a:solidFill>
                <a:latin typeface="Segoe UI"/>
              </a:rPr>
              <a:t>62–120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49881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фактичні 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907792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145536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168396"/>
            <a:ext cx="3200400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6048" y="314553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332988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355848"/>
            <a:ext cx="1454727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3332988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2044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543300"/>
            <a:ext cx="290945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56048" y="352044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70789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730752"/>
            <a:ext cx="290945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6048" y="37078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2907792"/>
            <a:ext cx="5596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ЩО ЦЕ ОЗНАЧАЄ ДЛЯ НАС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3127248"/>
            <a:ext cx="55961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Медіана стакана — 104 грн проти 95 грн у пакеті з бульйоном і 106 грн у пакеті із соусом.</a:t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Сегмент вузький: 18 позицій у 8 мережах і лише 4 бренди. Якщо в лінійці SIAS з’явиться стакан, у поточній пропозиції стакана немає.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40740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441655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16552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фото — з каталогів мереж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088010731140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828032"/>
            <a:ext cx="548640" cy="5486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58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671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311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0064517557028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4828032"/>
            <a:ext cx="548640" cy="54864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2860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860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60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82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860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673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313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4828032"/>
            <a:ext cx="548640" cy="54864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8862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862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70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862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34–149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862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Grono · Клас +3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675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4315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0003114601709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828032"/>
            <a:ext cx="548640" cy="5486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54864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103 грн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585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225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0880104302938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4828032"/>
            <a:ext cx="548640" cy="54864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0774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Cup Ramyun Shrimp гостра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774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774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774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587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6227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0880104302812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4828032"/>
            <a:ext cx="548640" cy="54864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6776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776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776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776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589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2229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0880104303111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4828032"/>
            <a:ext cx="548640" cy="54864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2778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2778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778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195 грн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778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1 з 2 — 65–103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9 позицій за медіанною ціною 65–103 грн за пачку.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8010731140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731140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Jjanang Рамен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731140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Кімчі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65–86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64517557028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82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003114627060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68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97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064843610006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Jumbo Noodle Hot &amp; Spic…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120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7321077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34–149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Grono · Клас +3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003114601711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Shrimp в стакані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103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003114601709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103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Samyang (4), Nongshim (3), Ottogi (1). Уся ця частина дешевша за нашу ціль 120 грн (максимум 103 грн).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2 з 2 — 105–195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9 позицій за медіанною ціною 105–195 грн за пачку.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0311462706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68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4304956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Red Super Spicy го…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68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4302938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Cup Ramyun Shrimp 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03114601709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880104302931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Суп Neoguri з морепроду…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4302812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7321125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Hot Chicken сир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137–150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Клас · Таврія В +1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4302815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Kimchi Shin Ramyun Cup…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100–158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 · METRO · Onde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03111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195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Nongshim (8), Samyang (1). Наша ціль 120 грн потрапляє в цю частину: дешевших за неї 6 із 9, дорожчих — 3.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ЗВЕДЕННЯ · БРЕНДИ ×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Усі бренди в усіх мережах: скільки позицій і за скільки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У кожній клітинці — кількість позицій бренду в мережі (колір) і медіанна ціна за пачку, грн. Зріз 29.09.2026, 13 мереж, де є категорія.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55648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5648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Ашан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4579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4579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Grono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3512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Onde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52444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2444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METRO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1375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51375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«Зараз»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0308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0308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«Клас»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«Восторг»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8171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8171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«Космос»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47104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«Таврія В»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46036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46036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NOVUS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44968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4968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«ЧудоМ.»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43900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3900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«Торба»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42832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42832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«Сільпо»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14916" y="1554480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4916" y="167335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81844" y="1554480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1844" y="167335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МЕРЕЖ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48772" y="1554480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48772" y="167335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МЕДІАНА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036826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55648" y="1956816"/>
            <a:ext cx="562356" cy="32461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55648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55648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FFFFFF"/>
                </a:solidFill>
                <a:latin typeface="Segoe UI"/>
              </a:rPr>
              <a:t>89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54579" y="1956816"/>
            <a:ext cx="562356" cy="32461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54579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54579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145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53512" y="1956816"/>
            <a:ext cx="562356" cy="32461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53512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53512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FFFFFF"/>
                </a:solidFill>
                <a:latin typeface="Segoe UI"/>
              </a:rPr>
              <a:t>122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52444" y="1956816"/>
            <a:ext cx="562356" cy="32461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52444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52444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FFFFFF"/>
                </a:solidFill>
                <a:latin typeface="Segoe UI"/>
              </a:rPr>
              <a:t>108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51375" y="195681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51375" y="204825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0308" y="1956816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0308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0308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49240" y="1956816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49240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49240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8171" y="1956816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8171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8171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116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47104" y="1956816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47104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47104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118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46036" y="1956816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46036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46036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126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44968" y="1956816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44968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44968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120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43900" y="195681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43900" y="204825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42832" y="1956816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2832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42832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139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14916" y="1956816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14916" y="204825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33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181844" y="1956816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181844" y="204825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748772" y="1956816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748772" y="204825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111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2398014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755648" y="2318004"/>
            <a:ext cx="562356" cy="32461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755648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55648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FFFFFF"/>
                </a:solidFill>
                <a:latin typeface="Segoe UI"/>
              </a:rPr>
              <a:t>108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354579" y="2318004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354579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54579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152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53512" y="2318004"/>
            <a:ext cx="562356" cy="32461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53512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53512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86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552444" y="231800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552444" y="240944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151375" y="2318004"/>
            <a:ext cx="562356" cy="32461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51375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51375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112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750308" y="2318004"/>
            <a:ext cx="562356" cy="32461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750308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50308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151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349240" y="2318004"/>
            <a:ext cx="562356" cy="32461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49240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349240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151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948171" y="2318004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48171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948171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140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547104" y="2318004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547104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47104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140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146036" y="2318004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146036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46036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139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744968" y="2318004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744968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744968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130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343900" y="2318004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343900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43900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102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942832" y="2318004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942832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42832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90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614916" y="2318004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614916" y="240944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181844" y="2318004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181844" y="240944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748772" y="2318004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748772" y="240944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112 грн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66928" y="2759202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755648" y="2679192"/>
            <a:ext cx="562356" cy="32461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755648" y="269748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755648" y="2871216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FFFFFF"/>
                </a:solidFill>
                <a:latin typeface="Segoe UI"/>
              </a:rPr>
              <a:t>89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354579" y="2679192"/>
            <a:ext cx="562356" cy="32461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354579" y="269748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354579" y="2871216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113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953512" y="2679192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953512" y="269748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953512" y="2871216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118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552444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552444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151375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151375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750308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750308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349240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349240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8171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48171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547104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547104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146036" y="2679192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146036" y="269748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146036" y="2871216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124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744968" y="2679192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744968" y="269748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744968" y="2871216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100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343900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343900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942832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942832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614916" y="2679192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614916" y="277063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181844" y="2679192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181844" y="277063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748772" y="2679192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748772" y="277063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94 грн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66928" y="3120390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755648" y="3040380"/>
            <a:ext cx="562356" cy="32461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755648" y="305866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755648" y="3232404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89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354579" y="3040380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354579" y="305866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354579" y="3232404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101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953512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953512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552444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552444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4151375" y="3040380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151375" y="305866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151375" y="3232404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67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750308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4750308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349240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349240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948171" y="3040380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948171" y="305866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948171" y="3232404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93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547104" y="3040380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547104" y="305866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547104" y="3232404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93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146036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146036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744968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744968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8343900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8343900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942832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942832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614916" y="3040380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614916" y="313182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181844" y="3040380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0181844" y="313182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0748772" y="3040380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748772" y="313182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89 грн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3481578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755648" y="3401568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755648" y="341985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755648" y="3593592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74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2354579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2354579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953512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2953512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552444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552444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151375" y="3401568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151375" y="341985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151375" y="3593592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80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750308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750308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5349240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5349240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948171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948171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6547104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547104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7146036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7146036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7744968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7744968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343900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8343900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8942832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8942832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614916" y="3401568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614916" y="349300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181844" y="3401568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0181844" y="349300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0748772" y="3401568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0748772" y="349300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77 грн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66928" y="3842766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755648" y="3762756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755648" y="378104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755648" y="395478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86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354579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354579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2953512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2953512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3552444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3552444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4151375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4151375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4750308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4750308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5349240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5349240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5948171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5948171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547104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6547104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146036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7146036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7744968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7744968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8343900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8343900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8942832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8942832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614916" y="3762756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9614916" y="385419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0181844" y="3762756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10181844" y="385419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0748772" y="3762756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10748772" y="385419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86 грн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566928" y="4203954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755648" y="4123944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755648" y="41422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755648" y="431596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95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2354579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2354579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2953512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2953512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3552444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3552444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4151375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4151375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4750308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4750308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5349240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5349240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5948171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5948171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6547104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6547104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7146036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7146036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7744968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7744968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8343900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8343900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8942832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8942832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9614916" y="4123944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9614916" y="421538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0181844" y="4123944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10181844" y="421538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10748772" y="4123944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10748772" y="421538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66928" y="4565142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fire bull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755648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1755648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2354579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2354579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2953512" y="4485131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2953512" y="45034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2953512" y="4677156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78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3552444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3552444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151375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4151375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750308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4750308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5349240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5349240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5948171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5948171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6547104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6547104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7146036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7146036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7744968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7744968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8343900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8343900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8942832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8942832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9614916" y="4485131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9614916" y="457657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10181844" y="4485131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10181844" y="457657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10748772" y="4485131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10748772" y="457657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78 грн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566928" y="4926329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Choi’s (SIAS)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1755648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1755648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2354579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2354579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2953512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2953512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3552444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3552444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4151375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4151375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4750308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4750308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5349240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5349240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5948171" y="4846319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5948171" y="4864607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5948171" y="5038344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6547104" y="4846319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6547104" y="4864607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6547104" y="5038344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7146036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7146036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7744968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7744968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8343900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8343900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8942832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8942832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9614916" y="4846319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9614916" y="4937759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10181844" y="4846319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10181844" y="4937759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10748772" y="4846319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10748772" y="4937759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125 грн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1737360" y="5225795"/>
            <a:ext cx="9578340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566928" y="5317235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C4820A"/>
                </a:solidFill>
                <a:latin typeface="Segoe UI"/>
              </a:rPr>
              <a:t>УСЬОГО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737360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60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737360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89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2336291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2336291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126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2935224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2935224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114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3534156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3534156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108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4133087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14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4133087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88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4732020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4732020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5330952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5330952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5929883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5929883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6528816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6528816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7127748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8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7127748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134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7726680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6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7726680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8325612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2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8325612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102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8924544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8924544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114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9614916" y="5353811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C4820A"/>
                </a:solidFill>
                <a:latin typeface="Segoe UI"/>
              </a:rPr>
              <a:t>93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0181844" y="5353811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0748772" y="5353811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C4820A"/>
                </a:solidFill>
                <a:latin typeface="Segoe UI"/>
              </a:rPr>
              <a:t>103 грн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566928" y="5664707"/>
            <a:ext cx="11064240" cy="6400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566928" y="5664707"/>
            <a:ext cx="41148" cy="6400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841248" y="5756147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ЩО ПОКАЗУЄ ЗВЕДЕННЯ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841248" y="5957315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Nongshim і Samyang — 57 із 93 позицій; перший у 11 мережах із 13, другий у 12. Choi’s (SIAS) — одна позиція у двох мережах («Космос», «Таврія В»), 125 грн. Решта шість брендів — від 1 до 14 позицій, переважно в «Ашані».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Джерела: каталоги мереж (zakaz.ua) і «Сільпо», 29.09.2026. Клітинка = унікальні EAN × медіана цін по магазинах мережі; «Сільпо» — 4 позиції без EAN (3 Samyang, з них 2 за 89,99 — акція, і 1 Nongshim); 93 = 89 позицій з EAN + 4 «Сільпо». «Медіана» в підсумку — за медіанними цінами позицій по мережах. Сегменти 1–3.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ФОРМАТ × ВАГА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насправді щільна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Кожна клітинка — скільки позицій корейського рамену має цей формат у цій ваговій смузі. Насиченість кольору пропорційна кількості.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11064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МАТРИЦЯ ФОРМАТ × ВАГА · КІЛЬКІСТЬ SKU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40–90 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90–110 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8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110–125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125–145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7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145 г 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295144"/>
            <a:ext cx="20116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303A5D"/>
                </a:solidFill>
                <a:latin typeface="Segoe UI"/>
              </a:rPr>
              <a:t>Пакет (пачка)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88336" y="2139696"/>
            <a:ext cx="1517904" cy="457200"/>
          </a:xfrm>
          <a:prstGeom prst="rect">
            <a:avLst/>
          </a:prstGeom>
          <a:solidFill>
            <a:srgbClr val="EB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8336" y="226771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2139696"/>
            <a:ext cx="1517904" cy="457200"/>
          </a:xfrm>
          <a:prstGeom prst="rect">
            <a:avLst/>
          </a:prstGeom>
          <a:solidFill>
            <a:srgbClr val="A9B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226771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97296" y="2139696"/>
            <a:ext cx="1517904" cy="45720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7296" y="226771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51775" y="2139696"/>
            <a:ext cx="1517904" cy="457200"/>
          </a:xfrm>
          <a:prstGeom prst="rect">
            <a:avLst/>
          </a:prstGeom>
          <a:solidFill>
            <a:srgbClr val="5A7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5" y="226771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6255" y="2139696"/>
            <a:ext cx="1517904" cy="457200"/>
          </a:xfrm>
          <a:prstGeom prst="rect">
            <a:avLst/>
          </a:prstGeom>
          <a:solidFill>
            <a:srgbClr val="CF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06255" y="226771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788920"/>
            <a:ext cx="20116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88336" y="2633472"/>
            <a:ext cx="1517904" cy="457200"/>
          </a:xfrm>
          <a:prstGeom prst="rect">
            <a:avLst/>
          </a:prstGeom>
          <a:solidFill>
            <a:srgbClr val="7D9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88336" y="27614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42816" y="2633472"/>
            <a:ext cx="1517904" cy="457200"/>
          </a:xfrm>
          <a:prstGeom prst="rect">
            <a:avLst/>
          </a:prstGeom>
          <a:solidFill>
            <a:srgbClr val="EB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2816" y="27614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97296" y="2633472"/>
            <a:ext cx="1517904" cy="457200"/>
          </a:xfrm>
          <a:prstGeom prst="rect">
            <a:avLst/>
          </a:prstGeom>
          <a:solidFill>
            <a:srgbClr val="CF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97296" y="27614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51775" y="2633472"/>
            <a:ext cx="1517904" cy="457200"/>
          </a:xfrm>
          <a:prstGeom prst="rect">
            <a:avLst/>
          </a:prstGeom>
          <a:solidFill>
            <a:srgbClr val="EB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27614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06255" y="2633472"/>
            <a:ext cx="1517904" cy="457200"/>
          </a:xfrm>
          <a:prstGeom prst="rect">
            <a:avLst/>
          </a:prstGeom>
          <a:solidFill>
            <a:srgbClr val="EB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06255" y="27614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383279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3392423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ВАГОВІ СМУГИ РИНКУ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392423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частка SKU та медіана полиці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3621024"/>
            <a:ext cx="1920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ВАГОВА СМУГА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23744" y="3621024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55264" y="3621024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ЧАСТКА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61104" y="3621024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3621024"/>
            <a:ext cx="4937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ЩО ЦЕ ЗА СМУГА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803904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40–90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23744" y="380390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55264" y="380390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19 %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61104" y="380390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105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803904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лише стакани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6" y="4082796"/>
            <a:ext cx="10936224" cy="30632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4119372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90–110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23744" y="411937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55264" y="411937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1104" y="411937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101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0" y="4119372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перехідна смуга, мало позицій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4434840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110–125 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23744" y="443484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55264" y="443484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40 %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61104" y="443484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93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0" y="4434840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найщільніша смуга ринку — Shin Ramyun, Ottogi, Paldo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3776" y="4713731"/>
            <a:ext cx="10936224" cy="30632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" y="4750307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125–145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23744" y="4750307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5264" y="4750307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30 %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61104" y="4750307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112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4750307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смуга преміальних лінійок і соусних SKU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5065775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145 г 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23744" y="506577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55264" y="5065775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1 %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61104" y="5065775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135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0" y="5065775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поодинокі позиції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5907024"/>
            <a:ext cx="5413248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66928" y="5907024"/>
            <a:ext cx="41148" cy="8412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1247" y="6071616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ВАГА НАШИХ SKU — РИНКОВА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1247" y="6345936"/>
            <a:ext cx="4864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112,5–131 г потрапляє у дві найщільніші смуги: 70 % усіх позицій ринку. За форматом і грамажем заперечень немає.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17920" y="5907024"/>
            <a:ext cx="5413248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17920" y="5907024"/>
            <a:ext cx="41148" cy="84124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92240" y="6071616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ЦІНА НАШИХ SKU ПРОТИ ЦИХ СМУГ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2240" y="6345936"/>
            <a:ext cx="4864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При полиці 120 грн наші SKU на 29 % дорожчі за медіану смуги 110–125 г (93 грн), при поточних 140,55 грн — на 51 %.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РИТЕЙЛ-АУДИТ ·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Що з корейського рамену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Суцільна перевірка онлайн-каталогів 18 мереж, зріз 29.09.2026. SKU — унікальні позиції корейського рамену в каталозі мережі.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00784"/>
            <a:ext cx="2377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1700784"/>
            <a:ext cx="1645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ПОКРИТТЯ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700784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1700784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00784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ДІАПАЗОН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700784"/>
            <a:ext cx="367588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БРЕНДИ НА ПОЛИЦІ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88366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1883664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188366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188366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89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883664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65–202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1883664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Paldo · Ottogi · O’Food · Bibigo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" y="2104948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14152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2141524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214152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214152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114 грн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141524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67–158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141524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399385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399385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239938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808" y="2399385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126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2399385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72–209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399385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Paldo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" y="2620670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2657246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2657246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265724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8" y="265724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88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2657246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67–124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2657246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915107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44368" y="2915107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0288" y="2915107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1808" y="2915107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137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2915107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117–157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2915107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" y="3136392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172968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44368" y="3172968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90288" y="317296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21808" y="317296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137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317296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117–157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3172968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3430828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44368" y="3430828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 · C&amp;C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0288" y="343082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21808" y="343082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108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19088" y="343082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98–165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3430828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" y="3652113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3688689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44368" y="3688689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0288" y="3688689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21808" y="3688689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122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9088" y="3688689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40–150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3688689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 · Choi’s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394655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44368" y="3946550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90288" y="394655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21808" y="394655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122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19088" y="394655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34–150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5279" y="3946550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 · Choi’s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3776" y="4167835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6928" y="4204411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44368" y="4204411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90288" y="4204411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21808" y="4204411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134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19088" y="4204411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119–184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55279" y="4204411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462272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44368" y="4462272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90288" y="446227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21808" y="446227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120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19088" y="44622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100–134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55279" y="4462272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93776" y="4683556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6928" y="4720132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44368" y="4720132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90288" y="472013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21808" y="472013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102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19088" y="472013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93–111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4720132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4977993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44368" y="4977993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 · №1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90288" y="4977993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21808" y="4977993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114 грн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19088" y="4977993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90–199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55279" y="4977993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(3) · Nongshim (1)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776" y="5199278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66928" y="523585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МегаМаркет · Ultramarket · ЕКО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944368" y="5235854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90288" y="523585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21808" y="523585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19088" y="5235854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55279" y="5235854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6928" y="5493715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Епіцентр · «Ідеал»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5493715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 / регіон.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90288" y="549371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21808" y="5493715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19088" y="5493715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55279" y="5493715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6928" y="5961888"/>
            <a:ext cx="3547872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66928" y="5961888"/>
            <a:ext cx="41148" cy="8229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41247" y="612647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№1 · «СІЛЬПО»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41247" y="6400800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Найбільша мережа країни тримає 4 позиції. Полиця відкрита, але вхід там 90–199 грн.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315968" y="5961888"/>
            <a:ext cx="3547872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315968" y="5961888"/>
            <a:ext cx="41148" cy="8229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90288" y="612647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№2 · П’ЯТЬ МЕРЕЖ З НУЛЕМ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90288" y="6400800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МегаМаркет, Ultramarket, ЕКО, Епіцентр, «Ідеал» — жодної позиції у зрізі.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065008" y="5961888"/>
            <a:ext cx="356616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065008" y="5961888"/>
            <a:ext cx="41148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339328" y="6126479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ОДИН ПОСТАЧАЛЬНИК НА ДВІ МЕРЕЖІ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39328" y="6400800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«Космос» і «Таврія В» — по 12 позицій; 12 із них збігаються за EAN. Найімовірніше, один постачальник на дві мережі.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Ліворуч — скільки точок у кожному каналі перевірено у зрізі. Праворуч — хто туди приходить і чи це наш покупець.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ТОЧОК ПРОДАЖУ В КАНАЛІ · ПЕРЕВІРЕНО У ЗРІЗІ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32918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6435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8598" y="32918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7870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2948" y="32918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305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32918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32918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Продуктові мережі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50008" y="2048256"/>
            <a:ext cx="1851660" cy="2011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4820" y="2066544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18  ·  13 мають рамен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491740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50008" y="2468880"/>
            <a:ext cx="514350" cy="201168"/>
          </a:xfrm>
          <a:prstGeom prst="rect">
            <a:avLst/>
          </a:prstGeom>
          <a:solidFill>
            <a:srgbClr val="1E8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37510" y="2487168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912364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Маркетплейси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0008" y="2889504"/>
            <a:ext cx="411480" cy="201168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290779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749039"/>
            <a:ext cx="5394960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749039"/>
            <a:ext cx="41148" cy="24688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3913631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КАНАЛ І ПОКУПЕЦЬ — РІЗНІ ОСІ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4187952"/>
            <a:ext cx="4846320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Продуктові мережі — єдиний канал з обсягом, але саме там уже стоять Samyang і Nongshim.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Маркетплейси й азійські фудшопи дають орієнтир ціни, але не обсяг: медіана на Prom — 135 грн, у фудшопах 61–158 грн. Умови бонусу в цих каналах не перевірялися: у моделі закладено 25 % для мережевого роздробу.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На відміну від готового рису, outdoor- і мілітарі-рітейл для рамену не канал: рамен потребує окропу, тому в туристичних магазинах його немає.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Практичний вхід — «Сільпо» і п’ять нацмереж із нулем.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645920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1645920"/>
            <a:ext cx="41148" cy="115214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173736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Продуктовий роздріб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40112" y="1737360"/>
            <a:ext cx="149961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40112" y="1764792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1975104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B53A3A"/>
                </a:solidFill>
                <a:latin typeface="Segoe UI"/>
              </a:rPr>
              <a:t>МЕРЕЖІ НАЦІОНАЛЬНОГО ПОКРИТТЯ · 18 ПЕРЕВІРЕНО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2139696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 мереж мають корейський рамен, 5 — жодної позиції. «Сільпо» тримає 4 позиції на всю мережу.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2578608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Масовий покупець · щоденне харчування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907792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2907792"/>
            <a:ext cx="41148" cy="11521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4" y="299923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Онлайн-маркетплейси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40112" y="2999232"/>
            <a:ext cx="1499616" cy="2011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0112" y="3026664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5664" y="3236976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УНІВЕРСАЛЬНІ МАЙДАНЧИКИ · 4 МАЙДАНЧИКИ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5664" y="3401568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Prom · Rozetka · MAUDAU · Bigl. Медіана в категорії «локшина рамен» на Prom — 135 грн, мінімум 80 грн.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55664" y="3840480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Масовий покупець · планована закупівля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169663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4169663"/>
            <a:ext cx="41148" cy="115214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55664" y="4261103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40112" y="4261103"/>
            <a:ext cx="149961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40112" y="4288536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ВХІД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55664" y="4498848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1E9EA6"/>
                </a:solidFill>
                <a:latin typeface="Segoe UI"/>
              </a:rPr>
              <a:t>СПЕЦІАЛІЗОВАНИЙ ФУДРІТЕЙЛ · 5 МАГАЗИНІВ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55664" y="4663440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OMG! Asia · Тайякі Март · Суші Повар · Asia Foods · Panda Asian. Корейський рамен 61–158 грн, ядро 92–135 грн.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55664" y="5102352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Покупець азійської кухні · знає категорію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5431536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5431536"/>
            <a:ext cx="41148" cy="1152144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5664" y="552297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Outdoor- і мілітарі-рітейл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40112" y="5522976"/>
            <a:ext cx="1499616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40112" y="5550408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НЕ НАШ КАНАЛ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55664" y="5760720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9FA9C4"/>
                </a:solidFill>
                <a:latin typeface="Segoe UI"/>
              </a:rPr>
              <a:t>ТУРИСТИЧНІ ТА ВІЙСЬКОВІ МАГАЗИНИ · 0 ПОЗИЦІЙ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55664" y="5925312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Рамену там немає: він потребує окропу й каструлі.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55664" y="6364224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Турист і військовий · автономне харчування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СУМІЖНА ПОЛИЦЯ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Не-корейська локшина: підлога, від якої рахує покупець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14 найпоширеніших не-корейських позицій локшини швидкого приготування — по одній на бренд. Вони формують уявлення про «нормальну» ціну пачки.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36576" cy="192024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609344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E59A8"/>
                </a:solidFill>
                <a:latin typeface="Segoe UI"/>
              </a:rPr>
              <a:t>УКРАЇНА ТА АЗІЯ БЕЗ КОРЕЇ   ·   Варіння або окріп   ·   50–200 г   ·   9–144 грн за пачку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Garnenka зі смаком курки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9–13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ЕКО · Епіцентр +2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311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Daryna зі смаком курки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50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Епіцентр · Торба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313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Хуторок зі смаком курки 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13–16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ЕКО · Ідеал · МегаМаркет +1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48230974133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Щедро Том Ям з морепродуктами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12–18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48201792568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Reeva зі смаком грибів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15–22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ЕКО +9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22792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ChiBi Sweet Chili Crab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85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18–25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ЕКО · Ідеал · NOVUS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22992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Acecook Hao Hao зі смаком Кімчі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77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38–51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5201810202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рамен Yum Yum Tom Yum з креветками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70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60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93456362815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Ippin класичний рамен Хаката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73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82–97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58500244579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Макаронні вироби МІВІНА® Street Fo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121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81–108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Ідеал +9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93601068154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Cung Dinh Kool Korean BBQ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105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110–144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Grono +1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" y="5559552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66928" y="5559552"/>
            <a:ext cx="41148" cy="1152144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1247" y="5724144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ЦЕ ОЗНАЧАЄ ДЛЯ ЦІНИ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1247" y="5998464"/>
            <a:ext cx="48646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Український мас-маркет — 9–22 грн за пачку. Корейський рамен коштує в 4–5 разів більше (медіана пакета — 102,8 грн), і ринок це приймає. Але прийнята премія має межу.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17920" y="5559552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217920" y="5559552"/>
            <a:ext cx="41148" cy="115214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92240" y="5724144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ДЕ ЦЯ МЕЖА ПРОХОДИТЬ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92240" y="5998464"/>
            <a:ext cx="48646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Корейський пакет коштує від 68 до 205 грн. Дорожчих за 120 грн — лише 18 із 71; за поточної полиці 140,55 грн — 7.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1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 на полиці зараз: 141–208 грн замість цільових 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Шість SKU SIAS за поточною закупівлею €0,65–0,75 за пачку. Ціна на полиці — з ПДВ, за одну пачку, маржа 30 %, бонус мережі 25 %.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256032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223113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€0,65 · €0,75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22311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закупівля SIAS зараз за пачку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865376"/>
            <a:ext cx="27432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1568" y="1609344"/>
            <a:ext cx="256032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719072"/>
            <a:ext cx="223113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45,18 · 52,13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011680"/>
            <a:ext cx="22311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СС (Self-Cost): товар, логістика, ПДВ · 33 палети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1865376"/>
            <a:ext cx="27432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7" y="1609344"/>
            <a:ext cx="256032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1719072"/>
            <a:ext cx="223113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100,40 · 115,84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2011680"/>
            <a:ext cx="22311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ціна партнеру = СС ÷ 0,45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1865376"/>
            <a:ext cx="27432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7" y="1609344"/>
            <a:ext cx="256032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39" y="1719072"/>
            <a:ext cx="223113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140,55 · 162,18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39" y="2011680"/>
            <a:ext cx="22311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полиця = ціна партнеру × 1,40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560320"/>
            <a:ext cx="2377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ПОЗИЦІЯ SIAS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2560320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256032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ЗАКУПІВЛЯ, €/пач.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256032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СС, ГРН · 33 ПАЛ.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560320"/>
            <a:ext cx="1417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ПОЛИЦЯ · 33 ПАЛЕТИ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560320"/>
            <a:ext cx="13258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ПОЛИЦЯ · 6 ПАЛЕТ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560320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ЦІЛЬ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2560320"/>
            <a:ext cx="148132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ВІДРИВ ВІД 120 · 33 ПАЛ.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74320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Gouda Cheese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274320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123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274320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274320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52,13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74320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162,18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2743200"/>
            <a:ext cx="1325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208,43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274320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4120" y="2743200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+42,18 грн · +35 %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" y="3026664"/>
            <a:ext cx="11064240" cy="3108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06324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Carbonara Spicy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30632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131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306324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€0,75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306324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52,13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06324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162,18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3063240"/>
            <a:ext cx="1325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208,43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306324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04120" y="3063240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+42,18 грн · +35 %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338328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Vegetable Flavor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20" y="33832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338328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338328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45,18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338328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140,55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3383280"/>
            <a:ext cx="1325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180,64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338328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4120" y="3383280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+20,55 грн · +17 %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" y="3666744"/>
            <a:ext cx="11064240" cy="3108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370332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Spicy Flavor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370332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112,5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370332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66360" y="370332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45,18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370332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140,55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0" y="3703320"/>
            <a:ext cx="1325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180,64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18320" y="370332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3703320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+20,55 грн · +17 %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4023359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Beef Flavor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17520" y="4023359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0" y="4023359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66360" y="4023359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45,18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4023359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140,55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01000" y="4023359"/>
            <a:ext cx="1325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180,64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18320" y="4023359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4023359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+20,55 грн · +17 %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3776" y="4306823"/>
            <a:ext cx="11064240" cy="3108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4343399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Chicken Flavor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17520" y="4343399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0480" y="4343399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66360" y="4343399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45,18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2240" y="4343399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140,55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01000" y="4343399"/>
            <a:ext cx="1325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180,64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18320" y="4343399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04120" y="4343399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+20,55 грн · +17 %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6928" y="4773168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66928" y="4773168"/>
            <a:ext cx="41148" cy="12984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2960" y="4928616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33 ПАЛЕТИ · ЧОТИРИ SKU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5138928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1E9EA6"/>
                </a:solidFill>
                <a:latin typeface="Segoe UI"/>
              </a:rPr>
              <a:t>140,55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" y="5596127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+17 % до цілі 120. Дорожче за 64 із 71 пакетних позицій ринку.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15968" y="4773168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15968" y="4773168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72000" y="4928616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33 ПАЛЕТИ · GOUDA, CARBONARA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0" y="5138928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162,18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0" y="5596127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+35 % до цілі 120. Дорожче за 68 із 71 пакетних позицій.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65008" y="4773168"/>
            <a:ext cx="3566160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065008" y="4773168"/>
            <a:ext cx="41148" cy="129844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21040" y="4928616"/>
            <a:ext cx="3090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6 ПАЛЕТ · УСІ SKU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21040" y="5138928"/>
            <a:ext cx="30906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B53A3A"/>
                </a:solidFill>
                <a:latin typeface="Segoe UI"/>
              </a:rPr>
              <a:t>181–208 грн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21040" y="5596127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+51…74 % до цілі 120. Вище за весь ринок пакетів (макс. 205 грн).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Фінмодель SIAS: вкладки «Финмодель 6 паллет» і «Финмодель 33 паллет», колонки маржі 30 %. СС — Self-Cost_Sias.xlsx. Курс 51,20 грн/€; ціна партнеру — вже з ПДВ. Коефіцієнти: 1 − 0,25 − 0,30 = 0,45; націнка 1,40.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ОКРЕМИЙ КОНКУРЕНТ · ЦІНА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Choi’s у «Таврії В»: по чому продавали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Той самий бренд SIAS уже стоїть на українській полиці. Три дати й три рівні цін — щоб порівняти з нашою ціллю та поточною моделлю.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669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CHOI’S CARBONARA 131 Г · ЦІНА ЗА ПАЧКУ, ГРН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6135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0375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5022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9262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3909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08149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2797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7037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1684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5924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02539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акція €1,80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1997964"/>
            <a:ext cx="103423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4636" y="202082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92,2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39115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звичайна €2,20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2363724"/>
            <a:ext cx="126406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4466" y="238658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112,6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5691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29.09.2026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72948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5417" y="275234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12267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 · 29.09.2026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248" y="309524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05417" y="311810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48843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05–06.10 (за V3)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3461003"/>
            <a:ext cx="1475716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76116" y="348386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131,50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5419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НАШ SIAS · ціль за моделлю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3826763"/>
            <a:ext cx="1346661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47061" y="384962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120,00 грн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21995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33 палети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7248" y="4192524"/>
            <a:ext cx="1819979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0379" y="421538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162,18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58571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6 палет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4558284"/>
            <a:ext cx="2339061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39461" y="458114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208,43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1645920"/>
            <a:ext cx="4754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ПОРІВНЯННЯ · «ЗАРАЗ» = 33 ПАЛЕТИ, МАРЖА 30 %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1920240"/>
            <a:ext cx="1554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1920240"/>
            <a:ext cx="10515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CHOI’S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1920240"/>
            <a:ext cx="10515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ЦІЛЬ 120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1920240"/>
            <a:ext cx="10698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ЗАРАЗ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2103120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Ціна,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2103120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125,20 / 131,50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2103120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103120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162,18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30568" y="2468880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3720" y="2505456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Choi’s 125,20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8200" y="2505456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505456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−4,2 %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2505456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+29,5 %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2907792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медіани пакета 102,8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2907792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+21,8 %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2907792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+16,7 %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2907792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+57,8 %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30568" y="3273552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03720" y="331012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Дорожчих у категорії*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1012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13 з 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331012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18 з 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3310128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3 з 71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903720" y="4389120"/>
            <a:ext cx="4727448" cy="18836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03720" y="4389120"/>
            <a:ext cx="41148" cy="18836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78040" y="4553712"/>
            <a:ext cx="4178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ЩО ЦЕ ЗНАЧИТЬ ДЛЯ ПЕРЕГОВОРІВ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78040" y="4828031"/>
            <a:ext cx="417880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1. Наша ціль 120 грн — на 4–9 % нижче за те, по чому цей бренд уже продають у «Таврії В». Якщо це той самий EAN 3760344350847, діючий імпортер матиме ціну вищу за нашу.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2. За 29.09 → 05–06.10 ціна в «Таврії В» зросла на 5 %, акційної ціни немає (стара ціна дорівнює новій).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3. Історії цін немає — лише дві дати. Її варто запросити в «Таврії В» і SIAS.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6928" y="5248656"/>
            <a:ext cx="6035040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66928" y="5248656"/>
            <a:ext cx="41148" cy="1042415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7" y="5413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ЄВРОПЕЙСЬКИЙ ОРІЄНТИР — ТІЛЬКИ ДЛЯ ПОРІВНЯННЯ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1247" y="5687568"/>
            <a:ext cx="5486400" cy="43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dotasia.eu продає ту саму позицію за €1,80 замість €2,20 (−18 %); Gouda Cheese 123 г — так само. Це інтернет-магазин в ЄС, ПДВ на сторінці не вказано, товар «немає в наявності» — прямо порівнювати з українською полицею не можна.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* З 71 пакетної позиції зрізу 29.09.2026. Курс для перерахунку EUR→грн — 51,20. Джерела: tavriav.zakaz.ua, cosmos.zakaz.ua; ціна «Таврії В» 05–06.10 — за V3; dotasia.eu (Choi’s Carbonara 131 г, Gouda 123 г).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КОНКУРЕНТИ 1 З 2 · ПОПУЛЯРНА УПАКОВКА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 пачки популярних упаковок проти 120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Порівняння за одиницю товару — пачку. Лінія — мін.–макс. ціна позиції по мережах, блок — медіана. Червона лінія — наша ціль 120 грн, бурштинова — поточна полиця SIAS.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0934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ПОПУЛЯРНІ ВАГИ ПАКЕТА · ЦІНА ПАЧКИ, ГРН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2103120"/>
            <a:ext cx="5486" cy="25237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5688" y="4663440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71215" y="2103120"/>
            <a:ext cx="5486" cy="25237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6896" y="4663440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2424" y="2103120"/>
            <a:ext cx="5486" cy="25237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8104" y="4663440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3631" y="2103120"/>
            <a:ext cx="5486" cy="25237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1" y="4663440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2103120"/>
            <a:ext cx="5486" cy="25237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4663440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2103120"/>
            <a:ext cx="5486" cy="25237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4663440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6023" y="2048255"/>
            <a:ext cx="14630" cy="26151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15184" y="1883663"/>
            <a:ext cx="804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B53A3A"/>
                </a:solidFill>
                <a:latin typeface="Segoe UI"/>
              </a:rPr>
              <a:t>120 ціль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3109" y="2048255"/>
            <a:ext cx="14630" cy="261518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8030" y="1883663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spc="-10">
                <a:solidFill>
                  <a:srgbClr val="C4820A"/>
                </a:solidFill>
                <a:latin typeface="Segoe UI"/>
              </a:rPr>
              <a:t>140,55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8789" y="2048255"/>
            <a:ext cx="14630" cy="261518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7757" y="1883663"/>
            <a:ext cx="804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C4820A"/>
                </a:solidFill>
                <a:latin typeface="Segoe UI"/>
              </a:rPr>
              <a:t>162,18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148839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120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331720"/>
            <a:ext cx="16916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22 SKU · до 120 грн включно: 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90734" y="2281427"/>
            <a:ext cx="1047628" cy="64008"/>
          </a:xfrm>
          <a:prstGeom prst="rect">
            <a:avLst/>
          </a:prstGeom>
          <a:solidFill>
            <a:srgbClr val="8D9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55854" y="2203703"/>
            <a:ext cx="128016" cy="21945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217627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68–128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2340863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медіана 93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569463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130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752344"/>
            <a:ext cx="16916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9 SKU · до 120 грн включно: 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53842" y="2702051"/>
            <a:ext cx="2019680" cy="64008"/>
          </a:xfrm>
          <a:prstGeom prst="rect">
            <a:avLst/>
          </a:prstGeom>
          <a:solidFill>
            <a:srgbClr val="8D9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17224" y="2624327"/>
            <a:ext cx="128016" cy="21945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259689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89–205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2761487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медіана 114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2990087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140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172968"/>
            <a:ext cx="16916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 SKU · до 120 грн включно: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93598" y="3122675"/>
            <a:ext cx="608076" cy="64008"/>
          </a:xfrm>
          <a:prstGeom prst="rect">
            <a:avLst/>
          </a:prstGeom>
          <a:solidFill>
            <a:srgbClr val="8D9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54476" y="3044951"/>
            <a:ext cx="128016" cy="21945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0" y="3017520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103–138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318211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медіана 122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3410711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105 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593591"/>
            <a:ext cx="16916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 SKU · до 120 грн включно: 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54046" y="3543299"/>
            <a:ext cx="1381201" cy="64008"/>
          </a:xfrm>
          <a:prstGeom prst="rect">
            <a:avLst/>
          </a:prstGeom>
          <a:solidFill>
            <a:srgbClr val="8D9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5908" y="3465575"/>
            <a:ext cx="128016" cy="21945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0" y="343814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78–157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3602735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медіана 139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3831335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110 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4014215"/>
            <a:ext cx="16916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4 SKU · до 120 грн включно: 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20065" y="3963924"/>
            <a:ext cx="416966" cy="64008"/>
          </a:xfrm>
          <a:prstGeom prst="rect">
            <a:avLst/>
          </a:prstGeom>
          <a:solidFill>
            <a:srgbClr val="8D9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884520" y="3886200"/>
            <a:ext cx="128016" cy="21945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0" y="3858768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81–105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4023359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медіана 94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4251959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122 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4434840"/>
            <a:ext cx="16916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3 SKU · до 120 грн включно: 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93034" y="4384548"/>
            <a:ext cx="27432" cy="64008"/>
          </a:xfrm>
          <a:prstGeom prst="rect">
            <a:avLst/>
          </a:prstGeom>
          <a:solidFill>
            <a:srgbClr val="8D9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29026" y="4306824"/>
            <a:ext cx="128016" cy="21945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0" y="427939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86–86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0" y="4443983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медіана 86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1609344"/>
            <a:ext cx="5303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ПАКЕТ 120 Г — УПАКОВКА №1 · ПО БРЕНДАХ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38160" y="2103120"/>
            <a:ext cx="5486" cy="21031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63840" y="4242816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99017" y="2103120"/>
            <a:ext cx="5486" cy="21031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4697" y="4242816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90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059875" y="2103120"/>
            <a:ext cx="5486" cy="21031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85555" y="4242816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20732" y="2103120"/>
            <a:ext cx="5486" cy="21031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46412" y="4242816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150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981590" y="2103120"/>
            <a:ext cx="5486" cy="21031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07270" y="4242816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42448" y="2103120"/>
            <a:ext cx="5486" cy="21031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168128" y="4242816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210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53474" y="2048255"/>
            <a:ext cx="14630" cy="219456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82635" y="1883663"/>
            <a:ext cx="804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B53A3A"/>
                </a:solidFill>
                <a:latin typeface="Segoe UI"/>
              </a:rPr>
              <a:t>120 ціль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69213" y="2048255"/>
            <a:ext cx="14630" cy="21945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64134" y="1883663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spc="-10">
                <a:solidFill>
                  <a:srgbClr val="C4820A"/>
                </a:solidFill>
                <a:latin typeface="Segoe UI"/>
              </a:rPr>
              <a:t>140,55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701393" y="2048255"/>
            <a:ext cx="14630" cy="21945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680362" y="1883663"/>
            <a:ext cx="804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C4820A"/>
                </a:solidFill>
                <a:latin typeface="Segoe UI"/>
              </a:rPr>
              <a:t>162,18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55080" y="2148839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55080" y="2331720"/>
            <a:ext cx="16916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9 SKU · до 120 грн включно: 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45545" y="2281427"/>
            <a:ext cx="843369" cy="64008"/>
          </a:xfrm>
          <a:prstGeom prst="rect">
            <a:avLst/>
          </a:prstGeom>
          <a:solidFill>
            <a:srgbClr val="DE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897550" y="2203703"/>
            <a:ext cx="128016" cy="21945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515599" y="217627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74–128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15599" y="2340863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медіана 114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55080" y="2569463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55080" y="2752344"/>
            <a:ext cx="16916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 SKU · до 120 грн включно: 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62591" y="2702051"/>
            <a:ext cx="377903" cy="64008"/>
          </a:xfrm>
          <a:prstGeom prst="rect">
            <a:avLst/>
          </a:prstGeom>
          <a:solidFill>
            <a:srgbClr val="DE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78938" y="2624327"/>
            <a:ext cx="128016" cy="21945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15599" y="259689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68–93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15599" y="2761487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медіана 86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55080" y="2990087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55080" y="3172968"/>
            <a:ext cx="16916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4 SKU · до 120 грн включно: 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322503" y="3122675"/>
            <a:ext cx="321064" cy="64008"/>
          </a:xfrm>
          <a:prstGeom prst="rect">
            <a:avLst/>
          </a:prstGeom>
          <a:solidFill>
            <a:srgbClr val="DE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549987" y="3044951"/>
            <a:ext cx="128016" cy="21945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515599" y="3017520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72–93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15599" y="318211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медіана 91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55080" y="3410711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55080" y="3593591"/>
            <a:ext cx="16916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SKU · до 120 грн включно: 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875532" y="3543299"/>
            <a:ext cx="57607" cy="64008"/>
          </a:xfrm>
          <a:prstGeom prst="rect">
            <a:avLst/>
          </a:prstGeom>
          <a:solidFill>
            <a:srgbClr val="DE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840327" y="3465575"/>
            <a:ext cx="128016" cy="21945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515599" y="343814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108–112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15599" y="3602735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медіана 110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55080" y="3831335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55080" y="4014215"/>
            <a:ext cx="16916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 SKU · до 120 грн включно: 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674291" y="3963924"/>
            <a:ext cx="27432" cy="64008"/>
          </a:xfrm>
          <a:prstGeom prst="rect">
            <a:avLst/>
          </a:prstGeom>
          <a:solidFill>
            <a:srgbClr val="DE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10283" y="3886200"/>
            <a:ext cx="128016" cy="21945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515599" y="3858768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95–95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15599" y="4023359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медіана 95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66928" y="5029200"/>
            <a:ext cx="3547872" cy="12801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66928" y="5029200"/>
            <a:ext cx="41148" cy="128016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1247" y="5193792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1" spc="-10">
                <a:solidFill>
                  <a:srgbClr val="303A5D"/>
                </a:solidFill>
                <a:latin typeface="Segoe UI"/>
              </a:rPr>
              <a:t>ДО 120 ГРН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41247" y="5468112"/>
            <a:ext cx="2999232" cy="67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53 із 71 пакетних позицій коштують до 120 грн включно. В упаковці №1 (120 г) — 20 із 22.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315968" y="5029200"/>
            <a:ext cx="3547872" cy="12801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315968" y="5029200"/>
            <a:ext cx="41148" cy="1280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590288" y="5193792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1" spc="-10">
                <a:solidFill>
                  <a:srgbClr val="303A5D"/>
                </a:solidFill>
                <a:latin typeface="Segoe UI"/>
              </a:rPr>
              <a:t>НАШІ SKU ПРОТИ УПАКОВКИ №1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90288" y="5468112"/>
            <a:ext cx="2999232" cy="67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Медіана пачки 120 г — 93 грн. Ціль 120 грн дорожча на 29 %, поточні 140,55 грн — на 51 %. Наші пачки при цьому легші: 112,5–113 г.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065008" y="5029200"/>
            <a:ext cx="3566160" cy="12801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065008" y="5029200"/>
            <a:ext cx="41148" cy="128016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339328" y="5193792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1" spc="-10">
                <a:solidFill>
                  <a:srgbClr val="303A5D"/>
                </a:solidFill>
                <a:latin typeface="Segoe UI"/>
              </a:rPr>
              <a:t>ПОТОЧНА ПОЛИЦЯ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39328" y="5468112"/>
            <a:ext cx="3017520" cy="67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140,55 грн вище за 64 із 71 пакетних позицій, 162,18 грн — вище за 68.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29.09.2026, медіана ціни позиції (EAN) по мережах; пакетний рамен, сегменти 1–2, ваги з трьома і більше позиціями. Поточна полиця SIAS — за фінмоделлю, 33 палети, маржа 30 %.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АКЦІЇ ТА МІНІМАЛЬНІ ЦІНИ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Ключові конкуренти продаються нижче 120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Одна й та сама позиція конкурента коштує по-різному в різних мережах і під час акцій. Для SIAS це діапазон конкурентного тиску на полиці.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00784"/>
            <a:ext cx="2834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ПОЗИЦІЯ КОНКУРЕНТА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700784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7" y="1700784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МЕРЕЖ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700784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НАЙНИЖЧА, грн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1700784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НАЙВИЩА,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170078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РІЗНИЦЯ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88366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Buldak 2× spicy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8836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7" y="188366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188366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86,20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188366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151,00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1883664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43 %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" y="2148840"/>
            <a:ext cx="7589520" cy="2926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185416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Buldak Hot Chicken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218541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7" y="218541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218541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92,90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218541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156,00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2185416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487168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Buldak тушкована курка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248716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7" y="248716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24871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93,50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24871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184,00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248716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49 %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" y="2752344"/>
            <a:ext cx="7589520" cy="2926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2788920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Buldak з сиром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1568" y="278892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33087" y="278892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278892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99,90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278892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151,00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278892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34 %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090672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Nongshim Shin Ramyun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01568" y="309067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33087" y="309067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3168" y="309067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98,28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1888" y="309067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129,00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0608" y="3090672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" y="3355848"/>
            <a:ext cx="7589520" cy="2926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39242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Nongshim Kimchi Ramyun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01568" y="339242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33087" y="339242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73168" y="339242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98,28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61888" y="339242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124,00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50608" y="3392424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21 %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3694176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Nongshim Chapaghetti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01568" y="369417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33087" y="369417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73168" y="369417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89,00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61888" y="369417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136,00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50608" y="3694176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35 %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" y="3959352"/>
            <a:ext cx="7589520" cy="2926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3995928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Nongshim Toomba Spicy &amp; Creamy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01568" y="399592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137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33087" y="399592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73168" y="399592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131,10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61888" y="399592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154,00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50608" y="399592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4297680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Paldo Volcano Carbonara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01568" y="42976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130 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33087" y="429768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73168" y="42976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105,30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61888" y="42976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121,00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50608" y="429768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13 %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1627632"/>
            <a:ext cx="331012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21040" y="1627632"/>
            <a:ext cx="41148" cy="11155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77072" y="1783080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НИЖЧІ ЗА 120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77072" y="1993392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B53A3A"/>
                </a:solidFill>
                <a:latin typeface="Segoe UI"/>
              </a:rPr>
              <a:t>8 з 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77072" y="242925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ключових позицій конкурентів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мають мінімальну ціну нижче 120 грн.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21040" y="2871216"/>
            <a:ext cx="331012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21040" y="2871216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77072" y="302666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РОЗКИД МІЖ МЕРЕЖАМИ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77072" y="3236976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C4820A"/>
                </a:solidFill>
                <a:latin typeface="Segoe UI"/>
              </a:rPr>
              <a:t>34 %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77072" y="3672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медіанний розкид найдешевшої й найдорожчої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мережі для 18 позицій у трьох і більше мережах.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1040" y="4114800"/>
            <a:ext cx="331012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21040" y="4114800"/>
            <a:ext cx="41148" cy="11155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77072" y="4270248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АКЦІЯ В «АШАНІ»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77072" y="4480560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1E9EA6"/>
                </a:solidFill>
                <a:latin typeface="Segoe UI"/>
              </a:rPr>
              <a:t>30 з 52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77072" y="491642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записів пакетного рамену на акції;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знижка найчастіше 20–23 %, максимум 39 %.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" y="4992624"/>
            <a:ext cx="7589520" cy="12618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66928" y="4992624"/>
            <a:ext cx="41148" cy="12618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1247" y="5157216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СКІЛЬКИ КОШТУЄ АКЦІЯ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1247" y="5431536"/>
            <a:ext cx="7040880" cy="658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«Сільпо»: Samyang Buldak зі смаком курки та сиру і Buldak Carbonara — 89,99 грн замість 174 грн (−48 %). Samyang Tangle: від 77,50 до 157,00 грн залежно від мережі (−51 %).</a:t>
            </a:r>
          </a:p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Отже, конкурент може виставити ту саму пачку за 86–105 грн на акції; наша ціна 120 грн — вище за цей рівень, але нижче за повну ціну більшості позицій.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321040" y="5358384"/>
            <a:ext cx="3310128" cy="8961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21040" y="5358384"/>
            <a:ext cx="41148" cy="89611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595360" y="5522976"/>
            <a:ext cx="2761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ОБМЕЖЕННЯ ДАНИХ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95360" y="5797296"/>
            <a:ext cx="2761488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Стару ціну віддають лише деякі мережі (в основному «Ашан»): частка акцій тут — нижня межа.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29.09.2026: ціна за пачку і стара ціна. «Різниця» = 1 − найнижча ÷ найвища ціна позиції по мережах. «Сільпо» — ціна й стара ціна в каталозі.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2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Яка закупівля потрібна, щоб стати на полицю за 120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Обернений розрахунок за тією ж моделлю: від ціни на полиці 120 грн униз до ціни, яку ми можемо заплатити SIAS за пачку.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182880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149961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120,00 грн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цільова ціна на полиці з ПДВ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1865376"/>
            <a:ext cx="4800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5788" y="1609344"/>
            <a:ext cx="182880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0380" y="1719072"/>
            <a:ext cx="149961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85,71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0380" y="2011680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ціна партнеру = 120 ÷ 1,40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4588" y="1865376"/>
            <a:ext cx="4800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84648" y="1609344"/>
            <a:ext cx="182880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1719072"/>
            <a:ext cx="149961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38,57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011680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макс. СС = ціна партнеру × 45 %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1865376"/>
            <a:ext cx="4800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3508" y="1609344"/>
            <a:ext cx="182880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58100" y="1719072"/>
            <a:ext cx="149961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8100" y="2011680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макс. СС в євро = грн ÷ 51,20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2308" y="1865376"/>
            <a:ext cx="4800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02368" y="1609344"/>
            <a:ext cx="182880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1719072"/>
            <a:ext cx="149961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€0,54 · €0,32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011680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закупівля: 33 палети · 6 палет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560320"/>
            <a:ext cx="2286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ПОЗИЦІЯ SIAS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2560320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2560320"/>
            <a:ext cx="10515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ЗАРАЗ, €/пач.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2560320"/>
            <a:ext cx="1554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ПОТРІБНО · 33 ПАЛЕТИ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56032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ЗНИЖЕННЯ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560320"/>
            <a:ext cx="1508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ПОТРІБНО · 6 ПАЛЕТ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256032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ЗНИЖЕННЯ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2743200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Gouda Cheese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274320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123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2743200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743200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74320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−28 %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2743200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274320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−57 %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" y="2999232"/>
            <a:ext cx="9509760" cy="2834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035808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Carbonara Spicy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303580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131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3320" y="303580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€0,75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303580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03580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−28 %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3035808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303580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−57 %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3328415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Vegetable Flavor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3328415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03320" y="3328415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3328415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3328415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−17 %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3328415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3328415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−51 %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" y="3584447"/>
            <a:ext cx="9509760" cy="2834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3621023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Spicy Flavor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26080" y="3621023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112,5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03320" y="3621023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00600" y="3621023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3621023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−17 %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3621023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0" y="3621023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−51 %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3913631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Beef Flavor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26080" y="3913631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03320" y="3913631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3913631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391363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−17 %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06640" y="3913631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391363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−51 %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3776" y="4169663"/>
            <a:ext cx="9509760" cy="2834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4206240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Chicken Flavor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26080" y="42062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03320" y="4206240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00600" y="4206240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0" y="420624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−17 %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06640" y="4206240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61120" y="420624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−51 %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58400" y="2542032"/>
            <a:ext cx="1572768" cy="914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58400" y="2542032"/>
            <a:ext cx="41148" cy="9144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314432" y="2697479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33 ПАЛЕТИ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14432" y="2907791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-10">
                <a:solidFill>
                  <a:srgbClr val="1E9EA6"/>
                </a:solidFill>
                <a:latin typeface="Segoe UI"/>
              </a:rPr>
              <a:t>−17…28 %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14432" y="3184905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10058400" y="3547872"/>
            <a:ext cx="1572768" cy="914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058400" y="3547872"/>
            <a:ext cx="41148" cy="9144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314432" y="370332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6 ПАЛЕТ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14432" y="3913632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−51…57 %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14432" y="4190745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566928" y="4590288"/>
            <a:ext cx="5943600" cy="17190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66928" y="4590288"/>
            <a:ext cx="41148" cy="17190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41248" y="468172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ЯКЩО ЗАКУПІВЛЮ НЕ ЗНИЗИТИ: ЩО ВИТРИМАЄ ПОЛИЦЯ 120 ГРН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1248" y="4937760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НАША МАРЖА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40280" y="4937760"/>
            <a:ext cx="2057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МАКС. ЗАКУПІВЛЯ · 33 ПАЛ.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43400" y="4937760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МАКС. ЗАКУПІВЛЯ · 6 ПАЛ.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1248" y="512064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30 %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40280" y="5120640"/>
            <a:ext cx="2057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43400" y="512064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94944" y="5330952"/>
            <a:ext cx="5669280" cy="2377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1248" y="536752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40280" y="5367528"/>
            <a:ext cx="2057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€0,60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43400" y="536752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€0,39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1248" y="5614416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20 %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240280" y="5614416"/>
            <a:ext cx="2057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€0,67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343400" y="5614416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€0,46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94944" y="5824728"/>
            <a:ext cx="5669280" cy="2377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41248" y="5861304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240280" y="5861304"/>
            <a:ext cx="2057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€0,74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343400" y="5861304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€0,53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1248" y="6071616"/>
            <a:ext cx="5577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При поточній закупівлі полиця 120 грн дає маржу 14–22 % (33 палети) і −3…7 % (6 палет).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675120" y="4590288"/>
            <a:ext cx="4956048" cy="17190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675120" y="4590288"/>
            <a:ext cx="41148" cy="17190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0" y="4754879"/>
            <a:ext cx="44074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УМОВИ РОЗРАХУНКУ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0" y="5029200"/>
            <a:ext cx="4407408" cy="1115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Бонус мережі 25 %, наша маржа 30 %, націнка магазину 1,40, курс 51,20 грн/€, мито 0 %, ПДВ 20 %. Витрати партії (фрахт, брокер) — на пачку: 33 палети €0,09, 6 палет €0,34.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Не враховано: лістинг-фі, промо-підтримка мережі, відстрочка. Згоди SIAS на ці ціни немає — це ціна для переговорів.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Фінмодель SIAS: вкладки «Цена 120 грн — 6 паллет» і «— 33 паллет». Запит — гранична ціна, округлена вниз до євроцента. «Зараз» — з Self-Cost_Sias (€0,65 — чотири SKU, €0,75 — Gouda і Carbonara).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ЧУТЛИВІСТЬ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Яка закупівля потрібна при іншій полиці й іншій маржі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Максимальна ціна закупівлі, €/пачку, за формулою вкладок «Цена 120 грн». Колір — порівняння з поточною ціною SIAS: €0,75 (Gouda, Carbonara) і €0,65 (решта).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1E9EA6"/>
                </a:solidFill>
                <a:latin typeface="Segoe UI"/>
              </a:rPr>
              <a:t>33 ПАЛЕТИ · ПОВНА МАШИНА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МАРЖА \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35 %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658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658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2232" y="2203703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4223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0056" y="2203703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0056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30 %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8658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6440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2715768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64408" y="3136391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64408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50791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42232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4223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0056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0056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08760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08760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86584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8658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440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6440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42232" y="3227832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4223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0056" y="3227832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0056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20 %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8658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8658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64408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6440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42232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4223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0056" y="3739896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0056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08760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08760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86584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8658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6440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42232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4223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0056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0056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B53A3A"/>
                </a:solidFill>
                <a:latin typeface="Segoe UI"/>
              </a:rPr>
              <a:t>6 ПАЛЕТ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МАРЖА \ ПОЛИЦЯ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014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87967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6579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4361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35 %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5975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5975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37575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37575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15399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15399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9322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79322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7104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67104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30 %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59752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5975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37575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37575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15399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15399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15399" y="2715768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399" y="3136391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399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701784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79322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79322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7104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67104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17920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159752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15975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037575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037575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15399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15399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9322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9322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7104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67104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0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20 %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59752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15975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37575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37575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15399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915399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79322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79322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7104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7104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159752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15975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37575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037575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915399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915399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79322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79322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€0,59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67104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67104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€0,66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94944" y="4718304"/>
            <a:ext cx="164592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14400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≥ €0,75 — досяжно для всіх SKU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419856" y="4718304"/>
            <a:ext cx="164592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639312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€0,65–0,75 — для чотирьох SKU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144768" y="4718304"/>
            <a:ext cx="164592" cy="128016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364224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€0,50–0,65 — потрібне зниження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869680" y="4718304"/>
            <a:ext cx="164592" cy="128016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089136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&lt; €0,50 — суттєве зниження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4944" y="4901184"/>
            <a:ext cx="10789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Червона рамка — ціль: полиця 120 грн, маржа 30 %.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66928" y="5138928"/>
            <a:ext cx="5413248" cy="12252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66928" y="5138928"/>
            <a:ext cx="41148" cy="12252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41247" y="5303520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1" spc="-10">
                <a:solidFill>
                  <a:srgbClr val="303A5D"/>
                </a:solidFill>
                <a:latin typeface="Segoe UI"/>
              </a:rPr>
              <a:t>ПОВНА МАШИНА: ДВА ШЛЯХИ ДО 120 ГРН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41247" y="5577840"/>
            <a:ext cx="486460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При маржі 30 % потрібне €0,54 — зниження на 17–28 %. При маржі 20 % достатньо €0,67, що вище за поточні €0,65 для чотирьох SKU; при 15 % — €0,74, майже поточні €0,75.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217920" y="5138928"/>
            <a:ext cx="5413248" cy="12252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17920" y="5138928"/>
            <a:ext cx="41148" cy="122529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492240" y="5303520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1" spc="-10">
                <a:solidFill>
                  <a:srgbClr val="303A5D"/>
                </a:solidFill>
                <a:latin typeface="Segoe UI"/>
              </a:rPr>
              <a:t>6 ПАЛЕТ: ЖОДНА КЛІТИНКА НЕ ДОСЯГАЄ ПОТОЧНОЇ ЦІНИ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492240" y="5577840"/>
            <a:ext cx="486460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Для полиці 120 грн навіть при маржі 15 % потрібне €0,53, тобто мінус 18–29 % до поточної ціни. Щоб тримати 30 %, потрібне €0,32 — мінус 51–57 %.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Розрахунок за формулою H66 вкладок «Цена 120 грн» (курс 51,20; бонус 25 %; націнка 1,40; фінансування 2,5 %; ПДВ 20 %). Ціна вниз до євроцента.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