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Relationship Id="rId9" Type="http://schemas.openxmlformats.org/officeDocument/2006/relationships/image" Target="../media/image8.jpg"/><Relationship Id="rId10" Type="http://schemas.openxmlformats.org/officeDocument/2006/relationships/image" Target="../media/image9.jpg"/><Relationship Id="rId11" Type="http://schemas.openxmlformats.org/officeDocument/2006/relationships/image" Target="../media/image10.jpg"/><Relationship Id="rId12" Type="http://schemas.openxmlformats.org/officeDocument/2006/relationships/image" Target="../media/image11.jpg"/><Relationship Id="rId13" Type="http://schemas.openxmlformats.org/officeDocument/2006/relationships/image" Target="../media/image1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jpg"/><Relationship Id="rId4" Type="http://schemas.openxmlformats.org/officeDocument/2006/relationships/image" Target="../media/image5.jpg"/><Relationship Id="rId5" Type="http://schemas.openxmlformats.org/officeDocument/2006/relationships/image" Target="../media/image14.jpg"/><Relationship Id="rId6" Type="http://schemas.openxmlformats.org/officeDocument/2006/relationships/image" Target="../media/image10.jpg"/><Relationship Id="rId7" Type="http://schemas.openxmlformats.org/officeDocument/2006/relationships/image" Target="../media/image15.jpg"/><Relationship Id="rId8" Type="http://schemas.openxmlformats.org/officeDocument/2006/relationships/image" Target="../media/image16.jpg"/><Relationship Id="rId9" Type="http://schemas.openxmlformats.org/officeDocument/2006/relationships/image" Target="../media/image17.jpg"/><Relationship Id="rId10" Type="http://schemas.openxmlformats.org/officeDocument/2006/relationships/image" Target="../media/image18.jpg"/><Relationship Id="rId11" Type="http://schemas.openxmlformats.org/officeDocument/2006/relationships/image" Target="../media/image19.jpg"/><Relationship Id="rId12" Type="http://schemas.openxmlformats.org/officeDocument/2006/relationships/image" Target="../media/image20.jpg"/><Relationship Id="rId13" Type="http://schemas.openxmlformats.org/officeDocument/2006/relationships/image" Target="../media/image21.jpg"/><Relationship Id="rId14" Type="http://schemas.openxmlformats.org/officeDocument/2006/relationships/image" Target="../media/image22.jpg"/><Relationship Id="rId15" Type="http://schemas.openxmlformats.org/officeDocument/2006/relationships/image" Target="../media/image23.jpg"/><Relationship Id="rId16" Type="http://schemas.openxmlformats.org/officeDocument/2006/relationships/image" Target="../media/image2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jpg"/><Relationship Id="rId4" Type="http://schemas.openxmlformats.org/officeDocument/2006/relationships/image" Target="../media/image20.jpg"/><Relationship Id="rId5" Type="http://schemas.openxmlformats.org/officeDocument/2006/relationships/image" Target="../media/image6.jpg"/><Relationship Id="rId6" Type="http://schemas.openxmlformats.org/officeDocument/2006/relationships/image" Target="../media/image26.jpg"/><Relationship Id="rId7" Type="http://schemas.openxmlformats.org/officeDocument/2006/relationships/image" Target="../media/image27.jpg"/><Relationship Id="rId8" Type="http://schemas.openxmlformats.org/officeDocument/2006/relationships/image" Target="../media/image28.jpg"/><Relationship Id="rId9" Type="http://schemas.openxmlformats.org/officeDocument/2006/relationships/image" Target="../media/image29.jpg"/><Relationship Id="rId10" Type="http://schemas.openxmlformats.org/officeDocument/2006/relationships/image" Target="../media/image30.jpg"/><Relationship Id="rId11" Type="http://schemas.openxmlformats.org/officeDocument/2006/relationships/image" Target="../media/image31.jpg"/><Relationship Id="rId12" Type="http://schemas.openxmlformats.org/officeDocument/2006/relationships/image" Target="../media/image32.jpg"/><Relationship Id="rId13" Type="http://schemas.openxmlformats.org/officeDocument/2006/relationships/image" Target="../media/image33.jpg"/><Relationship Id="rId14" Type="http://schemas.openxmlformats.org/officeDocument/2006/relationships/image" Target="../media/image34.jpg"/><Relationship Id="rId15" Type="http://schemas.openxmlformats.org/officeDocument/2006/relationships/image" Target="../media/image35.jpg"/><Relationship Id="rId16" Type="http://schemas.openxmlformats.org/officeDocument/2006/relationships/image" Target="../media/image3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7.jpg"/><Relationship Id="rId4" Type="http://schemas.openxmlformats.org/officeDocument/2006/relationships/image" Target="../media/image38.jpg"/><Relationship Id="rId5" Type="http://schemas.openxmlformats.org/officeDocument/2006/relationships/image" Target="../media/image39.jpg"/><Relationship Id="rId6" Type="http://schemas.openxmlformats.org/officeDocument/2006/relationships/image" Target="../media/image40.jpg"/><Relationship Id="rId7" Type="http://schemas.openxmlformats.org/officeDocument/2006/relationships/image" Target="../media/image41.jpg"/><Relationship Id="rId8" Type="http://schemas.openxmlformats.org/officeDocument/2006/relationships/image" Target="../media/image10.jpg"/><Relationship Id="rId9" Type="http://schemas.openxmlformats.org/officeDocument/2006/relationships/image" Target="../media/image21.jpg"/><Relationship Id="rId10" Type="http://schemas.openxmlformats.org/officeDocument/2006/relationships/image" Target="../media/image42.jpg"/><Relationship Id="rId11" Type="http://schemas.openxmlformats.org/officeDocument/2006/relationships/image" Target="../media/image43.jpg"/><Relationship Id="rId12" Type="http://schemas.openxmlformats.org/officeDocument/2006/relationships/image" Target="../media/image44.jpg"/><Relationship Id="rId13" Type="http://schemas.openxmlformats.org/officeDocument/2006/relationships/image" Target="../media/image45.jpg"/><Relationship Id="rId14" Type="http://schemas.openxmlformats.org/officeDocument/2006/relationships/image" Target="../media/image46.jpg"/><Relationship Id="rId15" Type="http://schemas.openxmlformats.org/officeDocument/2006/relationships/image" Target="../media/image9.jpg"/><Relationship Id="rId16" Type="http://schemas.openxmlformats.org/officeDocument/2006/relationships/image" Target="../media/image47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1.jpg"/><Relationship Id="rId4" Type="http://schemas.openxmlformats.org/officeDocument/2006/relationships/image" Target="../media/image48.jpg"/><Relationship Id="rId5" Type="http://schemas.openxmlformats.org/officeDocument/2006/relationships/image" Target="../media/image49.jpg"/><Relationship Id="rId6" Type="http://schemas.openxmlformats.org/officeDocument/2006/relationships/image" Target="../media/image5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1.jpg"/><Relationship Id="rId4" Type="http://schemas.openxmlformats.org/officeDocument/2006/relationships/image" Target="../media/image52.jpg"/><Relationship Id="rId5" Type="http://schemas.openxmlformats.org/officeDocument/2006/relationships/image" Target="../media/image53.jpg"/><Relationship Id="rId6" Type="http://schemas.openxmlformats.org/officeDocument/2006/relationships/image" Target="../media/image54.jpg"/><Relationship Id="rId7" Type="http://schemas.openxmlformats.org/officeDocument/2006/relationships/image" Target="../media/image55.jpg"/><Relationship Id="rId8" Type="http://schemas.openxmlformats.org/officeDocument/2006/relationships/image" Target="../media/image56.jpg"/><Relationship Id="rId9" Type="http://schemas.openxmlformats.org/officeDocument/2006/relationships/image" Target="../media/image57.jpg"/><Relationship Id="rId10" Type="http://schemas.openxmlformats.org/officeDocument/2006/relationships/image" Target="../media/image58.jpg"/><Relationship Id="rId11" Type="http://schemas.openxmlformats.org/officeDocument/2006/relationships/image" Target="../media/image59.jpg"/><Relationship Id="rId12" Type="http://schemas.openxmlformats.org/officeDocument/2006/relationships/image" Target="../media/image60.jpg"/><Relationship Id="rId13" Type="http://schemas.openxmlformats.org/officeDocument/2006/relationships/image" Target="../media/image61.jpg"/><Relationship Id="rId14" Type="http://schemas.openxmlformats.org/officeDocument/2006/relationships/image" Target="../media/image7.jpg"/><Relationship Id="rId15" Type="http://schemas.openxmlformats.org/officeDocument/2006/relationships/image" Target="../media/image6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3.jpg"/><Relationship Id="rId4" Type="http://schemas.openxmlformats.org/officeDocument/2006/relationships/image" Target="../media/image64.jpg"/><Relationship Id="rId5" Type="http://schemas.openxmlformats.org/officeDocument/2006/relationships/image" Target="../media/image65.jpg"/><Relationship Id="rId6" Type="http://schemas.openxmlformats.org/officeDocument/2006/relationships/image" Target="../media/image66.jpg"/><Relationship Id="rId7" Type="http://schemas.openxmlformats.org/officeDocument/2006/relationships/image" Target="../media/image67.jpg"/><Relationship Id="rId8" Type="http://schemas.openxmlformats.org/officeDocument/2006/relationships/image" Target="../media/image68.jpg"/><Relationship Id="rId9" Type="http://schemas.openxmlformats.org/officeDocument/2006/relationships/image" Target="../media/image69.jpg"/><Relationship Id="rId10" Type="http://schemas.openxmlformats.org/officeDocument/2006/relationships/image" Target="../media/image70.jpg"/><Relationship Id="rId11" Type="http://schemas.openxmlformats.org/officeDocument/2006/relationships/image" Target="../media/image71.jpg"/><Relationship Id="rId12" Type="http://schemas.openxmlformats.org/officeDocument/2006/relationships/image" Target="../media/image51.jpg"/><Relationship Id="rId13" Type="http://schemas.openxmlformats.org/officeDocument/2006/relationships/image" Target="../media/image7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3.jpg"/><Relationship Id="rId4" Type="http://schemas.openxmlformats.org/officeDocument/2006/relationships/image" Target="../media/image74.jpg"/><Relationship Id="rId5" Type="http://schemas.openxmlformats.org/officeDocument/2006/relationships/image" Target="../media/image75.jpg"/><Relationship Id="rId6" Type="http://schemas.openxmlformats.org/officeDocument/2006/relationships/image" Target="../media/image76.jpg"/><Relationship Id="rId7" Type="http://schemas.openxmlformats.org/officeDocument/2006/relationships/image" Target="../media/image77.jpg"/><Relationship Id="rId8" Type="http://schemas.openxmlformats.org/officeDocument/2006/relationships/image" Target="../media/image78.jpg"/><Relationship Id="rId9" Type="http://schemas.openxmlformats.org/officeDocument/2006/relationships/image" Target="../media/image79.jpg"/><Relationship Id="rId10" Type="http://schemas.openxmlformats.org/officeDocument/2006/relationships/image" Target="../media/image80.jpg"/><Relationship Id="rId11" Type="http://schemas.openxmlformats.org/officeDocument/2006/relationships/image" Target="../media/image81.jpg"/><Relationship Id="rId12" Type="http://schemas.openxmlformats.org/officeDocument/2006/relationships/image" Target="../media/image82.jpg"/><Relationship Id="rId13" Type="http://schemas.openxmlformats.org/officeDocument/2006/relationships/image" Target="../media/image83.jpg"/><Relationship Id="rId14" Type="http://schemas.openxmlformats.org/officeDocument/2006/relationships/image" Target="../media/image84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5.jpg"/><Relationship Id="rId4" Type="http://schemas.openxmlformats.org/officeDocument/2006/relationships/image" Target="../media/image86.jpg"/><Relationship Id="rId5" Type="http://schemas.openxmlformats.org/officeDocument/2006/relationships/image" Target="../media/image87.jpg"/><Relationship Id="rId6" Type="http://schemas.openxmlformats.org/officeDocument/2006/relationships/image" Target="../media/image88.jpg"/><Relationship Id="rId7" Type="http://schemas.openxmlformats.org/officeDocument/2006/relationships/image" Target="../media/image89.jpg"/><Relationship Id="rId8" Type="http://schemas.openxmlformats.org/officeDocument/2006/relationships/image" Target="../media/image90.jpg"/><Relationship Id="rId9" Type="http://schemas.openxmlformats.org/officeDocument/2006/relationships/image" Target="../media/image91.jpg"/><Relationship Id="rId10" Type="http://schemas.openxmlformats.org/officeDocument/2006/relationships/image" Target="../media/image92.jpg"/><Relationship Id="rId11" Type="http://schemas.openxmlformats.org/officeDocument/2006/relationships/image" Target="../media/image93.jpg"/><Relationship Id="rId12" Type="http://schemas.openxmlformats.org/officeDocument/2006/relationships/image" Target="../media/image94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Relationship Id="rId4" Type="http://schemas.openxmlformats.org/officeDocument/2006/relationships/image" Target="../media/image3.jpg"/><Relationship Id="rId5" Type="http://schemas.openxmlformats.org/officeDocument/2006/relationships/image" Target="../media/image8.jpg"/><Relationship Id="rId6" Type="http://schemas.openxmlformats.org/officeDocument/2006/relationships/image" Target="../media/image95.jpg"/><Relationship Id="rId7" Type="http://schemas.openxmlformats.org/officeDocument/2006/relationships/image" Target="../media/image96.jpg"/><Relationship Id="rId8" Type="http://schemas.openxmlformats.org/officeDocument/2006/relationships/image" Target="../media/image97.jpg"/><Relationship Id="rId9" Type="http://schemas.openxmlformats.org/officeDocument/2006/relationships/image" Target="../media/image2.jpg"/><Relationship Id="rId10" Type="http://schemas.openxmlformats.org/officeDocument/2006/relationships/image" Target="../media/image12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8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1920240" cy="8321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" y="2395728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FFC95C"/>
                </a:solidFill>
                <a:latin typeface="Segoe UI"/>
              </a:rPr>
              <a:t>ДОСЛІДЖЕННЯ РИНКУ ТА ПОЗИЦІОНУВАННЯ · ВЕРЕСЕНЬ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15768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spc="-10">
                <a:solidFill>
                  <a:srgbClr val="FFFFFF"/>
                </a:solidFill>
                <a:latin typeface="Segoe UI"/>
              </a:rPr>
              <a:t>Корейський рамен</a:t>
            </a:r>
          </a:p>
          <a:p>
            <a:pPr algn="l">
              <a:lnSpc>
                <a:spcPct val="105000"/>
              </a:lnSpc>
            </a:pPr>
            <a:r>
              <a:rPr sz="4400" b="1" spc="-10">
                <a:solidFill>
                  <a:srgbClr val="FFFFFF"/>
                </a:solidFill>
                <a:latin typeface="Segoe UI"/>
              </a:rPr>
              <a:t>в Україні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90288"/>
            <a:ext cx="10058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spc="-10">
                <a:solidFill>
                  <a:srgbClr val="9FA9C4"/>
                </a:solidFill>
                <a:latin typeface="Segoe UI"/>
              </a:rPr>
              <a:t>Оцінка пропозиції Choi’s Ramyeon (SIAS France) проти фактичної полиці:</a:t>
            </a:r>
          </a:p>
          <a:p>
            <a:pPr algn="l">
              <a:lnSpc>
                <a:spcPct val="150000"/>
              </a:lnSpc>
            </a:pPr>
            <a:r>
              <a:rPr sz="1000" b="0" spc="-10">
                <a:solidFill>
                  <a:srgbClr val="9FA9C4"/>
                </a:solidFill>
                <a:latin typeface="Segoe UI"/>
              </a:rPr>
              <a:t>96 SKU корейського рамену · 11 брендів · 13 мереж із 18 · зріз каталогів 29.09.2026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5413248"/>
            <a:ext cx="36576" cy="78638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5440680"/>
            <a:ext cx="100584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 spc="-10">
                <a:solidFill>
                  <a:srgbClr val="9FA9C4"/>
                </a:solidFill>
                <a:latin typeface="Segoe UI"/>
              </a:rPr>
              <a:t>Усі ціни — роздріб за одну пачку, з ПДВ, на дату зрізу. Опт, ящики та мультипаки до медіан не входять.</a:t>
            </a:r>
          </a:p>
          <a:p>
            <a:pPr algn="l">
              <a:lnSpc>
                <a:spcPct val="140000"/>
              </a:lnSpc>
            </a:pPr>
            <a:r>
              <a:rPr sz="800" b="0" spc="-10">
                <a:solidFill>
                  <a:srgbClr val="9FA9C4"/>
                </a:solidFill>
                <a:latin typeface="Segoe UI"/>
              </a:rPr>
              <a:t>Фото товарів — з каталогів мереж; використані як ідентифікація SKU.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Шість цифр, які описують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Усі ціни в колоді — за одну пачку, з ПДВ. Опт і ящики до розрахунку не входять.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ОБСЯГ ІМПОРТУ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C4820A"/>
                </a:solidFill>
                <a:latin typeface="Segoe UI"/>
              </a:rPr>
              <a:t>253,8 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Корея, HS 1902 30.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+8,8 % до 2024 року в кг.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ЄМНІСТЬ РОЗДРІБУ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221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млн грн на рік — оцінка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за імпортом × медіану полиці.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36992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ПОЗИЦІЙ У ПРОДАЖУ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5D4B96"/>
                </a:solidFill>
                <a:latin typeface="Segoe UI"/>
              </a:rPr>
              <a:t>96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11 брендів, 13 мереж із 18.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У «Сільпо» — 4 позиції.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НАЙПОШИРЕНІШИЙ ФОРМАТ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пакет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71 позиція (74 %).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Стакан — 18, ток-покі — 7.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3128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МАСОВА ВАГА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8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23 позиції. Далі 130 г — 9,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140 г — 6, 105 г — 6.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36992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НАЙДЕШЕВШИЙ ВХІД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77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Ottogi Kimchi 120 г і O’Food 144 г —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64–67 грн/100 г.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517136"/>
            <a:ext cx="5413248" cy="16642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517136"/>
            <a:ext cx="36576" cy="166420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4672584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ЩО ЦЕ ОЗНАЧАЄ ДЛЯ ПОЛИЦІ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4901184"/>
            <a:ext cx="493776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1. Категорія повністю імпортна: корейського рамену в Україні не виробляють.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2. Зростання дає Корея: 233,3 → 253,8 т за рік, +8,8 % у кг і +34,9 % у грошах.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3. Формат, що тримає полицю, — пакет 120 г: 22 позиції в 11 мережах, медіана 93 грн.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4. Полиця концентрована: Samyang і Nongshim дають 54 позиції з 96 і стоять у 12 мережах із 13.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7920" y="4517136"/>
            <a:ext cx="5413248" cy="16642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17920" y="4517136"/>
            <a:ext cx="36576" cy="166420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4" y="4672584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ЧОГО НА РИНКУ НЕМАЄ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4901184"/>
            <a:ext cx="493776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1. Немає жодної позиції вагою 113 г — саме стільки важать чотири SKU Choi’s. Стандарт категорії — 120 г.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2. Немає корейського рамену в МегаМаркеті, Ultramarket, ЕКО, Епіцентрі та «Ідеалі»: нуль позицій.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3. Немає широкого вибору стаканів: 18 позицій на всю категорію при ціні за грам удвічі вищій за пакет.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4. Немає жодного бренду, крім Samyang і Nongshim, більш ніж у 5 мережах: решта дев'яти — від 1 до 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ОБСЯГ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1 674 т імпорту локшини, з них 253,8 т корейської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HS 1902 30 «інші макаронні вироби». Україна не звітувала 2025 рік до UN Comtrade — беремо дзеркальні дані країн-експортерів.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ЗВІДКИ ЇДЕ, 2025 РІК · тонн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764792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92807" y="1810512"/>
            <a:ext cx="3474719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0408" y="1764792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734.1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029967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Корея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92807" y="2075687"/>
            <a:ext cx="1201460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0408" y="2029967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253.8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295144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Польща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92807" y="2340863"/>
            <a:ext cx="1145577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0408" y="2295144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242.0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560320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Туреччина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92807" y="2606039"/>
            <a:ext cx="882909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0408" y="2560320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186.5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825496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Словаччина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92807" y="2871215"/>
            <a:ext cx="393694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50408" y="2825496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83.2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3090672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Італія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92807" y="3136391"/>
            <a:ext cx="236250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50408" y="3090672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49.9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3355848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Таїланд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92807" y="3401568"/>
            <a:ext cx="141369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50408" y="3355848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29.9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3621024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Німеччина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892807" y="3666744"/>
            <a:ext cx="110960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50408" y="3621024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23.4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3886200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Литва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92807" y="3931920"/>
            <a:ext cx="101940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50408" y="3886200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21.5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4151376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Чехія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92807" y="4197096"/>
            <a:ext cx="63963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50408" y="4151376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13.5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90288"/>
            <a:ext cx="5760720" cy="8686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66928" y="4590288"/>
            <a:ext cx="36576" cy="8686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4672" y="4745736"/>
            <a:ext cx="528523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ТОНАЖ ≠ КАТЕГОРІЯ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672" y="4974336"/>
            <a:ext cx="528523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Туреччина по $0,63/кг і Китай по $1,54/кг — це переважно звичайні макарони, не рамен. Корея — $4,88/кг: єдиний великий постачальник із ціною, що відповідає фасованому рамену.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75120" y="1554480"/>
            <a:ext cx="4937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КОРЕЯ → УКРАЇНА, HS 1902 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75120" y="1792224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РІК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06640" y="1792224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ОБСЯГ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0" y="1792224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ВАРТІСТЬ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0" y="1792224"/>
            <a:ext cx="12801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$/КГ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75120" y="1975104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2024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06640" y="197510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233,3 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6800" y="1975104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$917,8 тис.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32720" y="1975104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$3,93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601968" y="2176272"/>
            <a:ext cx="4956048" cy="2286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75120" y="2212848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2025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06640" y="221284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253,8 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86800" y="221284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$1 238,3 тис.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32720" y="2212848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$4,88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75120" y="2450591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2450591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+8,8 %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2450591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+34,9 %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32720" y="245059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+24,0 %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675120" y="2706624"/>
            <a:ext cx="4937760" cy="12984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675120" y="2706624"/>
            <a:ext cx="36576" cy="129844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912864" y="2862072"/>
            <a:ext cx="44622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ЩО КАЖЕ ЦІНА ІМПОРТУ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12864" y="3090672"/>
            <a:ext cx="446227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Середня експортна ціна Кореї зросла на 24 % за рік при зростанні обсягу лише на 9 %. Ринок рухається в бік дорожчих SKU (Buldak, стакани), а не дешевших.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Пропозиція SIAS — €0,88–1,31 за пачку 113–131 г, тобто $8,9–13,2/кг: у 1,8–2,7 раза дорожче за середню корейську експортну ціну.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" y="5687568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ЯК РАХУВАЛИ ЄМНІСТЬ КОРЕЙСЬКОГО СЕГМЕНТА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" y="5888736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1520" y="5998464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253,8 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629107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імпорт з Кореї 2025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15184" y="6144768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798064" y="5888736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962656" y="5998464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2,12 млн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62656" y="629107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пачок по 120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846320" y="6144768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29200" y="5888736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93792" y="5998464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× 105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93792" y="629107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медіана полиці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077456" y="6144768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260336" y="5888736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24928" y="5998464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221 млн грн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24928" y="629107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роздріб на рік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308592" y="6144768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491472" y="5888736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656064" y="5998464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×4,0 до FOB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656064" y="629107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імпліцитний множник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СЕГМЕНТАЦІЯ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Три цінові поверхи локшини швидкого приготування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Поверх визначено за ціною за 100 г — це єдиний коректний вимір, коли пачки важать від 50 до 200 г. Межі поверхів узяті з фактичного розподілу брендів, а не задані наперед.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3566160" cy="30358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36576" cy="3035808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682495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spc="-10">
                <a:solidFill>
                  <a:srgbClr val="3E59A8"/>
                </a:solidFill>
                <a:latin typeface="Segoe UI"/>
              </a:rPr>
              <a:t>ПОВЕРХ 1 · ЕКОНОМ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1938528"/>
            <a:ext cx="31638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9–25 грн  ·  14–37 грн/100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121408"/>
            <a:ext cx="3163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Українське виробництво і приватні марки мереж · 15 брендів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858500244579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3584" y="2377440"/>
            <a:ext cx="566928" cy="5669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68096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Мівіна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E59A8"/>
                </a:solidFill>
                <a:latin typeface="Segoe UI"/>
              </a:rPr>
              <a:t>22 грн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37 грн/100 г · 16 мереж · 22 SKU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14015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482017925681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9503" y="2377440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414015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Reeva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14015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E59A8"/>
                </a:solidFill>
                <a:latin typeface="Segoe UI"/>
              </a:rPr>
              <a:t>21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14015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34 грн/100 г · 14 мереж · 7 SKU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0482017925681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3584" y="3584448"/>
            <a:ext cx="566928" cy="56692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68096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Роллтон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E59A8"/>
                </a:solidFill>
                <a:latin typeface="Segoe UI"/>
              </a:rPr>
              <a:t>21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35 грн/100 г · 1 мереж · 1 SKU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15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0482309741337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9503" y="3584448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414015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Щедро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14015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E59A8"/>
                </a:solidFill>
                <a:latin typeface="Segoe UI"/>
              </a:rPr>
              <a:t>15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14015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25 грн/100 г · 7 мереж · 4 SKU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15968" y="1554480"/>
            <a:ext cx="3566160" cy="30358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15968" y="1554480"/>
            <a:ext cx="36576" cy="303580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17136" y="1682495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spc="-10">
                <a:solidFill>
                  <a:srgbClr val="1E9EA6"/>
                </a:solidFill>
                <a:latin typeface="Segoe UI"/>
              </a:rPr>
              <a:t>ПОВЕРХ 2 · МІДЛ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17136" y="1938528"/>
            <a:ext cx="31638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38–124 грн  ·  58–86 грн/100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17136" y="2121408"/>
            <a:ext cx="3163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Азія та імпорт середньої ціни — сюди потрапляє й дешева Корея · 9 брендів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17136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08801052114569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2623" y="2377440"/>
            <a:ext cx="566928" cy="56692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4517136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O'Food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17136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1E9EA6"/>
                </a:solidFill>
                <a:latin typeface="Segoe UI"/>
              </a:rPr>
              <a:t>77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17136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67 грн/100 г · 2 мереж · 4 SKU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63055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0880104599990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38544" y="2377440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6163055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Ottogi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63055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1E9EA6"/>
                </a:solidFill>
                <a:latin typeface="Segoe UI"/>
              </a:rPr>
              <a:t>89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63055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75 грн/100 г · 5 мереж · 11 SKU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17136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0064843610005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92623" y="3584448"/>
            <a:ext cx="566928" cy="56692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4517136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Paldo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17136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1E9EA6"/>
                </a:solidFill>
                <a:latin typeface="Segoe UI"/>
              </a:rPr>
              <a:t>95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17136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77 грн/100 г · 5 мереж · 8 SKU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63055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885201810202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38544" y="3584448"/>
            <a:ext cx="566928" cy="566928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6163055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Yum Yum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63055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1E9EA6"/>
                </a:solidFill>
                <a:latin typeface="Segoe UI"/>
              </a:rPr>
              <a:t>60 грн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63055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86 грн/100 г · 2 мереж · 1 SKU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065008" y="1554480"/>
            <a:ext cx="3566160" cy="30358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065008" y="1554480"/>
            <a:ext cx="36576" cy="303580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266176" y="1682495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spc="-10">
                <a:solidFill>
                  <a:srgbClr val="C4820A"/>
                </a:solidFill>
                <a:latin typeface="Segoe UI"/>
              </a:rPr>
              <a:t>ПОВЕРХ 3 · ІМПОРТНИЙ ПРЕМІУМ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66176" y="1938528"/>
            <a:ext cx="31638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34–204 грн  ·  93–146 грн/100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66176" y="2121408"/>
            <a:ext cx="3163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Samyang, Nongshim і в'єтнамська рисова локшина · 8 брендів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66176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08801073113428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41664" y="2377440"/>
            <a:ext cx="566928" cy="56692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8266176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Samyang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66176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112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66176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93 грн/100 г · 11 мереж · 17 SKU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912096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0880104315062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387584" y="2377440"/>
            <a:ext cx="566928" cy="566928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9912096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Nongshim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912096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117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12096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107 грн/100 г · 9 мереж · 11 SKU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266176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08850987150098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741664" y="3584448"/>
            <a:ext cx="566928" cy="566928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8266176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Мама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66176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108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66176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121 грн/100 г · 5 мереж · 7 SKU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912096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08936010681545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387584" y="3584448"/>
            <a:ext cx="566928" cy="56692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9912096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Cung Dinh Kool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912096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123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912096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118 грн/100 г · 4 мереж · 1 SKU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66928" y="4718304"/>
            <a:ext cx="11064240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66928" y="4718304"/>
            <a:ext cx="36576" cy="786384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04672" y="4846320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B53A3A"/>
                </a:solidFill>
                <a:latin typeface="Segoe UI"/>
              </a:rPr>
              <a:t>ПОВЕРХ 4 · ДЕ ОПИНЯЄТЬСЯ CHOI’S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04672" y="504748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93–99 грн/100 г за фінмоделлю (15 %)</a:t>
            </a:r>
          </a:p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Факт на полиці сьогодні: 96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023360" y="4846320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При маржі 15 % Choi’s стає на 93–99 грн/100 г — це нижня частина преміум-поверху, поруч із Samyang (93 грн/100 г). Фактична ціна того самого SKU на полиці сьогодні — 96 грн/100 г. Фактична ціна того самого SKU сьогодні — 96 грн/100 г; обсяг, а не переговори про ціну, вирішує, куди Choi’s потрапить.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66928" y="5632704"/>
            <a:ext cx="11064240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66928" y="5632704"/>
            <a:ext cx="36576" cy="84124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04672" y="5788152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ЩО ЦЕ ЗМІНЮЄ В КАРТИНІ КОНКУРЕНЦІЇ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" y="6016752"/>
            <a:ext cx="105887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Корейський рамен — не однорідний преміум. Ottogi (75), Paldo (77), O’Food (67) і Bibigo (70 грн/100 г) стоять у МІДЛІ поруч з Yum Yum і Hokkaido Club, а не поруч із Samyang і Nongshim. Прямий конкурент Choi’s за ціною — саме ця дешева половина корейської полиці, і вона вже коштує 67–89 грн за пачку.</a:t>
            </a:r>
          </a:p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Окремий фактор пропозиції: у липні 2025 Nestlé запустила фабрику вермішелі у с. Смолигів на Волині (~$50 млн). Продукція йде переважно на ринки ЄС під брендом Maggi, тож прямого тиску на українську полицю вона поки не створює — але потужність у країні з'явилася.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КАРТА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Чотири сегменти за способом приготування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Групування за тим, як продукт готується і де споживається — від цього залежать і ціна за грам, і канал. Так само, як у дослідженні готового рису.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91056"/>
            <a:ext cx="2651760" cy="2286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91056"/>
            <a:ext cx="36576" cy="228600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737360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spc="-10">
                <a:solidFill>
                  <a:srgbClr val="C4820A"/>
                </a:solidFill>
                <a:latin typeface="Segoe UI"/>
              </a:rPr>
              <a:t>СЕГМЕНТ 1 · СУПОВИЙ РАМЬОН · ПАКЕТ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066543"/>
            <a:ext cx="22860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46 позицій · 6 брендів · 12 мереж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24942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Варіння 4–5 хв · з бульйоном</a:t>
            </a:r>
          </a:p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Маса — сухого продукту · привід: Домашня вечеря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2633472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МЕДІАНА ЗА ПАЧКУ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27706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C4820A"/>
                </a:solidFill>
                <a:latin typeface="Segoe UI"/>
              </a:rPr>
              <a:t>104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3108960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ДІАПАЗОН · ГРН/100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246120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303A5D"/>
                </a:solidFill>
                <a:latin typeface="Segoe UI"/>
              </a:rPr>
              <a:t>67 – 209 грн · 86 грн/100 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3438144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 spc="-10">
                <a:solidFill>
                  <a:srgbClr val="717890"/>
                </a:solidFill>
                <a:latin typeface="Segoe UI"/>
              </a:rPr>
              <a:t>вага 102–144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3602736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Nongshim · Samyang · Ottogi · Paldo · O'Food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64992" y="1591056"/>
            <a:ext cx="2651760" cy="2286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64992" y="1591056"/>
            <a:ext cx="36576" cy="228600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6160" y="1737360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spc="-10">
                <a:solidFill>
                  <a:srgbClr val="1E9EA6"/>
                </a:solidFill>
                <a:latin typeface="Segoe UI"/>
              </a:rPr>
              <a:t>СЕГМЕНТ 2 · СТІР-ФРАЙ БЕЗ БУЛЬЙОНУ · ПАКЕТ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2066543"/>
            <a:ext cx="22860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25 позицій · 7 брендів · 11 мереж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224942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Варіння 4–5 хв · воду злити</a:t>
            </a:r>
          </a:p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Маса — сухого продукту · привід: Домашня вечеря · тренд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2633472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МЕДІАНА ЗА ПАЧКУ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27706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1E9EA6"/>
                </a:solidFill>
                <a:latin typeface="Segoe UI"/>
              </a:rPr>
              <a:t>100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3108960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ДІАПАЗОН · ГРН/100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246120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303A5D"/>
                </a:solidFill>
                <a:latin typeface="Segoe UI"/>
              </a:rPr>
              <a:t>72 – 184 грн · 77 грн/100 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0" y="3438144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 spc="-10">
                <a:solidFill>
                  <a:srgbClr val="717890"/>
                </a:solidFill>
                <a:latin typeface="Segoe UI"/>
              </a:rPr>
              <a:t>вага 105–145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0" y="3602736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Samyang · Paldo · Nongshim · Bibigo · Ottogi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63056" y="1591056"/>
            <a:ext cx="2651760" cy="2286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63056" y="1591056"/>
            <a:ext cx="36576" cy="228600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4224" y="1737360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spc="-10">
                <a:solidFill>
                  <a:srgbClr val="5D4B96"/>
                </a:solidFill>
                <a:latin typeface="Segoe UI"/>
              </a:rPr>
              <a:t>СЕГМЕНТ 3 · СТАКАН І БОУЛ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4224" y="2066543"/>
            <a:ext cx="22860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18 позицій · 4 брендів · 8 мереж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4224" y="224942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Залити окропом 3–4 хв</a:t>
            </a:r>
          </a:p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Маса — сухого продукту · привід: Офіс і дорога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64224" y="2633472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МЕДІАНА ЗА ПАЧКУ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4224" y="27706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5D4B96"/>
                </a:solidFill>
                <a:latin typeface="Segoe UI"/>
              </a:rPr>
              <a:t>104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4224" y="3108960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ДІАПАЗОН · ГРН/100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4224" y="3246120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303A5D"/>
                </a:solidFill>
                <a:latin typeface="Segoe UI"/>
              </a:rPr>
              <a:t>34 – 195 грн · 154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4224" y="3438144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 spc="-10">
                <a:solidFill>
                  <a:srgbClr val="717890"/>
                </a:solidFill>
                <a:latin typeface="Segoe UI"/>
              </a:rPr>
              <a:t>вага 62–120 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64224" y="3602736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Nongshim · Samyang · Paldo · Ottogi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961120" y="1591056"/>
            <a:ext cx="2651760" cy="2286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961120" y="1591056"/>
            <a:ext cx="36576" cy="2286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62288" y="1737360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spc="-10">
                <a:solidFill>
                  <a:srgbClr val="303A5D"/>
                </a:solidFill>
                <a:latin typeface="Segoe UI"/>
              </a:rPr>
              <a:t>СЕГМЕНТ 4 · ТОК-ПОКІ ТА РИСОВА ЛОКШИНА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62288" y="2066543"/>
            <a:ext cx="22860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7 позицій · 4 брендів · 4 мереж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2288" y="224942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Варіння або окріп</a:t>
            </a:r>
          </a:p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Маса — сухого продукту · привід: Снек і десерт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62288" y="2633472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МЕДІАНА ЗА ПАЧКУ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62288" y="27706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303A5D"/>
                </a:solidFill>
                <a:latin typeface="Segoe UI"/>
              </a:rPr>
              <a:t>198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62288" y="3108960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ДІАПАЗОН · ГРН/100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62288" y="3246120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303A5D"/>
                </a:solidFill>
                <a:latin typeface="Segoe UI"/>
              </a:rPr>
              <a:t>65 – 204 грн · 136 грн/100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62288" y="3438144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 spc="-10">
                <a:solidFill>
                  <a:srgbClr val="717890"/>
                </a:solidFill>
                <a:latin typeface="Segoe UI"/>
              </a:rPr>
              <a:t>вага 80–145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62288" y="3602736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Yopokki · Samyang · Paldo · Baekje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6928" y="4023360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3232" y="4032504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ЩО ЦЕ ЗА СЕГМЕНТИ І ЧОМУ ЇХ РОЗДІЛЯЮТЬ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15200" y="4032504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класифікація за технологією приготування, не за брендом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928" y="4261104"/>
            <a:ext cx="2788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СЕГМЕНТ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01568" y="4261104"/>
            <a:ext cx="2103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ЯК ГОТУЄТЬСЯ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59552" y="4261104"/>
            <a:ext cx="502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26480" y="4261104"/>
            <a:ext cx="868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59168" y="4261104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46720" y="4261104"/>
            <a:ext cx="868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ВАГА,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06840" y="4261104"/>
            <a:ext cx="262432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ЧОМУ ЦЕ ОКРЕМИЙ СЕГМЕНТ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6928" y="4443984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1 · СУПОВИЙ РАМЬОН · ПАКЕТ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01568" y="444398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Варіння 4–5 хв · з бульйоном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59552" y="444398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26480" y="444398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104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59168" y="444398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46720" y="444398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102–144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006840" y="4443984"/>
            <a:ext cx="2624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базова полиця категорії: найбільше SKU і найширша дистрибуція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93776" y="4681728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66928" y="4718304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2 · СТІР-ФРАЙ БЕЗ БУЛЬЙОНУ · ПАКЕТ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401568" y="471830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Варіння 4–5 хв · воду злити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559552" y="471830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26480" y="471830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100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59168" y="471830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046720" y="471830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105–145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006840" y="4718304"/>
            <a:ext cx="2624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інший привід і інша ціна за грам; зростає найшвидше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6928" y="4992624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3 · СТАКАН І БОУЛ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01568" y="499262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Залити окропом 3–4 хв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59552" y="499262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26480" y="499262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104 грн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059168" y="499262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154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046720" y="499262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62–120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06840" y="4992624"/>
            <a:ext cx="2624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готується без плити — конкурує з обідом поза домом, а не з вечерею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93776" y="5230368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66928" y="5266944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4 · ТОК-ПОКІ ТА РИСОВА ЛОКШИНА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01568" y="526694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Варіння або окріп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559552" y="526694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126480" y="526694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198 грн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59168" y="526694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046720" y="526694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80–145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006840" y="5266944"/>
            <a:ext cx="2624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рисовий продукт, не пшенична локшина: інша полиця і інший покупець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66928" y="5541264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Суміжна полиця · не-корейська локшина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401568" y="554126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Варіння або окріп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559552" y="554126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 брендів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126480" y="554126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9–144 грн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059168" y="554126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18–146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46720" y="554126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50–200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006840" y="5541264"/>
            <a:ext cx="2624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цінова підлога: від неї покупець рахує премію за корейський бренд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" y="5961888"/>
            <a:ext cx="11064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9FA9C4"/>
                </a:solidFill>
                <a:latin typeface="Segoe UI"/>
              </a:rPr>
              <a:t>Стакан/боул визначено за маркером у назві або вагою ≤ 85 г: корейські мережеві каталоги рідко вказують формат окремо, а пакетний рамьон важить 100–145 г, стакан — 62–85 г. Це припущення, а не поле з каталогу.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МАТРИЦЯ БРЕНДІВ · 1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Сегменти 1 і 2: пакетний рамьон — прямі конкуренти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Це два сегменти, у які потрапляють усі шість SKU Choi’s. Усередині сегмента бренди відсортовані від найдешевшого до найдорожчого.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36576" cy="17373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63624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C4820A"/>
                </a:solidFill>
                <a:latin typeface="Segoe UI"/>
              </a:rPr>
              <a:t>СЕГМЕНТ 1 · СУПОВИЙ РАМЬОН · ПАКЕТ   ·   Варіння 4–5 хв · з бульйоном   ·   46 SKU   ·   медіана 104 грн   ·   86 грн/100 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28800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3936" y="1828800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ВЛАСНИК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63824" y="1828800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1828800"/>
            <a:ext cx="56692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15384" y="1828800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ВАГА,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1828800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ЗА ПАЧКУ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216" y="1828800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68312" y="1828800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82127" y="1828800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30384" y="1828800"/>
            <a:ext cx="17007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20116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O'Food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73936" y="20116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Daesang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63824" y="201168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201168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15384" y="20116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102–144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20116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68–84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20116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68312" y="20116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82127" y="20116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Зараз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30384" y="201168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найнижча ціна за грам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76" y="2203704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2402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73936" y="22402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63824" y="224028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224028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15384" y="22402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111–130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22402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67–112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0216" y="22402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68312" y="22402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82127" y="22402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Космос · Таврія В +2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30384" y="224028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Jin Ramen — найдешевший вхід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24688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73936" y="24688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63824" y="246888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80" y="246888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15384" y="24688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110–120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74920" y="24688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72–113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0216" y="24688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68312" y="24688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82127" y="24688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Grono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30384" y="246888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та сама вага, дешевше за грам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3776" y="2660904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6928" y="26974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Otoki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773936" y="26974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63824" y="269748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11880" y="269748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15384" y="26974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74920" y="26974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00216" y="26974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68312" y="26974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82127" y="26974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30384" y="269748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поодинокий SKU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6928" y="29260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73936" y="29260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Foods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163824" y="292608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11880" y="292608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15384" y="29260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105–140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074920" y="29260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86–169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0216" y="29260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068312" y="29260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82127" y="29260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Зараз · Grono +8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930384" y="292608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супова частина лінійки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93776" y="3118104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66928" y="31546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773936" y="31546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63824" y="315468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611880" y="315468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215384" y="31546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112–137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074920" y="31546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74–209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31546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068312" y="31546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882127" y="31546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Onde · Grono +7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930384" y="315468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Shin Ramyun — якір полиці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66928" y="3493008"/>
            <a:ext cx="36576" cy="17373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13232" y="3502152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1E9EA6"/>
                </a:solidFill>
                <a:latin typeface="Segoe UI"/>
              </a:rPr>
              <a:t>СЕГМЕНТ 2 · СТІР-ФРАЙ БЕЗ БУЛЬЙОНУ · ПАКЕТ   ·   Варіння 4–5 хв · воду злити   ·   25 SKU   ·   медіана 100 грн   ·   77 грн/100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66928" y="3767328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773936" y="3767328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ВЛАСНИК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63824" y="3767328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611880" y="3767328"/>
            <a:ext cx="56692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15384" y="3767328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ВАГА, Г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74920" y="3767328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ЗА ПАЧКУ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3767328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68312" y="3767328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882127" y="3767328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930384" y="3767328"/>
            <a:ext cx="17007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66928" y="39502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fire bull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773936" y="39502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163824" y="39502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11880" y="39502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15384" y="39502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074920" y="39502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300216" y="39502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068312" y="39502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882127" y="39502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Onde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930384" y="39502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поодинокий SKU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93776" y="4142232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66928" y="41788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Bibigo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773936" y="41788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CJ CheilJedang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163824" y="41788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611880" y="41788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215384" y="41788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122–127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074920" y="41788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300216" y="41788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068312" y="41788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882127" y="41788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930384" y="41788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stir-fry від CJ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" y="44074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773936" y="44074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163824" y="44074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611880" y="44074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215384" y="44074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120–130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074920" y="44074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300216" y="44074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068312" y="44074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2127" y="44074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930384" y="44074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stir-fry з сиром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493776" y="4599432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66928" y="46360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773936" y="46360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163824" y="46360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11880" y="46360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15384" y="46360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105–140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074920" y="46360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72–124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300216" y="46360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068312" y="46360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882127" y="46360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Grono · Onde +2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930384" y="46360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Volcano Carbonara — аналог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66928" y="48646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773936" y="48646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163824" y="48646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611880" y="48646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215384" y="48646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131–140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5074920" y="48646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89–154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300216" y="48646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068312" y="48646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882127" y="48646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Клас · NOVUS +5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930384" y="48646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Chapaghetti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493776" y="5056632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66928" y="50932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Choi's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773936" y="50932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SIAS France · ЄС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163824" y="50932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611880" y="50932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15384" y="50932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074920" y="50932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300216" y="50932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7068312" y="50932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882127" y="50932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930384" y="50932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наш продукт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66928" y="53218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773936" y="53218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Foods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163824" y="53218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611880" y="53218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215384" y="53218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105–145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074920" y="53218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78–184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300216" y="53218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135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068312" y="53218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7882127" y="53218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Onde · Ашан · Клас +7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930384" y="53218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Buldak — франшиза-лідер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66928" y="5632704"/>
            <a:ext cx="11064240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566928" y="5632704"/>
            <a:ext cx="36576" cy="84124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804672" y="5788152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ДЕ САМЕ СТОЇТЬ CHOI’S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04672" y="6016752"/>
            <a:ext cx="105887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Шість SKU SIAS розпадаються на два сегменти: Carbonara 131 г і Gouda 123 г — це стір-фрай (медіана сегмента 100 грн), Vegetable, Spicy, Beef і Chicken — суповий рамьон (медіана 104 грн). Порівнювати їх треба з різними конкурентами, а не з категорією загалом.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МАТРИЦЯ БРЕНДІВ · 2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Сегменти 3 і 4: стакан і рисовий продукт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Ці два сегменти з Choi’s не конкурують напряму: інший привід споживання і інша ціна за грам. Показані, щоб було видно всю категорію.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72768"/>
            <a:ext cx="36576" cy="17373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81912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5D4B96"/>
                </a:solidFill>
                <a:latin typeface="Segoe UI"/>
              </a:rPr>
              <a:t>СЕГМЕНТ 3 · СТАКАН І БОУЛ   ·   Залити окропом 3–4 хв   ·   18 SKU   ·   медіана 104 грн   ·   154 грн/100 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47088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3936" y="1847088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ВЛАСНИК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63824" y="1847088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1847088"/>
            <a:ext cx="56692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15384" y="1847088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ВАГА,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1847088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ЗА ПАЧКУ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216" y="1847088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68312" y="1847088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82127" y="1847088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30384" y="1847088"/>
            <a:ext cx="17007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202996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73936" y="202996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Foods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63824" y="202996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202996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15384" y="202996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70–80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202996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34–150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202996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68312" y="202996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82127" y="202996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Космос · Клас +4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30384" y="202996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стакани Buldak 70–80 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76" y="2249424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28600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73936" y="228600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63824" y="228600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228600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15384" y="228600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228600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0216" y="228600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68312" y="228600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82127" y="228600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30384" y="228600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Jin Ramen у стакані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2542032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73936" y="2542032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63824" y="2542032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80" y="2542032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15384" y="2542032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74920" y="2542032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0216" y="254203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68312" y="2542032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82127" y="2542032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30384" y="2542032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боул Jumbo Noodle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3776" y="2761488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6928" y="279806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773936" y="2798064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63824" y="2798064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11880" y="2798064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15384" y="2798064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62–80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74920" y="279806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97–195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00216" y="279806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68312" y="2798064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166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82127" y="2798064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METRO · Ашан · Grono +1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30384" y="2798064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Shin Cup і сублімовані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66928" y="3236976"/>
            <a:ext cx="36576" cy="17373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13232" y="324612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03A5D"/>
                </a:solidFill>
                <a:latin typeface="Segoe UI"/>
              </a:rPr>
              <a:t>СЕГМЕНТ 4 · ТОК-ПОКІ ТА РИСОВА ЛОКШИНА   ·   Варіння або окріп   ·   7 SKU   ·   медіана 198 грн   ·   136 грн/100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6928" y="3511296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773936" y="3511296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ВЛАСНИК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163824" y="3511296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11880" y="3511296"/>
            <a:ext cx="56692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15384" y="3511296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ВАГА,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74920" y="3511296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ЗА ПАЧКУ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00216" y="3511296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068312" y="3511296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882127" y="3511296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30384" y="3511296"/>
            <a:ext cx="17007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6928" y="3694176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773936" y="3694176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Foods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163824" y="3694176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11880" y="3694176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215384" y="3694176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074920" y="3694176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65–104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369417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068312" y="3694176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882127" y="3694176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Onde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930384" y="3694176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Topokki — галушки з локшиною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93776" y="3913632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66928" y="39502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Baekje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773936" y="39502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63824" y="39502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611880" y="39502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15384" y="39502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74920" y="39502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39502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68312" y="39502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882127" y="39502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930384" y="39502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рисова локшина з кімчі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66928" y="420624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773936" y="420624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163824" y="420624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11880" y="420624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15384" y="420624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074920" y="420624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101–124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300216" y="420624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068312" y="420624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882127" y="420624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Grono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930384" y="420624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Rabokki — ток-покі з локшиною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93776" y="4425696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66928" y="4462272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Yopokki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773936" y="4462272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Young Poong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163824" y="4462272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611880" y="4462272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215384" y="4462272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074920" y="4462272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198–204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300216" y="446227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204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068312" y="4462272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882127" y="4462272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METRO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930384" y="4462272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ток-покі, снековий привід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66928" y="4297680"/>
            <a:ext cx="5413248" cy="1325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66928" y="4297680"/>
            <a:ext cx="36576" cy="132588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04672" y="4453128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СТАКАН — ВДВІЧІ ДОРОЖЧИЙ ГРАМ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" y="4681728"/>
            <a:ext cx="493776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154 грн/100 г проти 86 у пакетного рамьону. Покупець платить не за продукт, а за те, що не потрібна плита. При цьому сегмент займає лише 18 SKU у 8 мережах.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217920" y="4297680"/>
            <a:ext cx="5413248" cy="1325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6217920" y="4297680"/>
            <a:ext cx="36576" cy="132588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455664" y="4453128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ТОК-ПОКІ — НЕ НАША ПОЛИЦЯ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455664" y="4681728"/>
            <a:ext cx="493776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Медіана 198 грн, але це рисові галушки, а не локшина. Сегмент показано для повноти картини: його ціни не можна використовувати як орієнтир для пшеничного рамену.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28" y="5760720"/>
            <a:ext cx="11064240" cy="7315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66928" y="5760720"/>
            <a:ext cx="36576" cy="73152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04672" y="59161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СУМІЖНА ПОЛИЦЯ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04672" y="6144768"/>
            <a:ext cx="10588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Не-корейська локшина швидкого приготування — 14 брендів, 9–144 грн, 18–146 грн/100 г. Детально на слайді з картками. Саме вона, а не корейські бренди, формує уявлення покупця про «нормальну» ціну пачки локшини.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ЦІНОВІ СХОДИ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Від 65 до 205 грн: діапазон кожного бренду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Крапка — медіана бренду, смуга — від найдешевшої до найдорожчої його позиції. Помаранчеві лінії — полиця Choi’s за нашою фінмоделлю.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84248" y="1874519"/>
            <a:ext cx="5486" cy="299923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18488" y="4901183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84448" y="1874519"/>
            <a:ext cx="5486" cy="299923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18688" y="4901183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40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84648" y="1874519"/>
            <a:ext cx="5486" cy="299923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18888" y="4901183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84847" y="1874519"/>
            <a:ext cx="5486" cy="299923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7" y="4901183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85047" y="1874519"/>
            <a:ext cx="5486" cy="299923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9287" y="4901183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160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85247" y="1874519"/>
            <a:ext cx="5486" cy="299923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19487" y="4901183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200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585447" y="1874519"/>
            <a:ext cx="5486" cy="299923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219687" y="4901183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240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1943515"/>
            <a:ext cx="1325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O'Food  (4)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00587" y="1975519"/>
            <a:ext cx="664082" cy="100584"/>
          </a:xfrm>
          <a:prstGeom prst="rect">
            <a:avLst/>
          </a:prstGeom>
          <a:solidFill>
            <a:srgbClr val="ACB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996052" y="1957231"/>
            <a:ext cx="137160" cy="137160"/>
          </a:xfrm>
          <a:prstGeom prst="ellipse">
            <a:avLst/>
          </a:prstGeom>
          <a:solidFill>
            <a:srgbClr val="3E59A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56110" y="1943515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E59A8"/>
                </a:solidFill>
                <a:latin typeface="Segoe UI"/>
              </a:rPr>
              <a:t>77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2209522"/>
            <a:ext cx="1325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fire bull  (1)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0" y="2241526"/>
            <a:ext cx="18288" cy="100584"/>
          </a:xfrm>
          <a:prstGeom prst="rect">
            <a:avLst/>
          </a:prstGeom>
          <a:solidFill>
            <a:srgbClr val="ACB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036057" y="2223238"/>
            <a:ext cx="137160" cy="137160"/>
          </a:xfrm>
          <a:prstGeom prst="ellipse">
            <a:avLst/>
          </a:prstGeom>
          <a:solidFill>
            <a:srgbClr val="3E59A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12079" y="2209522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E59A8"/>
                </a:solidFill>
                <a:latin typeface="Segoe UI"/>
              </a:rPr>
              <a:t>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2475530"/>
            <a:ext cx="1325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Bibigo  (4)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04675" y="2507534"/>
            <a:ext cx="18288" cy="100584"/>
          </a:xfrm>
          <a:prstGeom prst="rect">
            <a:avLst/>
          </a:prstGeom>
          <a:solidFill>
            <a:srgbClr val="ACB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356097" y="2489246"/>
            <a:ext cx="137160" cy="137160"/>
          </a:xfrm>
          <a:prstGeom prst="ellipse">
            <a:avLst/>
          </a:prstGeom>
          <a:solidFill>
            <a:srgbClr val="3E59A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96115" y="2475530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E59A8"/>
                </a:solidFill>
                <a:latin typeface="Segoe UI"/>
              </a:rPr>
              <a:t>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2741537"/>
            <a:ext cx="1325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Ottogi  (11)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64582" y="2773541"/>
            <a:ext cx="1820227" cy="100584"/>
          </a:xfrm>
          <a:prstGeom prst="rect">
            <a:avLst/>
          </a:prstGeom>
          <a:solidFill>
            <a:srgbClr val="ACB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476112" y="2755253"/>
            <a:ext cx="137160" cy="137160"/>
          </a:xfrm>
          <a:prstGeom prst="ellipse">
            <a:avLst/>
          </a:prstGeom>
          <a:solidFill>
            <a:srgbClr val="3E59A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76250" y="2741537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E59A8"/>
                </a:solidFill>
                <a:latin typeface="Segoe UI"/>
              </a:rPr>
              <a:t>89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3007544"/>
            <a:ext cx="1325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Paldo  (15)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864607" y="3039548"/>
            <a:ext cx="2080259" cy="100584"/>
          </a:xfrm>
          <a:prstGeom prst="rect">
            <a:avLst/>
          </a:prstGeom>
          <a:solidFill>
            <a:srgbClr val="ACB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676138" y="3021260"/>
            <a:ext cx="137160" cy="137160"/>
          </a:xfrm>
          <a:prstGeom prst="ellipse">
            <a:avLst/>
          </a:prstGeom>
          <a:solidFill>
            <a:srgbClr val="3E59A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036307" y="3007544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E59A8"/>
                </a:solidFill>
                <a:latin typeface="Segoe UI"/>
              </a:rPr>
              <a:t>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3273552"/>
            <a:ext cx="1325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Otoki  (1)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780722" y="3305556"/>
            <a:ext cx="18288" cy="100584"/>
          </a:xfrm>
          <a:prstGeom prst="rect">
            <a:avLst/>
          </a:prstGeom>
          <a:solidFill>
            <a:srgbClr val="ACB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716142" y="3287268"/>
            <a:ext cx="137160" cy="137160"/>
          </a:xfrm>
          <a:prstGeom prst="ellipse">
            <a:avLst/>
          </a:prstGeom>
          <a:solidFill>
            <a:srgbClr val="3E59A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872162" y="3273552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E59A8"/>
                </a:solidFill>
                <a:latin typeface="Segoe UI"/>
              </a:rPr>
              <a:t>95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3539559"/>
            <a:ext cx="1325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Baekje  (1)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40779" y="3571563"/>
            <a:ext cx="18288" cy="100584"/>
          </a:xfrm>
          <a:prstGeom prst="rect">
            <a:avLst/>
          </a:prstGeom>
          <a:solidFill>
            <a:srgbClr val="ACB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156197" y="3553275"/>
            <a:ext cx="137160" cy="137160"/>
          </a:xfrm>
          <a:prstGeom prst="ellipse">
            <a:avLst/>
          </a:prstGeom>
          <a:solidFill>
            <a:srgbClr val="3E59A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32219" y="3539559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E59A8"/>
                </a:solidFill>
                <a:latin typeface="Segoe UI"/>
              </a:rPr>
              <a:t>106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3805566"/>
            <a:ext cx="1325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Nongshim  (32)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24615" y="3837570"/>
            <a:ext cx="5420677" cy="100584"/>
          </a:xfrm>
          <a:prstGeom prst="rect">
            <a:avLst/>
          </a:prstGeom>
          <a:solidFill>
            <a:srgbClr val="ACB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356222" y="3819282"/>
            <a:ext cx="137160" cy="137160"/>
          </a:xfrm>
          <a:prstGeom prst="ellipse">
            <a:avLst/>
          </a:prstGeom>
          <a:solidFill>
            <a:srgbClr val="3E59A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36732" y="3805566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E59A8"/>
                </a:solidFill>
                <a:latin typeface="Segoe UI"/>
              </a:rPr>
              <a:t>111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4071573"/>
            <a:ext cx="1325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Samyang  (22)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340417" y="4103577"/>
            <a:ext cx="6004750" cy="100584"/>
          </a:xfrm>
          <a:prstGeom prst="rect">
            <a:avLst/>
          </a:prstGeom>
          <a:solidFill>
            <a:srgbClr val="ACB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396227" y="4085289"/>
            <a:ext cx="137160" cy="137160"/>
          </a:xfrm>
          <a:prstGeom prst="ellipse">
            <a:avLst/>
          </a:prstGeom>
          <a:solidFill>
            <a:srgbClr val="3E59A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436607" y="4071573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E59A8"/>
                </a:solidFill>
                <a:latin typeface="Segoe UI"/>
              </a:rPr>
              <a:t>112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928" y="4337581"/>
            <a:ext cx="1325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Choi's  (1)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92874" y="4369585"/>
            <a:ext cx="18288" cy="100584"/>
          </a:xfrm>
          <a:prstGeom prst="rect">
            <a:avLst/>
          </a:prstGeom>
          <a:solidFill>
            <a:srgbClr val="ACB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6916292" y="4351297"/>
            <a:ext cx="137160" cy="137160"/>
          </a:xfrm>
          <a:prstGeom prst="ellipse">
            <a:avLst/>
          </a:prstGeom>
          <a:solidFill>
            <a:srgbClr val="3E59A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84314" y="4337581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E59A8"/>
                </a:solidFill>
                <a:latin typeface="Segoe UI"/>
              </a:rPr>
              <a:t>125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6928" y="4603588"/>
            <a:ext cx="1325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Yopokki  (4)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890836" y="4635592"/>
            <a:ext cx="259232" cy="100584"/>
          </a:xfrm>
          <a:prstGeom prst="rect">
            <a:avLst/>
          </a:prstGeom>
          <a:solidFill>
            <a:srgbClr val="ACB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0076688" y="4617304"/>
            <a:ext cx="137160" cy="137160"/>
          </a:xfrm>
          <a:prstGeom prst="ellipse">
            <a:avLst/>
          </a:prstGeom>
          <a:solidFill>
            <a:srgbClr val="3E59A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241508" y="4603588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E59A8"/>
                </a:solidFill>
                <a:latin typeface="Segoe UI"/>
              </a:rPr>
              <a:t>204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193459" y="1856231"/>
            <a:ext cx="14630" cy="301752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77814" y="1453895"/>
            <a:ext cx="1645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760" b="1" spc="-10">
                <a:solidFill>
                  <a:srgbClr val="C4820A"/>
                </a:solidFill>
                <a:latin typeface="Segoe UI"/>
              </a:rPr>
              <a:t>наш суповий</a:t>
            </a:r>
          </a:p>
          <a:p>
            <a:pPr algn="ctr">
              <a:lnSpc>
                <a:spcPct val="112000"/>
              </a:lnSpc>
            </a:pPr>
            <a:r>
              <a:rPr sz="760" b="1" spc="-10">
                <a:solidFill>
                  <a:srgbClr val="C4820A"/>
                </a:solidFill>
                <a:latin typeface="Segoe UI"/>
              </a:rPr>
              <a:t>105 грн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841540" y="1856231"/>
            <a:ext cx="14630" cy="301752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25895" y="1600199"/>
            <a:ext cx="1645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760" b="1" spc="-10">
                <a:solidFill>
                  <a:srgbClr val="C4820A"/>
                </a:solidFill>
                <a:latin typeface="Segoe UI"/>
              </a:rPr>
              <a:t>наш стір-фрай</a:t>
            </a:r>
          </a:p>
          <a:p>
            <a:pPr algn="ctr">
              <a:lnSpc>
                <a:spcPct val="112000"/>
              </a:lnSpc>
            </a:pPr>
            <a:r>
              <a:rPr sz="760" b="1" spc="-10">
                <a:solidFill>
                  <a:srgbClr val="C4820A"/>
                </a:solidFill>
                <a:latin typeface="Segoe UI"/>
              </a:rPr>
              <a:t>122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6928" y="5111496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Шкала — грн за одну пачку, з ПДВ. У дужках — кількість SKU бренду у зрізі. Помаранчеві лінії — полиця Choi’s за фінмоделлю.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66928" y="5257800"/>
            <a:ext cx="3547872" cy="9601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68096" y="5413248"/>
            <a:ext cx="318211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 КАТЕГОРІЇ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8096" y="56235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105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8096" y="6099048"/>
            <a:ext cx="31821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P25 86 · P75 122 грн.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315968" y="5257800"/>
            <a:ext cx="3547872" cy="9601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17136" y="5413248"/>
            <a:ext cx="318211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НАЙДЕШЕВШИЙ БРЕНД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517136" y="56235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O’Food 77 грн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17136" y="6099048"/>
            <a:ext cx="31821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Daesang, 102–144 г, 2 мережі.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065008" y="5257800"/>
            <a:ext cx="3566160" cy="9601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66176" y="5413248"/>
            <a:ext cx="3200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НАША ПОЛИЦЯ · FULL TRUCK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66176" y="56235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105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66176" y="6099048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суповий рамьон, маржа 15 %.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РОЗПОДІЛ ЦІН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Де щільно і де порожньо в кожному сегменті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Один рядок — один сегмент. Кожна крапка — один SKU. Світла смуга — де лежить половина позицій сегмента (P25–P75), ромб — медіана.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5584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0088" y="535838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362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7867" y="535838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40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3140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65648" y="535838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1918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3428" y="535838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696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41208" y="535838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160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474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28988" y="535838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200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08252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16768" y="535838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240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41833" y="1792223"/>
            <a:ext cx="14630" cy="3511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80468" y="1755647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760" b="1" spc="-10">
                <a:solidFill>
                  <a:srgbClr val="C4820A"/>
                </a:solidFill>
                <a:latin typeface="Segoe UI"/>
              </a:rPr>
              <a:t>наш суповий рамьон</a:t>
            </a:r>
          </a:p>
          <a:p>
            <a:pPr algn="ctr">
              <a:lnSpc>
                <a:spcPct val="112000"/>
              </a:lnSpc>
            </a:pPr>
            <a:r>
              <a:rPr sz="760" b="1" spc="-10">
                <a:solidFill>
                  <a:srgbClr val="C4820A"/>
                </a:solidFill>
                <a:latin typeface="Segoe UI"/>
              </a:rPr>
              <a:t>105 грн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92359" y="1792223"/>
            <a:ext cx="14630" cy="3511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30994" y="1554479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760" b="1" spc="-10">
                <a:solidFill>
                  <a:srgbClr val="C4820A"/>
                </a:solidFill>
                <a:latin typeface="Segoe UI"/>
              </a:rPr>
              <a:t>наш стір-фрай 122 грн</a:t>
            </a:r>
          </a:p>
          <a:p>
            <a:pPr algn="ctr">
              <a:lnSpc>
                <a:spcPct val="112000"/>
              </a:lnSpc>
            </a:pPr>
            <a:r>
              <a:rPr sz="760" b="1" spc="-10">
                <a:solidFill>
                  <a:srgbClr val="C4820A"/>
                </a:solidFill>
                <a:latin typeface="Segoe UI"/>
              </a:rPr>
              <a:t>факт Choi’s 125,20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2176272"/>
            <a:ext cx="2651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СЕГМЕНТ 1 · СУПОВИЙ РАМЬОН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395727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Варіння 4–5 хв · з бульйоном · вага 102–144 г</a:t>
            </a:r>
          </a:p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P25–P75: 87–119 грн · 86 грн/100 г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56769" y="2194560"/>
            <a:ext cx="1030224" cy="530352"/>
          </a:xfrm>
          <a:prstGeom prst="rect">
            <a:avLst/>
          </a:prstGeom>
          <a:solidFill>
            <a:srgbClr val="DC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498001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559171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623560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671851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81313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784532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784532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865018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977699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00235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038869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135452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170866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203061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267450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289986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289986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296425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347936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347936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360814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460617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637686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695636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782562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863048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895242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895242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904901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908120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927437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6962851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011142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072312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7104507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7191432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7329868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7329868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7439329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455427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703324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7741958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780591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624087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9680067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9911867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Diamond 76"/>
          <p:cNvSpPr/>
          <p:nvPr/>
        </p:nvSpPr>
        <p:spPr>
          <a:xfrm>
            <a:off x="6612636" y="2670048"/>
            <a:ext cx="182880" cy="182880"/>
          </a:xfrm>
          <a:prstGeom prst="diamond">
            <a:avLst/>
          </a:prstGeom>
          <a:solidFill>
            <a:srgbClr val="303A5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063996" y="2852927"/>
            <a:ext cx="1280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40" b="1" spc="-10">
                <a:solidFill>
                  <a:srgbClr val="303A5D"/>
                </a:solidFill>
                <a:latin typeface="Segoe UI"/>
              </a:rPr>
              <a:t>медіана 104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100815" y="2286000"/>
            <a:ext cx="5303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spc="-10">
                <a:solidFill>
                  <a:srgbClr val="3E59A8"/>
                </a:solidFill>
                <a:latin typeface="Segoe UI"/>
              </a:rPr>
              <a:t>46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00815" y="2505456"/>
            <a:ext cx="5303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6928" y="2962656"/>
            <a:ext cx="2651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СЕГМЕНТ 2 · СТІР-ФРАЙ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6928" y="3182111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Варіння 4–5 хв · воду злити · вага 105–145 г</a:t>
            </a:r>
          </a:p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P25–P75: 86–124 грн · 77 грн/100 г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24575" y="2980944"/>
            <a:ext cx="1223390" cy="530352"/>
          </a:xfrm>
          <a:prstGeom prst="rect">
            <a:avLst/>
          </a:prstGeom>
          <a:solidFill>
            <a:srgbClr val="DC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5800629" y="30175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5829604" y="31318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5897213" y="32461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5922968" y="33604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058185" y="30175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058185" y="31318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058185" y="32461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058185" y="33604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170866" y="30175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170866" y="31318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170866" y="32461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380130" y="33604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521786" y="30175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615150" y="31318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6660222" y="32461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6798659" y="33604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962851" y="30175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168896" y="31318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265479" y="32461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336307" y="33604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664691" y="30175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102536" y="31318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360092" y="32461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8360092" y="33604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8360092" y="30175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Diamond 108"/>
          <p:cNvSpPr/>
          <p:nvPr/>
        </p:nvSpPr>
        <p:spPr>
          <a:xfrm>
            <a:off x="6483858" y="3456432"/>
            <a:ext cx="182880" cy="182880"/>
          </a:xfrm>
          <a:prstGeom prst="diamond">
            <a:avLst/>
          </a:prstGeom>
          <a:solidFill>
            <a:srgbClr val="303A5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935218" y="3639311"/>
            <a:ext cx="1280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40" b="1" spc="-10">
                <a:solidFill>
                  <a:srgbClr val="303A5D"/>
                </a:solidFill>
                <a:latin typeface="Segoe UI"/>
              </a:rPr>
              <a:t>медіана 100 грн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1100815" y="3072384"/>
            <a:ext cx="5303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spc="-10">
                <a:solidFill>
                  <a:srgbClr val="3E59A8"/>
                </a:solidFill>
                <a:latin typeface="Segoe UI"/>
              </a:rPr>
              <a:t>25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1100815" y="3291839"/>
            <a:ext cx="5303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66928" y="3749039"/>
            <a:ext cx="2651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СЕГМЕНТ 3 · СТАКАН І БОУЛ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66928" y="396849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Залити окропом 3–4 хв · вага 62–120 г</a:t>
            </a:r>
          </a:p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P25–P75: 93–111 грн · 154 грн/100 г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349936" y="3767327"/>
            <a:ext cx="579500" cy="530352"/>
          </a:xfrm>
          <a:prstGeom prst="rect">
            <a:avLst/>
          </a:prstGeom>
          <a:solidFill>
            <a:srgbClr val="DC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5398198" y="38039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5401417" y="39182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5745899" y="40325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5955163" y="41468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6428422" y="38039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6489592" y="39182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6589395" y="40325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6621589" y="41468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6621589" y="38039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679539" y="39182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6679539" y="40325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6885584" y="41468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6885584" y="38039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6885584" y="39182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6885584" y="40325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7922247" y="41468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7973758" y="38039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583483" y="39182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Diamond 133"/>
          <p:cNvSpPr/>
          <p:nvPr/>
        </p:nvSpPr>
        <p:spPr>
          <a:xfrm>
            <a:off x="6612636" y="4242816"/>
            <a:ext cx="182880" cy="182880"/>
          </a:xfrm>
          <a:prstGeom prst="diamond">
            <a:avLst/>
          </a:prstGeom>
          <a:solidFill>
            <a:srgbClr val="303A5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063996" y="4425696"/>
            <a:ext cx="1280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40" b="1" spc="-10">
                <a:solidFill>
                  <a:srgbClr val="303A5D"/>
                </a:solidFill>
                <a:latin typeface="Segoe UI"/>
              </a:rPr>
              <a:t>медіана 104 грн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100815" y="3858768"/>
            <a:ext cx="5303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spc="-10">
                <a:solidFill>
                  <a:srgbClr val="3E59A8"/>
                </a:solidFill>
                <a:latin typeface="Segoe UI"/>
              </a:rP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100815" y="4078224"/>
            <a:ext cx="5303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66928" y="4535424"/>
            <a:ext cx="2651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СЕГМЕНТ 4 · ТОК-ПОКІ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66928" y="475488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Варіння або окріп · вага 80–145 г</a:t>
            </a:r>
          </a:p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P25–P75: 106–204 грн · 136 грн/100 г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768465" y="4553712"/>
            <a:ext cx="3155061" cy="530352"/>
          </a:xfrm>
          <a:prstGeom prst="rect">
            <a:avLst/>
          </a:prstGeom>
          <a:solidFill>
            <a:srgbClr val="DC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6019552" y="4590288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6731050" y="4704588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6920998" y="4818888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667189" y="4933188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876453" y="4590288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9876453" y="4704588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9876453" y="4818888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Diamond 147"/>
          <p:cNvSpPr/>
          <p:nvPr/>
        </p:nvSpPr>
        <p:spPr>
          <a:xfrm>
            <a:off x="9638919" y="5029200"/>
            <a:ext cx="182880" cy="182880"/>
          </a:xfrm>
          <a:prstGeom prst="diamond">
            <a:avLst/>
          </a:prstGeom>
          <a:solidFill>
            <a:srgbClr val="303A5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9090279" y="5212080"/>
            <a:ext cx="1280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40" b="1" spc="-10">
                <a:solidFill>
                  <a:srgbClr val="303A5D"/>
                </a:solidFill>
                <a:latin typeface="Segoe UI"/>
              </a:rPr>
              <a:t>медіана 198 грн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1100815" y="4645152"/>
            <a:ext cx="5303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spc="-10">
                <a:solidFill>
                  <a:srgbClr val="3E59A8"/>
                </a:solidFill>
                <a:latin typeface="Segoe UI"/>
              </a:rPr>
              <a:t>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100815" y="4864608"/>
            <a:ext cx="5303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66928" y="5559552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Шкала — грн за одну пачку, з ПДВ. Помаранчеві лінії — полиця Choi’s за фінмоделлю з маржею 15 % на різних тарифах і фактична ціна на полиці.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66928" y="5669280"/>
            <a:ext cx="3547872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566928" y="5669280"/>
            <a:ext cx="36576" cy="84124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04672" y="582472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ПАКЕТ: ОДНА Й ТА САМА СМУГА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804672" y="605332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30" b="0" spc="-10">
                <a:solidFill>
                  <a:srgbClr val="717890"/>
                </a:solidFill>
                <a:latin typeface="Segoe UI"/>
              </a:rPr>
              <a:t>Сегменти 1 і 2 лежать у 86–124 грн. Різні технології, майже однакова ціна за пачку — покупець порівнює їх напряму.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4315968" y="5669280"/>
            <a:ext cx="3547872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4315968" y="5669280"/>
            <a:ext cx="36576" cy="841248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4553712" y="582472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СТАКАН: ВУЗЬКО І ДОРОГО ЗА ГРАМ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553712" y="605332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30" b="0" spc="-10">
                <a:solidFill>
                  <a:srgbClr val="717890"/>
                </a:solidFill>
                <a:latin typeface="Segoe UI"/>
              </a:rPr>
              <a:t>93–111 грн за пачку при 62–120 г. Найщільніший сегмент за ціною і найдорожчий за грам (154 грн/100 г).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065008" y="5669280"/>
            <a:ext cx="3566160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8065008" y="5669280"/>
            <a:ext cx="36576" cy="84124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8302752" y="5824728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МИ ПОТРАПЛЯЄМО В РИНОК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302752" y="6053328"/>
            <a:ext cx="30906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30" b="0" spc="-10">
                <a:solidFill>
                  <a:srgbClr val="717890"/>
                </a:solidFill>
                <a:latin typeface="Segoe UI"/>
              </a:rPr>
              <a:t>105 грн лягає рівно на медіану сегмента 1, 122 — між медіаною і P75 сегмента 2. Обидві позиції всередині ринку.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ФОРМАТ І ВАГА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Де насправді щільна полиця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Кожна клітинка — скільки SKU корейського рамену має цей формат у цій ваговій смузі. Насиченість кольору пропорційна кількості.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МАТРИЦЯ ФОРМАТ × ВАГА · SKU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87168" y="175564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40–90 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04488" y="175564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90–110 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21808" y="175564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110–125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9128" y="175564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125–145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75564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145 г 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185415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Пакет (пачка)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05456" y="2048255"/>
            <a:ext cx="1380744" cy="420624"/>
          </a:xfrm>
          <a:prstGeom prst="rect">
            <a:avLst/>
          </a:prstGeom>
          <a:solidFill>
            <a:srgbClr val="A9B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05456" y="21579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13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22776" y="2048255"/>
            <a:ext cx="1380744" cy="420624"/>
          </a:xfrm>
          <a:prstGeom prst="rect">
            <a:avLst/>
          </a:prstGeom>
          <a:solidFill>
            <a:srgbClr val="A9B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22776" y="21579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40096" y="2048255"/>
            <a:ext cx="1380744" cy="420624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40096" y="21579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FFFFFF"/>
                </a:solidFill>
                <a:latin typeface="Segoe UI"/>
              </a:rPr>
              <a:t>35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57416" y="2048255"/>
            <a:ext cx="1380744" cy="420624"/>
          </a:xfrm>
          <a:prstGeom prst="rect">
            <a:avLst/>
          </a:prstGeom>
          <a:solidFill>
            <a:srgbClr val="5A73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57416" y="21579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FFFFFF"/>
                </a:solidFill>
                <a:latin typeface="Segoe UI"/>
              </a:rPr>
              <a:t>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74736" y="2048255"/>
            <a:ext cx="1380744" cy="420624"/>
          </a:xfrm>
          <a:prstGeom prst="rect">
            <a:avLst/>
          </a:prstGeom>
          <a:solidFill>
            <a:srgbClr val="A9B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74736" y="21579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2642615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Стакан / боул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05456" y="2505456"/>
            <a:ext cx="1380744" cy="420624"/>
          </a:xfrm>
          <a:prstGeom prst="rect">
            <a:avLst/>
          </a:prstGeom>
          <a:solidFill>
            <a:srgbClr val="A9B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05456" y="26151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22776" y="2505456"/>
            <a:ext cx="1380744" cy="420624"/>
          </a:xfrm>
          <a:prstGeom prst="rect">
            <a:avLst/>
          </a:prstGeom>
          <a:solidFill>
            <a:srgbClr val="EB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2776" y="26151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40096" y="2505456"/>
            <a:ext cx="1380744" cy="420624"/>
          </a:xfrm>
          <a:prstGeom prst="rect">
            <a:avLst/>
          </a:prstGeom>
          <a:solidFill>
            <a:srgbClr val="CF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40096" y="26151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57416" y="2505456"/>
            <a:ext cx="1380744" cy="420624"/>
          </a:xfrm>
          <a:prstGeom prst="rect">
            <a:avLst/>
          </a:prstGeom>
          <a:solidFill>
            <a:srgbClr val="EB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57416" y="26151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74736" y="2505456"/>
            <a:ext cx="1380744" cy="420624"/>
          </a:xfrm>
          <a:prstGeom prst="rect">
            <a:avLst/>
          </a:prstGeom>
          <a:solidFill>
            <a:srgbClr val="EB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74736" y="26151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3145536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3232" y="3154679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ВАГОВІ СМУГИ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3383280"/>
            <a:ext cx="17373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ВАГОВА СМУГА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40864" y="3383280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62656" y="3383280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ЧАСТКА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03904" y="3383280"/>
            <a:ext cx="10515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19472" y="3383280"/>
            <a:ext cx="960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89320" y="3383280"/>
            <a:ext cx="56235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ЗА ФОРМАТ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3566160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40–90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40864" y="356616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62656" y="356616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19 %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03904" y="3566160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104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19472" y="3566160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3566160"/>
            <a:ext cx="5623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стакани й міні-пачки: дорого за грам, дешево за чек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93776" y="3790188"/>
            <a:ext cx="10936224" cy="251459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6928" y="3826764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90–110 г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40864" y="3826764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62656" y="3826764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9 %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03904" y="3826764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106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19472" y="3826764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89320" y="3826764"/>
            <a:ext cx="5623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перехідна смуга, мало SKU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4087368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110–125 г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40864" y="408736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36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962656" y="408736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38 %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03904" y="4087368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93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919472" y="4087368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9320" y="4087368"/>
            <a:ext cx="5623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найщільніша смуга ринку — Shin Ramyun, Ottogi, Paldo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93776" y="4311396"/>
            <a:ext cx="10936224" cy="251459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66928" y="4347972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125–145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340864" y="434797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962656" y="4347972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28 %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803904" y="4347972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112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19472" y="4347972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89320" y="4347972"/>
            <a:ext cx="5623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смуга Buldak і Chapaghetti — тут премія бренду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6928" y="4608576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145 г +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340864" y="4608576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62656" y="4608576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6 %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803904" y="4608576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201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19472" y="4608576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139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989320" y="4608576"/>
            <a:ext cx="5623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ток-покі та нестандарт, інший привід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6928" y="4846320"/>
            <a:ext cx="3547872" cy="1143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66928" y="4846320"/>
            <a:ext cx="36576" cy="114300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04672" y="500176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ВАГА CHOI’S — ПРАВИЛЬНА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04672" y="5230368"/>
            <a:ext cx="3072384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112,5–131 г потрапляє точно у дві найщільніші смуги (110–145 г, 66 % SKU). Формат і грамаж заперечень не викликають.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15968" y="4846320"/>
            <a:ext cx="3547872" cy="1143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315968" y="4846320"/>
            <a:ext cx="36576" cy="114300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53712" y="500176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ЦІНА CHOI’S — НІ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553712" y="5230368"/>
            <a:ext cx="3072384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У цих самих смугах медіана 93–112 грн і 78–86 грн/100 г. Фінмодель з маржею 15 % дає 105 і 122 грн — обидві цифри всередині цих смуг.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65008" y="4846320"/>
            <a:ext cx="3566160" cy="1143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8065008" y="4846320"/>
            <a:ext cx="36576" cy="114300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302752" y="5001768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ДЕ Є ВІЛЬНЕ МІСЦЕ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302752" y="5230368"/>
            <a:ext cx="309067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Стакан/боул — лише 6 SKU на всю категорію при ціні за грам у 2 рази вищій (166 проти 87 грн/100 г). Якщо в SIAS є стакан — це єдиний формат, де премія вже прийнята.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НАЙПОПУЛЯРНІШІ ФОРМАТИ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Які поєднання ваги й формату ринок обирає найчастіше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Ліворуч — конкретні поєднання формату і грамажу. Праворуч — куди в цю сітку потрапляють шість SKU Choi’s.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#1 НА РИНКУ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C4820A"/>
                </a:solidFill>
                <a:latin typeface="Segoe UI"/>
              </a:rPr>
              <a:t>пакет 120 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22 SKU у пакеті, медіана 93 грн, 77 грн/100 г.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Nongshim, Ottogi, Paldo — 11 мереж.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#2 · СМУГА СТІР-ФРАЮ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пакет 130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9 SKU, медіана 114 грн, 87 грн/100 г.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Сюди лягає Carbonara 131 г.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36992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НАЙДЕШЕВШИЙ ВХІД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5D4B96"/>
                </a:solidFill>
                <a:latin typeface="Segoe UI"/>
              </a:rPr>
              <a:t>стакан 80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4 SKU, медіана 70 грн.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Samyang Buldak у стакані.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 СУПОВИХ SKU CHOI’S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113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Жодного SKU на ринку в цій вазі.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Найближча щільна клітинка — 120 г.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3128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РІЗНИЦЯ ВАГИ ДО СТАНДАРТУ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113 проти 120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8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Choi’s на 7 г легший за стандарт.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За однакової ціни це −6 % продукту.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36992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ПОКРИТТЯ СІТКИ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79 з 96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позицій лежать у 16 поєднаннях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із двома і більше SKU.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389120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4398264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ТОП ПОЄДНАНЬ ФОРМАТ × ВАГА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0" y="4398264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поєднання з двома і більше SKU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4626864"/>
            <a:ext cx="1554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94560" y="4626864"/>
            <a:ext cx="685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71800" y="4626864"/>
            <a:ext cx="502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47872" y="4626864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61104" y="4626864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48656" y="4626864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72784" y="4626864"/>
            <a:ext cx="3108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ХТО ТРИМАЄ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36608" y="4626864"/>
            <a:ext cx="21945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ЧИ Є ТУТ CHOI’S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4809744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пакет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94560" y="4809744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71800" y="480974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22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47872" y="4809744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61104" y="480974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93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48656" y="480974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72784" y="4809744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Nongshim (9) · Ottogi (6) · Paldo (4)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36608" y="4809744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 — наші 112,5–113 г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3776" y="5029200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6928" y="5065776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пакет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94560" y="5065776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130 г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71800" y="5065776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47872" y="5065776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61104" y="5065776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114 грн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48656" y="5065776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72784" y="5065776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Paldo (3) · Samyang (2) · Nongshim (2)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436608" y="506577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так — Carbonara 131 г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5321808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пакет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94560" y="5321808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140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71800" y="5321808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547872" y="5321808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61104" y="532180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122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48656" y="532180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72784" y="5321808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Samyang (4) · Nongshim (1) · Paldo 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436608" y="5321808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3776" y="5541264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66928" y="55778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пакет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194560" y="5577840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971800" y="5577840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47872" y="5577840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61104" y="5577840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139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248656" y="5577840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132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72784" y="5577840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Samyang (5) · Paldo (1)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436608" y="55778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6928" y="583387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ток-покі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194560" y="5833872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145 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71800" y="5833872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547872" y="5833872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261104" y="583387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204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248656" y="583387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141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72784" y="5833872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Yopokki (4) · Paldo (1)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583387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93776" y="6053328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66928" y="6089904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стакан/боул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194560" y="6089904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67 г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971800" y="608990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547872" y="6089904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261104" y="608990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107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48656" y="608990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160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272784" y="6089904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Nongshim (3) · Ottogi (1)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436608" y="6089904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66928" y="6345936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стакан/боул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194560" y="6345936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80 г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71800" y="6345936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547872" y="6345936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261104" y="6345936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70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248656" y="6345936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72784" y="6345936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Samyang (3) · Nongshim (1)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634593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93776" y="6565392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66928" y="6601968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пакет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194560" y="6601968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971800" y="6601968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547872" y="6601968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261104" y="660196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94 грн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248656" y="660196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272784" y="6601968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Paldo (4)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436608" y="6601968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1 · СУПОВИЙ РАМЬОН · ПАКЕТ   ·   46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Суповий рамьон 1 з 4 — нижня половина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Найбільший сегмент категорії: 46 SKU у 12 мережах. Відсортовано від найдешевшої позиції.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C4820A"/>
                </a:solidFill>
                <a:latin typeface="Segoe UI"/>
              </a:rPr>
              <a:t>СЕГМЕНТ 1 · СУПОВИЙ РАМЬОН · ПАКЕТ   ·   Варіння 4–5 хв · з бульйоном   ·   Маса — сухого продукту   ·   привід: Домашня вечеря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064517552101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Yeul Ramen дуже гостра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68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5211456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O'Food · Кімчі Рамен локшина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144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68–72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064843610061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Teumsae Ramen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72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880104315062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Зі спеціями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8801045521312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Kimchi Ramen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67–85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Космос · Таврія В +1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8801052114385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O'Food · Кімчі Рамен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129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74–80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8801052114545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O'Food · Сівід Рамен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103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74–80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01052114552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O'Food · Смак морепродуктів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102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74–84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1045524672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З сиром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111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83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Зараз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8801045522265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Jin рамен гостра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84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0031146181018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Кімчі Рамьон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85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1043022705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Soon Veggie Ramyun овоч…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112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74–102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8801043157759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Cham-Pong Ramyun з море…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124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0648436100422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Hwa Ramyun з гострим пе…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87–93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ПІДЛОГА СЕГМЕНТА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Ottogi, O’Food і Paldo тримають 68–93 грн за 102–144 г. Це 55–70 грн/100 г — саме з цими цінами покупець порівнює будь-який новий суповий рамьон.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1 · СУПОВИЙ РАМЬОН · ПАКЕТ   ·   46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Суповий рамьон 2 з 4 — ядро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Смуга навколо медіани сегмента 104 грн. Тут стоїть Shin Ramyun і основна лінійка Nongshim.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C4820A"/>
                </a:solidFill>
                <a:latin typeface="Segoe UI"/>
              </a:rPr>
              <a:t>СЕГМЕНТ 1 · СУПОВИЙ РАМЬОН · ПАКЕТ   ·   Варіння 4–5 хв · з бульйоном   ·   Маса — сухого продукту   ·   привід: Домашня вечеря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064843610068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Kokomen зі смаком курки…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92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4552226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Jin рамен гостра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93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4599990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Середньогостра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67–101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Космос · Grono +2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064843610058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Зі смаком морепродуктів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93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0648436310777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Spicy Zanmang Loopy з б…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76–113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064843631074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Zanmang Loopy оригіналь…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76–113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085006966714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Otoki · Cheesy Ramen зі смаком…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95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01043157735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AnSungTangMyun з грибам…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125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74–122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1043157711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 морепродуктами гостра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85–122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0648436100934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З сиром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105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0074603006684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Зі смаком морепродуктів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108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Onde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1043069588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Ramyun зі смаком г…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89–132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8801073112278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Макаронні вироби Samyan…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115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112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8801073115514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Локшина зі смаком курки…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135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108–169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 · Зараз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ЯКІР КАТЕГОРІЇ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Shin Ramyun і Kimchi Ramyun у 7–10 мережах за 110–120 грн. Це ціна, яку покупець вважає нормальною за корейський рамьон.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1 · СУПОВИЙ РАМЬОН · ПАКЕТ   ·   46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Суповий рамьон 3 з 4 — верхня половина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Позиції дорожчі за медіану: ширші лінійки Nongshim і Samyang, більші грамажі.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C4820A"/>
                </a:solidFill>
                <a:latin typeface="Segoe UI"/>
              </a:rPr>
              <a:t>СЕГМЕНТ 1 · СУПОВИЙ РАМЬОН · ПАКЕТ   ·   Варіння 4–5 хв · з бульйоном   ·   Маса — сухого продукту   ·   привід: Домашня вечеря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880107311411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 сиром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99–124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4552523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З кунжутом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115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112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4552255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Jin Jjambbong Ramen з м…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112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880104315777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 морепродуктами середн…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85–125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Клас · METRO +2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8801073113312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 сиром гостра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115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880104315062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Зі спеціями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98–129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Клас · METRO +4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0031146181018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Kimchi Ramyun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98–124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ЧудоМаркет · Космос · Grono +6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01073211773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Зі смаком сиру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105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112–130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1043157766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 морепродуктами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125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125–135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Клас · Onde · Восторг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8801043014809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Зі спеціями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125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1043150026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Ramyun з грибами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128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Onde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1043070362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Ramyun Tom Yum Том…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123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116–142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8801073113428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Зі смаком курки дуже го…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140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86–151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Космос +7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8801073110502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Зі смаком курки гостра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140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93–156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Космос · Grono +4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ДЕ ЗАКІНЧУЄТЬСЯ СЕГМЕНТ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Вище 150 грн у суповому рамьоні залишаються поодинокі позиції. Полиця Choi’s за фінмоделлю (155–199 грн для супових SKU) починається там, де сегмент уже закінчився.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1 · СУПОВИЙ РАМЬОН · ПАКЕТ   ·   46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Суповий рамьон 4 з 4 — стеля сегмента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Найдорожчі позиції сегмента. Shin Ramyun Black — преміальна суб-лінійка з іншим складом.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C4820A"/>
                </a:solidFill>
                <a:latin typeface="Segoe UI"/>
              </a:rPr>
              <a:t>СЕГМЕНТ 1 · СУПОВИЙ РАМЬОН · ПАКЕТ   ·   Варіння 4–5 хв · з бульйоном   ·   Маса — сухого продукту   ·   привід: Домашня вечеря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880107311331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Гостра з сиром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100–151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ЧудоМаркет · Космос · Grono +6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003114601737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Шин Рамен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165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4301547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Spicy &amp; Creamy Toomba K…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137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198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880104306022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Ramyun Black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202–209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СТЕЛЯ — 209 ГРН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І це Shin Ramyun Black, преміум-версія бренду №1 з 10-річною історією на ринку. Новий бренд не може стартувати з цієї полиці.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2 · СТІР-ФРАЙ БЕЗ БУЛЬЙОНУ · ПАКЕТ   ·   25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Стір-фрай 1 з 2 — сюди потрапляють Carbonara і Gouda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25 SKU, медіана 100 грн, 77 грн/100 г. Сегмент, у якому Choi’s Carbonara конкурує напряму.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1E9EA6"/>
                </a:solidFill>
                <a:latin typeface="Segoe UI"/>
              </a:rPr>
              <a:t>СЕГМЕНТ 2 · СТІР-ФРАЙ БЕЗ БУЛЬЙОНУ · ПАКЕТ   ·   Варіння 4–5 хв · воду злити   ·   Маса — сухого продукту   ·   привід: Домашня вечеря · тренд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088017311686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Tangle зі смаком вершко…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105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78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Onde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31136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fire bull · Stir-Fried Ramen Beef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138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78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Onde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064843631071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Volcano Carbonara гостр…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105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80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064843631002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Compaghetti локшина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110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81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955505030284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Bibigo · Стір-фрай Рамен зі смак…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122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9555050302839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Bibigo · Стір-фрай Рамен Курка б…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122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9555050302808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Bibigo · Стір-фрай Рамен Spicy T…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122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9555050302815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Bibigo · Стір-фрай Рамен Cheese…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127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1045009209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Stir-Fry Рамен із сиром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8801045178226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Stir-Fry Рамен із сиром…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1043061674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Stir Fry Шин Рамьойн го…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131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1043068741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Ramyun Stir Fry зі…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136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96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0648436100057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Bibim Men в корейському…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72–124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ЧудоМаркет · Grono · NOVUS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0074603005922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Chacharoni зі смаком чо…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140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90–115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ПРЯМИЙ АНАЛОГ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Paldo Volcano Carbonara 130 г за 114 грн і Samyang Buldak Carbonara 130 г за 140 грн — це рівно той самий продукт, що й Choi’s Carbonara 131 г за 125,20 грн.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2 · СТІР-ФРАЙ БЕЗ БУЛЬЙОНУ · ПАКЕТ   ·   25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Стір-фрай 2 з 2 — верх сегмента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Buldak у різних смаках і мультипаки. Тут — верхня межа цін сегмента.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1E9EA6"/>
                </a:solidFill>
                <a:latin typeface="Segoe UI"/>
              </a:rPr>
              <a:t>СЕГМЕНТ 2 · СТІР-ФРАЙ БЕЗ БУЛЬЙОНУ · ПАКЕТ   ·   Варіння 4–5 хв · воду злити   ·   Маса — сухого продукту   ·   привід: Домашня вечеря · тренд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064843610135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Stir fried з куркою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86–123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731139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Buldak Jjajang зі смако…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108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064843631068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Volcano Carbonara куряча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105–121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 · Onde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880104315772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Chapaghetti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89–136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Клас · METRO +3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064843610127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Volcano Chicken з курко…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84–123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 · Onde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376034435084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Choi's · Карбон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131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125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880107311338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Buldak Рамен з гострою…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145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94–184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Космос +4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01043018470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Toomba Spicy&amp;Creamy Sti…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137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131–154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Grono +4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1073116832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Tangle зі смаком вершко…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105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78–157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Клас · Onde · Восторг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0880173116863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Tangle зі смаком вершко…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105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157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Клас · Восторг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1073116849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Tangle зі смаком часник…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105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78–157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Клас · Onde · Восторг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ЩО ТАКЕ 184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Максимум сегмента — мультипак Samyang. Одиночна пачка стір-фраю ніде не перетинає 170 грн.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3 · СТАКАН І БОУЛ   ·   18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Стакан і боул — увесь сегмент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18 SKU у 8 мережах. Готується без плити, маса 62–120 г.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5D4B96"/>
                </a:solidFill>
                <a:latin typeface="Segoe UI"/>
              </a:rPr>
              <a:t>СЕГМЕНТ 3 · СТАКАН І БОУЛ   ·   Залити окропом 3–4 хв   ·   Маса — сухого продукту   ·   привід: Офіс і дорога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880107311404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Bulgogi Рамен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80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65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731140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Jjanang Рамен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80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65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7311402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Кімчі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80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65–86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064517557028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Jin Ramen Гостра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67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82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003114627060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Шин Рамьон гостра сублі…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68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97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064843610006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Jumbo Noodle Hot &amp; Spic…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120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880107321077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Buldak Hot Chicken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70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34–149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Grono · Клас +3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0031146017119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Shrimp в стакані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67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103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0031146017096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Tempura Udon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62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103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003114627060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Шин Рамьон гостра сублі…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68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105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1043049566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Red Super Spicy го…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68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105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1043029384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Cup Ramyun Shrimp гостра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67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111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0031146017096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Tempura Udon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62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111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8801043029315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Суп Neoguri з морепроду…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62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111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ВІЛЬНА НІША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18 SKU на всю країну при ціні за грам удвічі вищій за пакет. Якщо в SIAS є стакан — це єдиний формат, де премія за грам ринком уже прийнята.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4 · ТОК-ПОКІ ТА РИСОВА ЛОКШИНА   ·   7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Стакан 2 з 2 і ток-покі — суміжні позиції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Залишок сегмента 3 і повністю сегмент 4: рисові галушки та рисова локшина.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303A5D"/>
                </a:solidFill>
                <a:latin typeface="Segoe UI"/>
              </a:rPr>
              <a:t>СЕГМЕНТ 4 · ТОК-ПОКІ ТА РИСОВА ЛОКШИНА   ·   Варіння або окріп   ·   Маса — сухого продукту   ·   привід: Снек і десерт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880104302812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Soon Veggie Cup Noodle…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67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111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7321125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Buldak Hot Chicken сир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70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137–150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Клас · Таврія В +1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4302815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Kimchi Shin Ramyun Cup…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75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100–158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 · METRO · Onde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880104303111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Cup локшина з гриб…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80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195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880107311403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Topokki Рамен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80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65–104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22792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Baekje · Рисова зі смаком кімчі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92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106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064843610105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Rabokki локшина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145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101–124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0905440235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Yopokki · З сиром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145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198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9054402363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Yopokki · Гострі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145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204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880905440237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Yopokki · Зі смаком кімчі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145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204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9054402349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Yopokki · Гостро-солодкі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145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204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ЧОМУ ЦЕ НЕ ОРІЄНТИР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Yopokki за 198–204 грн — рисовий снек, а не локшина. Використовувати цю ціну як доказ, що «корейське може коштувати 200 грн», не можна.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СУМІЖНА ПОЛИЦЯ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Не-корейська локшина: підлога, від якої рахує покупець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14 найпоширеніших не-корейських SKU локшини швидкого приготування — по одному на бренд. Вони формують уявлення про «нормальну» ціну в категорії.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3E59A8"/>
                </a:solidFill>
                <a:latin typeface="Segoe UI"/>
              </a:rPr>
              <a:t>СУМІЖНА ПОЛИЦЯ · УКРАЇНА ТА АЗІЯ БЕЗ КОРЕЇ   ·   Варіння або окріп   ·   50–200 г   ·   9–144 грн   ·   18–146 грн/100 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Garnenka зі смаком курки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9–13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ЧудоМаркет · ЕКО · Епіцентр +2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31136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Daryna зі смаком курки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50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Епіцентр · Торба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31336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Хуторок зі смаком курки гостра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13–16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ЕКО · Ідеал · МегаМаркет +1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482309741337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Щедро Том Ям з морепродуктами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12–18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Космос +3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482017925681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Reeva зі смаком грибів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15–22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Космос · ЕКО +9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22792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ChiBi Sweet Chili Crab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85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18–25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ЕКО · Ідеал · NOVUS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222992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Acecook Hao Hao зі смаком Кімчі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77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38–51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5201810202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рамен Yum Yum Tom Yum з креветками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70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60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93601068142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рисова Micoem Cung Dinh з куркою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68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50–87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Космос +5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4820172444398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рисова Hokkaido Club Рамен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80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62–90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Епіцентр · МегаМаркет +4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93456362815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Ippin класичний рамен Хаката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73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82–97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585002445797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Макаронні вироби МІВІНА® Street Fo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121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81–108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Ідеал +9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622792" y="3986783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рисова Bich-Chi Vina Pho Ga зі сма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70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100–108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МегаМаркет · Ultramarket +1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8936010681545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Cung Dinh Kool Korean BBQ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105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110–144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Grono +1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ЩО ЦЕ ОЗНАЧАЄ ДЛЯ ЦІНИ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Український мас-маркет — 9–22 грн за 50–60 г (18–33 грн/100 г). Корейський рамен коштує у 2,5–3 рази дорожче за грам, і ринок це приймає. Choi’s за фінмоделлю з маржею 15 % — 93–99 грн/100 г, тобто рівень Samyang (93) і дешевше за Nongshim (107).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РИТЕЙЛ-АУДИТ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Хто з мереж узагалі має корейський рамен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Суцільна перевірка онлайн-каталогів 18 мереж, зріз 29.09.2026. SKU — унікальні позиції корейського рамену в каталозі мережі.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27632"/>
            <a:ext cx="21945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1627632"/>
            <a:ext cx="1554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ПОКРИТТЯ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627632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1627632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1627632"/>
            <a:ext cx="12801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16368" y="1627632"/>
            <a:ext cx="4114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БРЕНДИ НА ПОЛИЦІ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81051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181051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181051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181051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181051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65–205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16368" y="181051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Paldo · Ottogi · O’Food · Bibigo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3776" y="2025395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206197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Grono (Вінниця)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206197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206197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206197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206197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72–205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206197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Paldo · Yopokki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31343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Onde (Чернівці)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4640" y="231343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231343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0640" y="231343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231343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76–157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16368" y="231343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Ottogi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" y="2528315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256489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METRO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34640" y="256489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 · C&amp;C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256489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0" y="256489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80" y="256489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105–204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16368" y="256489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281635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«Зараз»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34640" y="281635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281635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0640" y="281635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26480" y="281635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70–138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16368" y="281635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Ottogi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93776" y="3031235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306781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«Клас» (Харків)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34640" y="306781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80560" y="306781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20640" y="306781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26480" y="306781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102–157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16368" y="306781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331927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«Восторг» (Харків)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34640" y="331927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80560" y="331927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20640" y="331927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26480" y="331927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102–157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16368" y="331927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93776" y="3534155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6928" y="357073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«Космос» (Одеса)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34640" y="357073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80560" y="357073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20640" y="357073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26480" y="357073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77–143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16368" y="357073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Ottogi · Choi’s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382219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«Таврія В»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34640" y="382219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480560" y="382219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20640" y="382219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26480" y="382219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77–143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16368" y="382219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Ottogi · Choi’s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93776" y="4037076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66928" y="407365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NOVUS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834640" y="407365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480560" y="407365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20640" y="407365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126480" y="407365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100–149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516368" y="407365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6928" y="432511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«ЧудоМаркет»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834640" y="432511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480560" y="432511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20640" y="432511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26480" y="432511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100–149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516368" y="432511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93776" y="4539996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66928" y="457657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«Торба»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834640" y="457657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480560" y="457657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120640" y="457657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126480" y="457657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138–139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516368" y="457657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66928" y="482803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«Сільпо»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834640" y="482803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 · №1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480560" y="482803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120640" y="482803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126480" y="482803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90–199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516368" y="482803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(3) · Nongshim (1)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93776" y="5042916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66928" y="507949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МегаМаркет · Ultramarket · ЕКО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834640" y="507949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480560" y="507949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120640" y="507949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126480" y="507949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516368" y="507949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категорії немає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6928" y="533095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Епіцентр · «Ідеал»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834640" y="533095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 / регіон.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480560" y="533095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120640" y="533095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126480" y="533095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516368" y="533095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категорії немає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66928" y="5486400"/>
            <a:ext cx="3547872" cy="7772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566928" y="5486400"/>
            <a:ext cx="36576" cy="7772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04672" y="564184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ДИРКА №1 · «СІЛЬПО»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04672" y="5870448"/>
            <a:ext cx="307238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Найбільша мережа країни тримає 4 SKU корейського рамену. Полиця відкрита — але вхід там 90–139 грн.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315968" y="5486400"/>
            <a:ext cx="3547872" cy="7772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315968" y="5486400"/>
            <a:ext cx="36576" cy="7772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53712" y="564184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ДИРКА №2 · П’ЯТЬ МЕРЕЖ З НУЛЕМ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553712" y="5870448"/>
            <a:ext cx="307238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МегаМаркет, Ultramarket, ЕКО, Епіцентр, «Ідеал» — 0 SKU. Це аргумент для дистрибуції, не для ціни.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065008" y="5486400"/>
            <a:ext cx="3566160" cy="7772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8065008" y="5486400"/>
            <a:ext cx="36576" cy="77724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302752" y="5641848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ОДИН ПОСТАЧАЛЬНИК НА ДВІ МЕРЕЖІ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02752" y="5870448"/>
            <a:ext cx="309067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«Космос» і «Таврія В» мають ідентичні 12 SKU і той самий діапазон. Саме там стоїть Choi’s.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КОРЕЙСЬКІ БРЕНДИ В МЕРЕЖАХ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Полиця не порожня — вона зайнята і концентрована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Хто з восьми корейських брендів уже має лістинг у кожній мережі. ● — бренд присутній у каталозі на 29.09.2026.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27632"/>
            <a:ext cx="2240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1627632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1627632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Samyang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8" y="1627632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Nongshim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77256" y="1627632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Paldo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8504" y="1627632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Ottogi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9752" y="1627632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O’Food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1627632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Bibigo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42248" y="1627632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Yopokki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83496" y="1627632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Choi’s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1810512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181051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181051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36008" y="181051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77256" y="181051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18504" y="181051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9752" y="181051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181051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42248" y="181051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83496" y="181051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3776" y="1997964"/>
            <a:ext cx="10936224" cy="2148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2034540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Grono (Вінниця)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80360" y="203454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94760" y="203454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36008" y="203454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77256" y="203454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18504" y="203454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59752" y="203454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1000" y="203454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42248" y="203454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83496" y="203454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2258568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Onde (Чернівці)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80360" y="225856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794760" y="225856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36008" y="225856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77256" y="225856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18504" y="225856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59752" y="225856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01000" y="225856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42248" y="225856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83496" y="225856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93776" y="2446020"/>
            <a:ext cx="10936224" cy="2148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2482596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METRO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880360" y="2482596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94760" y="248259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36008" y="248259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77256" y="248259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18504" y="248259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59752" y="248259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1000" y="248259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842248" y="248259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83496" y="248259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2706624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«Зараз»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80360" y="2706624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94760" y="270662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636008" y="270662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77256" y="270662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18504" y="270662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159752" y="270662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1000" y="270662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842248" y="270662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83496" y="270662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93776" y="2894076"/>
            <a:ext cx="10936224" cy="2148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66928" y="2930652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«Клас» (Харків)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80360" y="293065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794760" y="293065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636008" y="293065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77256" y="293065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18504" y="293065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59752" y="293065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01000" y="293065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842248" y="293065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683496" y="293065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66928" y="3154680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«Восторг» (Харків)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880360" y="315468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794760" y="315468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636008" y="315468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77256" y="315468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18504" y="315468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159752" y="315468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001000" y="315468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842248" y="315468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683496" y="315468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93776" y="3342132"/>
            <a:ext cx="10936224" cy="2148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66928" y="3378708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«Космос» (Одеса)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880360" y="337870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794760" y="337870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636008" y="337870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477256" y="337870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318504" y="337870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159752" y="337870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001000" y="337870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842248" y="337870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683496" y="337870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66928" y="3602736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«Таврія В»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880360" y="3602736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794760" y="360273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636008" y="360273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477256" y="360273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18504" y="360273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159752" y="360273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001000" y="360273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42248" y="360273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683496" y="360273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93776" y="3790188"/>
            <a:ext cx="10936224" cy="2148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66928" y="3826764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NOVUS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880360" y="3826764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794760" y="382676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636008" y="382676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477256" y="382676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318504" y="382676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159752" y="382676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001000" y="382676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842248" y="382676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683496" y="382676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66928" y="4050792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«ЧудоМаркет»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880360" y="405079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794760" y="405079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636008" y="405079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77256" y="405079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318504" y="405079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159752" y="405079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001000" y="405079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842248" y="405079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683496" y="405079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493776" y="4238244"/>
            <a:ext cx="10936224" cy="2148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66928" y="4274820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«Торба»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80360" y="427482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794760" y="427482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636008" y="427482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477256" y="427482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318504" y="427482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159752" y="427482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001000" y="427482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842248" y="427482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683496" y="427482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66928" y="4498848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«Сільпо» · №1 у країні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880360" y="449884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794760" y="449884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636008" y="449884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477256" y="449884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318504" y="449884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159752" y="449884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001000" y="449884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842248" y="449884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683496" y="449884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493776" y="4686300"/>
            <a:ext cx="10936224" cy="2148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66928" y="4722876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МегаМаркет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880360" y="4722876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794760" y="472287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636008" y="472287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477256" y="472287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18504" y="472287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7159752" y="472287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001000" y="472287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842248" y="472287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683496" y="472287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66928" y="4946904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Ultramarket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2880360" y="4946904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794760" y="494690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636008" y="494690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477256" y="494690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318504" y="494690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159752" y="494690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8001000" y="494690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842248" y="494690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683496" y="494690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93776" y="5134356"/>
            <a:ext cx="10936224" cy="2148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566928" y="5170932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ЕКО маркет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880360" y="517093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794760" y="517093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636008" y="517093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5477256" y="517093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6318504" y="517093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7159752" y="517093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8001000" y="517093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8842248" y="517093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683496" y="517093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566928" y="5394960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Епіцентр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2880360" y="539496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3794760" y="539496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636008" y="539496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77256" y="539496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6318504" y="539496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159752" y="539496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8001000" y="539496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8842248" y="539496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9683496" y="539496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493776" y="5582412"/>
            <a:ext cx="10936224" cy="2148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566928" y="5618988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«Ідеал»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2880360" y="561898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3794760" y="561898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4636008" y="561898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5477256" y="561898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18504" y="561898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159752" y="561898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8001000" y="561898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8842248" y="561898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9683496" y="561898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566928" y="5614416"/>
            <a:ext cx="3547872" cy="85953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566928" y="5614416"/>
            <a:ext cx="36576" cy="859536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804672" y="5769864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ВХІД ПРОБИТИЙ, АЛЕ НЕ ДЛЯ НАС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804672" y="5998464"/>
            <a:ext cx="307238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Samyang і Nongshim стоять у 12 мережах із 13 і дають 54 SKU з 96. Імпортер, договір і полиця під них уже є — нова марка заходить не в порожнечу, а проти них.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4315968" y="5614416"/>
            <a:ext cx="3547872" cy="85953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4315968" y="5614416"/>
            <a:ext cx="36576" cy="85953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4553712" y="5769864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П'ЯТЬ МЕРЕЖ І «СІЛЬПО» — БІЛА ПЛЯМА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553712" y="5998464"/>
            <a:ext cx="307238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МегаМаркет, Ultramarket, ЕКО, Епіцентр і «Ідеал» — нуль SKU. «Сільпо», найбільша мережа країни, тримає чотири. Це і є вільна полиця категорії.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8065008" y="5614416"/>
            <a:ext cx="3566160" cy="85953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8065008" y="5614416"/>
            <a:ext cx="36576" cy="8595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8302752" y="5769864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CHOI’S УЖЕ МАЄ КАНАЛ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8302752" y="5998464"/>
            <a:ext cx="309067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«Космос» і «Таврія В» мають ідентичні 12 SKU і однаковий діапазон — це один постачальник, і він уже возить Choi’s. Питання до SIAS: хто це.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КАНАЛИ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Куди Choi’s може зайти за поточної ціни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Канал визначається не покупцем, а тим, чи бере він бонус і яку націнку тримає.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72768"/>
            <a:ext cx="2788920" cy="21214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72768"/>
            <a:ext cx="36576" cy="212140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28216"/>
            <a:ext cx="231343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НАЦІОНАЛЬНІ МЕРЕЖІ · НЕ ЗАХОДИМО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956816"/>
            <a:ext cx="2313432" cy="1591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Ашан, «Сільпо», NOVUS, METRO, «Зараз».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Бонус 20–30 %, націнка 1,35–1,45, лістинг і промо-календар.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За поточної ціни FCA GM падає до 7 % і нижче. Полиця тут уже зайнята Samyang і Nongshim за 90–139 грн.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38728" y="1572768"/>
            <a:ext cx="2788920" cy="21214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8728" y="1572768"/>
            <a:ext cx="36576" cy="212140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6472" y="1728216"/>
            <a:ext cx="231343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РЕГІОНАЛЬНІ МЕРЕЖІ · МОЖЛИВО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76472" y="1956816"/>
            <a:ext cx="2313432" cy="1591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«Космос», «Таврія В», «Восторг», «Клас», Grono, Onde, «ЧудоМаркет».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Медіана корейського рамену тут 118–138 грн — вище, ніж у національних. Бонуси нижчі.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Але саме тут уже стоїть Choi’s за 125,20 грн через іншого постачальника.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10528" y="1572768"/>
            <a:ext cx="2788920" cy="21214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10528" y="1572768"/>
            <a:ext cx="36576" cy="212140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48272" y="1728216"/>
            <a:ext cx="231343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МАРКЕТПЛЕЙСИ · РОБОЧИЙ КАНАЛ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8272" y="1956816"/>
            <a:ext cx="2313432" cy="1591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Rozetka, Prom, MAUDAU, Bigl.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Медіана в категорії «локшина рамен» на Prom — 135 грн, мінімум 80 грн.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Бонусу немає, націнка продавця власна. Єдиний масовий канал, де поточна ціна FCA дає GM 25–30 %.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82328" y="1572768"/>
            <a:ext cx="2148840" cy="21214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482328" y="1572768"/>
            <a:ext cx="36576" cy="212140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20072" y="1728216"/>
            <a:ext cx="16733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АЗІЙСЬКІ ФУДШОПИ · РОБОЧИЙ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20072" y="1956816"/>
            <a:ext cx="1673352" cy="1591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OMG! Asia, Тайякі Март, Суші Повар, Asia Foods, Panda Asian.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Корейський рамен 61–158 грн, ядро 92–135 грн. Без бонусу.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Обсяги малі: великий завіз цим каналом не вибирається.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895344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3904487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ЦІНОВИЙ ЗРІЗ ПО КАНАЛАХ · КОРЕЙСЬКИЙ РАМЕН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133087"/>
            <a:ext cx="2560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133087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ТОЧОК У ЗРІЗІ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4133087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 / ЗАПИСІВ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4133087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26679" y="4133087"/>
            <a:ext cx="1005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0" y="4133087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БОНУС МЕРЕЖІ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4133087"/>
            <a:ext cx="12801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ПРИДАТНІСТЬ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4315968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Національні мережі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431596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431596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105 записів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431596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65–205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6679" y="43159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69680" y="431596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20–30 %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32720" y="4315968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3776" y="4590288"/>
            <a:ext cx="10936224" cy="30175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626864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Регіональні мережі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0" y="4626864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626864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106 записів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4626864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67–205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26679" y="46268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69680" y="4626864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5–15 %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0" y="4626864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умовно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4937759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Маркетплейси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00400" y="4937759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63440" y="4937759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50+ позицій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72200" y="4937759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80–1 350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26679" y="4937759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135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69680" y="4937759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0 %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2720" y="4937759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так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93776" y="5212079"/>
            <a:ext cx="10936224" cy="30175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5248655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Азійські фудшопи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00400" y="5248655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5+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63440" y="5248655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72 позиції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72200" y="5248655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61–158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26679" y="5248655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117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69680" y="5248655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0 %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32720" y="5248655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так, обсяг малий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" y="5577840"/>
            <a:ext cx="11064240" cy="80467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66928" y="5577840"/>
            <a:ext cx="36576" cy="80467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04672" y="573328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ГОЛОВНЕ ПРО КАНАЛИ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04672" y="5961888"/>
            <a:ext cx="10588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Нацмережі дають обсяг, але забирають 20–30 % бонусу; маркетплейси й фудшопи бонусу не беруть, але не дають обсягу. Стартувати варто там, де немає бонусу, і переходити в мережі з цифрами оборотності на руках.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КРИТИЧНИЙ ФАКТ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Choi’s Ramyeon уже продається в Україні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Знайдено в каталогах під час зрізу 29.09.2026. Це не оцінка — це фактична роздрібна ціна того самого SKU.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45920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" y="1709928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37603443508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1773936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800" y="2423160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Choi's рамен карбон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715768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B53A3A"/>
                </a:solidFill>
                <a:latin typeface="Segoe UI"/>
              </a:rPr>
              <a:t>131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862072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125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081528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40280" y="1645920"/>
            <a:ext cx="2926080" cy="16550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41448" y="1801368"/>
            <a:ext cx="2560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EAN / ПОХОДЖЕННЯ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41448" y="20116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3760344350847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41448" y="2487168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Префікс 376 — Франція.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Збігається з SIAS France, Roye.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30952" y="1645920"/>
            <a:ext cx="2926080" cy="16550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32120" y="1801368"/>
            <a:ext cx="2560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РОЗДРІБНА ЦІНА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32120" y="20116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125,20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32120" y="2487168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«Таврія В» і «Космос».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96 грн/100 г.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21624" y="1645920"/>
            <a:ext cx="3209544" cy="16550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22792" y="1801368"/>
            <a:ext cx="28437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НАША ПОЛИЦЯ ПРИ МАРЖІ 15 %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22792" y="2011680"/>
            <a:ext cx="2843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122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22792" y="2487168"/>
            <a:ext cx="28437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СС €1,018 за пачку.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−3 % до фактичної ціни.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3520440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3529584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ЩО ЦЕ ОЗНАЧАЄ ДЛЯ ПЕРЕГОВОРІВ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758184"/>
            <a:ext cx="3547872" cy="23317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758184"/>
            <a:ext cx="36576" cy="2331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" y="3913632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1 · ЦІНА ВЖЕ ВСТАНОВЛЕНА РИНКОМ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" y="4142232"/>
            <a:ext cx="3072384" cy="18013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Не ми визначаємо полицю для Choi’s. Вона вже є: 125,20 грн. За нашою моделлю з маржею 15 % ми виходимо на 122 грн — тобто можемо стати трохи дешевше за той самий товар, що вже стоїть поруч.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Європейський роздріб того самого SKU — €1,80–2,20, тобто 92–113 грн: українська полиця вже на рівні європейської. Європейський роздріб того самого SKU — €1,80–2,20 = 92–113 грн.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15968" y="3758184"/>
            <a:ext cx="3547872" cy="23317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15968" y="3758184"/>
            <a:ext cx="36576" cy="2331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53712" y="3913632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2 · ХТО ВЖЕ ЗАВІЗ — ПИТАННЯ ДО SIAS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53712" y="4142232"/>
            <a:ext cx="3072384" cy="18013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Перед будь-якими обговореннями обсягу треба з’ясувати: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· хто діючий імпортер Choi’s в Україні;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· які в нього ціна FCA і обсяг;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· чи пропонують нам ексклюзив, чи ми будемо другим каналом на той самий бренд;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· чому наша ціна закупівлі вища за ту, що дозволяє роздріб 125,20 грн.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65008" y="3758184"/>
            <a:ext cx="3566160" cy="23317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65008" y="3758184"/>
            <a:ext cx="36576" cy="23317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02752" y="3913632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3 · НАЙІМОВІРНІША ГІПОТЕЗА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2752" y="4142232"/>
            <a:ext cx="3090672" cy="18013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Діючий імпортер працює або на нижчій ціні FCA, або без бонусу мережі з маржею 15–20 %, або завозить дрібними партіями як асортиментний додаток.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Перший варіант означає, що €0,88–1,31 — не найкраща ціна SIAS. Це головне, що треба перевірити до розрахунку обсягу.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6236208"/>
            <a:ext cx="11064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9FA9C4"/>
                </a:solidFill>
                <a:latin typeface="Segoe UI"/>
              </a:rPr>
              <a:t>Джерело: каталоги tavriav.zakaz.ua і cosmos.zakaz.ua, позиція «Локшина Choi’s рамен карбон 131 г», 125,20 грн. Європейська ціна — dotasia.eu.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Наші шість SKU при маржі 15 % проти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Полиця = Self-Cost × 51,20 ÷ 0,60 × 1,40. Тут 0,60 = 100 % мінус 25 % бонусу мережі мінус 15 % нашої маржі, 1,40 — націнка мережі.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63624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ПОЛИЦЯ НАШИХ SKU ПРИ МАРЖІ 15 %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563624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грн за пачку, з ПДВ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792224"/>
            <a:ext cx="2103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06624" y="1792224"/>
            <a:ext cx="685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1792224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SELF-COST, € · 6 / 12 / 33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9824" y="1792224"/>
            <a:ext cx="1005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6 ПАЛЕТ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1792224"/>
            <a:ext cx="10515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12 ПАЛЕТ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98664" y="1792224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33 ПАЛЕТИ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41664" y="1792224"/>
            <a:ext cx="1554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 НА 33 ПАЛ.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51008" y="1792224"/>
            <a:ext cx="12801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СЕГМЕНТ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197510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Gouda Cheese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06624" y="1975104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123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1975104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1,309 / 1,111 / 1,018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9824" y="197510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156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01384" y="1975104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133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98664" y="1975104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41664" y="1975104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51008" y="1975104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Стір-фрай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3776" y="2199132"/>
            <a:ext cx="10936224" cy="251459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2235708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Carbonara Spicy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06624" y="2235708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131 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56432" y="2235708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1,309 / 1,111 / 1,018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49824" y="223570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156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01384" y="2235708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133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98664" y="2235708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41664" y="2235708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51008" y="2235708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Стір-фрай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2496312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Vegetable Flavor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06624" y="2496312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113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56432" y="2496312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1,134 / 0,963 / 0,882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49824" y="249631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135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01384" y="2496312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98664" y="2496312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41664" y="249631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51008" y="249631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Суповий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3776" y="2720340"/>
            <a:ext cx="10936224" cy="251459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" y="2756916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Spicy Flavor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06624" y="2756916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112,5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56432" y="2756916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1,134 / 0,963 / 0,882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9824" y="275691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135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01384" y="2756916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98664" y="2756916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41664" y="2756916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51008" y="2756916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Суповий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3017520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Beef Flavor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06624" y="3017520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113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456432" y="3017520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1,134 / 0,963 / 0,882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49824" y="301752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135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01384" y="3017520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98664" y="3017520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41664" y="301752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51008" y="3017520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Суповий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93776" y="3241548"/>
            <a:ext cx="10936224" cy="251459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66928" y="327812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Chicken Flavor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06624" y="3278124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113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56432" y="3278124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1,134 / 0,963 / 0,882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49824" y="327812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135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501384" y="3278124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598664" y="3278124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741664" y="3278124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351008" y="3278124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Суповий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66928" y="3630168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3232" y="3639312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З ЧИМ ПОРІВНЮЄМО — ФАКТИЧНА ПОЛИЦЯ ПАКЕТНОГО РИНКУ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15200" y="3639312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крапка — медіана, смуга — від найдешевшої до найдорожчої позиції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984248" y="3941064"/>
            <a:ext cx="5486" cy="155448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618488" y="552297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584448" y="3941064"/>
            <a:ext cx="5486" cy="155448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218688" y="552297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40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184648" y="3941064"/>
            <a:ext cx="5486" cy="155448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818888" y="552297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80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784847" y="3941064"/>
            <a:ext cx="5486" cy="155448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419087" y="552297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385047" y="3941064"/>
            <a:ext cx="5486" cy="155448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019287" y="552297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160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985247" y="3941064"/>
            <a:ext cx="5486" cy="155448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619487" y="552297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200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1585447" y="3941064"/>
            <a:ext cx="5486" cy="155448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1219687" y="552297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240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66928" y="4025188"/>
            <a:ext cx="1325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Сегмент 1 · суповий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664582" y="4057192"/>
            <a:ext cx="5680709" cy="100584"/>
          </a:xfrm>
          <a:prstGeom prst="rect">
            <a:avLst/>
          </a:prstGeom>
          <a:solidFill>
            <a:srgbClr val="ACB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076187" y="4038904"/>
            <a:ext cx="137160" cy="137160"/>
          </a:xfrm>
          <a:prstGeom prst="ellipse">
            <a:avLst/>
          </a:prstGeom>
          <a:solidFill>
            <a:srgbClr val="3E59A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0436732" y="4025188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E59A8"/>
                </a:solidFill>
                <a:latin typeface="Segoe UI"/>
              </a:rPr>
              <a:t>104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66928" y="4321454"/>
            <a:ext cx="1325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Сегмент 2 · стір-фрай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864607" y="4353458"/>
            <a:ext cx="4480559" cy="100584"/>
          </a:xfrm>
          <a:prstGeom prst="rect">
            <a:avLst/>
          </a:prstGeom>
          <a:solidFill>
            <a:srgbClr val="ACB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5916167" y="4335170"/>
            <a:ext cx="137160" cy="137160"/>
          </a:xfrm>
          <a:prstGeom prst="ellipse">
            <a:avLst/>
          </a:prstGeom>
          <a:solidFill>
            <a:srgbClr val="3E59A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436607" y="4321454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E59A8"/>
                </a:solidFill>
                <a:latin typeface="Segoe UI"/>
              </a:rPr>
              <a:t>100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66928" y="4617720"/>
            <a:ext cx="1325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Суміжна полиця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344293" y="4649724"/>
            <a:ext cx="5400674" cy="100584"/>
          </a:xfrm>
          <a:prstGeom prst="rect">
            <a:avLst/>
          </a:prstGeom>
          <a:solidFill>
            <a:srgbClr val="ACB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2755772" y="4631436"/>
            <a:ext cx="137160" cy="137160"/>
          </a:xfrm>
          <a:prstGeom prst="ellipse">
            <a:avLst/>
          </a:prstGeom>
          <a:solidFill>
            <a:srgbClr val="3E59A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836407" y="4617720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E59A8"/>
                </a:solidFill>
                <a:latin typeface="Segoe UI"/>
              </a:rPr>
              <a:t>21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" y="4913985"/>
            <a:ext cx="1325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C4820A"/>
                </a:solidFill>
                <a:latin typeface="Segoe UI"/>
              </a:rPr>
              <a:t>МИ · суповий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84772" y="4945989"/>
            <a:ext cx="18288" cy="100584"/>
          </a:xfrm>
          <a:prstGeom prst="rect">
            <a:avLst/>
          </a:prstGeom>
          <a:solidFill>
            <a:srgbClr val="F0D2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6116192" y="4927701"/>
            <a:ext cx="137160" cy="137160"/>
          </a:xfrm>
          <a:prstGeom prst="ellipse">
            <a:avLst/>
          </a:prstGeom>
          <a:solidFill>
            <a:srgbClr val="C4820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276212" y="4913985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C4820A"/>
                </a:solidFill>
                <a:latin typeface="Segoe UI"/>
              </a:rPr>
              <a:t>105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66928" y="5210251"/>
            <a:ext cx="1325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C4820A"/>
                </a:solidFill>
                <a:latin typeface="Segoe UI"/>
              </a:rPr>
              <a:t>МИ · стір-фрай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864857" y="5242255"/>
            <a:ext cx="18288" cy="100584"/>
          </a:xfrm>
          <a:prstGeom prst="rect">
            <a:avLst/>
          </a:prstGeom>
          <a:solidFill>
            <a:srgbClr val="F0D2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6796277" y="5223967"/>
            <a:ext cx="137160" cy="137160"/>
          </a:xfrm>
          <a:prstGeom prst="ellipse">
            <a:avLst/>
          </a:prstGeom>
          <a:solidFill>
            <a:srgbClr val="C4820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956297" y="5210251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C4820A"/>
                </a:solidFill>
                <a:latin typeface="Segoe UI"/>
              </a:rPr>
              <a:t>122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985558" y="3922776"/>
            <a:ext cx="14630" cy="157276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169914" y="3520440"/>
            <a:ext cx="1645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760" b="1" spc="-10">
                <a:solidFill>
                  <a:srgbClr val="C4820A"/>
                </a:solidFill>
                <a:latin typeface="Segoe UI"/>
              </a:rPr>
              <a:t>факт Choi’s</a:t>
            </a:r>
          </a:p>
          <a:p>
            <a:pPr algn="ctr">
              <a:lnSpc>
                <a:spcPct val="112000"/>
              </a:lnSpc>
            </a:pPr>
            <a:r>
              <a:rPr sz="760" b="1" spc="-10">
                <a:solidFill>
                  <a:srgbClr val="C4820A"/>
                </a:solidFill>
                <a:latin typeface="Segoe UI"/>
              </a:rPr>
              <a:t>125,20 грн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66928" y="5733288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Помаранчеве — ми. Стакан і ток-покі не показані: інший формат.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5925312"/>
            <a:ext cx="11064240" cy="7315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5925312"/>
            <a:ext cx="36576" cy="73152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04672" y="6080760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ЯК ЧИТАТИ ЦЕЙ СЛАЙД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04672" y="6309360"/>
            <a:ext cx="10588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Суповий рамьон — 105 грн проти медіани свого сегмента 104 грн і медіани вагового вікна 110–125 г — 95 грн. Стір-фрай — 122 грн проти медіани сегмента 100 грн і проти 125,20 грн, за які Choi’s уже продається в «Таврія В» і «Космос». Обидві наші позиції лежать усередині пакетного ринку, а не над ним.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Шість висновків, які визначають рішення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Що дає зіставлення ринкового зрізу з фінмоделлю SIAS. Полиця = собівартість ÷ 0,60 × 1,40: бонус мережі 25 %, наша маржа 15 %, націнка мережі 1,40.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НАША ПОЛИЦЯ · СУПОВИЙ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105 грн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СС €0,882 = 45,2 грн.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Медіана сегмента — 104 грн.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НАША ПОЛИЦЯ · СТІР-ФРАЙ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122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СС €1,018 = 52,1 грн.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Факт Choi’s на полиці — 125,20 грн.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36992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ДО МЕДІАНИ СЕГМЕНТА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C4820A"/>
                </a:solidFill>
                <a:latin typeface="Segoe UI"/>
              </a:rPr>
              <a:t>+1 % / +22 %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суповий проти 104 грн,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стір-фрай проти 100 грн.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ДО МЕДІАНИ ВАГОВОГО ВІКНА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C4820A"/>
                </a:solidFill>
                <a:latin typeface="Segoe UI"/>
              </a:rPr>
              <a:t>+11 % / +22 %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вікно 110–125 г — 95 грн,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вікно 122–140 г — 100 грн.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3128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ЗА ГРАМ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93–99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8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грн/100 г проти 86 у сегменті 1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і 77 у сегменті 2.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36992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ПОТРІБНО ВІД SIAS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€0,837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на стір-фрай замість €1,018,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щоб стати на медіану сегмента.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517136"/>
            <a:ext cx="5413248" cy="17373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517136"/>
            <a:ext cx="36576" cy="17373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4672584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ЩО РОБИТИ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4901184"/>
            <a:ext cx="493776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1. Заводити суповий рамьон — Spicy, Beef, Chicken. За €0,882 полиця виходить 105 грн, а це медіана категорії.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2. Carbonara і Gouda торгувати: €1,018 → €0,837. Інакше вони дорожчі за Paldo Volcano Carbonara 130 г (114 грн).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3. Vegetable тримати поза лінійкою: єдиний овочевий конкурент ринку — Nongshim Soon Veggie 112 г за 88 грн.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4. Вхід — «Сільпо» і п'ять нацмереж із нулем, а не ті мережі, де вже стоять Samyang і Nongshim.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7920" y="4517136"/>
            <a:ext cx="5413248" cy="17373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17920" y="4517136"/>
            <a:ext cx="36576" cy="173736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4" y="4672584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НА ЧОМУ ТРИМАЄТЬСЯ ВИСНОВОК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4901184"/>
            <a:ext cx="493776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1. Полиця рахується як СС ÷ 0,60 × 1,40 за умовами фінмоделі SIAS, курс 51,20 грн/€.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2. Ринкові ціни — роздріб за одну пачку в каталогах 18 мереж, зріз 29.09.2026, 96 позицій.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3. Маржа 15 % рахується від ціни партнеру, а не як націнка на собівартість: це 25 % націнки на СС.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4. Це валова маржа: внутрішня логістика, лістинги, промо і курсовий ризик у ній не враховані.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ФІНМОДЕЛЬ ПРОТИ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Скільки коштує кожен наш SKU на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Полиця = собівартість ÷ 0,60 × 1,40. Права колонка — фактична ціна прямого конкурента того самого типу і близької ваги.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27632"/>
            <a:ext cx="187451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78024" y="1627632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СЕГМЕНТ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39" y="1627632"/>
            <a:ext cx="56692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1144" y="1627632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СС, 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800" y="1627632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СС,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25896" y="162763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ПАРТНЕРУ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1627632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ПОЛИЦЯ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1627632"/>
            <a:ext cx="868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9992" y="1627632"/>
            <a:ext cx="255117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ПРЯМИЙ КОНКУРЕНТ НА ПОЛИЦІ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1810512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Gouda Cheese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78024" y="1810512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Стір-фрай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39" y="1810512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123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1144" y="1810512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1,018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7800" y="181051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52,1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25896" y="1810512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86,9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1810512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122 грн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1810512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9992" y="1810512"/>
            <a:ext cx="255117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Paldo Volcano Carbonara 130 г — 114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3776" y="2061972"/>
            <a:ext cx="10936224" cy="27889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098548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Carbonara Spicy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78024" y="209854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Стір-фрай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77639" y="209854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131 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81144" y="2098548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1,018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57800" y="209854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52,1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25896" y="2098548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86,9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09854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122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60" y="209854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79992" y="2098548"/>
            <a:ext cx="255117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Samyang Buldak Carbonara 130 г — 140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2386584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Vegetable Flavor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78024" y="2386584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Суповий рамьон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77639" y="2386584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113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81144" y="2386584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0,882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57800" y="238658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45,2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25896" y="2386584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75,3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2386584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38160" y="238658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79992" y="2386584"/>
            <a:ext cx="255117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Nongshim Soon Veggie 112 г — 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3776" y="2638044"/>
            <a:ext cx="10936224" cy="27889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2674620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Spicy Flavor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78024" y="267462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Суповий рамьон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77639" y="267462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112,5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81144" y="2674620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0,882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57800" y="267462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45,2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25896" y="2674620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75,3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0" y="267462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 грн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38160" y="2674620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79992" y="2674620"/>
            <a:ext cx="255117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Ottogi Jin Ramen 120 г — 84–93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928" y="2962656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Beef Flavor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478024" y="2962656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Суповий рамьон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977639" y="2962656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113 г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81144" y="2962656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0,882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296265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45,2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25896" y="2962656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75,3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15200" y="2962656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38160" y="2962656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79992" y="2962656"/>
            <a:ext cx="255117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Nongshim Shin Ramyun 120 г — 117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93776" y="3214115"/>
            <a:ext cx="10936224" cy="27889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" y="3250691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Chicken Flavor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478024" y="3250691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Суповий рамьон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977639" y="3250691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113 г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81144" y="3250691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0,882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257800" y="3250691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45,2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025896" y="3250691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75,3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5200" y="3250691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38160" y="3250691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079992" y="3250691"/>
            <a:ext cx="255117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Ottogi Kimchi 120 г — 77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28" y="3566160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13232" y="3575303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ЯКА СОБІВАРТІСТЬ ПОТРІБНА ПІД КОЖНУ ЦІЛЬОВУ ПОЛИЦЮ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575303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при маржі 15 % і бонусі мережі 25 %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66928" y="3858768"/>
            <a:ext cx="2048256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31520" y="3968496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95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31520" y="4261104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медіана вікна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€0,795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615184" y="4114800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798064" y="3858768"/>
            <a:ext cx="2048256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962656" y="3968496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100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962656" y="4261104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медіана стір-фраю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€0,837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46320" y="4114800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029200" y="3858768"/>
            <a:ext cx="2048256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193792" y="3968496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104 грн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193792" y="4261104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медіана супового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€0,871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077456" y="4114800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260336" y="3858768"/>
            <a:ext cx="2048256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424928" y="3968496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114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424928" y="4261104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Paldo Carbonara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€0,954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308592" y="4114800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491472" y="3858768"/>
            <a:ext cx="2048256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656064" y="3968496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125 грн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656064" y="4261104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факт Choi’s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€1,048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66928" y="5138928"/>
            <a:ext cx="5413248" cy="12070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66928" y="5138928"/>
            <a:ext cx="36576" cy="120700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04672" y="5294376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СУПОВА ЧЕТВІРКА — ЦІНА ВЖЕ ПІДХОДИТЬ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04672" y="5522976"/>
            <a:ext cx="493776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Під медіану категорії потрібна СС €0,879, SIAS дає €0,882. Розбіжність 0,3 %. Тут предмету для торгу немає — ціна вже ринкова.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217920" y="5138928"/>
            <a:ext cx="5413248" cy="12070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217920" y="5138928"/>
            <a:ext cx="36576" cy="120700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55664" y="5294376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СТІР-ФРАЙ — ПРЕДМЕТ ПЕРЕГОВОРІВ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455664" y="5522976"/>
            <a:ext cx="493776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Під медіану свого сегмента потрібна СС €0,837 проти наявних €1,018, тобто −18 %. Без цього пара стоїть дорожче за Paldo Volcano Carbonara тієї ж ваги.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РЕКОМЕНДАЦІЯ · SKU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Що заводити: суповий рамьон як основа лінійки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Три групи, оцінені за конкурентною позицією у своєму ваговому вікні, а не за собівартістю.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91056"/>
            <a:ext cx="3547872" cy="39502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91056"/>
            <a:ext cx="36576" cy="395020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37360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1E9EA6"/>
                </a:solidFill>
                <a:latin typeface="Segoe UI"/>
              </a:rPr>
              <a:t>РЕКОМЕНДУЄМО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938528"/>
            <a:ext cx="307238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spc="-10">
                <a:solidFill>
                  <a:srgbClr val="303A5D"/>
                </a:solidFill>
                <a:latin typeface="Segoe UI"/>
              </a:rPr>
              <a:t>Spicy · Beef · Chicken</a:t>
            </a:r>
          </a:p>
          <a:p>
            <a:pPr algn="l">
              <a:lnSpc>
                <a:spcPct val="110000"/>
              </a:lnSpc>
            </a:pPr>
            <a:r>
              <a:rPr sz="1250" b="1" spc="-10">
                <a:solidFill>
                  <a:srgbClr val="303A5D"/>
                </a:solidFill>
                <a:latin typeface="Segoe UI"/>
              </a:rPr>
              <a:t>112,5–113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468880"/>
            <a:ext cx="3072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1E9EA6"/>
                </a:solidFill>
                <a:latin typeface="Segoe UI"/>
              </a:rPr>
              <a:t>105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798064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0" spc="-10">
                <a:solidFill>
                  <a:srgbClr val="717890"/>
                </a:solidFill>
                <a:latin typeface="Segoe UI"/>
              </a:rPr>
              <a:t>полиця за фінмоделлю · 93 грн/100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2999232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3154679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Ottogi Jin 120 г — 84–93 грн · Nongshim Shin 120 г — 110–117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3557015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НАША ПЕРЕВАГА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712463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на медіані сегмента 104 грн і на 10 % дешевше за Nongshim Shin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114800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70248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«Сільпо» з 4 позиціями і п'ять нацмереж із нулем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4672584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РИЗИК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4828032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113 г проти стандартних 120 г: за ту саму ціну на 6 % менше продукту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15968" y="1591056"/>
            <a:ext cx="3547872" cy="39502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15968" y="1591056"/>
            <a:ext cx="36576" cy="395020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53712" y="1737360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F9A50B"/>
                </a:solidFill>
                <a:latin typeface="Segoe UI"/>
              </a:rPr>
              <a:t>ДРУГИЙ ПРІОРИТЕТ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53712" y="1938528"/>
            <a:ext cx="307238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spc="-10">
                <a:solidFill>
                  <a:srgbClr val="303A5D"/>
                </a:solidFill>
                <a:latin typeface="Segoe UI"/>
              </a:rPr>
              <a:t>Carbonara Spicy 131 г</a:t>
            </a:r>
          </a:p>
          <a:p>
            <a:pPr algn="l">
              <a:lnSpc>
                <a:spcPct val="110000"/>
              </a:lnSpc>
            </a:pPr>
            <a:r>
              <a:rPr sz="1250" b="1" spc="-10">
                <a:solidFill>
                  <a:srgbClr val="303A5D"/>
                </a:solidFill>
                <a:latin typeface="Segoe UI"/>
              </a:rPr>
              <a:t>Gouda Cheese 123 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3712" y="2468880"/>
            <a:ext cx="3072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F9A50B"/>
                </a:solidFill>
                <a:latin typeface="Segoe UI"/>
              </a:rPr>
              <a:t>122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3712" y="2798064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0" spc="-10">
                <a:solidFill>
                  <a:srgbClr val="717890"/>
                </a:solidFill>
                <a:latin typeface="Segoe UI"/>
              </a:rPr>
              <a:t>полиця за фінмоделлю · 93–99 грн/100 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2999232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3154679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Paldo Volcano Carbonara 130 г — 114 грн · Nongshim Chapaghetti 140 г — 120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3712" y="3557015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НАША ПОЗИЦІЯ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3712463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+22 % до медіани сегмента 100 грн, але −3 % до власного факту 125,20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4114800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4270248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той самий постачальник, що вже возить Choi’s у «Космос» і «Таврію В»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3712" y="4672584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УМОВА ВХОДУ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4828032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СС €0,837 замість €1,018 — інакше дорожче за Paldo тієї ж ваги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65008" y="1591056"/>
            <a:ext cx="3547872" cy="39502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65008" y="1591056"/>
            <a:ext cx="36576" cy="395020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02752" y="1737360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B53A3A"/>
                </a:solidFill>
                <a:latin typeface="Segoe UI"/>
              </a:rPr>
              <a:t>НЕ ЗАВОДИТИ ЗАРАЗ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2752" y="1938528"/>
            <a:ext cx="307238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spc="-10">
                <a:solidFill>
                  <a:srgbClr val="303A5D"/>
                </a:solidFill>
                <a:latin typeface="Segoe UI"/>
              </a:rPr>
              <a:t>Vegetable Flavor 113 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2752" y="2468880"/>
            <a:ext cx="3072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B53A3A"/>
                </a:solidFill>
                <a:latin typeface="Segoe UI"/>
              </a:rPr>
              <a:t>105 грн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02752" y="2798064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0" spc="-10">
                <a:solidFill>
                  <a:srgbClr val="717890"/>
                </a:solidFill>
                <a:latin typeface="Segoe UI"/>
              </a:rPr>
              <a:t>полиця за фінмоделлю · 93 грн/100 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02752" y="2999232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02752" y="3154679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Nongshim Soon Veggie 112 г — 88 грн, єдина овочева позиція ринку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02752" y="3557015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ПРОБЛЕМА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02752" y="3712463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овочевий смак — найвужчий попит: 1 позиція з 96 у всьому зрізі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02752" y="4114800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02752" y="4270248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не ціна, а оборотність: SKU займе фейс і не дасть ротації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02752" y="4672584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УМОВА ВХОДУ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02752" y="4828032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тільки якщо мережа вимагає повну лінійку смаків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6928" y="5687568"/>
            <a:ext cx="11064240" cy="80467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66928" y="5687568"/>
            <a:ext cx="36576" cy="80467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4672" y="5843016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ЧОМУ САМЕ ТАКИЙ ПОРЯДОК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4672" y="6071616"/>
            <a:ext cx="10588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Суповій трійці ціна вже підходить: €0,882 проти потрібних €0,879 під медіану категорії. Стір-фрай-пара вимагає торгу, але має готовий канал і власний ціновий орієнтир 125,20 грн. Овочевий SKU не має ні того, ні іншого — його вхід не про ціну, а про вимогу мережі.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РЕКОМЕНДАЦІЯ · ЦІНА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Цільова полиця і що для неї потрібно від постачальника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Три цінові сценарії. Рекомендований — середній: він зберігає маржу 15 % за поточної собівартості.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91056"/>
            <a:ext cx="3547872" cy="20116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91056"/>
            <a:ext cx="36576" cy="201168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37360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B53A3A"/>
                </a:solidFill>
                <a:latin typeface="Segoe UI"/>
              </a:rPr>
              <a:t>АГРЕСИВНИЙ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920240"/>
            <a:ext cx="3072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Зайти ціною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194560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 spc="-10">
                <a:solidFill>
                  <a:srgbClr val="717890"/>
                </a:solidFill>
                <a:latin typeface="Segoe UI"/>
              </a:rPr>
              <a:t>СУПОВИЙ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322576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spc="-10">
                <a:solidFill>
                  <a:srgbClr val="B53A3A"/>
                </a:solidFill>
                <a:latin typeface="Segoe UI"/>
              </a:rPr>
              <a:t>95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04288" y="2194560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 spc="-10">
                <a:solidFill>
                  <a:srgbClr val="717890"/>
                </a:solidFill>
                <a:latin typeface="Segoe UI"/>
              </a:rPr>
              <a:t>СТІР-ФРАЙ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04288" y="2322576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spc="-10">
                <a:solidFill>
                  <a:srgbClr val="B53A3A"/>
                </a:solidFill>
                <a:latin typeface="Segoe UI"/>
              </a:rPr>
              <a:t>100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2688336"/>
            <a:ext cx="3072384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Маржа падає до 8,4 % на суповому і 2,0 % на стір-фраї за поточної СС.</a:t>
            </a:r>
          </a:p>
          <a:p>
            <a:pPr algn="l">
              <a:lnSpc>
                <a:spcPct val="130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Щоб утримати 15 %, потрібна СС €0,795 і €0,837.</a:t>
            </a:r>
          </a:p>
          <a:p>
            <a:pPr algn="l">
              <a:lnSpc>
                <a:spcPct val="130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Бере полицю, але не залишає запасу на промо і курс.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15968" y="1591056"/>
            <a:ext cx="3547872" cy="20116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15968" y="1591056"/>
            <a:ext cx="36576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1737360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1E9EA6"/>
                </a:solidFill>
                <a:latin typeface="Segoe UI"/>
              </a:rPr>
              <a:t>РЕКОМЕНДОВАНО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1920240"/>
            <a:ext cx="3072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Паритет із ринком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2194560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 spc="-10">
                <a:solidFill>
                  <a:srgbClr val="717890"/>
                </a:solidFill>
                <a:latin typeface="Segoe UI"/>
              </a:rPr>
              <a:t>СУПОВИЙ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2322576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spc="-10">
                <a:solidFill>
                  <a:srgbClr val="1E9EA6"/>
                </a:solidFill>
                <a:latin typeface="Segoe UI"/>
              </a:rPr>
              <a:t>105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53327" y="2194560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 spc="-10">
                <a:solidFill>
                  <a:srgbClr val="717890"/>
                </a:solidFill>
                <a:latin typeface="Segoe UI"/>
              </a:rPr>
              <a:t>СТІР-ФРАЙ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53327" y="2322576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spc="-10">
                <a:solidFill>
                  <a:srgbClr val="1E9EA6"/>
                </a:solidFill>
                <a:latin typeface="Segoe UI"/>
              </a:rPr>
              <a:t>122 грн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53712" y="2688336"/>
            <a:ext cx="3072384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Маржа рівно 15 % за поточної собівартості €0,882 і €1,018.</a:t>
            </a:r>
          </a:p>
          <a:p>
            <a:pPr algn="l">
              <a:lnSpc>
                <a:spcPct val="130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Суповий — на медіані сегмента, стір-фрай — дешевше за власний факт 125,20 грн.</a:t>
            </a:r>
          </a:p>
          <a:p>
            <a:pPr algn="l">
              <a:lnSpc>
                <a:spcPct val="130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Запас на промо є.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65008" y="1591056"/>
            <a:ext cx="3547872" cy="20116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65008" y="1591056"/>
            <a:ext cx="36576" cy="20116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02752" y="1737360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F9A50B"/>
                </a:solidFill>
                <a:latin typeface="Segoe UI"/>
              </a:rPr>
              <a:t>КОМФОРТНИЙ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02752" y="1920240"/>
            <a:ext cx="3072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Премія бренду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02752" y="2194560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 spc="-10">
                <a:solidFill>
                  <a:srgbClr val="717890"/>
                </a:solidFill>
                <a:latin typeface="Segoe UI"/>
              </a:rPr>
              <a:t>СУПОВИЙ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2752" y="2322576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spc="-10">
                <a:solidFill>
                  <a:srgbClr val="F9A50B"/>
                </a:solidFill>
                <a:latin typeface="Segoe UI"/>
              </a:rPr>
              <a:t>115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02368" y="2194560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 spc="-10">
                <a:solidFill>
                  <a:srgbClr val="717890"/>
                </a:solidFill>
                <a:latin typeface="Segoe UI"/>
              </a:rPr>
              <a:t>СТІР-ФРАЙ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02368" y="2322576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spc="-10">
                <a:solidFill>
                  <a:srgbClr val="F9A50B"/>
                </a:solidFill>
                <a:latin typeface="Segoe UI"/>
              </a:rPr>
              <a:t>135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2752" y="2688336"/>
            <a:ext cx="3072384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Маржа 20,0 % і 20,9 % за тієї самої СС.</a:t>
            </a:r>
          </a:p>
          <a:p>
            <a:pPr algn="l">
              <a:lnSpc>
                <a:spcPct val="130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Суповий — на рівні Nongshim Shin (117 грн), стір-фрай — вище за Chapaghetti (120 грн).</a:t>
            </a:r>
          </a:p>
          <a:p>
            <a:pPr algn="l">
              <a:lnSpc>
                <a:spcPct val="130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Працює лише з підтримкою мережі й промо.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3822191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3232" y="3831335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АРХІТЕКТУРА ЦІН ПО ВСІЙ ЛІНІЙЦІ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0" y="3831335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полиця з ПДВ, грн за пачку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4059935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23744" y="4059935"/>
            <a:ext cx="187451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РОЛЬ У ЛІНІЙЦІ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34840" y="4059935"/>
            <a:ext cx="1600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ПОЛИЦЯ ЗА МОДЕЛЛЮ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71616" y="4059935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ЦІЛЬОВА ПОЛИЦЯ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71231" y="4059935"/>
            <a:ext cx="1417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ПОТРІБНА СС, 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25128" y="4059935"/>
            <a:ext cx="1005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МАЄМО, €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04120" y="4059935"/>
            <a:ext cx="1527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ОРІЄНТИР НА ПОЛИЦІ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4242816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Spicy Flavor 112,5 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23744" y="4242816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Герой лінійки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34840" y="4242816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71616" y="4242816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71231" y="4242816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0,882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25128" y="424281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04120" y="4242816"/>
            <a:ext cx="15270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Ottogi Jin 84–93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93776" y="4480559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4517136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Beef Flavor 113 г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23744" y="4517136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Об'єм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34840" y="4517136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71616" y="4517136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571231" y="4517136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25128" y="451713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0,882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104120" y="4517136"/>
            <a:ext cx="15270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Nongshim Shin 117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4791455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Chicken Flavor 113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23744" y="4791455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Об'єм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34840" y="4791455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71616" y="4791455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71231" y="4791455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25128" y="4791455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0,882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04120" y="4791455"/>
            <a:ext cx="15270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Ottogi Kimchi 77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93776" y="5029199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66928" y="5065775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Carbonara Spicy 131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523744" y="5065775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Герой стір-фраю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434840" y="5065775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71616" y="5065775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571231" y="5065775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0,954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025128" y="5065775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1,018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104120" y="5065775"/>
            <a:ext cx="15270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Paldo Carbonara 114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66928" y="5340095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Gouda Cheese 123 г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523744" y="5340095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Ніша · сир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34840" y="5340095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71616" y="5340095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571231" y="5340095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1,018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25128" y="5340095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1,018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104120" y="5340095"/>
            <a:ext cx="15270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Bibigo Cheese 86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93776" y="5577839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66928" y="5614415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Vegetable Flavor 113 г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523744" y="5614415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Поза лінійкою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434840" y="5614415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071616" y="5614415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571231" y="5614415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025128" y="5614415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0,882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104120" y="5614415"/>
            <a:ext cx="15270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Soon Veggie 88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66928" y="5870448"/>
            <a:ext cx="11064240" cy="7680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66928" y="5870448"/>
            <a:ext cx="36576" cy="7680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04672" y="6025896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ЩО ПРОСИТИ В SIAS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4672" y="6254496"/>
            <a:ext cx="105887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Одне питання: собівартість Carbonara і Gouda. €1,018 дає полицю 122 грн, а прямий аналог Paldo Volcano Carbonara тієї ж ваги коштує 114 грн. Щоб стати поруч, потрібна СС €0,954; щоб стати на медіану сегмента — €0,837. По суповій четвірці ціна вже ринкова.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РЕКОМЕНДАЦІЯ · ПОСТАЧАЛЬНИК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Що дає SIAS France і на що тиснути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Профіль постачальника за наданою презентацією SIAS і розрахунковим аркушем Self-Cost. Праворуч — альтернатива, з якою його треба порівняти.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91056"/>
            <a:ext cx="5413248" cy="39502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91056"/>
            <a:ext cx="36576" cy="395020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37360"/>
            <a:ext cx="4956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1E9EA6"/>
                </a:solidFill>
                <a:latin typeface="Segoe UI"/>
              </a:rPr>
              <a:t>ОСНОВНИЙ ПОСТАЧАЛЬНИК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920240"/>
            <a:ext cx="49560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303A5D"/>
                </a:solidFill>
                <a:latin typeface="Segoe UI"/>
              </a:rPr>
              <a:t>SIAS FRANCE · ROYE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267712"/>
            <a:ext cx="4956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0" spc="-10">
                <a:solidFill>
                  <a:srgbClr val="717890"/>
                </a:solidFill>
                <a:latin typeface="Segoe UI"/>
              </a:rPr>
              <a:t>Франція · Hauts-de-France · європейська площадка корейської групи SIAS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487168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ЛІНІЙКА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2633472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Choi’s Ramyeon — 6 SKU, 112,5–131 г, пакет. Оригінальні корейські рецептури.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2962656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ПЛОЩАДКА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3108960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16 000 м², група працює з 1997 року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438144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3584448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IFS · BRC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3913632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УМОВИ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4059936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FCA Roye · 0 % ввізного мита за сертифікатом EUR.1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4389120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СОБІВАРТІСТЬ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4535424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€0,882 на суповій четвірці і €1,018 на парі Gouda / Carbonara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4864608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" y="5010912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нульове мито і коротке плече з ЄС проти корейського імпорту за MFN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40096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ЩО НЕ РОЗКРИТО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" y="5486400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структура Self-Cost, ексклюзив на Україну, діючий імпортер, терміни придатності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1591056"/>
            <a:ext cx="5413248" cy="39502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0" y="1591056"/>
            <a:ext cx="36576" cy="3950208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55664" y="1737360"/>
            <a:ext cx="4956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717890"/>
                </a:solidFill>
                <a:latin typeface="Segoe UI"/>
              </a:rPr>
              <a:t>АЛЬТЕРНАТИВА, З ЯКОЮ ТРЕБА ПОРІВНЯТИ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55664" y="1920240"/>
            <a:ext cx="49560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303A5D"/>
                </a:solidFill>
                <a:latin typeface="Segoe UI"/>
              </a:rPr>
              <a:t>ПРЯМИЙ ІМПОРТ З КОРЕЇ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55664" y="2267712"/>
            <a:ext cx="4956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0" spc="-10">
                <a:solidFill>
                  <a:srgbClr val="717890"/>
                </a:solidFill>
                <a:latin typeface="Segoe UI"/>
              </a:rPr>
              <a:t>Samyang · Nongshim · Ottogi · Paldo — ті, хто вже тримає полицю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5664" y="2487168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ЧОМУ ЦЕ РЕЛЕВАНТНО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55664" y="2633472"/>
            <a:ext cx="4956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Корея у 2025 відвантажила в Україну 253,8 т за $4,88/кг. SIAS просить $8,9–13,2/кг.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55664" y="2999232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ЩО ДАЄ КОРЕЯ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55664" y="3145536"/>
            <a:ext cx="4956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впізнаваний бренд, готовий попит, лістинг у 12 мережах із 13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3511296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ЩО ДАЄ SIAS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55664" y="3657600"/>
            <a:ext cx="4956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0 % мита, коротке плече, власний бренд без внутрішньої конкуренції за фейс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55664" y="4023360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ЧОГО БРАКУЄ ДЛЯ ПОРІВНЯННЯ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4169664"/>
            <a:ext cx="4956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котирування корейських заводів на порівнянний обсяг — у цьому дослідженні його немає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55664" y="4535424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ВИСНОВОК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55664" y="4681728"/>
            <a:ext cx="4956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перевага SIAS — логістика й мито, а не ціна продукту. Перед контрактом варто запросити котирування хоча б в одного корейського заводу.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8" y="5705856"/>
            <a:ext cx="11064240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66928" y="5705856"/>
            <a:ext cx="36576" cy="78638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4672" y="5861304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НА ЩО ТИСНУТИ В ПЕРЕГОВОРАХ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4672" y="6089904"/>
            <a:ext cx="105887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1. Розкрити структуру Self-Cost: FCA, фрахт і оформлення окремо — без цього полиця порахована на припущенні.</a:t>
            </a:r>
          </a:p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2. Carbonara і Gouda: €1,018 → €0,954 під паритет із Paldo або €0,837 під медіану сегмента.</a:t>
            </a:r>
          </a:p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3. Ексклюзив на Україну або письмове пояснення, хто вже возить Choi’s у «Космос» і «Таврію В» і на яких умовах.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