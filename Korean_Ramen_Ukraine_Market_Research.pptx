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jpg"/><Relationship Id="rId4" Type="http://schemas.openxmlformats.org/officeDocument/2006/relationships/image" Target="../media/image5.jpg"/><Relationship Id="rId5" Type="http://schemas.openxmlformats.org/officeDocument/2006/relationships/image" Target="../media/image14.jpg"/><Relationship Id="rId6" Type="http://schemas.openxmlformats.org/officeDocument/2006/relationships/image" Target="../media/image10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image" Target="../media/image17.jpg"/><Relationship Id="rId10" Type="http://schemas.openxmlformats.org/officeDocument/2006/relationships/image" Target="../media/image18.jpg"/><Relationship Id="rId11" Type="http://schemas.openxmlformats.org/officeDocument/2006/relationships/image" Target="../media/image19.jpg"/><Relationship Id="rId12" Type="http://schemas.openxmlformats.org/officeDocument/2006/relationships/image" Target="../media/image20.jpg"/><Relationship Id="rId13" Type="http://schemas.openxmlformats.org/officeDocument/2006/relationships/image" Target="../media/image21.jpg"/><Relationship Id="rId14" Type="http://schemas.openxmlformats.org/officeDocument/2006/relationships/image" Target="../media/image22.jpg"/><Relationship Id="rId15" Type="http://schemas.openxmlformats.org/officeDocument/2006/relationships/image" Target="../media/image23.jpg"/><Relationship Id="rId16" Type="http://schemas.openxmlformats.org/officeDocument/2006/relationships/image" Target="../media/image2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jpg"/><Relationship Id="rId4" Type="http://schemas.openxmlformats.org/officeDocument/2006/relationships/image" Target="../media/image20.jpg"/><Relationship Id="rId5" Type="http://schemas.openxmlformats.org/officeDocument/2006/relationships/image" Target="../media/image6.jpg"/><Relationship Id="rId6" Type="http://schemas.openxmlformats.org/officeDocument/2006/relationships/image" Target="../media/image26.jpg"/><Relationship Id="rId7" Type="http://schemas.openxmlformats.org/officeDocument/2006/relationships/image" Target="../media/image27.jpg"/><Relationship Id="rId8" Type="http://schemas.openxmlformats.org/officeDocument/2006/relationships/image" Target="../media/image28.jpg"/><Relationship Id="rId9" Type="http://schemas.openxmlformats.org/officeDocument/2006/relationships/image" Target="../media/image29.jpg"/><Relationship Id="rId10" Type="http://schemas.openxmlformats.org/officeDocument/2006/relationships/image" Target="../media/image30.jpg"/><Relationship Id="rId11" Type="http://schemas.openxmlformats.org/officeDocument/2006/relationships/image" Target="../media/image31.jpg"/><Relationship Id="rId12" Type="http://schemas.openxmlformats.org/officeDocument/2006/relationships/image" Target="../media/image32.jpg"/><Relationship Id="rId13" Type="http://schemas.openxmlformats.org/officeDocument/2006/relationships/image" Target="../media/image33.jpg"/><Relationship Id="rId14" Type="http://schemas.openxmlformats.org/officeDocument/2006/relationships/image" Target="../media/image34.jpg"/><Relationship Id="rId15" Type="http://schemas.openxmlformats.org/officeDocument/2006/relationships/image" Target="../media/image35.jpg"/><Relationship Id="rId16" Type="http://schemas.openxmlformats.org/officeDocument/2006/relationships/image" Target="../media/image3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jpg"/><Relationship Id="rId4" Type="http://schemas.openxmlformats.org/officeDocument/2006/relationships/image" Target="../media/image38.jpg"/><Relationship Id="rId5" Type="http://schemas.openxmlformats.org/officeDocument/2006/relationships/image" Target="../media/image39.jpg"/><Relationship Id="rId6" Type="http://schemas.openxmlformats.org/officeDocument/2006/relationships/image" Target="../media/image40.jpg"/><Relationship Id="rId7" Type="http://schemas.openxmlformats.org/officeDocument/2006/relationships/image" Target="../media/image41.jpg"/><Relationship Id="rId8" Type="http://schemas.openxmlformats.org/officeDocument/2006/relationships/image" Target="../media/image10.jpg"/><Relationship Id="rId9" Type="http://schemas.openxmlformats.org/officeDocument/2006/relationships/image" Target="../media/image21.jpg"/><Relationship Id="rId10" Type="http://schemas.openxmlformats.org/officeDocument/2006/relationships/image" Target="../media/image42.jpg"/><Relationship Id="rId11" Type="http://schemas.openxmlformats.org/officeDocument/2006/relationships/image" Target="../media/image43.jpg"/><Relationship Id="rId12" Type="http://schemas.openxmlformats.org/officeDocument/2006/relationships/image" Target="../media/image44.jpg"/><Relationship Id="rId13" Type="http://schemas.openxmlformats.org/officeDocument/2006/relationships/image" Target="../media/image45.jpg"/><Relationship Id="rId14" Type="http://schemas.openxmlformats.org/officeDocument/2006/relationships/image" Target="../media/image46.jpg"/><Relationship Id="rId15" Type="http://schemas.openxmlformats.org/officeDocument/2006/relationships/image" Target="../media/image9.jpg"/><Relationship Id="rId16" Type="http://schemas.openxmlformats.org/officeDocument/2006/relationships/image" Target="../media/image4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jpg"/><Relationship Id="rId4" Type="http://schemas.openxmlformats.org/officeDocument/2006/relationships/image" Target="../media/image48.jpg"/><Relationship Id="rId5" Type="http://schemas.openxmlformats.org/officeDocument/2006/relationships/image" Target="../media/image49.jpg"/><Relationship Id="rId6" Type="http://schemas.openxmlformats.org/officeDocument/2006/relationships/image" Target="../media/image5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1.jpg"/><Relationship Id="rId4" Type="http://schemas.openxmlformats.org/officeDocument/2006/relationships/image" Target="../media/image52.jpg"/><Relationship Id="rId5" Type="http://schemas.openxmlformats.org/officeDocument/2006/relationships/image" Target="../media/image53.jpg"/><Relationship Id="rId6" Type="http://schemas.openxmlformats.org/officeDocument/2006/relationships/image" Target="../media/image54.jpg"/><Relationship Id="rId7" Type="http://schemas.openxmlformats.org/officeDocument/2006/relationships/image" Target="../media/image55.jpg"/><Relationship Id="rId8" Type="http://schemas.openxmlformats.org/officeDocument/2006/relationships/image" Target="../media/image56.jpg"/><Relationship Id="rId9" Type="http://schemas.openxmlformats.org/officeDocument/2006/relationships/image" Target="../media/image57.jpg"/><Relationship Id="rId10" Type="http://schemas.openxmlformats.org/officeDocument/2006/relationships/image" Target="../media/image58.jpg"/><Relationship Id="rId11" Type="http://schemas.openxmlformats.org/officeDocument/2006/relationships/image" Target="../media/image59.jpg"/><Relationship Id="rId12" Type="http://schemas.openxmlformats.org/officeDocument/2006/relationships/image" Target="../media/image60.jpg"/><Relationship Id="rId13" Type="http://schemas.openxmlformats.org/officeDocument/2006/relationships/image" Target="../media/image61.jpg"/><Relationship Id="rId14" Type="http://schemas.openxmlformats.org/officeDocument/2006/relationships/image" Target="../media/image7.jpg"/><Relationship Id="rId15" Type="http://schemas.openxmlformats.org/officeDocument/2006/relationships/image" Target="../media/image6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3.jpg"/><Relationship Id="rId4" Type="http://schemas.openxmlformats.org/officeDocument/2006/relationships/image" Target="../media/image64.jpg"/><Relationship Id="rId5" Type="http://schemas.openxmlformats.org/officeDocument/2006/relationships/image" Target="../media/image65.jpg"/><Relationship Id="rId6" Type="http://schemas.openxmlformats.org/officeDocument/2006/relationships/image" Target="../media/image66.jpg"/><Relationship Id="rId7" Type="http://schemas.openxmlformats.org/officeDocument/2006/relationships/image" Target="../media/image67.jpg"/><Relationship Id="rId8" Type="http://schemas.openxmlformats.org/officeDocument/2006/relationships/image" Target="../media/image68.jpg"/><Relationship Id="rId9" Type="http://schemas.openxmlformats.org/officeDocument/2006/relationships/image" Target="../media/image69.jpg"/><Relationship Id="rId10" Type="http://schemas.openxmlformats.org/officeDocument/2006/relationships/image" Target="../media/image70.jpg"/><Relationship Id="rId11" Type="http://schemas.openxmlformats.org/officeDocument/2006/relationships/image" Target="../media/image71.jpg"/><Relationship Id="rId12" Type="http://schemas.openxmlformats.org/officeDocument/2006/relationships/image" Target="../media/image51.jpg"/><Relationship Id="rId13" Type="http://schemas.openxmlformats.org/officeDocument/2006/relationships/image" Target="../media/image7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3.jpg"/><Relationship Id="rId4" Type="http://schemas.openxmlformats.org/officeDocument/2006/relationships/image" Target="../media/image74.jpg"/><Relationship Id="rId5" Type="http://schemas.openxmlformats.org/officeDocument/2006/relationships/image" Target="../media/image75.jpg"/><Relationship Id="rId6" Type="http://schemas.openxmlformats.org/officeDocument/2006/relationships/image" Target="../media/image76.jpg"/><Relationship Id="rId7" Type="http://schemas.openxmlformats.org/officeDocument/2006/relationships/image" Target="../media/image77.jpg"/><Relationship Id="rId8" Type="http://schemas.openxmlformats.org/officeDocument/2006/relationships/image" Target="../media/image78.jpg"/><Relationship Id="rId9" Type="http://schemas.openxmlformats.org/officeDocument/2006/relationships/image" Target="../media/image79.jpg"/><Relationship Id="rId10" Type="http://schemas.openxmlformats.org/officeDocument/2006/relationships/image" Target="../media/image80.jpg"/><Relationship Id="rId11" Type="http://schemas.openxmlformats.org/officeDocument/2006/relationships/image" Target="../media/image81.jpg"/><Relationship Id="rId12" Type="http://schemas.openxmlformats.org/officeDocument/2006/relationships/image" Target="../media/image82.jpg"/><Relationship Id="rId13" Type="http://schemas.openxmlformats.org/officeDocument/2006/relationships/image" Target="../media/image83.jpg"/><Relationship Id="rId14" Type="http://schemas.openxmlformats.org/officeDocument/2006/relationships/image" Target="../media/image8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5.jpg"/><Relationship Id="rId4" Type="http://schemas.openxmlformats.org/officeDocument/2006/relationships/image" Target="../media/image86.jpg"/><Relationship Id="rId5" Type="http://schemas.openxmlformats.org/officeDocument/2006/relationships/image" Target="../media/image87.jpg"/><Relationship Id="rId6" Type="http://schemas.openxmlformats.org/officeDocument/2006/relationships/image" Target="../media/image88.jpg"/><Relationship Id="rId7" Type="http://schemas.openxmlformats.org/officeDocument/2006/relationships/image" Target="../media/image89.jpg"/><Relationship Id="rId8" Type="http://schemas.openxmlformats.org/officeDocument/2006/relationships/image" Target="../media/image90.jpg"/><Relationship Id="rId9" Type="http://schemas.openxmlformats.org/officeDocument/2006/relationships/image" Target="../media/image91.jpg"/><Relationship Id="rId10" Type="http://schemas.openxmlformats.org/officeDocument/2006/relationships/image" Target="../media/image92.jpg"/><Relationship Id="rId11" Type="http://schemas.openxmlformats.org/officeDocument/2006/relationships/image" Target="../media/image93.jpg"/><Relationship Id="rId12" Type="http://schemas.openxmlformats.org/officeDocument/2006/relationships/image" Target="../media/image9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Relationship Id="rId4" Type="http://schemas.openxmlformats.org/officeDocument/2006/relationships/image" Target="../media/image3.jpg"/><Relationship Id="rId5" Type="http://schemas.openxmlformats.org/officeDocument/2006/relationships/image" Target="../media/image8.jpg"/><Relationship Id="rId6" Type="http://schemas.openxmlformats.org/officeDocument/2006/relationships/image" Target="../media/image95.jpg"/><Relationship Id="rId7" Type="http://schemas.openxmlformats.org/officeDocument/2006/relationships/image" Target="../media/image96.jpg"/><Relationship Id="rId8" Type="http://schemas.openxmlformats.org/officeDocument/2006/relationships/image" Target="../media/image97.jpg"/><Relationship Id="rId9" Type="http://schemas.openxmlformats.org/officeDocument/2006/relationships/image" Target="../media/image2.jpg"/><Relationship Id="rId10" Type="http://schemas.openxmlformats.org/officeDocument/2006/relationships/image" Target="../media/image1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8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1920240" cy="8321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2395728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FFC95C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15768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spc="-10">
                <a:solidFill>
                  <a:srgbClr val="FFFFFF"/>
                </a:solidFill>
                <a:latin typeface="Segoe UI"/>
              </a:rPr>
              <a:t>Корейський рамен</a:t>
            </a:r>
          </a:p>
          <a:p>
            <a:pPr algn="l">
              <a:lnSpc>
                <a:spcPct val="105000"/>
              </a:lnSpc>
            </a:pPr>
            <a:r>
              <a:rPr sz="4400" b="1" spc="-10">
                <a:solidFill>
                  <a:srgbClr val="FFFFFF"/>
                </a:solidFill>
                <a:latin typeface="Segoe UI"/>
              </a:rPr>
              <a:t>в Україні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90288"/>
            <a:ext cx="10058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9FA9C4"/>
                </a:solidFill>
                <a:latin typeface="Segoe UI"/>
              </a:rPr>
              <a:t>Оцінка пропозиції Choi’s Ramyeon (SIAS France) проти фактичної полиці:</a:t>
            </a:r>
          </a:p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9FA9C4"/>
                </a:solidFill>
                <a:latin typeface="Segoe UI"/>
              </a:rPr>
              <a:t>96 SKU корейського рамену · 11 брендів · 13 мереж із 18 · зріз каталогів 29.09.2026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413248"/>
            <a:ext cx="36576" cy="78638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5440680"/>
            <a:ext cx="100584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 spc="-10">
                <a:solidFill>
                  <a:srgbClr val="9FA9C4"/>
                </a:solidFill>
                <a:latin typeface="Segoe UI"/>
              </a:rPr>
              <a:t>Усі ціни — роздріб за одну пачку, з ПДВ, на дату зрізу. Опт, ящики та мультипаки до медіан не входять.</a:t>
            </a:r>
          </a:p>
          <a:p>
            <a:pPr algn="l">
              <a:lnSpc>
                <a:spcPct val="140000"/>
              </a:lnSpc>
            </a:pPr>
            <a:r>
              <a:rPr sz="800" b="0" spc="-10">
                <a:solidFill>
                  <a:srgbClr val="9FA9C4"/>
                </a:solidFill>
                <a:latin typeface="Segoe UI"/>
              </a:rPr>
              <a:t>Фото товарів — з каталогів мереж; використані як ідентифікація SKU.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Шість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Усі ціни в колоді — за одну пачку, з ПДВ. Опт і ящики до розрахунку не входять.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ОБСЯГ ІМПОРТУ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253,8 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Корея, HS 1902 30.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+8,8 % до 2024 року в кг.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ЄМНІСТЬ РОЗДРІБУ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221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млн грн на рік — оцінка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за імпортом × медіану полиці.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6992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5D4B96"/>
                </a:solidFill>
                <a:latin typeface="Segoe UI"/>
              </a:rPr>
              <a:t>96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11 брендів, 13 мереж із 18.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У «Сільпо» — 4 позиції.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НАЙПОШИРЕНІШИЙ ФОРМАТ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71 позиція (74 %).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Стакан — 18, ток-покі — 7.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МАСОВА ВАГА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23 позиції. Далі 130 г — 9,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140 г — 6, 105 г — 6.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36992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НАЙДЕШЕВШИЙ ВХІД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77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Ottogi Kimchi 120 г і O’Food 144 г —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64–67 грн/100 г.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517136"/>
            <a:ext cx="5413248" cy="1664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517136"/>
            <a:ext cx="36576" cy="16642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ЦЕ ОЗНАЧАЄ ДЛЯ ПОЛИЦІ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901184"/>
            <a:ext cx="493776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Категорія повністю імпортна: корейського рамену в Україні не виробляють.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Зростання дає Корея: 233,3 → 253,8 т за рік, +8,8 % у кг і +34,9 % у грошах.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Формат, що тримає полицю, — пакет 120 г: 22 позиції в 11 мережах, медіана 93 грн.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Полиця концентрована: Samyang і Nongshim дають 54 позиції з 96 і стоять у 12 мережах із 13.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4517136"/>
            <a:ext cx="5413248" cy="1664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517136"/>
            <a:ext cx="36576" cy="16642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ЧОГО НА РИНКУ НЕМАЄ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901184"/>
            <a:ext cx="493776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Немає жодної позиції вагою 113 г — саме стільки важать чотири SKU Choi’s. Стандарт категорії — 120 г.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Немає корейського рамену в МегаМаркеті, Ultramarket, ЕКО, Епіцентрі та «Ідеалі»: нуль позицій.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Немає широкого вибору стаканів: 18 позицій на всю категорію при ціні за грам удвічі вищій за пакет.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Немає жодного бренду, крім Samyang і Nongshim, більш ніж у 5 мережах: решта дев'яти — від 1 до 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1 674 т імпорту локшини, з них 253,8 т корейської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HS 1902 30 «інші макаронні вироби». Україна не звітувала 2025 рік до UN Comtrade — беремо дзеркальні дані країн-експортерів.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ЗВІДКИ ЇДЕ, 2025 РІК · тонн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764792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92807" y="1810512"/>
            <a:ext cx="347471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0408" y="1764792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734.1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029967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92807" y="2075687"/>
            <a:ext cx="120146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0408" y="2029967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253.8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295144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Польща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92807" y="2340863"/>
            <a:ext cx="1145577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0408" y="2295144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242.0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560320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Туреччина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92807" y="2606039"/>
            <a:ext cx="88290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0408" y="2560320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186.5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825496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Словаччина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92807" y="2871215"/>
            <a:ext cx="393694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50408" y="2825496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83.2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090672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Італія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92807" y="3136391"/>
            <a:ext cx="23625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0408" y="3090672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49.9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3355848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Таїланд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92807" y="3401568"/>
            <a:ext cx="14136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50408" y="3355848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29.9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621024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Німеччина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92807" y="3666744"/>
            <a:ext cx="11096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0408" y="3621024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23.4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3886200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Литва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92807" y="3931920"/>
            <a:ext cx="10194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50408" y="3886200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21.5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4151376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Чехія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92807" y="4197096"/>
            <a:ext cx="63963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50408" y="4151376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13.5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90288"/>
            <a:ext cx="5760720" cy="8686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4590288"/>
            <a:ext cx="36576" cy="868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" y="4745736"/>
            <a:ext cx="528523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ТОНАЖ ≠ КАТЕГОРІЯ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" y="4974336"/>
            <a:ext cx="528523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Туреччина по $0,63/кг і Китай по $1,54/кг — це переважно звичайні макарони, не рамен. Корея — $4,88/кг: єдиний великий постачальник із ціною, що відповідає фасованому рамену.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1554480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КОРЕЯ → УКРАЇНА, HS 1902 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1792224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РІК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40" y="1792224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ОБСЯГ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1792224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ВАРТІСТЬ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1792224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$/КГ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75120" y="197510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2024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06640" y="19751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233,3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197510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$917,8 тис.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197510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$3,93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01968" y="2176272"/>
            <a:ext cx="4956048" cy="228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0" y="221284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0" y="221284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253,8 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86800" y="221284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$1 238,3 тис.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2720" y="221284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$4,88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75120" y="2450591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2450591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+8,8 %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2450591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+34,9 %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2720" y="24505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+24,0 %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75120" y="2706624"/>
            <a:ext cx="4937760" cy="12984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675120" y="2706624"/>
            <a:ext cx="36576" cy="129844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12864" y="2862072"/>
            <a:ext cx="44622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КАЖЕ ЦІНА ІМПОРТУ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12864" y="3090672"/>
            <a:ext cx="446227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Середня експортна ціна Кореї зросла на 24 % за рік при зростанні обсягу лише на 9 %. Ринок рухається в бік дорожчих SKU (Buldak, стакани), а не дешевших.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Пропозиція SIAS — €0,88–1,31 за пачку 113–131 г, тобто $8,9–13,2/кг: у 1,8–2,7 раза дорожче за середню корейську експортну ціну.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5687568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ЯК РАХУВАЛИ ЄМНІСТЬ КОРЕЙСЬКОГО СЕГМЕНТА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1520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253,8 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імпорт з Кореї 2025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15184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98064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962656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2,12 млн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62656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пачок по 120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46320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0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93792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× 105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93792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полиці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077456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260336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24928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221 млн грн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24928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08592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491472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656064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×4,0 до FOB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656064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імпліцитний множник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СЕГМЕНТАЦІЯ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Три цінові поверхи локшини швидкого приготування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Поверх визначено за ціною за 100 г — це єдиний коректний вимір, коли пачки важать від 50 до 200 г. Межі поверхів узяті з фактичного розподілу брендів, а не задані наперед.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3566160" cy="3035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6576" cy="3035808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682495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3E59A8"/>
                </a:solidFill>
                <a:latin typeface="Segoe UI"/>
              </a:rPr>
              <a:t>ПОВЕРХ 1 · ЕКОНОМ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1938528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9–25 грн  ·  14–37 грн/100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21408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Українське виробництво і приватні марки мереж · 15 брендів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858500244579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584" y="2377440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6809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Мівіна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22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37 грн/100 г · 16 мереж · 22 SKU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14015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503" y="2377440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14015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Reeva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14015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21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14015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34 грн/100 г · 14 мереж · 7 SKU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584" y="3584448"/>
            <a:ext cx="566928" cy="566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809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Роллтон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21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35 грн/100 г · 1 мереж · 1 SKU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15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0482309741337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9503" y="3584448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414015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Щедро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5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15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14015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25 грн/100 г · 7 мереж · 4 SKU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15968" y="1554480"/>
            <a:ext cx="3566160" cy="3035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15968" y="1554480"/>
            <a:ext cx="36576" cy="30358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17136" y="1682495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1E9EA6"/>
                </a:solidFill>
                <a:latin typeface="Segoe UI"/>
              </a:rPr>
              <a:t>ПОВЕРХ 2 · МІДЛ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17136" y="1938528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38–124 грн  ·  58–86 грн/100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17136" y="2121408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Азія та імпорт середньої ціни — сюди потрапляє й дешева Корея · 9 брендів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1713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0880105211456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3" y="2377440"/>
            <a:ext cx="566928" cy="56692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51713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O'Food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1713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77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1713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67 грн/100 г · 2 мереж · 4 SKU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63055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088010459999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8544" y="2377440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163055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63055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89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63055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75 грн/100 г · 5 мереж · 11 SKU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1713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0064843610005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2623" y="3584448"/>
            <a:ext cx="566928" cy="56692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51713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Paldo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1713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95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1713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77 грн/100 г · 5 мереж · 8 SKU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63055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5201810202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38544" y="3584448"/>
            <a:ext cx="566928" cy="56692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163055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Yum Yum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63055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60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63055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86 грн/100 г · 2 мереж · 1 SKU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065008" y="1554480"/>
            <a:ext cx="3566160" cy="3035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065008" y="1554480"/>
            <a:ext cx="36576" cy="303580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66176" y="1682495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C4820A"/>
                </a:solidFill>
                <a:latin typeface="Segoe UI"/>
              </a:rPr>
              <a:t>ПОВЕРХ 3 · ІМПОРТНИЙ ПРЕМІУМ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66176" y="1938528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34–204 грн  ·  93–146 грн/100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6176" y="2121408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Samyang, Nongshim і в'єтнамська рисова локшина · 8 брендів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6617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08801073113428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41664" y="2377440"/>
            <a:ext cx="566928" cy="56692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26617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Samyang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6617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112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6617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93 грн/100 г · 11 мереж · 17 SKU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91209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088010431506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87584" y="2377440"/>
            <a:ext cx="566928" cy="566928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991209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Nongshim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1209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117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1209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107 грн/100 г · 9 мереж · 11 SKU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6617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08850987150098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741664" y="3584448"/>
            <a:ext cx="566928" cy="566928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26617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Мама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6617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108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6617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121 грн/100 г · 5 мереж · 7 SKU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91209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08936010681545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87584" y="3584448"/>
            <a:ext cx="566928" cy="56692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91209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Cung Dinh Kool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91209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123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1209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118 грн/100 г · 4 мереж · 1 SKU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66928" y="4718304"/>
            <a:ext cx="11064240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66928" y="4718304"/>
            <a:ext cx="36576" cy="786384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4672" y="4846320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B53A3A"/>
                </a:solidFill>
                <a:latin typeface="Segoe UI"/>
              </a:rPr>
              <a:t>ПОВЕРХ 4 · ДЕ ОПИНЯЄТЬСЯ CHOI’S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4672" y="504748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93–99 грн/100 г за фінмоделлю (15 %)</a:t>
            </a:r>
          </a:p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Факт на полиці сьогодні: 96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23360" y="4846320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При маржі 15 % Choi’s стає на 93–99 грн/100 г — це нижня частина преміум-поверху, поруч із Samyang (93 грн/100 г). Фактична ціна того самого SKU на полиці сьогодні — 96 грн/100 г. Фактична ціна того самого SKU сьогодні — 96 грн/100 г; обсяг, а не переговори про ціну, вирішує, куди Choi’s потрапить.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66928" y="5632704"/>
            <a:ext cx="11064240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66928" y="5632704"/>
            <a:ext cx="36576" cy="84124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4672" y="5788152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ЦЕ ЗМІНЮЄ В КАРТИНІ КОНКУРЕНЦІЇ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" y="6016752"/>
            <a:ext cx="105887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Корейський рамен — не однорідний преміум. Ottogi (75), Paldo (77), O’Food (67) і Bibigo (70 грн/100 г) стоять у МІДЛІ поруч з Yum Yum і Hokkaido Club, а не поруч із Samyang і Nongshim. Прямий конкурент Choi’s за ціною — саме ця дешева половина корейської полиці, і вона вже коштує 67–89 грн за пачку.</a:t>
            </a:r>
          </a:p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Окремий фактор пропозиції: у липні 2025 Nestlé запустила фабрику вермішелі у с. Смолигів на Волині (~$50 млн). Продукція йде переважно на ринки ЄС під брендом Maggi, тож прямого тиску на українську полицю вона поки не створює — але потужність у країні з'явилася.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Чотири сегменти за способом приготування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Групування за тим, як продукт готується і де споживається — від цього залежать і ціна за грам, і канал. Так само, як у дослідженні готового рису.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22860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СЕГМЕНТ 1 · СУПОВИЙ РАМЬОН · ПАКЕТ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46 позицій · 6 брендів · 12 мереж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Варіння 4–5 хв · з бульйоном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Домашня вечеря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C4820A"/>
                </a:solidFill>
                <a:latin typeface="Segoe UI"/>
              </a:rPr>
              <a:t>104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67 – 209 грн · 86 грн/100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102–144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Nongshim · Samyang · Ottogi · Paldo · O'Food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64992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64992" y="1591056"/>
            <a:ext cx="36576" cy="22860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0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1E9EA6"/>
                </a:solidFill>
                <a:latin typeface="Segoe UI"/>
              </a:rPr>
              <a:t>СЕГМЕНТ 2 · СТІР-ФРАЙ БЕЗ БУЛЬЙОНУ · ПАКЕТ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25 позицій · 7 брендів · 11 мереж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Варіння 4–5 хв · воду злити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Домашня вечеря · тренд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1E9EA6"/>
                </a:solidFill>
                <a:latin typeface="Segoe UI"/>
              </a:rPr>
              <a:t>100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72 – 184 грн · 77 грн/100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105–145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Samyang · Paldo · Nongshim · Bibigo · Ottogi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63056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63056" y="1591056"/>
            <a:ext cx="36576" cy="228600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5D4B96"/>
                </a:solidFill>
                <a:latin typeface="Segoe UI"/>
              </a:rPr>
              <a:t>СЕГМЕНТ 3 · СТАКАН І БОУЛ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224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18 позицій · 4 брендів · 8 мереж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Залити окропом 3–4 хв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Офіс і дорога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4224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4224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5D4B96"/>
                </a:solidFill>
                <a:latin typeface="Segoe UI"/>
              </a:rPr>
              <a:t>104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4224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4224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34 – 195 грн · 154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4224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62–120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64224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Nongshim · Samyang · Paldo · Ottogi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961120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961120" y="1591056"/>
            <a:ext cx="36576" cy="2286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62288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303A5D"/>
                </a:solidFill>
                <a:latin typeface="Segoe UI"/>
              </a:rPr>
              <a:t>СЕГМЕНТ 4 · ТОК-ПОКІ ТА РИСОВА ЛОКШИНА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62288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7 позицій · 4 брендів · 4 мереж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Варіння або окріп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Снек і десерт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62288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62288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303A5D"/>
                </a:solidFill>
                <a:latin typeface="Segoe UI"/>
              </a:rPr>
              <a:t>198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62288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62288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65 – 204 грн · 136 грн/100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62288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80–145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2288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Yopokki · Samyang · Paldo · Baekje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402336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3232" y="403250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ЩО ЦЕ ЗА СЕГМЕНТИ І ЧОМУ ЇХ РОЗДІЛЯЮТЬ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0" y="4032504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класифікація за технологією приготування, не за брендом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4261104"/>
            <a:ext cx="2788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СЕГМЕНТ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01568" y="4261104"/>
            <a:ext cx="2103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ЯК ГОТУЄТЬСЯ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59552" y="4261104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0" y="4261104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59168" y="426110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0" y="4261104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6840" y="4261104"/>
            <a:ext cx="26243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ЧОМУ ЦЕ ОКРЕМИЙ СЕГМЕНТ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444398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1 · СУПОВИЙ РАМЬОН · ПАКЕТ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01568" y="444398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4–5 хв · з бульйоном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59552" y="444398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26480" y="444398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59168" y="444398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46720" y="444398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06840" y="444398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базова полиця категорії: найбільше SKU і найширша дистрибуція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93776" y="4681728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66928" y="471830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2 · СТІР-ФРАЙ БЕЗ БУЛЬЙОНУ · ПАКЕТ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01568" y="471830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4–5 хв · воду злити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559552" y="471830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471830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59168" y="471830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46720" y="471830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06840" y="471830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інший привід і інша ціна за грам; зростає найшвидше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6928" y="499262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3 · СТАКАН І БОУЛ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01568" y="499262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Залити окропом 3–4 хв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59552" y="499262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26480" y="499262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059168" y="499262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154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46720" y="499262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62–120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6840" y="499262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готується без плити — конкурує з обідом поза домом, а не з вечерею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93776" y="5230368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526694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4 · ТОК-ПОКІ ТА РИСОВА ЛОКШИНА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01568" y="526694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або окріп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559552" y="526694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26480" y="526694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198 грн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59168" y="526694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0" y="526694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80–145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006840" y="526694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рисовий продукт, не пшенична локшина: інша полиця і інший покупець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554126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Суміжна полиця · не-корейська локшина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401568" y="554126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або окріп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559552" y="554126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 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26480" y="554126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9–144 грн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59168" y="554126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18–146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46720" y="554126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50–200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006840" y="554126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цінова підлога: від неї покупець рахує премію за корейський бренд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Стакан/боул визначено за маркером у назві або вагою ≤ 85 г: корейські мережеві каталоги рідко вказують формат окремо, а пакетний рамьон важить 100–145 г, стакан — 62–85 г. Це припущення, а не поле з каталогу.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МАТРИЦЯ БРЕНДІВ ·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Сегменти 1 і 2: пакетний рамьон — прямі конкуренти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Це два сегменти, у які потрапляють усі шість SKU Choi’s. Усередині сегмента бренди відсортовані від найдешевшого до найдорожчого.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36576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63624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46 SKU   ·   медіана 104 грн   ·   86 грн/100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2880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3936" y="1828800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1828800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1828800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5384" y="1828800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182880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1828800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8312" y="1828800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7" y="182880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30384" y="1828800"/>
            <a:ext cx="1700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011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O'Food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3936" y="20116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Daesang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3824" y="20116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20116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15384" y="20116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102–144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2011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68–84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20116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20116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7" y="20116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Зараз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0384" y="20116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найнижча ціна за грам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76" y="2203704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2402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73936" y="22402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63824" y="22402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22402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15384" y="22402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111–130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22402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67–112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0216" y="22402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68312" y="22402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82127" y="22402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Космос · Таврія В +2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0384" y="22402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Jin Ramen — найдешевший вхід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4688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73936" y="24688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63824" y="24688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24688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15384" y="24688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110–120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74920" y="24688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72–113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0216" y="24688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68312" y="24688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82127" y="24688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Grono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30384" y="24688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та сама вага, дешевше за грам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3776" y="2660904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26974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Otoki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73936" y="26974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63824" y="26974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26974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15384" y="26974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74920" y="26974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0216" y="2697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68312" y="26974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82127" y="26974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30384" y="26974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поодинокий SKU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29260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73936" y="29260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63824" y="29260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11880" y="29260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15384" y="29260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74920" y="29260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86–169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0216" y="29260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68312" y="29260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82127" y="29260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Зараз · Grono +8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30384" y="29260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супова частина лінійки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3776" y="3118104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3154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73936" y="31546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63824" y="31546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11880" y="31546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15384" y="31546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112–137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74920" y="3154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74–209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31546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068312" y="31546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82127" y="31546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Onde · Grono +7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30384" y="31546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Shin Ramyun — якір полиці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66928" y="3493008"/>
            <a:ext cx="36576" cy="17373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13232" y="3502152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1E9EA6"/>
                </a:solidFill>
                <a:latin typeface="Segoe UI"/>
              </a:rPr>
              <a:t>СЕГМЕНТ 2 · СТІР-ФРАЙ БЕЗ БУЛЬЙОНУ · ПАКЕТ   ·   Варіння 4–5 хв · воду злити   ·   25 SKU   ·   медіана 100 грн   ·   77 грн/100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66928" y="376732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73936" y="3767328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63824" y="376732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11880" y="3767328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15384" y="3767328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74920" y="376732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3767328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68312" y="3767328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882127" y="3767328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930384" y="3767328"/>
            <a:ext cx="1700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3950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fire bull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773936" y="39502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163824" y="39502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11880" y="39502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15384" y="39502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074920" y="3950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00216" y="39502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068312" y="39502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82127" y="39502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930384" y="39502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поодинокий SKU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93776" y="4142232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66928" y="41788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73936" y="41788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CJ CheilJedang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163824" y="41788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11880" y="41788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215384" y="41788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122–127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74920" y="41788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300216" y="41788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68312" y="41788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882127" y="41788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930384" y="41788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stir-fry від CJ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" y="44074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73936" y="44074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163824" y="44074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611880" y="44074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215384" y="44074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120–130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74920" y="44074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300216" y="44074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068312" y="44074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2127" y="44074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930384" y="44074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stir-fry з сиром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93776" y="4599432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66928" y="46360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773936" y="46360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163824" y="46360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11880" y="46360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15384" y="46360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074920" y="46360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72–124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300216" y="46360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068312" y="46360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882127" y="46360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Grono · Onde +2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930384" y="46360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Volcano Carbonara — аналог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66928" y="48646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773936" y="48646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163824" y="48646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611880" y="48646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215384" y="48646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131–140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074920" y="48646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89–154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300216" y="48646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068312" y="48646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882127" y="48646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Клас · NOVUS +5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930384" y="48646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Chapaghetti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93776" y="5056632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66928" y="5093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Choi's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773936" y="50932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SIAS France · ЄС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163824" y="50932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611880" y="50932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15384" y="50932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074920" y="5093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300216" y="50932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068312" y="50932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882127" y="50932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930384" y="50932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наш продукт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66928" y="53218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773936" y="53218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163824" y="53218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611880" y="53218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215384" y="53218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074920" y="53218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78–184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300216" y="53218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068312" y="53218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7882127" y="53218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 · Ашан · Клас +7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930384" y="53218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Buldak — франшиза-лідер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66928" y="5632704"/>
            <a:ext cx="11064240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566928" y="5632704"/>
            <a:ext cx="36576" cy="84124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04672" y="5788152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ДЕ САМЕ СТОЇТЬ CHOI’S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04672" y="6016752"/>
            <a:ext cx="105887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Шість SKU SIAS розпадаються на два сегменти: Carbonara 131 г і Gouda 123 г — це стір-фрай (медіана сегмента 100 грн), Vegetable, Spicy, Beef і Chicken — суповий рамьон (медіана 104 грн). Порівнювати їх треба з різними конкурентами, а не з категорією загалом.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МАТРИЦЯ БРЕНДІВ ·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Сегменти 3 і 4: стакан і рисовий продукт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Ці два сегменти з Choi’s не конкурують напряму: інший привід споживання і інша ціна за грам. Показані, щоб було видно всю категорію.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72768"/>
            <a:ext cx="36576" cy="17373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81912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5D4B96"/>
                </a:solidFill>
                <a:latin typeface="Segoe UI"/>
              </a:rPr>
              <a:t>СЕГМЕНТ 3 · СТАКАН І БОУЛ   ·   Залити окропом 3–4 хв   ·   18 SKU   ·   медіана 104 грн   ·   154 грн/100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3936" y="1847088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184708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1847088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5384" y="1847088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184708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1847088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8312" y="1847088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7" y="1847088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30384" y="1847088"/>
            <a:ext cx="1700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02996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3936" y="2029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3824" y="202996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202996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15384" y="202996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70–80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202996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34–150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202996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202996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7" y="202996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Космос · Клас +4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0384" y="202996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стакани Buldak 70–80 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76" y="2249424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28600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73936" y="228600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63824" y="228600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228600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15384" y="228600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228600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0216" y="228600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68312" y="228600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82127" y="228600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0384" y="228600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Jin Ramen у стакані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54203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73936" y="2542032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63824" y="2542032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2542032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15384" y="254203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74920" y="254203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0216" y="254203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68312" y="254203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82127" y="2542032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30384" y="254203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боул Jumbo Noodle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3776" y="2761488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279806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73936" y="27980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63824" y="2798064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2798064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15384" y="2798064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62–80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74920" y="279806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97–195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0216" y="279806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68312" y="2798064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166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82127" y="2798064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 · Ашан · Grono +1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30384" y="2798064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Shin Cup і сублімовані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" y="3236976"/>
            <a:ext cx="36576" cy="1737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3232" y="324612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03A5D"/>
                </a:solidFill>
                <a:latin typeface="Segoe UI"/>
              </a:rPr>
              <a:t>СЕГМЕНТ 4 · ТОК-ПОКІ ТА РИСОВА ЛОКШИНА   ·   Варіння або окріп   ·   7 SKU   ·   медіана 198 грн   ·   136 грн/100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3511296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73936" y="3511296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163824" y="3511296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11880" y="3511296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15384" y="3511296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74920" y="3511296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00216" y="3511296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68312" y="3511296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82127" y="3511296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30384" y="3511296"/>
            <a:ext cx="1700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369417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73936" y="3694176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163824" y="3694176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11880" y="3694176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15384" y="3694176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74920" y="369417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65–104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369417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068312" y="3694176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82127" y="3694176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Onde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930384" y="3694176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Topokki — галушки з локшиною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93776" y="3913632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3950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Baekje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73936" y="39502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63824" y="39502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11880" y="39502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15384" y="39502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74920" y="3950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39502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68312" y="39502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882127" y="39502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930384" y="39502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рисова локшина з кімчі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420624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773936" y="420624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163824" y="420624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11880" y="420624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15384" y="420624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074920" y="420624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101–124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00216" y="420624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068312" y="420624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82127" y="420624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Grono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930384" y="420624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Rabokki — ток-покі з локшиною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93776" y="4425696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66928" y="446227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Yopokki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73936" y="4462272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Young Poong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163824" y="4462272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11880" y="4462272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215384" y="446227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74920" y="446227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198–204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300216" y="446227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68312" y="446227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882127" y="4462272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930384" y="446227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ток-покі, снековий привід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66928" y="4297680"/>
            <a:ext cx="5413248" cy="1325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66928" y="4297680"/>
            <a:ext cx="36576" cy="13258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04672" y="4453128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СТАКАН — ВДВІЧІ ДОРОЖЧИЙ ГРАМ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" y="4681728"/>
            <a:ext cx="493776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154 грн/100 г проти 86 у пакетного рамьону. Покупець платить не за продукт, а за те, що не потрібна плита. При цьому сегмент займає лише 18 SKU у 8 мережах.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217920" y="4297680"/>
            <a:ext cx="5413248" cy="1325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217920" y="4297680"/>
            <a:ext cx="36576" cy="132588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455664" y="4453128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ТОК-ПОКІ — НЕ НАША ПОЛИЦЯ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455664" y="4681728"/>
            <a:ext cx="493776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Медіана 198 грн, але це рисові галушки, а не локшина. Сегмент показано для повноти картини: його ціни не можна використовувати як орієнтир для пшеничного рамену.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28" y="5760720"/>
            <a:ext cx="11064240" cy="7315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66928" y="5760720"/>
            <a:ext cx="36576" cy="73152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04672" y="59161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СУМІЖНА ПОЛИЦЯ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04672" y="6144768"/>
            <a:ext cx="10588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Не-корейська локшина швидкого приготування — 14 брендів, 9–144 грн, 18–146 грн/100 г. Детально на слайді з картками. Саме вона, а не корейські бренди, формує уявлення покупця про «нормальну» ціну пачки локшини.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ЦІНА ЗА ОДНУ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Від 65 до 205 грн: сходи всіх одинадцяти брендів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Стовпчик — медіана бренду. Праворуч — від найдешевшої до найдорожчої його позиції. Помаранчеве — ми.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70981" y="1691639"/>
            <a:ext cx="998982" cy="3268980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0981" y="1545336"/>
            <a:ext cx="99898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ВІКНО ПАКЕТНОЇ ПОЛИЦІ  86–124 грн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0128" y="1837943"/>
            <a:ext cx="5486" cy="3122676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44368" y="49971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1688" y="1837943"/>
            <a:ext cx="5486" cy="3122676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95927" y="49971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13248" y="1837943"/>
            <a:ext cx="5486" cy="3122676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488" y="49971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64808" y="1837943"/>
            <a:ext cx="5486" cy="3122676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9048" y="49971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16367" y="1837943"/>
            <a:ext cx="5486" cy="3122676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50607" y="49971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67928" y="1837943"/>
            <a:ext cx="5486" cy="3122676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02168" y="49971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19488" y="1837943"/>
            <a:ext cx="5486" cy="3122676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53728" y="49971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1913381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O'Food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10128" y="1920239"/>
            <a:ext cx="2024253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7533" y="1908810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77 грн  ·  68–84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146553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fire bull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10128" y="2153411"/>
            <a:ext cx="2050541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33822" y="2141982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78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379725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10128" y="2386583"/>
            <a:ext cx="2260853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44133" y="2375153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86 грн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612897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10128" y="2619755"/>
            <a:ext cx="2339720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3000" y="2608325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89 грн  ·  67–112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2846069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10128" y="2852927"/>
            <a:ext cx="2471165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54446" y="2841497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94 грн  ·  72–124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079241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Otoki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10128" y="3086099"/>
            <a:ext cx="2497455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80735" y="3074669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95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312413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НАШ · суповий рамьон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310128" y="3319271"/>
            <a:ext cx="2760345" cy="14173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43625" y="3307841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105 грн  ·  СС €0,882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545585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Baekje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10128" y="3552443"/>
            <a:ext cx="2786634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69914" y="3541013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106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3778757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10128" y="3785615"/>
            <a:ext cx="2918078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1358" y="3774185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111 грн  ·  74–209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4011929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10128" y="4018787"/>
            <a:ext cx="2944368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4007357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112 грн  ·  34–184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245101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НАШ · стір-фрай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310128" y="4251959"/>
            <a:ext cx="3207257" cy="14173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90538" y="4240529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122 грн  ·  СС €1,018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4478273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Choi’s · факт на полиці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310128" y="4485131"/>
            <a:ext cx="3286124" cy="14173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69404" y="4473701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125 грн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4711445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Yopokki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10128" y="4718303"/>
            <a:ext cx="5362955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46236" y="4706873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204 грн  ·  198–204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5180075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Шкала — грн за одну пачку, з ПДВ. Медіана бренду рахується по всіх його позиціях у зрізі 18 мереж.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" y="5522976"/>
            <a:ext cx="3547872" cy="8778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68096" y="5678424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 КАТЕГОРІЇ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8096" y="58887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105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8096" y="6364224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P25 86 · P75 122 грн.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15968" y="5522976"/>
            <a:ext cx="3547872" cy="8778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17136" y="5678424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НАЙДЕШЕВШИЙ БРЕНД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17136" y="58887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O’Food 77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17136" y="6364224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Daesang, 102–144 г, 2 мережі.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65008" y="5522976"/>
            <a:ext cx="3566160" cy="8778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66176" y="5678424"/>
            <a:ext cx="3200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ПОЛИЦЯ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66176" y="58887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105 і 122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66176" y="636422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суповий і стір-фрай.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РОЗПОДІЛ ЦІН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щільно і де порожньо в кожному сегменті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Один рядок — один сегмент. Кожна крапка — один SKU. Світла смуга — де лежить половина позицій сегмента (P25–P75), ромб — медіана.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008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362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7867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3140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6564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1918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342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696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4120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474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898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08252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1676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240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41833" y="1792223"/>
            <a:ext cx="14630" cy="3511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80468" y="1755647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наш суповий рамьон</a:t>
            </a:r>
          </a:p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105 грн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92359" y="1792223"/>
            <a:ext cx="14630" cy="3511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0994" y="1554479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наш стір-фрай 122 грн</a:t>
            </a:r>
          </a:p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факт Choi’s 125,20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176272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СЕГМЕНТ 1 · СУПОВИЙ РАМЬОН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395727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Варіння 4–5 хв · з бульйоном · вага 102–144 г</a:t>
            </a:r>
          </a:p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P25–P75: 87–119 грн · 86 грн/100 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6769" y="2194560"/>
            <a:ext cx="1030224" cy="530352"/>
          </a:xfrm>
          <a:prstGeom prst="rect">
            <a:avLst/>
          </a:prstGeom>
          <a:solidFill>
            <a:srgbClr val="DC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498001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559171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623560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671851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81313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784532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784532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865018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977699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00235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038869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135452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170866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203061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267450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289986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289986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296425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347936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47936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60814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460617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637686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695636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782562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63048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895242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95242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904901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908120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927437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962851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011142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072312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104507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191432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329868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329868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439329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455427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703324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741958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780591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624087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9680067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9911867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Diamond 76"/>
          <p:cNvSpPr/>
          <p:nvPr/>
        </p:nvSpPr>
        <p:spPr>
          <a:xfrm>
            <a:off x="6612636" y="2670048"/>
            <a:ext cx="182880" cy="182880"/>
          </a:xfrm>
          <a:prstGeom prst="diamond">
            <a:avLst/>
          </a:prstGeom>
          <a:solidFill>
            <a:srgbClr val="303A5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063996" y="2852927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1" spc="-10">
                <a:solidFill>
                  <a:srgbClr val="303A5D"/>
                </a:solidFill>
                <a:latin typeface="Segoe UI"/>
              </a:rPr>
              <a:t>медіана 104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100815" y="2286000"/>
            <a:ext cx="5303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spc="-10">
                <a:solidFill>
                  <a:srgbClr val="3E59A8"/>
                </a:solidFill>
                <a:latin typeface="Segoe UI"/>
              </a:rPr>
              <a:t>46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00815" y="2505456"/>
            <a:ext cx="5303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2962656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СЕГМЕНТ 2 · СТІР-ФРАЙ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318211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Варіння 4–5 хв · воду злити · вага 105–145 г</a:t>
            </a:r>
          </a:p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P25–P75: 86–124 грн · 77 грн/100 г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24575" y="2980944"/>
            <a:ext cx="1223390" cy="530352"/>
          </a:xfrm>
          <a:prstGeom prst="rect">
            <a:avLst/>
          </a:prstGeom>
          <a:solidFill>
            <a:srgbClr val="DC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800629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829604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5897213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922968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058185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058185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058185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058185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170866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170866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170866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0130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521786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615150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660222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798659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962851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168896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265479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336307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664691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102536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360092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360092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8360092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Diamond 108"/>
          <p:cNvSpPr/>
          <p:nvPr/>
        </p:nvSpPr>
        <p:spPr>
          <a:xfrm>
            <a:off x="6483858" y="3456432"/>
            <a:ext cx="182880" cy="182880"/>
          </a:xfrm>
          <a:prstGeom prst="diamond">
            <a:avLst/>
          </a:prstGeom>
          <a:solidFill>
            <a:srgbClr val="303A5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935218" y="3639311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1" spc="-10">
                <a:solidFill>
                  <a:srgbClr val="303A5D"/>
                </a:solidFill>
                <a:latin typeface="Segoe UI"/>
              </a:rPr>
              <a:t>медіана 100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100815" y="3072384"/>
            <a:ext cx="5303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spc="-10">
                <a:solidFill>
                  <a:srgbClr val="3E59A8"/>
                </a:solidFill>
                <a:latin typeface="Segoe UI"/>
              </a:rPr>
              <a:t>25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1100815" y="3291839"/>
            <a:ext cx="5303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66928" y="3749039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СЕГМЕНТ 3 · СТАКАН І БОУЛ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6928" y="396849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Залити окропом 3–4 хв · вага 62–120 г</a:t>
            </a:r>
          </a:p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P25–P75: 93–111 грн · 154 грн/100 г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349936" y="3767327"/>
            <a:ext cx="579500" cy="530352"/>
          </a:xfrm>
          <a:prstGeom prst="rect">
            <a:avLst/>
          </a:prstGeom>
          <a:solidFill>
            <a:srgbClr val="DC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398198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5401417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5745899" y="40325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5955163" y="41468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6428422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6489592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589395" y="40325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6621589" y="41468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621589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679539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6679539" y="40325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6885584" y="41468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885584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885584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6885584" y="40325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922247" y="41468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973758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583483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Diamond 133"/>
          <p:cNvSpPr/>
          <p:nvPr/>
        </p:nvSpPr>
        <p:spPr>
          <a:xfrm>
            <a:off x="6612636" y="4242816"/>
            <a:ext cx="182880" cy="182880"/>
          </a:xfrm>
          <a:prstGeom prst="diamond">
            <a:avLst/>
          </a:prstGeom>
          <a:solidFill>
            <a:srgbClr val="303A5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063996" y="4425696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1" spc="-10">
                <a:solidFill>
                  <a:srgbClr val="303A5D"/>
                </a:solidFill>
                <a:latin typeface="Segoe UI"/>
              </a:rPr>
              <a:t>медіана 104 грн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100815" y="3858768"/>
            <a:ext cx="5303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spc="-10">
                <a:solidFill>
                  <a:srgbClr val="3E59A8"/>
                </a:solidFill>
                <a:latin typeface="Segoe UI"/>
              </a:rP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100815" y="4078224"/>
            <a:ext cx="5303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66928" y="4535424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СЕГМЕНТ 4 · ТОК-ПОКІ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66928" y="47548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Варіння або окріп · вага 80–145 г</a:t>
            </a:r>
          </a:p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P25–P75: 106–204 грн · 136 грн/100 г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768465" y="4553712"/>
            <a:ext cx="3155061" cy="530352"/>
          </a:xfrm>
          <a:prstGeom prst="rect">
            <a:avLst/>
          </a:prstGeom>
          <a:solidFill>
            <a:srgbClr val="DC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6019552" y="45902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6731050" y="47045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6920998" y="48188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67189" y="49331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876453" y="45902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9876453" y="47045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9876453" y="48188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Diamond 147"/>
          <p:cNvSpPr/>
          <p:nvPr/>
        </p:nvSpPr>
        <p:spPr>
          <a:xfrm>
            <a:off x="9638919" y="5029200"/>
            <a:ext cx="182880" cy="182880"/>
          </a:xfrm>
          <a:prstGeom prst="diamond">
            <a:avLst/>
          </a:prstGeom>
          <a:solidFill>
            <a:srgbClr val="303A5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9090279" y="5212080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1" spc="-10">
                <a:solidFill>
                  <a:srgbClr val="303A5D"/>
                </a:solidFill>
                <a:latin typeface="Segoe UI"/>
              </a:rPr>
              <a:t>медіана 198 грн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1100815" y="4645152"/>
            <a:ext cx="5303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spc="-10">
                <a:solidFill>
                  <a:srgbClr val="3E59A8"/>
                </a:solidFill>
                <a:latin typeface="Segoe UI"/>
              </a:rPr>
              <a:t>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100815" y="4864608"/>
            <a:ext cx="5303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66928" y="5559552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Шкала — грн за одну пачку, з ПДВ. Помаранчеві лінії — полиця Choi’s за фінмоделлю з маржею 15 % на різних тарифах і фактична ціна на полиці.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66928" y="5669280"/>
            <a:ext cx="3547872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566928" y="5669280"/>
            <a:ext cx="36576" cy="8412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04672" y="582472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ПАКЕТ: ОДНА Й ТА САМА СМУГА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04672" y="605332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Сегменти 1 і 2 лежать у 86–124 грн. Різні технології, майже однакова ціна за пачку — покупець порівнює їх напряму.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4315968" y="5669280"/>
            <a:ext cx="3547872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315968" y="5669280"/>
            <a:ext cx="36576" cy="84124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553712" y="582472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СТАКАН: ВУЗЬКО І ДОРОГО ЗА ГРАМ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53712" y="605332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93–111 грн за пачку при 62–120 г. Найщільніший сегмент за ціною і найдорожчий за грам (154 грн/100 г).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065008" y="5669280"/>
            <a:ext cx="3566160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8065008" y="5669280"/>
            <a:ext cx="36576" cy="8412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302752" y="582472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МИ ПОТРАПЛЯЄМО В РИНОК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302752" y="6053328"/>
            <a:ext cx="30906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105 грн лягає рівно на медіану сегмента 1, 122 — між медіаною і P75 сегмента 2. Обидві позиції всередині ринку.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ФОРМАТ І ВАГА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насправді щільна полиця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Кожна клітинка — скільки SKU корейського рамену має цей формат у цій ваговій смузі. Насиченість кольору пропорційна кількості.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МАТРИЦЯ ФОРМАТ × ВАГА · 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16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40–90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448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90–110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110–125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125–145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145 г 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185415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Пакет (пачка)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0545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0545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2277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2277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0096" y="2048255"/>
            <a:ext cx="1380744" cy="420624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009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57416" y="2048255"/>
            <a:ext cx="1380744" cy="420624"/>
          </a:xfrm>
          <a:prstGeom prst="rect">
            <a:avLst/>
          </a:prstGeom>
          <a:solidFill>
            <a:srgbClr val="5A7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5741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473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642615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Стакан / боул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05456" y="2505456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0545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2277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277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0096" y="2505456"/>
            <a:ext cx="1380744" cy="420624"/>
          </a:xfrm>
          <a:prstGeom prst="rect">
            <a:avLst/>
          </a:prstGeom>
          <a:solidFill>
            <a:srgbClr val="CF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009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5741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5741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7473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7473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145536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" y="3154679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ВАГОВІ СМУГИ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383280"/>
            <a:ext cx="1737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ВАГОВА СМУГА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40864" y="3383280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62656" y="3383280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03904" y="3383280"/>
            <a:ext cx="1051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19472" y="3383280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89320" y="3383280"/>
            <a:ext cx="5623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ЗА ФОРМАТ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56616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40–90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40864" y="356616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62656" y="356616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19 %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03904" y="3566160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19472" y="356616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3566160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стакани й міні-пачки: дорого за грам, дешево за чек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3776" y="3790188"/>
            <a:ext cx="10936224" cy="25145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3826764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90–110 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40864" y="3826764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62656" y="3826764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03904" y="3826764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106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19472" y="3826764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89320" y="3826764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перехідна смуга, мало SKU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4087368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110–125 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40864" y="40873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62656" y="408736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38 %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03904" y="408736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93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19472" y="4087368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4087368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найщільніша смуга ринку — Shin Ramyun, Ottogi, Paldo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93776" y="4311396"/>
            <a:ext cx="10936224" cy="25145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6928" y="434797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125–145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40864" y="43479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62656" y="434797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28 %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03904" y="4347972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112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19472" y="4347972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4347972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смуга Buldak і Chapaghetti — тут премія бренду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4608576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145 г 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340864" y="4608576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62656" y="4608576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803904" y="4608576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201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19472" y="4608576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89320" y="4608576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ток-покі та нестандарт, інший привід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6928" y="4846320"/>
            <a:ext cx="3547872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66928" y="4846320"/>
            <a:ext cx="36576" cy="11430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4672" y="500176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ВАГА CHOI’S — ПРАВИЛЬНА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4672" y="5230368"/>
            <a:ext cx="307238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112,5–131 г потрапляє точно у дві найщільніші смуги (110–145 г, 66 % SKU). Формат і грамаж заперечень не викликають.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15968" y="4846320"/>
            <a:ext cx="3547872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315968" y="4846320"/>
            <a:ext cx="36576" cy="11430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53712" y="500176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ЦІНА CHOI’S — НІ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53712" y="5230368"/>
            <a:ext cx="307238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У цих самих смугах медіана 93–112 грн і 78–86 грн/100 г. Фінмодель з маржею 15 % дає 105 і 122 грн — обидві цифри всередині цих смуг.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65008" y="4846320"/>
            <a:ext cx="3566160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065008" y="4846320"/>
            <a:ext cx="36576" cy="11430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302752" y="500176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ДЕ Є ВІЛЬНЕ МІСЦЕ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02752" y="5230368"/>
            <a:ext cx="309067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Стакан/боул — лише 6 SKU на всю категорію при ціні за грам у 2 рази вищій (166 проти 87 грн/100 г). Якщо в SIAS є стакан — це єдиний формат, де премія вже прийнята.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НАЙПОПУЛЯРНІШІ ФОРМАТИ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Які поєднання ваги й формату ринок обирає найчастіше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Ліворуч — конкретні поєднання формату і грамажу. Праворуч — куди в цю сітку потрапляють шість SKU Choi’s.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#1 НА РИНКУ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пакет 120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22 SKU у пакеті, медіана 93 грн, 77 грн/100 г.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Nongshim, Ottogi, Paldo — 11 мереж.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#2 · СМУГА СТІР-ФРАЮ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пакет 130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9 SKU, медіана 114 грн, 87 грн/100 г.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Сюди лягає Carbonara 131 г.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6992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НАЙДЕШЕВШИЙ ВХІД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5D4B96"/>
                </a:solidFill>
                <a:latin typeface="Segoe UI"/>
              </a:rPr>
              <a:t>стакан 80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4 SKU, медіана 70 грн.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Samyang Buldak у стакані.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 СУПОВИХ SKU CHOI’S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113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Жодного SKU на ринку в цій вазі.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Найближча щільна клітинка — 120 г.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РІЗНИЦЯ ВАГИ ДО СТАНДАРТУ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113 проти 120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Choi’s на 7 г легший за стандарт.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За однакової ціни це −6 % продукту.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36992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ПОКРИТТЯ СІТКИ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79 з 96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позицій лежать у 16 поєднаннях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із двома і більше SKU.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38912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439826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ТОП ПОЄДНАНЬ ФОРМАТ × ВАГА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4398264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поєднання з двома і більше SKU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626864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4626864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4626864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47872" y="4626864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61104" y="462686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48656" y="462686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72784" y="4626864"/>
            <a:ext cx="3108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ХТО ТРИМАЄ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36608" y="4626864"/>
            <a:ext cx="2194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ЧИ Є ТУТ CHOI’S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809744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94560" y="4809744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71800" y="480974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47872" y="480974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61104" y="480974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93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48656" y="480974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72784" y="4809744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 (9) · Ottogi (6) · Paldo (4)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36608" y="480974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 — наші 112,5–113 г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3776" y="5029200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506577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4560" y="5065776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130 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71800" y="5065776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47872" y="506577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61104" y="506577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114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48656" y="506577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72784" y="5065776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Paldo (3) · Samyang (2) · Nongshim (2)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36608" y="506577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так — Carbonara 131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32180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94560" y="5321808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71800" y="5321808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47872" y="532180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61104" y="532180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48656" y="532180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72784" y="5321808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 (4) · Nongshim (1) · Paldo 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36608" y="5321808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3776" y="5541264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6928" y="55778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94560" y="5577840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971800" y="557784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47872" y="5577840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61104" y="557784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139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48656" y="557784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72784" y="5577840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 (5) · Paldo (1)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436608" y="55778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6928" y="58338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ток-покі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94560" y="5833872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145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71800" y="5833872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547872" y="5833872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61104" y="58338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204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48656" y="58338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72784" y="5833872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Yopokki (4) · Paldo (1)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583387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3776" y="6053328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66928" y="6089904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стакан/боул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94560" y="6089904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67 г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971800" y="608990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547872" y="608990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61104" y="608990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107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48656" y="608990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72784" y="6089904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 (3) · Ottogi (1)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436608" y="608990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66928" y="634593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стакан/боул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94560" y="6345936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80 г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71800" y="6345936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547872" y="634593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261104" y="634593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248656" y="634593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72784" y="6345936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 (3) · Nongshim (1)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63459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93776" y="6565392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66928" y="660196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94560" y="6601968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971800" y="6601968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47872" y="660196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261104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94 грн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248656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272784" y="6601968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Paldo (4)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436608" y="6601968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СУПОВИЙ РАМЬОН · ПАКЕТ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Суповий рамьон 1 з 4 — нижня половина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Найбільший сегмент категорії: 46 SKU у 12 мережах. Відсортовано від найдешевшої позиції.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517552101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Yeul Ramen дуже гостра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68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5211456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Кімчі Рамен локшина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144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68–72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10061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Teumsae Ramen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72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062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4552131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Kimchi Ramen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67–85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Таврія В +1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10521143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Кімчі Рамен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129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52114545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Сівід Рамен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103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52114552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Смак морепродуктів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102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74–84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552467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З сиром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111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83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Зараз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5522265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рамен гостра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84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0031146181018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Кімчі Рамьон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22705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Soon Veggie Ramyun овоч…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112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74–102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43157759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Cham-Pong Ramyun з море…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124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0648436100422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Hwa Ramyun з гострим пе…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87–93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ПІДЛОГА СЕГМЕНТА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Ottogi, O’Food і Paldo тримають 68–93 грн за 102–144 г. Це 55–70 грн/100 г — саме з цими цінами покупець порівнює будь-який новий суповий рамьон.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СУПОВИЙ РАМЬОН · ПАКЕТ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Суповий рамьон 2 з 4 — ядро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Смуга навколо медіани сегмента 104 грн. Тут стоїть Shin Ramyun і основна лінійка Nongshim.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843610068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Kokomen зі смаком курки…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92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4552226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рамен гостра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599990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Середньогостра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67–101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Grono +2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843610058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Зі смаком морепродуктів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64843631077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Spicy Zanmang Loopy з б…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76–113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064843631074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Zanmang Loopy оригіналь…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76–113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85006966714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Otoki · Cheesy Ramen зі смаком…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43157735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AnSungTangMyun з грибам…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74–122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315771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 гостра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85–122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648436100934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З сиром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0074603006684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морепродуктів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69588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зі смаком г…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89–132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7311227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Макаронні вироби Samyan…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115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73115514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Локшина зі смаком курки…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135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108–169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Зараз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ЯКІР КАТЕГОРІЇ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Shin Ramyun і Kimchi Ramyun у 7–10 мережах за 110–120 грн. Це ціна, яку покупець вважає нормальною за корейський рамьон.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СУПОВИЙ РАМЬОН · ПАКЕТ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Суповий рамьон 3 з 4 — верхня половина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Позиції дорожчі за медіану: ширші лінійки Nongshim і Samyang, більші грамажі.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41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 сиром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99–124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4552523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З кунжутом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552255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Jjambbong Ramen з м…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777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 середн…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85–125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Клас · METRO +2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7311331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 сиром гостра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115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104315062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98–129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Клас · METRO +4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03114618101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Kimchi Ramyun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98–124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Космос · Grono +6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73211773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сиру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112–130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315776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125–135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301480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150026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з грибами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128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7036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Tom Yum Том…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123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116–142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7311342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курки дуже го…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86–151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73110502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курки гостра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93–156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Grono +4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ДЕ ЗАКІНЧУЄТЬСЯ СЕГМЕНТ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Вище 150 грн у суповому рамьоні залишаються поодинокі позиції. Полиця Choi’s за фінмоделлю (155–199 грн для супових SKU) починається там, де сегмент уже закінчився.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СУПОВИЙ РАМЬОН · ПАКЕТ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Суповий рамьон 4 з 4 — стеля сегмента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Найдорожчі позиції сегмента. Shin Ramyun Black — преміальна суб-лінійка з іншим складом.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СУПОВИЙ РАМЬОН · ПАКЕТ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33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Гостра з сиром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100–151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Космос · Grono +6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003114601737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Шин Рамен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165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301547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Spicy &amp; Creamy Toomba K…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137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198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06022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Black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202–209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СТЕЛЯ — 209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І це Shin Ramyun Black, преміум-версія бренду №1 з 10-річною історією на ринку. Новий бренд не може стартувати з цієї полиці.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2 · СТІР-ФРАЙ БЕЗ БУЛЬЙОНУ · ПАКЕТ   ·   25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Стір-фрай 1 з 2 — сюди потрапляють Carbonara і Gouda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25 SKU, медіана 100 грн, 77 грн/100 г. Сегмент, у якому Choi’s Carbonara конкурує напряму.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1E9EA6"/>
                </a:solidFill>
                <a:latin typeface="Segoe UI"/>
              </a:rPr>
              <a:t>СЕГМЕНТ 2 · СТІР-ФРАЙ БЕЗ БУЛЬЙОНУ · ПАКЕТ   ·   Варіння 4–5 хв · воду злити   ·   Маса — сухого продукту   ·   привід: Домашня вечеря · тренд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88017311686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311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fire bull · Stir-Fried Ramen Beef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138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3107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Carbonara гостр…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80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843631002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Compaghetti локшина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110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81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955505030284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зі смак…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122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955505030283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Курка б…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122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955505030280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Spicy T…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122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9555050302815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Cheese…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5009209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Stir-Fry Рамен із сиром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517822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Stir-Fry Рамен із сиром…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061674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Stir Fry Шин Рамьойн го…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131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68741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Stir Fry зі…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136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96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0648436100057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Bibim Men в корейському…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72–124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Grono · NOVUS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0074603005922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Chacharoni зі смаком чо…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90–115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ПРЯМИЙ АНАЛОГ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Paldo Volcano Carbonara 130 г за 114 грн і Samyang Buldak Carbonara 130 г за 140 грн — це рівно той самий продукт, що й Choi’s Carbonara 131 г за 125,20 грн.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2 · СТІР-ФРАЙ БЕЗ БУЛЬЙОНУ · ПАКЕТ   ·   25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Стір-фрай 2 з 2 — верх сегмента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Buldak у різних смаках і мультипаки. Тут — верхня межа цін сегмента.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1E9EA6"/>
                </a:solidFill>
                <a:latin typeface="Segoe UI"/>
              </a:rPr>
              <a:t>СЕГМЕНТ 2 · СТІР-ФРАЙ БЕЗ БУЛЬЙОНУ · ПАКЕТ   ·   Варіння 4–5 хв · воду злити   ·   Маса — сухого продукту   ·   привід: Домашня вечеря · тренд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843610135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Stir fried з куркою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86–123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1139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Jjajang зі смако…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31068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Carbonara куряча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105–121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772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Chapaghetti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89–136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Клас · METRO +3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64843610127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Chicken з курко…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84–123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Onde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376034435084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Choi's · Карбон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131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7311338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Рамен з гострою…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145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94–184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4301847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Toomba Spicy&amp;Creamy Sti…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131–154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Grono +4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7311683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78–157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880173116863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157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Восторг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73116849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часник…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78–157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ТАКЕ 184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Максимум сегмента — мультипак Samyang. Одиночна пачка стір-фраю ніде не перетинає 170 грн.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3 · СТАКАН І БОУЛ   ·   18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Стакан і боул — увесь сегмент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18 SKU у 8 мережах. Готується без плити, маса 62–120 г.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5D4B96"/>
                </a:solidFill>
                <a:latin typeface="Segoe UI"/>
              </a:rPr>
              <a:t>СЕГМЕНТ 3 · СТАКАН І БОУЛ   ·   Залити окропом 3–4 хв   ·   Маса — сухого продукту   ·   привід: Офіс і дорога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404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Bulgogi Рамен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1140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Jjanang Рамен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7311402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Кімчі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65–86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517557028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Ramen Гостра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82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0311462706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Шин Рамьон гостра сублі…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68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97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064843610006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Jumbo Noodle Hot &amp; Spic…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120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7321077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Hot Chicken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70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34–149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Grono · Клас +3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0031146017119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Shrimp в стакані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103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003114601709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Tempura Udon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103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0311462706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Шин Рамьон гостра сублі…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68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049566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Red Super Spicy го…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68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29384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Cup Ramyun Shrimp гостра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003114601709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Tempura Udon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43029315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Суп Neoguri з морепроду…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ВІЛЬНА НІША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18 SKU на всю країну при ціні за грам удвічі вищій за пакет. Якщо в SIAS є стакан — це єдиний формат, де премія за грам ринком уже прийнята.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4 · ТОК-ПОКІ ТА РИСОВА ЛОКШИНА   ·   7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Стакан 2 з 2 і ток-покі — суміжні позиції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Залишок сегмента 3 і повністю сегмент 4: рисові галушки та рисова локшина.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303A5D"/>
                </a:solidFill>
                <a:latin typeface="Segoe UI"/>
              </a:rPr>
              <a:t>СЕГМЕНТ 4 · ТОК-ПОКІ ТА РИСОВА ЛОКШИНА   ·   Варіння або окріп   ·   Маса — сухого продукту   ·   привід: Снек і десерт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4302812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Soon Veggie Cup Noodle…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67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2112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Hot Chicken сир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70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137–150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Клас · Таврія В +1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302815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Kimchi Shin Ramyun Cup…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75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100–158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 · METRO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03111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Cup локшина з гриб…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80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7311403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Topokki Рамен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80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65–104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27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Baekje · Рисова зі смаком кімчі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92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64843610105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Rabokki локшина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101–124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905440235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З сиром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198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9054402363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Гострі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905440237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Зі смаком кімчі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905440234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Гостро-солодкі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ЧОМУ ЦЕ НЕ ОРІЄНТИР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Yopokki за 198–204 грн — рисовий снек, а не локшина. Використовувати цю ціну як доказ, що «корейське може коштувати 200 грн», не можна.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СУМІЖНА ПОЛИЦЯ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Не-корейська локшина: підлога, від якої рахує покупець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14 найпоширеніших не-корейських SKU локшини швидкого приготування — по одному на бренд. Вони формують уявлення про «нормальну» ціну в категорії.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3E59A8"/>
                </a:solidFill>
                <a:latin typeface="Segoe UI"/>
              </a:rPr>
              <a:t>СУМІЖНА ПОЛИЦЯ · УКРАЇНА ТА АЗІЯ БЕЗ КОРЕЇ   ·   Варіння або окріп   ·   50–200 г   ·   9–144 грн   ·   18–146 грн/100 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Garnenka зі смаком курки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9–13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ЕКО · Епіцентр +2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311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Daryna зі смаком курки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Епіцентр · Торба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313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Хуторок зі смаком курки гостра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13–16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ЕКО · Ідеал · МегаМаркет +1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482309741337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Щедро Том Ям з морепродуктами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12–18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Reeva зі смаком грибів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15–22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ЕКО +9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27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ChiBi Sweet Chili Crab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85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18–25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ЕКО · Ідеал · NOVUS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229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Acecook Hao Hao зі смаком Кімчі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38–51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5201810202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рамен Yum Yum Tom Yum з креветками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93601068142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Micoem Cung Dinh з куркою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68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50–87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4820172444398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Hokkaido Club Рамен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80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62–90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Епіцентр · МегаМаркет +4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93456362815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Ippin класичний рамен Хаката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73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82–97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58500244579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Макаронні вироби МІВІНА® Street Fo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121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81–108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Ідеал +9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622792" y="3986783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Bich-Chi Vina Pho Ga зі сма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100–108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МегаМаркет · Ultramarket +1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936010681545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Cung Dinh Kool Korean BBQ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105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110–144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Grono +1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ЦЕ ОЗНАЧАЄ ДЛЯ ЦІНИ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Український мас-маркет — 9–22 грн за 50–60 г (18–33 грн/100 г). Корейський рамен коштує у 2,5–3 рази дорожче за грам, і ринок це приймає. Choi’s за фінмоделлю з маржею 15 % — 93–99 грн/100 г, тобто рівень Samyang (93) і дешевше за Nongshim (107).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РИТЕЙЛ-АУДИТ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Хто з мереж узагалі має корейський рамен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Суцільна перевірка онлайн-каталогів 18 мереж, зріз 29.09.2026. SKU — унікальні позиції корейського рамену в каталозі мережі.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2194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627632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ПОКРИТТЯ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62763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627632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627632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6368" y="1627632"/>
            <a:ext cx="4114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БРЕНДИ НА ПОЛИЦІ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81051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18105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181051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81051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81051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65–205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8" y="181051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Paldo · Ottogi · O’Food · Bibigo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" y="202539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06197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Grono (Вінниця)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20619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0619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20619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206197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72–205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206197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Paldo · Yopokki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31343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 (Чернівці)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231343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231343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231343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231343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76–157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16368" y="231343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" y="252831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256489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256489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· C&amp;C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256489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256489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25648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105–204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16368" y="256489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281635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«Зараз»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281635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281635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281635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281635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70–138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16368" y="281635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3776" y="303123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306781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«Клас» (Харків)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34640" y="306781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0560" y="306781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0640" y="306781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0" y="306781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102–157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16368" y="306781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31927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«Восторг» (Харків)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34640" y="331927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80560" y="331927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20640" y="331927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26480" y="331927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102–157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16368" y="331927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3776" y="353415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57073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«Космос» (Одеса)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34640" y="357073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0560" y="357073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20640" y="357073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26480" y="357073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77–143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16368" y="357073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 · Choi’s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82219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«Таврія В»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34640" y="382219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80560" y="382219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20640" y="382219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26480" y="38221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77–143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2219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 · Choi’s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3776" y="403707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407365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34640" y="407365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80560" y="407365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20640" y="407365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26480" y="407365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100–149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16368" y="407365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432511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«ЧудоМаркет»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34640" y="43251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480560" y="432511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20640" y="432511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26480" y="432511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100–149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16368" y="432511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3776" y="453999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66928" y="457657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«Торба»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34640" y="45765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80560" y="45765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20640" y="45765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26480" y="457657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138–139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16368" y="457657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482803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«Сільпо»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34640" y="482803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· №1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480560" y="482803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20640" y="482803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126480" y="482803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90–199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516368" y="482803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(3) · Nongshim (1)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93776" y="504291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66928" y="507949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МегаМаркет · Ultramarket · ЕКО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834640" y="507949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480560" y="507949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20640" y="507949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126480" y="507949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516368" y="507949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6928" y="533095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Епіцентр · «Ідеал»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34640" y="533095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/ регіон.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480560" y="533095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120640" y="533095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126480" y="533095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516368" y="533095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66928" y="5486400"/>
            <a:ext cx="3547872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66928" y="5486400"/>
            <a:ext cx="36576" cy="777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04672" y="564184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ДИРКА №1 · «СІЛЬПО»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4672" y="5870448"/>
            <a:ext cx="307238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Найбільша мережа країни тримає 4 SKU корейського рамену. Полиця відкрита — але вхід там 90–139 грн.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315968" y="5486400"/>
            <a:ext cx="3547872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315968" y="5486400"/>
            <a:ext cx="36576" cy="777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53712" y="564184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ДИРКА №2 · П’ЯТЬ МЕРЕЖ З НУЛЕМ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53712" y="5870448"/>
            <a:ext cx="307238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МегаМаркет, Ultramarket, ЕКО, Епіцентр, «Ідеал» — 0 SKU. Це аргумент для дистрибуції, не для ціни.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065008" y="5486400"/>
            <a:ext cx="3566160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065008" y="5486400"/>
            <a:ext cx="36576" cy="77724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302752" y="564184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ОДИН ПОСТАЧАЛЬНИК НА ДВІ МЕРЕЖІ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02752" y="5870448"/>
            <a:ext cx="309067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«Космос» і «Таврія В» мають ідентичні 12 SKU і той самий діапазон. Саме там стоїть Choi’s.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КОРЕЙСЬКІ БРЕНДИ В МЕРЕЖАХ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Полиця не порожня — вона зайнята і поділена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Скільки позицій кожного бренду стоїть у кожній мережі. Насиченість кольору пропорційна кількості. Зріз 29.09.2026.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9191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Grono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6552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85231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«Зараз»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53912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Космос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22592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Таврія 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1271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9952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«Сільпо»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11511" y="170078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ВСЬОГО У ЗРІЗІ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93976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37943" y="1984248"/>
            <a:ext cx="813815" cy="40233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37943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06623" y="19842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06623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75303" y="1984248"/>
            <a:ext cx="813815" cy="40233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75303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43984" y="1984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43984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12664" y="1984248"/>
            <a:ext cx="813815" cy="402336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12664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81344" y="19842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81344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50024" y="19842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0024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18703" y="19842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3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7384" y="19842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87384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11511" y="210312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72 позиції · 11 мереж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551176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37943" y="2441448"/>
            <a:ext cx="813815" cy="402336"/>
          </a:xfrm>
          <a:prstGeom prst="rect">
            <a:avLst/>
          </a:prstGeom>
          <a:solidFill>
            <a:srgbClr val="1A7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37943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06623" y="2441448"/>
            <a:ext cx="813815" cy="402336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6623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75303" y="2441448"/>
            <a:ext cx="813815" cy="40233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75303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43984" y="2441448"/>
            <a:ext cx="813815" cy="40233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43984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12664" y="24414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12664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81344" y="2441448"/>
            <a:ext cx="813815" cy="40233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81344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050024" y="2441448"/>
            <a:ext cx="813815" cy="40233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0024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918703" y="24414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8703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787384" y="2441448"/>
            <a:ext cx="813815" cy="40233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787384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11511" y="256032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71 позиція · 10 мереж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3008376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37943" y="2898648"/>
            <a:ext cx="813815" cy="40233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837943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06623" y="2898648"/>
            <a:ext cx="813815" cy="402336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6623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575303" y="2898648"/>
            <a:ext cx="813815" cy="40233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75303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443984" y="28986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443984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312664" y="28986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312664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181344" y="28986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81344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50024" y="28986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50024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918703" y="2898648"/>
            <a:ext cx="813815" cy="40233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918703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787384" y="28986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787384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11511" y="301752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26 позицій · 5 мереж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928" y="3465576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37943" y="3355848"/>
            <a:ext cx="813815" cy="402336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837943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06623" y="3355848"/>
            <a:ext cx="813815" cy="40233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706623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575303" y="33558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575303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443984" y="33558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443984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312664" y="33558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312664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181344" y="33558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81344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050024" y="33558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050024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918703" y="33558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918703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787384" y="33558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787384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811511" y="347472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19 позицій · 5 мереж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3922776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O’Food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837943" y="38130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837943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706623" y="38130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706623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575303" y="38130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575303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443984" y="38130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443984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312664" y="38130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312664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181344" y="38130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81344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050024" y="38130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050024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918703" y="38130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918703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787384" y="38130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787384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811511" y="393192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8 позицій · 2 мережі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6928" y="4379976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837943" y="42702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837943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706623" y="4270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706623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575303" y="4270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575303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443984" y="4270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443984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312664" y="4270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312664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181344" y="4270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181344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050024" y="4270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050024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918703" y="4270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918703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787384" y="4270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787384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811511" y="438912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4 позиції · 1 мережа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66928" y="4837176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Choi’s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837943" y="47274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837943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706623" y="47274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2706623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575303" y="47274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575303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4443984" y="47274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443984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312664" y="47274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312664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6181344" y="4727448"/>
            <a:ext cx="813815" cy="40233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181344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050024" y="4727448"/>
            <a:ext cx="813815" cy="40233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050024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918703" y="47274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918703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787384" y="47274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787384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811511" y="484632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2 позиції · 1 постачальник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66928" y="5358384"/>
            <a:ext cx="3547872" cy="10789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566928" y="5358384"/>
            <a:ext cx="36576" cy="1078992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04672" y="551383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ВХІД ПРОБИТИЙ, АЛЕ НЕ ДЛЯ НАС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04672" y="5742432"/>
            <a:ext cx="30723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Samyang і Nongshim дають 143 позиції з 219 і стоять у 10–11 мережах. Імпортер, договір і місце на полиці під них уже є — нова марка заходить проти них, а не в порожнечу.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315968" y="5358384"/>
            <a:ext cx="3547872" cy="10789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315968" y="5358384"/>
            <a:ext cx="36576" cy="10789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553712" y="551383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ДЕ ВІЛЬНО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553712" y="5742432"/>
            <a:ext cx="30723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«Сільпо» — 4 позиції на всю мережу. МегаМаркет, Ultramarket, ЕКО, Епіцентр і «Ідеал» — нуль. Ottogi, O’Food і Bibigo стоять лише у 1–5 мережах.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8065008" y="5358384"/>
            <a:ext cx="3566160" cy="10789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8065008" y="5358384"/>
            <a:ext cx="36576" cy="10789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8302752" y="5513832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CHOI’S УЖЕ МАЄ КАНАЛ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302752" y="5742432"/>
            <a:ext cx="30906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«Космос» і «Таврія В» мають ідентичний набір і однаковий діапазон цін — їх обслуговує один постачальник, і він уже возить Choi’s. Питання до SIAS: хто це.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КАНАЛИ ПРОДАЖУ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продається категорія і кому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Ліворуч — скільки точок у кожному каналі перевірено у зрізі. Праворуч — хто туди приходить і чи це наш покупець.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09344"/>
            <a:ext cx="5120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03A5D"/>
                </a:solidFill>
                <a:latin typeface="Segoe UI"/>
              </a:rPr>
              <a:t>ТОЧОК ПРОДАЖУ В КАНАЛІ · ПЕРЕВІРЕНО У ЗРІЗІ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50008" y="1883664"/>
            <a:ext cx="5486" cy="135331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84248" y="327355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64358" y="1883664"/>
            <a:ext cx="5486" cy="135331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98598" y="327355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78708" y="1883664"/>
            <a:ext cx="5486" cy="135331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2948" y="327355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93058" y="1883664"/>
            <a:ext cx="5486" cy="135331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7298" y="327355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07408" y="1883664"/>
            <a:ext cx="5486" cy="135331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41648" y="327355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052828"/>
            <a:ext cx="16733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Продуктові мережі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50008" y="2029968"/>
            <a:ext cx="1851660" cy="20116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74820" y="2048256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18  ·  13 мають рамен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473452"/>
            <a:ext cx="16733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50008" y="2450592"/>
            <a:ext cx="514350" cy="201168"/>
          </a:xfrm>
          <a:prstGeom prst="rect">
            <a:avLst/>
          </a:prstGeom>
          <a:solidFill>
            <a:srgbClr val="1E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37510" y="24688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894076"/>
            <a:ext cx="16733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50008" y="2871216"/>
            <a:ext cx="411480" cy="201168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4640" y="2889504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749039"/>
            <a:ext cx="5394960" cy="243230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3749039"/>
            <a:ext cx="36576" cy="24323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3904487"/>
            <a:ext cx="49194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КАНАЛ І ПОКУПЕЦЬ — РІЗНІ ОСІ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133087"/>
            <a:ext cx="4919472" cy="1901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Продуктові мережі — єдиний канал з обсягом, але саме там уже стоять Samyang і Nongshim, і саме там бонус 20–30 %.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Маркетплейси й азійські фудшопи бонусу не беруть, і маржа 15 % там тримається повністю. Але обсягу вони не дають: медіана на Prom — 135 грн, у фудшопах 61–158 грн.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На відміну від готового рису, outdoor- і мілітарі-рітейл для рамену не канал: рамен потребує окропу і каструлі, тому в туристичних магазинах його немає.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Практичний вхід — «Сільпо» і п'ять нацмереж із нулем, з цифрами оборотності з маркетплейсів на руках.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1572768"/>
            <a:ext cx="5413248" cy="12070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1572768"/>
            <a:ext cx="36576" cy="12070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1682495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Продуктовий роздріб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222992" y="1682495"/>
            <a:ext cx="1316736" cy="20116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22992" y="1709928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5664" y="1920240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B53A3A"/>
                </a:solidFill>
                <a:latin typeface="Segoe UI"/>
              </a:rPr>
              <a:t>МЕРЕЖІ НАЦІОНАЛЬНОГО ПОКРИТТЯ · 18 ПЕРЕВІРЕНО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55664" y="2084832"/>
            <a:ext cx="49560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303A5D"/>
                </a:solidFill>
                <a:latin typeface="Segoe UI"/>
              </a:rPr>
              <a:t>13 мереж мають корейський рамен, 5 — жодної позиції. «Сільпо» тримає 4 позиції на всю мережу.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2560320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ПОКУПЕЦЬ:  Масовий покупець · щоденне харчування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2907792"/>
            <a:ext cx="5413248" cy="12070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17920" y="2907792"/>
            <a:ext cx="36576" cy="120700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5664" y="301752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222992" y="3017520"/>
            <a:ext cx="1316736" cy="20116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22992" y="3044952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55664" y="3255264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C4820A"/>
                </a:solidFill>
                <a:latin typeface="Segoe UI"/>
              </a:rPr>
              <a:t>УНІВЕРСАЛЬНІ МАЙДАНЧИКИ · 4 МАЙДАНЧИКИ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55664" y="3419856"/>
            <a:ext cx="49560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303A5D"/>
                </a:solidFill>
                <a:latin typeface="Segoe UI"/>
              </a:rPr>
              <a:t>Prom · Rozetka · MAUDAU · Bigl. Медіана в категорії «локшина рамен» на Prom — 135 грн, мінімум 80 грн. Бонусу немає.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3895344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ПОКУПЕЦЬ:  Масовий покупець · планована закупівля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4242816"/>
            <a:ext cx="5413248" cy="12070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17920" y="4242816"/>
            <a:ext cx="36576" cy="12070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55664" y="43525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222992" y="4352544"/>
            <a:ext cx="1316736" cy="20116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222992" y="4379976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FFFFFF"/>
                </a:solidFill>
                <a:latin typeface="Segoe UI"/>
              </a:rPr>
              <a:t>ВХІД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55664" y="4590288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1E9EA6"/>
                </a:solidFill>
                <a:latin typeface="Segoe UI"/>
              </a:rPr>
              <a:t>СПЕЦІАЛІЗОВАНИЙ ФУДРІТЕЙЛ · 5 МАГАЗИНІВ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55664" y="4754879"/>
            <a:ext cx="49560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303A5D"/>
                </a:solidFill>
                <a:latin typeface="Segoe UI"/>
              </a:rPr>
              <a:t>OMG! Asia · Тайякі Март · Суші Повар · Asia Foods · Panda Asian. Корейський рамен 61–158 грн, ядро 92–135 грн.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55664" y="5230368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ПОКУПЕЦЬ:  Покупець азійської кухні · знає категорію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17920" y="5577840"/>
            <a:ext cx="5413248" cy="12070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17920" y="5577840"/>
            <a:ext cx="36576" cy="120700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55664" y="568756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Outdoor- і мілітарі-рітейл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222992" y="5687568"/>
            <a:ext cx="1316736" cy="20116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22992" y="5715000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FFFFFF"/>
                </a:solidFill>
                <a:latin typeface="Segoe UI"/>
              </a:rPr>
              <a:t>НЕ НАШ КАНАЛ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55664" y="5925312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9FA9C4"/>
                </a:solidFill>
                <a:latin typeface="Segoe UI"/>
              </a:rPr>
              <a:t>ТУРИСТИЧНІ ТА ВІЙСЬКОВІ МАГАЗИНИ · 0 ПОЗИЦІЙ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55664" y="6089904"/>
            <a:ext cx="49560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303A5D"/>
                </a:solidFill>
                <a:latin typeface="Segoe UI"/>
              </a:rPr>
              <a:t>Рамену там немає: він потребує окропу й каструлі. Для готового рису це був головний канал — для рамену він нерелевантний.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55664" y="6565392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ПОКУПЕЦЬ:  Турист і військовий · автономне харчування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КРИТИЧНИЙ ФАКТ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Choi’s Ramyeon уже продається в Україні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Знайдено в каталогах під час зрізу 29.09.2026. Це не оцінка — це фактична роздрібна ціна того самого SKU.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45920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" y="1709928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37603443508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1773936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2423160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Choi's рамен карбон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15768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B53A3A"/>
                </a:solidFill>
                <a:latin typeface="Segoe UI"/>
              </a:rPr>
              <a:t>131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862072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081528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40280" y="1645920"/>
            <a:ext cx="2926080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41448" y="1801368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EAN / ПОХОДЖЕННЯ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1448" y="2011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3760344350847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2487168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Префікс 376 — Франція.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Збігається з SIAS France, Roye.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0952" y="1645920"/>
            <a:ext cx="2926080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32120" y="1801368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РОЗДРІБНА ЦІНА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2011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125,20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487168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«Таврія В» і «Космос».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96 грн/100 г.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21624" y="1645920"/>
            <a:ext cx="3209544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22792" y="1801368"/>
            <a:ext cx="2843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ПОЛИЦЯ ПРИ МАРЖІ 15 %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22792" y="2011680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122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22792" y="2487168"/>
            <a:ext cx="28437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СС €1,018 за пачку.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−3 % до фактичної ціни.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52044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352958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ЩО ЦЕ ОЗНАЧАЄ ДЛЯ ПЕРЕГОВОРІВ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758184"/>
            <a:ext cx="3547872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758184"/>
            <a:ext cx="36576" cy="2331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391363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1 · ЦІНА ВЖЕ ВСТАНОВЛЕНА РИНКОМ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" y="4142232"/>
            <a:ext cx="3072384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Не ми визначаємо полицю для Choi’s. Вона вже є: 125,20 грн. За нашою моделлю з маржею 15 % ми виходимо на 122 грн — тобто можемо стати трохи дешевше за той самий товар, що вже стоїть поруч.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Європейський роздріб того самого SKU — €1,80–2,20, тобто 92–113 грн: українська полиця вже на рівні європейської. Європейський роздріб того самого SKU — €1,80–2,20 = 92–113 грн.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15968" y="3758184"/>
            <a:ext cx="3547872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15968" y="3758184"/>
            <a:ext cx="36576" cy="2331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53712" y="391363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2 · ХТО ВЖЕ ЗАВІЗ — ПИТАННЯ ДО SIAS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4142232"/>
            <a:ext cx="3072384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Перед будь-якими обговореннями обсягу треба з’ясувати: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хто діючий імпортер Choi’s в Україні;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які в нього ціна FCA і обсяг;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чи пропонують нам ексклюзив, чи ми будемо другим каналом на той самий бренд;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чому наша ціна закупівлі вища за ту, що дозволяє роздріб 125,20 грн.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65008" y="3758184"/>
            <a:ext cx="3566160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65008" y="3758184"/>
            <a:ext cx="36576" cy="2331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02752" y="3913632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3 · НАЙІМОВІРНІША ГІПОТЕЗА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2752" y="4142232"/>
            <a:ext cx="3090672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Діючий імпортер працює або на нижчій ціні FCA, або без бонусу мережі з маржею 15–20 %, або завозить дрібними партіями як асортиментний додаток.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Перший варіант означає, що €0,88–1,31 — не найкраща ціна SIAS. Це головне, що треба перевірити до розрахунку обсягу.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236208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Джерело: каталоги tavriav.zakaz.ua і cosmos.zakaz.ua, позиція «Локшина Choi’s рамен карбон 131 г», 125,20 грн. Європейська ціна — dotasia.eu.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ми стоїмо: від найдешевшої до найдорожчої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Усі ринкові якорі й обидві наші позиції на одній шкалі. Помаранчеве — ми, темне — медіани сегментів, світле — конкретні позиції конкурентів.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10834" y="1664208"/>
            <a:ext cx="1027937" cy="3891686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10834" y="1517904"/>
            <a:ext cx="1027937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ВІКНО ПАКЕТНОЇ ПОЛИЦІ  86–124 грн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84448" y="1810512"/>
            <a:ext cx="5486" cy="374538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18688" y="559247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6488" y="1810512"/>
            <a:ext cx="5486" cy="374538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00728" y="559247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48528" y="1810512"/>
            <a:ext cx="5486" cy="374538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2768" y="559247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30568" y="1810512"/>
            <a:ext cx="5486" cy="374538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559247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12607" y="1810512"/>
            <a:ext cx="5486" cy="374538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6847" y="559247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94648" y="1810512"/>
            <a:ext cx="5486" cy="374538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28888" y="559247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76688" y="1810512"/>
            <a:ext cx="5486" cy="374538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10928" y="559247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1870862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 Kimchi 120 г · найдешевший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84448" y="1877720"/>
            <a:ext cx="2082927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40527" y="186629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77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073859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O’Food Кімчі 144 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84448" y="2080717"/>
            <a:ext cx="2082927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0527" y="2069287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77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276856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Bibigo стір-фрай 122 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84448" y="2283714"/>
            <a:ext cx="2326386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83986" y="2272284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86 грн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79852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 · медіана бренду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84448" y="2486710"/>
            <a:ext cx="2407539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65139" y="24752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89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2682849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 · медіана бренду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84448" y="2689707"/>
            <a:ext cx="2542794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00394" y="2678277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94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2885846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СЕГМЕНТ 2 · СТІР-ФРАЙ · медіана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84448" y="2892704"/>
            <a:ext cx="2705100" cy="1417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62700" y="2881274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100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088843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СЕГМЕНТ 1 · СУПОВИЙ · медіана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84448" y="3095701"/>
            <a:ext cx="2813304" cy="1417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70904" y="3084271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104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291840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НАШ · суповий рамьон 113 г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84448" y="3298698"/>
            <a:ext cx="2840355" cy="14173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97955" y="328726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105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3494836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 · медіана бренду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84448" y="3501694"/>
            <a:ext cx="3002660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60261" y="3490264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111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697833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медіана бренду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584448" y="3704691"/>
            <a:ext cx="3029712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87312" y="3693261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112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3900830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 Volcano Carbonara 130 г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84448" y="3907688"/>
            <a:ext cx="3083814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741414" y="389625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114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4103827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 Shin Ramyun 120 г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584448" y="4110685"/>
            <a:ext cx="3164966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22567" y="4099255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117 грн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4306824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 Chapaghetti 140 г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584448" y="4313682"/>
            <a:ext cx="3246120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03720" y="4302252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120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4509820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НАШ · стір-фрай 123–131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584448" y="4516678"/>
            <a:ext cx="3300222" cy="14173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957822" y="450524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122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4712817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Choi’s · факт на полиці сьогодні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584448" y="4719675"/>
            <a:ext cx="3381375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38975" y="4708245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125,20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4915814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Buldak Carbonara 130 г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84448" y="4922672"/>
            <a:ext cx="3787140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44740" y="4911242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140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5118811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 Toomba 137 г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584448" y="5125669"/>
            <a:ext cx="4030599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688199" y="5114239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149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6928" y="5321808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 Shin Black 130 г · максимум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584448" y="5328666"/>
            <a:ext cx="5545455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203055" y="5317236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205 грн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928" y="5775350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Шкала — грн за одну пачку, з ПДВ. Медіани сегментів і брендів — по зрізу 18 мереж, 29.09.2026.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66928" y="5961888"/>
            <a:ext cx="3547872" cy="749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66928" y="5961888"/>
            <a:ext cx="36576" cy="7498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04672" y="6117336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МИ У ВІКНІ ПОЛИЦІ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4672" y="6345936"/>
            <a:ext cx="30723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Обидві наші позиції — 105 і 122 грн — лежать у смузі 86–124 грн, де стоїть половина пакетного ринку.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315968" y="5760720"/>
            <a:ext cx="3547872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517136" y="5916168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АЛЕ НЕ В ЙОГО НИЗУ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17136" y="6126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F9A50B"/>
                </a:solidFill>
                <a:latin typeface="Segoe UI"/>
              </a:rPr>
              <a:t>+36 %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17136" y="6601968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наш мінімум 105 грн проти 77 у Ottogi і O’Food.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065008" y="5961888"/>
            <a:ext cx="3566160" cy="749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065008" y="5961888"/>
            <a:ext cx="36576" cy="7498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302752" y="6117336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СТІР-ФРАЙ У ВЕРХНІЙ ТРЕТИНІ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302752" y="6345936"/>
            <a:ext cx="3090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122 грн проти медіани сегмента 100 грн і проти Paldo Volcano Carbonara 114 грн тієї ж ваги.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Шість висновків, які визначають рішення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Що дає зіставлення ринкового зрізу з фінмоделлю SIAS. Полиця = собівартість ÷ 0,60 × 1,40: бонус мережі 25 %, наша маржа 15 %, націнка мережі 1,40.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ПОЛИЦЯ · СУПОВИЙ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105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СС €0,882 = 45,2 грн.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сегмента — 104 грн.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ПОЛИЦЯ · СТІР-ФРАЙ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122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СС €1,018 = 52,1 грн.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Факт Choi’s на полиці — 125,20 грн.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6992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 МЕДІАНИ СЕГМЕНТА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+1 % / +22 %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суповий проти 104 грн,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стір-фрай проти 100 грн.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 МЕДІАНИ ВАГОВОГО ВІКНА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+11 % / +22 %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вікно 110–125 г — 95 грн,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вікно 122–140 г — 100 грн.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ГРАМ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93–99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грн/100 г проти 86 у сегменті 1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 77 у сегменті 2.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36992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ПОТРІБНО ВІД SIAS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€0,837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на стір-фрай замість €1,018,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щоб стати на медіану сегмента.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517136"/>
            <a:ext cx="5413248" cy="17373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517136"/>
            <a:ext cx="36576" cy="17373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РОБИТИ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901184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Заводити суповий рамьон — Spicy, Beef, Chicken. За €0,882 полиця виходить 105 грн, а це медіана категорії.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Carbonara і Gouda торгувати: €1,018 → €0,837. Інакше вони дорожчі за Paldo Volcano Carbonara 130 г (114 грн).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Vegetable тримати поза лінійкою: єдиний овочевий конкурент ринку — Nongshim Soon Veggie 112 г за 88 грн.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Вхід — «Сільпо» і п'ять нацмереж із нулем, а не ті мережі, де вже стоять Samyang і Nongshim.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4517136"/>
            <a:ext cx="5413248" cy="17373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517136"/>
            <a:ext cx="36576" cy="17373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НА ЧОМУ ТРИМАЄТЬСЯ ВИСНОВОК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901184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Полиця рахується як СС ÷ 0,60 × 1,40 за умовами фінмоделі SIAS, курс 51,20 грн/€.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Ринкові ціни — роздріб за одну пачку в каталогах 18 мереж, зріз 29.09.2026, 96 позицій.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Маржа 15 % рахується від ціни партнеру, а не як націнка на собівартість: це 25 % націнки на СС.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Це валова маржа: внутрішня логістика, лістинги, промо і курсовий ризик у ній не враховані.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ФІНМОДЕЛЬ ПРОТИ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Скільки коштує кожен наш SKU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Полиця = собівартість ÷ 0,60 × 1,40 за умовами фінмоделі SIAS, курс 51,20 грн/€. Вертикальні лінії — ринкові цілі.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2267712"/>
            <a:ext cx="5486" cy="228600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0088" y="459028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96968" y="2267712"/>
            <a:ext cx="5486" cy="228600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1208" y="459028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8088" y="2267712"/>
            <a:ext cx="5486" cy="228600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72328" y="459028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79208" y="2267712"/>
            <a:ext cx="5486" cy="228600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13448" y="459028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20327" y="2267712"/>
            <a:ext cx="5486" cy="228600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4567" y="459028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04075" y="2103120"/>
            <a:ext cx="9144" cy="2432304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9967" y="2029968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717890"/>
                </a:solidFill>
                <a:latin typeface="Segoe UI"/>
              </a:rPr>
              <a:t>медіана стір-фраю 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38188" y="2103120"/>
            <a:ext cx="9144" cy="2432304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74080" y="1865376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717890"/>
                </a:solidFill>
                <a:latin typeface="Segoe UI"/>
              </a:rPr>
              <a:t>медіана супового 104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3468" y="2103120"/>
            <a:ext cx="9144" cy="2432304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1700784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717890"/>
                </a:solidFill>
                <a:latin typeface="Segoe UI"/>
              </a:rPr>
              <a:t>Paldo Carbonara 114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2276" y="2103120"/>
            <a:ext cx="9144" cy="2432304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8168" y="153619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717890"/>
                </a:solidFill>
                <a:latin typeface="Segoe UI"/>
              </a:rPr>
              <a:t>факт Choi’s 125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409444"/>
            <a:ext cx="26791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Spicy Flavor 112,5 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55848" y="2382012"/>
            <a:ext cx="3520439" cy="21031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2404872"/>
            <a:ext cx="2240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105 грн  ·  СС €0,882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2775204"/>
            <a:ext cx="26791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Beef Flavor 113 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55848" y="2747772"/>
            <a:ext cx="3520439" cy="21031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0" y="2770632"/>
            <a:ext cx="2240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105 грн  ·  СС €0,882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140964"/>
            <a:ext cx="26791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Chicken Flavor 113 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55848" y="3113532"/>
            <a:ext cx="3520439" cy="21031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3136392"/>
            <a:ext cx="2240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105 грн  ·  СС €0,882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506724"/>
            <a:ext cx="26791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Vegetable Flavor 113 г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55848" y="3479291"/>
            <a:ext cx="3520439" cy="21031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0" y="3502152"/>
            <a:ext cx="2240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105 грн  ·  СС €0,882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872484"/>
            <a:ext cx="26791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Carbonara Spicy 131 г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55848" y="3845052"/>
            <a:ext cx="4090416" cy="21031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9416" y="3867912"/>
            <a:ext cx="2240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122 грн  ·  СС €1,018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4238244"/>
            <a:ext cx="26791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Gouda Cheese 123 г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55848" y="4210812"/>
            <a:ext cx="4090416" cy="21031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19416" y="4233672"/>
            <a:ext cx="2240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122 грн  ·  СС €1,018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773168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Сіра смуга — Vegetable Flavor: позиція порахована, але до заведення не рекомендована.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4992624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5001768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ЯКА СОБІВАРТІСТЬ ПОТРІБНА ПІД ЦІЛЬОВУ ПОЛИЦЮ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001768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при маржі 15 % і бонусі мережі 25 %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5285231"/>
            <a:ext cx="2048256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520" y="5394959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95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5687568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вагового вікна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€0,795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615184" y="5541264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98064" y="5285231"/>
            <a:ext cx="2048256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62656" y="5394959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100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62656" y="5687568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стір-фраю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€0,837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5541264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0" y="5285231"/>
            <a:ext cx="2048256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93792" y="5394959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104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93792" y="5687568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супового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€0,871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77456" y="5541264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60336" y="5285231"/>
            <a:ext cx="2048256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24928" y="5394959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114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24928" y="5687568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паритет з Paldo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€0,954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08592" y="5541264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491472" y="5285231"/>
            <a:ext cx="2048256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56064" y="5394959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125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56064" y="5687568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факт Choi’s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€1,048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6144768"/>
            <a:ext cx="11064240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66928" y="6144768"/>
            <a:ext cx="36576" cy="67665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4672" y="6300216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ДВА ВИСНОВКИ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" y="65288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1. Суповій четвірці ціна вже підходить: під медіану категорії потрібна СС €0,879, SIAS дає €0,882 — розбіжність 0,3 %.  2. Carbonara і Gouda стоять на 122 грн, а прямий аналог Paldo Volcano Carbonara тієї ж ваги — 114 грн. Потрібна СС €0,954.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РЕКОМЕНДАЦІЯ · SKU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заводити: суповий рамьон як основа лінійки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Три групи, оцінені за конкурентною позицією у своєму ваговому вікні, а не за собівартістю.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3547872" cy="3950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39502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1E9EA6"/>
                </a:solidFill>
                <a:latin typeface="Segoe UI"/>
              </a:rPr>
              <a:t>РЕКОМЕНДУЄМО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38528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Spicy · Beef · Chicken</a:t>
            </a:r>
          </a:p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112,5–113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468880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1E9EA6"/>
                </a:solidFill>
                <a:latin typeface="Segoe UI"/>
              </a:rPr>
              <a:t>105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79806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0" spc="-10">
                <a:solidFill>
                  <a:srgbClr val="717890"/>
                </a:solidFill>
                <a:latin typeface="Segoe UI"/>
              </a:rPr>
              <a:t>полиця за фінмоделлю · 93 грн/100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99923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154679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Ottogi Jin 120 г — 84–93 грн · Nongshim Shin 120 г — 110–117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557015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712463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на медіані сегмента 104 грн і на 10 % дешевше за Nongshim Shin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114800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70248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«Сільпо» з 4 позиціями і п'ять нацмереж із нулем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67258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РИЗИК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828032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113 г проти стандартних 120 г: за ту саму ціну на 6 % менше продукту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15968" y="1591056"/>
            <a:ext cx="3547872" cy="3950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15968" y="1591056"/>
            <a:ext cx="36576" cy="39502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5371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F9A50B"/>
                </a:solidFill>
                <a:latin typeface="Segoe UI"/>
              </a:rPr>
              <a:t>ДРУГИЙ ПРІОРИТЕТ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1938528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Carbonara Spicy 131 г</a:t>
            </a:r>
          </a:p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Gouda Cheese 123 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2468880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F9A50B"/>
                </a:solidFill>
                <a:latin typeface="Segoe UI"/>
              </a:rPr>
              <a:t>122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279806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0" spc="-10">
                <a:solidFill>
                  <a:srgbClr val="717890"/>
                </a:solidFill>
                <a:latin typeface="Segoe UI"/>
              </a:rPr>
              <a:t>полиця за фінмоделлю · 93–99 грн/100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299923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3154679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Paldo Volcano Carbonara 130 г — 114 грн · Nongshim Chapaghetti 140 г — 120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3557015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ПОЗИЦІЯ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3712463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+22 % до медіани сегмента 100 грн, але −3 % до власного факту 125,20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4114800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4270248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той самий постачальник, що вже возить Choi’s у «Космос» і «Таврію В»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67258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УМОВА ВХОДУ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4828032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СС €0,837 замість €1,018 — інакше дорожче за Paldo тієї ж ваги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65008" y="1591056"/>
            <a:ext cx="3547872" cy="3950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65008" y="1591056"/>
            <a:ext cx="36576" cy="39502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275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B53A3A"/>
                </a:solidFill>
                <a:latin typeface="Segoe UI"/>
              </a:rPr>
              <a:t>НЕ ЗАВОДИТИ ЗАРАЗ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2752" y="1938528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Vegetable Flavor 113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2752" y="2468880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B53A3A"/>
                </a:solidFill>
                <a:latin typeface="Segoe UI"/>
              </a:rPr>
              <a:t>105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2752" y="279806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0" spc="-10">
                <a:solidFill>
                  <a:srgbClr val="717890"/>
                </a:solidFill>
                <a:latin typeface="Segoe UI"/>
              </a:rPr>
              <a:t>полиця за фінмоделлю · 93 грн/100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02752" y="299923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02752" y="3154679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Nongshim Soon Veggie 112 г — 88 грн, єдина овочева позиція ринку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02752" y="3557015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ПРОБЛЕМА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2752" y="3712463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овочевий смак — найвужчий попит: 1 позиція з 96 у всьому зрізі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02752" y="4114800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752" y="4270248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не ціна, а оборотність: SKU займе фейс і не дасть ротації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02752" y="467258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УМОВА ВХОДУ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02752" y="4828032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тільки якщо мережа вимагає повну лінійку смаків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" y="5687568"/>
            <a:ext cx="11064240" cy="80467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6928" y="5687568"/>
            <a:ext cx="36576" cy="8046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4672" y="5843016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ЧОМУ САМЕ ТАКИЙ ПОРЯДОК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" y="6071616"/>
            <a:ext cx="10588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Суповій трійці ціна вже підходить: €0,882 проти потрібних €0,879 під медіану категорії. Стір-фрай-пара вимагає торгу, але має готовий канал і власний ціновий орієнтир 125,20 грн. Овочевий SKU не має ні того, ні іншого — його вхід не про ціну, а про вимогу мережі.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РЕКОМЕНДАЦІЯ · ЦІНА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Цільова полиця і що для неї потрібно від постачальника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Три цінові сценарії. Рекомендований — середній: він зберігає маржу 15 % за поточної собівартості.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3547872" cy="20116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201168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B53A3A"/>
                </a:solidFill>
                <a:latin typeface="Segoe UI"/>
              </a:rPr>
              <a:t>АГРЕСИВНИЙ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20240"/>
            <a:ext cx="3072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Зайти ціною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19456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 spc="-10">
                <a:solidFill>
                  <a:srgbClr val="717890"/>
                </a:solidFill>
                <a:latin typeface="Segoe UI"/>
              </a:rPr>
              <a:t>СУПОВИЙ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3225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-10">
                <a:solidFill>
                  <a:srgbClr val="B53A3A"/>
                </a:solidFill>
                <a:latin typeface="Segoe UI"/>
              </a:rPr>
              <a:t>95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04288" y="219456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 spc="-10">
                <a:solidFill>
                  <a:srgbClr val="717890"/>
                </a:solidFill>
                <a:latin typeface="Segoe UI"/>
              </a:rPr>
              <a:t>СТІР-ФРАЙ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04288" y="23225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-10">
                <a:solidFill>
                  <a:srgbClr val="B53A3A"/>
                </a:solidFill>
                <a:latin typeface="Segoe UI"/>
              </a:rPr>
              <a:t>100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2688336"/>
            <a:ext cx="3072384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Маржа падає до 8,4 % на суповому і 2,0 % на стір-фраї за поточної СС.</a:t>
            </a:r>
          </a:p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Щоб утримати 15 %, потрібна СС €0,795 і €0,837.</a:t>
            </a:r>
          </a:p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Бере полицю, але не залишає запасу на промо і курс.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5968" y="1591056"/>
            <a:ext cx="3547872" cy="20116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15968" y="1591056"/>
            <a:ext cx="36576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1E9EA6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1920240"/>
            <a:ext cx="3072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Паритет із ринком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219456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 spc="-10">
                <a:solidFill>
                  <a:srgbClr val="717890"/>
                </a:solidFill>
                <a:latin typeface="Segoe UI"/>
              </a:rPr>
              <a:t>СУПОВИЙ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23225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-10">
                <a:solidFill>
                  <a:srgbClr val="1E9EA6"/>
                </a:solidFill>
                <a:latin typeface="Segoe UI"/>
              </a:rPr>
              <a:t>105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53327" y="219456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 spc="-10">
                <a:solidFill>
                  <a:srgbClr val="717890"/>
                </a:solidFill>
                <a:latin typeface="Segoe UI"/>
              </a:rPr>
              <a:t>СТІР-ФРАЙ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53327" y="23225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-10">
                <a:solidFill>
                  <a:srgbClr val="1E9EA6"/>
                </a:solidFill>
                <a:latin typeface="Segoe UI"/>
              </a:rPr>
              <a:t>122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2688336"/>
            <a:ext cx="3072384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Маржа рівно 15 % за поточної собівартості €0,882 і €1,018.</a:t>
            </a:r>
          </a:p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Суповий — на медіані сегмента, стір-фрай — дешевше за власний факт 125,20 грн.</a:t>
            </a:r>
          </a:p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Запас на промо є.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65008" y="1591056"/>
            <a:ext cx="3547872" cy="20116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65008" y="1591056"/>
            <a:ext cx="36576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275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F9A50B"/>
                </a:solidFill>
                <a:latin typeface="Segoe UI"/>
              </a:rPr>
              <a:t>КОМФОРТНИЙ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2752" y="1920240"/>
            <a:ext cx="3072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Премія бренду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2752" y="219456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 spc="-10">
                <a:solidFill>
                  <a:srgbClr val="717890"/>
                </a:solidFill>
                <a:latin typeface="Segoe UI"/>
              </a:rPr>
              <a:t>СУПОВИЙ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2" y="23225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-10">
                <a:solidFill>
                  <a:srgbClr val="F9A50B"/>
                </a:solidFill>
                <a:latin typeface="Segoe UI"/>
              </a:rPr>
              <a:t>115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2368" y="219456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 spc="-10">
                <a:solidFill>
                  <a:srgbClr val="717890"/>
                </a:solidFill>
                <a:latin typeface="Segoe UI"/>
              </a:rPr>
              <a:t>СТІР-ФРАЙ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2368" y="23225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-10">
                <a:solidFill>
                  <a:srgbClr val="F9A50B"/>
                </a:solidFill>
                <a:latin typeface="Segoe UI"/>
              </a:rPr>
              <a:t>135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2688336"/>
            <a:ext cx="3072384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Маржа 20,0 % і 20,9 % за тієї самої СС.</a:t>
            </a:r>
          </a:p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Суповий — на рівні Nongshim Shin (117 грн), стір-фрай — вище за Chapaghetti (120 грн).</a:t>
            </a:r>
          </a:p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Працює лише з підтримкою мережі й промо.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3822191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3831335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АРХІТЕКТУРА ЦІН ПО ВСІЙ ЛІНІЙЦІ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831335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полиця з ПДВ, грн за пачку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059935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23744" y="4059935"/>
            <a:ext cx="187451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РОЛЬ У ЛІНІЙЦІ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4840" y="4059935"/>
            <a:ext cx="1600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 ЗА МОДЕЛЛЮ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71616" y="4059935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71231" y="4059935"/>
            <a:ext cx="1417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ПОТРІБНА СС, 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25128" y="4059935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МАЄМО, 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04120" y="4059935"/>
            <a:ext cx="1527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ОРІЄНТИР НА ПОЛИЦІ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4242816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Spicy Flavor 112,5 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23744" y="4242816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Герой лінійки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4242816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71616" y="424281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71231" y="424281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25128" y="424281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04120" y="4242816"/>
            <a:ext cx="15270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Ottogi Jin 84–93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3776" y="4480559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4517136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Beef Flavor 113 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23744" y="4517136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Об'єм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34840" y="4517136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71616" y="451713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71231" y="451713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25128" y="45171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04120" y="4517136"/>
            <a:ext cx="15270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 Shin 117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4791455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Chicken Flavor 113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23744" y="4791455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Об'єм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34840" y="4791455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71616" y="4791455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71231" y="4791455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25128" y="479145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04120" y="4791455"/>
            <a:ext cx="15270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Ottogi Kimchi 77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93776" y="5029199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5065775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Carbonara Spicy 131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23744" y="5065775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Герой стір-фраю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34840" y="5065775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71616" y="5065775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71231" y="5065775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0,954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25128" y="506577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1,018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04120" y="5065775"/>
            <a:ext cx="15270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Paldo Carbonara 114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6928" y="5340095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Gouda Cheese 123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23744" y="5340095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Ніша · сир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34840" y="5340095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71616" y="5340095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71231" y="5340095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1,018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25128" y="534009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1,018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104120" y="5340095"/>
            <a:ext cx="15270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Bibigo Cheese 86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93776" y="5577839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66928" y="5614415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Vegetable Flavor 113 г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523744" y="5614415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Поза лінійкою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34840" y="5614415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71616" y="5614415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571231" y="5614415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025128" y="561441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104120" y="5614415"/>
            <a:ext cx="15270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Soon Veggie 88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66928" y="5870448"/>
            <a:ext cx="11064240" cy="7680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66928" y="5870448"/>
            <a:ext cx="36576" cy="7680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04672" y="6025896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ПРОСИТИ В SIAS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4672" y="6254496"/>
            <a:ext cx="105887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Одне питання: собівартість Carbonara і Gouda. €1,018 дає полицю 122 грн, а прямий аналог Paldo Volcano Carbonara тієї ж ваги коштує 114 грн. Щоб стати поруч, потрібна СС €0,954; щоб стати на медіану сегмента — €0,837. По суповій четвірці ціна вже ринкова.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РЕКОМЕНДАЦІЯ · ПОСТАЧАЛЬНИК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дає SIAS France і на що тиснути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Профіль постачальника за наданою презентацією SIAS і розрахунковим аркушем Self-Cost. Праворуч — альтернатива, з якою його треба порівняти.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5413248" cy="3950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39502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1E9EA6"/>
                </a:solidFill>
                <a:latin typeface="Segoe UI"/>
              </a:rPr>
              <a:t>ОСНОВНИЙ ПОСТАЧАЛЬНИК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20240"/>
            <a:ext cx="49560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303A5D"/>
                </a:solidFill>
                <a:latin typeface="Segoe UI"/>
              </a:rPr>
              <a:t>SIAS FRANCE · ROYE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267712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Франція · Hauts-de-France · європейська площадка корейської групи SIAS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487168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ЛІНІЙКА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633472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Choi’s Ramyeon — 6 SKU, 112,5–131 г, пакет. Оригінальні корейські рецептури.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2962656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ПЛОЩАДКА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108960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16 000 м², група працює з 1997 року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438144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3584448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IFS · BRC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913632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УМОВИ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059936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FCA Roye · 0 % ввізного мита за сертифікатом EUR.1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389120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СОБІВАРТІСТЬ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535424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€0,882 на суповій четвірці і €1,018 на парі Gouda / Carbonara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864608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5010912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нульове мито і коротке плече з ЄС проти корейського імпорту за MFN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40096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ЩО НЕ РОЗКРИТО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5486400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структура Self-Cost, ексклюзив на Україну, діючий імпортер, терміни придатності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1591056"/>
            <a:ext cx="5413248" cy="3950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1591056"/>
            <a:ext cx="36576" cy="395020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5664" y="1737360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717890"/>
                </a:solidFill>
                <a:latin typeface="Segoe UI"/>
              </a:rPr>
              <a:t>АЛЬТЕРНАТИВА, З ЯКОЮ ТРЕБА ПОРІВНЯТИ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5664" y="1920240"/>
            <a:ext cx="49560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303A5D"/>
                </a:solidFill>
                <a:latin typeface="Segoe UI"/>
              </a:rPr>
              <a:t>ПРЯМИЙ ІМПОРТ З КОРЕЇ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2267712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Samyang · Nongshim · Ottogi · Paldo — ті, хто вже тримає полицю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2487168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ЧОМУ ЦЕ РЕЛЕВАНТНО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5664" y="2633472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Корея у 2025 відвантажила в Україну 253,8 т за $4,88/кг. SIAS просить $8,9–13,2/кг.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5664" y="2999232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ЩО ДАЄ КОРЕЯ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3145536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впізнаваний бренд, готовий попит, лістинг у 12 мережах із 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3511296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ЩО ДАЄ SIAS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5664" y="3657600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0 % мита, коротке плече, власний бренд без внутрішньої конкуренції за фейс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55664" y="4023360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ЧОГО БРАКУЄ ДЛЯ ПОРІВНЯННЯ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169664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котирування корейських заводів на порівнянний обсяг — у цьому дослідженні його немає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5664" y="4535424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ВИСНОВОК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55664" y="4681728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перевага SIAS — логістика й мито, а не ціна продукту. Перед контрактом варто запросити котирування хоча б в одного корейського заводу.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5705856"/>
            <a:ext cx="11064240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6928" y="5705856"/>
            <a:ext cx="36576" cy="78638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4672" y="5861304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НА ЩО ТИСНУТИ В ПЕРЕГОВОРАХ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" y="6089904"/>
            <a:ext cx="105887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1. Розкрити структуру Self-Cost: FCA, фрахт і оформлення окремо — без цього полиця порахована на припущенні.</a:t>
            </a:r>
          </a:p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2. Carbonara і Gouda: €1,018 → €0,954 під паритет із Paldo або €0,837 під медіану сегмента.</a:t>
            </a:r>
          </a:p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3. Ексклюзив на Україну або письмове пояснення, хто вже возить Choi’s у «Космос» і «Таврію В» і на яких умовах.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