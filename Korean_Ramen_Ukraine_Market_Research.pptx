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jpg"/><Relationship Id="rId11" Type="http://schemas.openxmlformats.org/officeDocument/2006/relationships/image" Target="../media/image10.jpg"/><Relationship Id="rId12" Type="http://schemas.openxmlformats.org/officeDocument/2006/relationships/image" Target="../media/image11.jpg"/><Relationship Id="rId13" Type="http://schemas.openxmlformats.org/officeDocument/2006/relationships/image" Target="../media/image12.jpg"/><Relationship Id="rId14" Type="http://schemas.openxmlformats.org/officeDocument/2006/relationships/image" Target="../media/image13.jpg"/><Relationship Id="rId15" Type="http://schemas.openxmlformats.org/officeDocument/2006/relationships/image" Target="../media/image14.jpg"/><Relationship Id="rId16" Type="http://schemas.openxmlformats.org/officeDocument/2006/relationships/image" Target="../media/image1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jpg"/><Relationship Id="rId4" Type="http://schemas.openxmlformats.org/officeDocument/2006/relationships/image" Target="../media/image17.jpg"/><Relationship Id="rId5" Type="http://schemas.openxmlformats.org/officeDocument/2006/relationships/image" Target="../media/image18.jpg"/><Relationship Id="rId6" Type="http://schemas.openxmlformats.org/officeDocument/2006/relationships/image" Target="../media/image14.jpg"/><Relationship Id="rId7" Type="http://schemas.openxmlformats.org/officeDocument/2006/relationships/image" Target="../media/image19.jpg"/><Relationship Id="rId8" Type="http://schemas.openxmlformats.org/officeDocument/2006/relationships/image" Target="../media/image20.jpg"/><Relationship Id="rId9" Type="http://schemas.openxmlformats.org/officeDocument/2006/relationships/image" Target="../media/image5.jpg"/><Relationship Id="rId10" Type="http://schemas.openxmlformats.org/officeDocument/2006/relationships/image" Target="../media/image2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Relationship Id="rId6" Type="http://schemas.openxmlformats.org/officeDocument/2006/relationships/image" Target="../media/image25.jpg"/><Relationship Id="rId7" Type="http://schemas.openxmlformats.org/officeDocument/2006/relationships/image" Target="../media/image26.jpg"/><Relationship Id="rId8" Type="http://schemas.openxmlformats.org/officeDocument/2006/relationships/image" Target="../media/image27.jpg"/><Relationship Id="rId9" Type="http://schemas.openxmlformats.org/officeDocument/2006/relationships/image" Target="../media/image28.jpg"/><Relationship Id="rId10" Type="http://schemas.openxmlformats.org/officeDocument/2006/relationships/image" Target="../media/image29.jpg"/><Relationship Id="rId11" Type="http://schemas.openxmlformats.org/officeDocument/2006/relationships/image" Target="../media/image30.jpg"/><Relationship Id="rId12" Type="http://schemas.openxmlformats.org/officeDocument/2006/relationships/image" Target="../media/image31.jpg"/><Relationship Id="rId13" Type="http://schemas.openxmlformats.org/officeDocument/2006/relationships/image" Target="../media/image32.jpg"/><Relationship Id="rId14" Type="http://schemas.openxmlformats.org/officeDocument/2006/relationships/image" Target="../media/image33.jpg"/><Relationship Id="rId15" Type="http://schemas.openxmlformats.org/officeDocument/2006/relationships/image" Target="../media/image3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.jpg"/><Relationship Id="rId4" Type="http://schemas.openxmlformats.org/officeDocument/2006/relationships/image" Target="../media/image31.jpg"/><Relationship Id="rId5" Type="http://schemas.openxmlformats.org/officeDocument/2006/relationships/image" Target="../media/image36.jpg"/><Relationship Id="rId6" Type="http://schemas.openxmlformats.org/officeDocument/2006/relationships/image" Target="../media/image37.jpg"/><Relationship Id="rId7" Type="http://schemas.openxmlformats.org/officeDocument/2006/relationships/image" Target="../media/image38.jpg"/><Relationship Id="rId8" Type="http://schemas.openxmlformats.org/officeDocument/2006/relationships/image" Target="../media/image22.jpg"/><Relationship Id="rId9" Type="http://schemas.openxmlformats.org/officeDocument/2006/relationships/image" Target="../media/image23.jpg"/><Relationship Id="rId10" Type="http://schemas.openxmlformats.org/officeDocument/2006/relationships/image" Target="../media/image39.jpg"/><Relationship Id="rId11" Type="http://schemas.openxmlformats.org/officeDocument/2006/relationships/image" Target="../media/image40.jpg"/><Relationship Id="rId12" Type="http://schemas.openxmlformats.org/officeDocument/2006/relationships/image" Target="../media/image41.jpg"/><Relationship Id="rId13" Type="http://schemas.openxmlformats.org/officeDocument/2006/relationships/image" Target="../media/image42.jpg"/><Relationship Id="rId14" Type="http://schemas.openxmlformats.org/officeDocument/2006/relationships/image" Target="../media/image43.jpg"/><Relationship Id="rId15" Type="http://schemas.openxmlformats.org/officeDocument/2006/relationships/image" Target="../media/image44.jpg"/><Relationship Id="rId16" Type="http://schemas.openxmlformats.org/officeDocument/2006/relationships/image" Target="../media/image4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6.jpg"/><Relationship Id="rId4" Type="http://schemas.openxmlformats.org/officeDocument/2006/relationships/image" Target="../media/image47.jpg"/><Relationship Id="rId5" Type="http://schemas.openxmlformats.org/officeDocument/2006/relationships/image" Target="../media/image48.jpg"/><Relationship Id="rId6" Type="http://schemas.openxmlformats.org/officeDocument/2006/relationships/image" Target="../media/image4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0.jpg"/><Relationship Id="rId4" Type="http://schemas.openxmlformats.org/officeDocument/2006/relationships/image" Target="../media/image51.jpg"/><Relationship Id="rId5" Type="http://schemas.openxmlformats.org/officeDocument/2006/relationships/image" Target="../media/image52.jpg"/><Relationship Id="rId6" Type="http://schemas.openxmlformats.org/officeDocument/2006/relationships/image" Target="../media/image53.jpg"/><Relationship Id="rId7" Type="http://schemas.openxmlformats.org/officeDocument/2006/relationships/image" Target="../media/image54.jpg"/><Relationship Id="rId8" Type="http://schemas.openxmlformats.org/officeDocument/2006/relationships/image" Target="../media/image55.jpg"/><Relationship Id="rId9" Type="http://schemas.openxmlformats.org/officeDocument/2006/relationships/image" Target="../media/image56.jpg"/><Relationship Id="rId10" Type="http://schemas.openxmlformats.org/officeDocument/2006/relationships/image" Target="../media/image57.jpg"/><Relationship Id="rId11" Type="http://schemas.openxmlformats.org/officeDocument/2006/relationships/image" Target="../media/image58.jpg"/><Relationship Id="rId12" Type="http://schemas.openxmlformats.org/officeDocument/2006/relationships/image" Target="../media/image59.jpg"/><Relationship Id="rId13" Type="http://schemas.openxmlformats.org/officeDocument/2006/relationships/image" Target="../media/image60.jpg"/><Relationship Id="rId14" Type="http://schemas.openxmlformats.org/officeDocument/2006/relationships/image" Target="../media/image61.jpg"/><Relationship Id="rId15" Type="http://schemas.openxmlformats.org/officeDocument/2006/relationships/image" Target="../media/image62.jpg"/><Relationship Id="rId16" Type="http://schemas.openxmlformats.org/officeDocument/2006/relationships/image" Target="../media/image6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4.jpg"/><Relationship Id="rId4" Type="http://schemas.openxmlformats.org/officeDocument/2006/relationships/image" Target="../media/image65.jpg"/><Relationship Id="rId5" Type="http://schemas.openxmlformats.org/officeDocument/2006/relationships/image" Target="../media/image66.jpg"/><Relationship Id="rId6" Type="http://schemas.openxmlformats.org/officeDocument/2006/relationships/image" Target="../media/image67.jpg"/><Relationship Id="rId7" Type="http://schemas.openxmlformats.org/officeDocument/2006/relationships/image" Target="../media/image68.jpg"/><Relationship Id="rId8" Type="http://schemas.openxmlformats.org/officeDocument/2006/relationships/image" Target="../media/image69.jpg"/><Relationship Id="rId9" Type="http://schemas.openxmlformats.org/officeDocument/2006/relationships/image" Target="../media/image70.jpg"/><Relationship Id="rId10" Type="http://schemas.openxmlformats.org/officeDocument/2006/relationships/image" Target="../media/image71.jpg"/><Relationship Id="rId11" Type="http://schemas.openxmlformats.org/officeDocument/2006/relationships/image" Target="../media/image72.jpg"/><Relationship Id="rId12" Type="http://schemas.openxmlformats.org/officeDocument/2006/relationships/image" Target="../media/image73.jpg"/><Relationship Id="rId13" Type="http://schemas.openxmlformats.org/officeDocument/2006/relationships/image" Target="../media/image74.jpg"/><Relationship Id="rId14" Type="http://schemas.openxmlformats.org/officeDocument/2006/relationships/image" Target="../media/image7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6.jpg"/><Relationship Id="rId4" Type="http://schemas.openxmlformats.org/officeDocument/2006/relationships/image" Target="../media/image77.jpg"/><Relationship Id="rId5" Type="http://schemas.openxmlformats.org/officeDocument/2006/relationships/image" Target="../media/image78.jpg"/><Relationship Id="rId6" Type="http://schemas.openxmlformats.org/officeDocument/2006/relationships/image" Target="../media/image79.jpg"/><Relationship Id="rId7" Type="http://schemas.openxmlformats.org/officeDocument/2006/relationships/image" Target="../media/image80.jpg"/><Relationship Id="rId8" Type="http://schemas.openxmlformats.org/officeDocument/2006/relationships/image" Target="../media/image81.jpg"/><Relationship Id="rId9" Type="http://schemas.openxmlformats.org/officeDocument/2006/relationships/image" Target="../media/image82.jpg"/><Relationship Id="rId10" Type="http://schemas.openxmlformats.org/officeDocument/2006/relationships/image" Target="../media/image83.jpg"/><Relationship Id="rId11" Type="http://schemas.openxmlformats.org/officeDocument/2006/relationships/image" Target="../media/image84.jpg"/><Relationship Id="rId12" Type="http://schemas.openxmlformats.org/officeDocument/2006/relationships/image" Target="../media/image85.jpg"/><Relationship Id="rId13" Type="http://schemas.openxmlformats.org/officeDocument/2006/relationships/image" Target="../media/image86.jpg"/><Relationship Id="rId14" Type="http://schemas.openxmlformats.org/officeDocument/2006/relationships/image" Target="../media/image87.jpg"/><Relationship Id="rId15" Type="http://schemas.openxmlformats.org/officeDocument/2006/relationships/image" Target="../media/image8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9.jpg"/><Relationship Id="rId4" Type="http://schemas.openxmlformats.org/officeDocument/2006/relationships/image" Target="../media/image90.jpg"/><Relationship Id="rId5" Type="http://schemas.openxmlformats.org/officeDocument/2006/relationships/image" Target="../media/image91.jpg"/><Relationship Id="rId6" Type="http://schemas.openxmlformats.org/officeDocument/2006/relationships/image" Target="../media/image92.jpg"/><Relationship Id="rId7" Type="http://schemas.openxmlformats.org/officeDocument/2006/relationships/image" Target="../media/image93.jpg"/><Relationship Id="rId8" Type="http://schemas.openxmlformats.org/officeDocument/2006/relationships/image" Target="../media/image94.jpg"/><Relationship Id="rId9" Type="http://schemas.openxmlformats.org/officeDocument/2006/relationships/image" Target="../media/image95.jpg"/><Relationship Id="rId10" Type="http://schemas.openxmlformats.org/officeDocument/2006/relationships/image" Target="../media/image96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1920240" cy="8321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2395728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FFC95C"/>
                </a:solidFill>
                <a:latin typeface="Segoe UI"/>
              </a:rPr>
              <a:t>ДОСЛІДЖЕННЯ РИНКУ ТА ПОЗИЦІОНУВАННЯ · ВЕРЕСЕНЬ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15768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spc="-10">
                <a:solidFill>
                  <a:srgbClr val="FFFFFF"/>
                </a:solidFill>
                <a:latin typeface="Segoe UI"/>
              </a:rPr>
              <a:t>Корейський рамен</a:t>
            </a:r>
          </a:p>
          <a:p>
            <a:pPr algn="l">
              <a:lnSpc>
                <a:spcPct val="105000"/>
              </a:lnSpc>
            </a:pPr>
            <a:r>
              <a:rPr sz="4400" b="1" spc="-10">
                <a:solidFill>
                  <a:srgbClr val="FFFFFF"/>
                </a:solidFill>
                <a:latin typeface="Segoe UI"/>
              </a:rPr>
              <a:t>в Україні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90288"/>
            <a:ext cx="10058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-10">
                <a:solidFill>
                  <a:srgbClr val="9FA9C4"/>
                </a:solidFill>
                <a:latin typeface="Segoe UI"/>
              </a:rPr>
              <a:t>Оцінка пропозиції Choi’s Ramyeon (SIAS France) проти фактичної полиці:</a:t>
            </a:r>
          </a:p>
          <a:p>
            <a:pPr algn="l">
              <a:lnSpc>
                <a:spcPct val="150000"/>
              </a:lnSpc>
            </a:pPr>
            <a:r>
              <a:rPr sz="1000" b="0" spc="-10">
                <a:solidFill>
                  <a:srgbClr val="9FA9C4"/>
                </a:solidFill>
                <a:latin typeface="Segoe UI"/>
              </a:rPr>
              <a:t>96 SKU корейського рамену · 11 брендів · 13 мереж із 18 · зріз каталогів 29.09.2026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5413248"/>
            <a:ext cx="36576" cy="78638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5440680"/>
            <a:ext cx="100584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 spc="-10">
                <a:solidFill>
                  <a:srgbClr val="9FA9C4"/>
                </a:solidFill>
                <a:latin typeface="Segoe UI"/>
              </a:rPr>
              <a:t>Усі ціни — роздріб за одну пачку, з ПДВ, на дату зрізу. Опт, ящики та мультипаки до медіан не входять.</a:t>
            </a:r>
          </a:p>
          <a:p>
            <a:pPr algn="l">
              <a:lnSpc>
                <a:spcPct val="140000"/>
              </a:lnSpc>
            </a:pPr>
            <a:r>
              <a:rPr sz="800" b="0" spc="-10">
                <a:solidFill>
                  <a:srgbClr val="9FA9C4"/>
                </a:solidFill>
                <a:latin typeface="Segoe UI"/>
              </a:rPr>
              <a:t>Фото товарів — з каталогів мереж; використані як ідентифікація SKU.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Шість цифр, які вирішують питання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Порівняння комерційної пропозиції SIAS France з фактичними цінами полиці. Ринкові цифри — власний зріз каталогів, не оцінка.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ІМПОРТ З КОРЕЇ,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253,8 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HS 1902 30, дзеркальна статистика.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+8,8 % кг, +35 % $ до 2024.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ЄМНІСТЬ КОРЕЙСЬКОЇ ПОЛИЦІ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221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млн грн/рік — 2,12 млн пачок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× медіана полиці 105 грн.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36992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 КОРЕЙСЬКОГО РАМЕНУ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5D4B96"/>
                </a:solidFill>
                <a:latin typeface="Segoe UI"/>
              </a:rPr>
              <a:t>96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11 брендів, 13 мереж із 18.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Ашан — 63 SKU, «Сільпо» — 4.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 ПОЛИЦІ, 110–135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96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52 SKU у ваговому вікні Choi’s.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P25 86 грн, P75 113 грн.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ПОЛИЦЯ CHOI’S ЗА ФІНМОДЕЛЛЮ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155–230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грн за пачку залежно від обсягу.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Соб. 44,9–66,8 грн × 3,45.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36992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CHOI’S УЖЕ НА ПОЛИЦІ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125,20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грн — Carbonara 131 г у «Таврія В»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 «Космос». EAN 3760344350847.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517136"/>
            <a:ext cx="5413248" cy="1664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517136"/>
            <a:ext cx="36576" cy="166420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672584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ЧОМУ ЦЕ НЕ СХОДИТЬСЯ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901184"/>
            <a:ext cx="493776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1. Найкращий тариф SIAS (33 палети) дає полицю 155–179 грн — це +60…86 % до медіани вікна 96 грн.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2. Той самий SKU уже продається в Україні за 125,20 грн — нижче, ніж наша власна фінмодель дозволяє поставити.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3. Щоб стати на медіану вікна, потрібна ціна FCA €0,55 — це −38 % до €0,88 і −46 % до €1,02.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4. Перевага EUR.1 над MFN — близько 2,6 грн на пачці конкурента. Розрив у 50–80 грн вона не закриває.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4517136"/>
            <a:ext cx="5413248" cy="1664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517136"/>
            <a:ext cx="36576" cy="16642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4672584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ЩО З ЦЬОГО ПРАЦЮЄ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901184"/>
            <a:ext cx="493776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1. Єдина робоча конфігурація — full truck 33 палети у канал без бонусу мережі: GM 30 % при полиці 125 грн.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2. 6 палет не працює ніде: при полиці 125 грн маржа 10 % без бонусу і мінус уже з бонусом 15 %.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3. Дефіцит не в рамені, а в дистрибуції: МегаМаркет, Ultramarket, ЕКО, Епіцентр, «Ідеал» — 0 SKU.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4. «Сільпо» — 4 SKU корейського рамену на всю мережу. Полиця вільна, але не під 179 грн.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ОБСЯГ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1 674 т імпорту локшини, з них 253,8 т корейської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HS 1902 30 «інші макаронні вироби». Україна не звітувала 2025 рік до UN Comtrade — беремо дзеркальні дані країн-експортерів.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ЗВІДКИ ЇДЕ, 2025 РІК · тонн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764792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92807" y="1810512"/>
            <a:ext cx="3474719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0408" y="1764792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734.1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029967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92807" y="2075687"/>
            <a:ext cx="120146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0408" y="2029967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253.8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295144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Польща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92807" y="2340863"/>
            <a:ext cx="1145577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0408" y="2295144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242.0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560320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Туреччина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92807" y="2606039"/>
            <a:ext cx="882909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0408" y="2560320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186.5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825496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Словаччина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92807" y="2871215"/>
            <a:ext cx="393694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50408" y="2825496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83.2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090672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Італія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92807" y="3136391"/>
            <a:ext cx="23625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0408" y="3090672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49.9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3355848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Таїланд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92807" y="3401568"/>
            <a:ext cx="141369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50408" y="3355848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29.9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3621024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Німеччина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92807" y="3666744"/>
            <a:ext cx="11096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50408" y="3621024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23.4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3886200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Литва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92807" y="3931920"/>
            <a:ext cx="10194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50408" y="3886200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21.5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4151376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Чехія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92807" y="4197096"/>
            <a:ext cx="63963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50408" y="4151376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13.5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90288"/>
            <a:ext cx="5760720" cy="8686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6928" y="4590288"/>
            <a:ext cx="36576" cy="868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" y="4745736"/>
            <a:ext cx="528523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ТОНАЖ ≠ КАТЕГОРІЯ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" y="4974336"/>
            <a:ext cx="528523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Туреччина по $0,63/кг і Китай по $1,54/кг — це переважно звичайні макарони, не рамен. Корея — $4,88/кг: єдиний великий постачальник із ціною, що відповідає фасованому рамену.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75120" y="1554480"/>
            <a:ext cx="4937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КОРЕЯ → УКРАЇНА, HS 1902 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75120" y="1792224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РІК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06640" y="1792224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ОБСЯГ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1792224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ВАРТІСТЬ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1792224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$/КГ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75120" y="1975104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2024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06640" y="19751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233,3 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0" y="197510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$917,8 тис.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2720" y="197510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$3,93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01968" y="2176272"/>
            <a:ext cx="4956048" cy="2286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75120" y="221284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6640" y="221284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253,8 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86800" y="221284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$1 238,3 тис.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2720" y="2212848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$4,88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75120" y="2450591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2450591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+8,8 %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2450591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+34,9 %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2720" y="245059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+24,0 %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75120" y="2706624"/>
            <a:ext cx="4937760" cy="12984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675120" y="2706624"/>
            <a:ext cx="36576" cy="129844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912864" y="2862072"/>
            <a:ext cx="44622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ЩО КАЖЕ ЦІНА ІМПОРТУ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12864" y="3090672"/>
            <a:ext cx="446227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Середня експортна ціна Кореї зросла на 24 % за рік при зростанні обсягу лише на 9 %. Ринок рухається в бік дорожчих SKU (Buldak, стакани), а не дешевших.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Пропозиція SIAS — €0,88–1,31 за пачку 113–131 г, тобто $8,9–13,2/кг: у 1,8–2,7 раза дорожче за середню корейську експортну ціну.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" y="5687568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ЯК РАХУВАЛИ ЄМНІСТЬ КОРЕЙСЬКОГО СЕГМЕНТА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1520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253,8 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імпорт з Кореї 2025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15184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98064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962656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2,12 млн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62656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пачок по 120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846320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29200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93792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× 105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93792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медіана полиці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077456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260336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24928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221 млн грн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24928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08592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491472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656064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×4,0 до FOB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656064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імпліцитний множник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КАРТА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Чотири цінові поверхи локшини швидкого приготування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Групування за походженням і ціною за 100 г — саме воно визначає, з ким покупець порівнює Choi’s на полиці.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09344"/>
            <a:ext cx="2651760" cy="13350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64792"/>
            <a:ext cx="22860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ПОВЕРХ 1 · УКРАЇНСЬКИЙ МАС-МАРКЕТ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75104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9–22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5059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Garnenka, «Дарина», «Хуторок»,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«Щедро», Reeva. 18–33 грн/100 г.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01568" y="1609344"/>
            <a:ext cx="2651760" cy="13350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2736" y="1764792"/>
            <a:ext cx="22860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ПОВЕРХ 2 · АЗІЯ БЕЗ КОРЕЇ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1975104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38–144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245059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Cung Dinh, Hokkaido Club, Mama,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Yum Yum, Bich-Chi. 57–146 грн/100 г.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6208" y="1609344"/>
            <a:ext cx="2651760" cy="13350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7376" y="1764792"/>
            <a:ext cx="22860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ПОВЕРХ 3 · КОРЕЙСЬКИЙ РАМЕН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1975104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65–205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245059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Samyang, Nongshim, Paldo,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Ottogi. Медіана 88 грн/100 г.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70848" y="1609344"/>
            <a:ext cx="2560320" cy="13350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72016" y="1764792"/>
            <a:ext cx="2194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ПОВЕРХ 4 · CHOI’S ЗА ФІНМОДЕЛЛЮ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2016" y="197510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155–230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137–187 грн/100 г.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Вище за весь ринок.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82112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3191256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СУМІЖНА ПОЛИЦЯ: З ЧИМ ПОКУПЕЦЬ ПОРІВНЮЄ ЦІНУ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3191256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14 найпоширеніших не-корейських SKU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3419856"/>
            <a:ext cx="187451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87168" y="3419856"/>
            <a:ext cx="1417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50208" y="3419856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81728" y="3419856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13248" y="3419856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22008" y="3419856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65008" y="3419856"/>
            <a:ext cx="3566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РОЛЬ НА ПОЛИЦІ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602736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Garnenka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87168" y="360273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Україна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50208" y="3602736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60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81728" y="3602736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13248" y="3602736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9–13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2008" y="360273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65008" y="3602736"/>
            <a:ext cx="3566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дно категорії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3776" y="3753612"/>
            <a:ext cx="10936224" cy="178307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3790188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Дарина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87168" y="3790188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Україна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50208" y="3790188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81728" y="3790188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13248" y="379018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12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22008" y="379018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65008" y="3790188"/>
            <a:ext cx="3566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дно категорії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3977640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Хуторок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87168" y="3977640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Україна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50208" y="3977640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60 г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81728" y="3977640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13248" y="397764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13–16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22008" y="397764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65008" y="3977640"/>
            <a:ext cx="3566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локальний мас-маркет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93776" y="4128516"/>
            <a:ext cx="10936224" cy="178307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6928" y="4165092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Щедро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487168" y="4165092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Україна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50208" y="4165092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60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81728" y="4165092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13248" y="4165092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12–18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22008" y="416509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28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65008" y="4165092"/>
            <a:ext cx="3566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локальний мас-маркет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4352544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Reeva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487168" y="4352544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Україна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950208" y="4352544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60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681728" y="4352544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435254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15–22 грн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22008" y="435254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33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65008" y="4352544"/>
            <a:ext cx="3566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другий за дистрибуцією локальний бренд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93776" y="4503420"/>
            <a:ext cx="10936224" cy="178307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66928" y="4539996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ChiBi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487168" y="453999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Україна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950208" y="4539996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81728" y="4539996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13248" y="4539996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18–25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22008" y="453999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28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65008" y="4539996"/>
            <a:ext cx="3566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дешева Азія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928" y="4727448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Нао Нао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487168" y="4727448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В'єтнам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950208" y="4727448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77 г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81728" y="4727448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13248" y="472744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38–51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22008" y="472744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58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065008" y="4727448"/>
            <a:ext cx="3566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в’єтнамський мас-маркет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93776" y="4878324"/>
            <a:ext cx="10936224" cy="178307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66928" y="4914900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Yum Yum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487168" y="4914900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Тайланд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50208" y="4914900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70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681728" y="4914900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413248" y="491490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60 грн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22008" y="491490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65008" y="4914900"/>
            <a:ext cx="3566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тайський мідл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66928" y="5102352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Micoem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487168" y="5102352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В'єтнам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950208" y="5102352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68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681728" y="5102352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413248" y="5102352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50–87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922008" y="510235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106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065008" y="5102352"/>
            <a:ext cx="3566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в’єтнамський мідл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93776" y="5253228"/>
            <a:ext cx="10936224" cy="178307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66928" y="5289804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Hokkaido Club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487168" y="5289804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Україна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950208" y="5289804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80 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681728" y="5289804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413248" y="528980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62–90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22008" y="528980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065008" y="5289804"/>
            <a:ext cx="3566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японський стиль, мідл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6928" y="5477256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Ippin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487168" y="547725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В'єтнам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950208" y="5477256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73 г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681728" y="5477256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413248" y="5477256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82–97 грн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22008" y="547725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123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065008" y="5477256"/>
            <a:ext cx="3566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японський преміум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93776" y="5628132"/>
            <a:ext cx="10936224" cy="178307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66928" y="5664708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Мівіна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487168" y="5664708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Україна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950208" y="5664708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121 г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681728" y="5664708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413248" y="566470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81–108 грн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922008" y="566470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065008" y="5664708"/>
            <a:ext cx="3566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якір категорії, Nestlé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" y="5852160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Bich-Chi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487168" y="5852160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В'єтнам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950208" y="5852160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70 г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681728" y="5852160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413248" y="585216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100–108 грн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922008" y="585216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146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065008" y="5852160"/>
            <a:ext cx="3566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в’єтнамська рисова, преміум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493776" y="6003036"/>
            <a:ext cx="10936224" cy="178307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66928" y="6039612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Kool Cung Dinh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487168" y="6039612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В'єтнам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50208" y="6039612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105 г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681728" y="6039612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413248" y="6039612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110–144 грн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922008" y="603961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118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065008" y="6039612"/>
            <a:ext cx="3566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верх не-корейської Азії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66928" y="6227064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КОРЕЙСЬКИЙ РАМЕН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487168" y="6227064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Корея · 96 SKU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950208" y="6227064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62–205 г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681728" y="6227064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413248" y="622706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65–205 грн (мед. 105)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922008" y="62270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88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065008" y="6227064"/>
            <a:ext cx="3566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цільова полиця Choi’s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66928" y="6144768"/>
            <a:ext cx="11064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Обрано по одному SKU на бренд — найширше представлений у мережах, вагою 40–160 г. Повний реєстр — у CSV-додатку.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МАТРИЦЯ БРЕНДІВ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11 корейських брендів на полиці 13 мереж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Відсортовано за шириною дистрибуції. Ціна — медіана за пачку по всіх мережах, де SKU знайдено.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1417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9968" y="1627632"/>
            <a:ext cx="2148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ВЛАСНИК / КРАЇНА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24528" y="1627632"/>
            <a:ext cx="502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91456" y="1627632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04688" y="1627632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627632"/>
            <a:ext cx="1417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1627632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24544" y="1627632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1240" y="1627632"/>
            <a:ext cx="1691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НА ПОЛИЦІ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810512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9968" y="1810512"/>
            <a:ext cx="2148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Foods · Корея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24528" y="1810512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91456" y="1810512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04688" y="1810512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70–145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1810512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34–184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28431" y="1810512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24544" y="1810512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1810512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Buldak — драйвер категорії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3776" y="2020824"/>
            <a:ext cx="10936224" cy="2377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057400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29968" y="2057400"/>
            <a:ext cx="2148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 · Корея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24528" y="2057400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91456" y="2057400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04688" y="2057400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62–140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2057400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74–209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1" y="205740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24544" y="205740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21240" y="2057400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найглибша лінійка, Shin Ramyun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2304288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29968" y="2304288"/>
            <a:ext cx="2148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 · Корея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24528" y="2304288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91456" y="230428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04688" y="2304288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37960" y="2304288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72–124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28431" y="230428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24544" y="230428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21240" y="230428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дешевший другий ешелон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" y="2514600"/>
            <a:ext cx="10936224" cy="2377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255117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29968" y="2551176"/>
            <a:ext cx="2148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 · Корея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24528" y="2551176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91456" y="2551176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04688" y="2551176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67–130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37960" y="255117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67–112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28431" y="2551176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24544" y="2551176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21240" y="2551176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найдешевший корейський вхід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2798064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O'Food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29968" y="2798064"/>
            <a:ext cx="2148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Daesang · Корея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24528" y="279806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91456" y="2798064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504688" y="2798064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102–144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37960" y="2798064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68–84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28431" y="2798064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24544" y="279806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21240" y="2798064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найнижча ціна за грам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3776" y="3008376"/>
            <a:ext cx="10936224" cy="2377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3044952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Choi's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29968" y="3044952"/>
            <a:ext cx="2148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SIAS France · ЄС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24528" y="3044952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3044952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04688" y="3044952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37960" y="3044952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28431" y="3044952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924544" y="3044952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21240" y="3044952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наш продукт — уже завезений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8" y="3291840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Yopokki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29968" y="3291840"/>
            <a:ext cx="2148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Young Poong · Корея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24528" y="3291840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3291840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504688" y="3291840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537960" y="3291840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198–204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028431" y="329184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924544" y="329184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21240" y="3291840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ток-покі, інший привід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93776" y="3502152"/>
            <a:ext cx="10936224" cy="2377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66928" y="3538728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029968" y="3538728"/>
            <a:ext cx="2148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CJ CheilJedang · Корея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3538728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791456" y="353872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04688" y="3538728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122–127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537960" y="3538728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28431" y="353872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24544" y="353872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921240" y="353872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stir-fry, поодинокий лістинг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6928" y="378561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Otoki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029968" y="3785616"/>
            <a:ext cx="2148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3785616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791456" y="3785616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504688" y="3785616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537960" y="378561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028431" y="3785616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24544" y="3785616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921240" y="3785616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поодинокий SKU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93776" y="3995928"/>
            <a:ext cx="10936224" cy="2377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66928" y="4032504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Baekje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029968" y="4032504"/>
            <a:ext cx="2148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403250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791456" y="4032504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504688" y="4032504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537960" y="4032504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028431" y="4032504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924544" y="403250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921240" y="4032504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рисова локшина, ніша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6928" y="4279392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fire bull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029968" y="4279392"/>
            <a:ext cx="2148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224528" y="4279392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791456" y="4279392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504688" y="4279392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537960" y="4279392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028431" y="4279392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924544" y="4279392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57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921240" y="4279392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поодинокий SKU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66928" y="4526280"/>
            <a:ext cx="5413248" cy="15544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566928" y="4526280"/>
            <a:ext cx="36576" cy="15544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04672" y="4681728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КОНКУРЕНТ — НЕ ОДИН БРЕНД, А ЦІНОВЕ ВІКНО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04672" y="4910328"/>
            <a:ext cx="493776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Samyang і Nongshim разом дають 54 SKU з 96 і стоять у 10–11 мережах. Саме вони, а не Choi’s, визначають, скільки «нормально» коштує корейський рамен: 111–112 грн за пачку, 96–106 грн/100 г.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217920" y="4526280"/>
            <a:ext cx="5413248" cy="15544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217920" y="4526280"/>
            <a:ext cx="36576" cy="155448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455664" y="4681728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ДЕШЕВІ КОРЕЙЦІ ВЖЕ Є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455664" y="4910328"/>
            <a:ext cx="493776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Ottogi (89 грн, 75 грн/100 г) і O’Food (77 грн, 67 грн/100 г) тримають нижню межу корейської полиці. Choi’s за фінмоделлю (155–230 грн) стоїть у 1,7–2,6 раза дорожче за них при тій самій вазі.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ЦІНОВІ СХОДИ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Від 65 до 205 грн: діапазон кожного бренду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Крапка — медіана бренду, смуга — від найдешевшої до найдорожчої його позиції. Помаранчеві лінії — полиця Choi’s за нашою фінмоделлю.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84248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64207" y="489204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84448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64408" y="489204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4648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4608" y="489204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84847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7" y="489204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120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85047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5007" y="489204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160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85247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65207" y="489204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200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585447" y="1874519"/>
            <a:ext cx="5486" cy="299923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265407" y="489204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0" spc="-10">
                <a:solidFill>
                  <a:srgbClr val="9FA9C4"/>
                </a:solidFill>
                <a:latin typeface="Segoe UI"/>
              </a:rPr>
              <a:t>240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1952659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O'Food  (4)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00587" y="1993807"/>
            <a:ext cx="664082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023484" y="1984663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9534" y="1957231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218666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fire bull  (1)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0" y="2259814"/>
            <a:ext cx="18288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063490" y="2250670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75503" y="222323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2484674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Bibigo  (4)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04675" y="2525822"/>
            <a:ext cx="18288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383529" y="2516678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59539" y="2489246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750681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Ottogi  (11)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64582" y="2791829"/>
            <a:ext cx="1820227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503544" y="2782685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39674" y="2755253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89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016688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Paldo  (15)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864607" y="3057836"/>
            <a:ext cx="2080259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703570" y="3048692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99731" y="302126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282696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Otoki  (1)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80722" y="3323844"/>
            <a:ext cx="18288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743574" y="3314700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35586" y="328726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95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548703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Baekje  (1)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40779" y="3589851"/>
            <a:ext cx="18288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183629" y="3580707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95643" y="3553275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106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3814710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Nongshim  (32)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24615" y="3855858"/>
            <a:ext cx="5420677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383654" y="3846714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00157" y="3819282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111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4080717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Samyang  (22)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340417" y="4121865"/>
            <a:ext cx="6004750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423659" y="4112721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400032" y="4085289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112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4346725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Choi's  (1)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92874" y="4387873"/>
            <a:ext cx="18288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943724" y="4378729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47738" y="4351297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125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4612732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Yopokki  (4)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890836" y="4653880"/>
            <a:ext cx="259232" cy="64008"/>
          </a:xfrm>
          <a:prstGeom prst="rect">
            <a:avLst/>
          </a:prstGeom>
          <a:solidFill>
            <a:srgbClr val="C8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0104119" y="4644736"/>
            <a:ext cx="82296" cy="82296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204932" y="461730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E59A8"/>
                </a:solidFill>
                <a:latin typeface="Segoe UI"/>
              </a:rPr>
              <a:t>204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77707" y="1856231"/>
            <a:ext cx="14630" cy="30175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453502" y="147218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33 палети</a:t>
            </a:r>
          </a:p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155 грн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137827" y="1856231"/>
            <a:ext cx="14630" cy="30175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413622" y="1618487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33 палети</a:t>
            </a:r>
          </a:p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179 грн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1178082" y="1856231"/>
            <a:ext cx="14630" cy="30175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453877" y="147218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6 палет</a:t>
            </a:r>
          </a:p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230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5038344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9FA9C4"/>
                </a:solidFill>
                <a:latin typeface="Segoe UI"/>
              </a:rPr>
              <a:t>Шкала — грн за одну пачку, з ПДВ. У дужках — кількість SKU бренду у зрізі. Помаранчеві лінії — полиця Choi’s за фінмоделлю.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5257800"/>
            <a:ext cx="3547872" cy="960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68096" y="5413248"/>
            <a:ext cx="31821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 КАТЕГОРІЇ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8096" y="56235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105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68096" y="6099048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P25 86 · P75 122 грн.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315968" y="5257800"/>
            <a:ext cx="3547872" cy="960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517136" y="5413248"/>
            <a:ext cx="31821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НАЙДЕШЕВШИЙ БРЕНД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17136" y="56235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O’Food 77 грн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17136" y="6099048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Daesang, 102–144 г, 2 мережі.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065008" y="5257800"/>
            <a:ext cx="3566160" cy="960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66176" y="5413248"/>
            <a:ext cx="3200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НАЙДЕШЕВШИЙ ТАРИФ SIAS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66176" y="56235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155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66176" y="6099048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33 палети, €0,88 · +60 % до вікна.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ЦІНОВА ШКАЛА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Де стоять усі 96 SKU і де стоїмо 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Кожна синя крапка — один SKU корейського рамену. Помаранчеве — полиця Choi’s за фінмоделлю на трьох тарифах.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2487168"/>
            <a:ext cx="5486" cy="144475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950208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" b="0" spc="-10">
                <a:solidFill>
                  <a:srgbClr val="9FA9C4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27960" y="2487168"/>
            <a:ext cx="5486" cy="144475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62200" y="3950208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" b="0" spc="-10">
                <a:solidFill>
                  <a:srgbClr val="9FA9C4"/>
                </a:solidFill>
                <a:latin typeface="Segoe UI"/>
              </a:rPr>
              <a:t>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50080" y="2487168"/>
            <a:ext cx="5486" cy="144475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84320" y="3950208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" b="0" spc="-10">
                <a:solidFill>
                  <a:srgbClr val="9FA9C4"/>
                </a:solidFill>
                <a:latin typeface="Segoe UI"/>
              </a:rPr>
              <a:t>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2487168"/>
            <a:ext cx="5486" cy="144475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440" y="3950208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" b="0" spc="-10">
                <a:solidFill>
                  <a:srgbClr val="9FA9C4"/>
                </a:solidFill>
                <a:latin typeface="Segoe UI"/>
              </a:rPr>
              <a:t>120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94320" y="2487168"/>
            <a:ext cx="5486" cy="144475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8559" y="3950208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" b="0" spc="-10">
                <a:solidFill>
                  <a:srgbClr val="9FA9C4"/>
                </a:solidFill>
                <a:latin typeface="Segoe UI"/>
              </a:rPr>
              <a:t>160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16440" y="2487168"/>
            <a:ext cx="5486" cy="144475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50679" y="3950208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" b="0" spc="-10">
                <a:solidFill>
                  <a:srgbClr val="9FA9C4"/>
                </a:solidFill>
                <a:latin typeface="Segoe UI"/>
              </a:rPr>
              <a:t>200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338560" y="2487168"/>
            <a:ext cx="5486" cy="144475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3950208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" b="0" spc="-10">
                <a:solidFill>
                  <a:srgbClr val="9FA9C4"/>
                </a:solidFill>
                <a:latin typeface="Segoe UI"/>
              </a:rPr>
              <a:t>240</a:t>
            </a:r>
          </a:p>
        </p:txBody>
      </p:sp>
      <p:sp>
        <p:nvSpPr>
          <p:cNvPr id="24" name="Oval 23"/>
          <p:cNvSpPr/>
          <p:nvPr/>
        </p:nvSpPr>
        <p:spPr>
          <a:xfrm>
            <a:off x="3772280" y="259689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776586" y="274548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05745" y="289407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985393" y="304266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073652" y="319125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38231" y="333984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235100" y="348843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284611" y="363702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288917" y="259689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288917" y="274548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310443" y="289407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349191" y="304266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396549" y="319125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439602" y="333984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474044" y="348843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517097" y="363702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47235" y="259689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577372" y="274548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605356" y="289407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629035" y="304266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654867" y="319125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654867" y="333984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654867" y="348843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654867" y="363702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758194" y="259689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805553" y="274548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805553" y="289407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805553" y="304266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805553" y="319125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846453" y="333984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934712" y="348843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64849" y="363702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964849" y="259689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73459" y="274548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040191" y="289407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040191" y="304266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059565" y="319125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085397" y="333984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149977" y="348843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190877" y="363702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231777" y="259689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274830" y="274548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67394" y="289407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99684" y="304266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408295" y="319125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408295" y="333984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431974" y="348843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462111" y="363702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484068" y="259689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484068" y="274548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507316" y="289407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554675" y="304266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623560" y="319125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645086" y="333984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731192" y="348843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763051" y="363702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763051" y="259689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763051" y="274548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5763051" y="289407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5774245" y="304266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5774245" y="319125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5785008" y="333984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5791466" y="348843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808687" y="363702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5817298" y="259689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864656" y="274548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864656" y="289407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5929236" y="304266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011037" y="319125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054090" y="333984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140196" y="348843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170333" y="363702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269355" y="259689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55461" y="274548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6355461" y="289407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364071" y="304266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501841" y="319125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525520" y="333984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803212" y="348843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6854875" y="363702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6906539" y="259689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958203" y="274548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149788" y="289407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216521" y="304266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388733" y="319125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733157" y="333984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733157" y="348843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733157" y="363702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8087913" y="259689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9369171" y="274548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9482830" y="289407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9498330" y="304266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9761814" y="319125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761814" y="333984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761814" y="348843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810464" y="3637026"/>
            <a:ext cx="64008" cy="64008"/>
          </a:xfrm>
          <a:prstGeom prst="ellipse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315434" y="2487168"/>
            <a:ext cx="10972" cy="1444752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543681" y="230428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20" b="1" spc="-10">
                <a:solidFill>
                  <a:srgbClr val="717890"/>
                </a:solidFill>
                <a:latin typeface="Segoe UI"/>
              </a:rPr>
              <a:t>O’Food 77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499607" y="2487168"/>
            <a:ext cx="10972" cy="1444752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4727853" y="2139696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20" b="1" spc="-10">
                <a:solidFill>
                  <a:srgbClr val="717890"/>
                </a:solidFill>
                <a:latin typeface="Segoe UI"/>
              </a:rPr>
              <a:t>медіана 105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90589" y="2487168"/>
            <a:ext cx="10972" cy="1444752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618835" y="230428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20" b="1" spc="-10">
                <a:solidFill>
                  <a:srgbClr val="717890"/>
                </a:solidFill>
                <a:latin typeface="Segoe UI"/>
              </a:rPr>
              <a:t>Choi’s 125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898614" y="2487168"/>
            <a:ext cx="10972" cy="1444752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126861" y="2139696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20" b="1" spc="-10">
                <a:solidFill>
                  <a:srgbClr val="717890"/>
                </a:solidFill>
                <a:latin typeface="Segoe UI"/>
              </a:rPr>
              <a:t>Buldak 137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7669911" y="2487168"/>
            <a:ext cx="18288" cy="159105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01815" y="413308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33 палети</a:t>
            </a:r>
          </a:p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155 грн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272653" y="2487168"/>
            <a:ext cx="18288" cy="159105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504557" y="440740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12 палет</a:t>
            </a:r>
          </a:p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169 грн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703183" y="2487168"/>
            <a:ext cx="18288" cy="159105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935087" y="413308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33 палети</a:t>
            </a:r>
          </a:p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179 грн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564243" y="2487168"/>
            <a:ext cx="18288" cy="159105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796147" y="440740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6 палет</a:t>
            </a:r>
          </a:p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199 грн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0898886" y="2487168"/>
            <a:ext cx="18288" cy="159105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0130790" y="413308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6 палет</a:t>
            </a:r>
          </a:p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C4820A"/>
                </a:solidFill>
                <a:latin typeface="Segoe UI"/>
              </a:rPr>
              <a:t>230 грн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5840" y="4224528"/>
            <a:ext cx="10332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9FA9C4"/>
                </a:solidFill>
                <a:latin typeface="Segoe UI"/>
              </a:rPr>
              <a:t>грн за одну пачку, з ПДВ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566928" y="5074920"/>
            <a:ext cx="3547872" cy="10972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566928" y="5074920"/>
            <a:ext cx="36576" cy="109728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04672" y="523036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ДЕ ЩІЛЬНО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04672" y="5458968"/>
            <a:ext cx="307238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52 з 96 SKU лежать у смузі 86–113 грн. Це і є робоче цінове вікно категорії.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4315968" y="5074920"/>
            <a:ext cx="3547872" cy="10972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4315968" y="5074920"/>
            <a:ext cx="36576" cy="10972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553712" y="523036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ДЕ ПОРОЖНЬО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53712" y="5458968"/>
            <a:ext cx="307238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Вище 160 грн у категорії майже нічого немає — тільки Yopokki (204 грн), і це інший продукт (ток-покі). Саме в цю порожнечу нас ставить фінмодель.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065008" y="5074920"/>
            <a:ext cx="3566160" cy="10972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8065008" y="5074920"/>
            <a:ext cx="36576" cy="109728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302752" y="5230368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302752" y="5458968"/>
            <a:ext cx="309067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Жоден із шести тарифних варіантів SIAS не потрапляє у цінове вікно категорії. Найближчий (155 грн) — на 61 % вище за медіану вікна.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ФОРМАТ І ВАГА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Де насправді щільна полиця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Кожна клітинка — скільки SKU корейського рамену має цей формат у цій ваговій смузі. Насиченість кольору пропорційна кількості.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МАТРИЦЯ ФОРМАТ × ВАГА · SKU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716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40–90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0448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90–110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2180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110–125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912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125–145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145 г 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185415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Пакет (пачка)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05456" y="2048255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0545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22776" y="2048255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2277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40096" y="2048255"/>
            <a:ext cx="1380744" cy="420624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4009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FFFFFF"/>
                </a:solidFill>
                <a:latin typeface="Segoe UI"/>
              </a:rPr>
              <a:t>35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57416" y="2048255"/>
            <a:ext cx="1380744" cy="420624"/>
          </a:xfrm>
          <a:prstGeom prst="rect">
            <a:avLst/>
          </a:prstGeom>
          <a:solidFill>
            <a:srgbClr val="5A73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5741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FFFFFF"/>
                </a:solidFill>
                <a:latin typeface="Segoe UI"/>
              </a:rPr>
              <a:t>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74736" y="2048255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2642615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Стакан / боул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05456" y="2505456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0545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22776" y="2505456"/>
            <a:ext cx="1380744" cy="420624"/>
          </a:xfrm>
          <a:prstGeom prst="rect">
            <a:avLst/>
          </a:prstGeom>
          <a:solidFill>
            <a:srgbClr val="EB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277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40096" y="2505456"/>
            <a:ext cx="1380744" cy="420624"/>
          </a:xfrm>
          <a:prstGeom prst="rect">
            <a:avLst/>
          </a:prstGeom>
          <a:solidFill>
            <a:srgbClr val="CF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009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57416" y="2505456"/>
            <a:ext cx="1380744" cy="420624"/>
          </a:xfrm>
          <a:prstGeom prst="rect">
            <a:avLst/>
          </a:prstGeom>
          <a:solidFill>
            <a:srgbClr val="EB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5741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74736" y="2505456"/>
            <a:ext cx="1380744" cy="420624"/>
          </a:xfrm>
          <a:prstGeom prst="rect">
            <a:avLst/>
          </a:prstGeom>
          <a:solidFill>
            <a:srgbClr val="EB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7473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145536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3232" y="3154679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ВАГОВІ СМУГИ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383280"/>
            <a:ext cx="17373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ВАГОВА СМУГА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40864" y="3383280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62656" y="3383280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ЧАСТКА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03904" y="3383280"/>
            <a:ext cx="1051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19472" y="3383280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89320" y="3383280"/>
            <a:ext cx="5623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ЗА ФОРМАТ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3566160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40–90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40864" y="356616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62656" y="356616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19 %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03904" y="3566160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19472" y="3566160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3566160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стакани й міні-пачки: дорого за грам, дешево за чек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93776" y="3790188"/>
            <a:ext cx="10936224" cy="25145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6928" y="3826764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90–110 г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40864" y="3826764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62656" y="3826764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03904" y="3826764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106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19472" y="3826764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89320" y="3826764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перехідна смуга, мало SKU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4087368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110–125 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40864" y="408736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36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62656" y="408736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38 %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03904" y="4087368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93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19472" y="4087368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4087368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найщільніша смуга ринку — Shin Ramyun, Ottogi, Paldo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93776" y="4311396"/>
            <a:ext cx="10936224" cy="25145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66928" y="434797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125–145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40864" y="434797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62656" y="4347972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28 %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03904" y="4347972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112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19472" y="4347972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89320" y="4347972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смуга Buldak і Chapaghetti — тут премія бренду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928" y="4608576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145 г +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340864" y="4608576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62656" y="4608576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803904" y="4608576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201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19472" y="4608576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139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89320" y="4608576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ток-покі та нестандарт, інший привід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6928" y="4846320"/>
            <a:ext cx="3547872" cy="1143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66928" y="4846320"/>
            <a:ext cx="36576" cy="11430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04672" y="500176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ВАГА CHOI’S — ПРАВИЛЬНА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04672" y="5230368"/>
            <a:ext cx="3072384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112,5–131 г потрапляє точно у дві найщільніші смуги (110–145 г, 66 % SKU). Формат і грамаж заперечень не викликають.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15968" y="4846320"/>
            <a:ext cx="3547872" cy="1143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315968" y="4846320"/>
            <a:ext cx="36576" cy="114300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53712" y="500176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ЦІНА CHOI’S — НІ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53712" y="5230368"/>
            <a:ext cx="3072384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У цих самих смугах медіана 93–112 грн і 78–86 грн/100 г. Фінмодель дає 155–230 грн, тобто +60…+139 %.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65008" y="4846320"/>
            <a:ext cx="3566160" cy="1143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065008" y="4846320"/>
            <a:ext cx="36576" cy="11430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302752" y="5001768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ДЕ Є ВІЛЬНЕ МІСЦЕ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302752" y="5230368"/>
            <a:ext cx="309067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Стакан/боул — лише 6 SKU на всю категорію при ціні за грам у 2 рази вищій (166 проти 87 грн/100 г). Якщо в SIAS є стакан — це єдиний формат, де премія вже прийнята.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КАРТА БРЕНДІВ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Що на наступних восьми слайдах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Далі — картки всіх 96 SKU корейського рамену з фото, вагою, ціною та переліком мереж. Ось порядок.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45920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СЛАЙД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645920"/>
            <a:ext cx="3383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НА СЛАЙДІ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1645920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59552" y="1645920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1645920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1645920"/>
            <a:ext cx="1417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87968" y="1645920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85248" y="1645920"/>
            <a:ext cx="1645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РОЛЬ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182880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1828800"/>
            <a:ext cx="3383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Samyang · 1 з 2 — 14 позицій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182880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9552" y="1828800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7648" y="182880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70–145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828800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34–184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87968" y="1828800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85248" y="182880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лідер категорії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76" y="2093976"/>
            <a:ext cx="10936224" cy="2926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2130552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81328" y="2130552"/>
            <a:ext cx="3383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Samyang · 2 з 2 — 8 позицій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213055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59552" y="2130552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213055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70–145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130552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34–184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87968" y="2130552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85248" y="213055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лідер категорії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3230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81328" y="2432304"/>
            <a:ext cx="3383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Nongshim · 1 з 3 — 14 позицій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37760" y="2432304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59552" y="2432304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243230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62–140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2432304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74–209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87968" y="2432304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85248" y="2432304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найглибша лінійка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3776" y="2697480"/>
            <a:ext cx="10936224" cy="2926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2734056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81328" y="2734056"/>
            <a:ext cx="3383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Nongshim · 2 з 3 — 14 позицій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37760" y="2734056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59552" y="2734056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273405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62–140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06640" y="273405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74–209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87968" y="2734056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85248" y="2734056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найглибша лінійка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303580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1328" y="3035808"/>
            <a:ext cx="3383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Nongshim · 3 з 3 — 4 позиції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37760" y="303580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59552" y="3035808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303580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62–140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06640" y="3035808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74–209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87968" y="3035808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985248" y="3035808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найглибша лінійка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93776" y="3300984"/>
            <a:ext cx="10936224" cy="2926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333756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481328" y="3337560"/>
            <a:ext cx="3383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Paldo · 14 з 15 позицій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37760" y="333756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59552" y="3337560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27648" y="333756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105–145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06640" y="3337560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72–124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887968" y="3337560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985248" y="333756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другий ешелон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6928" y="3639312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81328" y="3639312"/>
            <a:ext cx="3383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Paldo (1) · Ottogi (11) · Otoki · Fire Bull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937760" y="363931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559552" y="3639312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327648" y="363931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67–145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06640" y="3639312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67–124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87968" y="3639312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985248" y="36393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нижня межа ціни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93776" y="3904488"/>
            <a:ext cx="10936224" cy="2926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66928" y="394106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1328" y="3941064"/>
            <a:ext cx="3383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O’Food · Bibigo · Yopokki · Baekje · CHOI’S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937760" y="3941064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59552" y="3941064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27648" y="39410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92–145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406640" y="3941064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68–204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887968" y="3941064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67–141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985248" y="3941064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ніші + наш SKU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6928" y="4242816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481328" y="4242816"/>
            <a:ext cx="3383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Суміжна полиця: не-корейська локшина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37760" y="4242816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559552" y="4242816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27648" y="424281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50–200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06640" y="424281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9–144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887968" y="4242816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18–146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985248" y="4242816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цінова підлога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66928" y="4754880"/>
            <a:ext cx="11064240" cy="11887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66928" y="4754880"/>
            <a:ext cx="36576" cy="118872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04672" y="491032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ЯК ЧИТАТИ КАРТКИ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04672" y="5138928"/>
            <a:ext cx="1058875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На кожній картці: фото з каталогу мережі, назва смаку, вага, фактичний діапазон роздрібної ціни за пачку і мережі, де SKU знайдено (перші три + кількість решти). Ціна — не рекомендована, а та, що стоїть у каталозі на 29.09.2026.</a:t>
            </a:r>
          </a:p>
          <a:p>
            <a:pPr algn="l">
              <a:lnSpc>
                <a:spcPct val="13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Картки відсортовані за зростанням медіанної ціни всередині бренду — так видно, де в бренда підлога, а де стеля.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· КОРЕЙСЬКИЙ РАМЕН   ·   ПАКЕТ І СТАКАН   ·   SAMYANG · 22 ПОЗИЦІЇ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Samyang 1 з 2 — лідер дистрибуції, 11 мереж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Buldak — головна франшиза категорії. Медіана 112 грн за пачку, 96 грн/100 г.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SAMYANG FOODS · КОРЕЯ   ·   70–145 г   ·   медіана 112 грн   ·   96 грн/100 г   ·   11 мереж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7311404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Bulgogi Рамен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80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731140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Jjanang Рамен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80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7311402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Кімчі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80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65–86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088017311686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Tangle зі смаком вершкового б…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105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880107311403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Topokki Рамен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80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65–104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880107321077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Buldak Hot Chicken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70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34–149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Grono · Клас +3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0074603005922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Chacharoni зі смаком чорних б…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140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90–115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0074603006684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зі смаком морепродуктів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108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73113947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Buldak Jjajang зі смаком гост…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140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108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1073112278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Макаронні вироби Samyang Ramen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115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73115514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локшина зі смаком курки з лай…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135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108–169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 · Зараз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73114111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з сиром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99–124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8801073113312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з сиром гостра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115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801073211773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зі смаком сиру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105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112–130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НИЖНЯ ЧАСТИНА ЛІНІЙКИ SAMYANG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Вісім із 14 позицій цього слайда коштують менше за 110 грн. Це та частина полиці, куди Choi’s мав би цілити — і куди фінмодель його не пускає навіть на full truck (155 грн).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· КОРЕЙСЬКИЙ РАМЕН   ·   ПАКЕТ І СТАКАН   ·   SAMYANG · 22 ПОЗИЦІЇ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Samyang 2 з 2 — верх лінійки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Дорожча частина лінійки: стакани, Tangle, мультипаки. Саме тут — стеля цінового вікна.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SAMYANG FOODS · КОРЕЯ   ·   70–145 г   ·   медіана 112 грн   ·   96 грн/100 г   ·   11 мереж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7311338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Buldak Рамен з гострою тушков…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145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94–184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7311342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зі смаком курки дуже гостра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140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86–151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7311050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зі смаком курки гостра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140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93–156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Grono +4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7311331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гостра з сиром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100–151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Космос · Grono +6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880107321125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Buldak Hot Chicken сир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70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137–150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Клас · Таврія В +1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8801073116832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Tangle зі смаком вершкових гр…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105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78–157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Onde · Восторг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0880173116863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Tangle зі смаком вершкового б…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105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157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Восторг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73116849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Tangle зі смаком часникової о…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105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78–157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Onde · Восторг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СТЕЛЯ БРЕНДУ-ЛІДЕРА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Найдорожчий Samyang у зрізі — 184 грн, і це мультипак. Одиночна пачка ніде не перетинає 170 грн. Полиця Choi’s 179–230 грн виходить за стелю лідера категорії.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· КОРЕЙСЬКИЙ РАМЕН   ·   ПАКЕТ І СТАКАН   ·   NONGSHIM · 32 ПОЗИЦІЇ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Nongshim 1 з 3 — найглибша лінійка ринку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32 SKU у 10 мережах. Shin Ramyun, Chapaghetti, Kimchi — базові якорі полиці.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1E9EA6"/>
                </a:solidFill>
                <a:latin typeface="Segoe UI"/>
              </a:rPr>
              <a:t>NONGSHIM · КОРЕЯ   ·   62–140 г   ·   медіана 111 грн   ·   106 грн/100 г   ·   10 мереж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0311461506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зі спеціями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003114618101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Кімчі Рамьон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302270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Soon Veggie Ramyun овочева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112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74–102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15775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Cham-Pong Ramyun з морепродук…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124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880104306167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Stir Fry Шин Рамьойн гостра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131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880104306874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Shin Ramyun Stir Fry зі смако…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136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96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003114627060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Шин Рамьон гостра сублімована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68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97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43157735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AnSungTangMyun з грибами та в…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125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74–122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0031146017119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Shrimp в стакані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67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103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0031146017096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Tempura Udon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62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103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43157711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з морепродуктами гостра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85–122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003114627060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Шин Рамьон гостра сублімована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68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8801043049566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Shin Red Super Spicy гостра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68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801043069588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Shin Ramyun зі смаком гострої…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120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89–132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БАЗА КАТЕГОРІЇ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Shin Ramyun, Kimchi і Chapaghetti — це SKU, які покупець знає напам’ять. Їхня ціна 111–120 грн і є психологічним орієнтиром «скільки коштує корейський рамен».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· КОРЕЙСЬКИЙ РАМЕН   ·   ПАКЕТ І СТАКАН   ·   NONGSHIM · 32 ПОЗИЦІЇ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Nongshim 2 з 3 — середина лінійки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Смуга 110–140 грн: тут стоїть більшість SKU бренду.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1E9EA6"/>
                </a:solidFill>
                <a:latin typeface="Segoe UI"/>
              </a:rPr>
              <a:t>NONGSHIM · КОРЕЯ   ·   62–140 г   ·   медіана 111 грн   ·   106 грн/100 г   ·   10 мереж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4302938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Cup Ramyun Shrimp гостра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67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003114601709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Tempura Udon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62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302931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Суп Neoguri з морепродуктами…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62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02812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Soon Veggie Cup Noodle Soup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67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880104315777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З морепродуктами середньогост…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85–125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Клас · METRO +2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003114615060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зі спеціями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98–129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Клас · METRO +4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0031146181018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Kimchi Ramyun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98–124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Космос · Grono +6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43157728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Chapaghetti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89–136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Клас · METRO +3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315776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З морепродуктами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125–135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Onde · Восторг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1043014809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зі спеціями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43150026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Shin Ramyun з грибами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128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70362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Shin Ramyun Tom Yum Том Ям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123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116–142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8801043028158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Kimchi Shin Ramyun Cup Noodle…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75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100–158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 · METRO · Onde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801043018470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Toomba Spicy&amp;Creamy Stir-Fry…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137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131–154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Grono +4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СЕРЕДИНА ЛІНІЙКИ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Смуга 110–150 грн. Nongshim тримає тут 14 SKU у 10 мережах — жоден новий бренд не заходить у цю смугу без цінової переваги.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· КОРЕЙСЬКИЙ РАМЕН   ·   ПАКЕТ І СТАКАН   ·   NONGSHIM · 32 ПОЗИЦІЇ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Nongshim 3 з 3 — верх лінійки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Стакани й Shin Ramyun Black — найдорожчі позиції бренду.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1E9EA6"/>
                </a:solidFill>
                <a:latin typeface="Segoe UI"/>
              </a:rPr>
              <a:t>NONGSHIM · КОРЕЯ   ·   62–140 г   ·   медіана 111 грн   ·   106 грн/100 г   ·   10 мереж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03114601737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Шин Рамен Black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165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4303111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Shin Cup локшина з грибами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80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195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301547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Spicy &amp; Creamy Toomba K-Pop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137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198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06022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Shin Ramyun Black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202–209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ВЕРХ ЛІНІЙКИ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Shin Ramyun Black 205 грн — єдина позиція бренду вище 160 грн, і це преміальна суб-лінійка з іншим складом. Її ціна не є орієнтиром для звичайного рамену.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· КОРЕЙСЬКИЙ РАМЕН   ·   ПАКЕТ І СТАКАН   ·   PALDO · 15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Paldo — 14 з 15 позицій, 77 грн/100 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Третій за глибиною корейський бренд. Дешевший за Samyang і Nongshim за грам на 20–27 %.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5D4B96"/>
                </a:solidFill>
                <a:latin typeface="Segoe UI"/>
              </a:rPr>
              <a:t>PALDO · КОРЕЯ   ·   105–145 г   ·   медіана 94 грн   ·   77 грн/100 г   ·   5 мереж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64843610061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Teumsae Ramen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120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72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06484363107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Volcano Carbonara гостра курка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105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064843631002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Compaghetti локшина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110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81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064843610042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Hwa Ramyun з гострим перцем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120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87–93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064843610068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Kokomen зі смаком курки гостр…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120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92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0648436100583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Зі смаком морепродуктів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120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93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064843631077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Spicy Zanmang Loopy з бобами…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110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76–113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0648436310746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Zanmang Loopy оригінальна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110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76–113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0648436100064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Jumbo Noodle Hot &amp; Spicy у ми…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120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99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0648436100057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Bibim Men в корейському стилі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130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72–124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Grono · NOVUS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0648436101351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Stir fried з куркою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130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86–123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0648436100934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Локшина з сиром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110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0648436101054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Rabokki локшина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145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101–124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0648436310685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Volcano Carbonara куряча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130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105–121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 · Onde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ДРУГИЙ ЕШЕЛОН ТИСНЕ ЦІНОЮ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Paldo дає ту саму вагу 110–145 г на 20–27 % дешевше за грам, ніж Samyang і Nongshim. Саме він, а не лідери, є прямим ціновим конкурентом Choi’s.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· КОРЕЙСЬКИЙ РАМЕН   ·   ПАКЕТ І СТАКАН   ·   OTTOGI ТА ІНШІ · 14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Ottogi — нижня межа корейської полиці, 75 грн/100 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Ottogi 11 SKU у 5 мережах — найдешевший корейський вхід. Плюс залишок Paldo, Otoki і Fire Bull.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5D4B96"/>
                </a:solidFill>
                <a:latin typeface="Segoe UI"/>
              </a:rPr>
              <a:t>OTTOGI · OTOKI · FIRE BULL · PALDO   ·   67–145 г   ·   медіана 89 грн   ·   75 грн/100 г   ·   5 мереж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64843610127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Volcano Chicken з куркою дуже…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140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84–123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 · Onde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064517552101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Yeul Ramen дуже гостра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120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68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552131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Kimchi Ramen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120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67–85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Таврія В +1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064517557028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Jin Ramen Гостра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67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82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880104552467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з сиром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111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83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Зараз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880104552226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Jin рамен гостра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120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84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01045009209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Stir-Fry Рамен із сиром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120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45178226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Stir-Fry Рамен із сиром гостра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130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552226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Jin рамен гостра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120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93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104599990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середньогостра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120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67–101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Grono +2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45525235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З кунжутом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115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5522555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Jin Jjambbong Ramen з морепро…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130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0850069667146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Cheesy Ramen зі смаком сиру Ч…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120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95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222992" y="3986783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Stir-Fried Ramen Beef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138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ПІДЛОГА КОРЕЙСЬКОЇ ПОЛИЦІ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Ottogi Kimchi 120 г за 77 грн — це 64 грн/100 г. Щоб стати поруч, Choi’s потрібна ціна FCA €0,44: −50 % до найкращого тарифу SIAS.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· КОРЕЙСЬКИЙ РАМЕН   ·   НІШІ ТА НАШ SKU   ·   14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O’Food, Bibigo, Yopokki — і Choi’s, який уже 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O’Food — найнижча ціна за грам категорії (67 грн/100 г). Остання картка — наш продукт у роздробі за 125,20 грн.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B53A3A"/>
                </a:solidFill>
                <a:latin typeface="Segoe UI"/>
              </a:rPr>
              <a:t>O’FOOD · BIBIGO · BAEKJE · YOPOKKI · CHOI’S   ·   92–145 г   ·   68–204 грн   ·   67–141 грн/100 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5211456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Кімчі Рамен локшина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B53A3A"/>
                </a:solidFill>
                <a:latin typeface="Segoe UI"/>
              </a:rPr>
              <a:t>144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68–72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5211438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Кімчі Рамен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B53A3A"/>
                </a:solidFill>
                <a:latin typeface="Segoe UI"/>
              </a:rPr>
              <a:t>129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74–80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5211454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Сівід Рамен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B53A3A"/>
                </a:solidFill>
                <a:latin typeface="Segoe UI"/>
              </a:rPr>
              <a:t>103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74–80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5211455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смак морепродуктів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B53A3A"/>
                </a:solidFill>
                <a:latin typeface="Segoe UI"/>
              </a:rPr>
              <a:t>102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74–84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955505030284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Стір-фрай Рамен зі смаком кім…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B53A3A"/>
                </a:solidFill>
                <a:latin typeface="Segoe UI"/>
              </a:rPr>
              <a:t>122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9555050302839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Стір-фрай Рамен Курка барбекю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B53A3A"/>
                </a:solidFill>
                <a:latin typeface="Segoe UI"/>
              </a:rPr>
              <a:t>122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9555050302808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Стір-фрай Рамен Spicy Tteokbo…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B53A3A"/>
                </a:solidFill>
                <a:latin typeface="Segoe UI"/>
              </a:rPr>
              <a:t>122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9555050302815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Стір-фрай Рамен Cheese Tteokb…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B53A3A"/>
                </a:solidFill>
                <a:latin typeface="Segoe UI"/>
              </a:rPr>
              <a:t>127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231136" y="3986783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Рисова зі смаком кімчі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B53A3A"/>
                </a:solidFill>
                <a:latin typeface="Segoe UI"/>
              </a:rPr>
              <a:t>92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106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905440235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Топоккі та локшина Рамен з си…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B53A3A"/>
                </a:solidFill>
                <a:latin typeface="Segoe UI"/>
              </a:rPr>
              <a:t>145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198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9054402363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Топоккі та локшина Рамен гост…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B53A3A"/>
                </a:solidFill>
                <a:latin typeface="Segoe UI"/>
              </a:rPr>
              <a:t>145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204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9054402370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Топоккі та локшина Рамен зі с…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B53A3A"/>
                </a:solidFill>
                <a:latin typeface="Segoe UI"/>
              </a:rPr>
              <a:t>145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204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8809054402349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Топоккі та локшина Рамен гост…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B53A3A"/>
                </a:solidFill>
                <a:latin typeface="Segoe UI"/>
              </a:rPr>
              <a:t>145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204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3760344350847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Choi's рамен карбон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B53A3A"/>
                </a:solidFill>
                <a:latin typeface="Segoe UI"/>
              </a:rPr>
              <a:t>131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НАШ SKU ВЖЕ ТУТ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Остання картка — Choi’s Carbonara 131 г за 125,20 грн у «Таврія В» і «Космос». Це не прогноз, а фактична ціна того самого товару, який нам пропонують завозити.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СУМІЖНА ПОЛИЦЯ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Не-корейська локшина: підлога, від якої рахує покупець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14 найпоширеніших не-корейських SKU локшини швидкого приготування. Вони формують уявлення про «нормальну» ціну в категорії.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3E59A8"/>
                </a:solidFill>
                <a:latin typeface="Segoe UI"/>
              </a:rPr>
              <a:t>УКРАЇНА ТА АЗІЯ БЕЗ КОРЕЇ   ·   50–200 г   ·   9–144 грн за пачку   ·   18–146 грн/100 г   ·   до 12 мереж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Garnenka зі смаком курки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9–13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ЕКО · Епіцентр +2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311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Daryna зі смаком курки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50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Епіцентр · Торба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313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Хуторок зі смаком курки гостра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13–16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ЕКО · Ідеал · МегаМаркет +1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482309741337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Щедро Том Ям з морепродуктами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12–18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48201792568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Reeva зі смаком грибів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15–22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ЕКО +9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2792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ChiBi Sweet Chili Crab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85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18–25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ЕКО · Ідеал · NOVUS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222992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Acecook Hao Hao зі смаком Кімчі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77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38–51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5201810202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рамен Yum Yum Tom Yum з креветками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70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60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93601068142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рисова Micoem Cung Dinh з куркою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68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50–87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4820172444398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рисова Hokkaido Club Рамен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80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62–90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Епіцентр · МегаМаркет +4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93456362815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Ippin класичний рамен Хаката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73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82–97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58500244579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Макаронні вироби МІВІНА® Street Fo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121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81–108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Ідеал +9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622792" y="3986783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рисова Bich-Chi Vina Pho Ga зі сма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100–108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МегаМаркет · Ultramarket +1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936010681545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Cung Dinh Kool Korean BBQ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105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110–144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Grono +1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РИТЕЙЛ-АУДИТ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Хто з мереж узагалі має корейський рамен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Суцільна перевірка онлайн-каталогів 18 мереж, зріз 29.09.2026. SKU — унікальні позиції корейського рамену в каталозі мережі.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2194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627632"/>
            <a:ext cx="1554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ПОКРИТТЯ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62763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627632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627632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16368" y="1627632"/>
            <a:ext cx="4114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БРЕНДИ НА ПОЛИЦІ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81051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181051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181051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181051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181051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65–205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16368" y="181051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Paldo · Ottogi · O’Food · Bibigo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" y="202539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206197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Grono (Вінниця)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206197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206197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20619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206197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72–205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206197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Paldo · Yopokki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31343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Onde (Чернівці)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231343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231343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231343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231343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76–157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16368" y="231343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" y="252831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256489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256489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 · C&amp;C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256489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256489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256489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105–204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16368" y="256489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281635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«Зараз»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40" y="281635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281635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0" y="281635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0" y="281635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70–138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16368" y="281635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3776" y="303123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306781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«Клас» (Харків)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34640" y="306781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80560" y="306781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20640" y="306781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26480" y="306781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102–157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16368" y="306781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331927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«Восторг» (Харків)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34640" y="331927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80560" y="331927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20640" y="331927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26480" y="331927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102–157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16368" y="331927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93776" y="353415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357073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«Космос» (Одеса)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34640" y="357073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80560" y="357073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20640" y="357073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26480" y="357073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77–143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16368" y="357073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 · Choi’s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82219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«Таврія В»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34640" y="382219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480560" y="382219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20640" y="382219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26480" y="382219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77–143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16368" y="382219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 · Choi’s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3776" y="4037076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6928" y="407365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834640" y="407365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80560" y="407365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20640" y="407365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26480" y="407365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100–149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516368" y="407365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928" y="432511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«ЧудоМаркет»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34640" y="432511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480560" y="432511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20640" y="432511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26480" y="432511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100–149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16368" y="432511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93776" y="4539996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66928" y="457657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«Торба»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834640" y="457657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80560" y="457657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20640" y="45765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126480" y="457657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138–139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516368" y="457657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482803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«Сільпо»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834640" y="482803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 · №1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480560" y="482803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120640" y="482803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126480" y="482803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90–199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516368" y="482803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(3) · Nongshim (1)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93776" y="5042916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66928" y="507949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МегаМаркет · Ultramarket · ЕКО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834640" y="507949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480560" y="507949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120640" y="507949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126480" y="507949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516368" y="507949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6928" y="533095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Епіцентр · «Ідеал»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834640" y="533095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 / регіон.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480560" y="533095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120640" y="533095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126480" y="533095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516368" y="533095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66928" y="5486400"/>
            <a:ext cx="3547872" cy="7772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66928" y="5486400"/>
            <a:ext cx="36576" cy="7772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04672" y="564184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ДИРКА №1 · «СІЛЬПО»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4672" y="5870448"/>
            <a:ext cx="307238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Найбільша мережа країни тримає 4 SKU корейського рамену. Полиця відкрита — але вхід там 90–139 грн.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315968" y="5486400"/>
            <a:ext cx="3547872" cy="7772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315968" y="5486400"/>
            <a:ext cx="36576" cy="7772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53712" y="564184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ДИРКА №2 · П’ЯТЬ МЕРЕЖ З НУЛЕМ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53712" y="5870448"/>
            <a:ext cx="307238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МегаМаркет, Ultramarket, ЕКО, Епіцентр, «Ідеал» — 0 SKU. Це аргумент для дистрибуції, не для ціни.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065008" y="5486400"/>
            <a:ext cx="3566160" cy="7772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065008" y="5486400"/>
            <a:ext cx="36576" cy="77724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302752" y="5641848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ОДИН ПОСТАЧАЛЬНИК НА ДВІ МЕРЕЖІ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02752" y="5870448"/>
            <a:ext cx="309067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«Космос» і «Таврія В» мають ідентичні 12 SKU і той самий діапазон. Саме там стоїть Choi’s.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КАНАЛИ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Куди Choi’s може зайти за поточної ціни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Канал визначається не покупцем, а тим, чи бере він бонус і яку націнку тримає.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72768"/>
            <a:ext cx="2788920" cy="21214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36576" cy="212140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28216"/>
            <a:ext cx="231343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НАЦІОНАЛЬНІ МЕРЕЖІ · НЕ ЗАХОДИМО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956816"/>
            <a:ext cx="2313432" cy="1591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Ашан, «Сільпо», NOVUS, METRO, «Зараз».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Бонус 20–30 %, націнка 1,35–1,45, лістинг і промо-календар.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За поточної ціни FCA GM падає до 7 % і нижче. Полиця тут уже зайнята Samyang і Nongshim за 90–139 грн.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8" y="1572768"/>
            <a:ext cx="2788920" cy="21214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8728" y="1572768"/>
            <a:ext cx="36576" cy="212140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6472" y="1728216"/>
            <a:ext cx="231343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РЕГІОНАЛЬНІ МЕРЕЖІ · МОЖЛИВО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6472" y="1956816"/>
            <a:ext cx="2313432" cy="1591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«Космос», «Таврія В», «Восторг», «Клас», Grono, Onde, «ЧудоМаркет».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Медіана корейського рамену тут 118–138 грн — вище, ніж у національних. Бонуси нижчі.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Але саме тут уже стоїть Choi’s за 125,20 грн через іншого постачальника.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1572768"/>
            <a:ext cx="2788920" cy="21214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10528" y="1572768"/>
            <a:ext cx="36576" cy="21214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48272" y="1728216"/>
            <a:ext cx="231343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МАРКЕТПЛЕЙСИ · РОБОЧИЙ КАНАЛ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1956816"/>
            <a:ext cx="2313432" cy="1591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Rozetka, Prom, MAUDAU, Bigl.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Медіана в категорії «локшина рамен» на Prom — 135 грн, мінімум 80 грн.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Бонусу немає, націнка продавця власна. Єдиний масовий канал, де поточна ціна FCA дає GM 25–30 %.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82328" y="1572768"/>
            <a:ext cx="2148840" cy="21214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82328" y="1572768"/>
            <a:ext cx="36576" cy="21214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20072" y="1728216"/>
            <a:ext cx="16733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АЗІЙСЬКІ ФУДШОПИ · РОБОЧИЙ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0072" y="1956816"/>
            <a:ext cx="1673352" cy="1591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OMG! Asia, Тайякі Март, Суші Повар, Asia Foods, Panda Asian.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Корейський рамен 61–158 грн, ядро 92–135 грн. Без бонусу.</a:t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Обсяги малі: full truck цим каналом не вибирається.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895344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3904487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ЦІНОВИЙ ЗРІЗ ПО КАНАЛАХ · КОРЕЙСЬКИЙ РАМЕН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133087"/>
            <a:ext cx="2560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133087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ТОЧОК У ЗРІЗІ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4133087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 / ЗАПИСІВ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4133087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4133087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4133087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БОНУС МЕРЕЖІ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4133087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ПРИДАТНІСТЬ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315968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Національні мережі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431596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431596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105 записів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43159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65–205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43159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9680" y="431596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20–30 %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32720" y="4315968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3776" y="4590288"/>
            <a:ext cx="10936224" cy="30175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626864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Регіональні мережі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462686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62686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106 записів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462686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67–205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26679" y="46268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462686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5–15 %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462686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умовно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4937759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Маркетплейси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0400" y="4937759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63440" y="4937759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50+ позицій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72200" y="4937759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80–1 350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26679" y="4937759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135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69680" y="4937759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0 %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20" y="4937759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так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93776" y="5212079"/>
            <a:ext cx="10936224" cy="30175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248655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Азійські фудшопи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0" y="5248655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5+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63440" y="5248655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72 позиції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72200" y="5248655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61–158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26679" y="5248655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117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69680" y="5248655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0 %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32720" y="5248655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так, обсяг малий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577840"/>
            <a:ext cx="11064240" cy="80467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66928" y="5577840"/>
            <a:ext cx="36576" cy="8046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4672" y="573328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ГОЛОВНЕ ПРО КАНАЛИ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4672" y="5961888"/>
            <a:ext cx="10588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Канали, де поточна ціна SIAS дає маржу, не здатні вибрати full truck 52 800 пачок. Канал, який здатен, маржі не дає. Це структурна проблема пропозиції, а не питання переговорів про 5–10 %.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КРИТИЧНИЙ ФАКТ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Choi’s Ramyeon уже продається в Україні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Знайдено в каталогах під час зрізу 29.09.2026. Це не оцінка — це фактична роздрібна ціна того самого SKU.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45920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" y="1709928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37603443508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1773936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" y="2423160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Choi's рамен карбон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15768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B53A3A"/>
                </a:solidFill>
                <a:latin typeface="Segoe UI"/>
              </a:rPr>
              <a:t>131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862072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081528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40280" y="1645920"/>
            <a:ext cx="2926080" cy="16550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41448" y="1801368"/>
            <a:ext cx="2560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EAN / ПОХОДЖЕННЯ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1448" y="20116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3760344350847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41448" y="2487168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Префікс 376 — Франція.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Збігається з SIAS France, Roye.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30952" y="1645920"/>
            <a:ext cx="2926080" cy="16550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32120" y="1801368"/>
            <a:ext cx="2560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РОЗДРІБНА ЦІНА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20116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125,20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2487168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«Таврія В» і «Космос».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96 грн/100 г.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21624" y="1645920"/>
            <a:ext cx="3209544" cy="16550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22792" y="1801368"/>
            <a:ext cx="2843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НАША ПОЛИЦЯ ЗА ФІНМОДЕЛЛЮ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22792" y="2011680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179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22792" y="2487168"/>
            <a:ext cx="28437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33 палети, €1,02.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+43 % до фактичної ціни.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52044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352958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ЩО ЦЕ ОЗНАЧАЄ ДЛЯ ПЕРЕГОВОРІВ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758184"/>
            <a:ext cx="3547872" cy="23317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758184"/>
            <a:ext cx="36576" cy="233172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3913632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1 · ЦІНА ВЖЕ ВСТАНОВЛЕНА РИНКОМ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" y="4142232"/>
            <a:ext cx="3072384" cy="18013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Не ми визначаємо полицю для Choi’s. Вона вже є: 125,20 грн. Наша фінмодель на найкращому тарифі дає 179 грн. Зайти дорожче за той самий бренд, що вже стоїть поруч, неможливо.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Європейський роздріб того самого SKU — €2,20 (акція €1,80) = 92–112 грн. Українська полиця вже на рівні європейської: цінового запасу під імпортну маржу немає.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15968" y="3758184"/>
            <a:ext cx="3547872" cy="23317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15968" y="3758184"/>
            <a:ext cx="36576" cy="2331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53712" y="3913632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2 · ХТО ВЖЕ ЗАВІЗ — ПИТАННЯ ДО SIAS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4142232"/>
            <a:ext cx="3072384" cy="18013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Перед будь-якими обговореннями обсягу треба з’ясувати: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хто діючий імпортер Choi’s в Україні;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які в нього ціна FCA і обсяг;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чи пропонують нам ексклюзив, чи ми будемо другим каналом на той самий бренд;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чому нам дають €1,31 за 6 палет, якщо хтось уже продає в роздріб за 125 грн.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65008" y="3758184"/>
            <a:ext cx="3566160" cy="23317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65008" y="3758184"/>
            <a:ext cx="36576" cy="23317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02752" y="3913632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3 · НАЙІМОВІРНІША ГІПОТЕЗА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2752" y="4142232"/>
            <a:ext cx="3090672" cy="18013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Діючий імпортер працює або на значно нижчій ціні FCA, або без бонусу мережі з маржею ~30 %, або завозить дрібними партіями як асортиментний додаток.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Перший варіант означає, що €0,88–1,31 — не найкраща ціна SIAS. Це головне, що треба перевірити до розрахунку обсягу.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236208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Джерело: каталоги tavriav.zakaz.ua і cosmos.zakaz.ua, позиція «Локшина Choi’s рамен карбон 131 г», 125,20 грн. Європейська ціна — dotasia.eu.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РОЗРАХУНОК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Як ціна FCA перетворюється на полицю — і навпаки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Множник 3,446 = 1/(1−35 %) ÷ (1−25 %) × 1,40 × 1,20. Курс НБУ 50,97 грн/€ на 29.09.2026.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ПРЯМИЙ РАХУНОК · CARBONARA 131 Г, 33 ПАЛЕТИ, FCA €1,02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73936"/>
            <a:ext cx="1664208" cy="960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865376"/>
            <a:ext cx="14081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20" b="1" spc="-10">
                <a:solidFill>
                  <a:srgbClr val="717890"/>
                </a:solidFill>
                <a:latin typeface="Segoe UI"/>
              </a:rPr>
              <a:t>СОБІВАРТІСТЬ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066543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spc="-10">
                <a:solidFill>
                  <a:srgbClr val="3E59A8"/>
                </a:solidFill>
                <a:latin typeface="Segoe UI"/>
              </a:rPr>
              <a:t>52,0 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377440"/>
            <a:ext cx="14081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€1,02 × 50,97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31136" y="2153412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14016" y="1773936"/>
            <a:ext cx="1664208" cy="960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2032" y="1865376"/>
            <a:ext cx="14081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20" b="1" spc="-10">
                <a:solidFill>
                  <a:srgbClr val="717890"/>
                </a:solidFill>
                <a:latin typeface="Segoe UI"/>
              </a:rPr>
              <a:t>НАША ЦІНА НЕТТО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032" y="2066543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spc="-10">
                <a:solidFill>
                  <a:srgbClr val="3E59A8"/>
                </a:solidFill>
                <a:latin typeface="Segoe UI"/>
              </a:rPr>
              <a:t>80,0 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2377440"/>
            <a:ext cx="14081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÷ (1 − 35 % маржі)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78224" y="2153412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61104" y="1773936"/>
            <a:ext cx="1664208" cy="960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1865376"/>
            <a:ext cx="14081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20" b="1" spc="-10">
                <a:solidFill>
                  <a:srgbClr val="717890"/>
                </a:solidFill>
                <a:latin typeface="Segoe UI"/>
              </a:rPr>
              <a:t>ПРАЙС ДЛЯ МЕРЕЖІ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2066543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spc="-10">
                <a:solidFill>
                  <a:srgbClr val="3E59A8"/>
                </a:solidFill>
                <a:latin typeface="Segoe UI"/>
              </a:rPr>
              <a:t>106,7 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2377440"/>
            <a:ext cx="14081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÷ (1 − 25 % бонусу)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25312" y="2153412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08192" y="1773936"/>
            <a:ext cx="1664208" cy="960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36207" y="1865376"/>
            <a:ext cx="14081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20" b="1" spc="-10">
                <a:solidFill>
                  <a:srgbClr val="717890"/>
                </a:solidFill>
                <a:latin typeface="Segoe UI"/>
              </a:rPr>
              <a:t>ЦІНА МЕРЕЖІ БЕЗ ПДВ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6207" y="2066543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spc="-10">
                <a:solidFill>
                  <a:srgbClr val="3E59A8"/>
                </a:solidFill>
                <a:latin typeface="Segoe UI"/>
              </a:rPr>
              <a:t>149,3 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7" y="2377440"/>
            <a:ext cx="14081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× 1,40 націнка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2153412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55279" y="1773936"/>
            <a:ext cx="1664208" cy="960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83296" y="1865376"/>
            <a:ext cx="14081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20" b="1" spc="-10">
                <a:solidFill>
                  <a:srgbClr val="717890"/>
                </a:solidFill>
                <a:latin typeface="Segoe UI"/>
              </a:rPr>
              <a:t>ПОЛИЦЯ З ПДВ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83296" y="2066543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spc="-10">
                <a:solidFill>
                  <a:srgbClr val="3E59A8"/>
                </a:solidFill>
                <a:latin typeface="Segoe UI"/>
              </a:rPr>
              <a:t>179 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83296" y="2377440"/>
            <a:ext cx="14081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× 1,20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19488" y="2153412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802367" y="1773936"/>
            <a:ext cx="1664208" cy="960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30384" y="1865376"/>
            <a:ext cx="14081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20" b="1" spc="-10">
                <a:solidFill>
                  <a:srgbClr val="717890"/>
                </a:solidFill>
                <a:latin typeface="Segoe UI"/>
              </a:rPr>
              <a:t>ДО МЕДІАНИ ВІКНА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2066543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spc="-10">
                <a:solidFill>
                  <a:srgbClr val="3E59A8"/>
                </a:solidFill>
                <a:latin typeface="Segoe UI"/>
              </a:rPr>
              <a:t>+86 %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30384" y="2377440"/>
            <a:ext cx="14081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факт 96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999232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ЗВОРОТНИЙ РАХУНОК · ЩО ПОТРІБНО, ЩОБ СТАТИ НА МЕДІАНУ ВІКНА 96 ГРН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218688"/>
            <a:ext cx="1664208" cy="960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4944" y="3310128"/>
            <a:ext cx="14081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20" b="1" spc="-10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" y="3511296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spc="-10">
                <a:solidFill>
                  <a:srgbClr val="C4820A"/>
                </a:solidFill>
                <a:latin typeface="Segoe UI"/>
              </a:rPr>
              <a:t>96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" y="3822191"/>
            <a:ext cx="14081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медіана 110–135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31136" y="3598164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14016" y="3218688"/>
            <a:ext cx="1664208" cy="960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42032" y="3310128"/>
            <a:ext cx="14081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20" b="1" spc="-10">
                <a:solidFill>
                  <a:srgbClr val="717890"/>
                </a:solidFill>
                <a:latin typeface="Segoe UI"/>
              </a:rPr>
              <a:t>БЕЗ ПДВ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42032" y="3511296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spc="-10">
                <a:solidFill>
                  <a:srgbClr val="C4820A"/>
                </a:solidFill>
                <a:latin typeface="Segoe UI"/>
              </a:rPr>
              <a:t>80,4 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42032" y="3822191"/>
            <a:ext cx="14081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÷ 1,20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78224" y="3598164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61104" y="3218688"/>
            <a:ext cx="1664208" cy="960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89120" y="3310128"/>
            <a:ext cx="14081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20" b="1" spc="-10">
                <a:solidFill>
                  <a:srgbClr val="717890"/>
                </a:solidFill>
                <a:latin typeface="Segoe UI"/>
              </a:rPr>
              <a:t>ПРАЙС ДЛЯ МЕРЕЖІ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89120" y="3511296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spc="-10">
                <a:solidFill>
                  <a:srgbClr val="C4820A"/>
                </a:solidFill>
                <a:latin typeface="Segoe UI"/>
              </a:rPr>
              <a:t>57,4 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89120" y="3822191"/>
            <a:ext cx="14081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÷ 1,40 націнка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25312" y="3598164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08192" y="3218688"/>
            <a:ext cx="1664208" cy="960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36207" y="3310128"/>
            <a:ext cx="14081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20" b="1" spc="-10">
                <a:solidFill>
                  <a:srgbClr val="717890"/>
                </a:solidFill>
                <a:latin typeface="Segoe UI"/>
              </a:rPr>
              <a:t>НАШЕ НЕТТО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36207" y="3511296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spc="-10">
                <a:solidFill>
                  <a:srgbClr val="C4820A"/>
                </a:solidFill>
                <a:latin typeface="Segoe UI"/>
              </a:rPr>
              <a:t>43,0 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36207" y="3822191"/>
            <a:ext cx="14081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× (1 − 25 % бонусу)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72400" y="3598164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955279" y="3218688"/>
            <a:ext cx="1664208" cy="960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83296" y="3310128"/>
            <a:ext cx="14081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20" b="1" spc="-10">
                <a:solidFill>
                  <a:srgbClr val="717890"/>
                </a:solidFill>
                <a:latin typeface="Segoe UI"/>
              </a:rPr>
              <a:t>ДОПУСТИМА СОБ.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83296" y="3511296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spc="-10">
                <a:solidFill>
                  <a:srgbClr val="C4820A"/>
                </a:solidFill>
                <a:latin typeface="Segoe UI"/>
              </a:rPr>
              <a:t>28,0 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83296" y="3822191"/>
            <a:ext cx="14081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× (1 − 35 % маржі)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19488" y="3598164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7" y="3218688"/>
            <a:ext cx="1664208" cy="960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930384" y="3310128"/>
            <a:ext cx="14081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20" b="1" spc="-10">
                <a:solidFill>
                  <a:srgbClr val="717890"/>
                </a:solidFill>
                <a:latin typeface="Segoe UI"/>
              </a:rPr>
              <a:t>ПОТРІБЕН FCA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930384" y="3511296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spc="-10">
                <a:solidFill>
                  <a:srgbClr val="C4820A"/>
                </a:solidFill>
                <a:latin typeface="Segoe UI"/>
              </a:rPr>
              <a:t>€0,55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30384" y="3822191"/>
            <a:ext cx="14081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−38 % до €0,88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66928" y="4498848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13232" y="4507992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ТОЧКА БЕЗЗБИТКОВОСТІ: ЯКА ПОЛИЦЯ ПОТРІБНА ПІД КОЖНУ ЦІЛЬОВУ МАРЖУ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0" y="4507992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грн за пачку, з ПДВ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6928" y="4736592"/>
            <a:ext cx="2103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ТАРИФ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43200" y="4736592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СОБ.,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840480" y="4736592"/>
            <a:ext cx="1645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GM 15 % · БЕЗ БОНУСУ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32120" y="4736592"/>
            <a:ext cx="1645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GM 15 % · БОНУС 25 %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23760" y="4736592"/>
            <a:ext cx="1645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GM 25 % · БЕЗ БОНУСУ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915400" y="4736592"/>
            <a:ext cx="1645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GM 35 % · БОНУС 25 %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736592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 ВІКНА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6928" y="4919472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6 палет · €1,31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91947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66,8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0480" y="491947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132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532120" y="491947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176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223760" y="491947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150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15400" y="491947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07040" y="491947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96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93776" y="5157216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66928" y="5193792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12 палет · €1,11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743200" y="519379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56,6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840480" y="519379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532120" y="519379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149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519379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15400" y="519379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195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607040" y="519379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6928" y="5468112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33 палети · €1,02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743200" y="546811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52,0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840480" y="54681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532120" y="54681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137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54681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15400" y="54681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179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607040" y="546811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96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93776" y="5705855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66928" y="5742431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33 палети · €0,88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743200" y="5742431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44,9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840480" y="5742431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89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532120" y="5742431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223760" y="5742431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15400" y="5742431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155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607040" y="5742431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6035040"/>
            <a:ext cx="11064240" cy="65836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6035040"/>
            <a:ext cx="36576" cy="65836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619048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ЄДИНА КЛІТИНКА, ЩО ДОТЯГУЄТЬСЯ ДО РИНКУ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6419088"/>
            <a:ext cx="1058875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33 палети за €0,88, маржа 15 %, канал без бонусу → полиця 89 грн. Це нижче за медіану вікна 96 грн. Усі інші 15 комбінацій дають полицю вище за ринок.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ФІНМОДЕЛЬ ПРОТИ ПОЛИЦІ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Що дає кожен тариф SIAS 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Полиця = собівартість × 3,45 за поточних умов. Праві дві колонки — розрив до фактичного ринку.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ТАРИФ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23744" y="1627632"/>
            <a:ext cx="17373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627632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€/ПАЧКА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1627632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СОБ.,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627632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ПОЛИЦЯ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627632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1627632"/>
            <a:ext cx="1554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ДО МЕДІАНИ 96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2680" y="1627632"/>
            <a:ext cx="1600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ДО ФАКТУ 125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1810512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6 палет · 9 600 пачок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23744" y="181051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Gouda 123 / Carbonara 131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1810512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181051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66,8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181051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230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181051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176–187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181051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+139 %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2680" y="1810512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+84 %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76" y="2052828"/>
            <a:ext cx="10936224" cy="2697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2089404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6 палет · 9 600 пачок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3744" y="2089404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Veg / Spicy / Beef / Chicken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208940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7800" y="208940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57,6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208940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0920" y="208940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176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2089404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+106 %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2089404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+59 %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368296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12 палет · 19 200 пачок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23744" y="2368296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Gouda 123 / Carbonara 131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2368296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57800" y="236829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56,6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2368296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195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60920" y="2368296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149–159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66760" y="2368296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+102 %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12680" y="2368296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+56 %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3776" y="2610612"/>
            <a:ext cx="10936224" cy="2697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264718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12 палет · 19 200 пачок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23744" y="2647188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Veg / Spicy / Beef / Chicken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97680" y="264718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0,96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57800" y="264718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48,9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264718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169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60920" y="264718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149–150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6760" y="2647188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+75 %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12680" y="2647188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+35 %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2926080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33 палети · 52 800 пачок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23744" y="2926080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Gouda 123 / Carbonara 131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97680" y="2926080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292608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52,0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55080" y="292608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60920" y="292608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137–146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66760" y="29260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+86 %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12680" y="29260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+43 %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93776" y="3168396"/>
            <a:ext cx="10936224" cy="2697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3204972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33 палети · 52 800 пачок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523744" y="320497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Veg / Spicy / Beef / Chicken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204972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57800" y="320497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44,9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55080" y="32049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60920" y="32049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20497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+60 %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12680" y="3204972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+23 %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6928" y="356616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3232" y="3575303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ЗВОРОТНА ЗАДАЧА: ЯКА ЦІНА FCA ПОТРІБНА ПІД КОЖЕН ЦІНОВИЙ ОРІЄНТИР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3803904"/>
            <a:ext cx="3108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749039" y="380390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63440" y="3803904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ДОПУСТИМА СОБ.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26480" y="3803904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ПОТРІБЕН FCA, €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80960" y="3803904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ДО €0,88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869680" y="3803904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ДО €1,02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058400" y="3803904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ДО €1,31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928" y="3986784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Паритет Ottogi Kimchi 120 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749039" y="3986784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663440" y="398678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22,3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26480" y="398678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0,438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80960" y="3986784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-50 %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69680" y="3986784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-57 %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058400" y="3986784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-67 %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93776" y="4229100"/>
            <a:ext cx="10936224" cy="2697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66928" y="4265676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P25 вікна 110–135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749039" y="4265676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663440" y="4265676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25,0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26480" y="4265676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0,490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680960" y="4265676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-44 %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869680" y="4265676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-52 %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058400" y="4265676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-63 %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66928" y="4544568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Медіана вікна 110–135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749039" y="454456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63440" y="454456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28,0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26480" y="45445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0,549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680960" y="4544568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-38 %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869680" y="4544568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-46 %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058400" y="4544568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-58 %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93776" y="4786883"/>
            <a:ext cx="10936224" cy="2697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66928" y="4823459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Медіана корейського рамену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749039" y="4823459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663440" y="4823459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30,3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126480" y="4823459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0,595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680960" y="4823459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-32 %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869680" y="4823459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-42 %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058400" y="4823459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-55 %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66928" y="5102351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Фактична полиця Choi's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749039" y="5102351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663440" y="5102351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36,3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126480" y="5102351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0,713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680960" y="5102351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-19 %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869680" y="5102351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-30 %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058400" y="5102351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-46 %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66928" y="5760720"/>
            <a:ext cx="110642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«Собівартість» у колоді SIAS трактується як витрати до полиці (FCA + фрахт + оформлення) — цифри падають з обсягом, отже фрахт амортизується.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Якщо €0,88–1,31 — це лише ціна FCA без логістики, усі значення полиці зростають, а розрив збільшується. Розбивку треба запросити у постачальника.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ТЕСТ НА ВИЖИВАННЯ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Яка маржа виходить при ринкових цінах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Беремо ринкову полицю як задану. Полиця → без ПДВ (÷1,20) → закупка мережі (÷1,40) → мінус бонус → порівняння з собівартістю.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6362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ВАЛОВА МАРЖА ПРИ РІЗНИХ ЦІНАХ ПОЛИЦІ І РІЗНИХ БОНУСАХ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563624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GM, % від нетто-виручки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792224"/>
            <a:ext cx="2377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ПОЛИЦІ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0944" y="1792224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1792224"/>
            <a:ext cx="12070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ЗАКУПКА МЕРЕЖІ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1792224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6 ПАЛЕТ · 0 %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0176" y="1792224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6 ПАЛЕТ · 25 %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2" y="1792224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12 ПАЛЕТ · 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1792224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12 ПАЛЕТ · 25 %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81744" y="1792224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33 ПАЛЕТИ · 0 %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1792224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33 ПАЛЕТИ · 25 %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975104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медіана вікна 110–135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80944" y="1975104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84448" y="1975104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57,4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1975104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B53A3A"/>
                </a:solidFill>
                <a:latin typeface="Segoe UI"/>
              </a:rPr>
              <a:t>−16,3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80176" y="1975104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B53A3A"/>
                </a:solidFill>
                <a:latin typeface="Segoe UI"/>
              </a:rPr>
              <a:t>−55,1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4032" y="1975104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1,4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7888" y="1975104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B53A3A"/>
                </a:solidFill>
                <a:latin typeface="Segoe UI"/>
              </a:rPr>
              <a:t>−31,4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81744" y="1975104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9,4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1975104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B53A3A"/>
                </a:solidFill>
                <a:latin typeface="Segoe UI"/>
              </a:rPr>
              <a:t>−20,8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" y="2231136"/>
            <a:ext cx="10936224" cy="2834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2267712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медіана корейського рамену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80944" y="2267712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84448" y="2267712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62,2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226771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B53A3A"/>
                </a:solidFill>
                <a:latin typeface="Segoe UI"/>
              </a:rPr>
              <a:t>−7,3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0176" y="226771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B53A3A"/>
                </a:solidFill>
                <a:latin typeface="Segoe UI"/>
              </a:rPr>
              <a:t>−43,1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14032" y="226771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9,0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7888" y="226771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B53A3A"/>
                </a:solidFill>
                <a:latin typeface="Segoe UI"/>
              </a:rPr>
              <a:t>−21,3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81744" y="226771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16,4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226771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B53A3A"/>
                </a:solidFill>
                <a:latin typeface="Segoe UI"/>
              </a:rPr>
              <a:t>−11,4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2560320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фактична полиця Choi's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80944" y="256032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84448" y="2560320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74,5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46320" y="2560320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10,4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80176" y="2560320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B53A3A"/>
                </a:solidFill>
                <a:latin typeface="Segoe UI"/>
              </a:rPr>
              <a:t>−19,5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2560320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24,1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47888" y="2560320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B53A3A"/>
                </a:solidFill>
                <a:latin typeface="Segoe UI"/>
              </a:rPr>
              <a:t>−1,2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81744" y="2560320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30,2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2560320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7,0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76" y="2816351"/>
            <a:ext cx="10936224" cy="2834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2852927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медіана Buldak 140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80944" y="2852927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84448" y="2852927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81,5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46320" y="2852927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18,1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0176" y="2852927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B53A3A"/>
                </a:solidFill>
                <a:latin typeface="Segoe UI"/>
              </a:rPr>
              <a:t>−9,2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14032" y="2852927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30,6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47888" y="2852927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7,5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81744" y="2852927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36,2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15600" y="2852927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15,0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324612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3232" y="3255263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ЩО ЦЕ ДАЄ У ГРОШАХ ПРИ ФАКТИЧНІЙ ПОЛИЦІ 125,20 ГРН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15200" y="3255263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до внутрішньої логістики, лістингів і промо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6928" y="3483863"/>
            <a:ext cx="2103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ТАРИФ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24912" y="3483863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ПАЧОК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95344" y="3483863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СОБ.,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974336" y="3483863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МАРЖА/ПАЧКУ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27648" y="3483863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ВАЛОВА МАРЖА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63840" y="3483863"/>
            <a:ext cx="17373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ОБОРОТНИЙ КАПІТАЛ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692640" y="3483863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КОМЕНТАР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366674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6 палет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724912" y="3666744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9 600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95344" y="366674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66,8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74336" y="366674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7,7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7648" y="366674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74 тис.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863840" y="3666744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641 тис.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692640" y="3666744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не покриває оформлення партії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93776" y="3941063"/>
            <a:ext cx="10936224" cy="30175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66928" y="3977639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12 палет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724912" y="3977639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19 200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95344" y="3977639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56,6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974336" y="3977639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17,9 грн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27648" y="3977639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344 тис. грн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63840" y="3977639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1 086 тис.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692640" y="3977639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гранично, бонус з’їдає все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4288536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33 палети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724912" y="4288536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52 800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95344" y="428853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52,0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74336" y="4288536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22,5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27648" y="4288536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1 190 тис. грн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863840" y="4288536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2 745 тис. грн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92640" y="4288536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єдиний тариф з маржею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66928" y="4800600"/>
            <a:ext cx="5413248" cy="14813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66928" y="4800600"/>
            <a:ext cx="36576" cy="148132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04672" y="4956048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ЧОМУ БОНУС ВИРІШУЄ ВСЕ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4672" y="5184648"/>
            <a:ext cx="4937760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Бонус мережі 25 % при полиці 125 грн забирає 18,6 грн із 74,5 грн закупки. На тарифі 33 палети це знижує GM з 30 % до 7 % — нижче будь-якого порогу окупності імпорту.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Практичний висновок: якщо заходити, то в канал без бонусу — маркетплейси й азійські фудшопи, а не національні мережі.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217920" y="4800600"/>
            <a:ext cx="5413248" cy="14813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217920" y="4800600"/>
            <a:ext cx="36576" cy="148132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455664" y="4956048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ЧОГО НЕМАЄ В ЦЬОМУ РОЗРАХУНКУ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55664" y="5184648"/>
            <a:ext cx="4937760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Не враховано: внутрішню логістику й складування, лістингові платежі, промо-бюджет, втрати від залишків, вартість грошей на 2,7 млн грн обороту на full truck і курсовий ризик.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Усі вони зменшують маржу. GM 30 % на 33 палетах — верхня межа, а не робочий план.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ВИСНОВОК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Що робити з пропозицією SIAS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Три сценарії, оцінені за конкурентною позицією, а не за собівартістю.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00200"/>
            <a:ext cx="3547872" cy="391363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600200"/>
            <a:ext cx="36576" cy="3913632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55648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B53A3A"/>
                </a:solidFill>
                <a:latin typeface="Segoe UI"/>
              </a:rPr>
              <a:t>НЕ ЗАВОДИТИ ЗА ПОТОЧНОЮ ЦІНОЮ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965960"/>
            <a:ext cx="307238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10">
                <a:solidFill>
                  <a:srgbClr val="303A5D"/>
                </a:solidFill>
                <a:latin typeface="Segoe UI"/>
              </a:rPr>
              <a:t>6 і 12 палет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3072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B53A3A"/>
                </a:solidFill>
                <a:latin typeface="Segoe UI"/>
              </a:rPr>
              <a:t>GM 10–24 %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999232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ПОЛИЦЯ ЗА ФІНМОДЕЛЛЮ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163824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169–230 грн проти медіани вікна 96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357530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ПРОБЛЕМА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739896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той самий SKU уже в роздробі за 125,20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151376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МАРЖА ПРИ 125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315968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6 палет — 10 %, 12 палет — 24 %, і лише без бонусу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727448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ВЕРДИКТ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4892040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тестова партія не дасть ні маржі, ні даних: ціна нерелевантна ринку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15968" y="1600200"/>
            <a:ext cx="3547872" cy="391363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15968" y="1600200"/>
            <a:ext cx="36576" cy="391363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53712" y="1755648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F9A50B"/>
                </a:solidFill>
                <a:latin typeface="Segoe UI"/>
              </a:rPr>
              <a:t>ЄДИНИЙ РОБОЧИЙ ВАРІАНТ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53712" y="1965960"/>
            <a:ext cx="307238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10">
                <a:solidFill>
                  <a:srgbClr val="303A5D"/>
                </a:solidFill>
                <a:latin typeface="Segoe UI"/>
              </a:rPr>
              <a:t>33 палети, канал без бонусу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2560320"/>
            <a:ext cx="3072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F9A50B"/>
                </a:solidFill>
                <a:latin typeface="Segoe UI"/>
              </a:rPr>
              <a:t>GM 30 %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2999232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УМОВА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3163824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маркетплейси й азійські фудшопи, полиця 125–135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357530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МАРЖА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3739896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22,5 грн/пачку, 1,19 млн грн на партію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4151376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РИЗИК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4315968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оборотний капітал 2,7 млн грн; 52 800 пачок ≈ 2,5 % річного корейського ринку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4727448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ВЕРДИКТ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4892040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працює лише якщо заздалегідь законтрактовано ≥60 % обсягу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65008" y="1600200"/>
            <a:ext cx="3547872" cy="391363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65008" y="1600200"/>
            <a:ext cx="36576" cy="391363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02752" y="1755648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1E9EA6"/>
                </a:solidFill>
                <a:latin typeface="Segoe UI"/>
              </a:rPr>
              <a:t>ЩО ПРОСИТИ У SIAS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2752" y="1965960"/>
            <a:ext cx="307238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10">
                <a:solidFill>
                  <a:srgbClr val="303A5D"/>
                </a:solidFill>
                <a:latin typeface="Segoe UI"/>
              </a:rPr>
              <a:t>FCA €0,55–0,60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02752" y="2560320"/>
            <a:ext cx="3072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1E9EA6"/>
                </a:solidFill>
                <a:latin typeface="Segoe UI"/>
              </a:rPr>
              <a:t>−38…−46 %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2752" y="2999232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ЦІЛЬ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2752" y="3163824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полиця 96–105 грн, паритет із медіаною корейського рамену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02752" y="357530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ДАЄ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02752" y="3739896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повноцінний вхід у національні мережі з бонусом 25 % і маржею 35 %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02752" y="4151376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АРГУМЕНТ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02752" y="4315968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Ottogi і O’Food тримають 67–89 грн: ринок уже має дешевших корейців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02752" y="4727448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ЯКЩО ВІДМОВА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02752" y="4892040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питання закрите: категорія не має цінового запасу під €0,88 і вище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5687568"/>
            <a:ext cx="11064240" cy="80467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66928" y="5687568"/>
            <a:ext cx="36576" cy="8046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4672" y="5843016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ОДНЕ РЕЧЕННЯ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4672" y="6071616"/>
            <a:ext cx="10588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Продукт і грамаж правильні, канал існує, попит зростає — але ціна пропозиції на 60–139 % вище за полицю, і той самий SKU уже продається в Україні дешевше, ніж дозволяє наша фінмодель. Без перегляду FCA до €0,55–0,60 проєкт не має цінового простору.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МЕТОД І ОБМЕЖЕННЯ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Що перевірено, що оцінено, що не перевірено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Розділення факту, припущення й оцінки. Читати перед тим, як спиратися на цифри.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6362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ФАКТ · ВЛАСНИЙ ЗРІЗ 29.09.2026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563624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перевірено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792224"/>
            <a:ext cx="3291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ПОКАЗНИК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179222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ЗНАЧЕННЯ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1792224"/>
            <a:ext cx="5577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ДЖЕРЕЛО / НАСЛІДОК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975104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SKU корейського рамену в мережах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1975104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96 SKU, 209 записів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1975104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онлайн-каталоги 18 мереж: zakaz.ua API + sf-ecom-api.silpo.ua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" y="2171700"/>
            <a:ext cx="10936224" cy="2240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2208276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Ціна Choi’s Carbonara 131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2208276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125,20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2208276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«Таврія В», «Космос»; EAN 3760344350847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441448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Імпорт HS 1902 30 до України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244144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1 674 т у 2025, Корея 253,8 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2441448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UN Comtrade, дзеркальні дані країн-експортерів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76" y="2638044"/>
            <a:ext cx="10936224" cy="2240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2674620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Курс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0" y="267462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50,97 грн/€ · 44,82 грн/$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2674620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НБУ, 29.09.2026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2907791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Не-корейська локшина, 14 SKU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07791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9–144 грн, 18–146 грн/100 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2907791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ті самі каталоги; по одному SKU на бренд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3776" y="3104387"/>
            <a:ext cx="10936224" cy="2240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140963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Азійські фудшопи і Prom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31920" y="3140963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61–158 грн · медіана Prom 135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5040" y="3140963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SushiPovar, AsiaFoods, Taiyaki, Prom.ua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3447287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" y="3456431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ПРИПУЩЕННЯ · ВЗЯТО З НАШОЇ МОДЕЛІ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3456431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можна змінити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685031"/>
            <a:ext cx="3291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ПОКАЗНИК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31920" y="3685031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ЗНАЧЕННЯ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5040" y="3685031"/>
            <a:ext cx="5577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ДЖЕРЕЛО / НАСЛІДОК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3867911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Множник полиці 3,45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31920" y="3867911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35 % маржі · 25 % бонус · 1,40 · ПДВ 20 %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3867911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модель з дослідження готового рису; для рамену не калібрувалась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3776" y="4064507"/>
            <a:ext cx="10936224" cy="2240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4101083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«Собівартість» у колоді SIAS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4101083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витрати до полиці, з фрахтом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4101083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цифри падають з обсягом — отже фрахт амортизується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4334255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Середня вага пачки 120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31920" y="4334255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для перерахунку тонн у пачки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5040" y="4334255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медіана ваги 96 корейських SKU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3776" y="4530851"/>
            <a:ext cx="10936224" cy="2240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4567427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Нульове мито за EUR.1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931920" y="4567427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0 % замість MFN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35040" y="4567427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заявлено SIAS; ефект ≈2,6 грн/пачку — розриву не закриває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66928" y="4873751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13232" y="4882895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НЕ ПЕРЕВІРЕНО · ЗАКРИТИ ДО РІШЕННЯ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0" y="4882895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критично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5111495"/>
            <a:ext cx="3291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ПОКАЗНИК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31920" y="5111495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ЗНАЧЕННЯ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0" y="5111495"/>
            <a:ext cx="5577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ДЖЕРЕЛО / НАСЛІДОК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6928" y="5294375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Хто діючий імпортер Choi’s в Україні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31920" y="5294375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не встановлено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35040" y="5294375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визначає, чи є ексклюзив і чи €0,88 — найкраща ціна SIAS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3776" y="5490971"/>
            <a:ext cx="10936224" cy="2240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5527547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Структура «собівартості» SIAS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931920" y="5527547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розбивка не надана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35040" y="5527547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якщо це чистий FCA без логістики — полиця вища за розрахункову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5760719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Ставка MFN на 1902 30 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931920" y="5760719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не підтверджена офіційним тарифом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35040" y="5760719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впливає на розмір переваги EUR.1, але не на порядок цифр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93776" y="5957315"/>
            <a:ext cx="10936224" cy="2240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66928" y="5993891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Обсяг продажів конкурентів у штуках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931920" y="5993891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недоступний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35040" y="5993891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ємність 221 млн грн оцінена через імпорт × медіану, не через sell-out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66928" y="6227063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Бонусні умови конкретних мереж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931920" y="6227063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не запитувались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35040" y="6227063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від них залежить, чи GM 30 % узагалі досяжна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93776" y="6423659"/>
            <a:ext cx="10936224" cy="2240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66928" y="6460235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Розбіжність оцінок ємності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6460235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122–155 проти 221 млн грн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35040" y="6460235"/>
            <a:ext cx="5577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множник ×2,2–2,8 з рисової моделі не підтверджується: фактичний ≈ ×4,0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