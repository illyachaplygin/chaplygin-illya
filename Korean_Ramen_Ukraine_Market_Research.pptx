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Ринкові цифри — власний зріз каталогів,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кг, +35 % $ до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63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Choi’s.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CHOI’S ПРИ МАРЖІ 15 %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105–156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пачку: full truck 105–122,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 палет 135–156.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СХОДИТЬСЯ ПРИ МАРЖІ 15 %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Full truck: суповий рамьон виходить на 105 грн — це +1 % до медіани сегмента (104 грн), але +11 % до медіани свого вагового вікна 110–125 г (95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full truck — 122 грн, на 3 % дешевше за ті 125,20 грн, за які Choi’s уже стоїть у «Таврія В» і «Космос».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Ціна FCA €0,882 на суповій четвірці — рівно та, що потрібна під медіану категорії (€0,879).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Маржа за ринковою ціною: 14,2 % на суповому і 16,7 % на стір-фраї. Цільові 15 % витримуються.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НЕ СХОДИТЬСЯ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Працює тільки full truck. 12 палет дають +11 % до медіани супового, 6 палет +30 % — це вже не полиця.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6 палетах має точку нуля 125,1 грн — рівно ринкову ціну. Прибутку немає взагалі.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15 % — валова маржа до логістики, лістингів і промо. Курс +5 % або бонус 30 % знімають третину.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Оборотний капітал на фуру — 2,5 млн грн, а 52 800 пачок ≈ 2,5 % річного корейського ринку.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93–127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Full truck: 93–99 · факт: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і full truck Choi’s стає на 93–99 грн/100 г — це нижня частина преміум-поверху, поруч із Samyang (93). На 6 палетах — 119–127 грн/100 г, тобто вище за Nongshim і поруч з Mama та Ippin.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5265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93807"/>
            <a:ext cx="66408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3484" y="198466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9534" y="195723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1866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5981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63490" y="225067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75503" y="222323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8467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25822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83529" y="2516678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9539" y="248924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506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91829"/>
            <a:ext cx="182022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03544" y="27826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9674" y="27552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166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57836"/>
            <a:ext cx="20802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703570" y="3048692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9731" y="30212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8269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2384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43574" y="331470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35586" y="32872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4870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89851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629" y="358070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5643" y="355327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1471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55858"/>
            <a:ext cx="542067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83654" y="3846714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00157" y="381928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8071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21865"/>
            <a:ext cx="6004750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23659" y="411272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00032" y="408528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4672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87873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43724" y="437872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738" y="435129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127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53880"/>
            <a:ext cx="25923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104119" y="4644736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04932" y="4617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3459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69254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1540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17335" y="161848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13662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89457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135–156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03834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ТАРИФ SIAS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€0,88 · +60 % до вікна.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35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136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914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692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470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62488" y="5340096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908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суповий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пал. · 105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3384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3459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стір-фрай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33 пал. · 122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9284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9359" y="1792223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125,20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5710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5785" y="1591055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05000"/>
              </a:lnSpc>
            </a:pPr>
            <a:r>
              <a:rPr sz="630" b="1" spc="-10">
                <a:solidFill>
                  <a:srgbClr val="C4820A"/>
                </a:solidFill>
                <a:latin typeface="Segoe UI"/>
              </a:rPr>
              <a:t>135–156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194560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377439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6769" y="2231136"/>
            <a:ext cx="1030224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1354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7471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3910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7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79685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0007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0007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80563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93244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15780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54413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5099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864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1860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28299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5530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05530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11969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348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34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76358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76161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5323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118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98106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7859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10787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0787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20445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23665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42982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7839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26687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087857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20051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06976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5413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45413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454874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70971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18869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5750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796136" y="245973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639632" y="255574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95611" y="226771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27412" y="236372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6635496" y="2651760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01156" y="2779776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28247" y="2304288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28247" y="2505456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2980944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2 · СТІР-ФРАЙ БЕЗ БУЛЬЙОНУ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163823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24575" y="3017520"/>
            <a:ext cx="122339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16174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45149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912758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938513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073730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07373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73730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73730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8641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8641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86411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395675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37331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630695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7576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14204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97839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184440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281024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351852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80236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118081" y="315010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75637" y="324612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375637" y="3342132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375637" y="305409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6506718" y="3438144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072378" y="3566159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28247" y="3090672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28247" y="3291839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3767327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3950207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49936" y="3803903"/>
            <a:ext cx="579500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41374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16962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61443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70708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443967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505136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0493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637134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637134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695084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695084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901129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901129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01129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901129" y="4032503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37792" y="4128515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89303" y="3840479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599028" y="3936491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Diamond 137"/>
          <p:cNvSpPr/>
          <p:nvPr/>
        </p:nvSpPr>
        <p:spPr>
          <a:xfrm>
            <a:off x="6635496" y="4224527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01156" y="4352544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128247" y="3877055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28247" y="407822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553712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66928" y="473659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768465" y="4590288"/>
            <a:ext cx="3155061" cy="457200"/>
          </a:xfrm>
          <a:prstGeom prst="rect">
            <a:avLst/>
          </a:prstGeom>
          <a:solidFill>
            <a:srgbClr val="E2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035097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746595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936543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682734" y="4914900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891998" y="4626864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891998" y="4722876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891998" y="4818888"/>
            <a:ext cx="69494" cy="69494"/>
          </a:xfrm>
          <a:prstGeom prst="ellipse">
            <a:avLst/>
          </a:prstGeom>
          <a:solidFill>
            <a:srgbClr val="3E59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Diamond 151"/>
          <p:cNvSpPr/>
          <p:nvPr/>
        </p:nvSpPr>
        <p:spPr>
          <a:xfrm>
            <a:off x="9661779" y="5010912"/>
            <a:ext cx="137160" cy="137160"/>
          </a:xfrm>
          <a:prstGeom prst="diamond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227438" y="5138928"/>
            <a:ext cx="10058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303A5D"/>
                </a:solidFill>
                <a:latin typeface="Segoe UI"/>
              </a:rPr>
              <a:t>медіана 198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128247" y="4663440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128247" y="4864608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548640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FULL TRUCK ПОТРАПЛЯЄ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на медіану сегмента 1, 122 — між медіаною і P75 сегмента 2. Тарифи 6 і 12 палет (135–156 грн) — ні.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105–156 грн: full truck лягає у смугу, 6 палет — ні.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23 SKU,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0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КОШТУЄ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−6 %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менше продукту за ту саму ціну,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ніж у стандартних 120 г.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ток-покі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93–127 грн/100 г: на full truck це рівень Samyang (93), на 6 палетах — вище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концентрована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Хто з восьми корейських брендів уже має лістинг у кожній мережі. ● — бренд присутній у каталозі на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240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Samyang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Nongshim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Paldo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Ottogi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O’Food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Bibigo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Yopokki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3496" y="1627632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2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181051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199796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03454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03454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7725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2248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203454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2585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22585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476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725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9752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2248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3496" y="22585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244602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8259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248259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3600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7725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18504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9752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2248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3496" y="248259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270662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270662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3600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7725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18504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59752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2248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83496" y="270662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289407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293065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360" y="2930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9476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725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18504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9752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42248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83496" y="293065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315468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31546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9476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3600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7725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18504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59752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01000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2248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83496" y="315468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3776" y="334213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337870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337870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9476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3600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7725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18504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59752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01000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42248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83496" y="337870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60273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360273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3600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7725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18504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59752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01000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42248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83496" y="360273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3776" y="3790188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382676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80360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79476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3600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7725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18504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59752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01000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842248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683496" y="382676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405079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80360" y="40507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9476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3600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7725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18504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159752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01000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42248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683496" y="405079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93776" y="4238244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66928" y="427482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80360" y="42748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6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3600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7725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318504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159752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001000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842248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683496" y="427482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449884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 · №1 у країні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80360" y="449884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79476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3600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●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7725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318504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59752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42248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683496" y="449884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93776" y="4686300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722876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80360" y="47228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9476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3600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7725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18504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159752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001000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42248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83496" y="4722876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66928" y="4946904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80360" y="494690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79476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3600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7725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18504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59752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001000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842248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683496" y="4946904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93776" y="5134356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66928" y="5170932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880360" y="51709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9476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600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47725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318504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59752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001000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842248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683496" y="5170932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6928" y="5394960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880360" y="53949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79476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3600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7725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318504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159752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001000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842248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683496" y="5394960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493776" y="5582412"/>
            <a:ext cx="10936224" cy="2148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66928" y="561898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«Ідеал»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880360" y="561898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9476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3600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47725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18504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59752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001000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8842248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683496" y="561898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6692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66928" y="5614416"/>
            <a:ext cx="36576" cy="85953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0467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0467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стоять у 12 мережах із 13 і дають 54 SKU з 96. Імпортер, договір і полиця під них уже є — нова марка заходить не в порожнечу, а проти них.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4315968" y="5614416"/>
            <a:ext cx="3547872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315968" y="5614416"/>
            <a:ext cx="36576" cy="8595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53712" y="5769864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П'ЯТЬ МЕРЕЖ І «СІЛЬПО» — БІЛА ПЛЯМА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53712" y="5998464"/>
            <a:ext cx="307238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МегаМаркет, Ultramarket, ЕКО, Епіцентр і «Ідеал» — нуль SKU. «Сільпо», найбільша мережа країни, тримає чотири. Це і є вільна полиця категорії.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65008" y="5614416"/>
            <a:ext cx="3566160" cy="8595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065008" y="5614416"/>
            <a:ext cx="36576" cy="8595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302752" y="5769864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302752" y="5998464"/>
            <a:ext cx="30906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однаковий діапазон — це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На full truck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6 палетах полиця 156 грн, а точка беззбитковості — 125,1 грн: мала партія за ринковою ціною не заробляє нічого.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 · ФІНМОДЕЛЬ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Модель постачальника: ціна партнеру = собівартість ÷ (100 % − бонус − маржа); полиця = ціна партнеру × 1,40. Цільова маржа — 15 %, курс 51,20 грн/€.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МНОЖНИК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× 2,33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маржа 15 %, бонус 25 %,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націнка мережі 1,40.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НА FULL TRUCK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105–122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пачку: 105 — суповий рамьон,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122 — стір-фрай.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СВОГО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стір-фрай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ЗА РИНКОВОЮ ЦІНОЮ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14–17 %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якщо стати на медіану сегмента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на фактичні 125,20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ВАЛОВА МАРЖА НА ФУРУ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635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тис. грн за 52 800 пачок,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12,03 грн з пачки.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ВІДДАЧА НА ОБОРОТНИЙ КАПІТАЛ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25 %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один оборот.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Капітал у партії — 2 541 тис. грн.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ЗМІНИЛА МАРЖА 15 % ЗАМІСТЬ 35 %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Суповий рамьон на full truck виходить на 105 грн: +1 % до медіани сегмента (104 грн) і +11 % до медіани вагового вікна 110–125 г (95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Стір-фрай на full truck — 122 грн, на 3 % ДЕШЕВШЕ за ті 125,20 грн, за які Choi’s уже стоїть у «Таврія В» і «Космос».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Проєкт перестає бути неможливим за ціною. Питання переходить із «чи взагалі» у «на якому обсязі».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Ціна FCA €0,882 на суповий — це рівно та ціна, яка потрібна під медіану категорії (€0,879).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ЦЕ НЕ СКАСОВУЄ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15 % — це валова маржа до внутрішньої логістики, лістингів, промо, втрат і курсового ризику. Чистого прибутку тут ще немає.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Працює лише full truck. На 12 палетах суповий дає +11 % до медіани, на 6 палетах +30 % — це вже не полиця.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Стір-фрай на 6 палетах має точку беззбитковості 125,1 грн — рівно ринкову ціну. Нульовий прибуток.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Оборотний капітал 2,5 млн грн на партію і 52 800 пачок ≈ 2,5 % річного корейського ринку.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ми стоїмо на шкалі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Сині рядки — ринок: сегменти корейського рамену і суміжна полиця. Помаранчеві — наші шість SKU на трьох тарифах за моделлю з маржею 15 %.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28800"/>
            <a:ext cx="5486" cy="3364991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521208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2356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Суміжна полиця (14 брендів)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44293" y="1964713"/>
            <a:ext cx="540067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83204" y="195556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9831" y="192813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2282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1 · суповий (46)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4582" y="2263971"/>
            <a:ext cx="568070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03619" y="225482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00157" y="222739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5220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2 · стір-фрай (25)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64607" y="2563229"/>
            <a:ext cx="44805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599" y="25540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00032" y="25266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2133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3 · стакан (18)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44418" y="2862487"/>
            <a:ext cx="644080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03619" y="285334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0086" y="282591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2059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Сегмент 4 · ток-покі (7)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84573" y="3161745"/>
            <a:ext cx="5560694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64089" y="315260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00132" y="312516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41985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33 палети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01575" y="3461003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60427" y="3451859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6439" y="342442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71911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12 палет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5623" y="3760262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44475" y="3751118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40487" y="372368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401837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суповий · 6 палет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4125" y="4059520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2977" y="4050376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58989" y="4022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31763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33 палети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0056" y="4358778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08908" y="4349634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04920" y="432220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6168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12 палет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3711" y="4658036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252563" y="4648892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48575" y="46214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614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C4820A"/>
                </a:solidFill>
                <a:latin typeface="Segoe UI"/>
              </a:rPr>
              <a:t>МИ · стір-фрай · 6 палет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37829" y="4957294"/>
            <a:ext cx="18288" cy="64008"/>
          </a:xfrm>
          <a:prstGeom prst="rect">
            <a:avLst/>
          </a:prstGeom>
          <a:solidFill>
            <a:srgbClr val="F6E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196681" y="4948150"/>
            <a:ext cx="82296" cy="82296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92693" y="492071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85558" y="1810512"/>
            <a:ext cx="14630" cy="3383279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61354" y="14264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факт Choi’s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125,20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535838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Синя крапка — медіана ринкового рядка, смуга — від мінімуму до максимуму. Помаранчева крапка — розрахункова полиця.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559552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" y="5715000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 · FULL TRUCK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5925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640080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104 грн.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15968" y="5559552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17136" y="5715000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 · FULL TRUCK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17136" y="5925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7136" y="640080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125,20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65008" y="5559552"/>
            <a:ext cx="356616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6176" y="5715000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 · БУДЬ-ЯКИЙ 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66176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135–156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66176" y="640080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вище за весь пакетний ринок.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кожен тариф при маржі 15 %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Ціна партнеру = СС ÷ 0,60 (100 % − 25 % бонусу − 15 % маржі). Полиця = ціна партнеру × 1,40. Собівартість — Self-Cost SIAS за курсом 51,20 грн/€.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1627632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ГРУПА 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627632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FCA,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2763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627632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1627632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СЕГМЕНТА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162763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РОЗРИВ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5184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1,309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67,0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111,7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181051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181051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25328" y="1810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+56 %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61972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9854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15184" y="209854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0985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58,1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209854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96,8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43216" y="209854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5" y="209854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2098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25328" y="20985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8658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5184" y="23865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23865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56,9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4768" y="2386584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94,8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3216" y="238658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3865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238658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25328" y="23865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+33 %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638044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6746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5184" y="267462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26746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49,3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67462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82,2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3216" y="267462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5" y="267462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8864" y="267462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25328" y="26746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+11 %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96265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15184" y="296265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/ Carbonara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26280" y="29626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0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44768" y="2962656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43216" y="296265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5" y="29626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98864" y="296265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25328" y="296265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+22 %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214115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2506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15184" y="3250691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· Spicy · Beef · Chicken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2506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0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44768" y="3250691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43216" y="3250691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5" y="325069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98864" y="325069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25328" y="32506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365760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232" y="366674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ЗВОРОТНА ЗАДАЧА: ЯКА ЦІНА FCA ПОТРІБНА ПІД КОЖЕН ЦІНОВИЙ ОРІЄНТИР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66674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3895344"/>
            <a:ext cx="3154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94760" y="3895344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17720" y="389534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ДОПУСТИМА СС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895344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ПОТРІБЕН FCA, 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8079" y="3895344"/>
            <a:ext cx="1783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€1,018 · СТІР-ФРАЙ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72600" y="3895344"/>
            <a:ext cx="1783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€0,882 · СУПОВИЙ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3895344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078224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Паритет Ottogi / O'Food 77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07822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17720" y="40782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33,0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89320" y="407822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0,645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8079" y="4078224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-37 %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72600" y="4078224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-27 %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47120" y="40782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493776" y="4320540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4357116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P25 вікна 110–135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4760" y="435711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17720" y="435711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36,9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989320" y="43571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0,720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98079" y="4357116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-29 %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72600" y="4357116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-18 %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47120" y="435711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4636007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сегмента 2 · стір-фрай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94760" y="463600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17720" y="4636007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42,9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89320" y="4636007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0,837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98079" y="4636007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-18 %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72600" y="4636007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247120" y="46360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493776" y="4878323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6928" y="4914899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сегмента 1 · суповий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94760" y="491489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17720" y="491489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44,6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89320" y="4914899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98079" y="4914899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-14 %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4914899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-1 %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4914899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5193791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794760" y="51937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17720" y="51937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89320" y="5193791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8079" y="5193791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-14 %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5193791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+0 %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247120" y="5193791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493776" y="5436107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6928" y="5472683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Фактична полиця Choi's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794760" y="54726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17720" y="5472683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53,7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89320" y="5472683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79" y="5472683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+3 %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5472683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+19 %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247120" y="5472683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566928" y="576072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66928" y="5760720"/>
            <a:ext cx="36576" cy="80467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З ЦІЄЇ ТАБЛИЦІ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4672" y="614476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Під медіану категорії (105 грн) потрібна СС €0,879. SIAS на full truck дає €0,882 по суповій четвірці — розбіжність 0,3 %. По стір-фраю потрібно €0,837 проти наявних €1,018, тобто −18 %; але ця пара і не мусить іти по медіані сегмента 2 — її ринковий орієнтир 125,20 грн, і під нього вистачає €1,048.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ЧУТЛИВІСТЬ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з'їдає маржу 15 % і де точка нуля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Маржа 15 % рахується від ціни партнеру, а не як націнка на собівартість. Запас міцності тонкий — нижче видно, наскільки.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ЗМІНЮЄТЬСЯ МАРЖА · FULL TRUCK, СУПОВИЙ РАМЬОН, ПОЛИЦЯ 104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819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базовий сценарій: курс 51,20 · бонус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10512"/>
            <a:ext cx="4206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СЦЕНАРІЙ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81051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81051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ЗМІНА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810512"/>
            <a:ext cx="44988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9339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База: курс 51,20 · бонус 25 %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9933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14,2 %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9933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99339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цільові 15 % практично витримуються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2231136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26771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54,0 грн/€ (+5,5 %)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2677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10,9 %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2677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−3,3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26771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девальвація на 5 % коштує третини маржі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42032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56,0 грн/€ (+9,4 %)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5420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8,5 %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5420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−5,7 п.п.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2542032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маржа падає вдвічі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77977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81635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Бонус мережі 30 % замість 25 %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1635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281635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−5,0 п.п.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281635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кожні 5 п.п. бонусу — 5 п.п. маржі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09067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Бонус мережі 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309067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19,2 %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309067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+5,0 п.п.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09067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регіональні мережі й маркетплейси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" y="332841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Курс 54,0 + бонус 30 % разом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33649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5,9 %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3649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−8,3 п.п.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36499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реалістичний поганий сценарій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63931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Полиця 96 грн (P25 вікна)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363931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9,1 %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63931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−5,1 п.п.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63931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якщо доведеться стати нижче за медіану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87705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1"/>
            <a:ext cx="4206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Полиця 115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9136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20,0 %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39136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+5,8 п.п.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913631"/>
            <a:ext cx="4498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якщо бренд візьме премію над медіаною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334255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434339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ТОЧКА БЕЗЗБИТКОВОСТІ: МІНІМАЛЬНА ПОЛИЦЯ ПРИ НУЛЬОВІЙ МАРЖІ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34339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бонус 25 %, націнка 1,40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571999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4571999"/>
            <a:ext cx="2834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 · GOUDA / CARBONARA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4571999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 · ІНШІ ЧОТИРИ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4571999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РИНКОВИЙ ОРІЄНТИР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571999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ЗАПАС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754879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6 палет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17520" y="4754879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89320" y="475487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108,4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4754879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475487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нуль / мінус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502919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065775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12 палет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17520" y="5065775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106,2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89320" y="506577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92,0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5065775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5065775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+18 % / +13 %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376671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33 палети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5376671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97,3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89320" y="5376671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84,3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86800" y="5376671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125,20 / 104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15600" y="537667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+29 % / +23 %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632704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66928" y="5632704"/>
            <a:ext cx="36576" cy="8229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ЦИФРА, ЯКУ ВАРТО ЗАПАМ'ЯТАТИ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6016752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Точка беззбитковості стір-фраю на 6 палетах — 125,1 грн. Це рівно та ціна, за якою Choi’s уже продається в Україні. Тобто мала партія цієї пари SKU за поточної ринкової ціни не приносить нічого взагалі — ще до логістики й лістингів.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ОБСЯГ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Який тариф брати і що він дає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сценарії постачання, оцінені за позицією на полиці, а не за собівартістю. Маржа 15 % у всіх трьох.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6849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БРАТИ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135–156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+30 % до медіани супового, +56 % до стір-фраю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ТОЧКА НУЛЯ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стір-фрай 125,1 грн — рівно ринкова ціна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146 тис. грн валової маржі на партію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 цією ціною товар не стане на полицю; тестом це теж не буде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6576" cy="39684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ТІЛЬКИ ЯК ПРОБНИЙ ЗАВІЗ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115–133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+11 % до медіани супового, +33 % до стір-фраю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ПРАЦЮЄ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маркетплейси й азійські фудшопи без бонусу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255 тис. грн на партію, 13,27 грн з пачки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суповий проходить у нішевий канал; стір-фрай — ні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1591056"/>
            <a:ext cx="3547872" cy="39684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1591056"/>
            <a:ext cx="36576" cy="39684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19385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2523744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105–122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296265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3127248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+1 % до медіани супового; стір-фрай на 3 % дешевше за факт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354787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ЗА РИНКОМ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3712464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14,2 % на суповому, 16,7 % на стір-фраї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413308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297680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635 тис. грн на фуру, віддача 25 % за оборот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4718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882896"/>
            <a:ext cx="30723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законтрактувати ≥60 % обсягу до відвантаження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ТІЛЬКИ FULL TRUCK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Різниця між 6 і 33 палетами — 30 грн собівартості на пачці стір-фраю і 13 грн на суповому. За моделі з маржею 15 % це рівно та різниця, що відділяє полицю 156 грн від полиці 122 грн. Обсяг тут не оптимізація, а умова входу.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 шести позицій заводити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групи, оцінені за конкурентною позицією у своєму ваговому вікні, а не за собівартістю. Ціни — полиця на 33 палетах при маржі 15 %.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ЗАВОДИТИ ПЕРШИМИ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Spicy · Beef · Chicken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112,5–113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на 33 палетах · 93 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Ottogi Jin 120 г 84–93 грн · Nongshim Shin 120 г 110–117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між Ottogi і Nongshim; +11 % до медіани вікна 110–125 г (95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«Сільпо» — 4 SKU на мережу, і п'ять нацмереж із нулем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113 г проти стандартних 120 г: −6 % продукту за ту саму ціну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1591056"/>
            <a:ext cx="36576" cy="3950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ДРУГИМ КРОКОМ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122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на 33 палетах · 93–99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Paldo Volcano Carbonara 130 г — 114 грн · Nongshim Chapaghetti 140 г — 120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−3 % до власної фактичної ціни 125,20 грн, але +22 % до медіани сегмента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той самий дистриб'ютор, що вже возить Choi’s у «Космос» і «Таврію В»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у вікні 122–140 г 17 SKU з медіаною 100 грн — ми у верхній третині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1591056"/>
            <a:ext cx="36576" cy="3950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ТРИМАТИ ПОЗА ЛІНІЙКОЮ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на 33 палетах · 93 грн/100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Nongshim Soon Veggie 112 г — 88 грн, єдина овочева позиція ринку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овочевий смак — найвужчий попит у категорії: 1 SKU на 96 у всьому зрізі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не ціна, а оборотність: позиція займе місце на полиці й не дасть ротації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заводити тільки якщо мережа просить повну лінійку смаків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САМЕ ТАКИЙ ПОРЯДОК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Суповій трійці потрібна ціна, яку SIAS уже дає: €0,882 проти потрібних €0,879 під медіану категорії. Стір-фрай-пара вимагає торгу (€1,018 проти €0,837 під медіану сегмента) — але має готовий канал і власний ціновий орієнтир 125,20 грн. Овочевий SKU не має ні того, ні іншого.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по кожному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Розрахунок на тарифі 33 палети. Ціна партнеру і полиця — за моделлю постачальника з маржею 15 %.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1783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6584" y="1627632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27632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27632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FCA,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1627632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162763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27632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15 %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162763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7936" y="1627632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6584" y="181051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Другий крок · ніша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181051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810512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824" y="181051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181051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181051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7936" y="1810512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114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2061972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09854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86584" y="209854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стір-фраю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209854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Стір-фрай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209854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098548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0985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20985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86,9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209854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209854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17936" y="2098548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114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386584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86584" y="2386584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Поза лінійкою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238658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238658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386584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7728" y="23865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35824" y="23865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38658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38658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17936" y="2386584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" y="2638044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674620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86584" y="267462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· об'єм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0" y="26746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14416" y="267462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2674620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267462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4" y="267462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267462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6746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17936" y="2674620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2962656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86584" y="296265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23360" y="296265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14416" y="296265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2962656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7728" y="29626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35824" y="296265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61120" y="296265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296265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7936" y="2962656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3214115"/>
            <a:ext cx="10936224" cy="2788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250691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86584" y="3250691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23360" y="32506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Суповий рамьон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14416" y="3250691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3250691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67728" y="325069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45,2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4" y="32506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75,3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61120" y="3250691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0" y="3250691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17936" y="3250691"/>
            <a:ext cx="7132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93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" y="35661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3232" y="357530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ТРИ ЦІНОВІ СЦЕНАРІЇ НА FULL TRUCK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0" y="357530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 · маржа перерахована від ціни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80390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СЦЕНАРІЙ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3803904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60520" y="3803904"/>
            <a:ext cx="1143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94960" y="380390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СУП.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75120" y="380390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СТІР.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79" y="3803904"/>
            <a:ext cx="367588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ДАЄ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39867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Агресивний · зайти ціною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17520" y="398678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60520" y="3986784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94960" y="39867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9,1 %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75120" y="398678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8,7 %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55279" y="3986784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нижче за медіану обох сегментів; бере полицю, але майже без маржі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3776" y="4261104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" y="429768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Рекомендований · паритет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17520" y="429768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0520" y="42976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14,2 %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16,7 %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55279" y="4297680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суповий на медіані сегмента, стір-фрай дешевше за власний факт 125,20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608576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Комфортний · премія бренду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17520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60520" y="4608576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135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94960" y="46085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20,0 %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75120" y="46085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24,7 %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4608576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працює лише якщо бренд отримає лістинг у нацмережі й підтримку промо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Ціна на суповій четвірці (€0,882 на full truck) під ринок уже підходить — торгуватись тут нема про що. Предмет переговорів — пара Gouda і Carbonara: €1,018 проти потрібних €0,837 під медіану стір-фраю. Аргумент: Paldo Volcano Carbonara тієї ж ваги стоїть на полиці за 114 грн, а Choi’s уже продається в Україні за 125,20.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France і на що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Профіль постачальника за наданою презентацією SIAS та розрахунковим аркушем Self-Cost. Праворуч — альтернатива, з якою його треба порівняти.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5413248" cy="39319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319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Choi’s Ramyeon — 6 SKU, 112,5–131 г, пакет. Оригінальні корейські рецептури.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96265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ПЛОЩАДКА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089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16 000 м², група працює з 1997 року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3814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844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IFS · BRC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9136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УМОВИ ВІДВАНТАЖЕННЯ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059936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 Roye · 1 600 пачок на палету · від 6 палет до full truck 33 палети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35424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за сертифікатом EUR.1 — перевага над корейським імпортом за MFN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6460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SELF-COST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1091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€0,882–1,309 за пачку залежно від обсягу; розрив між 6 і 33 палетами — 22 %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400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48640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структура Self-Cost, ексклюзив, діючий імпортер в Україні, терміни придатності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591056"/>
            <a:ext cx="5413248" cy="39319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591056"/>
            <a:ext cx="36576" cy="39319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717890"/>
                </a:solidFill>
                <a:latin typeface="Segoe UI"/>
              </a:rPr>
              <a:t>АЛЬТЕРНАТИВА, З ЯКОЮ ТРЕБА ПОРІВНЯТИ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Samyang · Nongshim · Ottogi · Paldo — ті, хто вже тримає полицю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ЧОМУ ЦЕ РЕЛЕВАНТНО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33472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Корея у 2025 відвантажила в Україну 253,8 т за $4,88/кг. SIAS просить $8,9–13,2/кг.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29992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КОРЕЯ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145536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впізнаваний бренд, готовий попит, 12 мереж із лістингом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35112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3657600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мита, коротке плече з ЄС, свій бренд без конкуренції за лістинг усередині марки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02336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ЧОГО БРАКУЄ ДЛЯ ПОРІВНЯННЯ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169664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FOB корейських заводів на порівнянний обсяг — у цьому дослідженні його немає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5664" y="453542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81728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перевага SIAS — логістика й мито, а не ціна продукту. Перед контрактом варто запросити котирування хоча б в одного корейського заводу на 1×40' FCL.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 ЩО ТИСНУТИ В ПЕРЕГОВОРАХ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1. Розкрити структуру Self-Cost: FCA, фрахт, оформлення окремо — без цього полиця порахована на припущенні.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2. Carbonara і Gouda: €1,018 → €0,837 під медіану сегмента. Аргумент — Paldo Volcano Carbonara 130 г коштує 114 грн, а Choi’s уже продається за 125,20.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3. Ексклюзив на Україну або письмове пояснення, хто вже возить Choi’s у «Космос» і «Таврію В» і на яких умовах.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 Жоден крок не вимагає закупівлі до кроку 04.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9344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3736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29968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З'ясувати, хто вже возить Choi’s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377440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60320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Запит до SIAS: діючий імпортер в Україні, його ціна і обсяг, чи пропонується ексклюзив. Без цієї відповіді будь-який розрахунок — гіпотеза.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1609344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1609344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173736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029968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Вимагати розбивку Self-Cost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377440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560320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FCA, фрахт і оформлення окремими рядками. Якщо €0,882 — це чистий FCA без логістики, полиця зростає і паритет із ринком зникає.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1609344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1856" y="1609344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173736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2029968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Котирування з Кореї для порівняння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2377440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2560320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Запит FOB хоча б в одного корейського заводу на 1×40' FCL. Перевага SIAS — мито і плече, і її треба виміряти, а не прийняти на віру.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675887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675887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380390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096511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Торг по парі Carbonara і Gouda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443983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4626864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Ціль €0,837 замість €1,018 під медіану сегмента стір-фрай. Суповій трійці ціна вже підходить — там торгуватись нема про що.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9392" y="3675887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79392" y="3675887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8848" y="380390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4096511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Тест у каналі без бонусу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4443983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8848" y="4626864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Завести суповий рамьон і Carbonara через маркетплейси й азійські фудшопи. Там немає бонусу мережі, і маржа 15 % витримується навіть на 12 палетах.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91856" y="3675887"/>
            <a:ext cx="3566160" cy="1828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91856" y="3675887"/>
            <a:ext cx="36576" cy="1828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2" y="380390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spc="-10">
                <a:solidFill>
                  <a:srgbClr val="C4820A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4096511"/>
            <a:ext cx="31272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spc="-10">
                <a:solidFill>
                  <a:srgbClr val="303A5D"/>
                </a:solidFill>
                <a:latin typeface="Segoe UI"/>
              </a:rPr>
              <a:t>Розмова із «Сільпо» і нацмережами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4443983"/>
            <a:ext cx="3127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626864"/>
            <a:ext cx="31272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Заходити з цифрами оборотності й full truck. «Сільпо» тримає 4 SKU корейського рамену, п'ять нацмереж — нуль. Це і є цільова полиця.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Закупівля — не перший крок, а четвертий. Спочатку три питання до постачальника, які нічого не коштують, потім тест у каналі без бонусу, і тільки потім full truck і розмова про мережеву полицю. Full truck на 2,5 млн грн оборотного капіталу без відповідей на кроки 01–03 — це ставка, а не рішення.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МЕТОД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перевірено, що оцінено, що не перевірено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Розділення факту, припущення й оцінки. Читати перед тим, як спиратися на цифри.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ФАКТ · ВЛАСНИЙ ЗРІЗ 29.09.2026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перевірено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79222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792224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975104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SKU корейського рамену в мережах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97510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96 SKU, 209 записів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975104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онлайн-каталоги 18 мереж: zakaz.ua API + sf-ecom-api.silpo.ua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71700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20827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Ціна Choi’s Carbonara 131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2082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08276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В», «Космос»; EAN 3760344350847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414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Імпорт HS 1902 30 до України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44144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1 674 т у 2025, Корея 253,8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441448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UN Comtrade, дзеркальні дані країн-експортерів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638044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67462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Собівартість Self-Cost SIAS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6746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€0,882–1,309 за пачку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674620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аркуш «СС_база» з наданої фінмоделі; курс 51,20 грн/€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077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Не-корейська локшина, 14 SKU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077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9–144 грн, 18–146 грн/100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29077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ті самі каталоги; по одному SKU на бренд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4115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22325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ПРИПУЩЕННЯ · ВЗЯТО З МОДЕЛІ ПОСТАЧАЛЬНИКА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322325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можна змінити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451859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3451859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451859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63473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Маржа 15 % від ціни партнеру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63473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націнка на собівартість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63473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15 % від ціни = 25 % націнки на СС; це валова маржа до всіх витрат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3831335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86791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386791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однаковий для всіх каналів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86791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фактичні умови мереж не запитувались; ±5 п.п. = ±5 п.п. маржі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10108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Націнка мережі 1,40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410108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однакова для всіх мереж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10108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у нацмережах буває 1,35–1,45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" y="4297679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33425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Курс 51,20 грн/€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433425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зафіксований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33425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НБУ на 29.09.2026 — 50,97; +5 % курсу = −3,3 п.п. маржі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56742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Формат «стакан»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456742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маркер у назві або вага ≤ 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456742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каталоги формат не вказують; це припущення класифікації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87375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88289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НЕ ПЕРЕВІРЕНО · ЗАКРИТИ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488289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критично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5111495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31920" y="5111495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0" y="5111495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9437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Хто діючий імпортер Choi’s в Україні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31920" y="529437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встановлено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0" y="529437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визначає, чи є ексклюзив і чи €0,882 — найкраща ціна SIAS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5490971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552754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Що входить у Self-Cost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31920" y="552754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розбивка не надана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0" y="552754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якщо це FCA без фрахту й оформлення — уся полиця зростає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576071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Витрати після складу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31920" y="576071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 моделі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576071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внутрішня логістика, лістинги, промо, втрати, вартість грошей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" y="5957315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59938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Бонусні умови конкретних мереж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59938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запитувались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0" y="59938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від них залежить, чи 14–17 % взагалі досяжні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622706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Ставка MFN на 1902 30 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31920" y="622706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підтверджена тарифом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0" y="622706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впливає на розмір переваги EUR.1, але не на порядок цифр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