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Relationship Id="rId4" Type="http://schemas.openxmlformats.org/officeDocument/2006/relationships/image" Target="../media/image5.jpg"/><Relationship Id="rId5" Type="http://schemas.openxmlformats.org/officeDocument/2006/relationships/image" Target="../media/image14.jpg"/><Relationship Id="rId6" Type="http://schemas.openxmlformats.org/officeDocument/2006/relationships/image" Target="../media/image10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image" Target="../media/image18.jpg"/><Relationship Id="rId11" Type="http://schemas.openxmlformats.org/officeDocument/2006/relationships/image" Target="../media/image19.jpg"/><Relationship Id="rId12" Type="http://schemas.openxmlformats.org/officeDocument/2006/relationships/image" Target="../media/image20.jpg"/><Relationship Id="rId13" Type="http://schemas.openxmlformats.org/officeDocument/2006/relationships/image" Target="../media/image21.jpg"/><Relationship Id="rId14" Type="http://schemas.openxmlformats.org/officeDocument/2006/relationships/image" Target="../media/image22.jpg"/><Relationship Id="rId15" Type="http://schemas.openxmlformats.org/officeDocument/2006/relationships/image" Target="../media/image23.jpg"/><Relationship Id="rId16" Type="http://schemas.openxmlformats.org/officeDocument/2006/relationships/image" Target="../media/image2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20.jpg"/><Relationship Id="rId5" Type="http://schemas.openxmlformats.org/officeDocument/2006/relationships/image" Target="../media/image6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10.jpg"/><Relationship Id="rId9" Type="http://schemas.openxmlformats.org/officeDocument/2006/relationships/image" Target="../media/image2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9.jpg"/><Relationship Id="rId16" Type="http://schemas.openxmlformats.org/officeDocument/2006/relationships/image" Target="../media/image4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jpg"/><Relationship Id="rId10" Type="http://schemas.openxmlformats.org/officeDocument/2006/relationships/image" Target="../media/image58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Relationship Id="rId13" Type="http://schemas.openxmlformats.org/officeDocument/2006/relationships/image" Target="../media/image61.jpg"/><Relationship Id="rId14" Type="http://schemas.openxmlformats.org/officeDocument/2006/relationships/image" Target="../media/image7.jpg"/><Relationship Id="rId15" Type="http://schemas.openxmlformats.org/officeDocument/2006/relationships/image" Target="../media/image6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image" Target="../media/image71.jpg"/><Relationship Id="rId12" Type="http://schemas.openxmlformats.org/officeDocument/2006/relationships/image" Target="../media/image51.jpg"/><Relationship Id="rId13" Type="http://schemas.openxmlformats.org/officeDocument/2006/relationships/image" Target="../media/image7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jp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jpg"/><Relationship Id="rId7" Type="http://schemas.openxmlformats.org/officeDocument/2006/relationships/image" Target="../media/image77.jp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image" Target="../media/image81.jpg"/><Relationship Id="rId12" Type="http://schemas.openxmlformats.org/officeDocument/2006/relationships/image" Target="../media/image82.jpg"/><Relationship Id="rId13" Type="http://schemas.openxmlformats.org/officeDocument/2006/relationships/image" Target="../media/image83.jpg"/><Relationship Id="rId14" Type="http://schemas.openxmlformats.org/officeDocument/2006/relationships/image" Target="../media/image8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image" Target="../media/image87.jpg"/><Relationship Id="rId6" Type="http://schemas.openxmlformats.org/officeDocument/2006/relationships/image" Target="../media/image88.jpg"/><Relationship Id="rId7" Type="http://schemas.openxmlformats.org/officeDocument/2006/relationships/image" Target="../media/image89.jpg"/><Relationship Id="rId8" Type="http://schemas.openxmlformats.org/officeDocument/2006/relationships/image" Target="../media/image90.jpg"/><Relationship Id="rId9" Type="http://schemas.openxmlformats.org/officeDocument/2006/relationships/image" Target="../media/image91.jpg"/><Relationship Id="rId10" Type="http://schemas.openxmlformats.org/officeDocument/2006/relationships/image" Target="../media/image92.jpg"/><Relationship Id="rId11" Type="http://schemas.openxmlformats.org/officeDocument/2006/relationships/image" Target="../media/image93.jpg"/><Relationship Id="rId12" Type="http://schemas.openxmlformats.org/officeDocument/2006/relationships/image" Target="../media/image9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5.jpg"/><Relationship Id="rId7" Type="http://schemas.openxmlformats.org/officeDocument/2006/relationships/image" Target="../media/image96.jpg"/><Relationship Id="rId8" Type="http://schemas.openxmlformats.org/officeDocument/2006/relationships/image" Target="../media/image97.jpg"/><Relationship Id="rId9" Type="http://schemas.openxmlformats.org/officeDocument/2006/relationships/image" Target="../media/image2.jpg"/><Relationship Id="rId10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9572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Choi’s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1324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40680"/>
            <a:ext cx="10058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ПДВ, на дату зрізу. Опт, ящики та мультипаки до медіан не входять.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товарів — з каталогів мереж; використані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вирішують питання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Порівняння комерційної пропозиції SIAS France з фактичними цінами полиці. Ринкові цифри — власний зріз каталогів, не оцінка.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ІМПОРТ З КОРЕЇ,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HS 1902 30, дзеркальна статистика.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кг, +35 % $ до 2024.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КОРЕЙСЬКОЇ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грн/рік — 2,12 млн пачок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× медіана полиці 105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КОРЕЙСЬКОГО РАМЕНУ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Ашан — 63 SKU, «Сільпо» — 4.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ПОЛИЦІ, 110–135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52 SKU у ваговому вікні Choi’s.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грн, P75 113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CHOI’S ПРИ МАРЖІ 15 %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105–156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за пачку: full truck 105–122,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6 палет 135–156.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CHOI’S УЖЕ НА ПОЛИЦІ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— Carbonara 131 г у «Таврія В»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«Космос». EAN 3760344350847.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СХОДИТЬСЯ ПРИ МАРЖІ 15 %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Full truck: суповий рамьон виходить на 105 грн — це +1 % до медіани свого сегмента (104 грн). Паритет.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Стір-фрай на full truck — 122 грн, на 3 % дешевше за ті 125,20 грн, за які Choi’s уже стоїть у «Таврія В» і «Космос».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Ціна FCA €0,882 на суповій четвірці — рівно та, що потрібна під медіану категорії (€0,879).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Маржа за ринковою ціною: 14,2 % на суповому і 16,7 % на стір-фраї. Цільові 15 % витримуються.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НЕ СХОДИТЬСЯ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Працює тільки full truck. 12 палет дають +11 % до медіани супового, 6 палет +30 % — це вже не полиця.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Стір-фрай на 6 палетах має точку нуля 125,1 грн — рівно ринкову ціну. Прибутку немає взагалі.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15 % — валова маржа до логістики, лістингів і промо. Курс +5 % або бонус 30 % знімають третину.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Оборотний капітал на фуру — 2,5 млн грн, а 52 800 пачок ≈ 2,5 % річного корейського ринку.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6479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10512"/>
            <a:ext cx="347471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6479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2996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75687"/>
            <a:ext cx="12014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2996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9514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40863"/>
            <a:ext cx="1145577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9514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6032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06039"/>
            <a:ext cx="88290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6032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2549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71215"/>
            <a:ext cx="393694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2549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09067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36391"/>
            <a:ext cx="23625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09067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5584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01568"/>
            <a:ext cx="14136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5584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2102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66744"/>
            <a:ext cx="1109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2102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8620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31920"/>
            <a:ext cx="10194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88620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5137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197096"/>
            <a:ext cx="63963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5137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90288"/>
            <a:ext cx="5760720" cy="868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36576" cy="868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745736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74336"/>
            <a:ext cx="528523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544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7922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79222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79222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19751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19751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9751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176272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128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128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128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$1 238,3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1284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505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505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505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505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06624"/>
            <a:ext cx="4937760" cy="12984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06624"/>
            <a:ext cx="36576" cy="12984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62072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090672"/>
            <a:ext cx="44622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6875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221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СЕГМЕНТАЦІЯ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Поверх визначено за ціною за 100 г — це єдиний коректний вимір, коли пачки важать від 50 до 200 г. Межі поверхів узяті з фактичного розподілу брендів, а не задані наперед.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3035808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3E59A8"/>
                </a:solidFill>
                <a:latin typeface="Segoe UI"/>
              </a:rPr>
              <a:t>ПОВЕРХ 1 · ЕКОНОМ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9–25 грн  ·  14–37 грн/100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Українське виробництво і приватні марки мереж · 15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8585002445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377440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Мівіна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22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37 грн/100 г · 16 мереж · 22 SKU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3" y="23774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1401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Reeva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34 грн/100 г · 14 мереж · 7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3584448"/>
            <a:ext cx="566928" cy="566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Роллтон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35 грн/100 г · 1 мереж · 1 SKU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30974133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9503" y="3584448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1401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Щедро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25 грн/100 г · 7 мереж · 4 SKU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1554480"/>
            <a:ext cx="36576" cy="3035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1E9EA6"/>
                </a:solidFill>
                <a:latin typeface="Segoe UI"/>
              </a:rPr>
              <a:t>ПОВЕРХ 2 · МІДЛ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38–124 грн  ·  58–86 грн/100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Азія та імпорт середньої ціни — сюди потрапляє й дешева Корея · 9 брендів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088010521145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3" y="2377440"/>
            <a:ext cx="566928" cy="566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1713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O'Food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713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713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67 грн/100 г · 2 мереж · 4 SKU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088010459999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2377440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6305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305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89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75 грн/100 г · 5 мереж · 11 SKU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713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06484361000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2623" y="3584448"/>
            <a:ext cx="566928" cy="5669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1713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95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77 грн/100 г · 5 мереж · 8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6305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5201810202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358444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16305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Yum Yum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60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305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86 грн/100 г · 2 мереж · 1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6500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65008" y="1554480"/>
            <a:ext cx="36576" cy="30358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6617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ПОВЕРХ 3 · ІМПОРТНИЙ ПРЕМІУМ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34–204 грн  ·  93–146 грн/100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Samyang, Nongshim і в'єтнамська рисова локшина · 8 брендів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17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088010731134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41664" y="2377440"/>
            <a:ext cx="566928" cy="5669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26617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Samyang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93 грн/100 г · 11 мереж · 17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12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088010431506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7584" y="2377440"/>
            <a:ext cx="566928" cy="56692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912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Nongshim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12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12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107 грн/100 г · 9 мереж · 11 SKU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617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0885098715009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1664" y="3584448"/>
            <a:ext cx="566928" cy="56692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6617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Мама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121 грн/100 г · 5 мереж · 7 SKU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12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0893601068154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87584" y="3584448"/>
            <a:ext cx="566928" cy="56692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12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Cung Dinh Kool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12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123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12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118 грн/100 г · 4 мереж · 1 SKU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4718304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6928" y="4718304"/>
            <a:ext cx="36576" cy="7863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4672" y="484632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B53A3A"/>
                </a:solidFill>
                <a:latin typeface="Segoe UI"/>
              </a:rPr>
              <a:t>ПОВЕРХ 4 · ДЕ ОПИНЯЄТЬСЯ CHOI’S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4672" y="50474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93–127 грн/100 г за фінмоделлю (15 %)</a:t>
            </a:r>
          </a:p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Full truck: 93–99 · факт: 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846320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При маржі 15 % і full truck Choi’s стає на 93–99 грн/100 г — це нижня частина преміум-поверху, поруч із Samyang (93). На 6 палетах — 119–127 грн/100 г, тобто вище за Nongshim і поруч з Mama та Ippin. Фактична ціна того самого SKU сьогодні — 96 грн/100 г; обсяг, а не переговори про ціну, вирішує, куди Choi’s потрапить.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ЗМІНЮЄ В КАРТИНІ КОНКУРЕНЦІЇ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Корейський рамен — не однорідний преміум. Ottogi (75), Paldo (77), O’Food (67) і Bibigo (70 грн/100 г) стоять у МІДЛІ поруч з Yum Yum і Hokkaido Club, а не поруч із Samyang і Nongshim. Прямий конкурент Choi’s за ціною — саме ця дешева половина корейської полиці, і вона вже коштує 67–89 грн за пачку.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Окремий фактор пропозиції: у липні 2025 Nestlé запустила фабрику вермішелі у с. Смолигів на Волині (~$50 млн). Продукція йде переважно на ринки ЄС під брендом Maggi, тож прямого тиску на українську полицю вона поки не створює — але потужність у країні з'явилася.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сегменти за способом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тим, як продукт готується і де споживається — від цього залежать і ціна за грам, і канал. Так само, як у дослідженні готового рису.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2860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46 позицій · 6 брендів · 12 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67 – 209 грн · 86 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102–144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Ottogi · Paldo · O'Food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591056"/>
            <a:ext cx="36576" cy="2286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25 позицій · 7 брендів · 11 мереж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 · тренд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72 – 184 грн · 77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105–145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Samyang · Paldo · Nongshim · Bibigo · Ottogi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3056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1591056"/>
            <a:ext cx="36576" cy="22860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18 позицій · 4 брендів · 8 мереж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Офіс і дорога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5D4B96"/>
                </a:solidFill>
                <a:latin typeface="Segoe UI"/>
              </a:rPr>
              <a:t>104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4224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34 – 195 грн · 154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4224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62–120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Paldo · Ottogi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591056"/>
            <a:ext cx="36576" cy="2286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2288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7 позицій · 4 брендів · 4 мереж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Снек і десерт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198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65 – 204 грн · 136 грн/100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2288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80–145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Yopokki · Samyang · Paldo · Baekje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0233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03250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ЗА СЕГМЕНТИ І ЧОМУ ЇХ РОЗДІЛЯЮТЬ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403250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класифікація за технологією приготування, не за брендом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261104"/>
            <a:ext cx="2788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1568" y="426110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 ГОТУЄТЬСЯ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9552" y="426110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9168" y="42611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261104"/>
            <a:ext cx="26243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44398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· СУПОВИЙ РАМЬОН · ПАКЕТ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1568" y="444398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9552" y="444398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444398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2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06840" y="444398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базова полиця категорії: найбільше SKU і найширша дистрибуція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3776" y="468172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471830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 · СТІР-ФРАЙ БЕЗ БУЛЬЙОНУ · ПАКЕТ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1568" y="47183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9552" y="47183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47183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06840" y="471830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інший привід і інша ціна за грам; зростає найшвидше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499262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3 · СТАКАН І БОУЛ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01568" y="49926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9552" y="499262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59168" y="499262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499262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готується без плити — конкурує з обідом поза домом, а не з вечерею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523036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26694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4 · ТОК-ПОКІ ТА РИСОВА ЛОКШИНА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52669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9552" y="52669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52669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80–145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6840" y="526694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рисовий продукт, не пшенична локшина: інша полиця і інший покупець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554126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Суміжна полиця · не-корейська локшина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1568" y="554126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9552" y="554126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 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2648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9–144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5412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18–146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4672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50–200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06840" y="554126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цінова підлога: від неї покупець рахує премію за корейський бренд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Стакан/боул визначено за маркером у назві або вагою ≤ 85 г: корейські мережеві каталоги рідко вказують формат окремо, а пакетний рамьон важить 100–145 г, стакан — 62–85 г. Це припущення, а не поле з каталогу.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1 і 2: пакетний рамьон — прямі конкуренти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Це два сегменти, у які потрапляють усі шість SKU Choi’s.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46 SKU   ·   медіана 104 грн   ·   86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1828800"/>
            <a:ext cx="1965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КРАЇНА / 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6784" y="1828800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828800"/>
            <a:ext cx="594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1828800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1828800"/>
            <a:ext cx="1325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182880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182880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828800"/>
            <a:ext cx="24871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011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20116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Daesang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0116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20116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20116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20116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7" y="2011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2011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 серед корейців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22037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2402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75104" y="22402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Ottogi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6784" y="22402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8848" y="22402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8072" y="22402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111–130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53328" y="22402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22402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22402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2402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і Kimchi — найдешевший вхід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688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75104" y="24688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Paldo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86784" y="24688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98848" y="24688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24688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110–120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53328" y="24688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7" y="24688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7888" y="24688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24688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 сама вага, дешевше за грам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" y="26609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26974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75104" y="26974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86784" y="26974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26974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8072" y="26974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53328" y="26974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24927" y="26974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47888" y="26974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26974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9260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75104" y="29260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Samyang Foods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4" y="29260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98848" y="29260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48072" y="29260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53328" y="29260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86–169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7" y="29260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47888" y="29260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0" y="29260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супова частина лінійки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3776" y="31181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154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75104" y="31546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Nongshim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86784" y="315468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98848" y="315468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8072" y="31546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112–137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53328" y="315468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4927" y="3154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47888" y="3154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0" y="315468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— головний якір полиці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3493008"/>
            <a:ext cx="36576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3232" y="350215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25 SKU   ·   медіана 100 грн   ·   77 грн/100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76732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75104" y="3767328"/>
            <a:ext cx="1965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КРАЇНА / ВЛАСНИК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86784" y="376732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98848" y="3767328"/>
            <a:ext cx="594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8072" y="3767328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53328" y="3767328"/>
            <a:ext cx="1325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24927" y="376732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7888" y="376732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44000" y="3767328"/>
            <a:ext cx="24871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75104" y="39502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86784" y="39502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98848" y="39502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48072" y="39502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53328" y="39502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24927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47888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39502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3776" y="41422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178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75104" y="41788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CJ CheilJedang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86784" y="41788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498848" y="41788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48072" y="41788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53328" y="41788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24927" y="4178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47888" y="4178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44000" y="41788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від CJ, поодинокий лістинг в Ашані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6928" y="44074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975104" y="44074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Ottogi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86784" y="44074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98848" y="44074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48072" y="44074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120–130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53328" y="44074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4927" y="44074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47888" y="44074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44000" y="44074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з сиром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93776" y="45994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66928" y="46360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975104" y="46360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Paldo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86784" y="46360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498848" y="46360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148072" y="46360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053328" y="46360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24927" y="46360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247888" y="46360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0" y="46360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Volcano Carbonara — прямий аналог Choi’s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48646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975104" y="48646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Nongshim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986784" y="48646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498848" y="48646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148072" y="48646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131–140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053328" y="48646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89–154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424927" y="48646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47888" y="48646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0" y="48646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Chapaghetti — чорнобобовий соус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93776" y="50566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6928" y="5093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75104" y="50932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ЄС · SIAS France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86784" y="50932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98848" y="50932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148072" y="50932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053328" y="50932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24927" y="5093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247888" y="5093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144000" y="50932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продукт: Carbonara та Gouda — цей сегмент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6928" y="5321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975104" y="53218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Samyang Foods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986784" y="53218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498848" y="53218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48072" y="53218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53328" y="53218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78–184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424927" y="5321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247888" y="5321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0" y="53218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головна франшиза категорії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САМЕ СТОЇТЬ CHOI’S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Шість SKU SIAS розпадаються на два сегменти: Carbonara 131 г і Gouda 123 г — це стір-фрай (медіана сегмента 100 грн), Vegetable, Spicy, Beef і Chicken — суповий рамьон (медіана 104 грн). Порівнювати їх треба з різними конкурентами, а не з категорією загалом.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3 і 4: стакан і рисовий 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 два сегменти з Choi’s не конкурують напряму: інший привід споживання і інша ціна за грам. Показані, щоб було видно всю категорію.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18 SKU   ·   медіана 104 грн   ·   154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1847088"/>
            <a:ext cx="1965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КРАЇНА / 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6784" y="184708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847088"/>
            <a:ext cx="594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1847088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1847088"/>
            <a:ext cx="1325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184708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184708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847088"/>
            <a:ext cx="24871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029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202996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Samyang Foods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02996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202996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20299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202996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7" y="20299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20299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2996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стакани Buldak 70–80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224942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2860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75104" y="228600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Ottogi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6784" y="228600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8848" y="228600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8072" y="228600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53328" y="228600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228600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2286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28600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у стакані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54203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75104" y="2542032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Paldo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86784" y="2542032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98848" y="2542032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254203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53328" y="254203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7" y="254203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7888" y="25420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2542032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боул Jumbo Noodle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" y="276148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27980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75104" y="2798064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Nongshim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86784" y="2798064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2798064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8072" y="27980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53328" y="2798064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97–195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24927" y="27980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47888" y="27980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2798064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Cup і сублімовані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3236976"/>
            <a:ext cx="36576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3232" y="324612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7 SKU   ·   медіана 198 грн   ·   136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11296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75104" y="3511296"/>
            <a:ext cx="1965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КРАЇНА / ВЛАСНИК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86784" y="351129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98848" y="3511296"/>
            <a:ext cx="594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48072" y="3511296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53328" y="3511296"/>
            <a:ext cx="1325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927" y="3511296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7888" y="3511296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0" y="3511296"/>
            <a:ext cx="24871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69417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75104" y="3694176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Samyang Foods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4" y="3694176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98848" y="3694176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48072" y="369417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53328" y="369417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65–104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7" y="36941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47888" y="36941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44000" y="3694176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Topokki — галушки з локшиною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3776" y="391363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75104" y="395020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86784" y="395020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98848" y="395020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8072" y="39502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53328" y="395020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24927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7888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44000" y="3950208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 з кімчі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2062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75104" y="420624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Paldo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86784" y="420624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98848" y="420624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48072" y="420624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53328" y="420624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101–124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24927" y="420624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47888" y="42062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4206240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Rabokki — ток-покі з локшиною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3776" y="4425696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46227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75104" y="4462272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 · Young Poong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86784" y="4462272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498848" y="4462272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48072" y="446227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53328" y="446227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24927" y="44622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47888" y="446227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44000" y="4462272"/>
            <a:ext cx="2487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ток-покі, снековий привід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6928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6928" y="4297680"/>
            <a:ext cx="36576" cy="13258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4672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СТАКАН — ВДВІЧІ ДОРОЖЧИЙ ГРАМ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154 грн/100 г проти 86 у пакетного рамьону. Покупець платить не за продукт, а за те, що не потрібна плита. При цьому сегмент займає лише 18 SKU у 8 мережах.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17920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17920" y="4297680"/>
            <a:ext cx="36576" cy="13258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55664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ТОК-ПОКІ — НЕ НАША ПОЛИЦЯ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55664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Медіана 198 грн, але це рисові галушки, а не локшина. Сегмент показано для повноти картини: його ціни не можна використовувати як орієнтир для пшеничного рамену.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28" y="5760720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66928" y="5760720"/>
            <a:ext cx="36576" cy="73152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04672" y="6144768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Не-корейська локшина швидкого приготування — 14 брендів, 9–144 грн, 18–146 грн/100 г. Детально на слайді з картками. Саме вона, а не корейські бренди, формує уявлення покупця про «нормальну» ціну пачки локшини.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Від 65 до 205 грн: діапазон кожного бренду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 Помаранчеві лінії — полиця Choi’s за нашою фінмоделлю.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42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42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4408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46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50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854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654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952659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O'Food  (4)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0587" y="1993807"/>
            <a:ext cx="664082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3484" y="1984663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9534" y="195723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21866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fire bull  (1)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2259814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63490" y="2250670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75503" y="222323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484674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Bibigo  (4)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4675" y="2525822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83529" y="2516678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9539" y="248924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50681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Ottogi  (11)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4582" y="2791829"/>
            <a:ext cx="1820227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03544" y="2782685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9674" y="2755253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01668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Paldo  (15)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64607" y="3057836"/>
            <a:ext cx="2080259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703570" y="3048692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9731" y="302126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8269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Otoki  (1)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80722" y="3323844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743574" y="3314700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35586" y="32872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548703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Baekje  (1)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40779" y="3589851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629" y="3580707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95643" y="3553275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81471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Nongshim  (32)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24615" y="3855858"/>
            <a:ext cx="5420677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83654" y="3846714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00157" y="381928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080717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Samyang  (22)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40417" y="4121865"/>
            <a:ext cx="6004750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423659" y="4112721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00032" y="408528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346725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Choi's  (1)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92874" y="4387873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43724" y="4378729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47738" y="4351297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61273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Yopokki  (4)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90836" y="4653880"/>
            <a:ext cx="259232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104119" y="4644736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04932" y="4617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204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3459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69254" y="14721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41540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17335" y="1618487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13662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89457" y="14721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135–156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5038344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9FA9C4"/>
                </a:solidFill>
                <a:latin typeface="Segoe UI"/>
              </a:rPr>
              <a:t>Шкала — грн за одну пачку, з ПДВ. У дужках — кількість SKU бренду у зрізі. Помаранчеві лінії — полиця Choi’s за фінмоделлю.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09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809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· P75 122 грн.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1596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1713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БРЕНД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1713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O’Food 77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1713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Daesang, 102–144 г, 2 мережі.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65008" y="5257800"/>
            <a:ext cx="3566160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66176" y="5413248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ТАРИФ SIAS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6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155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66176" y="609904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€0,88 · +60 % до вікна.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РОЗПОДІЛ ЦІН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щільно і де порожньо в кожному сегменті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Один рядок — один сегмент. Кожна крапка — один SKU. Світла смуга — де лежить половина позицій сегмента (P25–P75), ромб — медіана.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580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36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358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140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136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918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914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696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692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47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470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825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6248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1833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1908" y="1792223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суповий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33 пал. · 105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3384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3459" y="1591055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стір-фрай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33 пал. · 122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79284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9359" y="1792223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факт Choi’s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125,20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5710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5785" y="1591055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135–156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194560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1 · СУПОВИЙ РАМЬОН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377439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Варіння 4–5 хв · з бульйоном · вага 102–144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87–119 грн · 86 грн/100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56769" y="2231136"/>
            <a:ext cx="1030224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13546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74715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39104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687396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796857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800077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00077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80563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993244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15780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54413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50997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86411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18605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282994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05530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05530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11969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63481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63481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376358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476161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653231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11181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798106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78593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10787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10787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920445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923665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942982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78396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026687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087857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120051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206976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5413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45413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454874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470971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718869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757502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796136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639632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95611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27412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iamond 80"/>
          <p:cNvSpPr/>
          <p:nvPr/>
        </p:nvSpPr>
        <p:spPr>
          <a:xfrm>
            <a:off x="6635496" y="2651760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01156" y="2779776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104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128247" y="2304288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46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28247" y="2505456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2980944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2 · СТІР-ФРАЙ БЕЗ БУЛЬЙОНУ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316382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Варіння 4–5 хв · воду злити · вага 105–145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86–124 грн · 77 грн/100 г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24575" y="3017520"/>
            <a:ext cx="1223390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816174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845149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912758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938513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073730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073730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073730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73730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86411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186411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186411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395675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37331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30695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675767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814204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978396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184440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281024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351852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80236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118081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75637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375637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375637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Diamond 112"/>
          <p:cNvSpPr/>
          <p:nvPr/>
        </p:nvSpPr>
        <p:spPr>
          <a:xfrm>
            <a:off x="6506718" y="3438144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072378" y="3566159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100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128247" y="3090672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28247" y="3291839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3767327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395020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Залити окропом 3–4 хв · вага 62–120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93–111 грн · 154 грн/100 г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49936" y="3803903"/>
            <a:ext cx="579500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413743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16962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61443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70708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443967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505136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604939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637134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637134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95084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695084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901129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901129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01129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901129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937792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89303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599028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Diamond 137"/>
          <p:cNvSpPr/>
          <p:nvPr/>
        </p:nvSpPr>
        <p:spPr>
          <a:xfrm>
            <a:off x="6635496" y="4224527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201156" y="4352544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104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128247" y="3877055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128247" y="407822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553712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66928" y="4736592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Варіння або окріп · вага 80–145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106–204 грн · 136 грн/100 г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768465" y="4590288"/>
            <a:ext cx="3155061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035097" y="462686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746595" y="472287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936543" y="481888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9682734" y="491490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891998" y="462686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9891998" y="472287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9891998" y="481888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Diamond 151"/>
          <p:cNvSpPr/>
          <p:nvPr/>
        </p:nvSpPr>
        <p:spPr>
          <a:xfrm>
            <a:off x="9661779" y="5010912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227438" y="5138928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198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128247" y="4663440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128247" y="4864608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548640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9FA9C4"/>
                </a:solidFill>
                <a:latin typeface="Segoe UI"/>
              </a:rPr>
              <a:t>Шкала — грн за одну пачку, з ПДВ. Помаранчеві лінії — полиця Choi’s за фінмоделлю з маржею 15 % на різних тарифах і фактична ціна на полиці.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6692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66928" y="5669280"/>
            <a:ext cx="36576" cy="8412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0467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ПАКЕТ: ОДНА Й ТА САМА СМУГА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0467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Сегменти 1 і 2 лежать у 86–124 грн. Різні технології, майже однакова ціна за пачку — покупець порівнює їх напряму.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315968" y="5669280"/>
            <a:ext cx="36576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55371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СТАКАН: ВУЗЬКО І ДОРОГО ЗА ГРАМ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5371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93–111 грн за пачку при 62–120 г. Найщільніший сегмент за ціною і найдорожчий за грам (154 грн/100 г).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065008" y="5669280"/>
            <a:ext cx="356616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065008" y="5669280"/>
            <a:ext cx="36576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302752" y="582472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FULL TRUCK ПОТРАПЛЯЄ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302752" y="6053328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105 грн лягає на медіану сегмента 1, 122 — між медіаною і P75 сегмента 2. Тарифи 6 і 12 палет (135–156 грн) — ні.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SKU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МАТРИЦЯ ФОРМАТ × ВАГА ·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854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0545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2277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0096" y="2048255"/>
            <a:ext cx="1380744" cy="4206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7416" y="2048255"/>
            <a:ext cx="1380744" cy="420624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6426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 / боул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05456" y="2505456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0545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2277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277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0096" y="2505456"/>
            <a:ext cx="1380744" cy="420624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5741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741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14553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15467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8328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0864" y="338328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2656" y="338328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03904" y="3383280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338328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3383280"/>
            <a:ext cx="5623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661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0864" y="35661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56616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3904" y="356616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9472" y="35661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566160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" y="379018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82676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40864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2656" y="38267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3904" y="382676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9472" y="38267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3826764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087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0864" y="40873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40873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3904" y="40873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40873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87368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4311396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347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40864" y="4347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2656" y="43479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904" y="434797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9472" y="434797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4347972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60857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40864" y="46085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46085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03904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46085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4608576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ток-покі та нестандарт, інший привід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CHOI’S — ПРАВИЛЬНА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(110–145 г, 66 % SKU). Формат і грамаж заперечень не викликають.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1596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1596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5371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CHOI’S — 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5371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і 78–86 грн/100 г. Фінмодель з маржею 15 % дає 105–156 грн: full truck лягає у смугу, 6 палет — ні.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5008" y="4846320"/>
            <a:ext cx="3566160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6500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02752" y="50017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2" y="5230368"/>
            <a:ext cx="309067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Стакан/боул — лише 6 SKU на всю категорію при ціні за грам у 2 рази вищій (166 проти 87 грн/100 г). Якщо в SIAS є стакан — це єдиний формат, де премія вже прийнята.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1 з 4 — нижня половина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Найбільший сегмент категорії: 46 SKU у 12 мережах. Відсортовано від найдешевшої позиції.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5175521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521145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 локшина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68–72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1006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Teumsae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062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5521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Kimchi Ramen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67–85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Таврія В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521143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129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5211454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Сівід Рамен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103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5211455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Смак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102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52467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111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52226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3114618101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Кімчі Рамьон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270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Ramyun овоч…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112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74–102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1577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Cham-Pong Ramyun з море…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124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64843610042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Hwa Ramyun з гострим пе…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87–93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ПІДЛОГА СЕГМЕНТА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Ottogi, O’Food і Paldo тримають 68–93 грн за 102–144 г. Це 55–70 грн/100 г — саме з цими цінами покупець порівнює будь-який новий суповий рамьон.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2 з 4 — ядро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Смуга навколо медіани сегмента 104 грн. Тут стоїть Shin Ramyun і основна лінійка Nongshim.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068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Kokomen зі смаком курки…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22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99990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67–101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10058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31077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Spicy Zanmang Loopy з б…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3107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Zanmang Loopy оригіналь…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500696671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Otoki · Cheesy Ramen зі смаком…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3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AnSungTangMyun з грибам…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1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93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 сиром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746030066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958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зі смаком г…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227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Макаронні вироби Samyan…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551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Локшина зі смаком курки…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108–169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ЯКІР КАТЕГОРІЇ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 і Kimchi Ramyun у 7–10 мережах за 110–120 грн. Це ціна, яку покупець вважає нормальною за корейський рамьон.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3 з 4 — верхня половина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Позиції дорожчі за медіану: ширші лінійки Nongshim і Samyang, більші грамажі.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1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99–124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52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кунжутом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5225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середн…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3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1506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METRO +4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18101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7321177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сиру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112–130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125–135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01480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002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7036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Tom Yum Том…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123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116–142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342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дуже го…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86–151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050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93–156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ЗАКІНЧУЄТЬСЯ СЕГМЕНТ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Вище 150 грн у суповому рамьоні залишаються поодинокі позиції. Полиця Choi’s за фінмоделлю (155–199 грн для супових SKU) починається там, де сегмент уже закінчився.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4 з 4 — стеля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Найдорожчі позиції сегмента. Shin Ramyun Black — преміальна суб-лінійка з іншим складом.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33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0173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Рамен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154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137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602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СТЕЛЯ — 209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І це Shin Ramyun Black, преміум-версія бренду №1 з 10-річною історією на ринку. Новий бренд не може стартувати з цієї полиці.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1 з 2 — сюди потрапляють Carbonara і Gouda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25 SKU, медіана 100 грн, 77 грн/100 г. Сегмент, у якому Choi’s Carbonara конкурує напряму.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8801731168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fire bull · Stir-Fried Ramen Beef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138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7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гостр…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310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Compaghetti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955505030284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955505030283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Курка б…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955505030280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1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Cheese…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00920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17822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6167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Stir Fry Шин Рамьойн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87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Stir Fry зі…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96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64843610005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07460300592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Chacharoni зі смаком чо…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90–115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ПРЯМИЙ АНАЛОГ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Paldo Volcano Carbonara 130 г за 114 грн і Samyang Buldak Carbonara 130 г за 140 грн — це рівно той самий продукт, що й Choi’s Carbonara 131 г за 125,20 грн.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2 з 2 — верх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Buldak у різних смаках і мультипаки. Тут — верхня межа цін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1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86–123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39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Jjajang зі смако…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6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Chapaghetti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10127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Chicken з курко…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84–123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376034435084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· Карбон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11338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01847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Toomba Spicy&amp;Creamy Sti…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131–154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731168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88017311686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Восторг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7311684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ТАКЕ 184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Максимум сегмента — мультипак Samyang. Одиночна пачка стір-фраю ніде не перетинає 170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СТАКАН І БОУЛ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і боул — увесь сегмент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18 SKU у 8 мережах. Готується без плити, маса 62–120 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Маса — сухого продукту   ·   привід: Офіс і дорога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40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4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65–86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51755702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97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10006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Jumbo Noodle Hot &amp; Spic…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21077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03114601711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4956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93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2931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Суп Neoguri з морепроду…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ВІЛЬНА НІША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на всю країну при ціні за грам удвічі вищій за пакет. Якщо в SIAS є стакан — це єдиний формат, де премія за грам ринком уже прийнята.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4 · ТОК-ПОКІ ТА РИСОВА ЛОКШИНА   ·   7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2 з 2 і ток-покі — суміжні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Залишок сегмента 3 і повністю сегмент 4: рисові галушки та рисова локшина.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Маса — сухого продукту   ·   привід: Снек і десерт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430281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67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2112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 сир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137–150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Таврія В +1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81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Shin Ramyun Cup…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 · METRO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31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403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Topokki Рамен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Baekje · Рисова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92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84361010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Rabokki локшина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90544023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 сиром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905440236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90544023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Зі смаком кімчі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905440234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Гостро-солодкі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ЦЕ НЕ ОРІЄНТИР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Yopokki за 198–204 грн — рисовий снек, а не локшина. Використовувати цю ціну як доказ, що «корейське може коштувати 200 грн», не можна.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14 найпоширеніших не-корейських SKU локшини швидкого приготування — по одному на бренд.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СУМІЖНА ПОЛИЦЯ · УКРАЇНА ТА АЗІЯ БЕЗ КОРЕЇ   ·   Варіння або окріп   ·   50–200 г   ·   9–144 грн   ·   18–146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ЦІНИ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Український мас-маркет — 9–22 грн за 50–60 г (18–33 грн/100 г). Корейський рамен коштує у 2,5–3 рази дорожче за грам, і ринок це приймає. Choi’s за фінмоделлю з маржею 15 % — 93–127 грн/100 г: на full truck це рівень Samyang (93), на 6 палетах — вище за Nongshim (107).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1627632"/>
            <a:ext cx="4114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105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18105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2539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61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61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61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619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20619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134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134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23134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3134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134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23134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2831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648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648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25648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25648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5648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25648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1635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1635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81635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281635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281635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3123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6781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6781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06781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306781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06781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306781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1927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192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331927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3192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331927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16368" y="331927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3415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7073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707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35707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0640" y="357073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5707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357073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221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221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056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38221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38221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221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3707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736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73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4073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40736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0" y="40736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16368" y="40736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251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25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43251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43251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3251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16368" y="43251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3999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765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765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80560" y="45765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0" y="45765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26480" y="45765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6368" y="45765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280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280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80560" y="48280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48280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48280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16368" y="48280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4291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794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7949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0794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20640" y="507949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50794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16368" y="507949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309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309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53309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120640" y="53309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330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16368" y="53309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486400"/>
            <a:ext cx="356616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486400"/>
            <a:ext cx="36576" cy="7772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6418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870448"/>
            <a:ext cx="30906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діапазон. Саме там стоїть Choi’s.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Куди Choi’s може зайти за поточної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Канал визначається не покупцем, а тим, чи бере він бонус і яку націнку тримає.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21214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НАЦІОНАЛЬНІ МЕРЕЖІ · НЕ ЗАХОДИМО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Ашан, «Сільпо», NOVUS, METRO, «Зараз».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 20–30 %, націнка 1,35–1,45, лістинг і промо-календар.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За поточної ціни FCA GM падає до 7 % і нижче. Полиця тут уже зайнята Samyang і Nongshim за 90–139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8728" y="1572768"/>
            <a:ext cx="36576" cy="21214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РЕГІОНАЛЬНІ МЕРЕЖІ · МОЖЛИВО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«Космос», «Таврія В», «Восторг», «Клас», Grono, Onde, «ЧудоМаркет».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корейського рамену тут 118–138 грн — вище, ніж у національних. Бонуси нижчі.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Але саме тут уже стоїть Choi’s за 125,20 грн через іншого постачальника.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105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МАРКЕТПЛЕЙСИ · РОБОЧИЙ 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Rozetka, Prom, MAUDAU, Bigl.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в категорії «локшина рамен» на Prom — 135 грн, мінімум 80 грн.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Бонусу немає, націнка продавця власна. Єдиний масовий канал, де поточна ціна FCA дає GM 25–30 %.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82328" y="1572768"/>
            <a:ext cx="214884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823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1728216"/>
            <a:ext cx="1673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АЗІЙСЬКІ ФУДШОПИ · РОБОЧИЙ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1956816"/>
            <a:ext cx="167335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OMG! Asia, Тайякі Март, Суші Повар, Asia Foods, Panda Asian.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Корейський рамен 61–158 грн, ядро 92–135 грн. Без бонусу.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Обсяги малі: full truck цим каналом не вибирається.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89534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04487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ЦІНОВИЙ ЗРІЗ ПО КАНАЛАХ · КОРЕЙСЬКИЙ РАМЕН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133087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ТОЧОК У ЗРІЗІ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/ ЗАПИСІВ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33087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133087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МЕРЕЖІ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133087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ПРИДАТНІСТЬ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3159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Національні мережі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105 записів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3159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43159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20–30 %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3159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4590288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626864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Регіональні мережі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106 записів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6268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67–205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46268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5–15 %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62686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умовно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937759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50+ позицій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4937759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80–1 350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79" y="4937759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493775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" y="5212079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248655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5+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72 позиції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52486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61–158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6679" y="52486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5248655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так, обсяг малий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7784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66928" y="5577840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2" y="573328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 ПРО КАНАЛИ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596188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Канали, де поточна ціна SIAS дає маржу, не здатні вибрати full truck 52 800 пачок. Канал, який здатен, маржі не дає. Це структурна проблема пропозиції, а не питання переговорів про 5–10 %.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09928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739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2316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EAN / 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1448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3760344350847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Збігається з SIAS France, Roye.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0952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1624" y="1645920"/>
            <a:ext cx="3209544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22792" y="1801368"/>
            <a:ext cx="2843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ПРИ МАРЖІ 15 %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011680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2487168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€1,018.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−3 % до фактичної ціни.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204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5295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Choi’s. Вона вже є: 125,20 грн. На full truck з маржею 15 % ми виходимо на 122 грн — тобто можемо стати трохи дешевше за той самий товар, що вже стоїть поруч.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На 6 палетах полиця 156 грн, а точка беззбитковості — 125,1 грн: мала партія за ринковою ціною не заробляє нічого. Європейський роздріб того самого SKU — €1,80–2,20 = 92–113 грн.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з’ясувати: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Choi’s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нам дають €1,31 за 6 палет, якщо хтось уже продає в роздріб за 125 грн.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5008" y="3758184"/>
            <a:ext cx="3566160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5008" y="3758184"/>
            <a:ext cx="36576" cy="2331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39136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142232"/>
            <a:ext cx="3090672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значно нижчій ціні FCA, або без бонусу мережі з маржею ~30 %,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€0,88–1,31 — не найкраща ціна SIAS. Це головне, що треба перевірити до розрахунку обсягу.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362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 Європейська ціна — dotasia.eu.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 · ФІНМОДЕЛЬ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Модель постачальника: ціна партнеру = собівартість ÷ (100 % − бонус − маржа); полиця = ціна партнеру × 1,40. Цільова маржа — 15 %, курс 51,20 грн/€.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МНОЖНИК ПОЛИЦІ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× 2,33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маржа 15 %, бонус 25 %,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націнка мережі 1,40.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НА FULL TRUCK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105–122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за пачку: 105 — суповий рамьон,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122 — стір-фрай.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СВОГО СЕГМЕНТА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+1 % / +22 %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суповий проти 104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стір-фрай проти 100 грн.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ЗА РИНКОВОЮ ЦІНОЮ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14–17 %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якщо стати на медіану сегмента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на фактичні 125,20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ВАЛОВА МАРЖА НА ФУРУ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635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тис. грн за 52 800 пачок,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12,03 грн з пачки.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ВІДДАЧА НА ОБОРОТНИЙ КАПІТАЛ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25 %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один оборот.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Капітал у партії — 2 541 тис. грн.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ЗМІНИЛА МАРЖА 15 % ЗАМІСТЬ 35 %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Суповий рамьон на full truck виходить на 105 грн — це +1 % до медіани свого сегмента. Паритет, а не премія.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Стір-фрай на full truck — 122 грн, на 3 % ДЕШЕВШЕ за ті 125,20 грн, за які Choi’s уже стоїть у «Таврія В» і «Космос».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Проєкт перестає бути неможливим за ціною. Питання переходить із «чи взагалі» у «на якому обсязі».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Ціна FCA €0,882 на суповий — це рівно та ціна, яка потрібна під медіану категорії (€0,879).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73736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ЧОГО ЦЕ НЕ СКАСОВУЄ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15 % — це валова маржа до внутрішньої логістики, лістингів, промо, втрат і курсового ризику. Чистого прибутку тут ще немає.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Працює лише full truck. На 12 палетах суповий дає +11 % до медіани, на 6 палетах +30 % — це вже не полиця.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Стір-фрай на 6 палетах має точку беззбитковості 125,1 грн — рівно ринкову ціну. Нульовий прибуток.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Оборотний капітал 2,5 млн грн на партію і 52 800 пачок ≈ 2,5 % річного корейського ринку.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ми стоїмо на шкалі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Сині рядки — ринок: сегменти корейського рамену і суміжна полиця. Помаранчеві — наші шість SKU на трьох тарифах за моделлю з маржею 15 %.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4248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42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4408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4648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7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5047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7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85447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654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923565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Суміжна полиця (14 брендів)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44293" y="1964713"/>
            <a:ext cx="5400674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783204" y="1955569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9831" y="1928137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222823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Сегмент 1 · суповий (46)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4582" y="2263971"/>
            <a:ext cx="5680709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03619" y="2254827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00157" y="2227395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522081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Сегмент 2 · стір-фрай (25)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64607" y="2563229"/>
            <a:ext cx="4480559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43599" y="2554085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00032" y="2526653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821339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Сегмент 3 · стакан (18)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44418" y="2862487"/>
            <a:ext cx="6440804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03619" y="2853343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40086" y="282591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120597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Сегмент 4 · ток-покі (7)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84573" y="3161745"/>
            <a:ext cx="5560694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864089" y="3152601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00132" y="312516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419855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суповий · 33 палети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01575" y="3461003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60427" y="3451859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6439" y="3424427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719114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суповий · 12 палет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5623" y="3760262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544475" y="3751118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40487" y="372368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401837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суповий · 6 палет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4125" y="4059520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2977" y="4050376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58989" y="4022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31763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стір-фрай · 33 палети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0056" y="4358778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08908" y="4349634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04920" y="432220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61688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стір-фрай · 12 палет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93711" y="4658036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252563" y="4648892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48575" y="462146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91614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стір-фрай · 6 палет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37829" y="4957294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196681" y="4948150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92693" y="492071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85558" y="1810512"/>
            <a:ext cx="14630" cy="3383279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61354" y="14264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факт Choi’s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125,20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5358384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9FA9C4"/>
                </a:solidFill>
                <a:latin typeface="Segoe UI"/>
              </a:rPr>
              <a:t>Шкала — грн за одну пачку, з ПДВ. Синя крапка — медіана ринкового рядка, смуга — від мінімуму до максимуму. Помаранчева крапка — розрахункова полиця.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559552"/>
            <a:ext cx="3547872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8096" y="5715000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СУПОВИЙ · FULL TRUCK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" y="5925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" y="6400800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сегмента 104 грн.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315968" y="5559552"/>
            <a:ext cx="3547872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17136" y="5715000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СТІР-ФРАЙ · FULL TRUCK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17136" y="5925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17136" y="6400800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 125,20 грн.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65008" y="5559552"/>
            <a:ext cx="356616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6176" y="5715000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6 ПАЛЕТ · БУДЬ-ЯКИЙ SKU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66176" y="5925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135–156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66176" y="640080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вище за весь пакетний ринок.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кожен тариф при маржі 15 %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Ціна партнеру = СС ÷ 0,60 (100 % − 25 % бонусу − 15 % маржі). Полиця = ціна партнеру × 1,40. Собівартість — Self-Cost SIAS за курсом 51,20 грн/€.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1627632"/>
            <a:ext cx="18745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ГРУПА 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627632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FCA,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627632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62763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1627632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1627632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8864" y="1627632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СЕГМЕНТА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25328" y="162763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РОЗРИВ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81051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5184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/ Carbonara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1,309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181051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67,0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111,7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181051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4" y="181051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25328" y="1810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+56 %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2061972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09854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15184" y="209854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· Spicy · Beef · Chicken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20985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1,134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209854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58,1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4768" y="209854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96,8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43216" y="209854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5" y="209854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209854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25328" y="20985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+30 %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38658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15184" y="23865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/ Carbonara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23865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1,111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238658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56,9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4768" y="2386584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94,8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43216" y="238658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5" y="23865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4" y="238658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25328" y="23865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+33 %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" y="2638044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67462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15184" y="267462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· Spicy · Beef · Chicken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267462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0,963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267462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49,3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67462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82,2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3216" y="267462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5" y="267462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8864" y="267462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25328" y="26746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+11 %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296265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15184" y="296265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/ Carbonara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26280" y="29626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0" y="296265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44768" y="2962656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86,9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43216" y="296265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5" y="296265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98864" y="296265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25328" y="296265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+22 %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3214115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25069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15184" y="3250691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· Spicy · Beef · Chicken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325069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0" y="3250691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44768" y="3250691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43216" y="3250691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66175" y="325069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98864" y="3250691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25328" y="325069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365760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3232" y="366674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ЗВОРОТНА ЗАДАЧА: ЯКА ЦІНА FCA ПОТРІБНА ПІД КОЖЕН ЦІНОВИЙ ОРІЄНТИР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66674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при маржі 15 %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3895344"/>
            <a:ext cx="3154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794760" y="3895344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17720" y="389534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ДОПУСТИМА СС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3895344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ПОТРІБЕН FCA, €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98079" y="3895344"/>
            <a:ext cx="1783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€1,018 · СТІР-ФРАЙ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72600" y="3895344"/>
            <a:ext cx="1783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€0,882 · СУПОВИЙ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3895344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078224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Паритет Ottogi / O'Food 77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07822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17720" y="40782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33,0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89320" y="407822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0,645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98079" y="4078224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-37 %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72600" y="4078224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-27 %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47120" y="4078224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93" name="Rectangle 92"/>
          <p:cNvSpPr/>
          <p:nvPr/>
        </p:nvSpPr>
        <p:spPr>
          <a:xfrm>
            <a:off x="493776" y="4320540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6928" y="4357116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P25 вікна 110–135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4760" y="435711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17720" y="4357116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36,9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989320" y="435711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0,720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98079" y="4357116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-29 %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72600" y="4357116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-18 %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247120" y="435711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4636007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Медіана сегмента 2 · стір-фрай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794760" y="463600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17720" y="4636007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42,9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989320" y="4636007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0,837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98079" y="4636007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-18 %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72600" y="4636007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-5 %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247120" y="46360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493776" y="4878323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6928" y="4914899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Медіана сегмента 1 · суповий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794760" y="491489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17720" y="491489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44,6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989320" y="491489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498079" y="4914899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-14 %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4914899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-1 %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47120" y="4914899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6928" y="5193791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794760" y="519379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17720" y="51937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989320" y="5193791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0,879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8079" y="5193791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-14 %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5193791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+0 %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247120" y="5193791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23" name="Rectangle 122"/>
          <p:cNvSpPr/>
          <p:nvPr/>
        </p:nvSpPr>
        <p:spPr>
          <a:xfrm>
            <a:off x="493776" y="5436107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66928" y="5472683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Фактична полиця Choi's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794760" y="54726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17720" y="5472683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53,7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89320" y="5472683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98079" y="5472683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+3 %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5472683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+19 %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247120" y="5472683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31" name="Rectangle 130"/>
          <p:cNvSpPr/>
          <p:nvPr/>
        </p:nvSpPr>
        <p:spPr>
          <a:xfrm>
            <a:off x="566928" y="576072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66928" y="5760720"/>
            <a:ext cx="36576" cy="80467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 З ЦІЄЇ ТАБЛИЦІ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4672" y="614476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Під медіану категорії (105 грн) потрібна СС €0,879. SIAS на full truck дає €0,882 по суповій четвірці — розбіжність 0,3 %. По стір-фраю потрібно €0,837 проти наявних €1,018, тобто −18 %; але ця пара і не мусить іти по медіані сегмента 2 — її ринковий орієнтир 125,20 грн, і під нього вистачає €1,048.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ЧУТЛИВІСТЬ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з'їдає маржу 15 % і де точка нуля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Маржа 15 % рахується від ціни партнеру, а не як націнка на собівартість. Запас міцності тонкий — нижче видно, наскільки.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ЗМІНЮЄТЬСЯ МАРЖА · FULL TRUCK, СУПОВИЙ РАМЬОН, ПОЛИЦЯ 104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81912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базовий сценарій: курс 51,20 · бонус 25 %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10512"/>
            <a:ext cx="4206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СЦЕНАРІЙ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81051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1051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ЗМІНА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810512"/>
            <a:ext cx="44988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993392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База: курс 51,20 · бонус 25 %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19933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14,2 %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19933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1993392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цільові 15 % практично витримуються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2231136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267712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Курс 54,0 грн/€ (+5,5 %)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2677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10,9 %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2677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−3,3 п.п.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267712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девальвація на 5 % коштує третини маржі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42032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Курс 56,0 грн/€ (+9,4 %)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54203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8,5 %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254203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−5,7 п.п.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2542032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маржа падає вдвічі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2779775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81635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Бонус мережі 30 % замість 25 %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81635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9,2 %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281635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−5,0 п.п.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281635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кожні 5 п.п. бонусу — 5 п.п. маржі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09067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Бонус мережі 20 %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309067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19,2 %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309067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+5,0 п.п.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09067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регіональні мережі й маркетплейси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" y="3328415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36499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Курс 54,0 + бонус 30 % разом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336499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5,9 %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36499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−8,3 п.п.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336499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реалістичний поганий сценарій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63931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Полиця 96 грн (P25 вікна)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363931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9,1 %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63931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−5,1 п.п.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363931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якщо доведеться стати нижче за медіану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877055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91363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Полиця 115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9136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20,0 %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39136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+5,8 п.п.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391363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якщо бренд візьме премію над медіаною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334255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" y="434339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ТОЧКА БЕЗЗБИТКОВОСТІ: МІНІМАЛЬНА ПОЛИЦЯ ПРИ НУЛЬОВІЙ МАРЖІ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4343399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бонус 25 %, націнка 1,40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571999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4571999"/>
            <a:ext cx="2834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СТІР-ФРАЙ · GOUDA / CARBONARA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4571999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СУПОВИЙ · ІНШІ ЧОТИРИ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4571999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РИНКОВИЙ ОРІЄНТИР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4571999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ЗАПАС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754879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6 палет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17520" y="4754879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125,1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89320" y="4754879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108,4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4754879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125,20 / 104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4754879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нуль / мінус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5029199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065775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12 палет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17520" y="5065775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106,2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89320" y="5065775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92,0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5065775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125,20 / 104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5065775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+18 % / +13 %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5376671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33 палети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17520" y="5376671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97,3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89320" y="5376671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84,3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86800" y="5376671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125,20 / 104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15600" y="537667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+29 % / +23 %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632704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66928" y="5632704"/>
            <a:ext cx="36576" cy="82296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ЦИФРА, ЯКУ ВАРТО ЗАПАМ'ЯТАТИ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4672" y="6016752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Точка беззбитковості стір-фраю на 6 палетах — 125,1 грн. Це рівно та ціна, за якою Choi’s уже продається в Україні. Тобто мала партія цієї пари SKU за поточної ринкової ціни не приносить нічого взагалі — ще до логістики й лістингів.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ОБСЯГ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Який тариф брати і що він дає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сценарії постачання, оцінені за позицією на полиці, а не за собівартістю. Маржа 15 % у всіх трьох.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39684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6849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НЕ БРАТИ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3852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523744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135–156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6265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127248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+30 % до медіани супового, +56 % до стір-фраю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54787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ТОЧКА НУЛЯ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4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стір-фрай 125,1 грн — рівно ринкова ціна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33088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297680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146 тис. грн валової маржі на партію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71830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882896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за цією ціною товар не стане на полицю; тестом це теж не буде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5968" y="1591056"/>
            <a:ext cx="3547872" cy="39684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1591056"/>
            <a:ext cx="36576" cy="39684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ТІЛЬКИ ЯК ПРОБНИЙ ЗАВІЗ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193852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523744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F9A50B"/>
                </a:solidFill>
                <a:latin typeface="Segoe UI"/>
              </a:rPr>
              <a:t>115–133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96265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127248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+11 % до медіани супового, +33 % до стір-фраю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54787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ПРАЦЮЄ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712464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маркетплейси й азійські фудшопи без бонусу мережі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133088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4297680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255 тис. грн на партію, 13,27 грн з пачки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71830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882896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суповий проходить у нішевий канал; стір-фрай — ні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8" y="1591056"/>
            <a:ext cx="3547872" cy="39684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65008" y="1591056"/>
            <a:ext cx="36576" cy="39684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193852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2523744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105–122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296265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3127248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+1 % до медіани супового; стір-фрай на 3 % дешевше за факт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354787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ЗА РИНКОМ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3712464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14,2 % на суповому, 16,7 % на стір-фраї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4133088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4297680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635 тис. грн на фуру, віддача 25 % за оборот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471830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882896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законтрактувати ≥60 % обсягу до відвантаження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ТІЛЬКИ FULL TRUCK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Різниця між 6 і 33 палетами — 30 грн собівартості на пачці стір-фраю і 13 грн на суповому. За моделі з маржею 15 % це рівно та різниця, що відділяє полицю 156 грн від полиці 122 грн. Обсяг тут не оптимізація, а умова входу.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Цільова полиця по кожному SKU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Розрахунок на тарифі 33 палети. Ціна партнеру і полиця — за моделлю постачальника з маржею 15 %.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48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2344" y="1627632"/>
            <a:ext cx="1965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627632"/>
            <a:ext cx="594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2392" y="1627632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FCA,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627632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162763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1627632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15 %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627632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2448" y="162763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810512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Cheese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52344" y="1810512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Стір-фрай без бульйону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810512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123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2392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81051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86,9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1810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42448" y="181051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114 · Samyang 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2061972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098548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Carbonara Spicy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52344" y="2098548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Стір-фрай без бульйону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098548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131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22392" y="20985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09854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9168" y="209854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86,9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209854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209854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42448" y="20985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114 · Samyang 140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386584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Flavor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52344" y="2386584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2386584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22392" y="23865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238658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59168" y="2386584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7616" y="238658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23865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42448" y="238658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93 · Nongshim 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" y="2638044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674620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Spicy Flavor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52344" y="267462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267462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112,5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22392" y="267462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0" y="267462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59168" y="267462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57616" y="26746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267462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42448" y="267462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93 · Nongshim 117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296265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Beef Flavor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52344" y="2962656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54880" y="2962656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22392" y="29626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296265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59168" y="2962656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57616" y="2962656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09760" y="296265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42448" y="296265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93 · Nongshim 117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3214115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250691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Chicken Flavor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52344" y="3250691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54880" y="3250691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22392" y="325069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250691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9168" y="3250691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57616" y="325069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9760" y="325069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42448" y="32506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93 · Nongshim 117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35661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3232" y="3575303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ТРИ ЦІНОВІ СЦЕНАРІЇ НА FULL TRUCK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575303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полиця з ПДВ · маржа перерахована від ціни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380390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СЦЕНАРІЙ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17520" y="3803904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СУПОВИЙ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60520" y="3803904"/>
            <a:ext cx="1143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СТІР-ФРАЙ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94960" y="380390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СУП.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75120" y="380390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СТІР.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3803904"/>
            <a:ext cx="367588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ДАЄ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9867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Агресивний · зайти ціною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017520" y="398678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60520" y="3986784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94960" y="398678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9,1 %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75120" y="398678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8,7 %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55279" y="3986784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нижче за медіану обох сегментів; бере полицю, але майже без маржі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3776" y="4261104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429768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Рекомендований · паритет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17520" y="429768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60520" y="429768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394960" y="4297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14,2 %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75120" y="4297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16,7 %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55279" y="4297680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 на медіані сегмента, стір-фрай дешевше за власний факт 125,20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608576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Комфортний · премія бренду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017520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60520" y="4608576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94960" y="46085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20,0 %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6085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24,7 %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55279" y="4608576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працює лише якщо бренд отримає лістинг у нацмережі й підтримку промо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66928" y="557784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6928" y="5577840"/>
            <a:ext cx="36576" cy="8046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04672" y="573328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ПРОСИТИ В SIAS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" y="596188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Ціна на суповій четвірці (€0,882 на full truck) під ринок уже підходить — торгуватись тут нема про що. Предмет переговорів — пара Gouda і Carbonara: €1,018 проти потрібних €0,837 під медіану стір-фраю. Аргумент: Paldo Volcano Carbonara тієї ж ваги стоїть на полиці за 114 грн, а Choi’s уже продається в Україні за 125,20.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МЕТОД І ОБМЕЖЕННЯ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перевірено, що оцінено, що не перевірено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Розділення факту, припущення й оцінки. Читати перед тим, як спиратися на цифри.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ФАКТ · ВЛАСНИЙ ЗРІЗ 29.09.2026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6362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перевірено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79222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792224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 / НАСЛІДОК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975104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SKU корейського рамену в мережах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197510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96 SKU, 209 записів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975104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онлайн-каталоги 18 мереж: zakaz.ua API + sf-ecom-api.silpo.ua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171700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20827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Ціна Choi’s Carbonara 131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2082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125,20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208276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В», «Космос»; EAN 3760344350847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414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Імпорт HS 1902 30 до України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44144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1 674 т у 2025, Корея 253,8 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441448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UN Comtrade, дзеркальні дані країн-експортерів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2638044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67462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Собівартість Self-Cost SIAS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267462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€0,882–1,309 за пачку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2674620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аркуш «СС_база» з наданої фінмоделі; курс 51,20 грн/€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90779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Не-корейська локшина, 14 SKU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0779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9–144 грн, 18–146 грн/100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290779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ті самі каталоги; по одному SKU на бренд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14115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22325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ПРИПУЩЕННЯ · ВЗЯТО З МОДЕЛІ ПОСТАЧАЛЬНИКА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3223259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можна змінити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451859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3451859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3451859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 / НАСЛІДОК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3634739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Маржа 15 % від ціни партнеру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634739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націнка на собівартість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3634739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15 % від ціни = 25 % націнки на СС; це валова маржа до всіх витрат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3831335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86791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Бонус мережі 25 %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0" y="386791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однаковий для всіх каналів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86791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фактичні умови мереж не запитувались; ±5 п.п. = ±5 п.п. маржі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101083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Націнка мережі 1,40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4101083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однакова для всіх мереж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4101083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у нацмережах буває 1,35–1,45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" y="4297679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334255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Курс 51,20 грн/€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4334255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зафіксований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334255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НБУ на 29.09.2026 — 50,97; +5 % курсу = −3,3 п.п. маржі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567427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Формат «стакан»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31920" y="4567427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маркер у назві або вага ≤ 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0" y="4567427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каталоги формат не вказують; це припущення класифікації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873751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" y="4882895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НЕ ПЕРЕВІРЕНО · ЗАКРИТИ ДО РІШЕННЯ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4882895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критично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5111495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31920" y="5111495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0" y="5111495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 / НАСЛІДОК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94375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Хто діючий імпортер Choi’s в Україні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31920" y="5294375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встановлено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35040" y="5294375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визначає, чи є ексклюзив і чи €0,882 — найкраща ціна SIAS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5490971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5527547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Що входить у Self-Cost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31920" y="5527547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розбивка не надана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0" y="5527547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якщо це FCA без фрахту й оформлення — уся полиця зростає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5760719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Витрати після складу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31920" y="5760719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в моделі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0" y="5760719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внутрішня логістика, лістинги, промо, втрати, вартість грошей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6" y="5957315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599389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Бонусні умови конкретних мереж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599389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запитувались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0" y="599389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від них залежить, чи 14–17 % взагалі досяжні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6227063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Ставка MFN на 1902 30 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31920" y="6227063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підтверджена тарифом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0" y="6227063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впливає на розмір переваги EUR.1, але не на порядок цифр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