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Relationship Id="rId10" Type="http://schemas.openxmlformats.org/officeDocument/2006/relationships/image" Target="../media/image9.jpg"/><Relationship Id="rId11" Type="http://schemas.openxmlformats.org/officeDocument/2006/relationships/image" Target="../media/image10.jpg"/><Relationship Id="rId12" Type="http://schemas.openxmlformats.org/officeDocument/2006/relationships/image" Target="../media/image11.jpg"/><Relationship Id="rId13" Type="http://schemas.openxmlformats.org/officeDocument/2006/relationships/image" Target="../media/image1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jpg"/><Relationship Id="rId4" Type="http://schemas.openxmlformats.org/officeDocument/2006/relationships/image" Target="../media/image5.jpg"/><Relationship Id="rId5" Type="http://schemas.openxmlformats.org/officeDocument/2006/relationships/image" Target="../media/image14.jpg"/><Relationship Id="rId6" Type="http://schemas.openxmlformats.org/officeDocument/2006/relationships/image" Target="../media/image10.jpg"/><Relationship Id="rId7" Type="http://schemas.openxmlformats.org/officeDocument/2006/relationships/image" Target="../media/image15.jpg"/><Relationship Id="rId8" Type="http://schemas.openxmlformats.org/officeDocument/2006/relationships/image" Target="../media/image16.jpg"/><Relationship Id="rId9" Type="http://schemas.openxmlformats.org/officeDocument/2006/relationships/image" Target="../media/image17.jpg"/><Relationship Id="rId10" Type="http://schemas.openxmlformats.org/officeDocument/2006/relationships/image" Target="../media/image18.jpg"/><Relationship Id="rId11" Type="http://schemas.openxmlformats.org/officeDocument/2006/relationships/image" Target="../media/image19.jpg"/><Relationship Id="rId12" Type="http://schemas.openxmlformats.org/officeDocument/2006/relationships/image" Target="../media/image20.jpg"/><Relationship Id="rId13" Type="http://schemas.openxmlformats.org/officeDocument/2006/relationships/image" Target="../media/image21.jpg"/><Relationship Id="rId14" Type="http://schemas.openxmlformats.org/officeDocument/2006/relationships/image" Target="../media/image22.jpg"/><Relationship Id="rId15" Type="http://schemas.openxmlformats.org/officeDocument/2006/relationships/image" Target="../media/image23.jpg"/><Relationship Id="rId16" Type="http://schemas.openxmlformats.org/officeDocument/2006/relationships/image" Target="../media/image24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5.jpg"/><Relationship Id="rId4" Type="http://schemas.openxmlformats.org/officeDocument/2006/relationships/image" Target="../media/image20.jpg"/><Relationship Id="rId5" Type="http://schemas.openxmlformats.org/officeDocument/2006/relationships/image" Target="../media/image6.jpg"/><Relationship Id="rId6" Type="http://schemas.openxmlformats.org/officeDocument/2006/relationships/image" Target="../media/image26.jpg"/><Relationship Id="rId7" Type="http://schemas.openxmlformats.org/officeDocument/2006/relationships/image" Target="../media/image27.jpg"/><Relationship Id="rId8" Type="http://schemas.openxmlformats.org/officeDocument/2006/relationships/image" Target="../media/image28.jpg"/><Relationship Id="rId9" Type="http://schemas.openxmlformats.org/officeDocument/2006/relationships/image" Target="../media/image29.jpg"/><Relationship Id="rId10" Type="http://schemas.openxmlformats.org/officeDocument/2006/relationships/image" Target="../media/image30.jpg"/><Relationship Id="rId11" Type="http://schemas.openxmlformats.org/officeDocument/2006/relationships/image" Target="../media/image31.jpg"/><Relationship Id="rId12" Type="http://schemas.openxmlformats.org/officeDocument/2006/relationships/image" Target="../media/image32.jpg"/><Relationship Id="rId13" Type="http://schemas.openxmlformats.org/officeDocument/2006/relationships/image" Target="../media/image33.jpg"/><Relationship Id="rId14" Type="http://schemas.openxmlformats.org/officeDocument/2006/relationships/image" Target="../media/image34.jpg"/><Relationship Id="rId15" Type="http://schemas.openxmlformats.org/officeDocument/2006/relationships/image" Target="../media/image35.jpg"/><Relationship Id="rId16" Type="http://schemas.openxmlformats.org/officeDocument/2006/relationships/image" Target="../media/image36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7.jpg"/><Relationship Id="rId4" Type="http://schemas.openxmlformats.org/officeDocument/2006/relationships/image" Target="../media/image38.jpg"/><Relationship Id="rId5" Type="http://schemas.openxmlformats.org/officeDocument/2006/relationships/image" Target="../media/image39.jpg"/><Relationship Id="rId6" Type="http://schemas.openxmlformats.org/officeDocument/2006/relationships/image" Target="../media/image40.jpg"/><Relationship Id="rId7" Type="http://schemas.openxmlformats.org/officeDocument/2006/relationships/image" Target="../media/image41.jpg"/><Relationship Id="rId8" Type="http://schemas.openxmlformats.org/officeDocument/2006/relationships/image" Target="../media/image10.jpg"/><Relationship Id="rId9" Type="http://schemas.openxmlformats.org/officeDocument/2006/relationships/image" Target="../media/image21.jpg"/><Relationship Id="rId10" Type="http://schemas.openxmlformats.org/officeDocument/2006/relationships/image" Target="../media/image42.jpg"/><Relationship Id="rId11" Type="http://schemas.openxmlformats.org/officeDocument/2006/relationships/image" Target="../media/image43.jpg"/><Relationship Id="rId12" Type="http://schemas.openxmlformats.org/officeDocument/2006/relationships/image" Target="../media/image44.jpg"/><Relationship Id="rId13" Type="http://schemas.openxmlformats.org/officeDocument/2006/relationships/image" Target="../media/image45.jpg"/><Relationship Id="rId14" Type="http://schemas.openxmlformats.org/officeDocument/2006/relationships/image" Target="../media/image46.jpg"/><Relationship Id="rId15" Type="http://schemas.openxmlformats.org/officeDocument/2006/relationships/image" Target="../media/image9.jpg"/><Relationship Id="rId16" Type="http://schemas.openxmlformats.org/officeDocument/2006/relationships/image" Target="../media/image47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1.jpg"/><Relationship Id="rId4" Type="http://schemas.openxmlformats.org/officeDocument/2006/relationships/image" Target="../media/image48.jpg"/><Relationship Id="rId5" Type="http://schemas.openxmlformats.org/officeDocument/2006/relationships/image" Target="../media/image49.jpg"/><Relationship Id="rId6" Type="http://schemas.openxmlformats.org/officeDocument/2006/relationships/image" Target="../media/image50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1.jpg"/><Relationship Id="rId4" Type="http://schemas.openxmlformats.org/officeDocument/2006/relationships/image" Target="../media/image52.jpg"/><Relationship Id="rId5" Type="http://schemas.openxmlformats.org/officeDocument/2006/relationships/image" Target="../media/image53.jpg"/><Relationship Id="rId6" Type="http://schemas.openxmlformats.org/officeDocument/2006/relationships/image" Target="../media/image54.jpg"/><Relationship Id="rId7" Type="http://schemas.openxmlformats.org/officeDocument/2006/relationships/image" Target="../media/image55.jpg"/><Relationship Id="rId8" Type="http://schemas.openxmlformats.org/officeDocument/2006/relationships/image" Target="../media/image56.jpg"/><Relationship Id="rId9" Type="http://schemas.openxmlformats.org/officeDocument/2006/relationships/image" Target="../media/image57.jpg"/><Relationship Id="rId10" Type="http://schemas.openxmlformats.org/officeDocument/2006/relationships/image" Target="../media/image58.jpg"/><Relationship Id="rId11" Type="http://schemas.openxmlformats.org/officeDocument/2006/relationships/image" Target="../media/image59.jpg"/><Relationship Id="rId12" Type="http://schemas.openxmlformats.org/officeDocument/2006/relationships/image" Target="../media/image60.jpg"/><Relationship Id="rId13" Type="http://schemas.openxmlformats.org/officeDocument/2006/relationships/image" Target="../media/image61.jpg"/><Relationship Id="rId14" Type="http://schemas.openxmlformats.org/officeDocument/2006/relationships/image" Target="../media/image7.jpg"/><Relationship Id="rId15" Type="http://schemas.openxmlformats.org/officeDocument/2006/relationships/image" Target="../media/image62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3.jpg"/><Relationship Id="rId4" Type="http://schemas.openxmlformats.org/officeDocument/2006/relationships/image" Target="../media/image64.jpg"/><Relationship Id="rId5" Type="http://schemas.openxmlformats.org/officeDocument/2006/relationships/image" Target="../media/image65.jpg"/><Relationship Id="rId6" Type="http://schemas.openxmlformats.org/officeDocument/2006/relationships/image" Target="../media/image66.jpg"/><Relationship Id="rId7" Type="http://schemas.openxmlformats.org/officeDocument/2006/relationships/image" Target="../media/image67.jpg"/><Relationship Id="rId8" Type="http://schemas.openxmlformats.org/officeDocument/2006/relationships/image" Target="../media/image68.jpg"/><Relationship Id="rId9" Type="http://schemas.openxmlformats.org/officeDocument/2006/relationships/image" Target="../media/image69.jpg"/><Relationship Id="rId10" Type="http://schemas.openxmlformats.org/officeDocument/2006/relationships/image" Target="../media/image70.jpg"/><Relationship Id="rId11" Type="http://schemas.openxmlformats.org/officeDocument/2006/relationships/image" Target="../media/image71.jpg"/><Relationship Id="rId12" Type="http://schemas.openxmlformats.org/officeDocument/2006/relationships/image" Target="../media/image51.jpg"/><Relationship Id="rId13" Type="http://schemas.openxmlformats.org/officeDocument/2006/relationships/image" Target="../media/image72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3.jpg"/><Relationship Id="rId4" Type="http://schemas.openxmlformats.org/officeDocument/2006/relationships/image" Target="../media/image74.jpg"/><Relationship Id="rId5" Type="http://schemas.openxmlformats.org/officeDocument/2006/relationships/image" Target="../media/image75.jpg"/><Relationship Id="rId6" Type="http://schemas.openxmlformats.org/officeDocument/2006/relationships/image" Target="../media/image76.jpg"/><Relationship Id="rId7" Type="http://schemas.openxmlformats.org/officeDocument/2006/relationships/image" Target="../media/image77.jpg"/><Relationship Id="rId8" Type="http://schemas.openxmlformats.org/officeDocument/2006/relationships/image" Target="../media/image78.jpg"/><Relationship Id="rId9" Type="http://schemas.openxmlformats.org/officeDocument/2006/relationships/image" Target="../media/image79.jpg"/><Relationship Id="rId10" Type="http://schemas.openxmlformats.org/officeDocument/2006/relationships/image" Target="../media/image80.jpg"/><Relationship Id="rId11" Type="http://schemas.openxmlformats.org/officeDocument/2006/relationships/image" Target="../media/image81.jpg"/><Relationship Id="rId12" Type="http://schemas.openxmlformats.org/officeDocument/2006/relationships/image" Target="../media/image82.jpg"/><Relationship Id="rId13" Type="http://schemas.openxmlformats.org/officeDocument/2006/relationships/image" Target="../media/image83.jpg"/><Relationship Id="rId14" Type="http://schemas.openxmlformats.org/officeDocument/2006/relationships/image" Target="../media/image84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5.jpg"/><Relationship Id="rId4" Type="http://schemas.openxmlformats.org/officeDocument/2006/relationships/image" Target="../media/image86.jpg"/><Relationship Id="rId5" Type="http://schemas.openxmlformats.org/officeDocument/2006/relationships/image" Target="../media/image87.jpg"/><Relationship Id="rId6" Type="http://schemas.openxmlformats.org/officeDocument/2006/relationships/image" Target="../media/image88.jpg"/><Relationship Id="rId7" Type="http://schemas.openxmlformats.org/officeDocument/2006/relationships/image" Target="../media/image89.jpg"/><Relationship Id="rId8" Type="http://schemas.openxmlformats.org/officeDocument/2006/relationships/image" Target="../media/image90.jpg"/><Relationship Id="rId9" Type="http://schemas.openxmlformats.org/officeDocument/2006/relationships/image" Target="../media/image91.jpg"/><Relationship Id="rId10" Type="http://schemas.openxmlformats.org/officeDocument/2006/relationships/image" Target="../media/image92.jpg"/><Relationship Id="rId11" Type="http://schemas.openxmlformats.org/officeDocument/2006/relationships/image" Target="../media/image93.jpg"/><Relationship Id="rId12" Type="http://schemas.openxmlformats.org/officeDocument/2006/relationships/image" Target="../media/image94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jpg"/><Relationship Id="rId4" Type="http://schemas.openxmlformats.org/officeDocument/2006/relationships/image" Target="../media/image3.jpg"/><Relationship Id="rId5" Type="http://schemas.openxmlformats.org/officeDocument/2006/relationships/image" Target="../media/image8.jpg"/><Relationship Id="rId6" Type="http://schemas.openxmlformats.org/officeDocument/2006/relationships/image" Target="../media/image95.jpg"/><Relationship Id="rId7" Type="http://schemas.openxmlformats.org/officeDocument/2006/relationships/image" Target="../media/image96.jpg"/><Relationship Id="rId8" Type="http://schemas.openxmlformats.org/officeDocument/2006/relationships/image" Target="../media/image97.jpg"/><Relationship Id="rId9" Type="http://schemas.openxmlformats.org/officeDocument/2006/relationships/image" Target="../media/image2.jpg"/><Relationship Id="rId10" Type="http://schemas.openxmlformats.org/officeDocument/2006/relationships/image" Target="../media/image12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8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731520"/>
            <a:ext cx="1920240" cy="8321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2395728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FFC95C"/>
                </a:solidFill>
                <a:latin typeface="Segoe UI"/>
              </a:rPr>
              <a:t>ДОСЛІДЖЕННЯ РИНКУ ТА ПОЗИЦІОНУВАННЯ · ВЕРЕСЕНЬ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15768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spc="-10">
                <a:solidFill>
                  <a:srgbClr val="FFFFFF"/>
                </a:solidFill>
                <a:latin typeface="Segoe UI"/>
              </a:rPr>
              <a:t>Корейський рамен</a:t>
            </a:r>
          </a:p>
          <a:p>
            <a:pPr algn="l">
              <a:lnSpc>
                <a:spcPct val="105000"/>
              </a:lnSpc>
            </a:pPr>
            <a:r>
              <a:rPr sz="4400" b="1" spc="-10">
                <a:solidFill>
                  <a:srgbClr val="FFFFFF"/>
                </a:solidFill>
                <a:latin typeface="Segoe UI"/>
              </a:rPr>
              <a:t>в Україні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590288"/>
            <a:ext cx="100584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 spc="-10">
                <a:solidFill>
                  <a:srgbClr val="9FA9C4"/>
                </a:solidFill>
                <a:latin typeface="Segoe UI"/>
              </a:rPr>
              <a:t>Оцінка пропозиції Choi’s Ramyeon (SIAS France) проти фактичної полиці:</a:t>
            </a:r>
          </a:p>
          <a:p>
            <a:pPr algn="l">
              <a:lnSpc>
                <a:spcPct val="150000"/>
              </a:lnSpc>
            </a:pPr>
            <a:r>
              <a:rPr sz="1000" b="0" spc="-10">
                <a:solidFill>
                  <a:srgbClr val="9FA9C4"/>
                </a:solidFill>
                <a:latin typeface="Segoe UI"/>
              </a:rPr>
              <a:t>96 SKU корейського рамену · 11 брендів · 13 мереж із 18 · зріз каталогів 29.09.2026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5413248"/>
            <a:ext cx="36576" cy="78638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0704" y="5440680"/>
            <a:ext cx="1005840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00" b="0" spc="-10">
                <a:solidFill>
                  <a:srgbClr val="9FA9C4"/>
                </a:solidFill>
                <a:latin typeface="Segoe UI"/>
              </a:rPr>
              <a:t>Усі ціни — роздріб за одну пачку, з ПДВ, на дату зрізу. Опт, ящики та мультипаки до медіан не входять.</a:t>
            </a:r>
          </a:p>
          <a:p>
            <a:pPr algn="l">
              <a:lnSpc>
                <a:spcPct val="140000"/>
              </a:lnSpc>
            </a:pPr>
            <a:r>
              <a:rPr sz="800" b="0" spc="-10">
                <a:solidFill>
                  <a:srgbClr val="9FA9C4"/>
                </a:solidFill>
                <a:latin typeface="Segoe UI"/>
              </a:rPr>
              <a:t>Фото товарів — з каталогів мереж; використані як ідентифікація SKU.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ГОЛОВНЕ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Шість цифр, які описують ринок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Усі ціни в колоді — за одну пачку, з ПДВ. Опт і ящики до розрахунку не входять.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609344"/>
            <a:ext cx="3456432" cy="115214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764792"/>
            <a:ext cx="309067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ОБСЯГ ІМПОРТУ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1975104"/>
            <a:ext cx="3090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 spc="-10">
                <a:solidFill>
                  <a:srgbClr val="C4820A"/>
                </a:solidFill>
                <a:latin typeface="Segoe UI"/>
              </a:rPr>
              <a:t>253,8 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450592"/>
            <a:ext cx="30906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 spc="-10">
                <a:solidFill>
                  <a:srgbClr val="717890"/>
                </a:solidFill>
                <a:latin typeface="Segoe UI"/>
              </a:rPr>
              <a:t>Корея, HS 1902 30.</a:t>
            </a:r>
          </a:p>
          <a:p>
            <a:pPr algn="l">
              <a:lnSpc>
                <a:spcPct val="115000"/>
              </a:lnSpc>
            </a:pPr>
            <a:r>
              <a:rPr sz="680" b="0" spc="-10">
                <a:solidFill>
                  <a:srgbClr val="717890"/>
                </a:solidFill>
                <a:latin typeface="Segoe UI"/>
              </a:rPr>
              <a:t>+8,8 % до 2024 року в кг.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60" y="1609344"/>
            <a:ext cx="3456432" cy="115214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53128" y="1764792"/>
            <a:ext cx="309067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ЄМНІСТЬ РОЗДРІБУ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53128" y="1975104"/>
            <a:ext cx="3090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 spc="-10">
                <a:solidFill>
                  <a:srgbClr val="1E9EA6"/>
                </a:solidFill>
                <a:latin typeface="Segoe UI"/>
              </a:rPr>
              <a:t>221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53128" y="2450592"/>
            <a:ext cx="30906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 spc="-10">
                <a:solidFill>
                  <a:srgbClr val="717890"/>
                </a:solidFill>
                <a:latin typeface="Segoe UI"/>
              </a:rPr>
              <a:t>млн грн на рік — оцінка</a:t>
            </a:r>
          </a:p>
          <a:p>
            <a:pPr algn="l">
              <a:lnSpc>
                <a:spcPct val="115000"/>
              </a:lnSpc>
            </a:pPr>
            <a:r>
              <a:rPr sz="680" b="0" spc="-10">
                <a:solidFill>
                  <a:srgbClr val="717890"/>
                </a:solidFill>
                <a:latin typeface="Segoe UI"/>
              </a:rPr>
              <a:t>за імпортом × медіану полиці.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36992" y="1609344"/>
            <a:ext cx="3456432" cy="115214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0" y="1764792"/>
            <a:ext cx="309067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ПОЗИЦІЙ У ПРОДАЖУ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1975104"/>
            <a:ext cx="3090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 spc="-10">
                <a:solidFill>
                  <a:srgbClr val="5D4B96"/>
                </a:solidFill>
                <a:latin typeface="Segoe UI"/>
              </a:rPr>
              <a:t>96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2450592"/>
            <a:ext cx="30906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 spc="-10">
                <a:solidFill>
                  <a:srgbClr val="717890"/>
                </a:solidFill>
                <a:latin typeface="Segoe UI"/>
              </a:rPr>
              <a:t>11 брендів, 13 мереж із 18.</a:t>
            </a:r>
          </a:p>
          <a:p>
            <a:pPr algn="l">
              <a:lnSpc>
                <a:spcPct val="115000"/>
              </a:lnSpc>
            </a:pPr>
            <a:r>
              <a:rPr sz="680" b="0" spc="-10">
                <a:solidFill>
                  <a:srgbClr val="717890"/>
                </a:solidFill>
                <a:latin typeface="Segoe UI"/>
              </a:rPr>
              <a:t>У «Сільпо» — 4 позиції.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2999232"/>
            <a:ext cx="3456432" cy="115214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154679"/>
            <a:ext cx="309067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НАЙПОШИРЕНІШИЙ ФОРМАТ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" y="3364991"/>
            <a:ext cx="3090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 spc="-10">
                <a:solidFill>
                  <a:srgbClr val="303A5D"/>
                </a:solidFill>
                <a:latin typeface="Segoe UI"/>
              </a:rPr>
              <a:t>пакет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" y="3840480"/>
            <a:ext cx="30906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 spc="-10">
                <a:solidFill>
                  <a:srgbClr val="717890"/>
                </a:solidFill>
                <a:latin typeface="Segoe UI"/>
              </a:rPr>
              <a:t>71 позиція (74 %).</a:t>
            </a:r>
          </a:p>
          <a:p>
            <a:pPr algn="l">
              <a:lnSpc>
                <a:spcPct val="115000"/>
              </a:lnSpc>
            </a:pPr>
            <a:r>
              <a:rPr sz="680" b="0" spc="-10">
                <a:solidFill>
                  <a:srgbClr val="717890"/>
                </a:solidFill>
                <a:latin typeface="Segoe UI"/>
              </a:rPr>
              <a:t>Стакан — 18, рисові галушки — 7.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51960" y="2999232"/>
            <a:ext cx="3456432" cy="115214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53128" y="3154679"/>
            <a:ext cx="309067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МАСОВА ВАГА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53128" y="3364991"/>
            <a:ext cx="3090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 spc="-10">
                <a:solidFill>
                  <a:srgbClr val="C4820A"/>
                </a:solidFill>
                <a:latin typeface="Segoe UI"/>
              </a:rPr>
              <a:t>120 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53128" y="3840480"/>
            <a:ext cx="30906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 spc="-10">
                <a:solidFill>
                  <a:srgbClr val="717890"/>
                </a:solidFill>
                <a:latin typeface="Segoe UI"/>
              </a:rPr>
              <a:t>23 позиції. Далі 130 г — 9,</a:t>
            </a:r>
          </a:p>
          <a:p>
            <a:pPr algn="l">
              <a:lnSpc>
                <a:spcPct val="115000"/>
              </a:lnSpc>
            </a:pPr>
            <a:r>
              <a:rPr sz="680" b="0" spc="-10">
                <a:solidFill>
                  <a:srgbClr val="717890"/>
                </a:solidFill>
                <a:latin typeface="Segoe UI"/>
              </a:rPr>
              <a:t>140 г — 6, 105 г — 6.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36992" y="2999232"/>
            <a:ext cx="3456432" cy="115214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38160" y="3154679"/>
            <a:ext cx="309067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НАЙДЕШЕВШИЙ ВХІД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3364991"/>
            <a:ext cx="3090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 spc="-10">
                <a:solidFill>
                  <a:srgbClr val="1E9EA6"/>
                </a:solidFill>
                <a:latin typeface="Segoe UI"/>
              </a:rPr>
              <a:t>77 грн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3840480"/>
            <a:ext cx="30906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 spc="-10">
                <a:solidFill>
                  <a:srgbClr val="717890"/>
                </a:solidFill>
                <a:latin typeface="Segoe UI"/>
              </a:rPr>
              <a:t>Ottogi Kimchi 120 г і O’Food 144 г —</a:t>
            </a:r>
          </a:p>
          <a:p>
            <a:pPr algn="l">
              <a:lnSpc>
                <a:spcPct val="115000"/>
              </a:lnSpc>
            </a:pPr>
            <a:r>
              <a:rPr sz="680" b="0" spc="-10">
                <a:solidFill>
                  <a:srgbClr val="717890"/>
                </a:solidFill>
                <a:latin typeface="Segoe UI"/>
              </a:rPr>
              <a:t>64–67 грн/100 г.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4517136"/>
            <a:ext cx="5413248" cy="166420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6928" y="4517136"/>
            <a:ext cx="36576" cy="1664208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672" y="4672584"/>
            <a:ext cx="49377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spc="-10">
                <a:solidFill>
                  <a:srgbClr val="303A5D"/>
                </a:solidFill>
                <a:latin typeface="Segoe UI"/>
              </a:rPr>
              <a:t>ЩО ЦЕ ОЗНАЧАЄ ДЛЯ ПОЛИЦІ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2" y="4901184"/>
            <a:ext cx="493776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1. Категорія повністю імпортна: корейського рамену в Україні не виробляють.</a:t>
            </a:r>
          </a:p>
          <a:p>
            <a:pPr algn="l">
              <a:lnSpc>
                <a:spcPct val="13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2. Зростання дає Корея: 233,3 → 253,8 т за рік, +8,8 % у кг і +34,9 % у грошах.</a:t>
            </a:r>
          </a:p>
          <a:p>
            <a:pPr algn="l">
              <a:lnSpc>
                <a:spcPct val="13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3. Формат, що тримає полицю, — пакет 120 г: 22 позиції в 11 мережах, медіана 93 грн.</a:t>
            </a:r>
          </a:p>
          <a:p>
            <a:pPr algn="l">
              <a:lnSpc>
                <a:spcPct val="13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4. Полиця концентрована: Samyang і Nongshim дають 54 позиції з 96 і стоять у 12 мережах із 13.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0" y="4517136"/>
            <a:ext cx="5413248" cy="166420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17920" y="4517136"/>
            <a:ext cx="36576" cy="166420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55664" y="4672584"/>
            <a:ext cx="49377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spc="-10">
                <a:solidFill>
                  <a:srgbClr val="303A5D"/>
                </a:solidFill>
                <a:latin typeface="Segoe UI"/>
              </a:rPr>
              <a:t>ЧОГО НА РИНКУ НЕМАЄ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55664" y="4901184"/>
            <a:ext cx="493776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1. Немає жодної позиції вагою 113 г — саме стільки важать чотири SKU Choi’s. Стандарт категорії — 120 г.</a:t>
            </a:r>
          </a:p>
          <a:p>
            <a:pPr algn="l">
              <a:lnSpc>
                <a:spcPct val="13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2. Немає корейського рамену в МегаМаркеті, Ultramarket, ЕКО, Епіцентрі та «Ідеалі»: нуль позицій.</a:t>
            </a:r>
          </a:p>
          <a:p>
            <a:pPr algn="l">
              <a:lnSpc>
                <a:spcPct val="13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3. Немає широкого вибору стаканів: 18 позицій на всю категорію при ціні за грам удвічі вищій за пакет.</a:t>
            </a:r>
          </a:p>
          <a:p>
            <a:pPr algn="l">
              <a:lnSpc>
                <a:spcPct val="13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4. Немає жодного бренду, крім Samyang і Nongshim, більш ніж у 5 мережах: решта дев'яти — від 1 до 5.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ОБСЯГ РИНКУ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1 674 т імпорту локшини, з них 253,8 т корейської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HS 1902 30 «інші макаронні вироби». Україна не звітувала 2025 рік до UN Comtrade — беремо дзеркальні дані країн-експортерів.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554480"/>
            <a:ext cx="5486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spc="-10">
                <a:solidFill>
                  <a:srgbClr val="303A5D"/>
                </a:solidFill>
                <a:latin typeface="Segoe UI"/>
              </a:rPr>
              <a:t>ЗВІДКИ ЇДЕ, 2025 РІК · тонн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764792"/>
            <a:ext cx="13258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303A5D"/>
                </a:solidFill>
                <a:latin typeface="Segoe UI"/>
              </a:rPr>
              <a:t>Китай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92807" y="1810512"/>
            <a:ext cx="3474719" cy="91440"/>
          </a:xfrm>
          <a:prstGeom prst="rect">
            <a:avLst/>
          </a:prstGeom>
          <a:solidFill>
            <a:srgbClr val="3E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50408" y="1764792"/>
            <a:ext cx="7772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spc="-10">
                <a:solidFill>
                  <a:srgbClr val="717890"/>
                </a:solidFill>
                <a:latin typeface="Segoe UI"/>
              </a:rPr>
              <a:t>734.1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2029967"/>
            <a:ext cx="13258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303A5D"/>
                </a:solidFill>
                <a:latin typeface="Segoe UI"/>
              </a:rPr>
              <a:t>Корея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92807" y="2075687"/>
            <a:ext cx="1201460" cy="91440"/>
          </a:xfrm>
          <a:prstGeom prst="rect">
            <a:avLst/>
          </a:prstGeom>
          <a:solidFill>
            <a:srgbClr val="3E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50408" y="2029967"/>
            <a:ext cx="7772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spc="-10">
                <a:solidFill>
                  <a:srgbClr val="717890"/>
                </a:solidFill>
                <a:latin typeface="Segoe UI"/>
              </a:rPr>
              <a:t>253.8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2295144"/>
            <a:ext cx="13258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303A5D"/>
                </a:solidFill>
                <a:latin typeface="Segoe UI"/>
              </a:rPr>
              <a:t>Польща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92807" y="2340863"/>
            <a:ext cx="1145577" cy="91440"/>
          </a:xfrm>
          <a:prstGeom prst="rect">
            <a:avLst/>
          </a:prstGeom>
          <a:solidFill>
            <a:srgbClr val="3E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50408" y="2295144"/>
            <a:ext cx="7772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spc="-10">
                <a:solidFill>
                  <a:srgbClr val="717890"/>
                </a:solidFill>
                <a:latin typeface="Segoe UI"/>
              </a:rPr>
              <a:t>242.0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2560320"/>
            <a:ext cx="13258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303A5D"/>
                </a:solidFill>
                <a:latin typeface="Segoe UI"/>
              </a:rPr>
              <a:t>Туреччина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92807" y="2606039"/>
            <a:ext cx="882909" cy="91440"/>
          </a:xfrm>
          <a:prstGeom prst="rect">
            <a:avLst/>
          </a:prstGeom>
          <a:solidFill>
            <a:srgbClr val="3E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50408" y="2560320"/>
            <a:ext cx="7772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spc="-10">
                <a:solidFill>
                  <a:srgbClr val="717890"/>
                </a:solidFill>
                <a:latin typeface="Segoe UI"/>
              </a:rPr>
              <a:t>186.5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2825496"/>
            <a:ext cx="13258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303A5D"/>
                </a:solidFill>
                <a:latin typeface="Segoe UI"/>
              </a:rPr>
              <a:t>Словаччина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92807" y="2871215"/>
            <a:ext cx="393694" cy="91440"/>
          </a:xfrm>
          <a:prstGeom prst="rect">
            <a:avLst/>
          </a:prstGeom>
          <a:solidFill>
            <a:srgbClr val="3E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50408" y="2825496"/>
            <a:ext cx="7772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spc="-10">
                <a:solidFill>
                  <a:srgbClr val="717890"/>
                </a:solidFill>
                <a:latin typeface="Segoe UI"/>
              </a:rPr>
              <a:t>83.2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3090672"/>
            <a:ext cx="13258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303A5D"/>
                </a:solidFill>
                <a:latin typeface="Segoe UI"/>
              </a:rPr>
              <a:t>Італія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92807" y="3136391"/>
            <a:ext cx="236250" cy="91440"/>
          </a:xfrm>
          <a:prstGeom prst="rect">
            <a:avLst/>
          </a:prstGeom>
          <a:solidFill>
            <a:srgbClr val="3E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50408" y="3090672"/>
            <a:ext cx="7772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spc="-10">
                <a:solidFill>
                  <a:srgbClr val="717890"/>
                </a:solidFill>
                <a:latin typeface="Segoe UI"/>
              </a:rPr>
              <a:t>49.9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3355848"/>
            <a:ext cx="13258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303A5D"/>
                </a:solidFill>
                <a:latin typeface="Segoe UI"/>
              </a:rPr>
              <a:t>Таїланд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92807" y="3401568"/>
            <a:ext cx="141369" cy="91440"/>
          </a:xfrm>
          <a:prstGeom prst="rect">
            <a:avLst/>
          </a:prstGeom>
          <a:solidFill>
            <a:srgbClr val="3E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50408" y="3355848"/>
            <a:ext cx="7772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spc="-10">
                <a:solidFill>
                  <a:srgbClr val="717890"/>
                </a:solidFill>
                <a:latin typeface="Segoe UI"/>
              </a:rPr>
              <a:t>29.9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3621024"/>
            <a:ext cx="13258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303A5D"/>
                </a:solidFill>
                <a:latin typeface="Segoe UI"/>
              </a:rPr>
              <a:t>Німеччина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92807" y="3666744"/>
            <a:ext cx="110960" cy="91440"/>
          </a:xfrm>
          <a:prstGeom prst="rect">
            <a:avLst/>
          </a:prstGeom>
          <a:solidFill>
            <a:srgbClr val="3E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550408" y="3621024"/>
            <a:ext cx="7772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spc="-10">
                <a:solidFill>
                  <a:srgbClr val="717890"/>
                </a:solidFill>
                <a:latin typeface="Segoe UI"/>
              </a:rPr>
              <a:t>23.4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3886200"/>
            <a:ext cx="13258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303A5D"/>
                </a:solidFill>
                <a:latin typeface="Segoe UI"/>
              </a:rPr>
              <a:t>Литва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892807" y="3931920"/>
            <a:ext cx="101940" cy="91440"/>
          </a:xfrm>
          <a:prstGeom prst="rect">
            <a:avLst/>
          </a:prstGeom>
          <a:solidFill>
            <a:srgbClr val="3E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550408" y="3886200"/>
            <a:ext cx="7772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spc="-10">
                <a:solidFill>
                  <a:srgbClr val="717890"/>
                </a:solidFill>
                <a:latin typeface="Segoe UI"/>
              </a:rPr>
              <a:t>21.5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4151376"/>
            <a:ext cx="13258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303A5D"/>
                </a:solidFill>
                <a:latin typeface="Segoe UI"/>
              </a:rPr>
              <a:t>Чехія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892807" y="4197096"/>
            <a:ext cx="63963" cy="91440"/>
          </a:xfrm>
          <a:prstGeom prst="rect">
            <a:avLst/>
          </a:prstGeom>
          <a:solidFill>
            <a:srgbClr val="3E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550408" y="4151376"/>
            <a:ext cx="7772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spc="-10">
                <a:solidFill>
                  <a:srgbClr val="717890"/>
                </a:solidFill>
                <a:latin typeface="Segoe UI"/>
              </a:rPr>
              <a:t>13.5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8" y="4590288"/>
            <a:ext cx="5760720" cy="8686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66928" y="4590288"/>
            <a:ext cx="36576" cy="86868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4672" y="4745736"/>
            <a:ext cx="5285231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spc="-10">
                <a:solidFill>
                  <a:srgbClr val="303A5D"/>
                </a:solidFill>
                <a:latin typeface="Segoe UI"/>
              </a:rPr>
              <a:t>ТОНАЖ ≠ КАТЕГОРІЯ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4672" y="4974336"/>
            <a:ext cx="5285231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Туреччина по $0,63/кг і Китай по $1,54/кг — це переважно звичайні макарони, не рамен. Корея — $4,88/кг: єдиний великий постачальник із ціною, що відповідає фасованому рамену.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75120" y="1554480"/>
            <a:ext cx="49377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spc="-10">
                <a:solidFill>
                  <a:srgbClr val="303A5D"/>
                </a:solidFill>
                <a:latin typeface="Segoe UI"/>
              </a:rPr>
              <a:t>КОРЕЯ → УКРАЇНА, HS 1902 30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75120" y="1792224"/>
            <a:ext cx="6400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РІК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06640" y="1792224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ОБСЯГ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0" y="1792224"/>
            <a:ext cx="14630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ВАРТІСТЬ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332720" y="1792224"/>
            <a:ext cx="128016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$/КГ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75120" y="1975104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spc="-10">
                <a:solidFill>
                  <a:srgbClr val="303A5D"/>
                </a:solidFill>
                <a:latin typeface="Segoe UI"/>
              </a:rPr>
              <a:t>2024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06640" y="1975104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spc="-10">
                <a:solidFill>
                  <a:srgbClr val="717890"/>
                </a:solidFill>
                <a:latin typeface="Segoe UI"/>
              </a:rPr>
              <a:t>233,3 т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86800" y="1975104"/>
            <a:ext cx="14630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spc="-10">
                <a:solidFill>
                  <a:srgbClr val="717890"/>
                </a:solidFill>
                <a:latin typeface="Segoe UI"/>
              </a:rPr>
              <a:t>$917,8 тис.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332720" y="1975104"/>
            <a:ext cx="12801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spc="-10">
                <a:solidFill>
                  <a:srgbClr val="717890"/>
                </a:solidFill>
                <a:latin typeface="Segoe UI"/>
              </a:rPr>
              <a:t>$3,93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601968" y="2176272"/>
            <a:ext cx="4956048" cy="22860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675120" y="2212848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spc="-10">
                <a:solidFill>
                  <a:srgbClr val="303A5D"/>
                </a:solidFill>
                <a:latin typeface="Segoe UI"/>
              </a:rPr>
              <a:t>2025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06640" y="2212848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spc="-10">
                <a:solidFill>
                  <a:srgbClr val="717890"/>
                </a:solidFill>
                <a:latin typeface="Segoe UI"/>
              </a:rPr>
              <a:t>253,8 т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86800" y="2212848"/>
            <a:ext cx="14630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spc="-10">
                <a:solidFill>
                  <a:srgbClr val="717890"/>
                </a:solidFill>
                <a:latin typeface="Segoe UI"/>
              </a:rPr>
              <a:t>$1 238,3 тис.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332720" y="2212848"/>
            <a:ext cx="12801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spc="-10">
                <a:solidFill>
                  <a:srgbClr val="717890"/>
                </a:solidFill>
                <a:latin typeface="Segoe UI"/>
              </a:rPr>
              <a:t>$4,88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675120" y="2450591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spc="-10">
                <a:solidFill>
                  <a:srgbClr val="303A5D"/>
                </a:solidFill>
                <a:latin typeface="Segoe UI"/>
              </a:rPr>
              <a:t>Δ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06640" y="2450591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spc="-10">
                <a:solidFill>
                  <a:srgbClr val="717890"/>
                </a:solidFill>
                <a:latin typeface="Segoe UI"/>
              </a:rPr>
              <a:t>+8,8 %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86800" y="2450591"/>
            <a:ext cx="14630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spc="-10">
                <a:solidFill>
                  <a:srgbClr val="717890"/>
                </a:solidFill>
                <a:latin typeface="Segoe UI"/>
              </a:rPr>
              <a:t>+34,9 %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332720" y="2450591"/>
            <a:ext cx="12801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spc="-10">
                <a:solidFill>
                  <a:srgbClr val="717890"/>
                </a:solidFill>
                <a:latin typeface="Segoe UI"/>
              </a:rPr>
              <a:t>+24,0 %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675120" y="2706624"/>
            <a:ext cx="4937760" cy="129844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675120" y="2706624"/>
            <a:ext cx="36576" cy="129844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912864" y="2862072"/>
            <a:ext cx="446227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spc="-10">
                <a:solidFill>
                  <a:srgbClr val="303A5D"/>
                </a:solidFill>
                <a:latin typeface="Segoe UI"/>
              </a:rPr>
              <a:t>ЩО КАЖЕ ЦІНА ІМПОРТУ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912864" y="3090672"/>
            <a:ext cx="4462272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Середня експортна ціна Кореї зросла на 24 % за рік при зростанні обсягу лише на 9 %. Ринок рухається в бік дорожчих SKU (Buldak, стакани), а не дешевших.</a:t>
            </a:r>
          </a:p>
          <a:p>
            <a:pPr algn="l">
              <a:lnSpc>
                <a:spcPct val="13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Повна собівартість SIAS в Україні — €1,13–1,31 за пачку 112,5–131 г, тобто €10,0–10,6/кг. Бази різні: тут фрахт, оформлення й гроші вже всередині, у митній вартості Кореї — ні.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66928" y="56875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spc="-10">
                <a:solidFill>
                  <a:srgbClr val="303A5D"/>
                </a:solidFill>
                <a:latin typeface="Segoe UI"/>
              </a:rPr>
              <a:t>ЯК РАХУВАЛИ ЄМНІСТЬ КОРЕЙСЬКОГО СЕГМЕНТА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66928" y="5888736"/>
            <a:ext cx="2048256" cy="78638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31520" y="5998464"/>
            <a:ext cx="1719072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253,8 т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31520" y="6291072"/>
            <a:ext cx="171907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 spc="-10">
                <a:solidFill>
                  <a:srgbClr val="717890"/>
                </a:solidFill>
                <a:latin typeface="Segoe UI"/>
              </a:rPr>
              <a:t>імпорт з Кореї 2025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615184" y="6144768"/>
            <a:ext cx="1828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→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798064" y="5888736"/>
            <a:ext cx="2048256" cy="78638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962656" y="5998464"/>
            <a:ext cx="1719072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2,12 млн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962656" y="6291072"/>
            <a:ext cx="171907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 spc="-10">
                <a:solidFill>
                  <a:srgbClr val="717890"/>
                </a:solidFill>
                <a:latin typeface="Segoe UI"/>
              </a:rPr>
              <a:t>пачок по 120 г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846320" y="6144768"/>
            <a:ext cx="1828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→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029200" y="5888736"/>
            <a:ext cx="2048256" cy="78638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193792" y="5998464"/>
            <a:ext cx="1719072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× 105 грн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193792" y="6291072"/>
            <a:ext cx="171907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 spc="-10">
                <a:solidFill>
                  <a:srgbClr val="717890"/>
                </a:solidFill>
                <a:latin typeface="Segoe UI"/>
              </a:rPr>
              <a:t>медіана полиці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077456" y="6144768"/>
            <a:ext cx="1828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→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260336" y="5888736"/>
            <a:ext cx="2048256" cy="78638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424928" y="5998464"/>
            <a:ext cx="1719072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221 млн грн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424928" y="6291072"/>
            <a:ext cx="171907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 spc="-10">
                <a:solidFill>
                  <a:srgbClr val="717890"/>
                </a:solidFill>
                <a:latin typeface="Segoe UI"/>
              </a:rPr>
              <a:t>роздріб на рік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308592" y="6144768"/>
            <a:ext cx="1828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→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491472" y="5888736"/>
            <a:ext cx="2048256" cy="78638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656064" y="5998464"/>
            <a:ext cx="1719072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×4,0 до FOB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656064" y="6291072"/>
            <a:ext cx="171907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 spc="-10">
                <a:solidFill>
                  <a:srgbClr val="717890"/>
                </a:solidFill>
                <a:latin typeface="Segoe UI"/>
              </a:rPr>
              <a:t>імпліцитний множник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СЕГМЕНТАЦІЯ РИНКУ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Три цінові поверхи локшини швидкого приготування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Поверх визначено за ціною за 100 г — це єдиний коректний вимір, коли пачки важать від 50 до 200 г. Межі поверхів узяті з фактичного розподілу брендів, а не задані наперед.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54480"/>
            <a:ext cx="3566160" cy="303580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554480"/>
            <a:ext cx="36576" cy="3035808"/>
          </a:xfrm>
          <a:prstGeom prst="rect">
            <a:avLst/>
          </a:prstGeom>
          <a:solidFill>
            <a:srgbClr val="3E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1682495"/>
            <a:ext cx="31638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1" spc="-10">
                <a:solidFill>
                  <a:srgbClr val="3E59A8"/>
                </a:solidFill>
                <a:latin typeface="Segoe UI"/>
              </a:rPr>
              <a:t>ПОВЕРХ 1 · ЕКОНОМ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1938528"/>
            <a:ext cx="31638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9–25 грн  ·  14–37 грн/100 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121408"/>
            <a:ext cx="316382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 spc="-10">
                <a:solidFill>
                  <a:srgbClr val="717890"/>
                </a:solidFill>
                <a:latin typeface="Segoe UI"/>
              </a:rPr>
              <a:t>Українське виробництво і приватні марки мереж · 15 брендів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" y="2322576"/>
            <a:ext cx="1517904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0858500244579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584" y="2377440"/>
            <a:ext cx="566928" cy="56692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68096" y="3044952"/>
            <a:ext cx="151790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 spc="-10">
                <a:solidFill>
                  <a:srgbClr val="1C2235"/>
                </a:solidFill>
                <a:latin typeface="Segoe UI"/>
              </a:rPr>
              <a:t>Мівіна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3200400"/>
            <a:ext cx="151790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E59A8"/>
                </a:solidFill>
                <a:latin typeface="Segoe UI"/>
              </a:rPr>
              <a:t>22 грн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" y="3346704"/>
            <a:ext cx="151790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0" spc="-10">
                <a:solidFill>
                  <a:srgbClr val="717890"/>
                </a:solidFill>
                <a:latin typeface="Segoe UI"/>
              </a:rPr>
              <a:t>37 грн/100 г · 16 мереж · 22 SKU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14015" y="2322576"/>
            <a:ext cx="1517904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04820179256819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9503" y="2377440"/>
            <a:ext cx="566928" cy="56692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414015" y="3044952"/>
            <a:ext cx="151790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 spc="-10">
                <a:solidFill>
                  <a:srgbClr val="1C2235"/>
                </a:solidFill>
                <a:latin typeface="Segoe UI"/>
              </a:rPr>
              <a:t>Reeva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14015" y="3200400"/>
            <a:ext cx="151790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E59A8"/>
                </a:solidFill>
                <a:latin typeface="Segoe UI"/>
              </a:rPr>
              <a:t>21 грн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14015" y="3346704"/>
            <a:ext cx="151790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0" spc="-10">
                <a:solidFill>
                  <a:srgbClr val="717890"/>
                </a:solidFill>
                <a:latin typeface="Segoe UI"/>
              </a:rPr>
              <a:t>34 грн/100 г · 14 мереж · 7 SKU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8096" y="3529584"/>
            <a:ext cx="1517904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04820179256819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3584" y="3584448"/>
            <a:ext cx="566928" cy="56692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68096" y="4251960"/>
            <a:ext cx="151790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 spc="-10">
                <a:solidFill>
                  <a:srgbClr val="1C2235"/>
                </a:solidFill>
                <a:latin typeface="Segoe UI"/>
              </a:rPr>
              <a:t>Роллтон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" y="4407408"/>
            <a:ext cx="151790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E59A8"/>
                </a:solidFill>
                <a:latin typeface="Segoe UI"/>
              </a:rPr>
              <a:t>21 грн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" y="4553712"/>
            <a:ext cx="151790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0" spc="-10">
                <a:solidFill>
                  <a:srgbClr val="717890"/>
                </a:solidFill>
                <a:latin typeface="Segoe UI"/>
              </a:rPr>
              <a:t>35 грн/100 г · 1 мереж · 1 SKU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414015" y="3529584"/>
            <a:ext cx="1517904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0482309741337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9503" y="3584448"/>
            <a:ext cx="566928" cy="56692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2414015" y="4251960"/>
            <a:ext cx="151790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 spc="-10">
                <a:solidFill>
                  <a:srgbClr val="1C2235"/>
                </a:solidFill>
                <a:latin typeface="Segoe UI"/>
              </a:rPr>
              <a:t>Щедро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14015" y="4407408"/>
            <a:ext cx="151790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E59A8"/>
                </a:solidFill>
                <a:latin typeface="Segoe UI"/>
              </a:rPr>
              <a:t>15 грн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14015" y="4553712"/>
            <a:ext cx="151790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0" spc="-10">
                <a:solidFill>
                  <a:srgbClr val="717890"/>
                </a:solidFill>
                <a:latin typeface="Segoe UI"/>
              </a:rPr>
              <a:t>25 грн/100 г · 7 мереж · 4 SKU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15968" y="1554480"/>
            <a:ext cx="3566160" cy="303580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315968" y="1554480"/>
            <a:ext cx="36576" cy="303580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17136" y="1682495"/>
            <a:ext cx="31638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1" spc="-10">
                <a:solidFill>
                  <a:srgbClr val="1E9EA6"/>
                </a:solidFill>
                <a:latin typeface="Segoe UI"/>
              </a:rPr>
              <a:t>ПОВЕРХ 2 · МІДЛ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17136" y="1938528"/>
            <a:ext cx="31638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38–124 грн  ·  58–86 грн/100 г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17136" y="2121408"/>
            <a:ext cx="316382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 spc="-10">
                <a:solidFill>
                  <a:srgbClr val="717890"/>
                </a:solidFill>
                <a:latin typeface="Segoe UI"/>
              </a:rPr>
              <a:t>Азія та імпорт середньої ціни — сюди потрапляє й дешева Корея · 9 брендів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17136" y="2322576"/>
            <a:ext cx="1517904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08801052114569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2623" y="2377440"/>
            <a:ext cx="566928" cy="566928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4517136" y="3044952"/>
            <a:ext cx="151790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 spc="-10">
                <a:solidFill>
                  <a:srgbClr val="1C2235"/>
                </a:solidFill>
                <a:latin typeface="Segoe UI"/>
              </a:rPr>
              <a:t>O'Food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17136" y="3200400"/>
            <a:ext cx="151790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1E9EA6"/>
                </a:solidFill>
                <a:latin typeface="Segoe UI"/>
              </a:rPr>
              <a:t>77 грн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17136" y="3346704"/>
            <a:ext cx="151790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0" spc="-10">
                <a:solidFill>
                  <a:srgbClr val="717890"/>
                </a:solidFill>
                <a:latin typeface="Segoe UI"/>
              </a:rPr>
              <a:t>67 грн/100 г · 2 мереж · 4 SKU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63055" y="2322576"/>
            <a:ext cx="1517904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08801045999906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38544" y="2377440"/>
            <a:ext cx="566928" cy="566928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6163055" y="3044952"/>
            <a:ext cx="151790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 spc="-10">
                <a:solidFill>
                  <a:srgbClr val="1C2235"/>
                </a:solidFill>
                <a:latin typeface="Segoe UI"/>
              </a:rPr>
              <a:t>Ottogi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63055" y="3200400"/>
            <a:ext cx="151790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1E9EA6"/>
                </a:solidFill>
                <a:latin typeface="Segoe UI"/>
              </a:rPr>
              <a:t>89 грн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63055" y="3346704"/>
            <a:ext cx="151790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0" spc="-10">
                <a:solidFill>
                  <a:srgbClr val="717890"/>
                </a:solidFill>
                <a:latin typeface="Segoe UI"/>
              </a:rPr>
              <a:t>75 грн/100 г · 5 мереж · 11 SKU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17136" y="3529584"/>
            <a:ext cx="1517904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00648436100057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92623" y="3584448"/>
            <a:ext cx="566928" cy="566928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4517136" y="4251960"/>
            <a:ext cx="151790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 spc="-10">
                <a:solidFill>
                  <a:srgbClr val="1C2235"/>
                </a:solidFill>
                <a:latin typeface="Segoe UI"/>
              </a:rPr>
              <a:t>Paldo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17136" y="4407408"/>
            <a:ext cx="151790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1E9EA6"/>
                </a:solidFill>
                <a:latin typeface="Segoe UI"/>
              </a:rPr>
              <a:t>95 грн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17136" y="4553712"/>
            <a:ext cx="151790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0" spc="-10">
                <a:solidFill>
                  <a:srgbClr val="717890"/>
                </a:solidFill>
                <a:latin typeface="Segoe UI"/>
              </a:rPr>
              <a:t>77 грн/100 г · 5 мереж · 8 SKU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63055" y="3529584"/>
            <a:ext cx="1517904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08852018102021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38544" y="3584448"/>
            <a:ext cx="566928" cy="56692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163055" y="4251960"/>
            <a:ext cx="151790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 spc="-10">
                <a:solidFill>
                  <a:srgbClr val="1C2235"/>
                </a:solidFill>
                <a:latin typeface="Segoe UI"/>
              </a:rPr>
              <a:t>Yum Yum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163055" y="4407408"/>
            <a:ext cx="151790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1E9EA6"/>
                </a:solidFill>
                <a:latin typeface="Segoe UI"/>
              </a:rPr>
              <a:t>60 грн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163055" y="4553712"/>
            <a:ext cx="151790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0" spc="-10">
                <a:solidFill>
                  <a:srgbClr val="717890"/>
                </a:solidFill>
                <a:latin typeface="Segoe UI"/>
              </a:rPr>
              <a:t>86 грн/100 г · 2 мереж · 1 SKU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065008" y="1554480"/>
            <a:ext cx="3566160" cy="303580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065008" y="1554480"/>
            <a:ext cx="36576" cy="3035808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266176" y="1682495"/>
            <a:ext cx="31638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1" spc="-10">
                <a:solidFill>
                  <a:srgbClr val="C4820A"/>
                </a:solidFill>
                <a:latin typeface="Segoe UI"/>
              </a:rPr>
              <a:t>ПОВЕРХ 3 · ІМПОРТНИЙ ПРЕМІУМ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66176" y="1938528"/>
            <a:ext cx="31638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34–204 грн  ·  93–146 грн/100 г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266176" y="2121408"/>
            <a:ext cx="316382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 spc="-10">
                <a:solidFill>
                  <a:srgbClr val="717890"/>
                </a:solidFill>
                <a:latin typeface="Segoe UI"/>
              </a:rPr>
              <a:t>Samyang, Nongshim і в'єтнамська рисова локшина · 8 брендів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266176" y="2322576"/>
            <a:ext cx="1517904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6" name="Picture 65" descr="08801073113428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41664" y="2377440"/>
            <a:ext cx="566928" cy="566928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8266176" y="3044952"/>
            <a:ext cx="151790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 spc="-10">
                <a:solidFill>
                  <a:srgbClr val="1C2235"/>
                </a:solidFill>
                <a:latin typeface="Segoe UI"/>
              </a:rPr>
              <a:t>Samyang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266176" y="3200400"/>
            <a:ext cx="151790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C4820A"/>
                </a:solidFill>
                <a:latin typeface="Segoe UI"/>
              </a:rPr>
              <a:t>112 грн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266176" y="3346704"/>
            <a:ext cx="151790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0" spc="-10">
                <a:solidFill>
                  <a:srgbClr val="717890"/>
                </a:solidFill>
                <a:latin typeface="Segoe UI"/>
              </a:rPr>
              <a:t>93 грн/100 г · 11 мереж · 17 SKU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912096" y="2322576"/>
            <a:ext cx="1517904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08801043150620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387584" y="2377440"/>
            <a:ext cx="566928" cy="566928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9912096" y="3044952"/>
            <a:ext cx="151790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 spc="-10">
                <a:solidFill>
                  <a:srgbClr val="1C2235"/>
                </a:solidFill>
                <a:latin typeface="Segoe UI"/>
              </a:rPr>
              <a:t>Nongshim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912096" y="3200400"/>
            <a:ext cx="151790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C4820A"/>
                </a:solidFill>
                <a:latin typeface="Segoe UI"/>
              </a:rPr>
              <a:t>117 грн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912096" y="3346704"/>
            <a:ext cx="151790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0" spc="-10">
                <a:solidFill>
                  <a:srgbClr val="717890"/>
                </a:solidFill>
                <a:latin typeface="Segoe UI"/>
              </a:rPr>
              <a:t>107 грн/100 г · 9 мереж · 11 SKU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266176" y="3529584"/>
            <a:ext cx="1517904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6" name="Picture 75" descr="08850987150098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41664" y="3584448"/>
            <a:ext cx="566928" cy="566928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8266176" y="4251960"/>
            <a:ext cx="151790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 spc="-10">
                <a:solidFill>
                  <a:srgbClr val="1C2235"/>
                </a:solidFill>
                <a:latin typeface="Segoe UI"/>
              </a:rPr>
              <a:t>Мама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266176" y="4407408"/>
            <a:ext cx="151790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C4820A"/>
                </a:solidFill>
                <a:latin typeface="Segoe UI"/>
              </a:rPr>
              <a:t>108 грн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266176" y="4553712"/>
            <a:ext cx="151790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0" spc="-10">
                <a:solidFill>
                  <a:srgbClr val="717890"/>
                </a:solidFill>
                <a:latin typeface="Segoe UI"/>
              </a:rPr>
              <a:t>121 грн/100 г · 5 мереж · 7 SKU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912096" y="3529584"/>
            <a:ext cx="1517904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1" name="Picture 80" descr="08936010681545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387584" y="3584448"/>
            <a:ext cx="566928" cy="566928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9912096" y="4251960"/>
            <a:ext cx="151790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 spc="-10">
                <a:solidFill>
                  <a:srgbClr val="1C2235"/>
                </a:solidFill>
                <a:latin typeface="Segoe UI"/>
              </a:rPr>
              <a:t>Cung Dinh Kool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912096" y="4407408"/>
            <a:ext cx="151790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C4820A"/>
                </a:solidFill>
                <a:latin typeface="Segoe UI"/>
              </a:rPr>
              <a:t>123 грн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912096" y="4553712"/>
            <a:ext cx="151790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0" spc="-10">
                <a:solidFill>
                  <a:srgbClr val="717890"/>
                </a:solidFill>
                <a:latin typeface="Segoe UI"/>
              </a:rPr>
              <a:t>118 грн/100 г · 4 мереж · 1 SKU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66928" y="4718304"/>
            <a:ext cx="11064240" cy="78638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566928" y="4718304"/>
            <a:ext cx="36576" cy="786384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04672" y="4846320"/>
            <a:ext cx="31089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spc="-10">
                <a:solidFill>
                  <a:srgbClr val="B53A3A"/>
                </a:solidFill>
                <a:latin typeface="Segoe UI"/>
              </a:rPr>
              <a:t>ПОВЕРХ 4 · ДЕ ОПИНЯЄТЬСЯ CHOI’S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04672" y="5047488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40" b="0" spc="-10">
                <a:solidFill>
                  <a:srgbClr val="303A5D"/>
                </a:solidFill>
                <a:latin typeface="Segoe UI"/>
              </a:rPr>
              <a:t>93–99 грн/100 г за фінмоделлю (15 %)</a:t>
            </a:r>
          </a:p>
          <a:p>
            <a:pPr algn="l">
              <a:lnSpc>
                <a:spcPct val="130000"/>
              </a:lnSpc>
            </a:pPr>
            <a:r>
              <a:rPr sz="740" b="0" spc="-10">
                <a:solidFill>
                  <a:srgbClr val="303A5D"/>
                </a:solidFill>
                <a:latin typeface="Segoe UI"/>
              </a:rPr>
              <a:t>Факт на полиці сьогодні: 96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023360" y="4846320"/>
            <a:ext cx="74066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b="0" spc="-10">
                <a:solidFill>
                  <a:srgbClr val="303A5D"/>
                </a:solidFill>
                <a:latin typeface="Segoe UI"/>
              </a:rPr>
              <a:t>При маржі 15 % Choi’s стає на 93–99 грн/100 г — це нижня частина преміум-поверху, поруч із Samyang (93 грн/100 г). Фактична ціна того самого SKU на полиці сьогодні — 96 грн/100 г. Фактична ціна того самого SKU сьогодні — 96 грн/100 г; обсяг, а не переговори про ціну, вирішує, куди Choi’s потрапить.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66928" y="5632704"/>
            <a:ext cx="11064240" cy="84124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566928" y="5632704"/>
            <a:ext cx="36576" cy="841248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04672" y="5788152"/>
            <a:ext cx="1058875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ЩО ЦЕ ЗМІНЮЄ В КАРТИНІ КОНКУРЕНЦІЇ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" y="6016752"/>
            <a:ext cx="1058875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Корейський рамен — не однорідний преміум. Ottogi (75), Paldo (77), O’Food (67) і Bibigo (70 грн/100 г) стоять у МІДЛІ поруч з Yum Yum і Hokkaido Club, а не поруч із Samyang і Nongshim. Прямий конкурент Choi’s за ціною — саме ця дешева половина корейської полиці, і вона вже коштує 67–89 грн за пачку.</a:t>
            </a:r>
          </a:p>
          <a:p>
            <a:pPr algn="l">
              <a:lnSpc>
                <a:spcPct val="13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Окремий фактор пропозиції: у липні 2025 Nestlé запустила фабрику вермішелі у с. Смолигів на Волині (~$50 млн). Продукція йде переважно на ринки ЄС під брендом Maggi, тож прямого тиску на українську полицю вона поки не створює — але потужність у країні з'явилася.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КАРТА РИНКУ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Чотири сегменти за способом приготування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Групування за тим, як продукт готується і де споживається — від цього залежать і ціна за грам, і канал. Так само, як у дослідженні готового рису.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91056"/>
            <a:ext cx="2651760" cy="228600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591056"/>
            <a:ext cx="36576" cy="2286000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1737360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00" b="1" spc="-10">
                <a:solidFill>
                  <a:srgbClr val="C4820A"/>
                </a:solidFill>
                <a:latin typeface="Segoe UI"/>
              </a:rPr>
              <a:t>СЕГМЕНТ 1 · РАМЕН У ПАКЕТІ · З БУЛЬЙОНОМ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066543"/>
            <a:ext cx="228600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46 позицій · 6 брендів · 12 мереж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249424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650" b="0" spc="-10">
                <a:solidFill>
                  <a:srgbClr val="303A5D"/>
                </a:solidFill>
                <a:latin typeface="Segoe UI"/>
              </a:rPr>
              <a:t>Варіння 4–5 хв · з бульйоном</a:t>
            </a:r>
          </a:p>
          <a:p>
            <a:pPr algn="l">
              <a:lnSpc>
                <a:spcPct val="125000"/>
              </a:lnSpc>
            </a:pPr>
            <a:r>
              <a:rPr sz="650" b="0" spc="-10">
                <a:solidFill>
                  <a:srgbClr val="303A5D"/>
                </a:solidFill>
                <a:latin typeface="Segoe UI"/>
              </a:rPr>
              <a:t>Маса — сухого продукту · привід: Домашня вечеря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2633472"/>
            <a:ext cx="2286000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717890"/>
                </a:solidFill>
                <a:latin typeface="Segoe UI"/>
              </a:rPr>
              <a:t>МЕДІАНА ЗА ПАЧКУ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277063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spc="-10">
                <a:solidFill>
                  <a:srgbClr val="C4820A"/>
                </a:solidFill>
                <a:latin typeface="Segoe UI"/>
              </a:rPr>
              <a:t>104 грн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3108960"/>
            <a:ext cx="2286000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717890"/>
                </a:solidFill>
                <a:latin typeface="Segoe UI"/>
              </a:rPr>
              <a:t>ДІАПАЗОН · ГРН/100 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3246120"/>
            <a:ext cx="22860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303A5D"/>
                </a:solidFill>
                <a:latin typeface="Segoe UI"/>
              </a:rPr>
              <a:t>67 – 209 грн · 86 грн/100 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" y="3438144"/>
            <a:ext cx="22860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 spc="-10">
                <a:solidFill>
                  <a:srgbClr val="717890"/>
                </a:solidFill>
                <a:latin typeface="Segoe UI"/>
              </a:rPr>
              <a:t>вага 102–144 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3602736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0" spc="-10">
                <a:solidFill>
                  <a:srgbClr val="717890"/>
                </a:solidFill>
                <a:latin typeface="Segoe UI"/>
              </a:rPr>
              <a:t>Nongshim · Samyang · Ottogi · Paldo · O'Food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64992" y="1591056"/>
            <a:ext cx="2651760" cy="228600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364992" y="1591056"/>
            <a:ext cx="36576" cy="228600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66160" y="1737360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00" b="1" spc="-10">
                <a:solidFill>
                  <a:srgbClr val="1E9EA6"/>
                </a:solidFill>
                <a:latin typeface="Segoe UI"/>
              </a:rPr>
              <a:t>СЕГМЕНТ 2 · РАМЕН У ПАКЕТІ · ІЗ СОУСОМ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2066543"/>
            <a:ext cx="228600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25 позицій · 7 брендів · 11 мереж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2249424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650" b="0" spc="-10">
                <a:solidFill>
                  <a:srgbClr val="303A5D"/>
                </a:solidFill>
                <a:latin typeface="Segoe UI"/>
              </a:rPr>
              <a:t>Варіння 4–5 хв · воду злити</a:t>
            </a:r>
          </a:p>
          <a:p>
            <a:pPr algn="l">
              <a:lnSpc>
                <a:spcPct val="125000"/>
              </a:lnSpc>
            </a:pPr>
            <a:r>
              <a:rPr sz="650" b="0" spc="-10">
                <a:solidFill>
                  <a:srgbClr val="303A5D"/>
                </a:solidFill>
                <a:latin typeface="Segoe UI"/>
              </a:rPr>
              <a:t>Маса — сухого продукту · привід: Домашня вечеря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2633472"/>
            <a:ext cx="2286000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717890"/>
                </a:solidFill>
                <a:latin typeface="Segoe UI"/>
              </a:rPr>
              <a:t>МЕДІАНА ЗА ПАЧКУ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0" y="277063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spc="-10">
                <a:solidFill>
                  <a:srgbClr val="1E9EA6"/>
                </a:solidFill>
                <a:latin typeface="Segoe UI"/>
              </a:rPr>
              <a:t>100 грн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108960"/>
            <a:ext cx="2286000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717890"/>
                </a:solidFill>
                <a:latin typeface="Segoe UI"/>
              </a:rPr>
              <a:t>ДІАПАЗОН · ГРН/100 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0" y="3246120"/>
            <a:ext cx="22860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303A5D"/>
                </a:solidFill>
                <a:latin typeface="Segoe UI"/>
              </a:rPr>
              <a:t>72 – 184 грн · 77 грн/100 г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0" y="3438144"/>
            <a:ext cx="22860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 spc="-10">
                <a:solidFill>
                  <a:srgbClr val="717890"/>
                </a:solidFill>
                <a:latin typeface="Segoe UI"/>
              </a:rPr>
              <a:t>вага 105–145 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0" y="3602736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0" spc="-10">
                <a:solidFill>
                  <a:srgbClr val="717890"/>
                </a:solidFill>
                <a:latin typeface="Segoe UI"/>
              </a:rPr>
              <a:t>Samyang · Paldo · Nongshim · Bibigo · Ottogi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63056" y="1591056"/>
            <a:ext cx="2651760" cy="228600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63056" y="1591056"/>
            <a:ext cx="36576" cy="228600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64224" y="1737360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00" b="1" spc="-10">
                <a:solidFill>
                  <a:srgbClr val="5D4B96"/>
                </a:solidFill>
                <a:latin typeface="Segoe UI"/>
              </a:rPr>
              <a:t>СЕГМЕНТ 3 · РАМЕН У СТАКАНІ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64224" y="2066543"/>
            <a:ext cx="228600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18 позицій · 4 брендів · 8 мереж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64224" y="2249424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650" b="0" spc="-10">
                <a:solidFill>
                  <a:srgbClr val="303A5D"/>
                </a:solidFill>
                <a:latin typeface="Segoe UI"/>
              </a:rPr>
              <a:t>Залити окропом 3–4 хв</a:t>
            </a:r>
          </a:p>
          <a:p>
            <a:pPr algn="l">
              <a:lnSpc>
                <a:spcPct val="125000"/>
              </a:lnSpc>
            </a:pPr>
            <a:r>
              <a:rPr sz="650" b="0" spc="-10">
                <a:solidFill>
                  <a:srgbClr val="303A5D"/>
                </a:solidFill>
                <a:latin typeface="Segoe UI"/>
              </a:rPr>
              <a:t>Маса — сухого продукту · привід: Офіс і дорога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64224" y="2633472"/>
            <a:ext cx="2286000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717890"/>
                </a:solidFill>
                <a:latin typeface="Segoe UI"/>
              </a:rPr>
              <a:t>МЕДІАНА ЗА ПАЧКУ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64224" y="277063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spc="-10">
                <a:solidFill>
                  <a:srgbClr val="5D4B96"/>
                </a:solidFill>
                <a:latin typeface="Segoe UI"/>
              </a:rPr>
              <a:t>104 грн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64224" y="3108960"/>
            <a:ext cx="2286000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717890"/>
                </a:solidFill>
                <a:latin typeface="Segoe UI"/>
              </a:rPr>
              <a:t>ДІАПАЗОН · ГРН/100 Г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64224" y="3246120"/>
            <a:ext cx="22860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303A5D"/>
                </a:solidFill>
                <a:latin typeface="Segoe UI"/>
              </a:rPr>
              <a:t>34 – 195 грн · 154 грн/100 г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64224" y="3438144"/>
            <a:ext cx="22860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 spc="-10">
                <a:solidFill>
                  <a:srgbClr val="717890"/>
                </a:solidFill>
                <a:latin typeface="Segoe UI"/>
              </a:rPr>
              <a:t>вага 62–120 г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64224" y="3602736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0" spc="-10">
                <a:solidFill>
                  <a:srgbClr val="717890"/>
                </a:solidFill>
                <a:latin typeface="Segoe UI"/>
              </a:rPr>
              <a:t>Nongshim · Samyang · Paldo · Ottogi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961120" y="1591056"/>
            <a:ext cx="2651760" cy="228600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961120" y="1591056"/>
            <a:ext cx="36576" cy="228600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62288" y="1737360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00" b="1" spc="-10">
                <a:solidFill>
                  <a:srgbClr val="303A5D"/>
                </a:solidFill>
                <a:latin typeface="Segoe UI"/>
              </a:rPr>
              <a:t>СЕГМЕНТ 4 · РИСОВІ ГАЛУШКИ ТА РИСОВА ЛОКШИНА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62288" y="2066543"/>
            <a:ext cx="228600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7 позицій · 4 брендів · 4 мереж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62288" y="2249424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650" b="0" spc="-10">
                <a:solidFill>
                  <a:srgbClr val="303A5D"/>
                </a:solidFill>
                <a:latin typeface="Segoe UI"/>
              </a:rPr>
              <a:t>Варіння або окріп</a:t>
            </a:r>
          </a:p>
          <a:p>
            <a:pPr algn="l">
              <a:lnSpc>
                <a:spcPct val="125000"/>
              </a:lnSpc>
            </a:pPr>
            <a:r>
              <a:rPr sz="650" b="0" spc="-10">
                <a:solidFill>
                  <a:srgbClr val="303A5D"/>
                </a:solidFill>
                <a:latin typeface="Segoe UI"/>
              </a:rPr>
              <a:t>Маса — сухого продукту · привід: Снек і десерт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62288" y="2633472"/>
            <a:ext cx="2286000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717890"/>
                </a:solidFill>
                <a:latin typeface="Segoe UI"/>
              </a:rPr>
              <a:t>МЕДІАНА ЗА ПАЧКУ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62288" y="277063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spc="-10">
                <a:solidFill>
                  <a:srgbClr val="303A5D"/>
                </a:solidFill>
                <a:latin typeface="Segoe UI"/>
              </a:rPr>
              <a:t>198 грн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62288" y="3108960"/>
            <a:ext cx="2286000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717890"/>
                </a:solidFill>
                <a:latin typeface="Segoe UI"/>
              </a:rPr>
              <a:t>ДІАПАЗОН · ГРН/100 Г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62288" y="3246120"/>
            <a:ext cx="22860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303A5D"/>
                </a:solidFill>
                <a:latin typeface="Segoe UI"/>
              </a:rPr>
              <a:t>65 – 204 грн · 136 грн/100 г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62288" y="3438144"/>
            <a:ext cx="22860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 spc="-10">
                <a:solidFill>
                  <a:srgbClr val="717890"/>
                </a:solidFill>
                <a:latin typeface="Segoe UI"/>
              </a:rPr>
              <a:t>вага 80–145 г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62288" y="3602736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0" spc="-10">
                <a:solidFill>
                  <a:srgbClr val="717890"/>
                </a:solidFill>
                <a:latin typeface="Segoe UI"/>
              </a:rPr>
              <a:t>Yopokki · Samyang · Paldo · Baekje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66928" y="4023360"/>
            <a:ext cx="36576" cy="17373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13232" y="4032504"/>
            <a:ext cx="640080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spc="-10">
                <a:solidFill>
                  <a:srgbClr val="303A5D"/>
                </a:solidFill>
                <a:latin typeface="Segoe UI"/>
              </a:rPr>
              <a:t>ЩО ЦЕ ЗА СЕГМЕНТИ І ЧОМУ ЇХ РОЗДІЛЯЮТЬ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15200" y="4032504"/>
            <a:ext cx="402336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50" b="1" spc="-10">
                <a:solidFill>
                  <a:srgbClr val="C4820A"/>
                </a:solidFill>
                <a:latin typeface="Segoe UI"/>
              </a:rPr>
              <a:t>класифікація за технологією приготування, не за брендом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66928" y="4261104"/>
            <a:ext cx="27889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СЕГМЕНТ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401568" y="4261104"/>
            <a:ext cx="21031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ЯК ГОТУЄТЬСЯ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559552" y="4261104"/>
            <a:ext cx="5029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SKU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126480" y="4261104"/>
            <a:ext cx="8686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МЕДІАНА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059168" y="4261104"/>
            <a:ext cx="9144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ГРН/100 Г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046720" y="4261104"/>
            <a:ext cx="8686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ВАГА, Г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006840" y="4261104"/>
            <a:ext cx="262432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ЧОМУ ЦЕ ОКРЕМИЙ СЕГМЕНТ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66928" y="4443984"/>
            <a:ext cx="27889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1 · РАМЕН У ПАКЕТІ · З БУЛЬЙОНОМ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401568" y="4443984"/>
            <a:ext cx="21031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Варіння 4–5 хв · з бульйоном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559552" y="4443984"/>
            <a:ext cx="5029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46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126480" y="4443984"/>
            <a:ext cx="8686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104 грн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059168" y="4443984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86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046720" y="4443984"/>
            <a:ext cx="8686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102–144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006840" y="4443984"/>
            <a:ext cx="262432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базова полиця категорії: найбільше SKU і найширша дистрибуція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93776" y="4681728"/>
            <a:ext cx="10936224" cy="26517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66928" y="4718304"/>
            <a:ext cx="27889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2 · РАМЕН У ПАКЕТІ · ІЗ СОУСОМ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401568" y="4718304"/>
            <a:ext cx="21031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Варіння 4–5 хв · воду злити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559552" y="4718304"/>
            <a:ext cx="5029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25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126480" y="4718304"/>
            <a:ext cx="8686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100 грн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059168" y="4718304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77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046720" y="4718304"/>
            <a:ext cx="8686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105–145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006840" y="4718304"/>
            <a:ext cx="262432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інший привід і інша ціна за грам; зростає найшвидше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66928" y="4992624"/>
            <a:ext cx="27889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3 · РАМЕН У СТАКАНІ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401568" y="4992624"/>
            <a:ext cx="21031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Залити окропом 3–4 хв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559552" y="4992624"/>
            <a:ext cx="5029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18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126480" y="4992624"/>
            <a:ext cx="8686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104 грн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059168" y="4992624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154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046720" y="4992624"/>
            <a:ext cx="8686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62–120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006840" y="4992624"/>
            <a:ext cx="262432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готується без плити — конкурує з обідом поза домом, а не з вечерею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93776" y="5230368"/>
            <a:ext cx="10936224" cy="26517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66928" y="5266944"/>
            <a:ext cx="27889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4 · РИСОВІ ГАЛУШКИ ТА РИСОВА ЛОКШИНА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401568" y="5266944"/>
            <a:ext cx="21031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Варіння або окріп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559552" y="5266944"/>
            <a:ext cx="5029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7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126480" y="5266944"/>
            <a:ext cx="8686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198 грн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059168" y="5266944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136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046720" y="5266944"/>
            <a:ext cx="8686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80–145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006840" y="5266944"/>
            <a:ext cx="262432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рисовий продукт, не пшенична локшина: інша полиця і інший покупець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66928" y="5541264"/>
            <a:ext cx="27889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Суміжна полиця · не-корейська локшина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401568" y="5541264"/>
            <a:ext cx="21031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Варіння або окріп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559552" y="5541264"/>
            <a:ext cx="5029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14 брендів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126480" y="5541264"/>
            <a:ext cx="8686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9–144 грн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059168" y="5541264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18–146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046720" y="5541264"/>
            <a:ext cx="8686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50–200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006840" y="5541264"/>
            <a:ext cx="262432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цінова підлога: від неї покупець рахує премію за корейський бренд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66928" y="5961888"/>
            <a:ext cx="11064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 spc="-10">
                <a:solidFill>
                  <a:srgbClr val="9FA9C4"/>
                </a:solidFill>
                <a:latin typeface="Segoe UI"/>
              </a:rPr>
              <a:t>Формат «стакан» визначено за маркером у назві або вагою ≤ 85 г: корейські мережеві каталоги рідко вказують формат окремо, а рамен у пакеті важить 100–145 г, у стакані — 62–85 г. Це припущення, а не поле з каталогу.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МАТРИЦЯ БРЕНДІВ · 1 З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Рамен у пакеті: сегменти, у які потрапляють усі шість SKU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Це два сегменти, у які потрапляють усі шість SKU Choi’s. Усередині сегмента бренди відсортовані від найдешевшого до найдорожчого.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54480"/>
            <a:ext cx="36576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563624"/>
            <a:ext cx="106984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C4820A"/>
                </a:solidFill>
                <a:latin typeface="Segoe UI"/>
              </a:rPr>
              <a:t>СЕГМЕНТ 1 · РАМЕН У ПАКЕТІ · З БУЛЬЙОНОМ   ·   Варіння 4–5 хв · з бульйоном   ·   46 SKU   ·   медіана 104 грн   ·   86 грн/100 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828800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БРЕНД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73936" y="1828800"/>
            <a:ext cx="13716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ВЛАСНИК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63824" y="1828800"/>
            <a:ext cx="4114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SKU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1828800"/>
            <a:ext cx="56692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МЕРЕЖ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15384" y="1828800"/>
            <a:ext cx="82296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ВАГА, 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1828800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ЦІНА ЗА ПАЧКУ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0216" y="1828800"/>
            <a:ext cx="7315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МЕДІАНА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68312" y="1828800"/>
            <a:ext cx="7772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ГРН/100 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1828800"/>
            <a:ext cx="20116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ДЕ ПРОДАЄТЬСЯ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30384" y="1828800"/>
            <a:ext cx="170078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ЩО ЦЕ ТАКЕ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2011680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O'Food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73936" y="2011680"/>
            <a:ext cx="13716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Daesang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63824" y="2011680"/>
            <a:ext cx="4114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11880" y="2011680"/>
            <a:ext cx="56692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15384" y="2011680"/>
            <a:ext cx="8229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102–144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74920" y="2011680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68–84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0216" y="2011680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77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68312" y="2011680"/>
            <a:ext cx="777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67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82127" y="2011680"/>
            <a:ext cx="20116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Ашан · Зараз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30384" y="2011680"/>
            <a:ext cx="170078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найнижча ціна за грам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93776" y="2203704"/>
            <a:ext cx="10936224" cy="2194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" y="2240280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Ottogi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73936" y="2240280"/>
            <a:ext cx="13716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Ottogi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63824" y="2240280"/>
            <a:ext cx="4114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11880" y="2240280"/>
            <a:ext cx="56692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15384" y="2240280"/>
            <a:ext cx="8229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111–130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74920" y="2240280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67–112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0216" y="2240280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88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68312" y="2240280"/>
            <a:ext cx="777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76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82127" y="2240280"/>
            <a:ext cx="20116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Ашан · Космос · Таврія В +2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30384" y="2240280"/>
            <a:ext cx="170078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Jin Ramen — найдешевший вхід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2468880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Paldo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773936" y="2468880"/>
            <a:ext cx="13716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Paldo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163824" y="2468880"/>
            <a:ext cx="4114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11880" y="2468880"/>
            <a:ext cx="56692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15384" y="2468880"/>
            <a:ext cx="8229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110–120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74920" y="2468880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72–113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00216" y="2468880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93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68312" y="2468880"/>
            <a:ext cx="777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77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82127" y="2468880"/>
            <a:ext cx="20116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Ашан · Grono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30384" y="2468880"/>
            <a:ext cx="170078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та сама вага, дешевше за грам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93776" y="2660904"/>
            <a:ext cx="10936224" cy="2194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66928" y="2697480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Otoki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773936" y="2697480"/>
            <a:ext cx="13716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Корея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163824" y="2697480"/>
            <a:ext cx="4114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11880" y="2697480"/>
            <a:ext cx="56692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215384" y="2697480"/>
            <a:ext cx="8229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120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74920" y="2697480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95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00216" y="2697480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95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068312" y="2697480"/>
            <a:ext cx="777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79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882127" y="2697480"/>
            <a:ext cx="20116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Ашан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930384" y="2697480"/>
            <a:ext cx="170078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поодинокий SKU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66928" y="2926080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Samyang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773936" y="2926080"/>
            <a:ext cx="13716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Samyang Foods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163824" y="2926080"/>
            <a:ext cx="4114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9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611880" y="2926080"/>
            <a:ext cx="56692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11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215384" y="2926080"/>
            <a:ext cx="8229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105–140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074920" y="2926080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86–169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0216" y="2926080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115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068312" y="2926080"/>
            <a:ext cx="777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97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82127" y="2926080"/>
            <a:ext cx="20116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Ашан · Зараз · Grono +8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930384" y="2926080"/>
            <a:ext cx="170078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частина лінійки з бульйоном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93776" y="3118104"/>
            <a:ext cx="10936224" cy="2194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66928" y="3154680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Nongshim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773936" y="3154680"/>
            <a:ext cx="13716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Nongshim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163824" y="3154680"/>
            <a:ext cx="4114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17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611880" y="3154680"/>
            <a:ext cx="56692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10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215384" y="3154680"/>
            <a:ext cx="8229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112–137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074920" y="3154680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74–209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300216" y="3154680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117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068312" y="3154680"/>
            <a:ext cx="777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98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882127" y="3154680"/>
            <a:ext cx="20116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Ашан · Onde · Grono +7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930384" y="3154680"/>
            <a:ext cx="170078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Shin Ramyun — якір полиці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66928" y="3493008"/>
            <a:ext cx="36576" cy="17373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13232" y="3502152"/>
            <a:ext cx="106984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1E9EA6"/>
                </a:solidFill>
                <a:latin typeface="Segoe UI"/>
              </a:rPr>
              <a:t>СЕГМЕНТ 2 · РАМЕН У ПАКЕТІ · ІЗ СОУСОМ   ·   Варіння 4–5 хв · воду злити   ·   25 SKU   ·   медіана 100 грн   ·   77 грн/100 г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66928" y="3767328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БРЕНД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773936" y="3767328"/>
            <a:ext cx="13716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ВЛАСНИК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163824" y="3767328"/>
            <a:ext cx="4114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SKU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611880" y="3767328"/>
            <a:ext cx="56692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МЕРЕЖ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215384" y="3767328"/>
            <a:ext cx="82296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ВАГА, Г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074920" y="3767328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ЦІНА ЗА ПАЧКУ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300216" y="3767328"/>
            <a:ext cx="7315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МЕДІАНА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068312" y="3767328"/>
            <a:ext cx="7772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ГРН/100 Г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882127" y="3767328"/>
            <a:ext cx="20116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ДЕ ПРОДАЄТЬСЯ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930384" y="3767328"/>
            <a:ext cx="170078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ЩО ЦЕ ТАКЕ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66928" y="3950208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fire bull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773936" y="3950208"/>
            <a:ext cx="13716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Корея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163824" y="3950208"/>
            <a:ext cx="4114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611880" y="3950208"/>
            <a:ext cx="56692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215384" y="3950208"/>
            <a:ext cx="8229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138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074920" y="3950208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78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300216" y="3950208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78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068312" y="3950208"/>
            <a:ext cx="777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57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882127" y="3950208"/>
            <a:ext cx="20116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Onde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930384" y="3950208"/>
            <a:ext cx="170078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поодинокий SKU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93776" y="4142232"/>
            <a:ext cx="10936224" cy="2194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566928" y="4178808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Bibigo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773936" y="4178808"/>
            <a:ext cx="13716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CJ CheilJedang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163824" y="4178808"/>
            <a:ext cx="4114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4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611880" y="4178808"/>
            <a:ext cx="56692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215384" y="4178808"/>
            <a:ext cx="8229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122–127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074920" y="4178808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86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300216" y="4178808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86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068312" y="4178808"/>
            <a:ext cx="777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70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882127" y="4178808"/>
            <a:ext cx="20116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Ашан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9930384" y="4178808"/>
            <a:ext cx="170078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stir-fry від CJ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66928" y="4407408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Ottogi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773936" y="4407408"/>
            <a:ext cx="13716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Ottogi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163824" y="4407408"/>
            <a:ext cx="4114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3611880" y="4407408"/>
            <a:ext cx="56692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215384" y="4407408"/>
            <a:ext cx="8229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120–130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5074920" y="4407408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89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300216" y="4407408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89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068312" y="4407408"/>
            <a:ext cx="777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71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7882127" y="4407408"/>
            <a:ext cx="20116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Ашан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9930384" y="4407408"/>
            <a:ext cx="170078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stir-fry з сиром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493776" y="4599432"/>
            <a:ext cx="10936224" cy="2194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566928" y="4636008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Paldo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773936" y="4636008"/>
            <a:ext cx="13716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Paldo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163824" y="4636008"/>
            <a:ext cx="4114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6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611880" y="4636008"/>
            <a:ext cx="56692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4215384" y="4636008"/>
            <a:ext cx="8229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105–140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5074920" y="4636008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72–124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6300216" y="4636008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102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068312" y="4636008"/>
            <a:ext cx="777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78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7882127" y="4636008"/>
            <a:ext cx="20116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Ашан · Grono · Onde +2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9930384" y="4636008"/>
            <a:ext cx="170078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Volcano Carbonara — аналог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566928" y="4864608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Nongshim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773936" y="4864608"/>
            <a:ext cx="13716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Nongshim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3163824" y="4864608"/>
            <a:ext cx="4114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4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3611880" y="4864608"/>
            <a:ext cx="56692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8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4215384" y="4864608"/>
            <a:ext cx="8229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131–140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5074920" y="4864608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89–154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6300216" y="4864608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108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7068312" y="4864608"/>
            <a:ext cx="777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78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7882127" y="4864608"/>
            <a:ext cx="20116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Ашан · Клас · NOVUS +5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9930384" y="4864608"/>
            <a:ext cx="170078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Chapaghetti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493776" y="5056632"/>
            <a:ext cx="10936224" cy="2194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566928" y="5093208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Choi's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773936" y="5093208"/>
            <a:ext cx="13716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SIAS France · ЄС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3163824" y="5093208"/>
            <a:ext cx="4114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3611880" y="5093208"/>
            <a:ext cx="56692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4215384" y="5093208"/>
            <a:ext cx="8229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131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5074920" y="5093208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125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6300216" y="5093208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125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7068312" y="5093208"/>
            <a:ext cx="777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96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7882127" y="5093208"/>
            <a:ext cx="20116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Космос · Таврія В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9930384" y="5093208"/>
            <a:ext cx="170078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наш продукт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566928" y="5321808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Samyang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1773936" y="5321808"/>
            <a:ext cx="13716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Samyang Foods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3163824" y="5321808"/>
            <a:ext cx="4114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7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3611880" y="5321808"/>
            <a:ext cx="56692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10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4215384" y="5321808"/>
            <a:ext cx="8229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105–145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5074920" y="5321808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78–184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6300216" y="5321808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135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7068312" y="5321808"/>
            <a:ext cx="777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93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7882127" y="5321808"/>
            <a:ext cx="20116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Onde · Ашан · Клас +7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9930384" y="5321808"/>
            <a:ext cx="170078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Buldak — франшиза-лідер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566928" y="5632704"/>
            <a:ext cx="11064240" cy="84124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566928" y="5632704"/>
            <a:ext cx="36576" cy="841248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804672" y="5788152"/>
            <a:ext cx="1058875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ДЕ САМЕ СТОЇТЬ CHOI’S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804672" y="6016752"/>
            <a:ext cx="1058875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Шість SKU SIAS розпадаються на два сегменти: Carbonara 131 г і Gouda 123 г — це рамен із соусом (медіана сегмента 100 грн), Vegetable, Spicy, Beef і Chicken — рамен з бульйоном (медіана 104 грн). Порівнювати їх треба з різними конкурентами, а не з категорією загалом.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МАТРИЦЯ БРЕНДІВ · 2 З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Рамен у стакані та рисові галушки — суміжні сегменти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Ці два сегменти з Choi’s не конкурують напряму: інший привід споживання і інша ціна за грам. Показані, щоб було видно всю категорію.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36576" cy="17373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581912"/>
            <a:ext cx="106984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5D4B96"/>
                </a:solidFill>
                <a:latin typeface="Segoe UI"/>
              </a:rPr>
              <a:t>СЕГМЕНТ 3 · РАМЕН У СТАКАНІ   ·   Залити окропом 3–4 хв   ·   18 SKU   ·   медіана 104 грн   ·   154 грн/100 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847088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БРЕНД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73936" y="1847088"/>
            <a:ext cx="13716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ВЛАСНИК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63824" y="1847088"/>
            <a:ext cx="4114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SKU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1847088"/>
            <a:ext cx="56692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МЕРЕЖ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15384" y="1847088"/>
            <a:ext cx="82296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ВАГА, 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1847088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ЦІНА ЗА ПАЧКУ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0216" y="1847088"/>
            <a:ext cx="7315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МЕДІАНА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68312" y="1847088"/>
            <a:ext cx="7772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ГРН/100 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1847088"/>
            <a:ext cx="20116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ДЕ ПРОДАЄТЬСЯ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30384" y="1847088"/>
            <a:ext cx="170078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ЩО ЦЕ ТАКЕ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2029968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Samyang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73936" y="2029968"/>
            <a:ext cx="13716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Samyang Foods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63824" y="2029968"/>
            <a:ext cx="4114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11880" y="2029968"/>
            <a:ext cx="56692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15384" y="2029968"/>
            <a:ext cx="8229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70–80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74920" y="2029968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34–150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0216" y="2029968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76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68312" y="2029968"/>
            <a:ext cx="777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95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82127" y="2029968"/>
            <a:ext cx="20116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Ашан · Космос · Клас +4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30384" y="2029968"/>
            <a:ext cx="170078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стакани Buldak 70–80 г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93776" y="2249424"/>
            <a:ext cx="10936224" cy="24688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" y="2286000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Ottogi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73936" y="2286000"/>
            <a:ext cx="13716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Ottogi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63824" y="2286000"/>
            <a:ext cx="4114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11880" y="2286000"/>
            <a:ext cx="56692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15384" y="2286000"/>
            <a:ext cx="8229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67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74920" y="2286000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82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0216" y="2286000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82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68312" y="2286000"/>
            <a:ext cx="777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123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82127" y="2286000"/>
            <a:ext cx="20116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Ашан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30384" y="2286000"/>
            <a:ext cx="170078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Jin Ramen у стакані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2542032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Paldo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773936" y="2542032"/>
            <a:ext cx="13716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Paldo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163824" y="2542032"/>
            <a:ext cx="4114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11880" y="2542032"/>
            <a:ext cx="56692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15384" y="2542032"/>
            <a:ext cx="8229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120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74920" y="2542032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99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00216" y="2542032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99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68312" y="2542032"/>
            <a:ext cx="777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82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82127" y="2542032"/>
            <a:ext cx="20116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Ашан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30384" y="2542032"/>
            <a:ext cx="170078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Jumbo Noodle у стакані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93776" y="2761488"/>
            <a:ext cx="10936224" cy="24688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66928" y="2798064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Nongshim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773936" y="2798064"/>
            <a:ext cx="13716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Nongshim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163824" y="2798064"/>
            <a:ext cx="4114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11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11880" y="2798064"/>
            <a:ext cx="56692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215384" y="2798064"/>
            <a:ext cx="8229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62–80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74920" y="2798064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97–195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00216" y="2798064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111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068312" y="2798064"/>
            <a:ext cx="777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166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882127" y="2798064"/>
            <a:ext cx="20116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METRO · Ашан · Grono +1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930384" y="2798064"/>
            <a:ext cx="170078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Shin Cup і сублімовані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66928" y="3236976"/>
            <a:ext cx="36576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13232" y="3246120"/>
            <a:ext cx="106984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303A5D"/>
                </a:solidFill>
                <a:latin typeface="Segoe UI"/>
              </a:rPr>
              <a:t>СЕГМЕНТ 4 · РИСОВІ ГАЛУШКИ ТА РИСОВА ЛОКШИНА   ·   Варіння або окріп   ·   7 SKU   ·   медіана 198 грн   ·   136 грн/100 г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66928" y="3511296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БРЕНД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773936" y="3511296"/>
            <a:ext cx="13716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ВЛАСНИК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163824" y="3511296"/>
            <a:ext cx="4114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SKU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611880" y="3511296"/>
            <a:ext cx="56692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МЕРЕЖ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215384" y="3511296"/>
            <a:ext cx="82296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ВАГА, Г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074920" y="3511296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ЦІНА ЗА ПАЧКУ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300216" y="3511296"/>
            <a:ext cx="7315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МЕДІАНА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068312" y="3511296"/>
            <a:ext cx="7772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ГРН/100 Г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882127" y="3511296"/>
            <a:ext cx="20116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ДЕ ПРОДАЄТЬСЯ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930384" y="3511296"/>
            <a:ext cx="170078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ЩО ЦЕ ТАКЕ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66928" y="3694176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Samyang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773936" y="3694176"/>
            <a:ext cx="13716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Samyang Foods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163824" y="3694176"/>
            <a:ext cx="4114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611880" y="3694176"/>
            <a:ext cx="56692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215384" y="3694176"/>
            <a:ext cx="8229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80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074920" y="3694176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65–104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300216" y="3694176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84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068312" y="3694176"/>
            <a:ext cx="777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105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82127" y="3694176"/>
            <a:ext cx="20116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Ашан · Onde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930384" y="3694176"/>
            <a:ext cx="170078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Topokki — галушки з локшиною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93776" y="3913632"/>
            <a:ext cx="10936224" cy="24688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66928" y="3950208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Baekje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773936" y="3950208"/>
            <a:ext cx="13716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Корея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163824" y="3950208"/>
            <a:ext cx="4114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611880" y="3950208"/>
            <a:ext cx="56692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215384" y="3950208"/>
            <a:ext cx="8229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92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074920" y="3950208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106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300216" y="3950208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106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068312" y="3950208"/>
            <a:ext cx="777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116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882127" y="3950208"/>
            <a:ext cx="20116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Ашан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930384" y="3950208"/>
            <a:ext cx="170078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рисова локшина з кімчі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66928" y="4206240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Paldo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773936" y="4206240"/>
            <a:ext cx="13716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Paldo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163824" y="4206240"/>
            <a:ext cx="4114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611880" y="4206240"/>
            <a:ext cx="56692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215384" y="4206240"/>
            <a:ext cx="8229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145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074920" y="4206240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101–124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300216" y="4206240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112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068312" y="4206240"/>
            <a:ext cx="777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77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882127" y="4206240"/>
            <a:ext cx="20116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Ашан · Grono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930384" y="4206240"/>
            <a:ext cx="170078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Rabokki — рисові галушки з локшиною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93776" y="4425696"/>
            <a:ext cx="10936224" cy="24688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566928" y="4462272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Yopokki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773936" y="4462272"/>
            <a:ext cx="13716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Young Poong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163824" y="4462272"/>
            <a:ext cx="4114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4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611880" y="4462272"/>
            <a:ext cx="56692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215384" y="4462272"/>
            <a:ext cx="8229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145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074920" y="4462272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198–204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300216" y="4462272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204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068312" y="4462272"/>
            <a:ext cx="777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141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882127" y="4462272"/>
            <a:ext cx="20116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METRO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9930384" y="4462272"/>
            <a:ext cx="170078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рисові галушки, снековий привід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566928" y="4297680"/>
            <a:ext cx="5413248" cy="1325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566928" y="4297680"/>
            <a:ext cx="36576" cy="132588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804672" y="4453128"/>
            <a:ext cx="49377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spc="-10">
                <a:solidFill>
                  <a:srgbClr val="303A5D"/>
                </a:solidFill>
                <a:latin typeface="Segoe UI"/>
              </a:rPr>
              <a:t>СТАКАН — ВДВІЧІ ДОРОЖЧИЙ ГРАМ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04672" y="4681728"/>
            <a:ext cx="4937760" cy="795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154 грн/100 г проти 86 у рамену в пакеті. Покупець платить не за продукт, а за те, що не потрібна плита. При цьому сегмент займає лише 18 SKU у 8 мережах.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6217920" y="4297680"/>
            <a:ext cx="5413248" cy="1325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6217920" y="4297680"/>
            <a:ext cx="36576" cy="132588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455664" y="4453128"/>
            <a:ext cx="49377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spc="-10">
                <a:solidFill>
                  <a:srgbClr val="303A5D"/>
                </a:solidFill>
                <a:latin typeface="Segoe UI"/>
              </a:rPr>
              <a:t>РИСОВІ ГАЛУШКИ — НЕ НАША ПОЛИЦЯ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455664" y="4681728"/>
            <a:ext cx="4937760" cy="795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Медіана 198 грн, але це рисові галушки, а не локшина. Сегмент показано для повноти картини: його ціни не можна використовувати як орієнтир для пшеничного рамену.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566928" y="5760720"/>
            <a:ext cx="11064240" cy="7315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566928" y="5760720"/>
            <a:ext cx="36576" cy="731520"/>
          </a:xfrm>
          <a:prstGeom prst="rect">
            <a:avLst/>
          </a:prstGeom>
          <a:solidFill>
            <a:srgbClr val="3E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804672" y="5916168"/>
            <a:ext cx="1058875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СУМІЖНА ПОЛИЦЯ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804672" y="6144768"/>
            <a:ext cx="105887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Не-корейська локшина швидкого приготування — 14 брендів, 9–144 грн, 18–146 грн/100 г. Детально на слайді з картками. Саме вона, а не корейські бренди, формує уявлення покупця про «нормальну» ціну пачки локшини.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ЦІНА ЗА ОДНУ УПАКОВКУ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Від 65 до 205 грн: сходи всіх одинадцяти брендів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Стовпчик — медіана бренду. Праворуч — від найдешевшої до найдорожчої його позиції. Помаранчеве — ми.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70981" y="1691639"/>
            <a:ext cx="998982" cy="3268980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70981" y="1545336"/>
            <a:ext cx="99898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C4820A"/>
                </a:solidFill>
                <a:latin typeface="Segoe UI"/>
              </a:rPr>
              <a:t>ВІКНО ПОЛИЦІ  86–124 грн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10128" y="1837943"/>
            <a:ext cx="5486" cy="3122676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44368" y="4997196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61688" y="1837943"/>
            <a:ext cx="5486" cy="3122676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95927" y="4997196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40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13248" y="1837943"/>
            <a:ext cx="5486" cy="3122676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47488" y="4997196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80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64808" y="1837943"/>
            <a:ext cx="5486" cy="3122676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99048" y="4997196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16367" y="1837943"/>
            <a:ext cx="5486" cy="3122676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50607" y="4997196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160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67928" y="1837943"/>
            <a:ext cx="5486" cy="3122676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02168" y="4997196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200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19488" y="1837943"/>
            <a:ext cx="5486" cy="3122676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53728" y="4997196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240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1913381"/>
            <a:ext cx="263347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O'Food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10128" y="1920239"/>
            <a:ext cx="2024253" cy="141732"/>
          </a:xfrm>
          <a:prstGeom prst="rect">
            <a:avLst/>
          </a:prstGeom>
          <a:solidFill>
            <a:srgbClr val="C2C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07533" y="1908810"/>
            <a:ext cx="2011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77 грн  ·  68–84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2146553"/>
            <a:ext cx="263347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fire bull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10128" y="2153411"/>
            <a:ext cx="2050541" cy="141732"/>
          </a:xfrm>
          <a:prstGeom prst="rect">
            <a:avLst/>
          </a:prstGeom>
          <a:solidFill>
            <a:srgbClr val="C2C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33822" y="2141982"/>
            <a:ext cx="2011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78 грн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2379725"/>
            <a:ext cx="263347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Bibigo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310128" y="2386583"/>
            <a:ext cx="2260853" cy="141732"/>
          </a:xfrm>
          <a:prstGeom prst="rect">
            <a:avLst/>
          </a:prstGeom>
          <a:solidFill>
            <a:srgbClr val="C2C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44133" y="2375153"/>
            <a:ext cx="2011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86 грн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2612897"/>
            <a:ext cx="263347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Ottogi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310128" y="2619755"/>
            <a:ext cx="2339720" cy="141732"/>
          </a:xfrm>
          <a:prstGeom prst="rect">
            <a:avLst/>
          </a:prstGeom>
          <a:solidFill>
            <a:srgbClr val="C2C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23000" y="2608325"/>
            <a:ext cx="2011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89 грн  ·  67–112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2846069"/>
            <a:ext cx="263347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Paldo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310128" y="2852927"/>
            <a:ext cx="2471165" cy="141732"/>
          </a:xfrm>
          <a:prstGeom prst="rect">
            <a:avLst/>
          </a:prstGeom>
          <a:solidFill>
            <a:srgbClr val="C2C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854446" y="2841497"/>
            <a:ext cx="2011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94 грн  ·  72–124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" y="3079241"/>
            <a:ext cx="263347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Otoki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310128" y="3086099"/>
            <a:ext cx="2497455" cy="141732"/>
          </a:xfrm>
          <a:prstGeom prst="rect">
            <a:avLst/>
          </a:prstGeom>
          <a:solidFill>
            <a:srgbClr val="C2C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880735" y="3074669"/>
            <a:ext cx="2011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95 грн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3312413"/>
            <a:ext cx="263347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Baekje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310128" y="3319271"/>
            <a:ext cx="2786634" cy="141732"/>
          </a:xfrm>
          <a:prstGeom prst="rect">
            <a:avLst/>
          </a:prstGeom>
          <a:solidFill>
            <a:srgbClr val="C2C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69914" y="3307841"/>
            <a:ext cx="2011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106 грн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6928" y="3545585"/>
            <a:ext cx="263347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Nongshim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310128" y="3552443"/>
            <a:ext cx="2918078" cy="141732"/>
          </a:xfrm>
          <a:prstGeom prst="rect">
            <a:avLst/>
          </a:prstGeom>
          <a:solidFill>
            <a:srgbClr val="C2C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01358" y="3541013"/>
            <a:ext cx="2011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111 грн  ·  74–209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6928" y="3778757"/>
            <a:ext cx="263347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Samyang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310128" y="3785615"/>
            <a:ext cx="2944368" cy="141732"/>
          </a:xfrm>
          <a:prstGeom prst="rect">
            <a:avLst/>
          </a:prstGeom>
          <a:solidFill>
            <a:srgbClr val="C2C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27648" y="3774185"/>
            <a:ext cx="2011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112 грн  ·  34–184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66928" y="4011929"/>
            <a:ext cx="263347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C4820A"/>
                </a:solidFill>
                <a:latin typeface="Segoe UI"/>
              </a:rPr>
              <a:t>Choi’s · факт на полиці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310128" y="4018787"/>
            <a:ext cx="3286124" cy="141732"/>
          </a:xfrm>
          <a:prstGeom prst="rect">
            <a:avLst/>
          </a:prstGeom>
          <a:solidFill>
            <a:srgbClr val="F5A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669404" y="4007357"/>
            <a:ext cx="2011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C4820A"/>
                </a:solidFill>
                <a:latin typeface="Segoe UI"/>
              </a:rPr>
              <a:t>125 грн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6928" y="4245101"/>
            <a:ext cx="263347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C4820A"/>
                </a:solidFill>
                <a:latin typeface="Segoe UI"/>
              </a:rPr>
              <a:t>SIAS · Spicy / Beef / Chicken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310128" y="4251959"/>
            <a:ext cx="3549014" cy="141732"/>
          </a:xfrm>
          <a:prstGeom prst="rect">
            <a:avLst/>
          </a:prstGeom>
          <a:solidFill>
            <a:srgbClr val="F5A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932295" y="4240529"/>
            <a:ext cx="2011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C4820A"/>
                </a:solidFill>
                <a:latin typeface="Segoe UI"/>
              </a:rPr>
              <a:t>135 грн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66928" y="4478273"/>
            <a:ext cx="263347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C4820A"/>
                </a:solidFill>
                <a:latin typeface="Segoe UI"/>
              </a:rPr>
              <a:t>SIAS · Carbonara / Gouda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310128" y="4485131"/>
            <a:ext cx="4101084" cy="141732"/>
          </a:xfrm>
          <a:prstGeom prst="rect">
            <a:avLst/>
          </a:prstGeom>
          <a:solidFill>
            <a:srgbClr val="F5A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484364" y="4473701"/>
            <a:ext cx="2011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C4820A"/>
                </a:solidFill>
                <a:latin typeface="Segoe UI"/>
              </a:rPr>
              <a:t>156 грн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66928" y="4711445"/>
            <a:ext cx="263347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Yopokki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310128" y="4718303"/>
            <a:ext cx="5362955" cy="141732"/>
          </a:xfrm>
          <a:prstGeom prst="rect">
            <a:avLst/>
          </a:prstGeom>
          <a:solidFill>
            <a:srgbClr val="C2C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746236" y="4706873"/>
            <a:ext cx="2011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204 грн  ·  198–204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66928" y="5180075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 spc="-10">
                <a:solidFill>
                  <a:srgbClr val="9FA9C4"/>
                </a:solidFill>
                <a:latin typeface="Segoe UI"/>
              </a:rPr>
              <a:t>Шкала — грн за одну пачку, з ПДВ. Медіана бренду рахується по всіх його позиціях у зрізі 18 мереж.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66928" y="5522976"/>
            <a:ext cx="3547872" cy="8778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68096" y="5678424"/>
            <a:ext cx="318211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МЕДІАНА КАТЕГОРІЇ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68096" y="5888736"/>
            <a:ext cx="3182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 spc="-10">
                <a:solidFill>
                  <a:srgbClr val="303A5D"/>
                </a:solidFill>
                <a:latin typeface="Segoe UI"/>
              </a:rPr>
              <a:t>105 грн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68096" y="6364224"/>
            <a:ext cx="31821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 spc="-10">
                <a:solidFill>
                  <a:srgbClr val="717890"/>
                </a:solidFill>
                <a:latin typeface="Segoe UI"/>
              </a:rPr>
              <a:t>P25 86 · P75 122 грн.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315968" y="5522976"/>
            <a:ext cx="3547872" cy="8778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517136" y="5678424"/>
            <a:ext cx="318211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НАЙДЕШЕВШИЙ БРЕНД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517136" y="5888736"/>
            <a:ext cx="3182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 spc="-10">
                <a:solidFill>
                  <a:srgbClr val="1E9EA6"/>
                </a:solidFill>
                <a:latin typeface="Segoe UI"/>
              </a:rPr>
              <a:t>O’Food 77 грн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517136" y="6364224"/>
            <a:ext cx="31821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 spc="-10">
                <a:solidFill>
                  <a:srgbClr val="717890"/>
                </a:solidFill>
                <a:latin typeface="Segoe UI"/>
              </a:rPr>
              <a:t>Daesang, 102–144 г, 2 мережі.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065008" y="5522976"/>
            <a:ext cx="3566160" cy="8778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266176" y="5678424"/>
            <a:ext cx="32004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НАША ПОЛИЦЯ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266176" y="5888736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 spc="-10">
                <a:solidFill>
                  <a:srgbClr val="B53A3A"/>
                </a:solidFill>
                <a:latin typeface="Segoe UI"/>
              </a:rPr>
              <a:t>135 і 156 грн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266176" y="6364224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 spc="-10">
                <a:solidFill>
                  <a:srgbClr val="717890"/>
                </a:solidFill>
                <a:latin typeface="Segoe UI"/>
              </a:rPr>
              <a:t>дорожче за 82 і 89 % ринку.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РОЗПОДІЛ ЦІН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Де щільно і де порожньо в кожному сегменті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Один рядок — один сегмент. Кожна крапка — один SKU. Світла смуга — де лежить половина позицій сегмента (P25–P75), ромб — медіана.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55848" y="2011679"/>
            <a:ext cx="5486" cy="329184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90088" y="5358384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43628" y="2011679"/>
            <a:ext cx="5486" cy="329184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7867" y="5358384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40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31408" y="2011679"/>
            <a:ext cx="5486" cy="329184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65648" y="5358384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80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19188" y="2011679"/>
            <a:ext cx="5486" cy="329184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3428" y="5358384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120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6968" y="2011679"/>
            <a:ext cx="5486" cy="329184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41208" y="5358384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160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94748" y="2011679"/>
            <a:ext cx="5486" cy="329184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28988" y="5358384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200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082528" y="2011679"/>
            <a:ext cx="5486" cy="329184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16768" y="5358384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240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9284" y="1792223"/>
            <a:ext cx="14630" cy="351129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7919" y="1755647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760" b="1" spc="-10">
                <a:solidFill>
                  <a:srgbClr val="C4820A"/>
                </a:solidFill>
                <a:latin typeface="Segoe UI"/>
              </a:rPr>
              <a:t>факт Choi’s</a:t>
            </a:r>
          </a:p>
          <a:p>
            <a:pPr algn="ctr">
              <a:lnSpc>
                <a:spcPct val="112000"/>
              </a:lnSpc>
            </a:pPr>
            <a:r>
              <a:rPr sz="760" b="1" spc="-10">
                <a:solidFill>
                  <a:srgbClr val="C4820A"/>
                </a:solidFill>
                <a:latin typeface="Segoe UI"/>
              </a:rPr>
              <a:t>125,20 грн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10887" y="1792223"/>
            <a:ext cx="14630" cy="351129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49522" y="1554479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760" b="1" spc="-10">
                <a:solidFill>
                  <a:srgbClr val="C4820A"/>
                </a:solidFill>
                <a:latin typeface="Segoe UI"/>
              </a:rPr>
              <a:t>наш з бульйоном</a:t>
            </a:r>
          </a:p>
          <a:p>
            <a:pPr algn="ctr">
              <a:lnSpc>
                <a:spcPct val="112000"/>
              </a:lnSpc>
            </a:pPr>
            <a:r>
              <a:rPr sz="760" b="1" spc="-10">
                <a:solidFill>
                  <a:srgbClr val="C4820A"/>
                </a:solidFill>
                <a:latin typeface="Segoe UI"/>
              </a:rPr>
              <a:t>135 грн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80533" y="1792223"/>
            <a:ext cx="14630" cy="351129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19168" y="1755647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760" b="1" spc="-10">
                <a:solidFill>
                  <a:srgbClr val="C4820A"/>
                </a:solidFill>
                <a:latin typeface="Segoe UI"/>
              </a:rPr>
              <a:t>наш із соусом</a:t>
            </a:r>
          </a:p>
          <a:p>
            <a:pPr algn="ctr">
              <a:lnSpc>
                <a:spcPct val="112000"/>
              </a:lnSpc>
            </a:pPr>
            <a:r>
              <a:rPr sz="760" b="1" spc="-10">
                <a:solidFill>
                  <a:srgbClr val="C4820A"/>
                </a:solidFill>
                <a:latin typeface="Segoe UI"/>
              </a:rPr>
              <a:t>156 грн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2176272"/>
            <a:ext cx="2651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СЕГМЕНТ 1 · РАМЕН З БУЛЬЙОНОМ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2395727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Варіння 4–5 хв · з бульйоном · вага 102–144 г</a:t>
            </a:r>
          </a:p>
          <a:p>
            <a:pPr algn="l">
              <a:lnSpc>
                <a:spcPct val="12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P25–P75: 87–119 грн · 86 грн/100 г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56769" y="2194560"/>
            <a:ext cx="1030224" cy="530352"/>
          </a:xfrm>
          <a:prstGeom prst="rect">
            <a:avLst/>
          </a:prstGeom>
          <a:solidFill>
            <a:srgbClr val="DCE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498001" y="2231136"/>
            <a:ext cx="100584" cy="100584"/>
          </a:xfrm>
          <a:prstGeom prst="ellipse">
            <a:avLst/>
          </a:prstGeom>
          <a:solidFill>
            <a:srgbClr val="3E59A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559171" y="2345436"/>
            <a:ext cx="100584" cy="100584"/>
          </a:xfrm>
          <a:prstGeom prst="ellipse">
            <a:avLst/>
          </a:prstGeom>
          <a:solidFill>
            <a:srgbClr val="3E59A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623560" y="2459736"/>
            <a:ext cx="100584" cy="100584"/>
          </a:xfrm>
          <a:prstGeom prst="ellipse">
            <a:avLst/>
          </a:prstGeom>
          <a:solidFill>
            <a:srgbClr val="3E59A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671851" y="2574036"/>
            <a:ext cx="100584" cy="100584"/>
          </a:xfrm>
          <a:prstGeom prst="ellipse">
            <a:avLst/>
          </a:prstGeom>
          <a:solidFill>
            <a:srgbClr val="3E59A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781313" y="2231136"/>
            <a:ext cx="100584" cy="100584"/>
          </a:xfrm>
          <a:prstGeom prst="ellipse">
            <a:avLst/>
          </a:prstGeom>
          <a:solidFill>
            <a:srgbClr val="3E59A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784532" y="2345436"/>
            <a:ext cx="100584" cy="100584"/>
          </a:xfrm>
          <a:prstGeom prst="ellipse">
            <a:avLst/>
          </a:prstGeom>
          <a:solidFill>
            <a:srgbClr val="3E59A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784532" y="2459736"/>
            <a:ext cx="100584" cy="100584"/>
          </a:xfrm>
          <a:prstGeom prst="ellipse">
            <a:avLst/>
          </a:prstGeom>
          <a:solidFill>
            <a:srgbClr val="3E59A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865018" y="2574036"/>
            <a:ext cx="100584" cy="100584"/>
          </a:xfrm>
          <a:prstGeom prst="ellipse">
            <a:avLst/>
          </a:prstGeom>
          <a:solidFill>
            <a:srgbClr val="3E59A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977699" y="2231136"/>
            <a:ext cx="100584" cy="100584"/>
          </a:xfrm>
          <a:prstGeom prst="ellipse">
            <a:avLst/>
          </a:prstGeom>
          <a:solidFill>
            <a:srgbClr val="3E59A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000235" y="2345436"/>
            <a:ext cx="100584" cy="100584"/>
          </a:xfrm>
          <a:prstGeom prst="ellipse">
            <a:avLst/>
          </a:prstGeom>
          <a:solidFill>
            <a:srgbClr val="3E59A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038869" y="2459736"/>
            <a:ext cx="100584" cy="100584"/>
          </a:xfrm>
          <a:prstGeom prst="ellipse">
            <a:avLst/>
          </a:prstGeom>
          <a:solidFill>
            <a:srgbClr val="3E59A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135452" y="2574036"/>
            <a:ext cx="100584" cy="100584"/>
          </a:xfrm>
          <a:prstGeom prst="ellipse">
            <a:avLst/>
          </a:prstGeom>
          <a:solidFill>
            <a:srgbClr val="3E59A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170866" y="2231136"/>
            <a:ext cx="100584" cy="100584"/>
          </a:xfrm>
          <a:prstGeom prst="ellipse">
            <a:avLst/>
          </a:prstGeom>
          <a:solidFill>
            <a:srgbClr val="3E59A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203061" y="2345436"/>
            <a:ext cx="100584" cy="100584"/>
          </a:xfrm>
          <a:prstGeom prst="ellipse">
            <a:avLst/>
          </a:prstGeom>
          <a:solidFill>
            <a:srgbClr val="3E59A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267450" y="2459736"/>
            <a:ext cx="100584" cy="100584"/>
          </a:xfrm>
          <a:prstGeom prst="ellipse">
            <a:avLst/>
          </a:prstGeom>
          <a:solidFill>
            <a:srgbClr val="3E59A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289986" y="2574036"/>
            <a:ext cx="100584" cy="100584"/>
          </a:xfrm>
          <a:prstGeom prst="ellipse">
            <a:avLst/>
          </a:prstGeom>
          <a:solidFill>
            <a:srgbClr val="3E59A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289986" y="2231136"/>
            <a:ext cx="100584" cy="100584"/>
          </a:xfrm>
          <a:prstGeom prst="ellipse">
            <a:avLst/>
          </a:prstGeom>
          <a:solidFill>
            <a:srgbClr val="3E59A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296425" y="2345436"/>
            <a:ext cx="100584" cy="100584"/>
          </a:xfrm>
          <a:prstGeom prst="ellipse">
            <a:avLst/>
          </a:prstGeom>
          <a:solidFill>
            <a:srgbClr val="3E59A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347936" y="2459736"/>
            <a:ext cx="100584" cy="100584"/>
          </a:xfrm>
          <a:prstGeom prst="ellipse">
            <a:avLst/>
          </a:prstGeom>
          <a:solidFill>
            <a:srgbClr val="3E59A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347936" y="2574036"/>
            <a:ext cx="100584" cy="100584"/>
          </a:xfrm>
          <a:prstGeom prst="ellipse">
            <a:avLst/>
          </a:prstGeom>
          <a:solidFill>
            <a:srgbClr val="3E59A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360814" y="2231136"/>
            <a:ext cx="100584" cy="100584"/>
          </a:xfrm>
          <a:prstGeom prst="ellipse">
            <a:avLst/>
          </a:prstGeom>
          <a:solidFill>
            <a:srgbClr val="3E59A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460617" y="2345436"/>
            <a:ext cx="100584" cy="100584"/>
          </a:xfrm>
          <a:prstGeom prst="ellipse">
            <a:avLst/>
          </a:prstGeom>
          <a:solidFill>
            <a:srgbClr val="3E59A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6637686" y="2459736"/>
            <a:ext cx="100584" cy="100584"/>
          </a:xfrm>
          <a:prstGeom prst="ellipse">
            <a:avLst/>
          </a:prstGeom>
          <a:solidFill>
            <a:srgbClr val="3E59A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6695636" y="2574036"/>
            <a:ext cx="100584" cy="100584"/>
          </a:xfrm>
          <a:prstGeom prst="ellipse">
            <a:avLst/>
          </a:prstGeom>
          <a:solidFill>
            <a:srgbClr val="3E59A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6782562" y="2231136"/>
            <a:ext cx="100584" cy="100584"/>
          </a:xfrm>
          <a:prstGeom prst="ellipse">
            <a:avLst/>
          </a:prstGeom>
          <a:solidFill>
            <a:srgbClr val="3E59A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863048" y="2345436"/>
            <a:ext cx="100584" cy="100584"/>
          </a:xfrm>
          <a:prstGeom prst="ellipse">
            <a:avLst/>
          </a:prstGeom>
          <a:solidFill>
            <a:srgbClr val="3E59A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895242" y="2459736"/>
            <a:ext cx="100584" cy="100584"/>
          </a:xfrm>
          <a:prstGeom prst="ellipse">
            <a:avLst/>
          </a:prstGeom>
          <a:solidFill>
            <a:srgbClr val="3E59A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895242" y="2574036"/>
            <a:ext cx="100584" cy="100584"/>
          </a:xfrm>
          <a:prstGeom prst="ellipse">
            <a:avLst/>
          </a:prstGeom>
          <a:solidFill>
            <a:srgbClr val="3E59A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904901" y="2231136"/>
            <a:ext cx="100584" cy="100584"/>
          </a:xfrm>
          <a:prstGeom prst="ellipse">
            <a:avLst/>
          </a:prstGeom>
          <a:solidFill>
            <a:srgbClr val="3E59A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908120" y="2345436"/>
            <a:ext cx="100584" cy="100584"/>
          </a:xfrm>
          <a:prstGeom prst="ellipse">
            <a:avLst/>
          </a:prstGeom>
          <a:solidFill>
            <a:srgbClr val="3E59A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927437" y="2459736"/>
            <a:ext cx="100584" cy="100584"/>
          </a:xfrm>
          <a:prstGeom prst="ellipse">
            <a:avLst/>
          </a:prstGeom>
          <a:solidFill>
            <a:srgbClr val="3E59A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962851" y="2574036"/>
            <a:ext cx="100584" cy="100584"/>
          </a:xfrm>
          <a:prstGeom prst="ellipse">
            <a:avLst/>
          </a:prstGeom>
          <a:solidFill>
            <a:srgbClr val="3E59A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7011142" y="2231136"/>
            <a:ext cx="100584" cy="100584"/>
          </a:xfrm>
          <a:prstGeom prst="ellipse">
            <a:avLst/>
          </a:prstGeom>
          <a:solidFill>
            <a:srgbClr val="3E59A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7072312" y="2345436"/>
            <a:ext cx="100584" cy="100584"/>
          </a:xfrm>
          <a:prstGeom prst="ellipse">
            <a:avLst/>
          </a:prstGeom>
          <a:solidFill>
            <a:srgbClr val="3E59A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104507" y="2459736"/>
            <a:ext cx="100584" cy="100584"/>
          </a:xfrm>
          <a:prstGeom prst="ellipse">
            <a:avLst/>
          </a:prstGeom>
          <a:solidFill>
            <a:srgbClr val="3E59A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7191432" y="2574036"/>
            <a:ext cx="100584" cy="100584"/>
          </a:xfrm>
          <a:prstGeom prst="ellipse">
            <a:avLst/>
          </a:prstGeom>
          <a:solidFill>
            <a:srgbClr val="3E59A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7329868" y="2231136"/>
            <a:ext cx="100584" cy="100584"/>
          </a:xfrm>
          <a:prstGeom prst="ellipse">
            <a:avLst/>
          </a:prstGeom>
          <a:solidFill>
            <a:srgbClr val="3E59A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329868" y="2345436"/>
            <a:ext cx="100584" cy="100584"/>
          </a:xfrm>
          <a:prstGeom prst="ellipse">
            <a:avLst/>
          </a:prstGeom>
          <a:solidFill>
            <a:srgbClr val="3E59A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439329" y="2459736"/>
            <a:ext cx="100584" cy="100584"/>
          </a:xfrm>
          <a:prstGeom prst="ellipse">
            <a:avLst/>
          </a:prstGeom>
          <a:solidFill>
            <a:srgbClr val="3E59A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7455427" y="2574036"/>
            <a:ext cx="100584" cy="100584"/>
          </a:xfrm>
          <a:prstGeom prst="ellipse">
            <a:avLst/>
          </a:prstGeom>
          <a:solidFill>
            <a:srgbClr val="3E59A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7703324" y="2231136"/>
            <a:ext cx="100584" cy="100584"/>
          </a:xfrm>
          <a:prstGeom prst="ellipse">
            <a:avLst/>
          </a:prstGeom>
          <a:solidFill>
            <a:srgbClr val="3E59A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7741958" y="2345436"/>
            <a:ext cx="100584" cy="100584"/>
          </a:xfrm>
          <a:prstGeom prst="ellipse">
            <a:avLst/>
          </a:prstGeom>
          <a:solidFill>
            <a:srgbClr val="3E59A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7780591" y="2459736"/>
            <a:ext cx="100584" cy="100584"/>
          </a:xfrm>
          <a:prstGeom prst="ellipse">
            <a:avLst/>
          </a:prstGeom>
          <a:solidFill>
            <a:srgbClr val="3E59A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8624087" y="2574036"/>
            <a:ext cx="100584" cy="100584"/>
          </a:xfrm>
          <a:prstGeom prst="ellipse">
            <a:avLst/>
          </a:prstGeom>
          <a:solidFill>
            <a:srgbClr val="3E59A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9680067" y="2231136"/>
            <a:ext cx="100584" cy="100584"/>
          </a:xfrm>
          <a:prstGeom prst="ellipse">
            <a:avLst/>
          </a:prstGeom>
          <a:solidFill>
            <a:srgbClr val="3E59A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9911867" y="2345436"/>
            <a:ext cx="100584" cy="100584"/>
          </a:xfrm>
          <a:prstGeom prst="ellipse">
            <a:avLst/>
          </a:prstGeom>
          <a:solidFill>
            <a:srgbClr val="3E59A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Diamond 78"/>
          <p:cNvSpPr/>
          <p:nvPr/>
        </p:nvSpPr>
        <p:spPr>
          <a:xfrm>
            <a:off x="6612636" y="2670048"/>
            <a:ext cx="182880" cy="182880"/>
          </a:xfrm>
          <a:prstGeom prst="diamond">
            <a:avLst/>
          </a:prstGeom>
          <a:solidFill>
            <a:srgbClr val="303A5D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063996" y="2852927"/>
            <a:ext cx="1280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1" spc="-10">
                <a:solidFill>
                  <a:srgbClr val="303A5D"/>
                </a:solidFill>
                <a:latin typeface="Segoe UI"/>
              </a:rPr>
              <a:t>медіана 104 грн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1100815" y="2286000"/>
            <a:ext cx="5303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1" spc="-10">
                <a:solidFill>
                  <a:srgbClr val="3E59A8"/>
                </a:solidFill>
                <a:latin typeface="Segoe UI"/>
              </a:rPr>
              <a:t>46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1100815" y="2505456"/>
            <a:ext cx="53035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60" b="0" spc="-10">
                <a:solidFill>
                  <a:srgbClr val="717890"/>
                </a:solidFill>
                <a:latin typeface="Segoe UI"/>
              </a:rPr>
              <a:t>SKU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66928" y="2962656"/>
            <a:ext cx="2651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СЕГМЕНТ 2 · РАМЕН ІЗ СОУСОМ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66928" y="3182111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Варіння 4–5 хв · воду злити · вага 105–145 г</a:t>
            </a:r>
          </a:p>
          <a:p>
            <a:pPr algn="l">
              <a:lnSpc>
                <a:spcPct val="12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P25–P75: 86–124 грн · 77 грн/100 г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124575" y="2980944"/>
            <a:ext cx="1223390" cy="530352"/>
          </a:xfrm>
          <a:prstGeom prst="rect">
            <a:avLst/>
          </a:prstGeom>
          <a:solidFill>
            <a:srgbClr val="DCE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5800629" y="3017520"/>
            <a:ext cx="100584" cy="100584"/>
          </a:xfrm>
          <a:prstGeom prst="ellipse">
            <a:avLst/>
          </a:prstGeom>
          <a:solidFill>
            <a:srgbClr val="3E59A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5829604" y="3131820"/>
            <a:ext cx="100584" cy="100584"/>
          </a:xfrm>
          <a:prstGeom prst="ellipse">
            <a:avLst/>
          </a:prstGeom>
          <a:solidFill>
            <a:srgbClr val="3E59A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5897213" y="3246120"/>
            <a:ext cx="100584" cy="100584"/>
          </a:xfrm>
          <a:prstGeom prst="ellipse">
            <a:avLst/>
          </a:prstGeom>
          <a:solidFill>
            <a:srgbClr val="3E59A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5922968" y="3360420"/>
            <a:ext cx="100584" cy="100584"/>
          </a:xfrm>
          <a:prstGeom prst="ellipse">
            <a:avLst/>
          </a:prstGeom>
          <a:solidFill>
            <a:srgbClr val="3E59A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6058185" y="3017520"/>
            <a:ext cx="100584" cy="100584"/>
          </a:xfrm>
          <a:prstGeom prst="ellipse">
            <a:avLst/>
          </a:prstGeom>
          <a:solidFill>
            <a:srgbClr val="3E59A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6058185" y="3131820"/>
            <a:ext cx="100584" cy="100584"/>
          </a:xfrm>
          <a:prstGeom prst="ellipse">
            <a:avLst/>
          </a:prstGeom>
          <a:solidFill>
            <a:srgbClr val="3E59A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6058185" y="3246120"/>
            <a:ext cx="100584" cy="100584"/>
          </a:xfrm>
          <a:prstGeom prst="ellipse">
            <a:avLst/>
          </a:prstGeom>
          <a:solidFill>
            <a:srgbClr val="3E59A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6058185" y="3360420"/>
            <a:ext cx="100584" cy="100584"/>
          </a:xfrm>
          <a:prstGeom prst="ellipse">
            <a:avLst/>
          </a:prstGeom>
          <a:solidFill>
            <a:srgbClr val="3E59A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6170866" y="3017520"/>
            <a:ext cx="100584" cy="100584"/>
          </a:xfrm>
          <a:prstGeom prst="ellipse">
            <a:avLst/>
          </a:prstGeom>
          <a:solidFill>
            <a:srgbClr val="3E59A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6170866" y="3131820"/>
            <a:ext cx="100584" cy="100584"/>
          </a:xfrm>
          <a:prstGeom prst="ellipse">
            <a:avLst/>
          </a:prstGeom>
          <a:solidFill>
            <a:srgbClr val="3E59A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6170866" y="3246120"/>
            <a:ext cx="100584" cy="100584"/>
          </a:xfrm>
          <a:prstGeom prst="ellipse">
            <a:avLst/>
          </a:prstGeom>
          <a:solidFill>
            <a:srgbClr val="3E59A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6380130" y="3360420"/>
            <a:ext cx="100584" cy="100584"/>
          </a:xfrm>
          <a:prstGeom prst="ellipse">
            <a:avLst/>
          </a:prstGeom>
          <a:solidFill>
            <a:srgbClr val="3E59A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6521786" y="3017520"/>
            <a:ext cx="100584" cy="100584"/>
          </a:xfrm>
          <a:prstGeom prst="ellipse">
            <a:avLst/>
          </a:prstGeom>
          <a:solidFill>
            <a:srgbClr val="3E59A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6615150" y="3131820"/>
            <a:ext cx="100584" cy="100584"/>
          </a:xfrm>
          <a:prstGeom prst="ellipse">
            <a:avLst/>
          </a:prstGeom>
          <a:solidFill>
            <a:srgbClr val="3E59A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6660222" y="3246120"/>
            <a:ext cx="100584" cy="100584"/>
          </a:xfrm>
          <a:prstGeom prst="ellipse">
            <a:avLst/>
          </a:prstGeom>
          <a:solidFill>
            <a:srgbClr val="3E59A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6798659" y="3360420"/>
            <a:ext cx="100584" cy="100584"/>
          </a:xfrm>
          <a:prstGeom prst="ellipse">
            <a:avLst/>
          </a:prstGeom>
          <a:solidFill>
            <a:srgbClr val="3E59A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6962851" y="3017520"/>
            <a:ext cx="100584" cy="100584"/>
          </a:xfrm>
          <a:prstGeom prst="ellipse">
            <a:avLst/>
          </a:prstGeom>
          <a:solidFill>
            <a:srgbClr val="3E59A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7168896" y="3131820"/>
            <a:ext cx="100584" cy="100584"/>
          </a:xfrm>
          <a:prstGeom prst="ellipse">
            <a:avLst/>
          </a:prstGeom>
          <a:solidFill>
            <a:srgbClr val="3E59A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7265479" y="3246120"/>
            <a:ext cx="100584" cy="100584"/>
          </a:xfrm>
          <a:prstGeom prst="ellipse">
            <a:avLst/>
          </a:prstGeom>
          <a:solidFill>
            <a:srgbClr val="3E59A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7336307" y="3360420"/>
            <a:ext cx="100584" cy="100584"/>
          </a:xfrm>
          <a:prstGeom prst="ellipse">
            <a:avLst/>
          </a:prstGeom>
          <a:solidFill>
            <a:srgbClr val="3E59A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7664691" y="3017520"/>
            <a:ext cx="100584" cy="100584"/>
          </a:xfrm>
          <a:prstGeom prst="ellipse">
            <a:avLst/>
          </a:prstGeom>
          <a:solidFill>
            <a:srgbClr val="3E59A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8102536" y="3131820"/>
            <a:ext cx="100584" cy="100584"/>
          </a:xfrm>
          <a:prstGeom prst="ellipse">
            <a:avLst/>
          </a:prstGeom>
          <a:solidFill>
            <a:srgbClr val="3E59A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8360092" y="3246120"/>
            <a:ext cx="100584" cy="100584"/>
          </a:xfrm>
          <a:prstGeom prst="ellipse">
            <a:avLst/>
          </a:prstGeom>
          <a:solidFill>
            <a:srgbClr val="3E59A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8360092" y="3360420"/>
            <a:ext cx="100584" cy="100584"/>
          </a:xfrm>
          <a:prstGeom prst="ellipse">
            <a:avLst/>
          </a:prstGeom>
          <a:solidFill>
            <a:srgbClr val="3E59A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8360092" y="3017520"/>
            <a:ext cx="100584" cy="100584"/>
          </a:xfrm>
          <a:prstGeom prst="ellipse">
            <a:avLst/>
          </a:prstGeom>
          <a:solidFill>
            <a:srgbClr val="3E59A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Diamond 110"/>
          <p:cNvSpPr/>
          <p:nvPr/>
        </p:nvSpPr>
        <p:spPr>
          <a:xfrm>
            <a:off x="6483858" y="3456432"/>
            <a:ext cx="182880" cy="182880"/>
          </a:xfrm>
          <a:prstGeom prst="diamond">
            <a:avLst/>
          </a:prstGeom>
          <a:solidFill>
            <a:srgbClr val="303A5D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5935218" y="3639311"/>
            <a:ext cx="1280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1" spc="-10">
                <a:solidFill>
                  <a:srgbClr val="303A5D"/>
                </a:solidFill>
                <a:latin typeface="Segoe UI"/>
              </a:rPr>
              <a:t>медіана 100 грн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1100815" y="3072384"/>
            <a:ext cx="5303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1" spc="-10">
                <a:solidFill>
                  <a:srgbClr val="3E59A8"/>
                </a:solidFill>
                <a:latin typeface="Segoe UI"/>
              </a:rPr>
              <a:t>25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1100815" y="3291839"/>
            <a:ext cx="53035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60" b="0" spc="-10">
                <a:solidFill>
                  <a:srgbClr val="717890"/>
                </a:solidFill>
                <a:latin typeface="Segoe UI"/>
              </a:rPr>
              <a:t>SKU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566928" y="3749039"/>
            <a:ext cx="2651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СЕГМЕНТ 3 · РАМЕН У СТАКАНІ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66928" y="3968496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Залити окропом 3–4 хв · вага 62–120 г</a:t>
            </a:r>
          </a:p>
          <a:p>
            <a:pPr algn="l">
              <a:lnSpc>
                <a:spcPct val="12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P25–P75: 93–111 грн · 154 грн/100 г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6349936" y="3767327"/>
            <a:ext cx="579500" cy="530352"/>
          </a:xfrm>
          <a:prstGeom prst="rect">
            <a:avLst/>
          </a:prstGeom>
          <a:solidFill>
            <a:srgbClr val="DCE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5398198" y="3803903"/>
            <a:ext cx="100584" cy="100584"/>
          </a:xfrm>
          <a:prstGeom prst="ellipse">
            <a:avLst/>
          </a:prstGeom>
          <a:solidFill>
            <a:srgbClr val="3E59A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5401417" y="3918203"/>
            <a:ext cx="100584" cy="100584"/>
          </a:xfrm>
          <a:prstGeom prst="ellipse">
            <a:avLst/>
          </a:prstGeom>
          <a:solidFill>
            <a:srgbClr val="3E59A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5745899" y="4032503"/>
            <a:ext cx="100584" cy="100584"/>
          </a:xfrm>
          <a:prstGeom prst="ellipse">
            <a:avLst/>
          </a:prstGeom>
          <a:solidFill>
            <a:srgbClr val="3E59A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5955163" y="4146803"/>
            <a:ext cx="100584" cy="100584"/>
          </a:xfrm>
          <a:prstGeom prst="ellipse">
            <a:avLst/>
          </a:prstGeom>
          <a:solidFill>
            <a:srgbClr val="3E59A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6428422" y="3803903"/>
            <a:ext cx="100584" cy="100584"/>
          </a:xfrm>
          <a:prstGeom prst="ellipse">
            <a:avLst/>
          </a:prstGeom>
          <a:solidFill>
            <a:srgbClr val="3E59A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6489592" y="3918203"/>
            <a:ext cx="100584" cy="100584"/>
          </a:xfrm>
          <a:prstGeom prst="ellipse">
            <a:avLst/>
          </a:prstGeom>
          <a:solidFill>
            <a:srgbClr val="3E59A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6589395" y="4032503"/>
            <a:ext cx="100584" cy="100584"/>
          </a:xfrm>
          <a:prstGeom prst="ellipse">
            <a:avLst/>
          </a:prstGeom>
          <a:solidFill>
            <a:srgbClr val="3E59A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6621589" y="4146803"/>
            <a:ext cx="100584" cy="100584"/>
          </a:xfrm>
          <a:prstGeom prst="ellipse">
            <a:avLst/>
          </a:prstGeom>
          <a:solidFill>
            <a:srgbClr val="3E59A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6621589" y="3803903"/>
            <a:ext cx="100584" cy="100584"/>
          </a:xfrm>
          <a:prstGeom prst="ellipse">
            <a:avLst/>
          </a:prstGeom>
          <a:solidFill>
            <a:srgbClr val="3E59A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6679539" y="3918203"/>
            <a:ext cx="100584" cy="100584"/>
          </a:xfrm>
          <a:prstGeom prst="ellipse">
            <a:avLst/>
          </a:prstGeom>
          <a:solidFill>
            <a:srgbClr val="3E59A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6679539" y="4032503"/>
            <a:ext cx="100584" cy="100584"/>
          </a:xfrm>
          <a:prstGeom prst="ellipse">
            <a:avLst/>
          </a:prstGeom>
          <a:solidFill>
            <a:srgbClr val="3E59A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6885584" y="4146803"/>
            <a:ext cx="100584" cy="100584"/>
          </a:xfrm>
          <a:prstGeom prst="ellipse">
            <a:avLst/>
          </a:prstGeom>
          <a:solidFill>
            <a:srgbClr val="3E59A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6885584" y="3803903"/>
            <a:ext cx="100584" cy="100584"/>
          </a:xfrm>
          <a:prstGeom prst="ellipse">
            <a:avLst/>
          </a:prstGeom>
          <a:solidFill>
            <a:srgbClr val="3E59A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6885584" y="3918203"/>
            <a:ext cx="100584" cy="100584"/>
          </a:xfrm>
          <a:prstGeom prst="ellipse">
            <a:avLst/>
          </a:prstGeom>
          <a:solidFill>
            <a:srgbClr val="3E59A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6885584" y="4032503"/>
            <a:ext cx="100584" cy="100584"/>
          </a:xfrm>
          <a:prstGeom prst="ellipse">
            <a:avLst/>
          </a:prstGeom>
          <a:solidFill>
            <a:srgbClr val="3E59A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7922247" y="4146803"/>
            <a:ext cx="100584" cy="100584"/>
          </a:xfrm>
          <a:prstGeom prst="ellipse">
            <a:avLst/>
          </a:prstGeom>
          <a:solidFill>
            <a:srgbClr val="3E59A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7973758" y="3803903"/>
            <a:ext cx="100584" cy="100584"/>
          </a:xfrm>
          <a:prstGeom prst="ellipse">
            <a:avLst/>
          </a:prstGeom>
          <a:solidFill>
            <a:srgbClr val="3E59A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9583483" y="3918203"/>
            <a:ext cx="100584" cy="100584"/>
          </a:xfrm>
          <a:prstGeom prst="ellipse">
            <a:avLst/>
          </a:prstGeom>
          <a:solidFill>
            <a:srgbClr val="3E59A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Diamond 135"/>
          <p:cNvSpPr/>
          <p:nvPr/>
        </p:nvSpPr>
        <p:spPr>
          <a:xfrm>
            <a:off x="6612636" y="4242816"/>
            <a:ext cx="182880" cy="182880"/>
          </a:xfrm>
          <a:prstGeom prst="diamond">
            <a:avLst/>
          </a:prstGeom>
          <a:solidFill>
            <a:srgbClr val="303A5D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6063996" y="4425696"/>
            <a:ext cx="1280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1" spc="-10">
                <a:solidFill>
                  <a:srgbClr val="303A5D"/>
                </a:solidFill>
                <a:latin typeface="Segoe UI"/>
              </a:rPr>
              <a:t>медіана 104 грн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1100815" y="3858768"/>
            <a:ext cx="5303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1" spc="-10">
                <a:solidFill>
                  <a:srgbClr val="3E59A8"/>
                </a:solidFill>
                <a:latin typeface="Segoe UI"/>
              </a:rPr>
              <a:t>18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1100815" y="4078224"/>
            <a:ext cx="53035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60" b="0" spc="-10">
                <a:solidFill>
                  <a:srgbClr val="717890"/>
                </a:solidFill>
                <a:latin typeface="Segoe UI"/>
              </a:rPr>
              <a:t>SKU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66928" y="4535424"/>
            <a:ext cx="2651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СЕГМЕНТ 4 · РИСОВІ ГАЛУШКИ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566928" y="475488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Варіння або окріп · вага 80–145 г</a:t>
            </a:r>
          </a:p>
          <a:p>
            <a:pPr algn="l">
              <a:lnSpc>
                <a:spcPct val="12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P25–P75: 106–204 грн · 136 грн/100 г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6768465" y="4553712"/>
            <a:ext cx="3155061" cy="530352"/>
          </a:xfrm>
          <a:prstGeom prst="rect">
            <a:avLst/>
          </a:prstGeom>
          <a:solidFill>
            <a:srgbClr val="DCE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6019552" y="4590288"/>
            <a:ext cx="100584" cy="100584"/>
          </a:xfrm>
          <a:prstGeom prst="ellipse">
            <a:avLst/>
          </a:prstGeom>
          <a:solidFill>
            <a:srgbClr val="3E59A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6731050" y="4704588"/>
            <a:ext cx="100584" cy="100584"/>
          </a:xfrm>
          <a:prstGeom prst="ellipse">
            <a:avLst/>
          </a:prstGeom>
          <a:solidFill>
            <a:srgbClr val="3E59A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6920998" y="4818888"/>
            <a:ext cx="100584" cy="100584"/>
          </a:xfrm>
          <a:prstGeom prst="ellipse">
            <a:avLst/>
          </a:prstGeom>
          <a:solidFill>
            <a:srgbClr val="3E59A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9667189" y="4933188"/>
            <a:ext cx="100584" cy="100584"/>
          </a:xfrm>
          <a:prstGeom prst="ellipse">
            <a:avLst/>
          </a:prstGeom>
          <a:solidFill>
            <a:srgbClr val="3E59A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9876453" y="4590288"/>
            <a:ext cx="100584" cy="100584"/>
          </a:xfrm>
          <a:prstGeom prst="ellipse">
            <a:avLst/>
          </a:prstGeom>
          <a:solidFill>
            <a:srgbClr val="3E59A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9876453" y="4704588"/>
            <a:ext cx="100584" cy="100584"/>
          </a:xfrm>
          <a:prstGeom prst="ellipse">
            <a:avLst/>
          </a:prstGeom>
          <a:solidFill>
            <a:srgbClr val="3E59A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9876453" y="4818888"/>
            <a:ext cx="100584" cy="100584"/>
          </a:xfrm>
          <a:prstGeom prst="ellipse">
            <a:avLst/>
          </a:prstGeom>
          <a:solidFill>
            <a:srgbClr val="3E59A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Diamond 149"/>
          <p:cNvSpPr/>
          <p:nvPr/>
        </p:nvSpPr>
        <p:spPr>
          <a:xfrm>
            <a:off x="9638919" y="5029200"/>
            <a:ext cx="182880" cy="182880"/>
          </a:xfrm>
          <a:prstGeom prst="diamond">
            <a:avLst/>
          </a:prstGeom>
          <a:solidFill>
            <a:srgbClr val="303A5D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9090279" y="5212080"/>
            <a:ext cx="1280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1" spc="-10">
                <a:solidFill>
                  <a:srgbClr val="303A5D"/>
                </a:solidFill>
                <a:latin typeface="Segoe UI"/>
              </a:rPr>
              <a:t>медіана 198 грн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1100815" y="4645152"/>
            <a:ext cx="5303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1" spc="-10">
                <a:solidFill>
                  <a:srgbClr val="3E59A8"/>
                </a:solidFill>
                <a:latin typeface="Segoe UI"/>
              </a:rPr>
              <a:t>7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1100815" y="4864608"/>
            <a:ext cx="53035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60" b="0" spc="-10">
                <a:solidFill>
                  <a:srgbClr val="717890"/>
                </a:solidFill>
                <a:latin typeface="Segoe UI"/>
              </a:rPr>
              <a:t>SKU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566928" y="5559552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Шкала — грн за одну пачку, з ПДВ. Помаранчеві лінії — фактична ціна Choi’s на полиці та наша полиця за фінмоделлю з маржею 15 %.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566928" y="5669280"/>
            <a:ext cx="3547872" cy="84124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566928" y="5669280"/>
            <a:ext cx="36576" cy="841248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804672" y="5824728"/>
            <a:ext cx="307238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ПАКЕТ: ОДНА Й ТА САМА СМУГА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804672" y="6053328"/>
            <a:ext cx="307238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730" b="0" spc="-10">
                <a:solidFill>
                  <a:srgbClr val="717890"/>
                </a:solidFill>
                <a:latin typeface="Segoe UI"/>
              </a:rPr>
              <a:t>Сегменти 1 і 2 лежать у 86–124 грн. Різні технології, майже однакова ціна за пачку — покупець порівнює їх напряму.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4315968" y="5669280"/>
            <a:ext cx="3547872" cy="84124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4315968" y="5669280"/>
            <a:ext cx="36576" cy="841248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4553712" y="5824728"/>
            <a:ext cx="307238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СТАКАН: ВУЗЬКО І ДОРОГО ЗА ГРАМ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4553712" y="6053328"/>
            <a:ext cx="307238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730" b="0" spc="-10">
                <a:solidFill>
                  <a:srgbClr val="717890"/>
                </a:solidFill>
                <a:latin typeface="Segoe UI"/>
              </a:rPr>
              <a:t>93–111 грн за пачку при 62–120 г. Найщільніший сегмент за ціною і найдорожчий за грам (154 грн/100 г).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8065008" y="5669280"/>
            <a:ext cx="3566160" cy="84124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8065008" y="5669280"/>
            <a:ext cx="36576" cy="84124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8302752" y="5824728"/>
            <a:ext cx="309067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МИ ВИХОДИМО ЗА МЕЖІ СЕГМЕНТІВ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8302752" y="6053328"/>
            <a:ext cx="30906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730" b="0" spc="-10">
                <a:solidFill>
                  <a:srgbClr val="717890"/>
                </a:solidFill>
                <a:latin typeface="Segoe UI"/>
              </a:rPr>
              <a:t>135 грн — вище за P75 сегмента 1 (118 грн). 156 грн — вище за P75 сегмента 2 (123 грн) і майже на його максимумі.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ФОРМАТ І ВАГА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Де насправді щільна полиця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Кожна клітинка — скільки SKU корейського рамену має цей формат у цій ваговій смузі. Насиченість кольору пропорційна кількості.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554480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spc="-10">
                <a:solidFill>
                  <a:srgbClr val="303A5D"/>
                </a:solidFill>
                <a:latin typeface="Segoe UI"/>
              </a:rPr>
              <a:t>МАТРИЦЯ ФОРМАТ × ВАГА · SKU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87168" y="1755648"/>
            <a:ext cx="1417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640" b="1" spc="-10">
                <a:solidFill>
                  <a:srgbClr val="717890"/>
                </a:solidFill>
                <a:latin typeface="Segoe UI"/>
              </a:rPr>
              <a:t>40–90 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04488" y="1755648"/>
            <a:ext cx="1417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640" b="1" spc="-10">
                <a:solidFill>
                  <a:srgbClr val="717890"/>
                </a:solidFill>
                <a:latin typeface="Segoe UI"/>
              </a:rPr>
              <a:t>90–110 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21808" y="1755648"/>
            <a:ext cx="1417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640" b="1" spc="-10">
                <a:solidFill>
                  <a:srgbClr val="717890"/>
                </a:solidFill>
                <a:latin typeface="Segoe UI"/>
              </a:rPr>
              <a:t>110–125 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39128" y="1755648"/>
            <a:ext cx="1417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640" b="1" spc="-10">
                <a:solidFill>
                  <a:srgbClr val="717890"/>
                </a:solidFill>
                <a:latin typeface="Segoe UI"/>
              </a:rPr>
              <a:t>125–145 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6448" y="1755648"/>
            <a:ext cx="1417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640" b="1" spc="-10">
                <a:solidFill>
                  <a:srgbClr val="717890"/>
                </a:solidFill>
                <a:latin typeface="Segoe UI"/>
              </a:rPr>
              <a:t>145 г 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185415"/>
            <a:ext cx="18288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 spc="-10">
                <a:solidFill>
                  <a:srgbClr val="303A5D"/>
                </a:solidFill>
                <a:latin typeface="Segoe UI"/>
              </a:rPr>
              <a:t>Пакет (пачка)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05456" y="2048255"/>
            <a:ext cx="1380744" cy="420624"/>
          </a:xfrm>
          <a:prstGeom prst="rect">
            <a:avLst/>
          </a:prstGeom>
          <a:solidFill>
            <a:srgbClr val="A9B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05456" y="2157984"/>
            <a:ext cx="138074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22776" y="2048255"/>
            <a:ext cx="1380744" cy="420624"/>
          </a:xfrm>
          <a:prstGeom prst="rect">
            <a:avLst/>
          </a:prstGeom>
          <a:solidFill>
            <a:srgbClr val="A9B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22776" y="2157984"/>
            <a:ext cx="138074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40096" y="2048255"/>
            <a:ext cx="1380744" cy="420624"/>
          </a:xfrm>
          <a:prstGeom prst="rect">
            <a:avLst/>
          </a:prstGeom>
          <a:solidFill>
            <a:srgbClr val="3E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40096" y="2157984"/>
            <a:ext cx="138074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FFFFFF"/>
                </a:solidFill>
                <a:latin typeface="Segoe UI"/>
              </a:rPr>
              <a:t>35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57416" y="2048255"/>
            <a:ext cx="1380744" cy="420624"/>
          </a:xfrm>
          <a:prstGeom prst="rect">
            <a:avLst/>
          </a:prstGeom>
          <a:solidFill>
            <a:srgbClr val="5A73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57416" y="2157984"/>
            <a:ext cx="138074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FFFFFF"/>
                </a:solidFill>
                <a:latin typeface="Segoe UI"/>
              </a:rPr>
              <a:t>27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74736" y="2048255"/>
            <a:ext cx="1380744" cy="420624"/>
          </a:xfrm>
          <a:prstGeom prst="rect">
            <a:avLst/>
          </a:prstGeom>
          <a:solidFill>
            <a:srgbClr val="A9B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74736" y="2157984"/>
            <a:ext cx="138074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2642615"/>
            <a:ext cx="18288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 spc="-10">
                <a:solidFill>
                  <a:srgbClr val="303A5D"/>
                </a:solidFill>
                <a:latin typeface="Segoe UI"/>
              </a:rPr>
              <a:t>Стакан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05456" y="2505456"/>
            <a:ext cx="1380744" cy="420624"/>
          </a:xfrm>
          <a:prstGeom prst="rect">
            <a:avLst/>
          </a:prstGeom>
          <a:solidFill>
            <a:srgbClr val="A9B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505456" y="2615184"/>
            <a:ext cx="138074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922776" y="2505456"/>
            <a:ext cx="1380744" cy="420624"/>
          </a:xfrm>
          <a:prstGeom prst="rect">
            <a:avLst/>
          </a:prstGeom>
          <a:solidFill>
            <a:srgbClr val="EB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22776" y="2615184"/>
            <a:ext cx="138074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—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40096" y="2505456"/>
            <a:ext cx="1380744" cy="420624"/>
          </a:xfrm>
          <a:prstGeom prst="rect">
            <a:avLst/>
          </a:prstGeom>
          <a:solidFill>
            <a:srgbClr val="CFD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40096" y="2615184"/>
            <a:ext cx="138074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57416" y="2505456"/>
            <a:ext cx="1380744" cy="420624"/>
          </a:xfrm>
          <a:prstGeom prst="rect">
            <a:avLst/>
          </a:prstGeom>
          <a:solidFill>
            <a:srgbClr val="EB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57416" y="2615184"/>
            <a:ext cx="138074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74736" y="2505456"/>
            <a:ext cx="1380744" cy="420624"/>
          </a:xfrm>
          <a:prstGeom prst="rect">
            <a:avLst/>
          </a:prstGeom>
          <a:solidFill>
            <a:srgbClr val="EB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74736" y="2615184"/>
            <a:ext cx="138074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3145536"/>
            <a:ext cx="36576" cy="17373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3232" y="3154679"/>
            <a:ext cx="640080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spc="-10">
                <a:solidFill>
                  <a:srgbClr val="303A5D"/>
                </a:solidFill>
                <a:latin typeface="Segoe UI"/>
              </a:rPr>
              <a:t>ВАГОВІ СМУГИ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3383280"/>
            <a:ext cx="173736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ВАГОВА СМУГА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340864" y="3383280"/>
            <a:ext cx="5486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SKU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62656" y="3383280"/>
            <a:ext cx="7772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ЧАСТКА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03904" y="3383280"/>
            <a:ext cx="105156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МЕДІАНА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19472" y="3383280"/>
            <a:ext cx="9601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ГРН/100 Г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89320" y="3383280"/>
            <a:ext cx="562356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ЩО ЦЕ ЗА ФОРМАТ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3566160"/>
            <a:ext cx="17373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303A5D"/>
                </a:solidFill>
                <a:latin typeface="Segoe UI"/>
              </a:rPr>
              <a:t>40–90 г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340864" y="3566160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962656" y="3566160"/>
            <a:ext cx="777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19 %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803904" y="3566160"/>
            <a:ext cx="10515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104 грн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919472" y="3566160"/>
            <a:ext cx="9601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154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89320" y="3566160"/>
            <a:ext cx="56235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303A5D"/>
                </a:solidFill>
                <a:latin typeface="Segoe UI"/>
              </a:rPr>
              <a:t>стакани й міні-пачки: дорого за грам, дешево за чек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93776" y="3790188"/>
            <a:ext cx="10936224" cy="251459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66928" y="3826764"/>
            <a:ext cx="17373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303A5D"/>
                </a:solidFill>
                <a:latin typeface="Segoe UI"/>
              </a:rPr>
              <a:t>90–110 г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340864" y="3826764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962656" y="3826764"/>
            <a:ext cx="777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9 %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803904" y="3826764"/>
            <a:ext cx="10515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106 грн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919472" y="3826764"/>
            <a:ext cx="9601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115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989320" y="3826764"/>
            <a:ext cx="56235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303A5D"/>
                </a:solidFill>
                <a:latin typeface="Segoe UI"/>
              </a:rPr>
              <a:t>перехідна смуга, мало SKU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66928" y="4087368"/>
            <a:ext cx="17373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303A5D"/>
                </a:solidFill>
                <a:latin typeface="Segoe UI"/>
              </a:rPr>
              <a:t>110–125 г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340864" y="4087368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36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962656" y="4087368"/>
            <a:ext cx="777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38 %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803904" y="4087368"/>
            <a:ext cx="10515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93 грн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919472" y="4087368"/>
            <a:ext cx="9601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78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989320" y="4087368"/>
            <a:ext cx="56235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303A5D"/>
                </a:solidFill>
                <a:latin typeface="Segoe UI"/>
              </a:rPr>
              <a:t>найщільніша смуга ринку — Shin Ramyun, Ottogi, Paldo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93776" y="4311396"/>
            <a:ext cx="10936224" cy="251459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66928" y="4347972"/>
            <a:ext cx="17373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303A5D"/>
                </a:solidFill>
                <a:latin typeface="Segoe UI"/>
              </a:rPr>
              <a:t>125–145 г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340864" y="4347972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27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962656" y="4347972"/>
            <a:ext cx="777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28 %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803904" y="4347972"/>
            <a:ext cx="10515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112 грн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919472" y="4347972"/>
            <a:ext cx="9601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86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989320" y="4347972"/>
            <a:ext cx="56235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303A5D"/>
                </a:solidFill>
                <a:latin typeface="Segoe UI"/>
              </a:rPr>
              <a:t>смуга Buldak і Chapaghetti — тут премія бренду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66928" y="4608576"/>
            <a:ext cx="17373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303A5D"/>
                </a:solidFill>
                <a:latin typeface="Segoe UI"/>
              </a:rPr>
              <a:t>145 г +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340864" y="4608576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6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962656" y="4608576"/>
            <a:ext cx="777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6 %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803904" y="4608576"/>
            <a:ext cx="10515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201 грн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919472" y="4608576"/>
            <a:ext cx="9601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139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989320" y="4608576"/>
            <a:ext cx="56235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303A5D"/>
                </a:solidFill>
                <a:latin typeface="Segoe UI"/>
              </a:rPr>
              <a:t>рисові галушки та нестандарт, інший привід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66928" y="4846320"/>
            <a:ext cx="3547872" cy="114300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566928" y="4846320"/>
            <a:ext cx="36576" cy="114300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04672" y="5001768"/>
            <a:ext cx="307238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spc="-10">
                <a:solidFill>
                  <a:srgbClr val="303A5D"/>
                </a:solidFill>
                <a:latin typeface="Segoe UI"/>
              </a:rPr>
              <a:t>ВАГА CHOI’S — ПРАВИЛЬНА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04672" y="5230368"/>
            <a:ext cx="3072384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112,5–131 г потрапляє точно у дві найщільніші смуги (110–145 г, 66 % SKU). Формат і грамаж заперечень не викликають.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315968" y="4846320"/>
            <a:ext cx="3547872" cy="114300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4315968" y="4846320"/>
            <a:ext cx="36576" cy="114300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553712" y="5001768"/>
            <a:ext cx="307238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spc="-10">
                <a:solidFill>
                  <a:srgbClr val="303A5D"/>
                </a:solidFill>
                <a:latin typeface="Segoe UI"/>
              </a:rPr>
              <a:t>ЦІНА CHOI’S — НІ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553712" y="5230368"/>
            <a:ext cx="3072384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У цих самих смугах медіана 93–112 грн і 78–86 грн/100 г. Фінмодель з маржею 15 % дає 135 і 156 грн — обидві цифри вище за ці смуги.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065008" y="4846320"/>
            <a:ext cx="3566160" cy="114300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8065008" y="4846320"/>
            <a:ext cx="36576" cy="114300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302752" y="5001768"/>
            <a:ext cx="309067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spc="-10">
                <a:solidFill>
                  <a:srgbClr val="303A5D"/>
                </a:solidFill>
                <a:latin typeface="Segoe UI"/>
              </a:rPr>
              <a:t>ДЕ Є ВІЛЬНЕ МІСЦЕ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302752" y="5230368"/>
            <a:ext cx="3090672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Стакан — лише 6 SKU на всю категорію при ціні за грам у 2 рази вищій (166 проти 87 грн/100 г). Якщо в SIAS є стакан — це єдиний формат, де премія вже прийнята.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НАЙПОПУЛЯРНІШІ ФОРМАТИ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Які поєднання ваги й формату ринок обирає найчастіше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Ліворуч — конкретні поєднання формату і грамажу. Праворуч — куди в цю сітку потрапляють шість SKU Choi’s.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609344"/>
            <a:ext cx="3456432" cy="115214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764792"/>
            <a:ext cx="309067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#1 НА РИНКУ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1975104"/>
            <a:ext cx="3090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 spc="-10">
                <a:solidFill>
                  <a:srgbClr val="C4820A"/>
                </a:solidFill>
                <a:latin typeface="Segoe UI"/>
              </a:rPr>
              <a:t>пакет 120 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450592"/>
            <a:ext cx="30906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 spc="-10">
                <a:solidFill>
                  <a:srgbClr val="717890"/>
                </a:solidFill>
                <a:latin typeface="Segoe UI"/>
              </a:rPr>
              <a:t>22 SKU у пакеті, медіана 93 грн, 77 грн/100 г.</a:t>
            </a:r>
          </a:p>
          <a:p>
            <a:pPr algn="l">
              <a:lnSpc>
                <a:spcPct val="115000"/>
              </a:lnSpc>
            </a:pPr>
            <a:r>
              <a:rPr sz="680" b="0" spc="-10">
                <a:solidFill>
                  <a:srgbClr val="717890"/>
                </a:solidFill>
                <a:latin typeface="Segoe UI"/>
              </a:rPr>
              <a:t>Nongshim, Ottogi, Paldo — 11 мереж.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60" y="1609344"/>
            <a:ext cx="3456432" cy="115214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53128" y="1764792"/>
            <a:ext cx="309067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#2 · СМУГА СТІР-ФРАЮ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53128" y="1975104"/>
            <a:ext cx="3090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 spc="-10">
                <a:solidFill>
                  <a:srgbClr val="1E9EA6"/>
                </a:solidFill>
                <a:latin typeface="Segoe UI"/>
              </a:rPr>
              <a:t>пакет 130 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53128" y="2450592"/>
            <a:ext cx="30906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 spc="-10">
                <a:solidFill>
                  <a:srgbClr val="717890"/>
                </a:solidFill>
                <a:latin typeface="Segoe UI"/>
              </a:rPr>
              <a:t>9 SKU, медіана 114 грн, 87 грн/100 г.</a:t>
            </a:r>
          </a:p>
          <a:p>
            <a:pPr algn="l">
              <a:lnSpc>
                <a:spcPct val="115000"/>
              </a:lnSpc>
            </a:pPr>
            <a:r>
              <a:rPr sz="680" b="0" spc="-10">
                <a:solidFill>
                  <a:srgbClr val="717890"/>
                </a:solidFill>
                <a:latin typeface="Segoe UI"/>
              </a:rPr>
              <a:t>Сюди лягає Carbonara 131 г.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36992" y="1609344"/>
            <a:ext cx="3456432" cy="115214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0" y="1764792"/>
            <a:ext cx="309067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НАЙДЕШЕВШИЙ ВХІД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1975104"/>
            <a:ext cx="3090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 spc="-10">
                <a:solidFill>
                  <a:srgbClr val="5D4B96"/>
                </a:solidFill>
                <a:latin typeface="Segoe UI"/>
              </a:rPr>
              <a:t>стакан 80 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2450592"/>
            <a:ext cx="30906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 spc="-10">
                <a:solidFill>
                  <a:srgbClr val="717890"/>
                </a:solidFill>
                <a:latin typeface="Segoe UI"/>
              </a:rPr>
              <a:t>4 SKU, медіана 70 грн.</a:t>
            </a:r>
          </a:p>
          <a:p>
            <a:pPr algn="l">
              <a:lnSpc>
                <a:spcPct val="115000"/>
              </a:lnSpc>
            </a:pPr>
            <a:r>
              <a:rPr sz="680" b="0" spc="-10">
                <a:solidFill>
                  <a:srgbClr val="717890"/>
                </a:solidFill>
                <a:latin typeface="Segoe UI"/>
              </a:rPr>
              <a:t>Samyang Buldak у стакані.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2999232"/>
            <a:ext cx="3456432" cy="115214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154679"/>
            <a:ext cx="309067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ВАГА СУПОВИХ SKU CHOI’S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" y="3364991"/>
            <a:ext cx="3090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 spc="-10">
                <a:solidFill>
                  <a:srgbClr val="B53A3A"/>
                </a:solidFill>
                <a:latin typeface="Segoe UI"/>
              </a:rPr>
              <a:t>113 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" y="3840480"/>
            <a:ext cx="30906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 spc="-10">
                <a:solidFill>
                  <a:srgbClr val="717890"/>
                </a:solidFill>
                <a:latin typeface="Segoe UI"/>
              </a:rPr>
              <a:t>Жодного SKU на ринку в цій вазі.</a:t>
            </a:r>
          </a:p>
          <a:p>
            <a:pPr algn="l">
              <a:lnSpc>
                <a:spcPct val="115000"/>
              </a:lnSpc>
            </a:pPr>
            <a:r>
              <a:rPr sz="680" b="0" spc="-10">
                <a:solidFill>
                  <a:srgbClr val="717890"/>
                </a:solidFill>
                <a:latin typeface="Segoe UI"/>
              </a:rPr>
              <a:t>Найближча щільна клітинка — 120 г.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51960" y="2999232"/>
            <a:ext cx="3456432" cy="115214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53128" y="3154679"/>
            <a:ext cx="309067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РІЗНИЦЯ ВАГИ ДО СТАНДАРТУ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53128" y="3364991"/>
            <a:ext cx="3090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 spc="-10">
                <a:solidFill>
                  <a:srgbClr val="B53A3A"/>
                </a:solidFill>
                <a:latin typeface="Segoe UI"/>
              </a:rPr>
              <a:t>113 проти 120 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53128" y="3840480"/>
            <a:ext cx="30906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 spc="-10">
                <a:solidFill>
                  <a:srgbClr val="717890"/>
                </a:solidFill>
                <a:latin typeface="Segoe UI"/>
              </a:rPr>
              <a:t>Choi’s на 7 г легший за стандарт.</a:t>
            </a:r>
          </a:p>
          <a:p>
            <a:pPr algn="l">
              <a:lnSpc>
                <a:spcPct val="115000"/>
              </a:lnSpc>
            </a:pPr>
            <a:r>
              <a:rPr sz="680" b="0" spc="-10">
                <a:solidFill>
                  <a:srgbClr val="717890"/>
                </a:solidFill>
                <a:latin typeface="Segoe UI"/>
              </a:rPr>
              <a:t>За однакової ціни це −6 % продукту.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36992" y="2999232"/>
            <a:ext cx="3456432" cy="115214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38160" y="3154679"/>
            <a:ext cx="309067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ПОКРИТТЯ СІТКИ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3364991"/>
            <a:ext cx="3090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 spc="-10">
                <a:solidFill>
                  <a:srgbClr val="303A5D"/>
                </a:solidFill>
                <a:latin typeface="Segoe UI"/>
              </a:rPr>
              <a:t>79 з 96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3840480"/>
            <a:ext cx="30906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 spc="-10">
                <a:solidFill>
                  <a:srgbClr val="717890"/>
                </a:solidFill>
                <a:latin typeface="Segoe UI"/>
              </a:rPr>
              <a:t>позицій лежать у 16 поєднаннях</a:t>
            </a:r>
          </a:p>
          <a:p>
            <a:pPr algn="l">
              <a:lnSpc>
                <a:spcPct val="115000"/>
              </a:lnSpc>
            </a:pPr>
            <a:r>
              <a:rPr sz="680" b="0" spc="-10">
                <a:solidFill>
                  <a:srgbClr val="717890"/>
                </a:solidFill>
                <a:latin typeface="Segoe UI"/>
              </a:rPr>
              <a:t>із двома і більше SKU.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4389120"/>
            <a:ext cx="36576" cy="17373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" y="4398264"/>
            <a:ext cx="640080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spc="-10">
                <a:solidFill>
                  <a:srgbClr val="303A5D"/>
                </a:solidFill>
                <a:latin typeface="Segoe UI"/>
              </a:rPr>
              <a:t>ТОП ПОЄДНАНЬ ФОРМАТ × ВАГА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0" y="4398264"/>
            <a:ext cx="402336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50" b="1" spc="-10">
                <a:solidFill>
                  <a:srgbClr val="C4820A"/>
                </a:solidFill>
                <a:latin typeface="Segoe UI"/>
              </a:rPr>
              <a:t>поєднання з двома і більше SKU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4626864"/>
            <a:ext cx="15544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ФОРМАТ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94560" y="4626864"/>
            <a:ext cx="6858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ВАГА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71800" y="4626864"/>
            <a:ext cx="5029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SKU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47872" y="4626864"/>
            <a:ext cx="6400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МЕРЕЖ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61104" y="4626864"/>
            <a:ext cx="9144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МЕДІАНА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48656" y="4626864"/>
            <a:ext cx="9144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ГРН/100 Г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72784" y="4626864"/>
            <a:ext cx="310896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ХТО ТРИМАЄ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36608" y="4626864"/>
            <a:ext cx="219456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ЧИ Є ТУТ CHOI’S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" y="4809744"/>
            <a:ext cx="15544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303A5D"/>
                </a:solidFill>
                <a:latin typeface="Segoe UI"/>
              </a:rPr>
              <a:t>пакет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194560" y="4809744"/>
            <a:ext cx="6858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120 г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971800" y="4809744"/>
            <a:ext cx="5029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22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47872" y="4809744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11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61104" y="4809744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93 грн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48656" y="4809744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77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72784" y="4809744"/>
            <a:ext cx="31089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303A5D"/>
                </a:solidFill>
                <a:latin typeface="Segoe UI"/>
              </a:rPr>
              <a:t>Nongshim (9) · Ottogi (6) · Paldo (4)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436608" y="4809744"/>
            <a:ext cx="21945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303A5D"/>
                </a:solidFill>
                <a:latin typeface="Segoe UI"/>
              </a:rPr>
              <a:t>ні — наші 112,5–113 г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93776" y="5029200"/>
            <a:ext cx="10936224" cy="24688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66928" y="5065776"/>
            <a:ext cx="15544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303A5D"/>
                </a:solidFill>
                <a:latin typeface="Segoe UI"/>
              </a:rPr>
              <a:t>пакет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194560" y="5065776"/>
            <a:ext cx="6858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130 г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971800" y="5065776"/>
            <a:ext cx="5029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547872" y="5065776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11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261104" y="5065776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114 грн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248656" y="5065776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87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72784" y="5065776"/>
            <a:ext cx="31089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303A5D"/>
                </a:solidFill>
                <a:latin typeface="Segoe UI"/>
              </a:rPr>
              <a:t>Paldo (3) · Samyang (2) · Nongshim (2)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436608" y="5065776"/>
            <a:ext cx="21945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303A5D"/>
                </a:solidFill>
                <a:latin typeface="Segoe UI"/>
              </a:rPr>
              <a:t>так — Carbonara 131 г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66928" y="5321808"/>
            <a:ext cx="15544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303A5D"/>
                </a:solidFill>
                <a:latin typeface="Segoe UI"/>
              </a:rPr>
              <a:t>пакет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194560" y="5321808"/>
            <a:ext cx="6858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140 г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971800" y="5321808"/>
            <a:ext cx="5029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547872" y="5321808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12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61104" y="5321808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122 грн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48656" y="5321808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87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272784" y="5321808"/>
            <a:ext cx="31089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303A5D"/>
                </a:solidFill>
                <a:latin typeface="Segoe UI"/>
              </a:rPr>
              <a:t>Samyang (4) · Nongshim (1) · Paldo (1)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436608" y="5321808"/>
            <a:ext cx="21945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303A5D"/>
                </a:solidFill>
                <a:latin typeface="Segoe UI"/>
              </a:rPr>
              <a:t>ні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93776" y="5541264"/>
            <a:ext cx="10936224" cy="24688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66928" y="5577840"/>
            <a:ext cx="15544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303A5D"/>
                </a:solidFill>
                <a:latin typeface="Segoe UI"/>
              </a:rPr>
              <a:t>пакет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194560" y="5577840"/>
            <a:ext cx="6858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105 г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971800" y="5577840"/>
            <a:ext cx="5029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6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547872" y="5577840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261104" y="5577840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139 грн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248656" y="5577840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132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272784" y="5577840"/>
            <a:ext cx="31089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303A5D"/>
                </a:solidFill>
                <a:latin typeface="Segoe UI"/>
              </a:rPr>
              <a:t>Samyang (5) · Paldo (1)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436608" y="5577840"/>
            <a:ext cx="21945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303A5D"/>
                </a:solidFill>
                <a:latin typeface="Segoe UI"/>
              </a:rPr>
              <a:t>ні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66928" y="5833872"/>
            <a:ext cx="15544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303A5D"/>
                </a:solidFill>
                <a:latin typeface="Segoe UI"/>
              </a:rPr>
              <a:t>рисові галушки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194560" y="5833872"/>
            <a:ext cx="6858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145 г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971800" y="5833872"/>
            <a:ext cx="5029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547872" y="5833872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3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261104" y="5833872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204 грн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248656" y="5833872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141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272784" y="5833872"/>
            <a:ext cx="31089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303A5D"/>
                </a:solidFill>
                <a:latin typeface="Segoe UI"/>
              </a:rPr>
              <a:t>Yopokki (4) · Paldo (1)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436608" y="5833872"/>
            <a:ext cx="21945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303A5D"/>
                </a:solidFill>
                <a:latin typeface="Segoe UI"/>
              </a:rPr>
              <a:t>ні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93776" y="6053328"/>
            <a:ext cx="10936224" cy="24688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66928" y="6089904"/>
            <a:ext cx="15544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303A5D"/>
                </a:solidFill>
                <a:latin typeface="Segoe UI"/>
              </a:rPr>
              <a:t>стакан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194560" y="6089904"/>
            <a:ext cx="6858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67 г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971800" y="6089904"/>
            <a:ext cx="5029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4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547872" y="6089904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261104" y="6089904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107 грн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248656" y="6089904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160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272784" y="6089904"/>
            <a:ext cx="31089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303A5D"/>
                </a:solidFill>
                <a:latin typeface="Segoe UI"/>
              </a:rPr>
              <a:t>Nongshim (3) · Ottogi (1)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436608" y="6089904"/>
            <a:ext cx="21945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303A5D"/>
                </a:solidFill>
                <a:latin typeface="Segoe UI"/>
              </a:rPr>
              <a:t>ні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66928" y="6345936"/>
            <a:ext cx="15544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303A5D"/>
                </a:solidFill>
                <a:latin typeface="Segoe UI"/>
              </a:rPr>
              <a:t>стакан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194560" y="6345936"/>
            <a:ext cx="6858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80 г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971800" y="6345936"/>
            <a:ext cx="5029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4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547872" y="6345936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3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261104" y="6345936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70 грн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248656" y="6345936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88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272784" y="6345936"/>
            <a:ext cx="31089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303A5D"/>
                </a:solidFill>
                <a:latin typeface="Segoe UI"/>
              </a:rPr>
              <a:t>Samyang (3) · Nongshim (1)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436608" y="6345936"/>
            <a:ext cx="21945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303A5D"/>
                </a:solidFill>
                <a:latin typeface="Segoe UI"/>
              </a:rPr>
              <a:t>ні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93776" y="6565392"/>
            <a:ext cx="10936224" cy="24688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566928" y="6601968"/>
            <a:ext cx="15544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303A5D"/>
                </a:solidFill>
                <a:latin typeface="Segoe UI"/>
              </a:rPr>
              <a:t>пакет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194560" y="6601968"/>
            <a:ext cx="6858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110 г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971800" y="6601968"/>
            <a:ext cx="5029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4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547872" y="6601968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261104" y="6601968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94 грн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248656" y="6601968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86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272784" y="6601968"/>
            <a:ext cx="31089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303A5D"/>
                </a:solidFill>
                <a:latin typeface="Segoe UI"/>
              </a:rPr>
              <a:t>Paldo (4)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436608" y="6601968"/>
            <a:ext cx="21945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303A5D"/>
                </a:solidFill>
                <a:latin typeface="Segoe UI"/>
              </a:rPr>
              <a:t>ні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1 · РАМЕН У ПАКЕТІ · З БУЛЬЙОНОМ   ·   46 ПОЗИЦІЙ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Рамен з бульйоном 1 з 4 — нижня половина полиці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Найбільший сегмент категорії: 46 SKU у 12 мережах. Відсортовано від найдешевшої позиції.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36192"/>
            <a:ext cx="36576" cy="19202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554480"/>
            <a:ext cx="106984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C4820A"/>
                </a:solidFill>
                <a:latin typeface="Segoe UI"/>
              </a:rPr>
              <a:t>СЕГМЕНТ 1 · РАМЕН У ПАКЕТІ · З БУЛЬЙОНОМ   ·   Варіння 4–5 хв · з бульйоном   ·   Маса — сухого продукту   ·   привід: Домашня вечеря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064517552101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011679"/>
            <a:ext cx="548640" cy="5486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858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Ottogi · Yeul Ramen дуже гостра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120 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68 грн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671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311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08801052114569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8900" y="2011679"/>
            <a:ext cx="548640" cy="5486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2860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O'Food · Кімчі Рамен локшина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144 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68–72 грн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Зараз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673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8313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0064843610061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9100" y="2011679"/>
            <a:ext cx="548640" cy="54864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8862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Paldo · Teumsae Ramen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862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120 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862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72 грн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862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Grono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675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315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0880104315062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9300" y="2011679"/>
            <a:ext cx="548640" cy="54864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4864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Зі спеціями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120 Г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74 грн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585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0225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08801045521312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0356" y="2011679"/>
            <a:ext cx="548640" cy="54864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7077456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Ottogi · Kimchi Ramen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77456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120 Г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77456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67–85 грн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77456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Космос · Таврія В +1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5587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6227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08801052114385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20556" y="2011679"/>
            <a:ext cx="548640" cy="54864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8677656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O'Food · Кімчі Рамен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77656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129 Г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77656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74–80 грн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77656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Зараз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1589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02229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08801052114545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20756" y="2011679"/>
            <a:ext cx="548640" cy="54864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0277856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O'Food · Сівід Рамен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277856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103 Г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277856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74–80 грн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277856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Зараз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669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309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08801052114552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8700" y="3794760"/>
            <a:ext cx="548640" cy="548640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685800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O'Food · Смак морепродуктів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5800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102 Г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5800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74–84 грн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5800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Зараз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1671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2311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08801045524672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28900" y="3794760"/>
            <a:ext cx="548640" cy="548640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2286000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Ottogi · З сиром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286000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111 Г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286000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83 грн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286000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Зараз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7673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38313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7" name="Picture 76" descr="08801045522265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29100" y="3794760"/>
            <a:ext cx="548640" cy="548640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3886200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Ottogi · Jin рамен гостра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886200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120 Г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886200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84 грн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886200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3675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54315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4" name="Picture 83" descr="00031146181018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29300" y="3794760"/>
            <a:ext cx="548640" cy="548640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5486400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Кімчі Рамьон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486400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120 Г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486400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85 грн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486400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958584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022592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08801043022705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20356" y="3794760"/>
            <a:ext cx="548640" cy="548640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7077456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Soon Veggie Ramyun овоч…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077456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112 Г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077456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74–102 грн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077456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Onde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558784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622792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8" name="Picture 97" descr="08801043157759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020556" y="3794760"/>
            <a:ext cx="548640" cy="548640"/>
          </a:xfrm>
          <a:prstGeom prst="rect">
            <a:avLst/>
          </a:prstGeom>
        </p:spPr>
      </p:pic>
      <p:sp>
        <p:nvSpPr>
          <p:cNvPr id="99" name="TextBox 98"/>
          <p:cNvSpPr txBox="1"/>
          <p:nvPr/>
        </p:nvSpPr>
        <p:spPr>
          <a:xfrm>
            <a:off x="8677656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Cham-Pong Ramyun з море…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677656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124 Г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677656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89 грн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677656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0158984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0222992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5" name="Picture 104" descr="00648436100422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620756" y="3794760"/>
            <a:ext cx="548640" cy="548640"/>
          </a:xfrm>
          <a:prstGeom prst="rect">
            <a:avLst/>
          </a:prstGeom>
        </p:spPr>
      </p:pic>
      <p:sp>
        <p:nvSpPr>
          <p:cNvPr id="106" name="TextBox 105"/>
          <p:cNvSpPr txBox="1"/>
          <p:nvPr/>
        </p:nvSpPr>
        <p:spPr>
          <a:xfrm>
            <a:off x="10277856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Paldo · Hwa Ramyun з гострим пе…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277856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120 Г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0277856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87–93 грн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277856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Grono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66928" y="5532120"/>
            <a:ext cx="11064240" cy="82296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566928" y="5532120"/>
            <a:ext cx="36576" cy="822960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04672" y="5687568"/>
            <a:ext cx="1058875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ПІДЛОГА СЕГМЕНТА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04672" y="5916168"/>
            <a:ext cx="1058875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Ottogi, O’Food і Paldo тримають 68–93 грн за 102–144 г. Це 55–70 грн/100 г — саме з цими цінами покупець порівнює будь-який новий рамен з бульйоном.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1 · РАМЕН У ПАКЕТІ · З БУЛЬЙОНОМ   ·   46 ПОЗИЦІЙ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Рамен з бульйоном 2 з 4 — ядро полиці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Смуга навколо медіани сегмента 104 грн. Тут стоїть Shin Ramyun і основна лінійка Nongshim.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36192"/>
            <a:ext cx="36576" cy="19202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554480"/>
            <a:ext cx="106984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C4820A"/>
                </a:solidFill>
                <a:latin typeface="Segoe UI"/>
              </a:rPr>
              <a:t>СЕГМЕНТ 1 · РАМЕН У ПАКЕТІ · З БУЛЬЙОНОМ   ·   Варіння 4–5 хв · з бульйоном   ·   Маса — сухого продукту   ·   привід: Домашня вечеря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064843610068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011679"/>
            <a:ext cx="548640" cy="5486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858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Paldo · Kokomen зі смаком курки…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120 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92 грн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671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311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0880104552226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8900" y="2011679"/>
            <a:ext cx="548640" cy="5486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2860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Ottogi · Jin рамен гостра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120 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93 грн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Космос · Таврія В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673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8313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08801045999906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9100" y="2011679"/>
            <a:ext cx="548640" cy="54864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8862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Ottogi · Середньогостра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862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120 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862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67–101 грн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862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Космос · Grono +2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675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315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00648436100583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9300" y="2011679"/>
            <a:ext cx="548640" cy="54864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4864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Paldo · Зі смаком морепродуктів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120 Г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93 грн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585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0225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00648436310777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0356" y="2011679"/>
            <a:ext cx="548640" cy="54864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7077456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Paldo · Spicy Zanmang Loopy з б…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77456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110 Г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77456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76–113 грн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77456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Grono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5587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6227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00648436310746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20556" y="2011679"/>
            <a:ext cx="548640" cy="54864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8677656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Paldo · Zanmang Loopy оригіналь…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77656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110 Г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77656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76–113 грн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77656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Grono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1589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02229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00850069667146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20756" y="2011679"/>
            <a:ext cx="548640" cy="54864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0277856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Otoki · Cheesy Ramen зі смаком…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277856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120 Г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277856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95 грн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277856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669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309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08801043157735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8700" y="3794760"/>
            <a:ext cx="548640" cy="548640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685800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AnSungTangMyun з грибам…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5800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125 Г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5800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74–122 грн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5800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Onde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1671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2311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08801043157711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28900" y="3794760"/>
            <a:ext cx="548640" cy="548640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2286000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З морепродуктами гостра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286000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120 Г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286000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85–122 грн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286000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Onde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7673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38313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7" name="Picture 76" descr="00648436100934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29100" y="3794760"/>
            <a:ext cx="548640" cy="548640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3886200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Paldo · З сиром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886200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110 Г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886200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105 грн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886200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3675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54315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4" name="Picture 83" descr="00074603006684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29300" y="3794760"/>
            <a:ext cx="548640" cy="548640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5486400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Зі смаком морепродуктів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486400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120 Г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486400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108 грн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486400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Onde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958584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022592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08801043069588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20356" y="3794760"/>
            <a:ext cx="548640" cy="548640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7077456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Shin Ramyun зі смаком г…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077456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120 Г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077456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89–132 грн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077456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Grono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558784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622792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8" name="Picture 97" descr="08801073112278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020556" y="3794760"/>
            <a:ext cx="548640" cy="548640"/>
          </a:xfrm>
          <a:prstGeom prst="rect">
            <a:avLst/>
          </a:prstGeom>
        </p:spPr>
      </p:pic>
      <p:sp>
        <p:nvSpPr>
          <p:cNvPr id="99" name="TextBox 98"/>
          <p:cNvSpPr txBox="1"/>
          <p:nvPr/>
        </p:nvSpPr>
        <p:spPr>
          <a:xfrm>
            <a:off x="8677656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Макаронні вироби Samyan…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677656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115 Г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677656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112 грн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677656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Зараз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0158984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0222992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5" name="Picture 104" descr="08801073115514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620756" y="3794760"/>
            <a:ext cx="548640" cy="548640"/>
          </a:xfrm>
          <a:prstGeom prst="rect">
            <a:avLst/>
          </a:prstGeom>
        </p:spPr>
      </p:pic>
      <p:sp>
        <p:nvSpPr>
          <p:cNvPr id="106" name="TextBox 105"/>
          <p:cNvSpPr txBox="1"/>
          <p:nvPr/>
        </p:nvSpPr>
        <p:spPr>
          <a:xfrm>
            <a:off x="10277856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Локшина зі смаком курки…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277856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135 Г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0277856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108–169 грн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277856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Grono · Зараз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66928" y="5532120"/>
            <a:ext cx="11064240" cy="82296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566928" y="5532120"/>
            <a:ext cx="36576" cy="822960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04672" y="5687568"/>
            <a:ext cx="1058875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ЯКІР КАТЕГОРІЇ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04672" y="5916168"/>
            <a:ext cx="1058875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Shin Ramyun і Kimchi Ramyun у 7–10 мережах за 110–120 грн. Це ціна, яку покупець вважає нормальною за корейський рамен.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1 · РАМЕН У ПАКЕТІ · З БУЛЬЙОНОМ   ·   46 ПОЗИЦІЙ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Рамен з бульйоном 3 з 4 — верхня половина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Позиції дорожчі за медіану: ширші лінійки Nongshim і Samyang, більші грамажі.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36192"/>
            <a:ext cx="36576" cy="19202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554480"/>
            <a:ext cx="106984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C4820A"/>
                </a:solidFill>
                <a:latin typeface="Segoe UI"/>
              </a:rPr>
              <a:t>СЕГМЕНТ 1 · РАМЕН У ПАКЕТІ · З БУЛЬЙОНОМ   ·   Варіння 4–5 хв · з бульйоном   ·   Маса — сухого продукту   ·   привід: Домашня вечеря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880107311411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011679"/>
            <a:ext cx="548640" cy="5486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858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З сиром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120 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99–124 грн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Зараз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671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311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0880104552523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8900" y="2011679"/>
            <a:ext cx="548640" cy="5486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2860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Ottogi · З кунжутом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115 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112 грн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673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8313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08801045522555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9100" y="2011679"/>
            <a:ext cx="548640" cy="54864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8862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Ottogi · Jin Jjambbong Ramen з м…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862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130 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862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112 грн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862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675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315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08801043157773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9300" y="2011679"/>
            <a:ext cx="548640" cy="54864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4864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З морепродуктами середн…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120 Г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85–125 грн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Клас · METRO +2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585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0225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08801073113312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0356" y="2011679"/>
            <a:ext cx="548640" cy="54864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7077456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З сиром гостра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77456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130 Г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77456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115 грн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77456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5587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6227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08801043150620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20556" y="2011679"/>
            <a:ext cx="548640" cy="54864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8677656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Зі спеціями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77656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120 Г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77656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98–129 грн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77656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Космос · Клас · METRO +4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1589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02229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00031146181018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20756" y="2011679"/>
            <a:ext cx="548640" cy="54864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0277856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Kimchi Ramyun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277856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120 Г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277856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98–124 грн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277856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ЧудоМаркет · Космос · Grono +6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669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309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08801073211773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8700" y="3794760"/>
            <a:ext cx="548640" cy="548640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685800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Зі смаком сиру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5800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105 Г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5800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112–130 грн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5800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Зараз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1671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2311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08801043157766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28900" y="3794760"/>
            <a:ext cx="548640" cy="548640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2286000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З морепродуктами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286000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125 Г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286000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125–135 грн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286000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Клас · Onde · Восторг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7673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38313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7" name="Picture 76" descr="08801043014809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29100" y="3794760"/>
            <a:ext cx="548640" cy="548640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3886200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Зі спеціями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886200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120 Г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886200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125 грн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886200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Grono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3675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54315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4" name="Picture 83" descr="08801043150026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29300" y="3794760"/>
            <a:ext cx="548640" cy="548640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5486400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Shin Ramyun з грибами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486400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120 Г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486400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128 грн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486400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Onde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958584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022592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08801043070362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20356" y="3794760"/>
            <a:ext cx="548640" cy="548640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7077456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Shin Ramyun Tom Yum Том…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077456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123 Г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077456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116–142 грн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077456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Grono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558784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622792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8" name="Picture 97" descr="08801073113428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020556" y="3794760"/>
            <a:ext cx="548640" cy="548640"/>
          </a:xfrm>
          <a:prstGeom prst="rect">
            <a:avLst/>
          </a:prstGeom>
        </p:spPr>
      </p:pic>
      <p:sp>
        <p:nvSpPr>
          <p:cNvPr id="99" name="TextBox 98"/>
          <p:cNvSpPr txBox="1"/>
          <p:nvPr/>
        </p:nvSpPr>
        <p:spPr>
          <a:xfrm>
            <a:off x="8677656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Зі смаком курки дуже го…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677656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140 Г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677656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86–151 грн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677656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ЧудоМаркет · Космос +7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0158984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0222992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5" name="Picture 104" descr="08801073110502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620756" y="3794760"/>
            <a:ext cx="548640" cy="548640"/>
          </a:xfrm>
          <a:prstGeom prst="rect">
            <a:avLst/>
          </a:prstGeom>
        </p:spPr>
      </p:pic>
      <p:sp>
        <p:nvSpPr>
          <p:cNvPr id="106" name="TextBox 105"/>
          <p:cNvSpPr txBox="1"/>
          <p:nvPr/>
        </p:nvSpPr>
        <p:spPr>
          <a:xfrm>
            <a:off x="10277856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Зі смаком курки гостра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277856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140 Г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0277856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93–156 грн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277856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Космос · Grono +4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66928" y="5532120"/>
            <a:ext cx="11064240" cy="82296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566928" y="5532120"/>
            <a:ext cx="36576" cy="822960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04672" y="5687568"/>
            <a:ext cx="1058875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ДЕ ЗАКІНЧУЄТЬСЯ СЕГМЕНТ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04672" y="5916168"/>
            <a:ext cx="1058875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Вище 150 грн у рамені з бульйоном залишаються поодинокі позиції. Полиця Choi’s за фінмоделлю (155–199 грн для супових SKU) починається там, де сегмент уже закінчився.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1 · РАМЕН У ПАКЕТІ · З БУЛЬЙОНОМ   ·   46 ПОЗИЦІЙ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Рамен з бульйоном 4 з 4 — стеля сегмента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Найдорожчі позиції сегмента. Shin Ramyun Black — преміальна суб-лінійка з іншим складом.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36192"/>
            <a:ext cx="36576" cy="19202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554480"/>
            <a:ext cx="106984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C4820A"/>
                </a:solidFill>
                <a:latin typeface="Segoe UI"/>
              </a:rPr>
              <a:t>СЕГМЕНТ 1 · РАМЕН У ПАКЕТІ · З БУЛЬЙОНОМ   ·   Варіння 4–5 хв · з бульйоном   ·   Маса — сухого продукту   ·   привід: Домашня вечеря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880107311331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011679"/>
            <a:ext cx="548640" cy="5486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858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Гостра з сиром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130 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100–151 грн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ЧудоМаркет · Космос · Grono +6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671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311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00031146017379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8900" y="2011679"/>
            <a:ext cx="548640" cy="5486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2860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Шин Рамен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130 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165 грн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METRO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673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8313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08801043015479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9100" y="2011679"/>
            <a:ext cx="548640" cy="54864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8862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Spicy &amp; Creamy Toomba K…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862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137 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862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198 грн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862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Grono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675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315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08801043060226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9300" y="2011679"/>
            <a:ext cx="548640" cy="54864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4864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Shin Ramyun Black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130 Г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202–209 грн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Grono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6928" y="5532120"/>
            <a:ext cx="11064240" cy="82296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66928" y="5532120"/>
            <a:ext cx="36576" cy="822960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4672" y="5687568"/>
            <a:ext cx="1058875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СТЕЛЯ — 209 ГРН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4672" y="5916168"/>
            <a:ext cx="1058875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І це Shin Ramyun Black, преміум-версія бренду №1 з 10-річною історією на ринку. Новий бренд не може стартувати з цієї полиці.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2 · РАМЕН У ПАКЕТІ · ІЗ СОУСОМ   ·   25 ПОЗИЦІЙ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Рамен із соусом 1 з 2 — сюди потрапляють Carbonara Spicy і Gouda Cheese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25 SKU, медіана 100 грн, 77 грн/100 г. Сегмент, у якому Choi’s Carbonara конкурує напряму.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36192"/>
            <a:ext cx="36576" cy="192024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554480"/>
            <a:ext cx="106984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1E9EA6"/>
                </a:solidFill>
                <a:latin typeface="Segoe UI"/>
              </a:rPr>
              <a:t>СЕГМЕНТ 2 · РАМЕН У ПАКЕТІ · ІЗ СОУСОМ   ·   Варіння 4–5 хв · воду злити   ·   Маса — сухого продукту   ·   привід: Домашня вечеря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088017311686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011679"/>
            <a:ext cx="548640" cy="5486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858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Tangle зі смаком вершко…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1E9EA6"/>
                </a:solidFill>
                <a:latin typeface="Segoe UI"/>
              </a:rPr>
              <a:t>105 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78 грн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Onde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671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311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31136" y="2203704"/>
            <a:ext cx="13441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00" b="0" spc="-10">
                <a:solidFill>
                  <a:srgbClr val="9FA9C4"/>
                </a:solidFill>
                <a:latin typeface="Segoe UI"/>
              </a:rPr>
              <a:t>фото немає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fire bull · Stir-Fried Ramen Beef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1E9EA6"/>
                </a:solidFill>
                <a:latin typeface="Segoe UI"/>
              </a:rPr>
              <a:t>138 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78 грн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Onde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673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8313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0064843631071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9100" y="2011679"/>
            <a:ext cx="548640" cy="54864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8862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Paldo · Volcano Carbonara гостр…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862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1E9EA6"/>
                </a:solidFill>
                <a:latin typeface="Segoe UI"/>
              </a:rPr>
              <a:t>105 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862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80 грн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862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675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315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00648436310029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9300" y="2011679"/>
            <a:ext cx="548640" cy="54864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4864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Paldo · Compaghetti локшина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1E9EA6"/>
                </a:solidFill>
                <a:latin typeface="Segoe UI"/>
              </a:rPr>
              <a:t>110 Г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81 грн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585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0225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09555050302846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0356" y="2011679"/>
            <a:ext cx="548640" cy="54864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7077456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Bibigo · Стір-фрай Рамен зі смак…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77456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1E9EA6"/>
                </a:solidFill>
                <a:latin typeface="Segoe UI"/>
              </a:rPr>
              <a:t>122 Г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77456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86 грн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77456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5587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6227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09555050302839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20556" y="2011679"/>
            <a:ext cx="548640" cy="54864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8677656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Bibigo · Стір-фрай Рамен Курка б…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77656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1E9EA6"/>
                </a:solidFill>
                <a:latin typeface="Segoe UI"/>
              </a:rPr>
              <a:t>122 Г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77656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86 грн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77656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1589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02229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09555050302808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20756" y="2011679"/>
            <a:ext cx="548640" cy="54864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0277856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Bibigo · Стір-фрай Рамен Spicy T…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277856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1E9EA6"/>
                </a:solidFill>
                <a:latin typeface="Segoe UI"/>
              </a:rPr>
              <a:t>122 Г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277856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86 грн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277856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669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309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09555050302815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8700" y="3794760"/>
            <a:ext cx="548640" cy="548640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685800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Bibigo · Стір-фрай Рамен Cheese…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5800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1E9EA6"/>
                </a:solidFill>
                <a:latin typeface="Segoe UI"/>
              </a:rPr>
              <a:t>127 Г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5800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86 грн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5800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1671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2311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08801045009209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28900" y="3794760"/>
            <a:ext cx="548640" cy="548640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2286000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Ottogi · Stir-Fry Рамен із сиром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286000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1E9EA6"/>
                </a:solidFill>
                <a:latin typeface="Segoe UI"/>
              </a:rPr>
              <a:t>120 Г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286000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89 грн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286000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7673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38313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7" name="Picture 76" descr="08801045178226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29100" y="3794760"/>
            <a:ext cx="548640" cy="548640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3886200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Ottogi · Stir-Fry Рамен із сиром…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886200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1E9EA6"/>
                </a:solidFill>
                <a:latin typeface="Segoe UI"/>
              </a:rPr>
              <a:t>130 Г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886200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89 грн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886200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3675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54315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4" name="Picture 83" descr="08801043061674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29300" y="3794760"/>
            <a:ext cx="548640" cy="548640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5486400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Stir Fry Шин Рамьойн го…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486400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1E9EA6"/>
                </a:solidFill>
                <a:latin typeface="Segoe UI"/>
              </a:rPr>
              <a:t>131 Г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486400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89 грн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486400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958584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022592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08801043068741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20356" y="3794760"/>
            <a:ext cx="548640" cy="548640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7077456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Shin Ramyun Stir Fry зі…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077456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1E9EA6"/>
                </a:solidFill>
                <a:latin typeface="Segoe UI"/>
              </a:rPr>
              <a:t>136 Г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077456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96 грн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077456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558784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622792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8" name="Picture 97" descr="00648436100057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020556" y="3794760"/>
            <a:ext cx="548640" cy="548640"/>
          </a:xfrm>
          <a:prstGeom prst="rect">
            <a:avLst/>
          </a:prstGeom>
        </p:spPr>
      </p:pic>
      <p:sp>
        <p:nvSpPr>
          <p:cNvPr id="99" name="TextBox 98"/>
          <p:cNvSpPr txBox="1"/>
          <p:nvPr/>
        </p:nvSpPr>
        <p:spPr>
          <a:xfrm>
            <a:off x="8677656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Paldo · Bibim Men в корейському…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677656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1E9EA6"/>
                </a:solidFill>
                <a:latin typeface="Segoe UI"/>
              </a:rPr>
              <a:t>130 Г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677656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72–124 грн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677656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ЧудоМаркет · Grono · NOVUS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0158984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0222992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5" name="Picture 104" descr="00074603005922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620756" y="3794760"/>
            <a:ext cx="548640" cy="548640"/>
          </a:xfrm>
          <a:prstGeom prst="rect">
            <a:avLst/>
          </a:prstGeom>
        </p:spPr>
      </p:pic>
      <p:sp>
        <p:nvSpPr>
          <p:cNvPr id="106" name="TextBox 105"/>
          <p:cNvSpPr txBox="1"/>
          <p:nvPr/>
        </p:nvSpPr>
        <p:spPr>
          <a:xfrm>
            <a:off x="10277856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Chacharoni зі смаком чо…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277856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1E9EA6"/>
                </a:solidFill>
                <a:latin typeface="Segoe UI"/>
              </a:rPr>
              <a:t>140 Г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0277856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90–115 грн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277856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Зараз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66928" y="5532120"/>
            <a:ext cx="11064240" cy="82296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566928" y="5532120"/>
            <a:ext cx="36576" cy="82296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04672" y="5687568"/>
            <a:ext cx="1058875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ПРЯМИЙ АНАЛОГ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04672" y="5916168"/>
            <a:ext cx="1058875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Paldo Volcano Carbonara 130 г за 114 грн і Samyang Buldak Carbonara 130 г за 140 грн — це рівно той самий продукт, що й Choi’s Carbonara 131 г за 125,20 грн.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2 · РАМЕН У ПАКЕТІ · ІЗ СОУСОМ   ·   25 ПОЗИЦІЙ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Рамен із соусом 2 з 2 — верх сегмента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Buldak у різних смаках і мультипаки. Тут — верхня межа цін сегмента.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36192"/>
            <a:ext cx="36576" cy="192024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554480"/>
            <a:ext cx="106984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1E9EA6"/>
                </a:solidFill>
                <a:latin typeface="Segoe UI"/>
              </a:rPr>
              <a:t>СЕГМЕНТ 2 · РАМЕН У ПАКЕТІ · ІЗ СОУСОМ   ·   Варіння 4–5 хв · воду злити   ·   Маса — сухого продукту   ·   привід: Домашня вечеря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064843610135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011679"/>
            <a:ext cx="548640" cy="5486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858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Paldo · Stir fried з куркою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1E9EA6"/>
                </a:solidFill>
                <a:latin typeface="Segoe UI"/>
              </a:rPr>
              <a:t>130 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86–123 грн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Grono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671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311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0880107311394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8900" y="2011679"/>
            <a:ext cx="548640" cy="5486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2860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Buldak Jjajang зі смако…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1E9EA6"/>
                </a:solidFill>
                <a:latin typeface="Segoe UI"/>
              </a:rPr>
              <a:t>140 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108 грн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673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8313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00648436310685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9100" y="2011679"/>
            <a:ext cx="548640" cy="54864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8862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Paldo · Volcano Carbonara куряча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862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1E9EA6"/>
                </a:solidFill>
                <a:latin typeface="Segoe UI"/>
              </a:rPr>
              <a:t>130 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862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105–121 грн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862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Grono · Onde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675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315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08801043157728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9300" y="2011679"/>
            <a:ext cx="548640" cy="54864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4864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Chapaghetti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1E9EA6"/>
                </a:solidFill>
                <a:latin typeface="Segoe UI"/>
              </a:rPr>
              <a:t>140 Г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89–136 грн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Клас · METRO +3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585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0225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00648436101276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0356" y="2011679"/>
            <a:ext cx="548640" cy="54864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7077456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Paldo · Volcano Chicken з курко…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77456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1E9EA6"/>
                </a:solidFill>
                <a:latin typeface="Segoe UI"/>
              </a:rPr>
              <a:t>140 Г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77456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84–123 грн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77456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Grono · Onde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5587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6227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03760344350847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20556" y="2011679"/>
            <a:ext cx="548640" cy="54864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8677656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Choi's · Карбон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77656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1E9EA6"/>
                </a:solidFill>
                <a:latin typeface="Segoe UI"/>
              </a:rPr>
              <a:t>131 Г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77656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125 грн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77656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Космос · Таврія В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1589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02229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08801073113381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20756" y="2011679"/>
            <a:ext cx="548640" cy="54864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0277856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Buldak Рамен з гострою…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277856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1E9EA6"/>
                </a:solidFill>
                <a:latin typeface="Segoe UI"/>
              </a:rPr>
              <a:t>145 Г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277856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94–184 грн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277856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ЧудоМаркет · Космос +4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669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309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08801043018470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8700" y="3794760"/>
            <a:ext cx="548640" cy="548640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685800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Toomba Spicy&amp;Creamy Sti…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5800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1E9EA6"/>
                </a:solidFill>
                <a:latin typeface="Segoe UI"/>
              </a:rPr>
              <a:t>137 Г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5800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131–154 грн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5800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ЧудоМаркет · Grono +4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1671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2311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08801073116832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28900" y="3794760"/>
            <a:ext cx="548640" cy="548640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2286000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Tangle зі смаком вершко…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286000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1E9EA6"/>
                </a:solidFill>
                <a:latin typeface="Segoe UI"/>
              </a:rPr>
              <a:t>105 Г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286000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78–157 грн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286000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Клас · Onde · Восторг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7673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38313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7" name="Picture 76" descr="00880173116863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29100" y="3794760"/>
            <a:ext cx="548640" cy="548640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3886200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Tangle зі смаком вершко…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886200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1E9EA6"/>
                </a:solidFill>
                <a:latin typeface="Segoe UI"/>
              </a:rPr>
              <a:t>105 Г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886200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157 грн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886200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Клас · Восторг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3675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54315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4" name="Picture 83" descr="08801073116849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29300" y="3794760"/>
            <a:ext cx="548640" cy="548640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5486400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Tangle зі смаком часник…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486400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1E9EA6"/>
                </a:solidFill>
                <a:latin typeface="Segoe UI"/>
              </a:rPr>
              <a:t>105 Г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486400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78–157 грн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486400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Клас · Onde · Восторг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66928" y="5532120"/>
            <a:ext cx="11064240" cy="82296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566928" y="5532120"/>
            <a:ext cx="36576" cy="82296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04672" y="5687568"/>
            <a:ext cx="1058875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ЩО ТАКЕ 184 ГРН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04672" y="5916168"/>
            <a:ext cx="1058875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Максимум сегмента — мультипак Samyang. Одиночна пачка рамену із соусом ніде не перетинає 170 грн.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3 · РАМЕН У СТАКАНІ   ·   18 ПОЗИЦІЙ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Рамен у стакані — увесь сегмент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18 SKU у 8 мережах. Готується без плити, маса 62–120 г.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36192"/>
            <a:ext cx="36576" cy="192024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554480"/>
            <a:ext cx="106984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5D4B96"/>
                </a:solidFill>
                <a:latin typeface="Segoe UI"/>
              </a:rPr>
              <a:t>СЕГМЕНТ 3 · РАМЕН У СТАКАНІ   ·   Залити окропом 3–4 хв   ·   Маса — сухого продукту   ·   привід: Офіс і дорога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880107311404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011679"/>
            <a:ext cx="548640" cy="5486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858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Bulgogi Рамен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5D4B96"/>
                </a:solidFill>
                <a:latin typeface="Segoe UI"/>
              </a:rPr>
              <a:t>80 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65 грн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671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311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0880107311405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8900" y="2011679"/>
            <a:ext cx="548640" cy="5486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2860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Jjanang Рамен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5D4B96"/>
                </a:solidFill>
                <a:latin typeface="Segoe UI"/>
              </a:rPr>
              <a:t>80 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65 грн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673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8313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08801073114029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9100" y="2011679"/>
            <a:ext cx="548640" cy="54864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8862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Кімчі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862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5D4B96"/>
                </a:solidFill>
                <a:latin typeface="Segoe UI"/>
              </a:rPr>
              <a:t>80 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862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65–86 грн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862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Onde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675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315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00645175570288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9300" y="2011679"/>
            <a:ext cx="548640" cy="54864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4864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Ottogi · Jin Ramen Гостра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5D4B96"/>
                </a:solidFill>
                <a:latin typeface="Segoe UI"/>
              </a:rPr>
              <a:t>67 Г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82 грн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585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0225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00031146270606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0356" y="2011679"/>
            <a:ext cx="548640" cy="54864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7077456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Шин Рамьон гостра сублі…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77456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5D4B96"/>
                </a:solidFill>
                <a:latin typeface="Segoe UI"/>
              </a:rPr>
              <a:t>68 Г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77456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97 грн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77456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5587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6227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00648436100064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20556" y="2011679"/>
            <a:ext cx="548640" cy="54864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8677656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Paldo · Jumbo Noodle Hot &amp; Spic…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77656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5D4B96"/>
                </a:solidFill>
                <a:latin typeface="Segoe UI"/>
              </a:rPr>
              <a:t>120 Г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77656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99 грн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77656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1589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02229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08801073210776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20756" y="2011679"/>
            <a:ext cx="548640" cy="54864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0277856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Buldak Hot Chicken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277856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5D4B96"/>
                </a:solidFill>
                <a:latin typeface="Segoe UI"/>
              </a:rPr>
              <a:t>70 Г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277856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34–149 грн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277856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Космос · Grono · Клас +3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669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309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00031146017119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8700" y="3794760"/>
            <a:ext cx="548640" cy="548640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685800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Shrimp в стакані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5800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5D4B96"/>
                </a:solidFill>
                <a:latin typeface="Segoe UI"/>
              </a:rPr>
              <a:t>67 Г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5800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103 грн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5800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1671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2311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00031146017096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28900" y="3794760"/>
            <a:ext cx="548640" cy="548640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2286000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Tempura Udon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286000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5D4B96"/>
                </a:solidFill>
                <a:latin typeface="Segoe UI"/>
              </a:rPr>
              <a:t>62 Г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286000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103 грн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286000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7673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38313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7" name="Picture 76" descr="00031146270606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29100" y="3794760"/>
            <a:ext cx="548640" cy="548640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3886200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Шин Рамьон гостра сублі…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886200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5D4B96"/>
                </a:solidFill>
                <a:latin typeface="Segoe UI"/>
              </a:rPr>
              <a:t>68 Г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886200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105 грн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886200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METRO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3675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54315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4" name="Picture 83" descr="08801043049566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29300" y="3794760"/>
            <a:ext cx="548640" cy="548640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5486400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Shin Red Super Spicy го…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486400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5D4B96"/>
                </a:solidFill>
                <a:latin typeface="Segoe UI"/>
              </a:rPr>
              <a:t>68 Г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486400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105 грн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486400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METRO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958584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022592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08801043029384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20356" y="3794760"/>
            <a:ext cx="548640" cy="548640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7077456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Cup Ramyun Shrimp гостра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077456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5D4B96"/>
                </a:solidFill>
                <a:latin typeface="Segoe UI"/>
              </a:rPr>
              <a:t>67 Г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077456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111 грн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077456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METRO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558784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622792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8" name="Picture 97" descr="00031146017096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20556" y="3794760"/>
            <a:ext cx="548640" cy="548640"/>
          </a:xfrm>
          <a:prstGeom prst="rect">
            <a:avLst/>
          </a:prstGeom>
        </p:spPr>
      </p:pic>
      <p:sp>
        <p:nvSpPr>
          <p:cNvPr id="99" name="TextBox 98"/>
          <p:cNvSpPr txBox="1"/>
          <p:nvPr/>
        </p:nvSpPr>
        <p:spPr>
          <a:xfrm>
            <a:off x="8677656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Tempura Udon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677656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5D4B96"/>
                </a:solidFill>
                <a:latin typeface="Segoe UI"/>
              </a:rPr>
              <a:t>62 Г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677656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111 грн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677656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METRO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0158984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0222992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5" name="Picture 104" descr="08801043029315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620756" y="3794760"/>
            <a:ext cx="548640" cy="548640"/>
          </a:xfrm>
          <a:prstGeom prst="rect">
            <a:avLst/>
          </a:prstGeom>
        </p:spPr>
      </p:pic>
      <p:sp>
        <p:nvSpPr>
          <p:cNvPr id="106" name="TextBox 105"/>
          <p:cNvSpPr txBox="1"/>
          <p:nvPr/>
        </p:nvSpPr>
        <p:spPr>
          <a:xfrm>
            <a:off x="10277856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Суп Neoguri з морепроду…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277856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5D4B96"/>
                </a:solidFill>
                <a:latin typeface="Segoe UI"/>
              </a:rPr>
              <a:t>62 Г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0277856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111 грн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277856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METRO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66928" y="5532120"/>
            <a:ext cx="11064240" cy="82296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566928" y="5532120"/>
            <a:ext cx="36576" cy="82296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04672" y="5687568"/>
            <a:ext cx="1058875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ВІЛЬНА НІША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04672" y="5916168"/>
            <a:ext cx="1058875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18 SKU на всю країну при ціні за грам удвічі вищій за пакет. Якщо в SIAS є стакан — це єдиний формат, де премія за грам ринком уже прийнята.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4 · РИСОВІ ГАЛУШКИ ТА РИСОВА ЛОКШИНА   ·   7 ПОЗИЦІЙ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Рамен у стакані, частина 2, і рисові галушки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Залишок сегмента 3 і повністю сегмент 4: рисові галушки та рисова локшина.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36192"/>
            <a:ext cx="36576" cy="19202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554480"/>
            <a:ext cx="106984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303A5D"/>
                </a:solidFill>
                <a:latin typeface="Segoe UI"/>
              </a:rPr>
              <a:t>СЕГМЕНТ 4 · РИСОВІ ГАЛУШКИ ТА РИСОВА ЛОКШИНА   ·   Варіння або окріп   ·   Маса — сухого продукту   ·   привід: Снек і десерт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880104302812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011679"/>
            <a:ext cx="548640" cy="5486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858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Soon Veggie Cup Noodle…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67 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111 грн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METRO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671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311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0880107321125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8900" y="2011679"/>
            <a:ext cx="548640" cy="5486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2860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Buldak Hot Chicken сир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70 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137–150 грн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Космос · Клас · Таврія В +1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673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8313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08801043028158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9100" y="2011679"/>
            <a:ext cx="548640" cy="54864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8862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Kimchi Shin Ramyun Cup…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862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75 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862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100–158 грн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862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Grono · METRO · Onde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675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315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0880104303111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9300" y="2011679"/>
            <a:ext cx="548640" cy="54864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4864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Shin Cup локшина з гриб…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80 Г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195 грн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Grono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585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0225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08801073114036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0356" y="2011679"/>
            <a:ext cx="548640" cy="54864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7077456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Topokki Рамен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77456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80 Г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77456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65–104 грн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77456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Onde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5587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6227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622792" y="2203704"/>
            <a:ext cx="13441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00" b="0" spc="-10">
                <a:solidFill>
                  <a:srgbClr val="9FA9C4"/>
                </a:solidFill>
                <a:latin typeface="Segoe UI"/>
              </a:rPr>
              <a:t>фото немає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77656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Baekje · Рисова зі смаком кімчі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77656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92 Г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77656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106 грн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77656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1589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02229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00648436101054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20756" y="2011679"/>
            <a:ext cx="548640" cy="54864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0277856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Paldo · Rabokki локшина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277856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145 Г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277856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101–124 грн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277856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Grono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669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309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08809054402356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8700" y="3794760"/>
            <a:ext cx="548640" cy="548640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685800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Yopokki · З сиром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5800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145 Г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5800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198 грн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5800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METRO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1671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2311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08809054402363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28900" y="3794760"/>
            <a:ext cx="548640" cy="548640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2286000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Yopokki · Гострі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286000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145 Г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286000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204 грн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286000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METRO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7673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38313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7" name="Picture 76" descr="08809054402370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29100" y="3794760"/>
            <a:ext cx="548640" cy="548640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3886200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Yopokki · Зі смаком кімчі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886200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145 Г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886200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204 грн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886200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METRO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3675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54315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4" name="Picture 83" descr="08809054402349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29300" y="3794760"/>
            <a:ext cx="548640" cy="548640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5486400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Yopokki · Гостро-солодкі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486400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145 Г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486400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204 грн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486400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METRO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66928" y="5532120"/>
            <a:ext cx="11064240" cy="82296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566928" y="5532120"/>
            <a:ext cx="36576" cy="82296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04672" y="5687568"/>
            <a:ext cx="1058875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ЧОМУ ЦЕ НЕ ОРІЄНТИР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04672" y="5916168"/>
            <a:ext cx="1058875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Yopokki за 198–204 грн — рисовий снек, а не локшина. Використовувати цю ціну як доказ, що «корейське може коштувати 200 грн», не можна.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СУМІЖНА ПОЛИЦЯ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Не-корейська локшина: підлога, від якої рахує покупець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14 найпоширеніших не-корейських SKU локшини швидкого приготування — по одному на бренд. Вони формують уявлення про «нормальну» ціну в категорії.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36192"/>
            <a:ext cx="36576" cy="192024"/>
          </a:xfrm>
          <a:prstGeom prst="rect">
            <a:avLst/>
          </a:prstGeom>
          <a:solidFill>
            <a:srgbClr val="3E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554480"/>
            <a:ext cx="106984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3E59A8"/>
                </a:solidFill>
                <a:latin typeface="Segoe UI"/>
              </a:rPr>
              <a:t>СУМІЖНА ПОЛИЦЯ · УКРАЇНА ТА АЗІЯ БЕЗ КОРЕЇ   ·   Варіння або окріп   ·   50–200 г   ·   9–144 грн   ·   18–146 грн/100 г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" y="2203704"/>
            <a:ext cx="13441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00" b="0" spc="-10">
                <a:solidFill>
                  <a:srgbClr val="9FA9C4"/>
                </a:solidFill>
                <a:latin typeface="Segoe UI"/>
              </a:rPr>
              <a:t>фото немає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Garnenka зі смаком курки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E59A8"/>
                </a:solidFill>
                <a:latin typeface="Segoe UI"/>
              </a:rPr>
              <a:t>60 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9–13 грн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ЧудоМаркет · ЕКО · Епіцентр +2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671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311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31136" y="2203704"/>
            <a:ext cx="13441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00" b="0" spc="-10">
                <a:solidFill>
                  <a:srgbClr val="9FA9C4"/>
                </a:solidFill>
                <a:latin typeface="Segoe UI"/>
              </a:rPr>
              <a:t>фото немає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Daryna зі смаком курки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E59A8"/>
                </a:solidFill>
                <a:latin typeface="Segoe UI"/>
              </a:rPr>
              <a:t>50 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12 грн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Епіцентр · Торба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673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8313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31336" y="2203704"/>
            <a:ext cx="13441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00" b="0" spc="-10">
                <a:solidFill>
                  <a:srgbClr val="9FA9C4"/>
                </a:solidFill>
                <a:latin typeface="Segoe UI"/>
              </a:rPr>
              <a:t>фото немає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862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Хуторок зі смаком курки гостра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862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E59A8"/>
                </a:solidFill>
                <a:latin typeface="Segoe UI"/>
              </a:rPr>
              <a:t>60 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862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13–16 грн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862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ЕКО · Ідеал · МегаМаркет +1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675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315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0482309741337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9300" y="2011679"/>
            <a:ext cx="548640" cy="54864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4864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Щедро Том Ям з морепродуктами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E59A8"/>
                </a:solidFill>
                <a:latin typeface="Segoe UI"/>
              </a:rPr>
              <a:t>60 Г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12–18 грн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ЧудоМаркет · Космос +3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585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0225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04820179256819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0356" y="2011679"/>
            <a:ext cx="548640" cy="54864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7077456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Reeva зі смаком грибів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77456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E59A8"/>
                </a:solidFill>
                <a:latin typeface="Segoe UI"/>
              </a:rPr>
              <a:t>60 Г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77456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15–22 грн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77456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Космос · ЕКО +9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5587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6227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622792" y="2203704"/>
            <a:ext cx="13441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00" b="0" spc="-10">
                <a:solidFill>
                  <a:srgbClr val="9FA9C4"/>
                </a:solidFill>
                <a:latin typeface="Segoe UI"/>
              </a:rPr>
              <a:t>фото немає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77656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ChiBi Sweet Chili Crab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77656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E59A8"/>
                </a:solidFill>
                <a:latin typeface="Segoe UI"/>
              </a:rPr>
              <a:t>85 Г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77656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18–25 грн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77656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ЕКО · Ідеал · NOVUS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1589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02229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222992" y="2203704"/>
            <a:ext cx="13441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00" b="0" spc="-10">
                <a:solidFill>
                  <a:srgbClr val="9FA9C4"/>
                </a:solidFill>
                <a:latin typeface="Segoe UI"/>
              </a:rPr>
              <a:t>фото немає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277856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Acecook Hao Hao зі смаком Кімчі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277856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E59A8"/>
                </a:solidFill>
                <a:latin typeface="Segoe UI"/>
              </a:rPr>
              <a:t>77 Г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277856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38–51 грн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277856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Grono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669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309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0885201810202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" y="3794760"/>
            <a:ext cx="548640" cy="548640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685800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рамен Yum Yum Tom Yum з креветками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5800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E59A8"/>
                </a:solidFill>
                <a:latin typeface="Segoe UI"/>
              </a:rPr>
              <a:t>70 Г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5800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60 грн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5800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Космос · Таврія В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1671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2311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08936010681422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28900" y="3794760"/>
            <a:ext cx="548640" cy="548640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2286000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рисова Micoem Cung Dinh з куркою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286000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E59A8"/>
                </a:solidFill>
                <a:latin typeface="Segoe UI"/>
              </a:rPr>
              <a:t>68 Г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286000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50–87 грн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286000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ЧудоМаркет · Космос +5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7673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38313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7" name="Picture 76" descr="04820172444398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29100" y="3794760"/>
            <a:ext cx="548640" cy="548640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3886200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рисова Hokkaido Club Рамен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886200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E59A8"/>
                </a:solidFill>
                <a:latin typeface="Segoe UI"/>
              </a:rPr>
              <a:t>80 Г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886200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62–90 грн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886200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Епіцентр · МегаМаркет +4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3675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54315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4" name="Picture 83" descr="08934563628154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29300" y="3794760"/>
            <a:ext cx="548640" cy="548640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5486400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Ippin класичний рамен Хаката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486400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E59A8"/>
                </a:solidFill>
                <a:latin typeface="Segoe UI"/>
              </a:rPr>
              <a:t>73 Г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486400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82–97 грн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486400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Grono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958584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022592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08585002445797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20356" y="3794760"/>
            <a:ext cx="548640" cy="548640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7077456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Макаронні вироби МІВІНА® Street Fo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077456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E59A8"/>
                </a:solidFill>
                <a:latin typeface="Segoe UI"/>
              </a:rPr>
              <a:t>121 Г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077456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81–108 грн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077456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ЧудоМаркет · Ідеал +9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558784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622792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622792" y="3986783"/>
            <a:ext cx="13441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00" b="0" spc="-10">
                <a:solidFill>
                  <a:srgbClr val="9FA9C4"/>
                </a:solidFill>
                <a:latin typeface="Segoe UI"/>
              </a:rPr>
              <a:t>фото немає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677656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рисова Bich-Chi Vina Pho Ga зі сма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677656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E59A8"/>
                </a:solidFill>
                <a:latin typeface="Segoe UI"/>
              </a:rPr>
              <a:t>70 Г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677656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100–108 грн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677656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МегаМаркет · Ultramarket +1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0158984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0222992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5" name="Picture 104" descr="08936010681545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20756" y="3794760"/>
            <a:ext cx="548640" cy="548640"/>
          </a:xfrm>
          <a:prstGeom prst="rect">
            <a:avLst/>
          </a:prstGeom>
        </p:spPr>
      </p:pic>
      <p:sp>
        <p:nvSpPr>
          <p:cNvPr id="106" name="TextBox 105"/>
          <p:cNvSpPr txBox="1"/>
          <p:nvPr/>
        </p:nvSpPr>
        <p:spPr>
          <a:xfrm>
            <a:off x="10277856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Cung Dinh Kool Korean BBQ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277856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E59A8"/>
                </a:solidFill>
                <a:latin typeface="Segoe UI"/>
              </a:rPr>
              <a:t>105 Г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0277856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110–144 грн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277856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ЧудоМаркет · Grono +1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66928" y="5532120"/>
            <a:ext cx="11064240" cy="82296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566928" y="5532120"/>
            <a:ext cx="36576" cy="822960"/>
          </a:xfrm>
          <a:prstGeom prst="rect">
            <a:avLst/>
          </a:prstGeom>
          <a:solidFill>
            <a:srgbClr val="3E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04672" y="5687568"/>
            <a:ext cx="1058875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ЩО ЦЕ ОЗНАЧАЄ ДЛЯ ЦІНИ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04672" y="5916168"/>
            <a:ext cx="1058875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Український мас-маркет — 9–22 грн за 50–60 г (18–33 грн/100 г). Корейський рамен коштує у 2,5–3 рази дорожче за грам, і ринок це приймає. Choi’s за фінмоделлю з маржею 15 % — 93–99 грн/100 г, тобто рівень Samyang (93) і дешевше за Nongshim (107).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РИТЕЙЛ-АУДИТ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Хто з мереж узагалі має корейський рамен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Суцільна перевірка онлайн-каталогів 18 мереж, зріз 29.09.2026. SKU — унікальні позиції корейського рамену в каталозі мережі.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627632"/>
            <a:ext cx="219456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МЕРЕЖА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1627632"/>
            <a:ext cx="15544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ПОКРИТТЯ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627632"/>
            <a:ext cx="5486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SKU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1627632"/>
            <a:ext cx="9144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МЕДІАНА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1627632"/>
            <a:ext cx="128016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ДІАПАЗОН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16368" y="1627632"/>
            <a:ext cx="41148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БРЕНДИ НА ПОЛИЦІ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1810512"/>
            <a:ext cx="21945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Ашан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1810512"/>
            <a:ext cx="15544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національна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1810512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63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1810512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95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1810512"/>
            <a:ext cx="12801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65–205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16368" y="1810512"/>
            <a:ext cx="41148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Samyang · Nongshim · Paldo · Ottogi · O’Food · Bibigo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3776" y="2025395"/>
            <a:ext cx="10936224" cy="24231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2061972"/>
            <a:ext cx="21945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Grono (Вінниця)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0" y="2061972"/>
            <a:ext cx="15544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регіональна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2061972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2061972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118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2061972"/>
            <a:ext cx="12801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72–205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2061972"/>
            <a:ext cx="41148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Samyang · Nongshim · Paldo · Yopokki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2313432"/>
            <a:ext cx="21945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Onde (Чернівці)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34640" y="2313432"/>
            <a:ext cx="15544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регіональна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2313432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25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0" y="2313432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118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2313432"/>
            <a:ext cx="12801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76–157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16368" y="2313432"/>
            <a:ext cx="41148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Samyang · Nongshim · Ottogi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" y="2528315"/>
            <a:ext cx="10936224" cy="24231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6928" y="2564891"/>
            <a:ext cx="21945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METRO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34640" y="2564891"/>
            <a:ext cx="15544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національна · C&amp;C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2564891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16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0640" y="2564891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118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26480" y="2564891"/>
            <a:ext cx="12801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105–204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16368" y="2564891"/>
            <a:ext cx="41148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Samyang · Nongshim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2816351"/>
            <a:ext cx="21945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«Зараз»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834640" y="2816351"/>
            <a:ext cx="15544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національна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0" y="2816351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14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20640" y="2816351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98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26480" y="2816351"/>
            <a:ext cx="12801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70–138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516368" y="2816351"/>
            <a:ext cx="41148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Samyang · Nongshim · Ottogi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93776" y="3031235"/>
            <a:ext cx="10936224" cy="24231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66928" y="3067811"/>
            <a:ext cx="21945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«Клас» (Харків)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834640" y="3067811"/>
            <a:ext cx="15544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регіональна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480560" y="3067811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13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120640" y="3067811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137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26480" y="3067811"/>
            <a:ext cx="12801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102–157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516368" y="3067811"/>
            <a:ext cx="41148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Samyang · Nongshim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66928" y="3319271"/>
            <a:ext cx="21945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«Восторг» (Харків)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834640" y="3319271"/>
            <a:ext cx="15544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регіональна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480560" y="3319271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13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120640" y="3319271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137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126480" y="3319271"/>
            <a:ext cx="12801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102–157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516368" y="3319271"/>
            <a:ext cx="41148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Samyang · Nongshim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93776" y="3534155"/>
            <a:ext cx="10936224" cy="24231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66928" y="3570731"/>
            <a:ext cx="21945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«Космос» (Одеса)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834640" y="3570731"/>
            <a:ext cx="15544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регіональна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480560" y="3570731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12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120640" y="3570731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122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126480" y="3570731"/>
            <a:ext cx="12801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77–143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516368" y="3570731"/>
            <a:ext cx="41148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Samyang · Nongshim · Ottogi · Choi’s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66928" y="3822191"/>
            <a:ext cx="21945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«Таврія В»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834640" y="3822191"/>
            <a:ext cx="15544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регіональна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480560" y="3822191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12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120640" y="3822191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122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126480" y="3822191"/>
            <a:ext cx="12801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77–143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516368" y="3822191"/>
            <a:ext cx="41148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Samyang · Nongshim · Ottogi · Choi’s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93776" y="4037076"/>
            <a:ext cx="10936224" cy="24231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66928" y="4073652"/>
            <a:ext cx="21945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NOVUS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834640" y="4073652"/>
            <a:ext cx="15544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національна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480560" y="4073652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8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120640" y="4073652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128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126480" y="4073652"/>
            <a:ext cx="12801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100–149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516368" y="4073652"/>
            <a:ext cx="41148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Samyang · Nongshim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66928" y="4325112"/>
            <a:ext cx="21945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«ЧудоМаркет»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834640" y="4325112"/>
            <a:ext cx="15544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регіональна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480560" y="4325112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6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120640" y="4325112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136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126480" y="4325112"/>
            <a:ext cx="12801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100–149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516368" y="4325112"/>
            <a:ext cx="41148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Samyang · Nongshim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93776" y="4539996"/>
            <a:ext cx="10936224" cy="24231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66928" y="4576572"/>
            <a:ext cx="21945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«Торба»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834640" y="4576572"/>
            <a:ext cx="15544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регіональна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480560" y="4576572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120640" y="4576572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138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126480" y="4576572"/>
            <a:ext cx="12801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138–139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516368" y="4576572"/>
            <a:ext cx="41148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Samyang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66928" y="4828032"/>
            <a:ext cx="21945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«Сільпо»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834640" y="4828032"/>
            <a:ext cx="15544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національна · №1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480560" y="4828032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4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120640" y="4828032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114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126480" y="4828032"/>
            <a:ext cx="12801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90–199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516368" y="4828032"/>
            <a:ext cx="41148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Samyang (3) · Nongshim (1)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93776" y="5042916"/>
            <a:ext cx="10936224" cy="24231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66928" y="5079492"/>
            <a:ext cx="21945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МегаМаркет · Ultramarket · ЕКО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834640" y="5079492"/>
            <a:ext cx="15544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національна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480560" y="5079492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120640" y="5079492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—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126480" y="5079492"/>
            <a:ext cx="12801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—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516368" y="5079492"/>
            <a:ext cx="41148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категорії немає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66928" y="5330952"/>
            <a:ext cx="21945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Епіцентр · «Ідеал»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834640" y="5330952"/>
            <a:ext cx="15544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національна / регіон.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480560" y="5330952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120640" y="5330952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—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126480" y="5330952"/>
            <a:ext cx="12801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—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516368" y="5330952"/>
            <a:ext cx="41148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категорії немає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566928" y="5486400"/>
            <a:ext cx="3547872" cy="77724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566928" y="5486400"/>
            <a:ext cx="36576" cy="77724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804672" y="5641848"/>
            <a:ext cx="307238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ДИРКА №1 · «СІЛЬПО»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04672" y="5870448"/>
            <a:ext cx="3072384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Найбільша мережа країни тримає 4 SKU корейського рамену. Полиця відкрита — але вхід там 90–139 грн.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4315968" y="5486400"/>
            <a:ext cx="3547872" cy="77724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4315968" y="5486400"/>
            <a:ext cx="36576" cy="77724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53712" y="5641848"/>
            <a:ext cx="307238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ДИРКА №2 · П’ЯТЬ МЕРЕЖ З НУЛЕМ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553712" y="5870448"/>
            <a:ext cx="3072384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МегаМаркет, Ultramarket, ЕКО, Епіцентр, «Ідеал» — 0 SKU. Це аргумент для дистрибуції, не для ціни.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8065008" y="5486400"/>
            <a:ext cx="3566160" cy="77724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8065008" y="5486400"/>
            <a:ext cx="36576" cy="77724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8302752" y="5641848"/>
            <a:ext cx="309067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ОДИН ПОСТАЧАЛЬНИК НА ДВІ МЕРЕЖІ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302752" y="5870448"/>
            <a:ext cx="3090672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«Космос» і «Таврія В» мають ідентичні 12 SKU і той самий діапазон. Саме там стоїть Choi’s.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КОРЕЙСЬКІ БРЕНДИ В МЕРЕЖАХ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Полиця не порожня — вона зайнята і поділена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Скільки позицій кожного бренду стоїть у кожній мережі. Насиченість кольору пропорційна кількості. Зріз 29.09.2026.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10512" y="1700784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Ашан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79191" y="1700784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Grono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7872" y="1700784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Onde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16552" y="1700784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METRO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85231" y="1700784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«Зараз»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53912" y="1700784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Космос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22592" y="1700784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Таврія 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91271" y="1700784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NOVUS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59952" y="1700784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«Сільпо»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11511" y="1700784"/>
            <a:ext cx="2103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ВСЬОГО У ЗРІЗІ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2093976"/>
            <a:ext cx="11155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Samyang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37943" y="1984248"/>
            <a:ext cx="813815" cy="402336"/>
          </a:xfrm>
          <a:prstGeom prst="rect">
            <a:avLst/>
          </a:prstGeom>
          <a:solidFill>
            <a:srgbClr val="359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37943" y="2075688"/>
            <a:ext cx="8138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FFFFFF"/>
                </a:solidFill>
                <a:latin typeface="Segoe UI"/>
              </a:rPr>
              <a:t>14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06623" y="1984248"/>
            <a:ext cx="813815" cy="40233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06623" y="2075688"/>
            <a:ext cx="8138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75303" y="1984248"/>
            <a:ext cx="813815" cy="402336"/>
          </a:xfrm>
          <a:prstGeom prst="rect">
            <a:avLst/>
          </a:prstGeom>
          <a:solidFill>
            <a:srgbClr val="359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75303" y="2075688"/>
            <a:ext cx="8138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FFFFFF"/>
                </a:solidFill>
                <a:latin typeface="Segoe UI"/>
              </a:rPr>
              <a:t>11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43984" y="1984248"/>
            <a:ext cx="813815" cy="40233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43984" y="2075688"/>
            <a:ext cx="8138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12664" y="1984248"/>
            <a:ext cx="813815" cy="402336"/>
          </a:xfrm>
          <a:prstGeom prst="rect">
            <a:avLst/>
          </a:prstGeom>
          <a:solidFill>
            <a:srgbClr val="6B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12664" y="2075688"/>
            <a:ext cx="8138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81344" y="1984248"/>
            <a:ext cx="813815" cy="40233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81344" y="2075688"/>
            <a:ext cx="8138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50024" y="1984248"/>
            <a:ext cx="813815" cy="40233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50024" y="2075688"/>
            <a:ext cx="8138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18703" y="1984248"/>
            <a:ext cx="813815" cy="40233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18703" y="2075688"/>
            <a:ext cx="8138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87384" y="1984248"/>
            <a:ext cx="813815" cy="40233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787384" y="2075688"/>
            <a:ext cx="8138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11511" y="2103120"/>
            <a:ext cx="2103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72 позиції · 11 мереж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2551176"/>
            <a:ext cx="11155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Nongshim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837943" y="2441448"/>
            <a:ext cx="813815" cy="402336"/>
          </a:xfrm>
          <a:prstGeom prst="rect">
            <a:avLst/>
          </a:prstGeom>
          <a:solidFill>
            <a:srgbClr val="1A74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837943" y="2532888"/>
            <a:ext cx="8138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FFFFFF"/>
                </a:solidFill>
                <a:latin typeface="Segoe UI"/>
              </a:rPr>
              <a:t>17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06623" y="2441448"/>
            <a:ext cx="813815" cy="402336"/>
          </a:xfrm>
          <a:prstGeom prst="rect">
            <a:avLst/>
          </a:prstGeom>
          <a:solidFill>
            <a:srgbClr val="6B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06623" y="2532888"/>
            <a:ext cx="8138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9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75303" y="2441448"/>
            <a:ext cx="813815" cy="402336"/>
          </a:xfrm>
          <a:prstGeom prst="rect">
            <a:avLst/>
          </a:prstGeom>
          <a:solidFill>
            <a:srgbClr val="359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575303" y="2532888"/>
            <a:ext cx="8138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FFFFFF"/>
                </a:solidFill>
                <a:latin typeface="Segoe UI"/>
              </a:rPr>
              <a:t>11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443984" y="2441448"/>
            <a:ext cx="813815" cy="402336"/>
          </a:xfrm>
          <a:prstGeom prst="rect">
            <a:avLst/>
          </a:prstGeom>
          <a:solidFill>
            <a:srgbClr val="359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443984" y="2532888"/>
            <a:ext cx="8138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312664" y="2441448"/>
            <a:ext cx="813815" cy="40233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12664" y="2532888"/>
            <a:ext cx="8138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81344" y="2441448"/>
            <a:ext cx="813815" cy="40233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81344" y="2532888"/>
            <a:ext cx="8138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050024" y="2441448"/>
            <a:ext cx="813815" cy="40233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050024" y="2532888"/>
            <a:ext cx="8138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918703" y="2441448"/>
            <a:ext cx="813815" cy="40233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918703" y="2532888"/>
            <a:ext cx="8138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787384" y="2441448"/>
            <a:ext cx="813815" cy="40233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787384" y="2532888"/>
            <a:ext cx="8138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811511" y="2560320"/>
            <a:ext cx="2103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71 позиція · 10 мереж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6928" y="3008376"/>
            <a:ext cx="11155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Paldo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837943" y="2898648"/>
            <a:ext cx="813815" cy="402336"/>
          </a:xfrm>
          <a:prstGeom prst="rect">
            <a:avLst/>
          </a:prstGeom>
          <a:solidFill>
            <a:srgbClr val="359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837943" y="2990088"/>
            <a:ext cx="8138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FFFFFF"/>
                </a:solidFill>
                <a:latin typeface="Segoe UI"/>
              </a:rPr>
              <a:t>13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706623" y="2898648"/>
            <a:ext cx="813815" cy="402336"/>
          </a:xfrm>
          <a:prstGeom prst="rect">
            <a:avLst/>
          </a:prstGeom>
          <a:solidFill>
            <a:srgbClr val="6B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706623" y="2990088"/>
            <a:ext cx="8138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9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575303" y="2898648"/>
            <a:ext cx="813815" cy="40233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575303" y="2990088"/>
            <a:ext cx="8138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443984" y="2898648"/>
            <a:ext cx="813815" cy="40233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443984" y="2990088"/>
            <a:ext cx="8138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312664" y="2898648"/>
            <a:ext cx="813815" cy="40233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312664" y="2990088"/>
            <a:ext cx="8138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181344" y="2898648"/>
            <a:ext cx="813815" cy="40233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181344" y="2990088"/>
            <a:ext cx="8138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050024" y="2898648"/>
            <a:ext cx="813815" cy="40233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050024" y="2990088"/>
            <a:ext cx="8138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918703" y="2898648"/>
            <a:ext cx="813815" cy="40233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918703" y="2990088"/>
            <a:ext cx="8138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787384" y="2898648"/>
            <a:ext cx="813815" cy="40233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787384" y="2990088"/>
            <a:ext cx="8138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811511" y="3017520"/>
            <a:ext cx="2103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26 позицій · 5 мереж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66928" y="3465576"/>
            <a:ext cx="11155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Ottogi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37943" y="3355848"/>
            <a:ext cx="813815" cy="402336"/>
          </a:xfrm>
          <a:prstGeom prst="rect">
            <a:avLst/>
          </a:prstGeom>
          <a:solidFill>
            <a:srgbClr val="6B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837943" y="3447288"/>
            <a:ext cx="8138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9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706623" y="3355848"/>
            <a:ext cx="813815" cy="40233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706623" y="3447288"/>
            <a:ext cx="8138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575303" y="3355848"/>
            <a:ext cx="813815" cy="40233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575303" y="3447288"/>
            <a:ext cx="8138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443984" y="3355848"/>
            <a:ext cx="813815" cy="40233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443984" y="3447288"/>
            <a:ext cx="8138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312664" y="3355848"/>
            <a:ext cx="813815" cy="40233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312664" y="3447288"/>
            <a:ext cx="8138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181344" y="3355848"/>
            <a:ext cx="813815" cy="40233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181344" y="3447288"/>
            <a:ext cx="8138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050024" y="3355848"/>
            <a:ext cx="813815" cy="40233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050024" y="3447288"/>
            <a:ext cx="8138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918703" y="3355848"/>
            <a:ext cx="813815" cy="40233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918703" y="3447288"/>
            <a:ext cx="8138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787384" y="3355848"/>
            <a:ext cx="813815" cy="40233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787384" y="3447288"/>
            <a:ext cx="8138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811511" y="3474720"/>
            <a:ext cx="2103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19 позицій · 5 мереж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66928" y="3922776"/>
            <a:ext cx="11155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O’Food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837943" y="3813048"/>
            <a:ext cx="813815" cy="40233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837943" y="3904488"/>
            <a:ext cx="8138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706623" y="3813048"/>
            <a:ext cx="813815" cy="40233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2706623" y="3904488"/>
            <a:ext cx="8138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575303" y="3813048"/>
            <a:ext cx="813815" cy="40233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3575303" y="3904488"/>
            <a:ext cx="8138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443984" y="3813048"/>
            <a:ext cx="813815" cy="40233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4443984" y="3904488"/>
            <a:ext cx="8138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5312664" y="3813048"/>
            <a:ext cx="813815" cy="40233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5312664" y="3904488"/>
            <a:ext cx="8138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181344" y="3813048"/>
            <a:ext cx="813815" cy="40233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181344" y="3904488"/>
            <a:ext cx="8138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050024" y="3813048"/>
            <a:ext cx="813815" cy="40233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050024" y="3904488"/>
            <a:ext cx="8138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7918703" y="3813048"/>
            <a:ext cx="813815" cy="40233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7918703" y="3904488"/>
            <a:ext cx="8138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8787384" y="3813048"/>
            <a:ext cx="813815" cy="40233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8787384" y="3904488"/>
            <a:ext cx="8138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9811511" y="3931920"/>
            <a:ext cx="2103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8 позицій · 2 мережі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66928" y="4379976"/>
            <a:ext cx="11155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Bibigo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837943" y="4270248"/>
            <a:ext cx="813815" cy="40233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1837943" y="4361688"/>
            <a:ext cx="8138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2706623" y="4270248"/>
            <a:ext cx="813815" cy="40233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2706623" y="4361688"/>
            <a:ext cx="8138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3575303" y="4270248"/>
            <a:ext cx="813815" cy="40233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3575303" y="4361688"/>
            <a:ext cx="8138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4443984" y="4270248"/>
            <a:ext cx="813815" cy="40233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4443984" y="4361688"/>
            <a:ext cx="8138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5312664" y="4270248"/>
            <a:ext cx="813815" cy="40233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5312664" y="4361688"/>
            <a:ext cx="8138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6181344" y="4270248"/>
            <a:ext cx="813815" cy="40233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6181344" y="4361688"/>
            <a:ext cx="8138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7050024" y="4270248"/>
            <a:ext cx="813815" cy="40233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7050024" y="4361688"/>
            <a:ext cx="8138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7918703" y="4270248"/>
            <a:ext cx="813815" cy="40233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7918703" y="4361688"/>
            <a:ext cx="8138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8787384" y="4270248"/>
            <a:ext cx="813815" cy="40233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8787384" y="4361688"/>
            <a:ext cx="8138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9811511" y="4389120"/>
            <a:ext cx="2103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4 позиції · 1 мережа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66928" y="4837176"/>
            <a:ext cx="11155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Choi’s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1837943" y="4727448"/>
            <a:ext cx="813815" cy="40233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1837943" y="4818888"/>
            <a:ext cx="8138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2706623" y="4727448"/>
            <a:ext cx="813815" cy="40233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2706623" y="4818888"/>
            <a:ext cx="8138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3575303" y="4727448"/>
            <a:ext cx="813815" cy="40233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3575303" y="4818888"/>
            <a:ext cx="8138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4443984" y="4727448"/>
            <a:ext cx="813815" cy="40233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4443984" y="4818888"/>
            <a:ext cx="8138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5312664" y="4727448"/>
            <a:ext cx="813815" cy="40233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5312664" y="4818888"/>
            <a:ext cx="8138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6181344" y="4727448"/>
            <a:ext cx="813815" cy="40233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6181344" y="4818888"/>
            <a:ext cx="8138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7050024" y="4727448"/>
            <a:ext cx="813815" cy="40233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7050024" y="4818888"/>
            <a:ext cx="8138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7918703" y="4727448"/>
            <a:ext cx="813815" cy="40233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7918703" y="4818888"/>
            <a:ext cx="8138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8787384" y="4727448"/>
            <a:ext cx="813815" cy="40233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8787384" y="4818888"/>
            <a:ext cx="8138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9811511" y="4846320"/>
            <a:ext cx="2103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2 позиції · 1 постачальник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566928" y="5358384"/>
            <a:ext cx="3547872" cy="10789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566928" y="5358384"/>
            <a:ext cx="36576" cy="1078992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804672" y="5513832"/>
            <a:ext cx="307238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spc="-10">
                <a:solidFill>
                  <a:srgbClr val="303A5D"/>
                </a:solidFill>
                <a:latin typeface="Segoe UI"/>
              </a:rPr>
              <a:t>ВХІД ПРОБИТИЙ, АЛЕ НЕ ДЛЯ НАС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804672" y="5742432"/>
            <a:ext cx="30723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Samyang і Nongshim дають 143 позиції з 219 і стоять у 10–11 мережах. Імпортер, договір і місце на полиці під них уже є — нова марка заходить проти них, а не в порожнечу.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4315968" y="5358384"/>
            <a:ext cx="3547872" cy="10789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4315968" y="5358384"/>
            <a:ext cx="36576" cy="1078992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4553712" y="5513832"/>
            <a:ext cx="307238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spc="-10">
                <a:solidFill>
                  <a:srgbClr val="303A5D"/>
                </a:solidFill>
                <a:latin typeface="Segoe UI"/>
              </a:rPr>
              <a:t>ДЕ ВІЛЬНО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4553712" y="5742432"/>
            <a:ext cx="30723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«Сільпо» — 4 позиції на всю мережу. МегаМаркет, Ultramarket, ЕКО, Епіцентр і «Ідеал» — нуль. Ottogi, O’Food і Bibigo стоять лише у 1–5 мережах.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8065008" y="5358384"/>
            <a:ext cx="3566160" cy="10789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8065008" y="5358384"/>
            <a:ext cx="36576" cy="10789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8302752" y="5513832"/>
            <a:ext cx="309067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spc="-10">
                <a:solidFill>
                  <a:srgbClr val="303A5D"/>
                </a:solidFill>
                <a:latin typeface="Segoe UI"/>
              </a:rPr>
              <a:t>CHOI’S УЖЕ МАЄ КАНАЛ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8302752" y="5742432"/>
            <a:ext cx="30906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«Космос» і «Таврія В» мають ідентичний набір і однаковий діапазон цін — їх обслуговує один постачальник, і він уже возить Choi’s. Питання до SIAS: хто це.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КАНАЛИ ПРОДАЖУ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Де продається категорія і кому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Ліворуч — скільки точок у кожному каналі перевірено у зрізі. Праворуч — хто туди приходить і чи це наш покупець.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609344"/>
            <a:ext cx="5120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303A5D"/>
                </a:solidFill>
                <a:latin typeface="Segoe UI"/>
              </a:rPr>
              <a:t>ТОЧОК ПРОДАЖУ В КАНАЛІ · ПЕРЕВІРЕНО У ЗРІЗІ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50008" y="1883664"/>
            <a:ext cx="5486" cy="1353312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84248" y="3273552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64358" y="1883664"/>
            <a:ext cx="5486" cy="1353312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98598" y="3273552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78708" y="1883664"/>
            <a:ext cx="5486" cy="1353312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12948" y="3273552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93058" y="1883664"/>
            <a:ext cx="5486" cy="1353312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7298" y="3273552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07408" y="1883664"/>
            <a:ext cx="5486" cy="1353312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41648" y="3273552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2052828"/>
            <a:ext cx="167335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Продуктові мережі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50008" y="2029968"/>
            <a:ext cx="1851660" cy="201168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74820" y="2048256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303A5D"/>
                </a:solidFill>
                <a:latin typeface="Segoe UI"/>
              </a:rPr>
              <a:t>18  ·  13 мають рамен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2473452"/>
            <a:ext cx="167335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Азійські фудшопи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50008" y="2450592"/>
            <a:ext cx="514350" cy="201168"/>
          </a:xfrm>
          <a:prstGeom prst="rect">
            <a:avLst/>
          </a:prstGeom>
          <a:solidFill>
            <a:srgbClr val="1E8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37510" y="2468880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2894076"/>
            <a:ext cx="167335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C4820A"/>
                </a:solidFill>
                <a:latin typeface="Segoe UI"/>
              </a:rPr>
              <a:t>Маркетплейси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50008" y="2871216"/>
            <a:ext cx="411480" cy="201168"/>
          </a:xfrm>
          <a:prstGeom prst="rect">
            <a:avLst/>
          </a:prstGeom>
          <a:solidFill>
            <a:srgbClr val="F5A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34640" y="2889504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C4820A"/>
                </a:solidFill>
                <a:latin typeface="Segoe UI"/>
              </a:rPr>
              <a:t>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749039"/>
            <a:ext cx="5394960" cy="243230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6928" y="3749039"/>
            <a:ext cx="36576" cy="24323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4672" y="3904487"/>
            <a:ext cx="491947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spc="-10">
                <a:solidFill>
                  <a:srgbClr val="303A5D"/>
                </a:solidFill>
                <a:latin typeface="Segoe UI"/>
              </a:rPr>
              <a:t>КАНАЛ І ПОКУПЕЦЬ — РІЗНІ ОСІ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" y="4133087"/>
            <a:ext cx="4919472" cy="1901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Продуктові мережі — єдиний канал з обсягом, але саме там уже стоять Samyang і Nongshim, і саме там бонус 20–30 %.</a:t>
            </a:r>
          </a:p>
          <a:p>
            <a:pPr algn="l">
              <a:lnSpc>
                <a:spcPct val="13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Маркетплейси й азійські фудшопи бонусу не беруть, і маржа 15 % там тримається повністю. Але обсягу вони не дають: медіана на Prom — 135 грн, у фудшопах 61–158 грн.</a:t>
            </a:r>
          </a:p>
          <a:p>
            <a:pPr algn="l">
              <a:lnSpc>
                <a:spcPct val="13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На відміну від готового рису, outdoor- і мілітарі-рітейл для рамену не канал: рамен потребує окропу і каструлі, тому в туристичних магазинах його немає.</a:t>
            </a:r>
          </a:p>
          <a:p>
            <a:pPr algn="l">
              <a:lnSpc>
                <a:spcPct val="13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Практичний вхід — «Сільпо» і п'ять нацмереж із нулем, з цифрами оборотності з маркетплейсів на руках.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1572768"/>
            <a:ext cx="5413248" cy="120700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17920" y="1572768"/>
            <a:ext cx="36576" cy="120700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55664" y="1682495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Продуктовий роздріб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222992" y="1682495"/>
            <a:ext cx="131673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22992" y="1709928"/>
            <a:ext cx="131673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20" b="1" spc="-10">
                <a:solidFill>
                  <a:srgbClr val="FFFFFF"/>
                </a:solidFill>
                <a:latin typeface="Segoe UI"/>
              </a:rPr>
              <a:t>ЦІЛЬОВИЙ КАНАЛ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55664" y="1920240"/>
            <a:ext cx="495604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 spc="-10">
                <a:solidFill>
                  <a:srgbClr val="B53A3A"/>
                </a:solidFill>
                <a:latin typeface="Segoe UI"/>
              </a:rPr>
              <a:t>МЕРЕЖІ НАЦІОНАЛЬНОГО ПОКРИТТЯ · 18 ПЕРЕВІРЕНО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55664" y="2084832"/>
            <a:ext cx="49560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spc="-10">
                <a:solidFill>
                  <a:srgbClr val="303A5D"/>
                </a:solidFill>
                <a:latin typeface="Segoe UI"/>
              </a:rPr>
              <a:t>13 мереж мають корейський рамен, 5 — жодної позиції. «Сільпо» тримає 4 позиції на всю мережу.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55664" y="2560320"/>
            <a:ext cx="495604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60" b="1" spc="-10">
                <a:solidFill>
                  <a:srgbClr val="717890"/>
                </a:solidFill>
                <a:latin typeface="Segoe UI"/>
              </a:rPr>
              <a:t>ПОКУПЕЦЬ:  Масовий покупець · щоденне харчування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2907792"/>
            <a:ext cx="5413248" cy="120700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17920" y="2907792"/>
            <a:ext cx="36576" cy="1207008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55664" y="3017520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Онлайн-маркетплейси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222992" y="3017520"/>
            <a:ext cx="1316736" cy="201168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222992" y="3044952"/>
            <a:ext cx="131673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20" b="1" spc="-10">
                <a:solidFill>
                  <a:srgbClr val="FFFFFF"/>
                </a:solidFill>
                <a:latin typeface="Segoe UI"/>
              </a:rPr>
              <a:t>ЦІЛЬОВИЙ КАНАЛ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55664" y="3255264"/>
            <a:ext cx="495604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 spc="-10">
                <a:solidFill>
                  <a:srgbClr val="C4820A"/>
                </a:solidFill>
                <a:latin typeface="Segoe UI"/>
              </a:rPr>
              <a:t>УНІВЕРСАЛЬНІ МАЙДАНЧИКИ · 4 МАЙДАНЧИКИ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55664" y="3419856"/>
            <a:ext cx="49560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spc="-10">
                <a:solidFill>
                  <a:srgbClr val="303A5D"/>
                </a:solidFill>
                <a:latin typeface="Segoe UI"/>
              </a:rPr>
              <a:t>Prom · Rozetka · MAUDAU · Bigl. Медіана в категорії «локшина рамен» на Prom — 135 грн, мінімум 80 грн. Бонусу немає.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55664" y="3895344"/>
            <a:ext cx="495604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60" b="1" spc="-10">
                <a:solidFill>
                  <a:srgbClr val="717890"/>
                </a:solidFill>
                <a:latin typeface="Segoe UI"/>
              </a:rPr>
              <a:t>ПОКУПЕЦЬ:  Масовий покупець · планована закупівля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17920" y="4242816"/>
            <a:ext cx="5413248" cy="120700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217920" y="4242816"/>
            <a:ext cx="36576" cy="120700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55664" y="4352544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Азійські фудшопи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222992" y="4352544"/>
            <a:ext cx="131673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222992" y="4379976"/>
            <a:ext cx="131673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20" b="1" spc="-10">
                <a:solidFill>
                  <a:srgbClr val="FFFFFF"/>
                </a:solidFill>
                <a:latin typeface="Segoe UI"/>
              </a:rPr>
              <a:t>ВХІД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55664" y="4590288"/>
            <a:ext cx="495604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 spc="-10">
                <a:solidFill>
                  <a:srgbClr val="1E9EA6"/>
                </a:solidFill>
                <a:latin typeface="Segoe UI"/>
              </a:rPr>
              <a:t>СПЕЦІАЛІЗОВАНИЙ ФУДРІТЕЙЛ · 5 МАГАЗИНІВ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55664" y="4754879"/>
            <a:ext cx="49560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spc="-10">
                <a:solidFill>
                  <a:srgbClr val="303A5D"/>
                </a:solidFill>
                <a:latin typeface="Segoe UI"/>
              </a:rPr>
              <a:t>OMG! Asia · Тайякі Март · Суші Повар · Asia Foods · Panda Asian. Корейський рамен 61–158 грн, ядро 92–135 грн.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55664" y="5230368"/>
            <a:ext cx="495604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60" b="1" spc="-10">
                <a:solidFill>
                  <a:srgbClr val="717890"/>
                </a:solidFill>
                <a:latin typeface="Segoe UI"/>
              </a:rPr>
              <a:t>ПОКУПЕЦЬ:  Покупець азійської кухні · знає категорію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217920" y="5577840"/>
            <a:ext cx="5413248" cy="120700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217920" y="5577840"/>
            <a:ext cx="36576" cy="1207008"/>
          </a:xfrm>
          <a:prstGeom prst="rect">
            <a:avLst/>
          </a:prstGeom>
          <a:solidFill>
            <a:srgbClr val="9F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55664" y="5687568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Outdoor- і мілітарі-рітейл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222992" y="5687568"/>
            <a:ext cx="1316736" cy="201168"/>
          </a:xfrm>
          <a:prstGeom prst="rect">
            <a:avLst/>
          </a:prstGeom>
          <a:solidFill>
            <a:srgbClr val="9F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222992" y="5715000"/>
            <a:ext cx="131673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20" b="1" spc="-10">
                <a:solidFill>
                  <a:srgbClr val="FFFFFF"/>
                </a:solidFill>
                <a:latin typeface="Segoe UI"/>
              </a:rPr>
              <a:t>НЕ НАШ КАНАЛ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55664" y="5925312"/>
            <a:ext cx="495604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 spc="-10">
                <a:solidFill>
                  <a:srgbClr val="9FA9C4"/>
                </a:solidFill>
                <a:latin typeface="Segoe UI"/>
              </a:rPr>
              <a:t>ТУРИСТИЧНІ ТА ВІЙСЬКОВІ МАГАЗИНИ · 0 ПОЗИЦІЙ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55664" y="6089904"/>
            <a:ext cx="49560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spc="-10">
                <a:solidFill>
                  <a:srgbClr val="303A5D"/>
                </a:solidFill>
                <a:latin typeface="Segoe UI"/>
              </a:rPr>
              <a:t>Рамену там немає: він потребує окропу й каструлі. Для готового рису це був головний канал — для рамену він нерелевантний.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55664" y="6565392"/>
            <a:ext cx="495604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60" b="1" spc="-10">
                <a:solidFill>
                  <a:srgbClr val="717890"/>
                </a:solidFill>
                <a:latin typeface="Segoe UI"/>
              </a:rPr>
              <a:t>ПОКУПЕЦЬ:  Турист і військовий · автономне харчування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КРИТИЧНИЙ ФАКТ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Choi’s Ramyeon уже продається в Україні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Знайдено в каталогах під час зрізу 29.09.2026. Це не оцінка — це фактична роздрібна ціна того самого SKU.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645920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" y="1709928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37603443508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1773936"/>
            <a:ext cx="548640" cy="5486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85800" y="2423160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Choi's рамен карбон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715768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B53A3A"/>
                </a:solidFill>
                <a:latin typeface="Segoe UI"/>
              </a:rPr>
              <a:t>131 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862072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125 грн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081528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Космос · Таврія В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40280" y="1645920"/>
            <a:ext cx="2926080" cy="165506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41448" y="1801368"/>
            <a:ext cx="25603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EAN / ПОХОДЖЕННЯ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41448" y="201168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 spc="-10">
                <a:solidFill>
                  <a:srgbClr val="303A5D"/>
                </a:solidFill>
                <a:latin typeface="Segoe UI"/>
              </a:rPr>
              <a:t>3760344350847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41448" y="2487168"/>
            <a:ext cx="2560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 spc="-10">
                <a:solidFill>
                  <a:srgbClr val="717890"/>
                </a:solidFill>
                <a:latin typeface="Segoe UI"/>
              </a:rPr>
              <a:t>Префікс 376 — Франція.</a:t>
            </a:r>
          </a:p>
          <a:p>
            <a:pPr algn="l">
              <a:lnSpc>
                <a:spcPct val="115000"/>
              </a:lnSpc>
            </a:pPr>
            <a:r>
              <a:rPr sz="680" b="0" spc="-10">
                <a:solidFill>
                  <a:srgbClr val="717890"/>
                </a:solidFill>
                <a:latin typeface="Segoe UI"/>
              </a:rPr>
              <a:t>Збігається з SIAS France, Roye.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30952" y="1645920"/>
            <a:ext cx="2926080" cy="165506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32120" y="1801368"/>
            <a:ext cx="25603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РОЗДРІБНА ЦІНА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32120" y="201168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 spc="-10">
                <a:solidFill>
                  <a:srgbClr val="B53A3A"/>
                </a:solidFill>
                <a:latin typeface="Segoe UI"/>
              </a:rPr>
              <a:t>125,20 грн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32120" y="2487168"/>
            <a:ext cx="2560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 spc="-10">
                <a:solidFill>
                  <a:srgbClr val="717890"/>
                </a:solidFill>
                <a:latin typeface="Segoe UI"/>
              </a:rPr>
              <a:t>«Таврія В» і «Космос».</a:t>
            </a:r>
          </a:p>
          <a:p>
            <a:pPr algn="l">
              <a:lnSpc>
                <a:spcPct val="115000"/>
              </a:lnSpc>
            </a:pPr>
            <a:r>
              <a:rPr sz="680" b="0" spc="-10">
                <a:solidFill>
                  <a:srgbClr val="717890"/>
                </a:solidFill>
                <a:latin typeface="Segoe UI"/>
              </a:rPr>
              <a:t>96 грн/100 г.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21624" y="1645920"/>
            <a:ext cx="3209544" cy="165506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22792" y="1801368"/>
            <a:ext cx="284378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НАША ПОЛИЦЯ ПРИ МАРЖІ 15 %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22792" y="2011680"/>
            <a:ext cx="28437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 spc="-10">
                <a:solidFill>
                  <a:srgbClr val="B53A3A"/>
                </a:solidFill>
                <a:latin typeface="Segoe UI"/>
              </a:rPr>
              <a:t>156 грн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22792" y="2487168"/>
            <a:ext cx="28437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 spc="-10">
                <a:solidFill>
                  <a:srgbClr val="717890"/>
                </a:solidFill>
                <a:latin typeface="Segoe UI"/>
              </a:rPr>
              <a:t>СС €1,309 за пачку.</a:t>
            </a:r>
          </a:p>
          <a:p>
            <a:pPr algn="l">
              <a:lnSpc>
                <a:spcPct val="115000"/>
              </a:lnSpc>
            </a:pPr>
            <a:r>
              <a:rPr sz="680" b="0" spc="-10">
                <a:solidFill>
                  <a:srgbClr val="717890"/>
                </a:solidFill>
                <a:latin typeface="Segoe UI"/>
              </a:rPr>
              <a:t>+25 % до фактичної ціни.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3520440"/>
            <a:ext cx="36576" cy="17373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" y="3529584"/>
            <a:ext cx="640080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spc="-10">
                <a:solidFill>
                  <a:srgbClr val="303A5D"/>
                </a:solidFill>
                <a:latin typeface="Segoe UI"/>
              </a:rPr>
              <a:t>ЩО ЦЕ ОЗНАЧАЄ ДЛЯ ПЕРЕГОВОРІВ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3758184"/>
            <a:ext cx="3547872" cy="23317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66928" y="3758184"/>
            <a:ext cx="36576" cy="233172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2" y="3913632"/>
            <a:ext cx="307238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spc="-10">
                <a:solidFill>
                  <a:srgbClr val="303A5D"/>
                </a:solidFill>
                <a:latin typeface="Segoe UI"/>
              </a:rPr>
              <a:t>1 · ЦІНА ВЖЕ ВСТАНОВЛЕНА РИНКОМ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" y="4142232"/>
            <a:ext cx="3072384" cy="18013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Не ми визначаємо полицю для Choi’s. Вона вже є: 125,20 грн. За нашою моделлю з маржею 15 % ми виходимо на 156,32 грн — на 24,9 % дорожче за той самий товар, що вже стоїть на полиці.</a:t>
            </a:r>
          </a:p>
          <a:p>
            <a:pPr algn="l">
              <a:lnSpc>
                <a:spcPct val="13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Щоб стати на ці 125,20 грн і зберегти 15 %, потрібна СС €1,048 замість €1,309 — мінус 19,9 %. Європейський роздріб того самого SKU — €1,80–2,20 = 92–113 грн.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15968" y="3758184"/>
            <a:ext cx="3547872" cy="23317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315968" y="3758184"/>
            <a:ext cx="36576" cy="233172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53712" y="3913632"/>
            <a:ext cx="307238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spc="-10">
                <a:solidFill>
                  <a:srgbClr val="303A5D"/>
                </a:solidFill>
                <a:latin typeface="Segoe UI"/>
              </a:rPr>
              <a:t>2 · ХТО ВЖЕ ЗАВІЗ — ПИТАННЯ ДО SIAS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53712" y="4142232"/>
            <a:ext cx="3072384" cy="18013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Перед будь-якими обговореннями обсягу треба з’ясувати:</a:t>
            </a:r>
          </a:p>
          <a:p>
            <a:pPr algn="l">
              <a:lnSpc>
                <a:spcPct val="13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· хто діючий імпортер Choi’s в Україні;</a:t>
            </a:r>
          </a:p>
          <a:p>
            <a:pPr algn="l">
              <a:lnSpc>
                <a:spcPct val="13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· які в нього ціна FCA і обсяг;</a:t>
            </a:r>
          </a:p>
          <a:p>
            <a:pPr algn="l">
              <a:lnSpc>
                <a:spcPct val="13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· чи пропонують нам ексклюзив, чи ми будемо другим каналом на той самий бренд;</a:t>
            </a:r>
          </a:p>
          <a:p>
            <a:pPr algn="l">
              <a:lnSpc>
                <a:spcPct val="13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· чому наша ціна закупівлі вища за ту, що дозволяє роздріб 125,20 грн.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65008" y="3758184"/>
            <a:ext cx="3566160" cy="23317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065008" y="3758184"/>
            <a:ext cx="36576" cy="233172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02752" y="3913632"/>
            <a:ext cx="309067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spc="-10">
                <a:solidFill>
                  <a:srgbClr val="303A5D"/>
                </a:solidFill>
                <a:latin typeface="Segoe UI"/>
              </a:rPr>
              <a:t>3 · НАЙІМОВІРНІША ГІПОТЕЗА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02752" y="4142232"/>
            <a:ext cx="3090672" cy="18013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Діючий імпортер працює або на нижчій ціні FCA, або без бонусу мережі, або завозить дрібними партіями як асортиментний додаток.</a:t>
            </a:r>
          </a:p>
          <a:p>
            <a:pPr algn="l">
              <a:lnSpc>
                <a:spcPct val="13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За нашої СС €1,309 полиця 125,20 грн дає маржу 0,1 % — нуль. Отже, у діючого імпортера ціна закупівлі нижча. Це головне, що треба перевірити до розрахунку обсягу.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6236208"/>
            <a:ext cx="11064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 spc="-10">
                <a:solidFill>
                  <a:srgbClr val="9FA9C4"/>
                </a:solidFill>
                <a:latin typeface="Segoe UI"/>
              </a:rPr>
              <a:t>Джерело: каталоги tavriav.zakaz.ua і cosmos.zakaz.ua, позиція «Локшина Choi’s рамен карбон 131 г», 125,20 грн. Європейська ціна — dotasia.eu.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ЦІНА ЗА УПАКОВКУ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Де ми стоїмо: від найдешевшої до найдорожчої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Усі ринкові якорі й обидві наші позиції на одній шкалі. Помаранчеве — ми, темне — медіани сегментів, світле — конкретні позиції конкурентів.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10834" y="1664208"/>
            <a:ext cx="1027937" cy="3891686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10834" y="1517904"/>
            <a:ext cx="1027937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C4820A"/>
                </a:solidFill>
                <a:latin typeface="Segoe UI"/>
              </a:rPr>
              <a:t>ВІКНО ПОЛИЦІ  86–124 грн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84448" y="1810512"/>
            <a:ext cx="5486" cy="3745382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18688" y="5592470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6488" y="1810512"/>
            <a:ext cx="5486" cy="3745382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00728" y="5592470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40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48528" y="1810512"/>
            <a:ext cx="5486" cy="3745382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82768" y="5592470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80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30568" y="1810512"/>
            <a:ext cx="5486" cy="3745382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64808" y="5592470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12607" y="1810512"/>
            <a:ext cx="5486" cy="3745382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46847" y="5592470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160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94648" y="1810512"/>
            <a:ext cx="5486" cy="3745382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28888" y="5592470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200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76688" y="1810512"/>
            <a:ext cx="5486" cy="3745382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10928" y="5592470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240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1870862"/>
            <a:ext cx="2907791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Ottogi Kimchi 120 г · найдешевший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84448" y="1877720"/>
            <a:ext cx="2082927" cy="141732"/>
          </a:xfrm>
          <a:prstGeom prst="rect">
            <a:avLst/>
          </a:prstGeom>
          <a:solidFill>
            <a:srgbClr val="C2C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40527" y="1866290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77 грн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2073859"/>
            <a:ext cx="2907791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O’Food Кімчі 144 г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84448" y="2080717"/>
            <a:ext cx="2082927" cy="141732"/>
          </a:xfrm>
          <a:prstGeom prst="rect">
            <a:avLst/>
          </a:prstGeom>
          <a:solidFill>
            <a:srgbClr val="C2C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40527" y="2069287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77 грн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2276856"/>
            <a:ext cx="2907791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Bibigo рамен із соусом 122 г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84448" y="2283714"/>
            <a:ext cx="2326386" cy="141732"/>
          </a:xfrm>
          <a:prstGeom prst="rect">
            <a:avLst/>
          </a:prstGeom>
          <a:solidFill>
            <a:srgbClr val="C2C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83986" y="2272284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86 грн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2479852"/>
            <a:ext cx="2907791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Ottogi · медіана бренду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584448" y="2486710"/>
            <a:ext cx="2407539" cy="141732"/>
          </a:xfrm>
          <a:prstGeom prst="rect">
            <a:avLst/>
          </a:prstGeom>
          <a:solidFill>
            <a:srgbClr val="C2C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65139" y="2475280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89 грн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2682849"/>
            <a:ext cx="2907791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Paldo · медіана бренду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84448" y="2689707"/>
            <a:ext cx="2542794" cy="141732"/>
          </a:xfrm>
          <a:prstGeom prst="rect">
            <a:avLst/>
          </a:prstGeom>
          <a:solidFill>
            <a:srgbClr val="C2C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00394" y="2678277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94 грн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" y="2885846"/>
            <a:ext cx="2907791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РАМЕН ІЗ СОУСОМ · медіана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584448" y="2892704"/>
            <a:ext cx="2705100" cy="14173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62700" y="2881274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303A5D"/>
                </a:solidFill>
                <a:latin typeface="Segoe UI"/>
              </a:rPr>
              <a:t>100 грн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3088843"/>
            <a:ext cx="2907791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РАМЕН З БУЛЬЙОНОМ · медіана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84448" y="3095701"/>
            <a:ext cx="2813304" cy="14173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70904" y="3084271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303A5D"/>
                </a:solidFill>
                <a:latin typeface="Segoe UI"/>
              </a:rPr>
              <a:t>104 грн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6928" y="3291840"/>
            <a:ext cx="2907791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Nongshim · медіана бренду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584448" y="3298698"/>
            <a:ext cx="3002660" cy="141732"/>
          </a:xfrm>
          <a:prstGeom prst="rect">
            <a:avLst/>
          </a:prstGeom>
          <a:solidFill>
            <a:srgbClr val="C2C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60261" y="3287268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111 грн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6928" y="3494836"/>
            <a:ext cx="2907791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Samyang · медіана бренду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584448" y="3501694"/>
            <a:ext cx="3029712" cy="141732"/>
          </a:xfrm>
          <a:prstGeom prst="rect">
            <a:avLst/>
          </a:prstGeom>
          <a:solidFill>
            <a:srgbClr val="C2C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87312" y="3490264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112 грн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66928" y="3697833"/>
            <a:ext cx="2907791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Paldo Volcano Carbonara 130 г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584448" y="3704691"/>
            <a:ext cx="3083814" cy="141732"/>
          </a:xfrm>
          <a:prstGeom prst="rect">
            <a:avLst/>
          </a:prstGeom>
          <a:solidFill>
            <a:srgbClr val="C2C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741414" y="3693261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114 грн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6928" y="3900830"/>
            <a:ext cx="2907791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Nongshim Shin Ramyun 120 г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584448" y="3907688"/>
            <a:ext cx="3164966" cy="141732"/>
          </a:xfrm>
          <a:prstGeom prst="rect">
            <a:avLst/>
          </a:prstGeom>
          <a:solidFill>
            <a:srgbClr val="C2C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822567" y="3896258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117 грн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66928" y="4103827"/>
            <a:ext cx="2907791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Nongshim Chapaghetti 140 г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584448" y="4110685"/>
            <a:ext cx="3246120" cy="141732"/>
          </a:xfrm>
          <a:prstGeom prst="rect">
            <a:avLst/>
          </a:prstGeom>
          <a:solidFill>
            <a:srgbClr val="C2C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903720" y="4099255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120 грн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66928" y="4306824"/>
            <a:ext cx="2907791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Choi’s · факт на полиці сьогодні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584448" y="4313682"/>
            <a:ext cx="3381375" cy="141732"/>
          </a:xfrm>
          <a:prstGeom prst="rect">
            <a:avLst/>
          </a:prstGeom>
          <a:solidFill>
            <a:srgbClr val="C2C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038975" y="4302252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125,20 грн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66928" y="4509820"/>
            <a:ext cx="2907791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C4820A"/>
                </a:solidFill>
                <a:latin typeface="Segoe UI"/>
              </a:rPr>
              <a:t>SIAS · Spicy / Beef / Chicken 113 г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584448" y="4516678"/>
            <a:ext cx="3651885" cy="141732"/>
          </a:xfrm>
          <a:prstGeom prst="rect">
            <a:avLst/>
          </a:prstGeom>
          <a:solidFill>
            <a:srgbClr val="F5A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309485" y="4505248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C4820A"/>
                </a:solidFill>
                <a:latin typeface="Segoe UI"/>
              </a:rPr>
              <a:t>135 грн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66928" y="4712817"/>
            <a:ext cx="2907791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Samyang Buldak Carbonara 130 г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584448" y="4719675"/>
            <a:ext cx="3787140" cy="141732"/>
          </a:xfrm>
          <a:prstGeom prst="rect">
            <a:avLst/>
          </a:prstGeom>
          <a:solidFill>
            <a:srgbClr val="C2C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444740" y="4708245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140 грн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66928" y="4915814"/>
            <a:ext cx="2907791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Nongshim Toomba 137 г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584448" y="4922672"/>
            <a:ext cx="4030599" cy="141732"/>
          </a:xfrm>
          <a:prstGeom prst="rect">
            <a:avLst/>
          </a:prstGeom>
          <a:solidFill>
            <a:srgbClr val="C2C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688199" y="4911242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149 грн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66928" y="5118811"/>
            <a:ext cx="2907791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C4820A"/>
                </a:solidFill>
                <a:latin typeface="Segoe UI"/>
              </a:rPr>
              <a:t>SIAS · Carbonara / Gouda 123–131 г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584448" y="5125669"/>
            <a:ext cx="4219956" cy="141732"/>
          </a:xfrm>
          <a:prstGeom prst="rect">
            <a:avLst/>
          </a:prstGeom>
          <a:solidFill>
            <a:srgbClr val="F5A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877556" y="5114239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C4820A"/>
                </a:solidFill>
                <a:latin typeface="Segoe UI"/>
              </a:rPr>
              <a:t>156 грн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66928" y="5321808"/>
            <a:ext cx="2907791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Nongshim Shin Black 130 г · максимум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584448" y="5328666"/>
            <a:ext cx="5545455" cy="141732"/>
          </a:xfrm>
          <a:prstGeom prst="rect">
            <a:avLst/>
          </a:prstGeom>
          <a:solidFill>
            <a:srgbClr val="C2C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203055" y="5317236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205 грн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66928" y="5775350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 spc="-10">
                <a:solidFill>
                  <a:srgbClr val="9FA9C4"/>
                </a:solidFill>
                <a:latin typeface="Segoe UI"/>
              </a:rPr>
              <a:t>Шкала — грн за одну пачку, з ПДВ. Медіани сегментів і брендів — по зрізу 18 мереж, 29.09.2026.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66928" y="5961888"/>
            <a:ext cx="3547872" cy="74980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566928" y="5961888"/>
            <a:ext cx="36576" cy="74980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04672" y="6117336"/>
            <a:ext cx="307238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МИ ВИЩЕ ЗА ВІКНО ПОЛИЦІ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04672" y="6345936"/>
            <a:ext cx="30723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730" b="0" spc="-10">
                <a:solidFill>
                  <a:srgbClr val="717890"/>
                </a:solidFill>
                <a:latin typeface="Segoe UI"/>
              </a:rPr>
              <a:t>Обидві наші позиції — 135 і 156 грн — лежать над смугою 86–124 грн, де стоїть половина ринку рамену в пакеті.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315968" y="5760720"/>
            <a:ext cx="3547872" cy="84124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517136" y="5916168"/>
            <a:ext cx="318211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ДОРОЖЧЕ ЗА РИНОК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517136" y="6126480"/>
            <a:ext cx="3182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 spc="-10">
                <a:solidFill>
                  <a:srgbClr val="B53A3A"/>
                </a:solidFill>
                <a:latin typeface="Segoe UI"/>
              </a:rPr>
              <a:t>+30 / +56 %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517136" y="6601968"/>
            <a:ext cx="31821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 spc="-10">
                <a:solidFill>
                  <a:srgbClr val="717890"/>
                </a:solidFill>
                <a:latin typeface="Segoe UI"/>
              </a:rPr>
              <a:t>до медіан 104 і 100 грн у своїх сегментах.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065008" y="5961888"/>
            <a:ext cx="3566160" cy="74980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065008" y="5961888"/>
            <a:ext cx="36576" cy="749808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302752" y="6117336"/>
            <a:ext cx="309067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СУСІДИ НА ЦЬОМУ РІВНІ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302752" y="6345936"/>
            <a:ext cx="30906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730" b="0" spc="-10">
                <a:solidFill>
                  <a:srgbClr val="717890"/>
                </a:solidFill>
                <a:latin typeface="Segoe UI"/>
              </a:rPr>
              <a:t>На 135–156 грн стоять Buldak Carbonara, Toomba і Shin Black — флагманські SKU впізнаваних брендів, а не новий вхід.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ГОЛОВНЕ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Шість висновків, які визначають рішення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Що дає зіставлення ринкового зрізу з фінмоделлю SIAS. Полиця = собівартість ÷ 0,60 × 1,40: бонус мережі 25 %, наша маржа 15 %, націнка мережі 1,40.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609344"/>
            <a:ext cx="3456432" cy="115214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764792"/>
            <a:ext cx="309067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НАША ПОЛИЦЯ · З БУЛЬЙОНОМ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1975104"/>
            <a:ext cx="3090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 spc="-10">
                <a:solidFill>
                  <a:srgbClr val="B53A3A"/>
                </a:solidFill>
                <a:latin typeface="Segoe UI"/>
              </a:rPr>
              <a:t>135 грн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450592"/>
            <a:ext cx="30906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 spc="-10">
                <a:solidFill>
                  <a:srgbClr val="717890"/>
                </a:solidFill>
                <a:latin typeface="Segoe UI"/>
              </a:rPr>
              <a:t>СС €1,134 = 58,06 грн.</a:t>
            </a:r>
          </a:p>
          <a:p>
            <a:pPr algn="l">
              <a:lnSpc>
                <a:spcPct val="115000"/>
              </a:lnSpc>
            </a:pPr>
            <a:r>
              <a:rPr sz="680" b="0" spc="-10">
                <a:solidFill>
                  <a:srgbClr val="717890"/>
                </a:solidFill>
                <a:latin typeface="Segoe UI"/>
              </a:rPr>
              <a:t>Медіана сегмента — 104 грн.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60" y="1609344"/>
            <a:ext cx="3456432" cy="115214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53128" y="1764792"/>
            <a:ext cx="309067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НАША ПОЛИЦЯ · ІЗ СОУСОМ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53128" y="1975104"/>
            <a:ext cx="3090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 spc="-10">
                <a:solidFill>
                  <a:srgbClr val="B53A3A"/>
                </a:solidFill>
                <a:latin typeface="Segoe UI"/>
              </a:rPr>
              <a:t>156 грн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53128" y="2450592"/>
            <a:ext cx="30906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 spc="-10">
                <a:solidFill>
                  <a:srgbClr val="717890"/>
                </a:solidFill>
                <a:latin typeface="Segoe UI"/>
              </a:rPr>
              <a:t>СС €1,309 = 67,00 грн.</a:t>
            </a:r>
          </a:p>
          <a:p>
            <a:pPr algn="l">
              <a:lnSpc>
                <a:spcPct val="115000"/>
              </a:lnSpc>
            </a:pPr>
            <a:r>
              <a:rPr sz="680" b="0" spc="-10">
                <a:solidFill>
                  <a:srgbClr val="717890"/>
                </a:solidFill>
                <a:latin typeface="Segoe UI"/>
              </a:rPr>
              <a:t>Факт Choi’s на полиці — 125,20 грн.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36992" y="1609344"/>
            <a:ext cx="3456432" cy="115214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0" y="1764792"/>
            <a:ext cx="309067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ДО МЕДІАНИ СЕГМЕНТА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1975104"/>
            <a:ext cx="3090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 spc="-10">
                <a:solidFill>
                  <a:srgbClr val="B53A3A"/>
                </a:solidFill>
                <a:latin typeface="Segoe UI"/>
              </a:rPr>
              <a:t>+30 % / +56 %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2450592"/>
            <a:ext cx="30906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 spc="-10">
                <a:solidFill>
                  <a:srgbClr val="717890"/>
                </a:solidFill>
                <a:latin typeface="Segoe UI"/>
              </a:rPr>
              <a:t>з бульйоном проти 104 грн,</a:t>
            </a:r>
          </a:p>
          <a:p>
            <a:pPr algn="l">
              <a:lnSpc>
                <a:spcPct val="115000"/>
              </a:lnSpc>
            </a:pPr>
            <a:r>
              <a:rPr sz="680" b="0" spc="-10">
                <a:solidFill>
                  <a:srgbClr val="717890"/>
                </a:solidFill>
                <a:latin typeface="Segoe UI"/>
              </a:rPr>
              <a:t>рамен із соусом проти 100 грн.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2999232"/>
            <a:ext cx="3456432" cy="115214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154679"/>
            <a:ext cx="309067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ДОРОЖЧІ ЗА РИНОК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" y="3364991"/>
            <a:ext cx="3090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 spc="-10">
                <a:solidFill>
                  <a:srgbClr val="B53A3A"/>
                </a:solidFill>
                <a:latin typeface="Segoe UI"/>
              </a:rPr>
              <a:t>82 % / 89 %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" y="3840480"/>
            <a:ext cx="30906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 spc="-10">
                <a:solidFill>
                  <a:srgbClr val="717890"/>
                </a:solidFill>
                <a:latin typeface="Segoe UI"/>
              </a:rPr>
              <a:t>позицій зрізу дешевші за нас.</a:t>
            </a:r>
          </a:p>
          <a:p>
            <a:pPr algn="l">
              <a:lnSpc>
                <a:spcPct val="115000"/>
              </a:lnSpc>
            </a:pPr>
            <a:r>
              <a:rPr sz="680" b="0" spc="-10">
                <a:solidFill>
                  <a:srgbClr val="717890"/>
                </a:solidFill>
                <a:latin typeface="Segoe UI"/>
              </a:rPr>
              <a:t>Вище нас — 17 і 11 SKU з 96.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51960" y="2999232"/>
            <a:ext cx="3456432" cy="115214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53128" y="3154679"/>
            <a:ext cx="309067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ЦІНА ЗА ГРАМ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53128" y="3364991"/>
            <a:ext cx="3090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 spc="-10">
                <a:solidFill>
                  <a:srgbClr val="B53A3A"/>
                </a:solidFill>
                <a:latin typeface="Segoe UI"/>
              </a:rPr>
              <a:t>119–127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53128" y="3840480"/>
            <a:ext cx="30906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 spc="-10">
                <a:solidFill>
                  <a:srgbClr val="717890"/>
                </a:solidFill>
                <a:latin typeface="Segoe UI"/>
              </a:rPr>
              <a:t>грн/100 г проти 86 у сегменті 1</a:t>
            </a:r>
          </a:p>
          <a:p>
            <a:pPr algn="l">
              <a:lnSpc>
                <a:spcPct val="115000"/>
              </a:lnSpc>
            </a:pPr>
            <a:r>
              <a:rPr sz="680" b="0" spc="-10">
                <a:solidFill>
                  <a:srgbClr val="717890"/>
                </a:solidFill>
                <a:latin typeface="Segoe UI"/>
              </a:rPr>
              <a:t>і 77 у сегменті 2.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36992" y="2999232"/>
            <a:ext cx="3456432" cy="115214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38160" y="3154679"/>
            <a:ext cx="309067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ЩО ПОТРІБНО ВІД SIAS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3364991"/>
            <a:ext cx="3090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 spc="-10">
                <a:solidFill>
                  <a:srgbClr val="C4820A"/>
                </a:solidFill>
                <a:latin typeface="Segoe UI"/>
              </a:rPr>
              <a:t>−20…−36 %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3840480"/>
            <a:ext cx="30906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 spc="-10">
                <a:solidFill>
                  <a:srgbClr val="717890"/>
                </a:solidFill>
                <a:latin typeface="Segoe UI"/>
              </a:rPr>
              <a:t>до собівартості, щоб вийти</a:t>
            </a:r>
          </a:p>
          <a:p>
            <a:pPr algn="l">
              <a:lnSpc>
                <a:spcPct val="115000"/>
              </a:lnSpc>
            </a:pPr>
            <a:r>
              <a:rPr sz="680" b="0" spc="-10">
                <a:solidFill>
                  <a:srgbClr val="717890"/>
                </a:solidFill>
                <a:latin typeface="Segoe UI"/>
              </a:rPr>
              <a:t>на ринкові ціни зі збереженням 15 %.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4517136"/>
            <a:ext cx="5413248" cy="173736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6928" y="4517136"/>
            <a:ext cx="36576" cy="173736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672" y="4672584"/>
            <a:ext cx="49377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spc="-10">
                <a:solidFill>
                  <a:srgbClr val="303A5D"/>
                </a:solidFill>
                <a:latin typeface="Segoe UI"/>
              </a:rPr>
              <a:t>ЩО РОБИТИ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2" y="4901184"/>
            <a:ext cx="4937760" cy="12070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1. За поточної собівартості контракт не підписувати: 135 і 156 грн ринок не приймає, а на ринковій ціні маржа від'ємна.</a:t>
            </a:r>
          </a:p>
          <a:p>
            <a:pPr algn="l">
              <a:lnSpc>
                <a:spcPct val="13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2. Вимагати зниження СС: −23 % на четвірці з бульйоном під медіану 104 грн, −20 % на парі із соусом під власний факт 125,20 грн.</a:t>
            </a:r>
          </a:p>
          <a:p>
            <a:pPr algn="l">
              <a:lnSpc>
                <a:spcPct val="13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3. Паралельно запросити котирування корейського заводу: митна вартість корейського імпорту 2025 — $4,88/кг, наша повна собівартість — €10,0–10,6/кг.</a:t>
            </a:r>
          </a:p>
          <a:p>
            <a:pPr algn="l">
              <a:lnSpc>
                <a:spcPct val="13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4. Якщо зниження неможливе — переходити до обговорення обсягу: саме він дає −22 % до собівартості.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0" y="4517136"/>
            <a:ext cx="5413248" cy="173736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17920" y="4517136"/>
            <a:ext cx="36576" cy="173736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55664" y="4672584"/>
            <a:ext cx="49377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spc="-10">
                <a:solidFill>
                  <a:srgbClr val="303A5D"/>
                </a:solidFill>
                <a:latin typeface="Segoe UI"/>
              </a:rPr>
              <a:t>НА ЧОМУ ТРИМАЄТЬСЯ ВИСНОВОК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55664" y="4901184"/>
            <a:ext cx="4937760" cy="12070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1. Полиця рахується як СС ÷ 0,60 × 1,40 за фінмоделлю SIAS, курс 51,20 грн/€, собівартість — із Self-Cost_Sias.xlsx.</a:t>
            </a:r>
          </a:p>
          <a:p>
            <a:pPr algn="l">
              <a:lnSpc>
                <a:spcPct val="13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2. Ринкові ціни — роздріб за одну пачку в каталогах 18 мереж, зріз 29.09.2026, 96 позицій.</a:t>
            </a:r>
          </a:p>
          <a:p>
            <a:pPr algn="l">
              <a:lnSpc>
                <a:spcPct val="13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3. Маржа 15 % рахується від ціни партнеру, а не як націнка на собівартість: це 25 % націнки на СС.</a:t>
            </a:r>
          </a:p>
          <a:p>
            <a:pPr algn="l">
              <a:lnSpc>
                <a:spcPct val="13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4. Це валова маржа: внутрішня логістика, лістинги, промо і курсовий ризик у ній не враховані — реальна буде нижчою.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ЗВІДКИ 135 І 156 ГРН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Розрахунок від собівартості постачальника до полиці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Усі числа — з двох ваших файлів: Self-Cost_Sias.xlsx (собівартість і курс) і RAMEN_FINMODEL_ALL_MARGINS.xlsx (формула ціни). Формула не змінювалася.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36576" cy="17373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581912"/>
            <a:ext cx="640080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spc="-10">
                <a:solidFill>
                  <a:srgbClr val="303A5D"/>
                </a:solidFill>
                <a:latin typeface="Segoe UI"/>
              </a:rPr>
              <a:t>КРОК ЗА КРОКОМ ПО ВАШІЙ ФОРМУЛІ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581912"/>
            <a:ext cx="402336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50" b="1" spc="-10">
                <a:solidFill>
                  <a:srgbClr val="C4820A"/>
                </a:solidFill>
                <a:latin typeface="Segoe UI"/>
              </a:rPr>
              <a:t>цільова маржа 15 % · бонус мережі 25 % · націнка мережі 1,40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810512"/>
            <a:ext cx="42062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КРОК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1810512"/>
            <a:ext cx="321868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ЩО РАХУЄМО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1810512"/>
            <a:ext cx="30175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ДІЯ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1810512"/>
            <a:ext cx="234086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SPICY · BEEF · CHICKEN · VEGETABLE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19488" y="1810512"/>
            <a:ext cx="188366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CARBONARA · GOUDA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1993392"/>
            <a:ext cx="42062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" y="1993392"/>
            <a:ext cx="321868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Собівартість в Україні, EUR/уп.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1993392"/>
            <a:ext cx="3017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із Self-Cost_Sias.xlsx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1993392"/>
            <a:ext cx="234086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1,1340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19488" y="1993392"/>
            <a:ext cx="188366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1,3085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3776" y="2165299"/>
            <a:ext cx="10936224" cy="199339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2201875"/>
            <a:ext cx="42062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" y="2201875"/>
            <a:ext cx="321868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Курс, грн/EUR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0" y="2201875"/>
            <a:ext cx="3017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із Self-Cost_Sias.xlsx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2201875"/>
            <a:ext cx="234086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51,20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19488" y="2201875"/>
            <a:ext cx="188366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51,20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2410358"/>
            <a:ext cx="42062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" y="2410358"/>
            <a:ext cx="321868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Собівартість в Україні, грн/уп.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06240" y="2410358"/>
            <a:ext cx="3017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крок 1 × крок 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0" y="2410358"/>
            <a:ext cx="234086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58,06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19488" y="2410358"/>
            <a:ext cx="188366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67,00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3776" y="2582265"/>
            <a:ext cx="10936224" cy="199339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8" y="2618841"/>
            <a:ext cx="42062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552" y="2618841"/>
            <a:ext cx="321868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Повна ціна партнеру, 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06240" y="2618841"/>
            <a:ext cx="3017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база для всіх відсотків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23760" y="2618841"/>
            <a:ext cx="234086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100 %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19488" y="2618841"/>
            <a:ext cx="188366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100 %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2827324"/>
            <a:ext cx="42062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7552" y="2827324"/>
            <a:ext cx="321868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Бонус мережі, 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06240" y="2827324"/>
            <a:ext cx="3017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умова моделі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23760" y="2827324"/>
            <a:ext cx="234086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25 %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19488" y="2827324"/>
            <a:ext cx="188366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25 %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93776" y="2999232"/>
            <a:ext cx="10936224" cy="199339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66928" y="3035808"/>
            <a:ext cx="42062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7552" y="3035808"/>
            <a:ext cx="321868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Наша цільова маржа, 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06240" y="3035808"/>
            <a:ext cx="3017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умова моделі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23760" y="3035808"/>
            <a:ext cx="234086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15 %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19488" y="3035808"/>
            <a:ext cx="188366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15 %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6928" y="3244291"/>
            <a:ext cx="42062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87552" y="3244291"/>
            <a:ext cx="321868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Частка ціни для собівартості, 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206240" y="3244291"/>
            <a:ext cx="3017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крок 4 − крок 5 − крок 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23760" y="3244291"/>
            <a:ext cx="234086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60 %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19488" y="3244291"/>
            <a:ext cx="188366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60 %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93776" y="3416198"/>
            <a:ext cx="10936224" cy="199339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66928" y="3452774"/>
            <a:ext cx="42062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87552" y="3452774"/>
            <a:ext cx="321868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Ціна партнеру з ПДВ, грн/уп.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06240" y="3452774"/>
            <a:ext cx="3017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крок 3 ÷ крок 7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223760" y="3452774"/>
            <a:ext cx="234086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96,77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619488" y="3452774"/>
            <a:ext cx="188366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111,66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66928" y="3661257"/>
            <a:ext cx="42062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9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87552" y="3661257"/>
            <a:ext cx="321868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Бонус мережі, грн/уп.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206240" y="3661257"/>
            <a:ext cx="3017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крок 8 × крок 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223760" y="3661257"/>
            <a:ext cx="234086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24,19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619488" y="3661257"/>
            <a:ext cx="188366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27,92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93776" y="3833164"/>
            <a:ext cx="10936224" cy="199339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66928" y="3869740"/>
            <a:ext cx="42062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87552" y="3869740"/>
            <a:ext cx="321868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Прибуток після бонусу, грн/уп.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206240" y="3869740"/>
            <a:ext cx="3017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крок 8 − крок 3 − крок 9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3869740"/>
            <a:ext cx="234086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14,52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619488" y="3869740"/>
            <a:ext cx="188366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16,75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66928" y="4078224"/>
            <a:ext cx="42062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87552" y="4078224"/>
            <a:ext cx="321868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Перевірка маржі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206240" y="4078224"/>
            <a:ext cx="3017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крок 10 ÷ крок 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223760" y="4078224"/>
            <a:ext cx="234086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15,0 %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619488" y="4078224"/>
            <a:ext cx="188366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15,0 %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93776" y="4250131"/>
            <a:ext cx="10936224" cy="199339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66928" y="4286707"/>
            <a:ext cx="42062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87552" y="4286707"/>
            <a:ext cx="321868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Націнка мережі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206240" y="4286707"/>
            <a:ext cx="3017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умова моделі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223760" y="4286707"/>
            <a:ext cx="234086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× 1,40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619488" y="4286707"/>
            <a:ext cx="188366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× 1,40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66928" y="4495190"/>
            <a:ext cx="42062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87552" y="4495190"/>
            <a:ext cx="321868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Полиця з ПДВ, грн/уп.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206240" y="4495190"/>
            <a:ext cx="3017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крок 8 × крок 12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223760" y="4495190"/>
            <a:ext cx="234086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135,48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619488" y="4495190"/>
            <a:ext cx="188366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156,32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66928" y="47731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 spc="-10">
                <a:solidFill>
                  <a:srgbClr val="9FA9C4"/>
                </a:solidFill>
                <a:latin typeface="Segoe UI"/>
              </a:rPr>
              <a:t>Ціна партнеру вже з ПДВ — так закладено у вашій моделі, окремого множення на 1,20 немає.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66928" y="4992624"/>
            <a:ext cx="36576" cy="17373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13232" y="5001768"/>
            <a:ext cx="640080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spc="-10">
                <a:solidFill>
                  <a:srgbClr val="303A5D"/>
                </a:solidFill>
                <a:latin typeface="Segoe UI"/>
              </a:rPr>
              <a:t>ЩО ДАЄ ЗНИЖЕННЯ СОБІВАРТОСТІ ЗА РАХУНОК ОБСЯГУ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315200" y="5001768"/>
            <a:ext cx="402336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50" b="1" spc="-10">
                <a:solidFill>
                  <a:srgbClr val="C4820A"/>
                </a:solidFill>
                <a:latin typeface="Segoe UI"/>
              </a:rPr>
              <a:t>три рядки собівартості з того самого Self-Cost_Sias.xlsx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66928" y="5230368"/>
            <a:ext cx="30175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ОБСЯГ ПОСТАВКИ В РОЗРАХУНКУ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584448" y="5230368"/>
            <a:ext cx="173736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СС З БУЛЬЙОНОМ, грн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321808" y="5230368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ПОЛИЦЯ, грн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510528" y="5230368"/>
            <a:ext cx="16459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СС ІЗ СОУСОМ, грн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156448" y="5230368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ПОЛИЦЯ, грн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528048" y="5230368"/>
            <a:ext cx="197510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СТАТУС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66928" y="5413248"/>
            <a:ext cx="3017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Мінімальний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584448" y="5413248"/>
            <a:ext cx="17373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58,06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321808" y="5413248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135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510528" y="5413248"/>
            <a:ext cx="16459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67,00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156448" y="5413248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156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528048" y="5413248"/>
            <a:ext cx="197510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взято в цьому звіті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93776" y="5591556"/>
            <a:ext cx="10936224" cy="205739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566928" y="5628132"/>
            <a:ext cx="3017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Середній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584448" y="5628132"/>
            <a:ext cx="17373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49,29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321808" y="5628132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115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510528" y="5628132"/>
            <a:ext cx="16459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56,88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156448" y="5628132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133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9528048" y="5628132"/>
            <a:ext cx="197510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вимагає більшої закупівлі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66928" y="5843016"/>
            <a:ext cx="3017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Максимальний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584448" y="5843016"/>
            <a:ext cx="17373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45,18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321808" y="5843016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105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510528" y="5843016"/>
            <a:ext cx="16459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52,13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156448" y="5843016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122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9528048" y="5843016"/>
            <a:ext cx="197510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вимагає максимальної закупівлі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566928" y="6016752"/>
            <a:ext cx="11064240" cy="7315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566928" y="6016752"/>
            <a:ext cx="36576" cy="73152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804672" y="6172200"/>
            <a:ext cx="1058875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ЄДИНИЙ ВАЖІЛЬ, ЯКИЙ У НАС Є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04672" y="6400800"/>
            <a:ext cx="105887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730" b="0" spc="-10">
                <a:solidFill>
                  <a:srgbClr val="717890"/>
                </a:solidFill>
                <a:latin typeface="Segoe UI"/>
              </a:rPr>
              <a:t>Формула і маржа зафіксовані: 15 % від ціни партнеру, бонус мережі 25 %, націнка мережі 1,40. Полиця залежить тільки від собівартості. Перехід на максимальний обсяг знижує СС на 22 % і опускає полицю зі 135 і 156 до 105 і 122 грн — це єдиний спосіб вийти на ринкові ціни без втрати маржі.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ФІНМОДЕЛЬ ПРОТИ РИНКУ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Скільки коштує кожен наш SKU на полиці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Полиця = собівартість ÷ 0,60 × 1,40 за умовами фінмоделі SIAS, курс 51,20 грн/€. Вертикальні лінії — ринкові цілі.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55848" y="2267712"/>
            <a:ext cx="5486" cy="228600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90088" y="4590288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30648" y="2267712"/>
            <a:ext cx="5486" cy="228600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4888" y="4590288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40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05448" y="2267712"/>
            <a:ext cx="5486" cy="228600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39688" y="4590288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80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80247" y="2267712"/>
            <a:ext cx="5486" cy="228600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14487" y="4590288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55048" y="2267712"/>
            <a:ext cx="5486" cy="228600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89288" y="4590288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160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88276" y="2103120"/>
            <a:ext cx="9144" cy="2432304"/>
          </a:xfrm>
          <a:prstGeom prst="rect">
            <a:avLst/>
          </a:prstGeom>
          <a:solidFill>
            <a:srgbClr val="9F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4168" y="2029968"/>
            <a:ext cx="17373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717890"/>
                </a:solidFill>
                <a:latin typeface="Segoe UI"/>
              </a:rPr>
              <a:t>медіана рамену із соусом 100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45756" y="2103120"/>
            <a:ext cx="9144" cy="2432304"/>
          </a:xfrm>
          <a:prstGeom prst="rect">
            <a:avLst/>
          </a:prstGeom>
          <a:solidFill>
            <a:srgbClr val="9F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1648" y="1865376"/>
            <a:ext cx="17373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717890"/>
                </a:solidFill>
                <a:latin typeface="Segoe UI"/>
              </a:rPr>
              <a:t>медіана рамену з бульйоном 104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39455" y="2103120"/>
            <a:ext cx="9144" cy="2432304"/>
          </a:xfrm>
          <a:prstGeom prst="rect">
            <a:avLst/>
          </a:prstGeom>
          <a:solidFill>
            <a:srgbClr val="9F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75348" y="1700784"/>
            <a:ext cx="17373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717890"/>
                </a:solidFill>
                <a:latin typeface="Segoe UI"/>
              </a:rPr>
              <a:t>Paldo Carbonara 114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72525" y="2103120"/>
            <a:ext cx="9144" cy="2432304"/>
          </a:xfrm>
          <a:prstGeom prst="rect">
            <a:avLst/>
          </a:prstGeom>
          <a:solidFill>
            <a:srgbClr val="9F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08418" y="1536192"/>
            <a:ext cx="17373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717890"/>
                </a:solidFill>
                <a:latin typeface="Segoe UI"/>
              </a:rPr>
              <a:t>факт Choi’s 125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2409444"/>
            <a:ext cx="2679191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C4820A"/>
                </a:solidFill>
                <a:latin typeface="Segoe UI"/>
              </a:rPr>
              <a:t>Spicy Flavor 112,5 г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55848" y="2382012"/>
            <a:ext cx="5314950" cy="210312"/>
          </a:xfrm>
          <a:prstGeom prst="rect">
            <a:avLst/>
          </a:prstGeom>
          <a:solidFill>
            <a:srgbClr val="F5A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43950" y="2404872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C4820A"/>
                </a:solidFill>
                <a:latin typeface="Segoe UI"/>
              </a:rPr>
              <a:t>135 грн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2775204"/>
            <a:ext cx="2679191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C4820A"/>
                </a:solidFill>
                <a:latin typeface="Segoe UI"/>
              </a:rPr>
              <a:t>Beef Flavor 113 г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55848" y="2747772"/>
            <a:ext cx="5314950" cy="210312"/>
          </a:xfrm>
          <a:prstGeom prst="rect">
            <a:avLst/>
          </a:prstGeom>
          <a:solidFill>
            <a:srgbClr val="F5A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43950" y="2770632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C4820A"/>
                </a:solidFill>
                <a:latin typeface="Segoe UI"/>
              </a:rPr>
              <a:t>135 грн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3140964"/>
            <a:ext cx="2679191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C4820A"/>
                </a:solidFill>
                <a:latin typeface="Segoe UI"/>
              </a:rPr>
              <a:t>Chicken Flavor 113 г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355848" y="3113532"/>
            <a:ext cx="5314950" cy="210312"/>
          </a:xfrm>
          <a:prstGeom prst="rect">
            <a:avLst/>
          </a:prstGeom>
          <a:solidFill>
            <a:srgbClr val="F5A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43950" y="3136392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C4820A"/>
                </a:solidFill>
                <a:latin typeface="Segoe UI"/>
              </a:rPr>
              <a:t>135 грн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3506724"/>
            <a:ext cx="2679191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Vegetable Flavor 113 г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55848" y="3479291"/>
            <a:ext cx="5314950" cy="210312"/>
          </a:xfrm>
          <a:prstGeom prst="rect">
            <a:avLst/>
          </a:prstGeom>
          <a:solidFill>
            <a:srgbClr val="C2C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43950" y="3502152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135 грн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3872484"/>
            <a:ext cx="2679191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C4820A"/>
                </a:solidFill>
                <a:latin typeface="Segoe UI"/>
              </a:rPr>
              <a:t>Carbonara Spicy 131 г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355848" y="3845052"/>
            <a:ext cx="6141720" cy="210312"/>
          </a:xfrm>
          <a:prstGeom prst="rect">
            <a:avLst/>
          </a:prstGeom>
          <a:solidFill>
            <a:srgbClr val="F5A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570720" y="3867912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C4820A"/>
                </a:solidFill>
                <a:latin typeface="Segoe UI"/>
              </a:rPr>
              <a:t>156 грн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4238244"/>
            <a:ext cx="2679191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C4820A"/>
                </a:solidFill>
                <a:latin typeface="Segoe UI"/>
              </a:rPr>
              <a:t>Gouda Cheese 123 г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355848" y="4210812"/>
            <a:ext cx="6141720" cy="210312"/>
          </a:xfrm>
          <a:prstGeom prst="rect">
            <a:avLst/>
          </a:prstGeom>
          <a:solidFill>
            <a:srgbClr val="F5A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570720" y="4233672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C4820A"/>
                </a:solidFill>
                <a:latin typeface="Segoe UI"/>
              </a:rPr>
              <a:t>156 грн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47731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 spc="-10">
                <a:solidFill>
                  <a:srgbClr val="9FA9C4"/>
                </a:solidFill>
                <a:latin typeface="Segoe UI"/>
              </a:rPr>
              <a:t>Сіра смуга — Vegetable Flavor: позиція порахована, але до заведення не рекомендована.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66928" y="4992624"/>
            <a:ext cx="36576" cy="17373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13232" y="5001768"/>
            <a:ext cx="640080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spc="-10">
                <a:solidFill>
                  <a:srgbClr val="303A5D"/>
                </a:solidFill>
                <a:latin typeface="Segoe UI"/>
              </a:rPr>
              <a:t>ЯКА СОБІВАРТІСТЬ ПОТРІБНА ПІД ЦІЛЬОВУ ПОЛИЦЮ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0" y="5001768"/>
            <a:ext cx="402336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50" b="1" spc="-10">
                <a:solidFill>
                  <a:srgbClr val="C4820A"/>
                </a:solidFill>
                <a:latin typeface="Segoe UI"/>
              </a:rPr>
              <a:t>при маржі 15 % і бонусі мережі 25 %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66928" y="5285231"/>
            <a:ext cx="2048256" cy="84124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1520" y="5394959"/>
            <a:ext cx="1719072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95 грн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1520" y="5687568"/>
            <a:ext cx="171907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 spc="-10">
                <a:solidFill>
                  <a:srgbClr val="717890"/>
                </a:solidFill>
                <a:latin typeface="Segoe UI"/>
              </a:rPr>
              <a:t>медіана вагового вікна</a:t>
            </a:r>
          </a:p>
          <a:p>
            <a:pPr algn="l">
              <a:lnSpc>
                <a:spcPct val="115000"/>
              </a:lnSpc>
            </a:pPr>
            <a:r>
              <a:rPr sz="680" b="0" spc="-10">
                <a:solidFill>
                  <a:srgbClr val="717890"/>
                </a:solidFill>
                <a:latin typeface="Segoe UI"/>
              </a:rPr>
              <a:t>потрібна СС €0,795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615184" y="5541264"/>
            <a:ext cx="1828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→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98064" y="5285231"/>
            <a:ext cx="2048256" cy="84124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962656" y="5394959"/>
            <a:ext cx="1719072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100 грн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962656" y="5687568"/>
            <a:ext cx="171907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 spc="-10">
                <a:solidFill>
                  <a:srgbClr val="717890"/>
                </a:solidFill>
                <a:latin typeface="Segoe UI"/>
              </a:rPr>
              <a:t>медіана рамену із соусом</a:t>
            </a:r>
          </a:p>
          <a:p>
            <a:pPr algn="l">
              <a:lnSpc>
                <a:spcPct val="115000"/>
              </a:lnSpc>
            </a:pPr>
            <a:r>
              <a:rPr sz="680" b="0" spc="-10">
                <a:solidFill>
                  <a:srgbClr val="717890"/>
                </a:solidFill>
                <a:latin typeface="Segoe UI"/>
              </a:rPr>
              <a:t>потрібна СС €0,837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846320" y="5541264"/>
            <a:ext cx="1828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→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029200" y="5285231"/>
            <a:ext cx="2048256" cy="84124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193792" y="5394959"/>
            <a:ext cx="1719072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104 грн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193792" y="5687568"/>
            <a:ext cx="171907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 spc="-10">
                <a:solidFill>
                  <a:srgbClr val="717890"/>
                </a:solidFill>
                <a:latin typeface="Segoe UI"/>
              </a:rPr>
              <a:t>медіана рамену з бульйоном</a:t>
            </a:r>
          </a:p>
          <a:p>
            <a:pPr algn="l">
              <a:lnSpc>
                <a:spcPct val="115000"/>
              </a:lnSpc>
            </a:pPr>
            <a:r>
              <a:rPr sz="680" b="0" spc="-10">
                <a:solidFill>
                  <a:srgbClr val="717890"/>
                </a:solidFill>
                <a:latin typeface="Segoe UI"/>
              </a:rPr>
              <a:t>потрібна СС €0,871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077456" y="5541264"/>
            <a:ext cx="1828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→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260336" y="5285231"/>
            <a:ext cx="2048256" cy="84124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424928" y="5394959"/>
            <a:ext cx="1719072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114 грн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424928" y="5687568"/>
            <a:ext cx="171907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 spc="-10">
                <a:solidFill>
                  <a:srgbClr val="717890"/>
                </a:solidFill>
                <a:latin typeface="Segoe UI"/>
              </a:rPr>
              <a:t>паритет з Paldo</a:t>
            </a:r>
          </a:p>
          <a:p>
            <a:pPr algn="l">
              <a:lnSpc>
                <a:spcPct val="115000"/>
              </a:lnSpc>
            </a:pPr>
            <a:r>
              <a:rPr sz="680" b="0" spc="-10">
                <a:solidFill>
                  <a:srgbClr val="717890"/>
                </a:solidFill>
                <a:latin typeface="Segoe UI"/>
              </a:rPr>
              <a:t>потрібна СС €0,954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308592" y="5541264"/>
            <a:ext cx="1828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→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491472" y="5285231"/>
            <a:ext cx="2048256" cy="84124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56064" y="5394959"/>
            <a:ext cx="1719072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125 грн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656064" y="5687568"/>
            <a:ext cx="171907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 spc="-10">
                <a:solidFill>
                  <a:srgbClr val="717890"/>
                </a:solidFill>
                <a:latin typeface="Segoe UI"/>
              </a:rPr>
              <a:t>факт Choi’s</a:t>
            </a:r>
          </a:p>
          <a:p>
            <a:pPr algn="l">
              <a:lnSpc>
                <a:spcPct val="115000"/>
              </a:lnSpc>
            </a:pPr>
            <a:r>
              <a:rPr sz="680" b="0" spc="-10">
                <a:solidFill>
                  <a:srgbClr val="717890"/>
                </a:solidFill>
                <a:latin typeface="Segoe UI"/>
              </a:rPr>
              <a:t>потрібна СС €1,048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66928" y="6144768"/>
            <a:ext cx="11064240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66928" y="6144768"/>
            <a:ext cx="36576" cy="67665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04672" y="6300216"/>
            <a:ext cx="1058875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ДВА ВИСНОВКИ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" y="6528816"/>
            <a:ext cx="1058875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730" b="0" spc="-10">
                <a:solidFill>
                  <a:srgbClr val="717890"/>
                </a:solidFill>
                <a:latin typeface="Segoe UI"/>
              </a:rPr>
              <a:t>1. Жодна з шести позицій не дотягує до свого ринкового орієнтира: всі шість стоять правіше за всі чотири лінії.  2. Розрив не косметичний: під медіану сегмента потрібна СС €0,871 і €0,837, а SIAS дає €1,134 і €1,309 — тобто −23 % і −36 %.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РЕКОМЕНДАЦІЯ · SKU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Яка позиція найближча до ринку, а яка найдалі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Три групи, оцінені за розривом між полицею з фінмоделі й фактичним ринковим орієнтиром того самого вагового вікна.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91056"/>
            <a:ext cx="3547872" cy="395020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591056"/>
            <a:ext cx="36576" cy="3950208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737360"/>
            <a:ext cx="307238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spc="-10">
                <a:solidFill>
                  <a:srgbClr val="F9A50B"/>
                </a:solidFill>
                <a:latin typeface="Segoe UI"/>
              </a:rPr>
              <a:t>НАЙМЕНШИЙ РОЗРИВ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1938528"/>
            <a:ext cx="307238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Spicy · Beef · Chicken</a:t>
            </a:r>
          </a:p>
          <a:p>
            <a:pPr algn="l">
              <a:lnSpc>
                <a:spcPct val="110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112,5–113 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2468880"/>
            <a:ext cx="30723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spc="-10">
                <a:solidFill>
                  <a:srgbClr val="F9A50B"/>
                </a:solidFill>
                <a:latin typeface="Segoe UI"/>
              </a:rPr>
              <a:t>135 грн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2798064"/>
            <a:ext cx="307238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0" spc="-10">
                <a:solidFill>
                  <a:srgbClr val="717890"/>
                </a:solidFill>
                <a:latin typeface="Segoe UI"/>
              </a:rPr>
              <a:t>полиця за фінмоделлю · 120 грн/100 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2999232"/>
            <a:ext cx="307238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ПРЯМИЙ КОНКУРЕНТ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3154679"/>
            <a:ext cx="307238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30" b="0" spc="-10">
                <a:solidFill>
                  <a:srgbClr val="303A5D"/>
                </a:solidFill>
                <a:latin typeface="Segoe UI"/>
              </a:rPr>
              <a:t>Ottogi Jin 120 г — 84–93 грн · Nongshim Shin 120 г — 110–117 грн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3557015"/>
            <a:ext cx="307238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НАША ПОЗИЦІЯ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3712463"/>
            <a:ext cx="307238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30" b="0" spc="-10">
                <a:solidFill>
                  <a:srgbClr val="303A5D"/>
                </a:solidFill>
                <a:latin typeface="Segoe UI"/>
              </a:rPr>
              <a:t>+30 % до медіани сегмента 104 грн, +16 % до Nongshim Shin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4114800"/>
            <a:ext cx="307238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УМОВА ВХОДУ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4270248"/>
            <a:ext cx="307238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30" b="0" spc="-10">
                <a:solidFill>
                  <a:srgbClr val="303A5D"/>
                </a:solidFill>
                <a:latin typeface="Segoe UI"/>
              </a:rPr>
              <a:t>СС €0,871 замість €1,134 — мінус 23 %, щоб стати на медіану сегмента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" y="4672584"/>
            <a:ext cx="307238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РИЗИК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4828032"/>
            <a:ext cx="307238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30" b="0" spc="-10">
                <a:solidFill>
                  <a:srgbClr val="303A5D"/>
                </a:solidFill>
                <a:latin typeface="Segoe UI"/>
              </a:rPr>
              <a:t>113 г проти стандартних 120 г: дорожче на 30 % і на 6 % менше продукту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15968" y="1591056"/>
            <a:ext cx="3547872" cy="395020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15968" y="1591056"/>
            <a:ext cx="36576" cy="395020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53712" y="1737360"/>
            <a:ext cx="307238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spc="-10">
                <a:solidFill>
                  <a:srgbClr val="B53A3A"/>
                </a:solidFill>
                <a:latin typeface="Segoe UI"/>
              </a:rPr>
              <a:t>НАЙБІЛЬШИЙ РОЗРИВ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53712" y="1938528"/>
            <a:ext cx="307238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Carbonara Spicy 131 г</a:t>
            </a:r>
          </a:p>
          <a:p>
            <a:pPr algn="l">
              <a:lnSpc>
                <a:spcPct val="110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Gouda Cheese 123 г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53712" y="2468880"/>
            <a:ext cx="30723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spc="-10">
                <a:solidFill>
                  <a:srgbClr val="B53A3A"/>
                </a:solidFill>
                <a:latin typeface="Segoe UI"/>
              </a:rPr>
              <a:t>156 грн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53712" y="2798064"/>
            <a:ext cx="307238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0" spc="-10">
                <a:solidFill>
                  <a:srgbClr val="717890"/>
                </a:solidFill>
                <a:latin typeface="Segoe UI"/>
              </a:rPr>
              <a:t>полиця за фінмоделлю · 119–127 грн/100 г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53712" y="2999232"/>
            <a:ext cx="307238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ПРЯМИЙ КОНКУРЕНТ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53712" y="3154679"/>
            <a:ext cx="307238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30" b="0" spc="-10">
                <a:solidFill>
                  <a:srgbClr val="303A5D"/>
                </a:solidFill>
                <a:latin typeface="Segoe UI"/>
              </a:rPr>
              <a:t>Paldo Volcano Carbonara 130 г — 114 грн · Nongshim Chapaghetti 140 г — 120 грн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53712" y="3557015"/>
            <a:ext cx="307238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НАША ПОЗИЦІЯ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53712" y="3712463"/>
            <a:ext cx="307238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30" b="0" spc="-10">
                <a:solidFill>
                  <a:srgbClr val="303A5D"/>
                </a:solidFill>
                <a:latin typeface="Segoe UI"/>
              </a:rPr>
              <a:t>+56 % до медіани сегмента 100 грн і +25 % до власного факту 125,20 грн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53712" y="4114800"/>
            <a:ext cx="307238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ЩО ЦЕ ОЗНАЧАЄ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53712" y="4270248"/>
            <a:ext cx="307238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30" b="0" spc="-10">
                <a:solidFill>
                  <a:srgbClr val="303A5D"/>
                </a:solidFill>
                <a:latin typeface="Segoe UI"/>
              </a:rPr>
              <a:t>ми пропонуємо той самий товар дорожче, ніж він уже стоїть на полиці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53712" y="4672584"/>
            <a:ext cx="307238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УМОВА ВХОДУ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53712" y="4828032"/>
            <a:ext cx="307238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30" b="0" spc="-10">
                <a:solidFill>
                  <a:srgbClr val="303A5D"/>
                </a:solidFill>
                <a:latin typeface="Segoe UI"/>
              </a:rPr>
              <a:t>СС €1,048 замість €1,309 — мінус 20 % лише щоб зрівнятися з власним фактом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65008" y="1591056"/>
            <a:ext cx="3547872" cy="395020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065008" y="1591056"/>
            <a:ext cx="36576" cy="395020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02752" y="1737360"/>
            <a:ext cx="307238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spc="-10">
                <a:solidFill>
                  <a:srgbClr val="B53A3A"/>
                </a:solidFill>
                <a:latin typeface="Segoe UI"/>
              </a:rPr>
              <a:t>НЕ ЗАВОДИТИ ЗАРАЗ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02752" y="1938528"/>
            <a:ext cx="307238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Vegetable Flavor 113 г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02752" y="2468880"/>
            <a:ext cx="30723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spc="-10">
                <a:solidFill>
                  <a:srgbClr val="B53A3A"/>
                </a:solidFill>
                <a:latin typeface="Segoe UI"/>
              </a:rPr>
              <a:t>135 грн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02752" y="2798064"/>
            <a:ext cx="307238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0" spc="-10">
                <a:solidFill>
                  <a:srgbClr val="717890"/>
                </a:solidFill>
                <a:latin typeface="Segoe UI"/>
              </a:rPr>
              <a:t>полиця за фінмоделлю · 120 грн/100 г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02752" y="2999232"/>
            <a:ext cx="307238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ПРЯМИЙ КОНКУРЕНТ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02752" y="3154679"/>
            <a:ext cx="307238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30" b="0" spc="-10">
                <a:solidFill>
                  <a:srgbClr val="303A5D"/>
                </a:solidFill>
                <a:latin typeface="Segoe UI"/>
              </a:rPr>
              <a:t>Nongshim Soon Veggie 112 г — 88 грн, єдина овочева позиція ринку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02752" y="3557015"/>
            <a:ext cx="307238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ПРОБЛЕМА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02752" y="3712463"/>
            <a:ext cx="307238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30" b="0" spc="-10">
                <a:solidFill>
                  <a:srgbClr val="303A5D"/>
                </a:solidFill>
                <a:latin typeface="Segoe UI"/>
              </a:rPr>
              <a:t>овочевий смак — найвужчий попит: 1 позиція з 96 у всьому зрізі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02752" y="4114800"/>
            <a:ext cx="307238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ЩО ЦЕ ОЗНАЧАЄ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02752" y="4270248"/>
            <a:ext cx="307238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30" b="0" spc="-10">
                <a:solidFill>
                  <a:srgbClr val="303A5D"/>
                </a:solidFill>
                <a:latin typeface="Segoe UI"/>
              </a:rPr>
              <a:t>не ціна, а оборотність: SKU займе фейс і не дасть ротації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02752" y="4672584"/>
            <a:ext cx="307238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ЦІНОВИЙ РОЗРИВ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02752" y="4828032"/>
            <a:ext cx="307238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30" b="0" spc="-10">
                <a:solidFill>
                  <a:srgbClr val="303A5D"/>
                </a:solidFill>
                <a:latin typeface="Segoe UI"/>
              </a:rPr>
              <a:t>135 проти 88 грн — у 1,5 раза дорожче за єдиного конкурента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66928" y="5687568"/>
            <a:ext cx="11064240" cy="80467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66928" y="5687568"/>
            <a:ext cx="36576" cy="8046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04672" y="5843016"/>
            <a:ext cx="1058875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ЧОМУ САМЕ ТАКИЙ ПОРЯДОК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4672" y="6071616"/>
            <a:ext cx="10588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Жодна позиція за поточної собівартості не проходить. Четвірка з бульйоном найближча: їй бракує 23 % собівартості. Парі із соусом бракує 20 % навіть щоб зрівнятися з ціною, за якою цей самий Choi’s уже продається в «Космосі» й «Таврії В». Овочевий SKU не проходить ні за ціною, ні за оборотністю.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РЕКОМЕНДАЦІЯ · ЦІНА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Цільова полиця і що для неї потрібно від постачальника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Три цінові сценарії. За поточної собівартості маржу 15 % дає лише перший — але його ціну ринок не приймає.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91056"/>
            <a:ext cx="3547872" cy="20116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591056"/>
            <a:ext cx="36576" cy="201168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737360"/>
            <a:ext cx="307238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spc="-10">
                <a:solidFill>
                  <a:srgbClr val="B53A3A"/>
                </a:solidFill>
                <a:latin typeface="Segoe UI"/>
              </a:rPr>
              <a:t>ЦІНА ЗА МОДЕЛЛЮ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1920240"/>
            <a:ext cx="30723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Маржа 15 % понад усе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2194560"/>
            <a:ext cx="14630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 spc="-10">
                <a:solidFill>
                  <a:srgbClr val="717890"/>
                </a:solidFill>
                <a:latin typeface="Segoe UI"/>
              </a:rPr>
              <a:t>З БУЛЬЙОНОМ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2322576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spc="-10">
                <a:solidFill>
                  <a:srgbClr val="B53A3A"/>
                </a:solidFill>
                <a:latin typeface="Segoe UI"/>
              </a:rPr>
              <a:t>135 грн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04288" y="2194560"/>
            <a:ext cx="14630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 spc="-10">
                <a:solidFill>
                  <a:srgbClr val="717890"/>
                </a:solidFill>
                <a:latin typeface="Segoe UI"/>
              </a:rPr>
              <a:t>РАМЕН ІЗ СОУСОМ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04288" y="2322576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spc="-10">
                <a:solidFill>
                  <a:srgbClr val="B53A3A"/>
                </a:solidFill>
                <a:latin typeface="Segoe UI"/>
              </a:rPr>
              <a:t>156 грн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2688336"/>
            <a:ext cx="3072384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30" b="0" spc="-10">
                <a:solidFill>
                  <a:srgbClr val="303A5D"/>
                </a:solidFill>
                <a:latin typeface="Segoe UI"/>
              </a:rPr>
              <a:t>Маржа рівно 15 % за поточної СС €1,134 і €1,309.</a:t>
            </a:r>
          </a:p>
          <a:p>
            <a:pPr algn="l">
              <a:lnSpc>
                <a:spcPct val="130000"/>
              </a:lnSpc>
            </a:pPr>
            <a:r>
              <a:rPr sz="730" b="0" spc="-10">
                <a:solidFill>
                  <a:srgbClr val="303A5D"/>
                </a:solidFill>
                <a:latin typeface="Segoe UI"/>
              </a:rPr>
              <a:t>Але це +30 % і +56 % до медіан сегментів: дешевші за нас 82 % і 89 % позицій ринку.</a:t>
            </a:r>
          </a:p>
          <a:p>
            <a:pPr algn="l">
              <a:lnSpc>
                <a:spcPct val="130000"/>
              </a:lnSpc>
            </a:pPr>
            <a:r>
              <a:rPr sz="730" b="0" spc="-10">
                <a:solidFill>
                  <a:srgbClr val="303A5D"/>
                </a:solidFill>
                <a:latin typeface="Segoe UI"/>
              </a:rPr>
              <a:t>Ціна арифметично правильна і комерційно непродавана.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15968" y="1591056"/>
            <a:ext cx="3547872" cy="20116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15968" y="1591056"/>
            <a:ext cx="36576" cy="201168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53712" y="1737360"/>
            <a:ext cx="307238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spc="-10">
                <a:solidFill>
                  <a:srgbClr val="F9A50B"/>
                </a:solidFill>
                <a:latin typeface="Segoe UI"/>
              </a:rPr>
              <a:t>ПАРИТЕТ ІЗ РИНКОМ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3712" y="1920240"/>
            <a:ext cx="30723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Стати на орієнтир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53712" y="2194560"/>
            <a:ext cx="14630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 spc="-10">
                <a:solidFill>
                  <a:srgbClr val="717890"/>
                </a:solidFill>
                <a:latin typeface="Segoe UI"/>
              </a:rPr>
              <a:t>З БУЛЬЙОНОМ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53712" y="2322576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spc="-10">
                <a:solidFill>
                  <a:srgbClr val="F9A50B"/>
                </a:solidFill>
                <a:latin typeface="Segoe UI"/>
              </a:rPr>
              <a:t>104 грн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53327" y="2194560"/>
            <a:ext cx="14630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 spc="-10">
                <a:solidFill>
                  <a:srgbClr val="717890"/>
                </a:solidFill>
                <a:latin typeface="Segoe UI"/>
              </a:rPr>
              <a:t>РАМЕН ІЗ СОУСОМ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53327" y="2322576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spc="-10">
                <a:solidFill>
                  <a:srgbClr val="F9A50B"/>
                </a:solidFill>
                <a:latin typeface="Segoe UI"/>
              </a:rPr>
              <a:t>125 грн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53712" y="2688336"/>
            <a:ext cx="3072384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30" b="0" spc="-10">
                <a:solidFill>
                  <a:srgbClr val="303A5D"/>
                </a:solidFill>
                <a:latin typeface="Segoe UI"/>
              </a:rPr>
              <a:t>За поточної СС маржа −3,2 % і +0,1 %: збиток і нуль.</a:t>
            </a:r>
          </a:p>
          <a:p>
            <a:pPr algn="l">
              <a:lnSpc>
                <a:spcPct val="130000"/>
              </a:lnSpc>
            </a:pPr>
            <a:r>
              <a:rPr sz="730" b="0" spc="-10">
                <a:solidFill>
                  <a:srgbClr val="303A5D"/>
                </a:solidFill>
                <a:latin typeface="Segoe UI"/>
              </a:rPr>
              <a:t>Щоб утримати 15 %, потрібна СС €0,871 і €1,048 — мінус 23 % і 20 %.</a:t>
            </a:r>
          </a:p>
          <a:p>
            <a:pPr algn="l">
              <a:lnSpc>
                <a:spcPct val="130000"/>
              </a:lnSpc>
            </a:pPr>
            <a:r>
              <a:rPr sz="730" b="0" spc="-10">
                <a:solidFill>
                  <a:srgbClr val="303A5D"/>
                </a:solidFill>
                <a:latin typeface="Segoe UI"/>
              </a:rPr>
              <a:t>Це та ціна, за якою Choi’s уже продається сьогодні.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65008" y="1591056"/>
            <a:ext cx="3547872" cy="20116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65008" y="1591056"/>
            <a:ext cx="36576" cy="201168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02752" y="1737360"/>
            <a:ext cx="307238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spc="-10">
                <a:solidFill>
                  <a:srgbClr val="1E9EA6"/>
                </a:solidFill>
                <a:latin typeface="Segoe UI"/>
              </a:rPr>
              <a:t>КОМПРОМІС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02752" y="1920240"/>
            <a:ext cx="30723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Верх ринку без піку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02752" y="2194560"/>
            <a:ext cx="14630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 spc="-10">
                <a:solidFill>
                  <a:srgbClr val="717890"/>
                </a:solidFill>
                <a:latin typeface="Segoe UI"/>
              </a:rPr>
              <a:t>З БУЛЬЙОНОМ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02752" y="2322576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spc="-10">
                <a:solidFill>
                  <a:srgbClr val="1E9EA6"/>
                </a:solidFill>
                <a:latin typeface="Segoe UI"/>
              </a:rPr>
              <a:t>117 грн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02368" y="2194560"/>
            <a:ext cx="14630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 spc="-10">
                <a:solidFill>
                  <a:srgbClr val="717890"/>
                </a:solidFill>
                <a:latin typeface="Segoe UI"/>
              </a:rPr>
              <a:t>РАМЕН ІЗ СОУСОМ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02368" y="2322576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spc="-10">
                <a:solidFill>
                  <a:srgbClr val="1E9EA6"/>
                </a:solidFill>
                <a:latin typeface="Segoe UI"/>
              </a:rPr>
              <a:t>140 грн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02752" y="2688336"/>
            <a:ext cx="3072384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30" b="0" spc="-10">
                <a:solidFill>
                  <a:srgbClr val="303A5D"/>
                </a:solidFill>
                <a:latin typeface="Segoe UI"/>
              </a:rPr>
              <a:t>За поточної СС маржа 5,5 % і 8,0 %.</a:t>
            </a:r>
          </a:p>
          <a:p>
            <a:pPr algn="l">
              <a:lnSpc>
                <a:spcPct val="130000"/>
              </a:lnSpc>
            </a:pPr>
            <a:r>
              <a:rPr sz="730" b="0" spc="-10">
                <a:solidFill>
                  <a:srgbClr val="303A5D"/>
                </a:solidFill>
                <a:latin typeface="Segoe UI"/>
              </a:rPr>
              <a:t>Рівень Nongshim Shin і Samyang Buldak Carbonara — впізнаваних брендів.</a:t>
            </a:r>
          </a:p>
          <a:p>
            <a:pPr algn="l">
              <a:lnSpc>
                <a:spcPct val="130000"/>
              </a:lnSpc>
            </a:pPr>
            <a:r>
              <a:rPr sz="730" b="0" spc="-10">
                <a:solidFill>
                  <a:srgbClr val="303A5D"/>
                </a:solidFill>
                <a:latin typeface="Segoe UI"/>
              </a:rPr>
              <a:t>Для 15 % потрібна СС €0,979 і €1,172 — мінус 14 % і 10 %.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" y="3822191"/>
            <a:ext cx="36576" cy="17373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3232" y="3831335"/>
            <a:ext cx="640080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spc="-10">
                <a:solidFill>
                  <a:srgbClr val="303A5D"/>
                </a:solidFill>
                <a:latin typeface="Segoe UI"/>
              </a:rPr>
              <a:t>АРХІТЕКТУРА ЦІН ПО ВСІЙ ЛІНІЙЦІ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0" y="3831335"/>
            <a:ext cx="402336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50" b="1" spc="-10">
                <a:solidFill>
                  <a:srgbClr val="C4820A"/>
                </a:solidFill>
                <a:latin typeface="Segoe UI"/>
              </a:rPr>
              <a:t>полиця з ПДВ, грн за пачку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4059935"/>
            <a:ext cx="19202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SKU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23744" y="4059935"/>
            <a:ext cx="1874519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РОЛЬ У ЛІНІЙЦІ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34840" y="4059935"/>
            <a:ext cx="16002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ПОЛИЦЯ ЗА МОДЕЛЛЮ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71616" y="4059935"/>
            <a:ext cx="14630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ЦІЛЬОВА ПОЛИЦЯ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71231" y="4059935"/>
            <a:ext cx="14173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ПОТРІБНА СС, €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25128" y="4059935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МАЄМО, €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104120" y="4059935"/>
            <a:ext cx="152704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ОРІЄНТИР НА ПОЛИЦІ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6928" y="4242816"/>
            <a:ext cx="1920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303A5D"/>
                </a:solidFill>
                <a:latin typeface="Segoe UI"/>
              </a:rPr>
              <a:t>Spicy Flavor 112,5 г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523744" y="4242816"/>
            <a:ext cx="187451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303A5D"/>
                </a:solidFill>
                <a:latin typeface="Segoe UI"/>
              </a:rPr>
              <a:t>Герой лінійки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34840" y="4242816"/>
            <a:ext cx="1600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135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71616" y="4242816"/>
            <a:ext cx="14630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104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571231" y="4242816"/>
            <a:ext cx="14173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0,871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25128" y="4242816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1,134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104120" y="4242816"/>
            <a:ext cx="152704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303A5D"/>
                </a:solidFill>
                <a:latin typeface="Segoe UI"/>
              </a:rPr>
              <a:t>Ottogi Jin 84–93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93776" y="4480559"/>
            <a:ext cx="10936224" cy="26517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66928" y="4517136"/>
            <a:ext cx="1920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303A5D"/>
                </a:solidFill>
                <a:latin typeface="Segoe UI"/>
              </a:rPr>
              <a:t>Beef Flavor 113 г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523744" y="4517136"/>
            <a:ext cx="187451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303A5D"/>
                </a:solidFill>
                <a:latin typeface="Segoe UI"/>
              </a:rPr>
              <a:t>Об'єм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434840" y="4517136"/>
            <a:ext cx="1600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135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071616" y="4517136"/>
            <a:ext cx="14630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117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571231" y="4517136"/>
            <a:ext cx="14173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0,979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025128" y="4517136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1,134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104120" y="4517136"/>
            <a:ext cx="152704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303A5D"/>
                </a:solidFill>
                <a:latin typeface="Segoe UI"/>
              </a:rPr>
              <a:t>Nongshim Shin 117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66928" y="4791455"/>
            <a:ext cx="1920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303A5D"/>
                </a:solidFill>
                <a:latin typeface="Segoe UI"/>
              </a:rPr>
              <a:t>Chicken Flavor 113 г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523744" y="4791455"/>
            <a:ext cx="187451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303A5D"/>
                </a:solidFill>
                <a:latin typeface="Segoe UI"/>
              </a:rPr>
              <a:t>Об'єм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434840" y="4791455"/>
            <a:ext cx="1600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135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071616" y="4791455"/>
            <a:ext cx="14630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104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571231" y="4791455"/>
            <a:ext cx="14173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0,871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025128" y="4791455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1,134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104120" y="4791455"/>
            <a:ext cx="152704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303A5D"/>
                </a:solidFill>
                <a:latin typeface="Segoe UI"/>
              </a:rPr>
              <a:t>Ottogi Kimchi 77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3776" y="5029199"/>
            <a:ext cx="10936224" cy="26517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66928" y="5065775"/>
            <a:ext cx="1920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303A5D"/>
                </a:solidFill>
                <a:latin typeface="Segoe UI"/>
              </a:rPr>
              <a:t>Carbonara Spicy 131 г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523744" y="5065775"/>
            <a:ext cx="187451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303A5D"/>
                </a:solidFill>
                <a:latin typeface="Segoe UI"/>
              </a:rPr>
              <a:t>Герой рамену із соусом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434840" y="5065775"/>
            <a:ext cx="1600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156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071616" y="5065775"/>
            <a:ext cx="14630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114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571231" y="5065775"/>
            <a:ext cx="14173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0,954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025128" y="5065775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1,309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104120" y="5065775"/>
            <a:ext cx="152704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303A5D"/>
                </a:solidFill>
                <a:latin typeface="Segoe UI"/>
              </a:rPr>
              <a:t>Paldo Carbonara 114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66928" y="5340095"/>
            <a:ext cx="1920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303A5D"/>
                </a:solidFill>
                <a:latin typeface="Segoe UI"/>
              </a:rPr>
              <a:t>Gouda Cheese 123 г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523744" y="5340095"/>
            <a:ext cx="187451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303A5D"/>
                </a:solidFill>
                <a:latin typeface="Segoe UI"/>
              </a:rPr>
              <a:t>Ніша · сир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434840" y="5340095"/>
            <a:ext cx="1600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156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071616" y="5340095"/>
            <a:ext cx="14630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125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571231" y="5340095"/>
            <a:ext cx="14173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1,048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025128" y="5340095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1,309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104120" y="5340095"/>
            <a:ext cx="152704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303A5D"/>
                </a:solidFill>
                <a:latin typeface="Segoe UI"/>
              </a:rPr>
              <a:t>факт Choi’s 125,20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93776" y="5577839"/>
            <a:ext cx="10936224" cy="26517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66928" y="5614415"/>
            <a:ext cx="1920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303A5D"/>
                </a:solidFill>
                <a:latin typeface="Segoe UI"/>
              </a:rPr>
              <a:t>Vegetable Flavor 113 г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523744" y="5614415"/>
            <a:ext cx="187451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303A5D"/>
                </a:solidFill>
                <a:latin typeface="Segoe UI"/>
              </a:rPr>
              <a:t>Поза лінійкою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434840" y="5614415"/>
            <a:ext cx="1600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135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071616" y="5614415"/>
            <a:ext cx="14630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—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571231" y="5614415"/>
            <a:ext cx="14173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—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025128" y="5614415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1,134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104120" y="5614415"/>
            <a:ext cx="152704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303A5D"/>
                </a:solidFill>
                <a:latin typeface="Segoe UI"/>
              </a:rPr>
              <a:t>Soon Veggie 88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66928" y="5870448"/>
            <a:ext cx="11064240" cy="76809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566928" y="5870448"/>
            <a:ext cx="36576" cy="76809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04672" y="6025896"/>
            <a:ext cx="1058875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ЩО ПРОСИТИ В SIAS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04672" y="6254496"/>
            <a:ext cx="105887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Одне питання до всієї лінійки: собівартість. Під ринкові орієнтири потрібна СС €0,871–0,979 на четвірці з бульйоном замість €1,134 і €0,954–1,048 на парі із соусом замість €1,309 — тобто мінус 14–23 % і мінус 20–27 %. Без цього зниження жодна з шести позицій не стає на полицю зі збереженням 15 %.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РЕКОМЕНДАЦІЯ · ПОСТАЧАЛЬНИК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Що дає SIAS France і на що тиснути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Профіль постачальника за наданою презентацією SIAS і розрахунковим аркушем Self-Cost. Праворуч — альтернатива, з якою його треба порівняти.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91056"/>
            <a:ext cx="5413248" cy="395020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591056"/>
            <a:ext cx="36576" cy="395020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737360"/>
            <a:ext cx="495604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spc="-10">
                <a:solidFill>
                  <a:srgbClr val="1E9EA6"/>
                </a:solidFill>
                <a:latin typeface="Segoe UI"/>
              </a:rPr>
              <a:t>ОСНОВНИЙ ПОСТАЧАЛЬНИК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1920240"/>
            <a:ext cx="495604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spc="-10">
                <a:solidFill>
                  <a:srgbClr val="303A5D"/>
                </a:solidFill>
                <a:latin typeface="Segoe UI"/>
              </a:rPr>
              <a:t>SIAS FRANCE · ROYE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2267712"/>
            <a:ext cx="495604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60" b="0" spc="-10">
                <a:solidFill>
                  <a:srgbClr val="717890"/>
                </a:solidFill>
                <a:latin typeface="Segoe UI"/>
              </a:rPr>
              <a:t>Франція · Hauts-de-France · європейська площадка корейської групи SIAS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2487168"/>
            <a:ext cx="495604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1" spc="-10">
                <a:solidFill>
                  <a:srgbClr val="717890"/>
                </a:solidFill>
                <a:latin typeface="Segoe UI"/>
              </a:rPr>
              <a:t>ЛІНІЙКА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2633472"/>
            <a:ext cx="4956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40" b="0" spc="-10">
                <a:solidFill>
                  <a:srgbClr val="303A5D"/>
                </a:solidFill>
                <a:latin typeface="Segoe UI"/>
              </a:rPr>
              <a:t>Choi’s Ramyeon — 6 SKU, 112,5–131 г, пакет. Оригінальні корейські рецептури.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2962656"/>
            <a:ext cx="495604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1" spc="-10">
                <a:solidFill>
                  <a:srgbClr val="717890"/>
                </a:solidFill>
                <a:latin typeface="Segoe UI"/>
              </a:rPr>
              <a:t>ПЛОЩАДКА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3108960"/>
            <a:ext cx="4956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40" b="0" spc="-10">
                <a:solidFill>
                  <a:srgbClr val="303A5D"/>
                </a:solidFill>
                <a:latin typeface="Segoe UI"/>
              </a:rPr>
              <a:t>16 000 м², група працює з 1997 року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3438144"/>
            <a:ext cx="495604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1" spc="-10">
                <a:solidFill>
                  <a:srgbClr val="717890"/>
                </a:solidFill>
                <a:latin typeface="Segoe UI"/>
              </a:rPr>
              <a:t>СЕРТИФІКАЦІЯ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3584448"/>
            <a:ext cx="4956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40" b="0" spc="-10">
                <a:solidFill>
                  <a:srgbClr val="303A5D"/>
                </a:solidFill>
                <a:latin typeface="Segoe UI"/>
              </a:rPr>
              <a:t>IFS · BRC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3913632"/>
            <a:ext cx="495604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1" spc="-10">
                <a:solidFill>
                  <a:srgbClr val="717890"/>
                </a:solidFill>
                <a:latin typeface="Segoe UI"/>
              </a:rPr>
              <a:t>УМОВИ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" y="4059936"/>
            <a:ext cx="4956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40" b="0" spc="-10">
                <a:solidFill>
                  <a:srgbClr val="303A5D"/>
                </a:solidFill>
                <a:latin typeface="Segoe UI"/>
              </a:rPr>
              <a:t>FCA Roye · 0 % ввізного мита за сертифікатом EUR.1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4389120"/>
            <a:ext cx="495604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1" spc="-10">
                <a:solidFill>
                  <a:srgbClr val="717890"/>
                </a:solidFill>
                <a:latin typeface="Segoe UI"/>
              </a:rPr>
              <a:t>СОБІВАРТІСТЬ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4535424"/>
            <a:ext cx="4956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40" b="0" spc="-10">
                <a:solidFill>
                  <a:srgbClr val="303A5D"/>
                </a:solidFill>
                <a:latin typeface="Segoe UI"/>
              </a:rPr>
              <a:t>€1,134 на четвірці з бульйоном і €1,309 на парі Gouda / Carbonara — повна, в Україні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4864608"/>
            <a:ext cx="495604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1" spc="-10">
                <a:solidFill>
                  <a:srgbClr val="717890"/>
                </a:solidFill>
                <a:latin typeface="Segoe UI"/>
              </a:rPr>
              <a:t>УНІКАЛЬНА ПЕРЕВАГА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" y="5010912"/>
            <a:ext cx="4956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40" b="0" spc="-10">
                <a:solidFill>
                  <a:srgbClr val="303A5D"/>
                </a:solidFill>
                <a:latin typeface="Segoe UI"/>
              </a:rPr>
              <a:t>нульове мито і коротке плече з ЄС проти корейського імпорту за MFN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5340096"/>
            <a:ext cx="495604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1" spc="-10">
                <a:solidFill>
                  <a:srgbClr val="717890"/>
                </a:solidFill>
                <a:latin typeface="Segoe UI"/>
              </a:rPr>
              <a:t>ЩО НЕ РОЗКРИТО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" y="5486400"/>
            <a:ext cx="4956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40" b="0" spc="-10">
                <a:solidFill>
                  <a:srgbClr val="303A5D"/>
                </a:solidFill>
                <a:latin typeface="Segoe UI"/>
              </a:rPr>
              <a:t>структура Self-Cost, ексклюзив на Україну, діючий імпортер, терміни придатності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1591056"/>
            <a:ext cx="5413248" cy="395020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1591056"/>
            <a:ext cx="36576" cy="3950208"/>
          </a:xfrm>
          <a:prstGeom prst="rect">
            <a:avLst/>
          </a:prstGeom>
          <a:solidFill>
            <a:srgbClr val="9F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55664" y="1737360"/>
            <a:ext cx="495604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spc="-10">
                <a:solidFill>
                  <a:srgbClr val="717890"/>
                </a:solidFill>
                <a:latin typeface="Segoe UI"/>
              </a:rPr>
              <a:t>АЛЬТЕРНАТИВА, З ЯКОЮ ТРЕБА ПОРІВНЯТИ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55664" y="1920240"/>
            <a:ext cx="495604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spc="-10">
                <a:solidFill>
                  <a:srgbClr val="303A5D"/>
                </a:solidFill>
                <a:latin typeface="Segoe UI"/>
              </a:rPr>
              <a:t>ПРЯМИЙ ІМПОРТ З КОРЕЇ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55664" y="2267712"/>
            <a:ext cx="495604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60" b="0" spc="-10">
                <a:solidFill>
                  <a:srgbClr val="717890"/>
                </a:solidFill>
                <a:latin typeface="Segoe UI"/>
              </a:rPr>
              <a:t>Samyang · Nongshim · Ottogi · Paldo — ті, хто вже тримає полицю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55664" y="2487168"/>
            <a:ext cx="495604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1" spc="-10">
                <a:solidFill>
                  <a:srgbClr val="717890"/>
                </a:solidFill>
                <a:latin typeface="Segoe UI"/>
              </a:rPr>
              <a:t>ЧОМУ ЦЕ РЕЛЕВАНТНО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55664" y="2633472"/>
            <a:ext cx="49560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40" b="0" spc="-10">
                <a:solidFill>
                  <a:srgbClr val="303A5D"/>
                </a:solidFill>
                <a:latin typeface="Segoe UI"/>
              </a:rPr>
              <a:t>Корея у 2025 відвантажила в Україну 253,8 т за $4,88/кг митної вартості. Наша повна собівартість — €10,0–10,6/кг.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55664" y="2999232"/>
            <a:ext cx="495604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1" spc="-10">
                <a:solidFill>
                  <a:srgbClr val="717890"/>
                </a:solidFill>
                <a:latin typeface="Segoe UI"/>
              </a:rPr>
              <a:t>ЩО ДАЄ КОРЕЯ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55664" y="3145536"/>
            <a:ext cx="49560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40" b="0" spc="-10">
                <a:solidFill>
                  <a:srgbClr val="303A5D"/>
                </a:solidFill>
                <a:latin typeface="Segoe UI"/>
              </a:rPr>
              <a:t>впізнаваний бренд, готовий попит, лістинг у 12 мережах із 13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55664" y="3511296"/>
            <a:ext cx="495604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1" spc="-10">
                <a:solidFill>
                  <a:srgbClr val="717890"/>
                </a:solidFill>
                <a:latin typeface="Segoe UI"/>
              </a:rPr>
              <a:t>ЩО ДАЄ SIAS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55664" y="3657600"/>
            <a:ext cx="49560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40" b="0" spc="-10">
                <a:solidFill>
                  <a:srgbClr val="303A5D"/>
                </a:solidFill>
                <a:latin typeface="Segoe UI"/>
              </a:rPr>
              <a:t>0 % мита, коротке плече, власний бренд без внутрішньої конкуренції за фейс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55664" y="4023360"/>
            <a:ext cx="495604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1" spc="-10">
                <a:solidFill>
                  <a:srgbClr val="717890"/>
                </a:solidFill>
                <a:latin typeface="Segoe UI"/>
              </a:rPr>
              <a:t>ЧОГО БРАКУЄ ДЛЯ ПОРІВНЯННЯ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55664" y="4169664"/>
            <a:ext cx="49560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40" b="0" spc="-10">
                <a:solidFill>
                  <a:srgbClr val="303A5D"/>
                </a:solidFill>
                <a:latin typeface="Segoe UI"/>
              </a:rPr>
              <a:t>котирування корейських заводів на порівнянний обсяг — у цьому дослідженні його немає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55664" y="4535424"/>
            <a:ext cx="495604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1" spc="-10">
                <a:solidFill>
                  <a:srgbClr val="717890"/>
                </a:solidFill>
                <a:latin typeface="Segoe UI"/>
              </a:rPr>
              <a:t>ВИСНОВОК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55664" y="4681728"/>
            <a:ext cx="49560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40" b="0" spc="-10">
                <a:solidFill>
                  <a:srgbClr val="303A5D"/>
                </a:solidFill>
                <a:latin typeface="Segoe UI"/>
              </a:rPr>
              <a:t>перевага SIAS — логістика й мито, а не ціна продукту. Перед контрактом варто запросити котирування хоча б в одного корейського заводу.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6928" y="5705856"/>
            <a:ext cx="11064240" cy="78638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66928" y="5705856"/>
            <a:ext cx="36576" cy="786384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4672" y="5861304"/>
            <a:ext cx="1058875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НА ЩО ТИСНУТИ В ПЕРЕГОВОРАХ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4672" y="6089904"/>
            <a:ext cx="105887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1. Зниження собівартості на 20–27 % — це умова угоди, а не предмет торгу: без нього полиця виходить за межі ринку.</a:t>
            </a:r>
          </a:p>
          <a:p>
            <a:pPr algn="l">
              <a:lnSpc>
                <a:spcPct val="13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2. Розкрити структуру Self-Cost: FCA, фрахт і оформлення окремо. Обсяг дає −22 %, але решту має дати ціна заводу.</a:t>
            </a:r>
          </a:p>
          <a:p>
            <a:pPr algn="l">
              <a:lnSpc>
                <a:spcPct val="13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3. Пояснити, хто вже возить Choi’s у «Космос» і «Таврію В» за 125,20 грн: за нашої собівартості ця полиця дає 0,1 % маржі.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