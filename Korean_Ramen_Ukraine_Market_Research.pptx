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image" Target="../media/image3.jpg"/><Relationship Id="rId5" Type="http://schemas.openxmlformats.org/officeDocument/2006/relationships/image" Target="../media/image4.jpg"/><Relationship Id="rId6" Type="http://schemas.openxmlformats.org/officeDocument/2006/relationships/image" Target="../media/image5.jpg"/><Relationship Id="rId7" Type="http://schemas.openxmlformats.org/officeDocument/2006/relationships/image" Target="../media/image6.jpg"/><Relationship Id="rId8" Type="http://schemas.openxmlformats.org/officeDocument/2006/relationships/image" Target="../media/image7.jpg"/><Relationship Id="rId9" Type="http://schemas.openxmlformats.org/officeDocument/2006/relationships/image" Target="../media/image8.jpg"/><Relationship Id="rId10" Type="http://schemas.openxmlformats.org/officeDocument/2006/relationships/image" Target="../media/image9.jpg"/><Relationship Id="rId11" Type="http://schemas.openxmlformats.org/officeDocument/2006/relationships/image" Target="../media/image10.jpg"/><Relationship Id="rId12" Type="http://schemas.openxmlformats.org/officeDocument/2006/relationships/image" Target="../media/image11.jpg"/><Relationship Id="rId13" Type="http://schemas.openxmlformats.org/officeDocument/2006/relationships/image" Target="../media/image12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13.jpg"/><Relationship Id="rId4" Type="http://schemas.openxmlformats.org/officeDocument/2006/relationships/image" Target="../media/image5.jpg"/><Relationship Id="rId5" Type="http://schemas.openxmlformats.org/officeDocument/2006/relationships/image" Target="../media/image14.jpg"/><Relationship Id="rId6" Type="http://schemas.openxmlformats.org/officeDocument/2006/relationships/image" Target="../media/image10.jpg"/><Relationship Id="rId7" Type="http://schemas.openxmlformats.org/officeDocument/2006/relationships/image" Target="../media/image15.jpg"/><Relationship Id="rId8" Type="http://schemas.openxmlformats.org/officeDocument/2006/relationships/image" Target="../media/image16.jpg"/><Relationship Id="rId9" Type="http://schemas.openxmlformats.org/officeDocument/2006/relationships/image" Target="../media/image17.jpg"/><Relationship Id="rId10" Type="http://schemas.openxmlformats.org/officeDocument/2006/relationships/image" Target="../media/image18.jpg"/><Relationship Id="rId11" Type="http://schemas.openxmlformats.org/officeDocument/2006/relationships/image" Target="../media/image19.jpg"/><Relationship Id="rId12" Type="http://schemas.openxmlformats.org/officeDocument/2006/relationships/image" Target="../media/image20.jpg"/><Relationship Id="rId13" Type="http://schemas.openxmlformats.org/officeDocument/2006/relationships/image" Target="../media/image21.jpg"/><Relationship Id="rId14" Type="http://schemas.openxmlformats.org/officeDocument/2006/relationships/image" Target="../media/image22.jpg"/><Relationship Id="rId15" Type="http://schemas.openxmlformats.org/officeDocument/2006/relationships/image" Target="../media/image23.jpg"/><Relationship Id="rId16" Type="http://schemas.openxmlformats.org/officeDocument/2006/relationships/image" Target="../media/image24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5.jpg"/><Relationship Id="rId4" Type="http://schemas.openxmlformats.org/officeDocument/2006/relationships/image" Target="../media/image20.jpg"/><Relationship Id="rId5" Type="http://schemas.openxmlformats.org/officeDocument/2006/relationships/image" Target="../media/image6.jpg"/><Relationship Id="rId6" Type="http://schemas.openxmlformats.org/officeDocument/2006/relationships/image" Target="../media/image26.jpg"/><Relationship Id="rId7" Type="http://schemas.openxmlformats.org/officeDocument/2006/relationships/image" Target="../media/image27.jpg"/><Relationship Id="rId8" Type="http://schemas.openxmlformats.org/officeDocument/2006/relationships/image" Target="../media/image28.jpg"/><Relationship Id="rId9" Type="http://schemas.openxmlformats.org/officeDocument/2006/relationships/image" Target="../media/image29.jpg"/><Relationship Id="rId10" Type="http://schemas.openxmlformats.org/officeDocument/2006/relationships/image" Target="../media/image30.jpg"/><Relationship Id="rId11" Type="http://schemas.openxmlformats.org/officeDocument/2006/relationships/image" Target="../media/image31.jpg"/><Relationship Id="rId12" Type="http://schemas.openxmlformats.org/officeDocument/2006/relationships/image" Target="../media/image32.jpg"/><Relationship Id="rId13" Type="http://schemas.openxmlformats.org/officeDocument/2006/relationships/image" Target="../media/image33.jpg"/><Relationship Id="rId14" Type="http://schemas.openxmlformats.org/officeDocument/2006/relationships/image" Target="../media/image34.jpg"/><Relationship Id="rId15" Type="http://schemas.openxmlformats.org/officeDocument/2006/relationships/image" Target="../media/image35.jpg"/><Relationship Id="rId16" Type="http://schemas.openxmlformats.org/officeDocument/2006/relationships/image" Target="../media/image36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7.jpg"/><Relationship Id="rId4" Type="http://schemas.openxmlformats.org/officeDocument/2006/relationships/image" Target="../media/image38.jpg"/><Relationship Id="rId5" Type="http://schemas.openxmlformats.org/officeDocument/2006/relationships/image" Target="../media/image39.jpg"/><Relationship Id="rId6" Type="http://schemas.openxmlformats.org/officeDocument/2006/relationships/image" Target="../media/image40.jpg"/><Relationship Id="rId7" Type="http://schemas.openxmlformats.org/officeDocument/2006/relationships/image" Target="../media/image41.jpg"/><Relationship Id="rId8" Type="http://schemas.openxmlformats.org/officeDocument/2006/relationships/image" Target="../media/image10.jpg"/><Relationship Id="rId9" Type="http://schemas.openxmlformats.org/officeDocument/2006/relationships/image" Target="../media/image21.jpg"/><Relationship Id="rId10" Type="http://schemas.openxmlformats.org/officeDocument/2006/relationships/image" Target="../media/image42.jpg"/><Relationship Id="rId11" Type="http://schemas.openxmlformats.org/officeDocument/2006/relationships/image" Target="../media/image43.jpg"/><Relationship Id="rId12" Type="http://schemas.openxmlformats.org/officeDocument/2006/relationships/image" Target="../media/image44.jpg"/><Relationship Id="rId13" Type="http://schemas.openxmlformats.org/officeDocument/2006/relationships/image" Target="../media/image45.jpg"/><Relationship Id="rId14" Type="http://schemas.openxmlformats.org/officeDocument/2006/relationships/image" Target="../media/image46.jpg"/><Relationship Id="rId15" Type="http://schemas.openxmlformats.org/officeDocument/2006/relationships/image" Target="../media/image9.jpg"/><Relationship Id="rId16" Type="http://schemas.openxmlformats.org/officeDocument/2006/relationships/image" Target="../media/image47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1.jpg"/><Relationship Id="rId4" Type="http://schemas.openxmlformats.org/officeDocument/2006/relationships/image" Target="../media/image48.jpg"/><Relationship Id="rId5" Type="http://schemas.openxmlformats.org/officeDocument/2006/relationships/image" Target="../media/image49.jpg"/><Relationship Id="rId6" Type="http://schemas.openxmlformats.org/officeDocument/2006/relationships/image" Target="../media/image50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1.jpg"/><Relationship Id="rId4" Type="http://schemas.openxmlformats.org/officeDocument/2006/relationships/image" Target="../media/image52.jpg"/><Relationship Id="rId5" Type="http://schemas.openxmlformats.org/officeDocument/2006/relationships/image" Target="../media/image53.jpg"/><Relationship Id="rId6" Type="http://schemas.openxmlformats.org/officeDocument/2006/relationships/image" Target="../media/image54.jpg"/><Relationship Id="rId7" Type="http://schemas.openxmlformats.org/officeDocument/2006/relationships/image" Target="../media/image55.jpg"/><Relationship Id="rId8" Type="http://schemas.openxmlformats.org/officeDocument/2006/relationships/image" Target="../media/image56.jpg"/><Relationship Id="rId9" Type="http://schemas.openxmlformats.org/officeDocument/2006/relationships/image" Target="../media/image57.jpg"/><Relationship Id="rId10" Type="http://schemas.openxmlformats.org/officeDocument/2006/relationships/image" Target="../media/image58.jpg"/><Relationship Id="rId11" Type="http://schemas.openxmlformats.org/officeDocument/2006/relationships/image" Target="../media/image59.jpg"/><Relationship Id="rId12" Type="http://schemas.openxmlformats.org/officeDocument/2006/relationships/image" Target="../media/image60.jpg"/><Relationship Id="rId13" Type="http://schemas.openxmlformats.org/officeDocument/2006/relationships/image" Target="../media/image61.jpg"/><Relationship Id="rId14" Type="http://schemas.openxmlformats.org/officeDocument/2006/relationships/image" Target="../media/image7.jpg"/><Relationship Id="rId15" Type="http://schemas.openxmlformats.org/officeDocument/2006/relationships/image" Target="../media/image62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3.jpg"/><Relationship Id="rId4" Type="http://schemas.openxmlformats.org/officeDocument/2006/relationships/image" Target="../media/image64.jpg"/><Relationship Id="rId5" Type="http://schemas.openxmlformats.org/officeDocument/2006/relationships/image" Target="../media/image65.jpg"/><Relationship Id="rId6" Type="http://schemas.openxmlformats.org/officeDocument/2006/relationships/image" Target="../media/image66.jpg"/><Relationship Id="rId7" Type="http://schemas.openxmlformats.org/officeDocument/2006/relationships/image" Target="../media/image67.jpg"/><Relationship Id="rId8" Type="http://schemas.openxmlformats.org/officeDocument/2006/relationships/image" Target="../media/image68.jpg"/><Relationship Id="rId9" Type="http://schemas.openxmlformats.org/officeDocument/2006/relationships/image" Target="../media/image69.jpg"/><Relationship Id="rId10" Type="http://schemas.openxmlformats.org/officeDocument/2006/relationships/image" Target="../media/image70.jpg"/><Relationship Id="rId11" Type="http://schemas.openxmlformats.org/officeDocument/2006/relationships/image" Target="../media/image71.jpg"/><Relationship Id="rId12" Type="http://schemas.openxmlformats.org/officeDocument/2006/relationships/image" Target="../media/image51.jpg"/><Relationship Id="rId13" Type="http://schemas.openxmlformats.org/officeDocument/2006/relationships/image" Target="../media/image72.jp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3.jpg"/><Relationship Id="rId4" Type="http://schemas.openxmlformats.org/officeDocument/2006/relationships/image" Target="../media/image74.jpg"/><Relationship Id="rId5" Type="http://schemas.openxmlformats.org/officeDocument/2006/relationships/image" Target="../media/image75.jpg"/><Relationship Id="rId6" Type="http://schemas.openxmlformats.org/officeDocument/2006/relationships/image" Target="../media/image76.jpg"/><Relationship Id="rId7" Type="http://schemas.openxmlformats.org/officeDocument/2006/relationships/image" Target="../media/image77.jpg"/><Relationship Id="rId8" Type="http://schemas.openxmlformats.org/officeDocument/2006/relationships/image" Target="../media/image78.jpg"/><Relationship Id="rId9" Type="http://schemas.openxmlformats.org/officeDocument/2006/relationships/image" Target="../media/image79.jpg"/><Relationship Id="rId10" Type="http://schemas.openxmlformats.org/officeDocument/2006/relationships/image" Target="../media/image80.jpg"/><Relationship Id="rId11" Type="http://schemas.openxmlformats.org/officeDocument/2006/relationships/image" Target="../media/image81.jpg"/><Relationship Id="rId12" Type="http://schemas.openxmlformats.org/officeDocument/2006/relationships/image" Target="../media/image82.jpg"/><Relationship Id="rId13" Type="http://schemas.openxmlformats.org/officeDocument/2006/relationships/image" Target="../media/image83.jpg"/><Relationship Id="rId14" Type="http://schemas.openxmlformats.org/officeDocument/2006/relationships/image" Target="../media/image84.jp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5.jpg"/><Relationship Id="rId4" Type="http://schemas.openxmlformats.org/officeDocument/2006/relationships/image" Target="../media/image86.jpg"/><Relationship Id="rId5" Type="http://schemas.openxmlformats.org/officeDocument/2006/relationships/image" Target="../media/image87.jpg"/><Relationship Id="rId6" Type="http://schemas.openxmlformats.org/officeDocument/2006/relationships/image" Target="../media/image88.jpg"/><Relationship Id="rId7" Type="http://schemas.openxmlformats.org/officeDocument/2006/relationships/image" Target="../media/image89.jpg"/><Relationship Id="rId8" Type="http://schemas.openxmlformats.org/officeDocument/2006/relationships/image" Target="../media/image90.jpg"/><Relationship Id="rId9" Type="http://schemas.openxmlformats.org/officeDocument/2006/relationships/image" Target="../media/image91.jpg"/><Relationship Id="rId10" Type="http://schemas.openxmlformats.org/officeDocument/2006/relationships/image" Target="../media/image92.jpg"/><Relationship Id="rId11" Type="http://schemas.openxmlformats.org/officeDocument/2006/relationships/image" Target="../media/image93.jpg"/><Relationship Id="rId12" Type="http://schemas.openxmlformats.org/officeDocument/2006/relationships/image" Target="../media/image94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jpg"/><Relationship Id="rId4" Type="http://schemas.openxmlformats.org/officeDocument/2006/relationships/image" Target="../media/image3.jpg"/><Relationship Id="rId5" Type="http://schemas.openxmlformats.org/officeDocument/2006/relationships/image" Target="../media/image8.jpg"/><Relationship Id="rId6" Type="http://schemas.openxmlformats.org/officeDocument/2006/relationships/image" Target="../media/image95.jpg"/><Relationship Id="rId7" Type="http://schemas.openxmlformats.org/officeDocument/2006/relationships/image" Target="../media/image96.jpg"/><Relationship Id="rId8" Type="http://schemas.openxmlformats.org/officeDocument/2006/relationships/image" Target="../media/image97.jpg"/><Relationship Id="rId9" Type="http://schemas.openxmlformats.org/officeDocument/2006/relationships/image" Target="../media/image2.jpg"/><Relationship Id="rId10" Type="http://schemas.openxmlformats.org/officeDocument/2006/relationships/image" Target="../media/image12.jp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8.jp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731520"/>
            <a:ext cx="1920240" cy="83210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841248" y="2395728"/>
            <a:ext cx="10058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FFC95C"/>
                </a:solidFill>
                <a:latin typeface="Segoe UI"/>
              </a:rPr>
              <a:t>ДОСЛІДЖЕННЯ РИНКУ ТА ПОЗИЦІОНУВАННЯ · ВЕРЕСЕНЬ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715768"/>
            <a:ext cx="105156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Корейський рамен</a:t>
            </a:r>
          </a:p>
          <a:p>
            <a:pPr algn="l">
              <a:lnSpc>
                <a:spcPct val="105000"/>
              </a:lnSpc>
            </a:pPr>
            <a:r>
              <a:rPr sz="4400" b="1" spc="-10">
                <a:solidFill>
                  <a:srgbClr val="FFFFFF"/>
                </a:solidFill>
                <a:latin typeface="Segoe UI"/>
              </a:rPr>
              <a:t>в Україні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590288"/>
            <a:ext cx="1005840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Оцінка пропозиції Choi’s Ramyeon (SIAS France) проти фактичної полиці:</a:t>
            </a:r>
          </a:p>
          <a:p>
            <a:pPr algn="l">
              <a:lnSpc>
                <a:spcPct val="150000"/>
              </a:lnSpc>
            </a:pPr>
            <a:r>
              <a:rPr sz="1000" b="0" spc="-10">
                <a:solidFill>
                  <a:srgbClr val="9FA9C4"/>
                </a:solidFill>
                <a:latin typeface="Segoe UI"/>
              </a:rPr>
              <a:t>96 SKU корейського рамену · 11 брендів · 13 мереж із 18 · зріз каталогів 29.09.2026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841248" y="5413248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60704" y="5440680"/>
            <a:ext cx="100584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Усі ціни — роздріб за одну пачку, з ПДВ, на дату зрізу. Опт, ящики та мультипаки до медіан не входять.</a:t>
            </a:r>
          </a:p>
          <a:p>
            <a:pPr algn="l">
              <a:lnSpc>
                <a:spcPct val="140000"/>
              </a:lnSpc>
            </a:pPr>
            <a:r>
              <a:rPr sz="800" b="0" spc="-10">
                <a:solidFill>
                  <a:srgbClr val="9FA9C4"/>
                </a:solidFill>
                <a:latin typeface="Segoe UI"/>
              </a:rPr>
              <a:t>Фото товарів — з каталогів мереж; використані як ідентифікація SKU.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цифр, які описують ринок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ціни в колоді — за одну пачку, з ПДВ. Опт і ящики до розрахунку не входять.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 ІМПОРТУ 2025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253,8 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Корея, HS 1902 30.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+8,8 % до 2024 року в кг.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ЄМНІСТЬ РОЗДРІБУ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221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млн грн на рік — оцінка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імпортом × медіану полиці.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ПОЗИЦІЙ У ПРОДАЖУ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96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11 брендів, 13 мереж із 18.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У «Сільпо» — 4 позиції.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НАЙПОШИРЕНІШИЙ ФОРМАТ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71 позиція (74 %).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Стакан — 18, рисові галушки — 7.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МАСОВА ВАГА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23 позиції. Далі 130 г — 9,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140 г — 6, 105 г — 6.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Ottogi Kimchi 120 г і O’Food 144 г —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64–67 грн/100 г.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664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ЦЕ ОЗНАЧАЄ ДЛЯ ПОЛИЦІ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Категорія повністю імпортна: корейського рамену в Україні не виробляють.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Зростання дає Корея: 233,3 → 253,8 т за рік, +8,8 % у кг і +34,9 % у грошах.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Формат, що тримає полицю, — пакет 120 г: 22 позиції в 11 мережах, медіана 93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Полиця концентрована: Samyang і Nongshim дають 54 позиції з 96 і стоять у 12 мережах із 13.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664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664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ЧОГО НА РИНКУ НЕМАЄ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Немає жодної позиції вагою 113 г — саме стільки важать чотири SKU Choi’s. Стандарт категорії — 120 г.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Немає корейського рамену в МегаМаркеті, Ultramarket, ЕКО, Епіцентрі та «Ідеалі»: нуль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Немає широкого вибору стаканів: 18 позицій на всю категорію при ціні за грам удвічі вищій за пакет.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Немає жодного бренду, крім Samyang і Nongshim, більш ніж у 5 мережах: решта дев'яти — від 1 до 5.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ОБСЯГ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1 674 т імпорту локшини, з них 253,8 т корейської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HS 1902 30 «інші макаронні вироби». Україна не звітувала 2025 рік до UN Comtrade — беремо дзеркальні дані країн-експортерів.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5486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ЗВІДКИ ЇДЕ, 2025 РІК · тонн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76479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Китай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892807" y="1810512"/>
            <a:ext cx="347471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550408" y="176479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734.1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2029967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892807" y="2075687"/>
            <a:ext cx="12014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550408" y="2029967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253.8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229514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Польща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892807" y="2340863"/>
            <a:ext cx="1145577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9514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242.0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56032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Туреччина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92807" y="2606039"/>
            <a:ext cx="88290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50408" y="256032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186.5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282549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Словаччина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892807" y="2871215"/>
            <a:ext cx="393694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550408" y="282549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83.2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3090672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Італія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892807" y="3136391"/>
            <a:ext cx="23625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550408" y="3090672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49.9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3355848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Таїланд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92807" y="3401568"/>
            <a:ext cx="141369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550408" y="3355848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29.9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3621024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Німеччина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892807" y="3666744"/>
            <a:ext cx="11096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550408" y="3621024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23.4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3886200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Литва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892807" y="3931920"/>
            <a:ext cx="101940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550408" y="3886200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21.5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4151376"/>
            <a:ext cx="132588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Чехія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892807" y="4197096"/>
            <a:ext cx="63963" cy="9144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550408" y="4151376"/>
            <a:ext cx="77724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1" spc="-10">
                <a:solidFill>
                  <a:srgbClr val="717890"/>
                </a:solidFill>
                <a:latin typeface="Segoe UI"/>
              </a:rPr>
              <a:t>13.5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90288"/>
            <a:ext cx="5760720" cy="868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66928" y="4590288"/>
            <a:ext cx="36576" cy="868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04672" y="4745736"/>
            <a:ext cx="5285231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ТОНАЖ ≠ КАТЕГОРІЯ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04672" y="4974336"/>
            <a:ext cx="5285231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Туреччина по $0,63/кг і Китай по $1,54/кг — це переважно звичайні макарони, не рамен. Корея — $4,88/кг: єдиний великий постачальник із ціною, що відповідає фасованому рамену.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675120" y="1554480"/>
            <a:ext cx="49377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КОРЕЯ → УКРАЇНА, HS 1902 30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675120" y="179222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РІК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406640" y="1792224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686800" y="1792224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ВАРТІСТЬ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332720" y="1792224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$/КГ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675120" y="19751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406640" y="197510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233,3 т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86800" y="1975104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$917,8 тис.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332720" y="1975104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$3,93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601968" y="2176272"/>
            <a:ext cx="4956048" cy="2286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75120" y="221284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2025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406640" y="22128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253,8 т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686800" y="2212848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$1 238,3 тис.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332720" y="2212848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$4,88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675120" y="2450591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 spc="-10">
                <a:solidFill>
                  <a:srgbClr val="303A5D"/>
                </a:solidFill>
                <a:latin typeface="Segoe UI"/>
              </a:rPr>
              <a:t>Δ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406640" y="2450591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+8,8 %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686800" y="2450591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+34,9 %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332720" y="24505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50" b="0" spc="-10">
                <a:solidFill>
                  <a:srgbClr val="717890"/>
                </a:solidFill>
                <a:latin typeface="Segoe UI"/>
              </a:rPr>
              <a:t>+24,0 %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675120" y="2706624"/>
            <a:ext cx="4937760" cy="12984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675120" y="2706624"/>
            <a:ext cx="36576" cy="129844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912864" y="2862072"/>
            <a:ext cx="44622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КАЖЕ ЦІНА ІМПОРТУ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912864" y="3090672"/>
            <a:ext cx="446227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Середня експортна ціна Кореї зросла на 24 % за рік при зростанні обсягу лише на 9 %. Ринок рухається в бік дорожчих SKU (Buldak, стакани), а не дешевших.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Пропозиція SIAS — €0,88–1,31 за пачку 113–131 г, тобто $8,9–13,2/кг: у 1,8–2,7 раза дорожче за середню корейську експортну ціну.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56875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 РАХУВАЛИ ЄМНІСТЬ КОРЕЙСЬКОГО СЕГМЕНТА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66928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731520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253,8 т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1520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імпорт з Кореї 2025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615184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2" name="Rectangle 71"/>
          <p:cNvSpPr/>
          <p:nvPr/>
        </p:nvSpPr>
        <p:spPr>
          <a:xfrm>
            <a:off x="2798064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962656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2,12 млн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пачок по 120 г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846320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76" name="Rectangle 75"/>
          <p:cNvSpPr/>
          <p:nvPr/>
        </p:nvSpPr>
        <p:spPr>
          <a:xfrm>
            <a:off x="5029200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193792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 105 грн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93792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полиці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077456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0" name="Rectangle 79"/>
          <p:cNvSpPr/>
          <p:nvPr/>
        </p:nvSpPr>
        <p:spPr>
          <a:xfrm>
            <a:off x="7260336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24928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221 млн грн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24928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роздріб на рік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308592" y="6144768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491472" y="5888736"/>
            <a:ext cx="2048256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656064" y="5998464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×4,0 до FOB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656064" y="6291072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імпліцитний множник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СЕГМЕНТАЦІЯ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Три цінові поверхи локшини швидкого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Поверх визначено за ціною за 100 г — це єдиний коректний вимір, коли пачки важать від 50 до 200 г. Межі поверхів узяті з фактичного розподілу брендів, а не задані наперед.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54480"/>
            <a:ext cx="36576" cy="3035808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3E59A8"/>
                </a:solidFill>
                <a:latin typeface="Segoe UI"/>
              </a:rPr>
              <a:t>ПОВЕРХ 1 · ЕКОНОМ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9–25 грн  ·  14–37 грн/100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Українське виробництво і приватні марки мереж · 15 брендів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68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0858500244579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43584" y="2377440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68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Мівіна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22 грн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37 грн/100 г · 16 мереж · 22 SKU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41401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889503" y="2377440"/>
            <a:ext cx="566928" cy="56692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41401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Reeva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41401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41401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34 грн/100 г · 14 мереж · 7 SKU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68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3584" y="3584448"/>
            <a:ext cx="566928" cy="56692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68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Роллтон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8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21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68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35 грн/100 г · 1 мереж · 1 SKU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41401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1" name="Picture 30" descr="0482309741337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889503" y="3584448"/>
            <a:ext cx="566928" cy="566928"/>
          </a:xfrm>
          <a:prstGeom prst="rect">
            <a:avLst/>
          </a:prstGeom>
        </p:spPr>
      </p:pic>
      <p:sp>
        <p:nvSpPr>
          <p:cNvPr id="32" name="TextBox 31"/>
          <p:cNvSpPr txBox="1"/>
          <p:nvPr/>
        </p:nvSpPr>
        <p:spPr>
          <a:xfrm>
            <a:off x="241401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Щедро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41401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3E59A8"/>
                </a:solidFill>
                <a:latin typeface="Segoe UI"/>
              </a:rPr>
              <a:t>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41401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25 грн/100 г · 7 мереж · 4 SKU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1554480"/>
            <a:ext cx="36576" cy="3035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1713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1E9EA6"/>
                </a:solidFill>
                <a:latin typeface="Segoe UI"/>
              </a:rPr>
              <a:t>ПОВЕРХ 2 · МІДЛ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1713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38–124 грн  ·  58–86 грн/100 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1713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Азія та імпорт середньої ціни — сюди потрапляє й дешева Корея · 9 брендів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1713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1" name="Picture 40" descr="08801052114569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92623" y="2377440"/>
            <a:ext cx="566928" cy="566928"/>
          </a:xfrm>
          <a:prstGeom prst="rect">
            <a:avLst/>
          </a:prstGeom>
        </p:spPr>
      </p:pic>
      <p:sp>
        <p:nvSpPr>
          <p:cNvPr id="42" name="TextBox 41"/>
          <p:cNvSpPr txBox="1"/>
          <p:nvPr/>
        </p:nvSpPr>
        <p:spPr>
          <a:xfrm>
            <a:off x="451713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O'Food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1713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77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1713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67 грн/100 г · 2 мереж · 4 SKU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163055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6" name="Picture 45" descr="088010459999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38544" y="2377440"/>
            <a:ext cx="566928" cy="56692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6163055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Ottogi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63055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89 грн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163055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75 грн/100 г · 5 мереж · 11 SKU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1713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1" name="Picture 50" descr="0064843610005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92623" y="3584448"/>
            <a:ext cx="566928" cy="566928"/>
          </a:xfrm>
          <a:prstGeom prst="rect">
            <a:avLst/>
          </a:prstGeom>
        </p:spPr>
      </p:pic>
      <p:sp>
        <p:nvSpPr>
          <p:cNvPr id="52" name="TextBox 51"/>
          <p:cNvSpPr txBox="1"/>
          <p:nvPr/>
        </p:nvSpPr>
        <p:spPr>
          <a:xfrm>
            <a:off x="451713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Paldo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1713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95 грн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1713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77 грн/100 г · 5 мереж · 8 SKU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163055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5201810202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638544" y="3584448"/>
            <a:ext cx="566928" cy="566928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6163055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Yum Yum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163055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1E9EA6"/>
                </a:solidFill>
                <a:latin typeface="Segoe UI"/>
              </a:rPr>
              <a:t>60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63055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86 грн/100 г · 2 мереж · 1 SKU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65008" y="1554480"/>
            <a:ext cx="3566160" cy="3035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065008" y="1554480"/>
            <a:ext cx="36576" cy="30358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8266176" y="1682495"/>
            <a:ext cx="316382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850" b="1" spc="-10">
                <a:solidFill>
                  <a:srgbClr val="C4820A"/>
                </a:solidFill>
                <a:latin typeface="Segoe UI"/>
              </a:rPr>
              <a:t>ПОВЕРХ 3 · ІМПОРТНИЙ ПРЕМІУМ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66176" y="1938528"/>
            <a:ext cx="3163824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34–204 грн  ·  93–146 грн/100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8266176" y="2121408"/>
            <a:ext cx="31638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0" spc="-10">
                <a:solidFill>
                  <a:srgbClr val="717890"/>
                </a:solidFill>
                <a:latin typeface="Segoe UI"/>
              </a:rPr>
              <a:t>Samyang, Nongshim і в'єтнамська рисова локшина · 8 брендів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26617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08801073113428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741664" y="2377440"/>
            <a:ext cx="566928" cy="56692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826617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Samyang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826617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112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26617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93 грн/100 г · 11 мереж · 17 SKU</a:t>
            </a:r>
          </a:p>
        </p:txBody>
      </p:sp>
      <p:sp>
        <p:nvSpPr>
          <p:cNvPr id="70" name="Rectangle 69"/>
          <p:cNvSpPr/>
          <p:nvPr/>
        </p:nvSpPr>
        <p:spPr>
          <a:xfrm>
            <a:off x="9912096" y="2322576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1" name="Picture 70" descr="0880104315062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0387584" y="2377440"/>
            <a:ext cx="566928" cy="566928"/>
          </a:xfrm>
          <a:prstGeom prst="rect">
            <a:avLst/>
          </a:prstGeom>
        </p:spPr>
      </p:pic>
      <p:sp>
        <p:nvSpPr>
          <p:cNvPr id="72" name="TextBox 71"/>
          <p:cNvSpPr txBox="1"/>
          <p:nvPr/>
        </p:nvSpPr>
        <p:spPr>
          <a:xfrm>
            <a:off x="9912096" y="3044952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Nongshim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12096" y="3200400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117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912096" y="3346704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107 грн/100 г · 9 мереж · 11 SKU</a:t>
            </a:r>
          </a:p>
        </p:txBody>
      </p:sp>
      <p:sp>
        <p:nvSpPr>
          <p:cNvPr id="75" name="Rectangle 74"/>
          <p:cNvSpPr/>
          <p:nvPr/>
        </p:nvSpPr>
        <p:spPr>
          <a:xfrm>
            <a:off x="826617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6" name="Picture 75" descr="08850987150098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741664" y="3584448"/>
            <a:ext cx="566928" cy="566928"/>
          </a:xfrm>
          <a:prstGeom prst="rect">
            <a:avLst/>
          </a:prstGeom>
        </p:spPr>
      </p:pic>
      <p:sp>
        <p:nvSpPr>
          <p:cNvPr id="77" name="TextBox 76"/>
          <p:cNvSpPr txBox="1"/>
          <p:nvPr/>
        </p:nvSpPr>
        <p:spPr>
          <a:xfrm>
            <a:off x="826617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Мама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826617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108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826617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121 грн/100 г · 5 мереж · 7 SKU</a:t>
            </a:r>
          </a:p>
        </p:txBody>
      </p:sp>
      <p:sp>
        <p:nvSpPr>
          <p:cNvPr id="80" name="Rectangle 79"/>
          <p:cNvSpPr/>
          <p:nvPr/>
        </p:nvSpPr>
        <p:spPr>
          <a:xfrm>
            <a:off x="9912096" y="3529584"/>
            <a:ext cx="1517904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08936010681545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10387584" y="3584448"/>
            <a:ext cx="566928" cy="566928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9912096" y="4251960"/>
            <a:ext cx="15179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1" spc="-10">
                <a:solidFill>
                  <a:srgbClr val="1C2235"/>
                </a:solidFill>
                <a:latin typeface="Segoe UI"/>
              </a:rPr>
              <a:t>Cung Dinh Kool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912096" y="4407408"/>
            <a:ext cx="1517904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123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12096" y="4553712"/>
            <a:ext cx="15179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118 грн/100 г · 4 мереж · 1 SKU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4718304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566928" y="4718304"/>
            <a:ext cx="36576" cy="786384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04672" y="484632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B53A3A"/>
                </a:solidFill>
                <a:latin typeface="Segoe UI"/>
              </a:rPr>
              <a:t>ПОВЕРХ 4 · ДЕ ОПИНЯЄТЬСЯ CHOI’S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804672" y="5047488"/>
            <a:ext cx="3108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93–99 грн/100 г за фінмоделлю (15 %)</a:t>
            </a:r>
          </a:p>
          <a:p>
            <a:pPr algn="l">
              <a:lnSpc>
                <a:spcPct val="130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Факт на полиці сьогодні: 96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4023360" y="4846320"/>
            <a:ext cx="74066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При маржі 15 % Choi’s стає на 93–99 грн/100 г — це нижня частина преміум-поверху, поруч із Samyang (93 грн/100 г). Фактична ціна того самого SKU на полиці сьогодні — 96 грн/100 г. Фактична ціна того самого SKU сьогодні — 96 грн/100 г; обсяг, а не переговори про ціну, вирішує, куди Choi’s потрапить.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ЗМІНЮЄ В КАРТИНІ КОНКУРЕНЦІЇ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Корейський рамен — не однорідний преміум. Ottogi (75), Paldo (77), O’Food (67) і Bibigo (70 грн/100 г) стоять у МІДЛІ поруч з Yum Yum і Hokkaido Club, а не поруч із Samyang і Nongshim. Прямий конкурент Choi’s за ціною — саме ця дешева половина корейської полиці, і вона вже коштує 67–89 грн за пачку.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Окремий фактор пропозиції: у липні 2025 Nestlé запустила фабрику вермішелі у с. Смолигів на Волині (~$50 млн). Продукція йде переважно на ринки ЄС під брендом Maggi, тож прямого тиску на українську полицю вона поки не створює — але потужність у країні з'явилася.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КАРТА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Чотири сегменти за способом приготування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Групування за тим, як продукт готується і де споживається — від цього залежать і ціна за грам, і канал. Так само, як у дослідженні готового рису.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28600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8096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46 позицій · 6 брендів · 12 мереж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8096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8096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8096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C4820A"/>
                </a:solidFill>
                <a:latin typeface="Segoe UI"/>
              </a:rPr>
              <a:t>104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67 – 209 грн · 86 грн/100 г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8096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102–144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8096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Ottogi · Paldo · O'Food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64992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364992" y="1591056"/>
            <a:ext cx="36576" cy="2286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66160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25 позицій · 7 брендів · 11 мереж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66160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Домашня вечеря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66160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566160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100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66160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566160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72 – 184 грн · 77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566160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105–145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566160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Samyang · Paldo · Nongshim · Bibigo · Ottogi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163056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163056" y="1591056"/>
            <a:ext cx="36576" cy="228600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364224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РАМЕН У СТАКАНІ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364224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18 позицій · 4 брендів · 8 мереж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364224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Офіс і дорога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364224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64224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5D4B96"/>
                </a:solidFill>
                <a:latin typeface="Segoe UI"/>
              </a:rPr>
              <a:t>104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64224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64224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34 – 195 грн · 154 грн/100 г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64224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62–120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364224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Nongshim · Samyang · Paldo · Ottogi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961120" y="1591056"/>
            <a:ext cx="2651760" cy="2286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961120" y="1591056"/>
            <a:ext cx="36576" cy="228600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162288" y="1737360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162288" y="2066543"/>
            <a:ext cx="22860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7 позицій · 4 брендів · 4 мереж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162288" y="224942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  <a:p>
            <a:pPr algn="l">
              <a:lnSpc>
                <a:spcPct val="125000"/>
              </a:lnSpc>
            </a:pPr>
            <a:r>
              <a:rPr sz="650" b="0" spc="-10">
                <a:solidFill>
                  <a:srgbClr val="303A5D"/>
                </a:solidFill>
                <a:latin typeface="Segoe UI"/>
              </a:rPr>
              <a:t>Маса — сухого продукту · привід: Снек і десерт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162288" y="2633472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МЕДІАНА ЗА ПАЧКУ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162288" y="277063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198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62288" y="3108960"/>
            <a:ext cx="2286000" cy="100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717890"/>
                </a:solidFill>
                <a:latin typeface="Segoe UI"/>
              </a:rPr>
              <a:t>ДІАПАЗОН · ГРН/100 Г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9162288" y="3246120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1" spc="-10">
                <a:solidFill>
                  <a:srgbClr val="303A5D"/>
                </a:solidFill>
                <a:latin typeface="Segoe UI"/>
              </a:rPr>
              <a:t>65 – 204 грн · 136 грн/100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162288" y="3438144"/>
            <a:ext cx="22860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0" spc="-10">
                <a:solidFill>
                  <a:srgbClr val="717890"/>
                </a:solidFill>
                <a:latin typeface="Segoe UI"/>
              </a:rPr>
              <a:t>вага 80–145 г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162288" y="3602736"/>
            <a:ext cx="22860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20" b="0" spc="-10">
                <a:solidFill>
                  <a:srgbClr val="717890"/>
                </a:solidFill>
                <a:latin typeface="Segoe UI"/>
              </a:rPr>
              <a:t>Yopokki · Samyang · Paldo · Baekje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402336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713232" y="403250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ЗА СЕГМЕНТИ І ЧОМУ ЇХ РОЗДІЛЯЮТЬ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7315200" y="403250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класифікація за технологією приготування, не за брендом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66928" y="4261104"/>
            <a:ext cx="2788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СЕГМЕНТ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401568" y="4261104"/>
            <a:ext cx="2103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ЯК ГОТУЄТЬСЯ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59552" y="426110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59168" y="426110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046720" y="4261104"/>
            <a:ext cx="868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006840" y="4261104"/>
            <a:ext cx="26243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ЧОМУ ЦЕ ОКРЕМИЙ СЕГМЕНТ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444398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1 · РАМЕН У ПАКЕТІ · З БУЛЬЙОНОМ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01568" y="444398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з бульйоном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59552" y="444398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46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12648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059168" y="444398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8046720" y="444398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9006840" y="444398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базова полиця категорії: найбільше SKU і найширша дистрибуція</a:t>
            </a:r>
          </a:p>
        </p:txBody>
      </p:sp>
      <p:sp>
        <p:nvSpPr>
          <p:cNvPr id="71" name="Rectangle 70"/>
          <p:cNvSpPr/>
          <p:nvPr/>
        </p:nvSpPr>
        <p:spPr>
          <a:xfrm>
            <a:off x="493776" y="468172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566928" y="471830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2 · РАМЕН У ПАКЕТІ · ІЗ СОУСОМ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401568" y="471830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4–5 хв · воду злити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559552" y="47183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12648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059168" y="47183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046720" y="471830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006840" y="471830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інший привід і інша ціна за грам; зростає найшвидше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499262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3 · РАМЕН У СТАКАНІ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401568" y="499262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Залити окропом 3–4 хв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59552" y="499262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12648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59168" y="499262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0" y="499262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62–120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006840" y="499262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готується без плити — конкурує з обідом поза домом, а не з вечерею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5230368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526694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4 · РИСОВІ ГАЛУШКИ ТА РИСОВА ЛОКШИНА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3401568" y="526694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59552" y="52669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12648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 грн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7059168" y="52669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0" y="526694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80–145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006840" y="526694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рисовий продукт, не пшенична локшина: інша полиця і інший покупець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5541264"/>
            <a:ext cx="2788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Суміжна полиця · не-корейська локшина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401568" y="5541264"/>
            <a:ext cx="2103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Варіння або окріп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559552" y="554126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 брендів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612648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9–144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7059168" y="554126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18–146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46720" y="5541264"/>
            <a:ext cx="868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50–200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9006840" y="5541264"/>
            <a:ext cx="26243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цінова підлога: від неї покупець рахує премію за корейський бренд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66928" y="5961888"/>
            <a:ext cx="110642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Формат «стакан» визначено за маркером у назві або вагою ≤ 85 г: корейські мережеві каталоги рідко вказують формат окремо, а рамен у пакеті важить 100–145 г, у стакані — 62–85 г. Це припущення, а не поле з каталогу.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1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пакеті: сегменти, у які потрапляють усі шість SKU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Це два сегменти, у які потрапляють усі шість SKU Choi’s. Усередині сегмента бренди відсортовані від найдешевшого до найдорожчого.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36576" cy="17373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63624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46 SKU   ·   медіана 104 грн   ·   86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28800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28800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28800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28800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28800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28800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2880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28800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28800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11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Daesang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11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11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11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102–144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11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68–84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11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11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11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11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найнижча ціна за грам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037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402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402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402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402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111–130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402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67–112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402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402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402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Таврія В +2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402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— найдешевший вхід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4688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4688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4688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4688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110–120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4688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72–113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4688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4688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4688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4688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та сама вага, дешевше за грам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6609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6974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6974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6974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6974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6974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6974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6974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79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6974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6974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66928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773936" y="29260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163824" y="29260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11880" y="29260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4215384" y="29260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074920" y="29260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86–169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0216" y="29260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068312" y="29260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882127" y="29260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Зараз · Grono +8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9930384" y="29260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частина лінійки з бульйоном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3118104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773936" y="315468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163824" y="315468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17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611880" y="315468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215384" y="315468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112–137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074920" y="315468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74–209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315468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117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068312" y="315468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882127" y="315468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 · Grono +7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9930384" y="315468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Ramyun — якір полиці</a:t>
            </a:r>
          </a:p>
        </p:txBody>
      </p:sp>
      <p:sp>
        <p:nvSpPr>
          <p:cNvPr id="85" name="Rectangle 84"/>
          <p:cNvSpPr/>
          <p:nvPr/>
        </p:nvSpPr>
        <p:spPr>
          <a:xfrm>
            <a:off x="566928" y="3493008"/>
            <a:ext cx="36576" cy="173736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713232" y="350215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25 SKU   ·   медіана 100 грн   ·   77 грн/100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66928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76732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76732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76732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76732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76732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76732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76732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76732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76732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поодинокий SKU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1422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178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CJ CheilJedang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178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178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178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122–127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178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178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178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178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178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від CJ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566928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773936" y="44074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3163824" y="44074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11880" y="44074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4215384" y="44074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120–130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74920" y="44074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300216" y="44074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7068312" y="44074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71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7882127" y="44074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9930384" y="44074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stir-fry з сиром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493776" y="45994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773936" y="46360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3163824" y="46360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3611880" y="46360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4215384" y="46360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105–140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74920" y="46360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72–124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6300216" y="46360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7068312" y="46360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882127" y="46360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 · Onde +2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9930384" y="46360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Volcano Carbonara — аналог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1773936" y="48646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3163824" y="48646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611880" y="48646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215384" y="48646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131–140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074920" y="48646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89–154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0216" y="48646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108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068312" y="48646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882127" y="48646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Клас · NOVUS +5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930384" y="48646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Chapaghetti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493776" y="5056632"/>
            <a:ext cx="10936224" cy="2194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66928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Choi's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773936" y="5093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SIAS France · ЄС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163824" y="5093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611880" y="5093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4215384" y="5093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131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74920" y="5093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300216" y="5093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068312" y="5093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96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7882127" y="5093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930384" y="5093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наш продукт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566928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773936" y="53218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3163824" y="53218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3611880" y="53218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4215384" y="53218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105–145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5074920" y="53218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78–184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6300216" y="53218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7068312" y="53218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93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7882127" y="53218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· Ашан · Клас +7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9930384" y="53218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Buldak — франшиза-лідер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66928" y="5632704"/>
            <a:ext cx="1106424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Rectangle 170"/>
          <p:cNvSpPr/>
          <p:nvPr/>
        </p:nvSpPr>
        <p:spPr>
          <a:xfrm>
            <a:off x="566928" y="5632704"/>
            <a:ext cx="36576" cy="84124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TextBox 171"/>
          <p:cNvSpPr txBox="1"/>
          <p:nvPr/>
        </p:nvSpPr>
        <p:spPr>
          <a:xfrm>
            <a:off x="804672" y="5788152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САМЕ СТОЇТЬ CHOI’S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04672" y="6016752"/>
            <a:ext cx="1058875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Шість SKU SIAS розпадаються на два сегменти: Carbonara 131 г і Gouda 123 г — це рамен із соусом (медіана сегмента 100 грн), Vegetable, Spicy, Beef і Chicken — рамен з бульйоном (медіана 104 грн). Порівнювати їх треба з різними конкурентами, а не з категорією загалом.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МАТРИЦЯ БРЕНДІВ · 2 З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 та рисові галушки — суміжні сегменти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Ці два сегменти з Choi’s не конкурують напряму: інший привід споживання і інша ціна за грам. Показані, щоб було видно всю категорію.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  ·   18 SKU   ·   медіана 104 грн   ·   154 грн/100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73936" y="1847088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163824" y="1847088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11880" y="1847088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15384" y="1847088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74920" y="184708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0216" y="1847088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068312" y="1847088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82127" y="1847088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930384" y="1847088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773936" y="202996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163824" y="202996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11880" y="202996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15384" y="202996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70–80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74920" y="202996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34–150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202996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20299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82127" y="202996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Космос · Клас +4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30384" y="202996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стакани Buldak 70–80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93776" y="224942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66928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773936" y="228600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63824" y="228600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611880" y="228600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15384" y="228600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228600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300216" y="228600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068312" y="228600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882127" y="228600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930384" y="228600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Jin Ramen у стакані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773936" y="254203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163824" y="254203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11880" y="254203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15384" y="254203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74920" y="25420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300216" y="254203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068312" y="254203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82127" y="254203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930384" y="254203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Jumbo Noodle у стакані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276148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773936" y="2798064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824" y="2798064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11880" y="2798064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15384" y="2798064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62–80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74920" y="2798064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97–195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0216" y="279806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68312" y="27980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166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7882127" y="2798064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 · Ашан · Grono +1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930384" y="2798064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Shin Cup і сублімовані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3236976"/>
            <a:ext cx="36576" cy="17373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13232" y="324612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   ·   Варіння або окріп   ·   7 SKU   ·   медіана 198 грн   ·   136 грн/100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66928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773936" y="3511296"/>
            <a:ext cx="13716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ВЛАСНИК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163824" y="3511296"/>
            <a:ext cx="411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611880" y="3511296"/>
            <a:ext cx="56692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15384" y="3511296"/>
            <a:ext cx="822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ВАГА,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074920" y="3511296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ПАЧКУ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00216" y="3511296"/>
            <a:ext cx="731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068312" y="3511296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882127" y="3511296"/>
            <a:ext cx="20116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ДЕ ПРОДАЄТЬСЯ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930384" y="3511296"/>
            <a:ext cx="1700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ТАКЕ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773936" y="3694176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Foods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163824" y="3694176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611880" y="3694176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4215384" y="3694176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074920" y="369417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65–104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369417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84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068312" y="36941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882127" y="3694176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Onde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930384" y="3694176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Topokki — галушки з локшиною</a:t>
            </a:r>
          </a:p>
        </p:txBody>
      </p:sp>
      <p:sp>
        <p:nvSpPr>
          <p:cNvPr id="86" name="Rectangle 85"/>
          <p:cNvSpPr/>
          <p:nvPr/>
        </p:nvSpPr>
        <p:spPr>
          <a:xfrm>
            <a:off x="493776" y="391363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66928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1773936" y="3950208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Корея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3163824" y="3950208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611880" y="3950208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4215384" y="3950208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074920" y="395020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395020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106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68312" y="395020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82127" y="3950208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9930384" y="3950208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рисова локшина з кімчі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66928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1773936" y="4206240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163824" y="4206240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611880" y="4206240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4215384" y="4206240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5074920" y="4206240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101–124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6300216" y="420624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112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7068312" y="420624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7882127" y="4206240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 · Grono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9930384" y="4206240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Rabokki — рисові галушки з локшиною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93776" y="4425696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566928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773936" y="4462272"/>
            <a:ext cx="13716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Young Poong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3163824" y="4462272"/>
            <a:ext cx="411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3611880" y="4462272"/>
            <a:ext cx="56692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4215384" y="4462272"/>
            <a:ext cx="822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145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074920" y="446227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198–204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6300216" y="446227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204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7068312" y="44622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7882127" y="4462272"/>
            <a:ext cx="20116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930384" y="4462272"/>
            <a:ext cx="17007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рисові галушки, снековий привід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4297680"/>
            <a:ext cx="36576" cy="132588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СТАКАН — ВДВІЧІ ДОРОЖЧИЙ ГРАМ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154 грн/100 г проти 86 у рамену в пакеті. Покупець платить не за продукт, а за те, що не потрібна плита. При цьому сегмент займає лише 18 SKU у 8 мережах.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6217920" y="4297680"/>
            <a:ext cx="5413248" cy="13258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6217920" y="4297680"/>
            <a:ext cx="36576" cy="132588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455664" y="4453128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РИСОВІ ГАЛУШКИ — НЕ НАША ПОЛИЦЯ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6455664" y="4681728"/>
            <a:ext cx="4937760" cy="7955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Медіана 198 грн, але це рисові галушки, а не локшина. Сегмент показано для повноти картини: його ціни не можна використовувати як орієнтир для пшеничного рамену.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566928" y="5760720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566928" y="5760720"/>
            <a:ext cx="36576" cy="73152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804672" y="59161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804672" y="6144768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Не-корейська локшина швидкого приготування — 14 брендів, 9–144 грн, 18–146 грн/100 г. Детально на слайді з картками. Саме вона, а не корейські бренди, формує уявлення покупця про «нормальну» ціну пачки локшини.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ОДНУ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Від 65 до 205 грн: сходи всіх одинадцяти брендів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Стовпчик — медіана бренду. Праворуч — від найдешевшої до найдорожчої його позиції. Помаранчеве — ми.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570981" y="1691639"/>
            <a:ext cx="998982" cy="3268980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570981" y="1545336"/>
            <a:ext cx="998982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101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9443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616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9592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41324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4748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6480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09904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516367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50607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56792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0216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619488" y="1837943"/>
            <a:ext cx="5486" cy="3122676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53728" y="4997196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91338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O'Food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310128" y="1920239"/>
            <a:ext cx="20242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407533" y="1908810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  ·  68–84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14655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fire bull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310128" y="2153411"/>
            <a:ext cx="2050541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433822" y="2141982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37972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10128" y="2386583"/>
            <a:ext cx="2260853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644133" y="237515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61289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310128" y="2619755"/>
            <a:ext cx="23397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723000" y="260832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  ·  67–112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84606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10128" y="2852927"/>
            <a:ext cx="247116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854446" y="284149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  ·  72–124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307924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Otoki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310128" y="3086099"/>
            <a:ext cx="2497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880735" y="307466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95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31241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Spicy / Beef / Chicken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310128" y="3319271"/>
            <a:ext cx="276034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143625" y="330784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54558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Baekje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310128" y="3552443"/>
            <a:ext cx="278663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69914" y="354101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778757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310128" y="3785615"/>
            <a:ext cx="291807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301358" y="3774185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  ·  74–209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4011929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310128" y="4018787"/>
            <a:ext cx="2944368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4007357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  ·  34–184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4245101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Carbonara / Gouda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310128" y="4251959"/>
            <a:ext cx="3207257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590538" y="4240529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478273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Choi’s · факт на полиці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310128" y="4485131"/>
            <a:ext cx="3286124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669404" y="4473701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125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11445"/>
            <a:ext cx="263347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Yopokki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310128" y="4718303"/>
            <a:ext cx="53629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8746236" y="4706873"/>
            <a:ext cx="20116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204 грн  ·  198–204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5180075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Медіана бренду рахується по всіх його позиціях у зрізі 18 мереж.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6692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6809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 КАТЕГОРІЇ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76809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105 грн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6809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P25 86 · P75 122 грн.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315968" y="5522976"/>
            <a:ext cx="3547872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4517136" y="5678424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БРЕНД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517136" y="5888736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O’Food 77 грн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4517136" y="6364224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Daesang, 102–144 г, 2 мережі.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065008" y="5522976"/>
            <a:ext cx="3566160" cy="87782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8266176" y="5678424"/>
            <a:ext cx="3200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8266176" y="58887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105 і 122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8266176" y="6364224"/>
            <a:ext cx="3200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 бульйоном і рамен із соусом.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РОЗПОДІЛ ЦІН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щільно і де порожньо в кожному сегменті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09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Один рядок — один сегмент. Кожна крапка — один SKU. Світла смуга — де лежить половина позицій сегмента (P25–P75), ромб — медіана.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6436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277867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93140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56564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21918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5342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50696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4120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79474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898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082528" y="2011679"/>
            <a:ext cx="5486" cy="329184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716768" y="5358384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41833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880468" y="1755647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рамен з бульйоном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292359" y="1792223"/>
            <a:ext cx="14630" cy="3511296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30994" y="1554479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наш із соусом 122 грн</a:t>
            </a:r>
          </a:p>
          <a:p>
            <a:pPr algn="ctr">
              <a:lnSpc>
                <a:spcPct val="112000"/>
              </a:lnSpc>
            </a:pPr>
            <a:r>
              <a:rPr sz="760" b="1" spc="-10">
                <a:solidFill>
                  <a:srgbClr val="C4820A"/>
                </a:solidFill>
                <a:latin typeface="Segoe UI"/>
              </a:rPr>
              <a:t>факт Choi’s 125,20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176272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1 · РАМЕН З БУЛЬЙОНОМ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95727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з бульйоном · вага 102–144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87–119 грн · 86 грн/100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156769" y="2194560"/>
            <a:ext cx="1030224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4980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555917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562356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5671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5781313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578453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578453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Oval 37"/>
          <p:cNvSpPr/>
          <p:nvPr/>
        </p:nvSpPr>
        <p:spPr>
          <a:xfrm>
            <a:off x="5865018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Oval 38"/>
          <p:cNvSpPr/>
          <p:nvPr/>
        </p:nvSpPr>
        <p:spPr>
          <a:xfrm>
            <a:off x="5977699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600023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603886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13545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Oval 42"/>
          <p:cNvSpPr/>
          <p:nvPr/>
        </p:nvSpPr>
        <p:spPr>
          <a:xfrm>
            <a:off x="617086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Oval 43"/>
          <p:cNvSpPr/>
          <p:nvPr/>
        </p:nvSpPr>
        <p:spPr>
          <a:xfrm>
            <a:off x="6203061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267450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Oval 45"/>
          <p:cNvSpPr/>
          <p:nvPr/>
        </p:nvSpPr>
        <p:spPr>
          <a:xfrm>
            <a:off x="628998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Oval 46"/>
          <p:cNvSpPr/>
          <p:nvPr/>
        </p:nvSpPr>
        <p:spPr>
          <a:xfrm>
            <a:off x="6289986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Oval 47"/>
          <p:cNvSpPr/>
          <p:nvPr/>
        </p:nvSpPr>
        <p:spPr>
          <a:xfrm>
            <a:off x="6296425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Oval 48"/>
          <p:cNvSpPr/>
          <p:nvPr/>
        </p:nvSpPr>
        <p:spPr>
          <a:xfrm>
            <a:off x="634793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Oval 49"/>
          <p:cNvSpPr/>
          <p:nvPr/>
        </p:nvSpPr>
        <p:spPr>
          <a:xfrm>
            <a:off x="63479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Oval 50"/>
          <p:cNvSpPr/>
          <p:nvPr/>
        </p:nvSpPr>
        <p:spPr>
          <a:xfrm>
            <a:off x="636081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646061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6637686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6695636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678256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86304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6895242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Oval 57"/>
          <p:cNvSpPr/>
          <p:nvPr/>
        </p:nvSpPr>
        <p:spPr>
          <a:xfrm>
            <a:off x="689524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Oval 58"/>
          <p:cNvSpPr/>
          <p:nvPr/>
        </p:nvSpPr>
        <p:spPr>
          <a:xfrm>
            <a:off x="6904901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Oval 59"/>
          <p:cNvSpPr/>
          <p:nvPr/>
        </p:nvSpPr>
        <p:spPr>
          <a:xfrm>
            <a:off x="6908120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Oval 60"/>
          <p:cNvSpPr/>
          <p:nvPr/>
        </p:nvSpPr>
        <p:spPr>
          <a:xfrm>
            <a:off x="692743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Oval 61"/>
          <p:cNvSpPr/>
          <p:nvPr/>
        </p:nvSpPr>
        <p:spPr>
          <a:xfrm>
            <a:off x="6962851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Oval 62"/>
          <p:cNvSpPr/>
          <p:nvPr/>
        </p:nvSpPr>
        <p:spPr>
          <a:xfrm>
            <a:off x="7011142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7072312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7104507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7191432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29868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732986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Oval 68"/>
          <p:cNvSpPr/>
          <p:nvPr/>
        </p:nvSpPr>
        <p:spPr>
          <a:xfrm>
            <a:off x="7439329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Oval 69"/>
          <p:cNvSpPr/>
          <p:nvPr/>
        </p:nvSpPr>
        <p:spPr>
          <a:xfrm>
            <a:off x="745542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Oval 70"/>
          <p:cNvSpPr/>
          <p:nvPr/>
        </p:nvSpPr>
        <p:spPr>
          <a:xfrm>
            <a:off x="7703324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Oval 71"/>
          <p:cNvSpPr/>
          <p:nvPr/>
        </p:nvSpPr>
        <p:spPr>
          <a:xfrm>
            <a:off x="7741958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Oval 72"/>
          <p:cNvSpPr/>
          <p:nvPr/>
        </p:nvSpPr>
        <p:spPr>
          <a:xfrm>
            <a:off x="7780591" y="24597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Oval 73"/>
          <p:cNvSpPr/>
          <p:nvPr/>
        </p:nvSpPr>
        <p:spPr>
          <a:xfrm>
            <a:off x="8624087" y="25740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9680067" y="22311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9911867" y="2345436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iamond 76"/>
          <p:cNvSpPr/>
          <p:nvPr/>
        </p:nvSpPr>
        <p:spPr>
          <a:xfrm>
            <a:off x="6612636" y="2670048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063996" y="2852927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1100815" y="2286000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46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11100815" y="2505456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2962656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2 · РАМЕН ІЗ СОУСОМ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66928" y="3182111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4–5 хв · воду злити · вага 105–145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86–124 грн · 77 грн/100 г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24575" y="2980944"/>
            <a:ext cx="122339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Oval 83"/>
          <p:cNvSpPr/>
          <p:nvPr/>
        </p:nvSpPr>
        <p:spPr>
          <a:xfrm>
            <a:off x="5800629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Oval 84"/>
          <p:cNvSpPr/>
          <p:nvPr/>
        </p:nvSpPr>
        <p:spPr>
          <a:xfrm>
            <a:off x="5829604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Oval 85"/>
          <p:cNvSpPr/>
          <p:nvPr/>
        </p:nvSpPr>
        <p:spPr>
          <a:xfrm>
            <a:off x="5897213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Oval 86"/>
          <p:cNvSpPr/>
          <p:nvPr/>
        </p:nvSpPr>
        <p:spPr>
          <a:xfrm>
            <a:off x="5922968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Oval 87"/>
          <p:cNvSpPr/>
          <p:nvPr/>
        </p:nvSpPr>
        <p:spPr>
          <a:xfrm>
            <a:off x="6058185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Oval 88"/>
          <p:cNvSpPr/>
          <p:nvPr/>
        </p:nvSpPr>
        <p:spPr>
          <a:xfrm>
            <a:off x="6058185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Oval 89"/>
          <p:cNvSpPr/>
          <p:nvPr/>
        </p:nvSpPr>
        <p:spPr>
          <a:xfrm>
            <a:off x="6058185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Oval 90"/>
          <p:cNvSpPr/>
          <p:nvPr/>
        </p:nvSpPr>
        <p:spPr>
          <a:xfrm>
            <a:off x="6058185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Oval 91"/>
          <p:cNvSpPr/>
          <p:nvPr/>
        </p:nvSpPr>
        <p:spPr>
          <a:xfrm>
            <a:off x="617086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Oval 92"/>
          <p:cNvSpPr/>
          <p:nvPr/>
        </p:nvSpPr>
        <p:spPr>
          <a:xfrm>
            <a:off x="617086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Oval 93"/>
          <p:cNvSpPr/>
          <p:nvPr/>
        </p:nvSpPr>
        <p:spPr>
          <a:xfrm>
            <a:off x="6170866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Oval 94"/>
          <p:cNvSpPr/>
          <p:nvPr/>
        </p:nvSpPr>
        <p:spPr>
          <a:xfrm>
            <a:off x="6380130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Oval 95"/>
          <p:cNvSpPr/>
          <p:nvPr/>
        </p:nvSpPr>
        <p:spPr>
          <a:xfrm>
            <a:off x="6521786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Oval 96"/>
          <p:cNvSpPr/>
          <p:nvPr/>
        </p:nvSpPr>
        <p:spPr>
          <a:xfrm>
            <a:off x="6615150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Oval 97"/>
          <p:cNvSpPr/>
          <p:nvPr/>
        </p:nvSpPr>
        <p:spPr>
          <a:xfrm>
            <a:off x="666022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Oval 98"/>
          <p:cNvSpPr/>
          <p:nvPr/>
        </p:nvSpPr>
        <p:spPr>
          <a:xfrm>
            <a:off x="6798659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0" name="Oval 99"/>
          <p:cNvSpPr/>
          <p:nvPr/>
        </p:nvSpPr>
        <p:spPr>
          <a:xfrm>
            <a:off x="696285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Oval 100"/>
          <p:cNvSpPr/>
          <p:nvPr/>
        </p:nvSpPr>
        <p:spPr>
          <a:xfrm>
            <a:off x="716889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Oval 101"/>
          <p:cNvSpPr/>
          <p:nvPr/>
        </p:nvSpPr>
        <p:spPr>
          <a:xfrm>
            <a:off x="7265479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Oval 102"/>
          <p:cNvSpPr/>
          <p:nvPr/>
        </p:nvSpPr>
        <p:spPr>
          <a:xfrm>
            <a:off x="7336307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Oval 103"/>
          <p:cNvSpPr/>
          <p:nvPr/>
        </p:nvSpPr>
        <p:spPr>
          <a:xfrm>
            <a:off x="7664691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Oval 104"/>
          <p:cNvSpPr/>
          <p:nvPr/>
        </p:nvSpPr>
        <p:spPr>
          <a:xfrm>
            <a:off x="8102536" y="31318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Oval 105"/>
          <p:cNvSpPr/>
          <p:nvPr/>
        </p:nvSpPr>
        <p:spPr>
          <a:xfrm>
            <a:off x="8360092" y="32461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Oval 106"/>
          <p:cNvSpPr/>
          <p:nvPr/>
        </p:nvSpPr>
        <p:spPr>
          <a:xfrm>
            <a:off x="8360092" y="33604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Oval 107"/>
          <p:cNvSpPr/>
          <p:nvPr/>
        </p:nvSpPr>
        <p:spPr>
          <a:xfrm>
            <a:off x="8360092" y="3017520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Diamond 108"/>
          <p:cNvSpPr/>
          <p:nvPr/>
        </p:nvSpPr>
        <p:spPr>
          <a:xfrm>
            <a:off x="6483858" y="3456432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935218" y="3639311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100 грн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11100815" y="3072384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25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1100815" y="3291839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566928" y="3749039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3 · РАМЕН У СТАКАНІ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66928" y="3968496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Залити окропом 3–4 хв · вага 62–120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93–111 грн · 154 грн/100 г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6349936" y="3767327"/>
            <a:ext cx="579500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Oval 115"/>
          <p:cNvSpPr/>
          <p:nvPr/>
        </p:nvSpPr>
        <p:spPr>
          <a:xfrm>
            <a:off x="539819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Oval 116"/>
          <p:cNvSpPr/>
          <p:nvPr/>
        </p:nvSpPr>
        <p:spPr>
          <a:xfrm>
            <a:off x="5401417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Oval 117"/>
          <p:cNvSpPr/>
          <p:nvPr/>
        </p:nvSpPr>
        <p:spPr>
          <a:xfrm>
            <a:off x="574589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Oval 118"/>
          <p:cNvSpPr/>
          <p:nvPr/>
        </p:nvSpPr>
        <p:spPr>
          <a:xfrm>
            <a:off x="5955163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Oval 119"/>
          <p:cNvSpPr/>
          <p:nvPr/>
        </p:nvSpPr>
        <p:spPr>
          <a:xfrm>
            <a:off x="6428422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Oval 120"/>
          <p:cNvSpPr/>
          <p:nvPr/>
        </p:nvSpPr>
        <p:spPr>
          <a:xfrm>
            <a:off x="6489592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Oval 121"/>
          <p:cNvSpPr/>
          <p:nvPr/>
        </p:nvSpPr>
        <p:spPr>
          <a:xfrm>
            <a:off x="6589395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Oval 122"/>
          <p:cNvSpPr/>
          <p:nvPr/>
        </p:nvSpPr>
        <p:spPr>
          <a:xfrm>
            <a:off x="6621589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Oval 123"/>
          <p:cNvSpPr/>
          <p:nvPr/>
        </p:nvSpPr>
        <p:spPr>
          <a:xfrm>
            <a:off x="6621589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Oval 124"/>
          <p:cNvSpPr/>
          <p:nvPr/>
        </p:nvSpPr>
        <p:spPr>
          <a:xfrm>
            <a:off x="6679539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Oval 125"/>
          <p:cNvSpPr/>
          <p:nvPr/>
        </p:nvSpPr>
        <p:spPr>
          <a:xfrm>
            <a:off x="6679539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Oval 126"/>
          <p:cNvSpPr/>
          <p:nvPr/>
        </p:nvSpPr>
        <p:spPr>
          <a:xfrm>
            <a:off x="6885584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Oval 127"/>
          <p:cNvSpPr/>
          <p:nvPr/>
        </p:nvSpPr>
        <p:spPr>
          <a:xfrm>
            <a:off x="6885584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Oval 128"/>
          <p:cNvSpPr/>
          <p:nvPr/>
        </p:nvSpPr>
        <p:spPr>
          <a:xfrm>
            <a:off x="6885584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Oval 129"/>
          <p:cNvSpPr/>
          <p:nvPr/>
        </p:nvSpPr>
        <p:spPr>
          <a:xfrm>
            <a:off x="6885584" y="40325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Oval 130"/>
          <p:cNvSpPr/>
          <p:nvPr/>
        </p:nvSpPr>
        <p:spPr>
          <a:xfrm>
            <a:off x="7922247" y="41468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Oval 131"/>
          <p:cNvSpPr/>
          <p:nvPr/>
        </p:nvSpPr>
        <p:spPr>
          <a:xfrm>
            <a:off x="7973758" y="38039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Oval 132"/>
          <p:cNvSpPr/>
          <p:nvPr/>
        </p:nvSpPr>
        <p:spPr>
          <a:xfrm>
            <a:off x="9583483" y="3918203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Diamond 133"/>
          <p:cNvSpPr/>
          <p:nvPr/>
        </p:nvSpPr>
        <p:spPr>
          <a:xfrm>
            <a:off x="6612636" y="4242816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063996" y="4425696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104 грн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11100815" y="3858768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18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11100815" y="4078224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566928" y="4535424"/>
            <a:ext cx="2651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spc="-10">
                <a:solidFill>
                  <a:srgbClr val="303A5D"/>
                </a:solidFill>
                <a:latin typeface="Segoe UI"/>
              </a:rPr>
              <a:t>СЕГМЕНТ 4 · РИСОВІ ГАЛУШКИ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66928" y="4754880"/>
            <a:ext cx="26517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Варіння або окріп · вага 80–145 г</a:t>
            </a:r>
          </a:p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P25–P75: 106–204 грн · 136 грн/100 г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6768465" y="4553712"/>
            <a:ext cx="3155061" cy="530352"/>
          </a:xfrm>
          <a:prstGeom prst="rect">
            <a:avLst/>
          </a:prstGeom>
          <a:solidFill>
            <a:srgbClr val="DCE4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Oval 140"/>
          <p:cNvSpPr/>
          <p:nvPr/>
        </p:nvSpPr>
        <p:spPr>
          <a:xfrm>
            <a:off x="6019552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Oval 141"/>
          <p:cNvSpPr/>
          <p:nvPr/>
        </p:nvSpPr>
        <p:spPr>
          <a:xfrm>
            <a:off x="6731050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Oval 142"/>
          <p:cNvSpPr/>
          <p:nvPr/>
        </p:nvSpPr>
        <p:spPr>
          <a:xfrm>
            <a:off x="6920998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Oval 143"/>
          <p:cNvSpPr/>
          <p:nvPr/>
        </p:nvSpPr>
        <p:spPr>
          <a:xfrm>
            <a:off x="9667189" y="49331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Oval 144"/>
          <p:cNvSpPr/>
          <p:nvPr/>
        </p:nvSpPr>
        <p:spPr>
          <a:xfrm>
            <a:off x="9876453" y="45902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Oval 145"/>
          <p:cNvSpPr/>
          <p:nvPr/>
        </p:nvSpPr>
        <p:spPr>
          <a:xfrm>
            <a:off x="9876453" y="47045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Oval 146"/>
          <p:cNvSpPr/>
          <p:nvPr/>
        </p:nvSpPr>
        <p:spPr>
          <a:xfrm>
            <a:off x="9876453" y="4818888"/>
            <a:ext cx="100584" cy="100584"/>
          </a:xfrm>
          <a:prstGeom prst="ellipse">
            <a:avLst/>
          </a:prstGeom>
          <a:solidFill>
            <a:srgbClr val="3E59A8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Diamond 147"/>
          <p:cNvSpPr/>
          <p:nvPr/>
        </p:nvSpPr>
        <p:spPr>
          <a:xfrm>
            <a:off x="9638919" y="5029200"/>
            <a:ext cx="182880" cy="182880"/>
          </a:xfrm>
          <a:prstGeom prst="diamond">
            <a:avLst/>
          </a:prstGeom>
          <a:solidFill>
            <a:srgbClr val="303A5D"/>
          </a:solidFill>
          <a:ln w="9525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9090279" y="5212080"/>
            <a:ext cx="12801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40" b="1" spc="-10">
                <a:solidFill>
                  <a:srgbClr val="303A5D"/>
                </a:solidFill>
                <a:latin typeface="Segoe UI"/>
              </a:rPr>
              <a:t>медіана 198 грн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11100815" y="4645152"/>
            <a:ext cx="53035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300" b="1" spc="-10">
                <a:solidFill>
                  <a:srgbClr val="3E59A8"/>
                </a:solidFill>
                <a:latin typeface="Segoe UI"/>
              </a:rPr>
              <a:t>7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11100815" y="4864608"/>
            <a:ext cx="530352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566928" y="5559552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Шкала — грн за одну пачку, з ПДВ. Помаранчеві лінії — полиця Choi’s за фінмоделлю з маржею 15 % на різних тарифах і фактична ціна на полиці.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56692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Rectangle 153"/>
          <p:cNvSpPr/>
          <p:nvPr/>
        </p:nvSpPr>
        <p:spPr>
          <a:xfrm>
            <a:off x="566928" y="5669280"/>
            <a:ext cx="36576" cy="84124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80467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ПАКЕТ: ОДНА Й ТА САМА СМУГА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80467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Сегменти 1 і 2 лежать у 86–124 грн. Різні технології, майже однакова ціна за пачку — покупець порівнює їх напряму.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4315968" y="566928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Rectangle 157"/>
          <p:cNvSpPr/>
          <p:nvPr/>
        </p:nvSpPr>
        <p:spPr>
          <a:xfrm>
            <a:off x="4315968" y="5669280"/>
            <a:ext cx="36576" cy="841248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4553712" y="582472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СТАКАН: ВУЗЬКО І ДОРОГО ЗА ГРАМ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4553712" y="605332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93–111 грн за пачку при 62–120 г. Найщільніший сегмент за ціною і найдорожчий за грам (154 грн/100 г).</a:t>
            </a:r>
          </a:p>
        </p:txBody>
      </p:sp>
      <p:sp>
        <p:nvSpPr>
          <p:cNvPr id="161" name="Rectangle 160"/>
          <p:cNvSpPr/>
          <p:nvPr/>
        </p:nvSpPr>
        <p:spPr>
          <a:xfrm>
            <a:off x="8065008" y="5669280"/>
            <a:ext cx="3566160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Rectangle 161"/>
          <p:cNvSpPr/>
          <p:nvPr/>
        </p:nvSpPr>
        <p:spPr>
          <a:xfrm>
            <a:off x="8065008" y="5669280"/>
            <a:ext cx="36576" cy="84124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8302752" y="582472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ПОТРАПЛЯЄМО В РИНОК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302752" y="6053328"/>
            <a:ext cx="309067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105 грн лягає рівно на медіану сегмента 1, 122 — між медіаною і P75 сегмента 2. Обидві позиції всередині ринку.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ФОРМАТ І ВАГА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насправді щільна полиця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Кожна клітинка — скільки SKU корейського рамену має цей формат у цій ваговій смузі. Насиченість кольору пропорційна кількості.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55448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МАТРИЦЯ ФОРМАТ × ВАГА · SKU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8716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40–90 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90448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90–110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2180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110–125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73912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125–145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156448" y="1755648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0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145 г +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1854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Пакет (пачка)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50545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50545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92277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92277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40096" y="2048255"/>
            <a:ext cx="1380744" cy="4206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4009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35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757416" y="2048255"/>
            <a:ext cx="1380744" cy="420624"/>
          </a:xfrm>
          <a:prstGeom prst="rect">
            <a:avLst/>
          </a:prstGeom>
          <a:solidFill>
            <a:srgbClr val="5A73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75741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FFFFFF"/>
                </a:solidFill>
                <a:latin typeface="Segoe UI"/>
              </a:rPr>
              <a:t>27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174736" y="2048255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174736" y="21579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642615"/>
            <a:ext cx="1828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" b="1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05456" y="2505456"/>
            <a:ext cx="1380744" cy="420624"/>
          </a:xfrm>
          <a:prstGeom prst="rect">
            <a:avLst/>
          </a:prstGeom>
          <a:solidFill>
            <a:srgbClr val="A9B8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50545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2277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92277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340096" y="2505456"/>
            <a:ext cx="1380744" cy="420624"/>
          </a:xfrm>
          <a:prstGeom prst="rect">
            <a:avLst/>
          </a:prstGeom>
          <a:solidFill>
            <a:srgbClr val="CFD8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34009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75741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75741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174736" y="2505456"/>
            <a:ext cx="1380744" cy="420624"/>
          </a:xfrm>
          <a:prstGeom prst="rect">
            <a:avLst/>
          </a:prstGeom>
          <a:solidFill>
            <a:srgbClr val="EBEF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74736" y="2615184"/>
            <a:ext cx="1380744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—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3145536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13232" y="3154679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ВАГОВІ СМУГИ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383280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ВАГОВА СМУГА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340864" y="3383280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962656" y="3383280"/>
            <a:ext cx="777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ЧАСТКА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803904" y="3383280"/>
            <a:ext cx="1051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19472" y="3383280"/>
            <a:ext cx="9601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989320" y="3383280"/>
            <a:ext cx="5623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ЗА ФОРМАТ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3566160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40–90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40864" y="3566160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18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962656" y="3566160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19 %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803904" y="3566160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104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19472" y="3566160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154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989320" y="3566160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стакани й міні-пачки: дорого за грам, дешево за чек</a:t>
            </a:r>
          </a:p>
        </p:txBody>
      </p:sp>
      <p:sp>
        <p:nvSpPr>
          <p:cNvPr id="52" name="Rectangle 51"/>
          <p:cNvSpPr/>
          <p:nvPr/>
        </p:nvSpPr>
        <p:spPr>
          <a:xfrm>
            <a:off x="493776" y="3790188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66928" y="3826764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90–110 г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2340864" y="3826764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962656" y="3826764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9 %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803904" y="3826764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106 грн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919472" y="3826764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989320" y="3826764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перехідна смуга, мало SKU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08736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110–125 г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340864" y="4087368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36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962656" y="4087368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38 %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3803904" y="4087368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4919472" y="4087368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989320" y="4087368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найщільніша смуга ринку — Shin Ramyun, Ottogi, Paldo</a:t>
            </a:r>
          </a:p>
        </p:txBody>
      </p:sp>
      <p:sp>
        <p:nvSpPr>
          <p:cNvPr id="65" name="Rectangle 64"/>
          <p:cNvSpPr/>
          <p:nvPr/>
        </p:nvSpPr>
        <p:spPr>
          <a:xfrm>
            <a:off x="493776" y="4311396"/>
            <a:ext cx="10936224" cy="25145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566928" y="434797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125–145 г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40864" y="4347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2962656" y="4347972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28 %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803904" y="4347972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919472" y="4347972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989320" y="4347972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смуга Buldak і Chapaghetti — тут премія бренду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66928" y="460857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145 г +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340864" y="4608576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962656" y="4608576"/>
            <a:ext cx="777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6 %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803904" y="4608576"/>
            <a:ext cx="1051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201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4919472" y="4608576"/>
            <a:ext cx="9601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139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989320" y="4608576"/>
            <a:ext cx="5623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рисові галушки та нестандарт, інший привід</a:t>
            </a:r>
          </a:p>
        </p:txBody>
      </p:sp>
      <p:sp>
        <p:nvSpPr>
          <p:cNvPr id="78" name="Rectangle 77"/>
          <p:cNvSpPr/>
          <p:nvPr/>
        </p:nvSpPr>
        <p:spPr>
          <a:xfrm>
            <a:off x="56692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56692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80467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ВАГА CHOI’S — ПРАВИЛЬНА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0467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112,5–131 г потрапляє точно у дві найщільніші смуги (110–145 г, 66 % SKU). Формат і грамаж заперечень не викликають.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315968" y="4846320"/>
            <a:ext cx="3547872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4315968" y="4846320"/>
            <a:ext cx="36576" cy="114300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4553712" y="500176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ЦІНА CHOI’S — НІ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553712" y="5230368"/>
            <a:ext cx="3072384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У цих самих смугах медіана 93–112 грн і 78–86 грн/100 г. Фінмодель з маржею 15 % дає 105 і 122 грн — обидві цифри всередині цих смуг.</a:t>
            </a:r>
          </a:p>
        </p:txBody>
      </p:sp>
      <p:sp>
        <p:nvSpPr>
          <p:cNvPr id="86" name="Rectangle 85"/>
          <p:cNvSpPr/>
          <p:nvPr/>
        </p:nvSpPr>
        <p:spPr>
          <a:xfrm>
            <a:off x="8065008" y="4846320"/>
            <a:ext cx="3566160" cy="114300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8065008" y="4846320"/>
            <a:ext cx="36576" cy="114300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8302752" y="500176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Є ВІЛЬНЕ МІСЦЕ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8302752" y="5230368"/>
            <a:ext cx="3090672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Стакан — лише 6 SKU на всю категорію при ціні за грам у 2 рази вищій (166 проти 87 грн/100 г). Якщо в SIAS є стакан — це єдиний формат, де премія вже прийнята.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НАЙПОПУЛЯРНІШІ ФОРМАТИ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Які поєднання ваги й формату ринок обирає найчастіше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конкретні поєднання формату і грамажу. Праворуч — куди в цю сітку потрапляють шість SKU Choi’s.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#1 НА РИНКУ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пакет 120 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22 SKU у пакеті, медіана 93 грн, 77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Nongshim, Ottogi, Paldo — 11 мереж.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#2 · СМУГА СТІР-ФРАЮ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пакет 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 SKU, медіана 114 грн, 87 грн/100 г.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Сюди лягає Carbonara 131 г.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НАЙДЕШЕВШИЙ ВХІД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5D4B96"/>
                </a:solidFill>
                <a:latin typeface="Segoe UI"/>
              </a:rPr>
              <a:t>стакан 80 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4 SKU, медіана 70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Samyang Buldak у стакані.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 СУПОВИХ SKU CHOI’S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Жодного SKU на ринку в цій вазі.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Найближча щільна клітинка — 120 г.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РІЗНИЦЯ ВАГИ ДО СТАНДАРТУ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113 проти 120 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Choi’s на 7 г легший за стандарт.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За однакової ціни це −6 % продукту.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 СІТКИ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79 з 96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позицій лежать у 16 поєднаннях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із двома і більше SKU.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38912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13232" y="439826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ТОП ПОЄДНАНЬ ФОРМАТ × ВАГА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0" y="4398264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поєднання з двома і більше SKU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4626864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ФОРМАТ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194560" y="4626864"/>
            <a:ext cx="685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ВАГА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971800" y="4626864"/>
            <a:ext cx="502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547872" y="4626864"/>
            <a:ext cx="6400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61104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248656" y="4626864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ГРН/100 Г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272784" y="4626864"/>
            <a:ext cx="31089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ХТО ТРИМАЄ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436608" y="4626864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ЧИ Є ТУТ CHOI’S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480974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2194560" y="480974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120 г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971800" y="480974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22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547872" y="480974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261104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93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248656" y="480974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77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72784" y="480974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(9) · Ottogi (6) · Paldo (4)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436608" y="480974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 — наші 112,5–113 г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93776" y="5029200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566928" y="506577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94560" y="506577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130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71800" y="506577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547872" y="506577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261104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248656" y="506577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272784" y="506577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(3) · Samyang (2) · Nongshim (2)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436608" y="506577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так — Carbonara 131 г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532180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194560" y="532180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140 г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2971800" y="532180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547872" y="532180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261104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48656" y="532180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87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272784" y="532180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(4) · Nongshim (1) · Paldo (1)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436608" y="532180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3776" y="5541264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66928" y="5577840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194560" y="5577840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971800" y="5577840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547872" y="5577840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61104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139 грн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248656" y="5577840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132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272784" y="5577840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(5) · Paldo (1)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36608" y="5577840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66928" y="58338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рисові галушки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194560" y="5833872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145 г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2971800" y="5833872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3547872" y="5833872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261104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204 грн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248656" y="58338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141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272784" y="5833872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Yopokki (4) · Paldo (1)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9436608" y="58338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6053328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6089904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194560" y="6089904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67 г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2971800" y="6089904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547872" y="6089904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261104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107 грн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248656" y="6089904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72784" y="6089904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(3) · Ottogi (1)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9436608" y="6089904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566928" y="6345936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стакан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194560" y="6345936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80 г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971800" y="6345936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3547872" y="6345936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3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4261104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70 грн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248656" y="6345936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88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272784" y="6345936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9436608" y="6345936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  <p:sp>
        <p:nvSpPr>
          <p:cNvPr id="104" name="Rectangle 103"/>
          <p:cNvSpPr/>
          <p:nvPr/>
        </p:nvSpPr>
        <p:spPr>
          <a:xfrm>
            <a:off x="493776" y="6565392"/>
            <a:ext cx="10936224" cy="24688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TextBox 104"/>
          <p:cNvSpPr txBox="1"/>
          <p:nvPr/>
        </p:nvSpPr>
        <p:spPr>
          <a:xfrm>
            <a:off x="566928" y="6601968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пакет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194560" y="6601968"/>
            <a:ext cx="685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110 г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2971800" y="6601968"/>
            <a:ext cx="502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3547872" y="6601968"/>
            <a:ext cx="6400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261104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248656" y="6601968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86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272784" y="6601968"/>
            <a:ext cx="31089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(4)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9436608" y="6601968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1 з 4 — нижня половина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Найбільший сегмент категорії: 46 SKU у 12 мережах. Відсортовано від найдешевшої позиції.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517552101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Yeul Ramen дуже гостра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5211456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 локшина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144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68–72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100613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Teumsae Ramen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062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45521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Kimchi Ramen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67–85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Таврія В +1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5211438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Кімчі Рамен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129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5211454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Сівід Рамен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103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74–80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52114552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O'Food · Смак морепродуктів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102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74–84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52467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111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Зараз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522265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31146181018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Кімчі Рамьон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270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Ramyun овоч…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112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74–102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43157759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Cham-Pong Ramyun з море…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124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64843610042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Hwa Ramyun з гострим пе…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87–93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ПІДЛОГА СЕГМЕНТА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Ottogi, O’Food і Paldo тримають 68–93 грн за 102–144 г. Це 55–70 грн/100 г — саме з цими цінами покупець порівнює будь-який новий рамен з бульйоном.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2 з 4 — ядро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Смуга навколо медіани сегмента 104 грн. Тут стоїть Shin Ramyun і основна лінійка Nongshim.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068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Kokomen зі смаком курки…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92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226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рамен гостра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999906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Середньогостра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67–101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10058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Зі смаком морепродуктів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310777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Spicy Zanmang Loopy з б…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310746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Zanmang Loopy оригіналь…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76–113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85006966714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Otoki · Cheesy Ramen зі смаком…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95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15773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AnSungTangMyun з грибам…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74–122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11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гостра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85–122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64843610093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З сиром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00746030066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морепродуктів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9588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зі смаком г…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227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Макаронні вироби Samyan…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5514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Локшина зі смаком курки…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108–169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ЯКІР КАТЕГОРІЇ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Shin Ramyun і Kimchi Ramyun у 7–10 мережах за 110–120 грн. Це ціна, яку покупець вважає нормальною за корейський рамен.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3 з 4 — верхня половина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Позиції дорожчі за медіану: ширші лінійки Nongshim і Samyang, більші грамажі.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11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99–124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4552523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З кунжутом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115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552255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Jjambbong Ramen з м…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7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 середн…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85–125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3312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 сиром гостра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115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8801043150620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METRO +4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031146181018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Ramyun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98–124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7321177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сиру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105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112–130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315776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 морепродуктами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125–135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301480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Зі спеціями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150026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з грибами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120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128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70362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Tom Yum Том…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123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116–142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8801073113428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дуже го…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86–151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+7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73110502.jp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Зі смаком курки гостра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93–156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Grono +4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ДЕ ЗАКІНЧУЄТЬСЯ СЕГМЕНТ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Вище 150 грн у рамені з бульйоном залишаються поодинокі позиції. Полиця Choi’s за фінмоделлю (155–199 грн для супових SKU) починається там, де сегмент уже закінчився.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1 · РАМЕН У ПАКЕТІ · З БУЛЬЙОНОМ   ·   46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з бульйоном 4 з 4 — стеля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Найдорожчі позиції сегмента. Shin Ramyun Black — преміальна суб-лінійка з іншим складом.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СЕГМЕНТ 1 · РАМЕН У ПАКЕТІ · З БУЛЬЙОНОМ   ·   Варіння 4–5 хв · з бульйоном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3312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Гостра з сиром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Космос · Grono +6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003114601737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Рамен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1547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Spicy &amp; Creamy Toomba K…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137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6022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Black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C4820A"/>
                </a:solidFill>
                <a:latin typeface="Segoe UI"/>
              </a:rPr>
              <a:t>130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202–209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СТЕЛЯ — 209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І це Shin Ramyun Black, преміум-версія бренду №1 з 10-річною історією на ринку. Новий бренд не може стартувати з цієї полиці.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із соусом 1 з 2 — сюди потрапляють Carbonara Spicy і Gouda Cheese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25 SKU, медіана 100 грн, 77 грн/100 г. Сегмент, у якому Choi’s Carbonara конкурує напряму.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88017311686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fire bull · Stir-Fried Ramen Beef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138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Onde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715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гостр…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8436310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Compaghetti локшина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110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9555050302846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зі смак…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9555050302839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Курка б…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9555050302808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Spicy T…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122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9555050302815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Bibigo · Стір-фрай Рамен Cheese…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4500920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120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104517822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Stir-Fry Рамен із сиром…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61674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Stir Fry Шин Рамьойн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68741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Ramyun Stir Fry зі…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136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96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648436100057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Bibim Men в корейському…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72–124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Grono · NOVUS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0074603005922.jp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Chacharoni зі смаком чо…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90–115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Зараз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ПРЯМИЙ АНАЛОГ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Paldo Volcano Carbonara 130 г за 114 грн і Samyang Buldak Carbonara 130 г за 140 грн — це рівно той самий продукт, що й Choi’s Carbonara 131 г за 125,20 грн.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2 · РАМЕН У ПАКЕТІ · ІЗ СОУСОМ   ·   25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із соусом 2 з 2 — верх сегмента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Buldak у різних смаках і мультипаки. Тут — верхня межа цін сегмента.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1E9EA6"/>
                </a:solidFill>
                <a:latin typeface="Segoe UI"/>
              </a:rPr>
              <a:t>СЕГМЕНТ 2 · РАМЕН У ПАКЕТІ · ІЗ СОУСОМ   ·   Варіння 4–5 хв · воду злити   ·   Маса — сухого продукту   ·   привід: Домашня вечеря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064843610135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Stir fried з куркою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86–123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3947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Jjajang зі смако…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108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0648436310685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Carbonara куряча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105–121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15772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Chapaghetti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89–136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Клас · METRO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64843610127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Volcano Chicken з курко…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84–123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3760344350847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· Карбон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131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113381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Рамен з гострою…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94–184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+4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1043018470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Toomba Spicy&amp;Creamy Sti…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137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131–154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+4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1073116832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880173116863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вершко…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157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Восторг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73116849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Tangle зі смаком часник…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1E9EA6"/>
                </a:solidFill>
                <a:latin typeface="Segoe UI"/>
              </a:rPr>
              <a:t>105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78–157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Клас · Onde · Восторг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ТАКЕ 184 ГРН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Максимум сегмента — мультипак Samyang. Одиночна пачка рамену із соусом ніде не перетинає 170 грн.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3 · РАМЕН У СТАКАНІ   ·   18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 — увесь сегмент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18 SKU у 8 мережах. Готується без плити, маса 62–120 г.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5D4B96"/>
                </a:solidFill>
                <a:latin typeface="Segoe UI"/>
              </a:rPr>
              <a:t>СЕГМЕНТ 3 · РАМЕН У СТАКАНІ   ·   Залити окропом 3–4 хв   ·   Маса — сухого продукту   ·   привід: Офіс і дорога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7311404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Bulgogi Рамен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114050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Jjanang Рамен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73114029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Кімчі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80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65–86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0645175570288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Ottogi · Jin Ramen Гостра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97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9" name="Picture 48" descr="0064843610006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020556" y="2011679"/>
            <a:ext cx="548640" cy="548640"/>
          </a:xfrm>
          <a:prstGeom prst="rect">
            <a:avLst/>
          </a:prstGeom>
        </p:spPr>
      </p:pic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Jumbo Noodle Hot &amp; Spic…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120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99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880107321077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70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34–149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Grono · Клас +3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0031146017119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Shrimp в стакані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103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003114627060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Шин Рамьон гостра сублі…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1043049566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Red Super Spicy го…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68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105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801043029384.jp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Cup Ramyun Shrimp гостра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67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8" name="Picture 97" descr="00031146017096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020556" y="3794760"/>
            <a:ext cx="548640" cy="548640"/>
          </a:xfrm>
          <a:prstGeom prst="rect">
            <a:avLst/>
          </a:prstGeom>
        </p:spPr>
      </p:pic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Tempura Udon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801043029315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Суп Neoguri з морепроду…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5D4B96"/>
                </a:solidFill>
                <a:latin typeface="Segoe UI"/>
              </a:rPr>
              <a:t>62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ВІЛЬНА НІША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18 SKU на всю країну при ціні за грам удвічі вищій за пакет. Якщо в SIAS є стакан — це єдиний формат, де премія за грам ринком уже прийнята.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СЕГМЕНТ 4 · РИСОВІ ГАЛУШКИ ТА РИСОВА ЛОКШИНА   ·   7 ПОЗИЦІЙ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Рамен у стакані, частина 2, і рисові галушки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19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Залишок сегмента 3 і повністю сегмент 4: рисові галушки та рисова локшина.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03A5D"/>
                </a:solidFill>
                <a:latin typeface="Segoe UI"/>
              </a:rPr>
              <a:t>СЕГМЕНТ 4 · РИСОВІ ГАЛУШКИ ТА РИСОВА ЛОКШИНА   ·   Варіння або окріп   ·   Маса — сухого продукту   ·   привід: Снек і десерт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0880104302812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2011679"/>
            <a:ext cx="548640" cy="5486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Soon Veggie Cup Noodle…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67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111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0880107321125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8900" y="2011679"/>
            <a:ext cx="548640" cy="54864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Buldak Hot Chicken сир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137–150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Клас · Таврія В +1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" name="Picture 27" descr="08801043028158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29100" y="2011679"/>
            <a:ext cx="548640" cy="548640"/>
          </a:xfrm>
          <a:prstGeom prst="rect">
            <a:avLst/>
          </a:prstGeom>
        </p:spPr>
      </p:pic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Kimchi Shin Ramyun Cup…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75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100–158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 · METRO · Onde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8801043031110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Nongshim · Shin Cup локшина з гриб…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195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Grono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880107311403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Samyang · Topokki Рамен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80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65–104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Onde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Baekje · Рисова зі смаком кімчі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92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106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6" name="Picture 55" descr="006484361010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20756" y="2011679"/>
            <a:ext cx="548640" cy="548640"/>
          </a:xfrm>
          <a:prstGeom prst="rect">
            <a:avLst/>
          </a:prstGeom>
        </p:spPr>
      </p:pic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Paldo · Rabokki локшина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101–124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09054402356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 сиром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198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809054402363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Гострі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8809054402370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Зі смаком кімчі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809054402349.jp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Yopokki · Гостро-солодкі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03A5D"/>
                </a:solidFill>
                <a:latin typeface="Segoe UI"/>
              </a:rPr>
              <a:t>145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204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METRO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ЦЕ НЕ ОРІЄНТИР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Yopokki за 198–204 грн — рисовий снек, а не локшина. Використовувати цю ціну як доказ, що «корейське може коштувати 200 грн», не можна.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СУМІЖНА ПОЛИЦЯ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Не-корейська локшина: підлога, від якої рахує покупець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14 найпоширеніших не-корейських SKU локшини швидкого приготування — по одному на бренд. Вони формують уявлення про «нормальну» ціну в категорії.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36192"/>
            <a:ext cx="36576" cy="192024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54480"/>
            <a:ext cx="1069848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1" spc="-10">
                <a:solidFill>
                  <a:srgbClr val="3E59A8"/>
                </a:solidFill>
                <a:latin typeface="Segoe UI"/>
              </a:rPr>
              <a:t>СУМІЖНА ПОЛИЦЯ · УКРАЇНА ТА АЗІЯ БЕЗ КОРЕЇ   ·   Варіння або окріп   ·   50–200 г   ·   9–144 грн   ·   18–146 грн/100 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9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Garnenka зі смаком курки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58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9–13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ЧудоМаркет · ЕКО · Епіцентр +2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1671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2311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2311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22860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Daryna зі смаком курки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2860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50 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860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860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Епіцентр · Торба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7673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38313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831336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8862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Хуторок зі смаком курки гостра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862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862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13–16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8862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МегаМаркет +1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367528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31536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5" name="Picture 34" descr="04823097413371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29300" y="2011679"/>
            <a:ext cx="548640" cy="548640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486400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Щедро Том Ям з морепродуктами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12–18 грн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486400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+3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9585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70225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2" name="Picture 41" descr="04820179256819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420356" y="2011679"/>
            <a:ext cx="548640" cy="548640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70774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Reeva зі смаком грибів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0774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60 Г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774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15–22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70774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Космос · ЕКО +9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5587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6227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6227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776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ChiBi Sweet Chili Crab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6776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85 Г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6776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18–25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6776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ЕКО · Ідеал · NOVUS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158984" y="188366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0222992" y="194767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0222992" y="2203704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277856" y="2660904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Acecook Hao Hao зі смаком Кімчі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0277856" y="295351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77 Г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0277856" y="309981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38–51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0277856" y="331927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669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309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3" name="Picture 62" descr="08852018102021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794760"/>
            <a:ext cx="548640" cy="548640"/>
          </a:xfrm>
          <a:prstGeom prst="rect">
            <a:avLst/>
          </a:prstGeom>
        </p:spPr>
      </p:pic>
      <p:sp>
        <p:nvSpPr>
          <p:cNvPr id="64" name="TextBox 63"/>
          <p:cNvSpPr txBox="1"/>
          <p:nvPr/>
        </p:nvSpPr>
        <p:spPr>
          <a:xfrm>
            <a:off x="6858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рамен Yum Yum Tom Yum з креветками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858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858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60 грн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858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68" name="Rectangle 67"/>
          <p:cNvSpPr/>
          <p:nvPr/>
        </p:nvSpPr>
        <p:spPr>
          <a:xfrm>
            <a:off x="21671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22311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0" name="Picture 69" descr="08936010681422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628900" y="3794760"/>
            <a:ext cx="548640" cy="548640"/>
          </a:xfrm>
          <a:prstGeom prst="rect">
            <a:avLst/>
          </a:prstGeom>
        </p:spPr>
      </p:pic>
      <p:sp>
        <p:nvSpPr>
          <p:cNvPr id="71" name="TextBox 70"/>
          <p:cNvSpPr txBox="1"/>
          <p:nvPr/>
        </p:nvSpPr>
        <p:spPr>
          <a:xfrm>
            <a:off x="22860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Micoem Cung Dinh з куркою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22860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68 Г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2860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50–87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2860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Космос +5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7673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38313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04820172444398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29100" y="3794760"/>
            <a:ext cx="548640" cy="548640"/>
          </a:xfrm>
          <a:prstGeom prst="rect">
            <a:avLst/>
          </a:prstGeom>
        </p:spPr>
      </p:pic>
      <p:sp>
        <p:nvSpPr>
          <p:cNvPr id="78" name="TextBox 77"/>
          <p:cNvSpPr txBox="1"/>
          <p:nvPr/>
        </p:nvSpPr>
        <p:spPr>
          <a:xfrm>
            <a:off x="38862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Hokkaido Club Рамен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862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80 Г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862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62–90 грн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8862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Епіцентр · МегаМаркет +4</a:t>
            </a:r>
          </a:p>
        </p:txBody>
      </p:sp>
      <p:sp>
        <p:nvSpPr>
          <p:cNvPr id="82" name="Rectangle 81"/>
          <p:cNvSpPr/>
          <p:nvPr/>
        </p:nvSpPr>
        <p:spPr>
          <a:xfrm>
            <a:off x="5367528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5431536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4" name="Picture 83" descr="08934563628154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829300" y="3794760"/>
            <a:ext cx="548640" cy="548640"/>
          </a:xfrm>
          <a:prstGeom prst="rect">
            <a:avLst/>
          </a:prstGeom>
        </p:spPr>
      </p:pic>
      <p:sp>
        <p:nvSpPr>
          <p:cNvPr id="85" name="TextBox 84"/>
          <p:cNvSpPr txBox="1"/>
          <p:nvPr/>
        </p:nvSpPr>
        <p:spPr>
          <a:xfrm>
            <a:off x="5486400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Ippin класичний рамен Хаката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5486400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73 Г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486400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82–97 грн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486400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Grono</a:t>
            </a:r>
          </a:p>
        </p:txBody>
      </p:sp>
      <p:sp>
        <p:nvSpPr>
          <p:cNvPr id="89" name="Rectangle 88"/>
          <p:cNvSpPr/>
          <p:nvPr/>
        </p:nvSpPr>
        <p:spPr>
          <a:xfrm>
            <a:off x="69585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0225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1" name="Picture 90" descr="08585002445797.jp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420356" y="3794760"/>
            <a:ext cx="548640" cy="548640"/>
          </a:xfrm>
          <a:prstGeom prst="rect">
            <a:avLst/>
          </a:prstGeom>
        </p:spPr>
      </p:pic>
      <p:sp>
        <p:nvSpPr>
          <p:cNvPr id="92" name="TextBox 91"/>
          <p:cNvSpPr txBox="1"/>
          <p:nvPr/>
        </p:nvSpPr>
        <p:spPr>
          <a:xfrm>
            <a:off x="70774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Макаронні вироби МІВІНА® Street Fo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0774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121 Г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0774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81–108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0774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Ідеал +9</a:t>
            </a:r>
          </a:p>
        </p:txBody>
      </p:sp>
      <p:sp>
        <p:nvSpPr>
          <p:cNvPr id="96" name="Rectangle 95"/>
          <p:cNvSpPr/>
          <p:nvPr/>
        </p:nvSpPr>
        <p:spPr>
          <a:xfrm>
            <a:off x="85587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6227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622792" y="3986783"/>
            <a:ext cx="134416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00" b="0" spc="-10">
                <a:solidFill>
                  <a:srgbClr val="9FA9C4"/>
                </a:solidFill>
                <a:latin typeface="Segoe UI"/>
              </a:rPr>
              <a:t>фото немає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6776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рисова Bich-Chi Vina Pho Ga зі сма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6776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70 Г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86776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100–108 грн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86776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МегаМаркет · Ultramarket +1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10158984" y="3666744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10222992" y="3730752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5" name="Picture 104" descr="08936010681545.jp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0620756" y="3794760"/>
            <a:ext cx="548640" cy="548640"/>
          </a:xfrm>
          <a:prstGeom prst="rect">
            <a:avLst/>
          </a:prstGeom>
        </p:spPr>
      </p:pic>
      <p:sp>
        <p:nvSpPr>
          <p:cNvPr id="106" name="TextBox 105"/>
          <p:cNvSpPr txBox="1"/>
          <p:nvPr/>
        </p:nvSpPr>
        <p:spPr>
          <a:xfrm>
            <a:off x="10277856" y="4443983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Cung Dinh Kool Korean BBQ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0277856" y="4736592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3E59A8"/>
                </a:solidFill>
                <a:latin typeface="Segoe UI"/>
              </a:rPr>
              <a:t>105 Г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10277856" y="4882896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110–144 грн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10277856" y="5102352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Ашан · ЧудоМаркет · Grono +1</a:t>
            </a:r>
          </a:p>
        </p:txBody>
      </p:sp>
      <p:sp>
        <p:nvSpPr>
          <p:cNvPr id="110" name="Rectangle 109"/>
          <p:cNvSpPr/>
          <p:nvPr/>
        </p:nvSpPr>
        <p:spPr>
          <a:xfrm>
            <a:off x="566928" y="5532120"/>
            <a:ext cx="11064240" cy="8229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566928" y="5532120"/>
            <a:ext cx="36576" cy="822960"/>
          </a:xfrm>
          <a:prstGeom prst="rect">
            <a:avLst/>
          </a:prstGeom>
          <a:solidFill>
            <a:srgbClr val="3E59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804672" y="5687568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ЦЕ ОЗНАЧАЄ ДЛЯ ЦІНИ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804672" y="5916168"/>
            <a:ext cx="1058875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Український мас-маркет — 9–22 грн за 50–60 г (18–33 грн/100 г). Корейський рамен коштує у 2,5–3 рази дорожче за грам, і ринок це приймає. Choi’s за фінмоделлю з маржею 15 % — 93–99 грн/100 г, тобто рівень Samyang (93) і дешевше за Nongshim (107).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РИТЕЙЛ-АУДИТ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Хто з мереж узагалі має корейський рамен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Суцільна перевірка онлайн-каталогів 18 мереж, зріз 29.09.2026. SKU — унікальні позиції корейського рамену в каталозі мережі.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27632"/>
            <a:ext cx="21945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МЕРЕЖА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34640" y="1627632"/>
            <a:ext cx="155448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ПОКРИТТЯ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1627632"/>
            <a:ext cx="5486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1627632"/>
            <a:ext cx="9144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МЕДІАНА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27632"/>
            <a:ext cx="12801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ДІАПАЗОН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16368" y="1627632"/>
            <a:ext cx="41148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БРЕНДИ НА ПОЛИЦІ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18105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834640" y="18105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80560" y="18105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20640" y="18105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18105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65–205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16368" y="18105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Ottogi · O’Food · Bibigo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93776" y="202539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20619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Grono (Вінниця)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20619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80560" y="20619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20619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126480" y="20619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72–205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16368" y="20619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Paldo · Yopokki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3134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Onde (Чернівці)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834640" y="23134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80560" y="23134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23134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126480" y="23134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76–157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16368" y="23134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3776" y="252831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66928" y="25648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2834640" y="25648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C&amp;C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80560" y="25648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120640" y="25648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126480" y="25648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105–204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516368" y="25648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66928" y="281635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834640" y="281635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480560" y="281635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14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120640" y="281635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98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26480" y="281635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70–138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516368" y="281635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93776" y="303123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" y="306781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«Клас» (Харків)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2834640" y="306781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480560" y="306781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20640" y="306781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126480" y="306781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516368" y="306781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66928" y="331927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«Восторг» (Харків)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834640" y="331927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80560" y="331927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5120640" y="331927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137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126480" y="331927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102–157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516368" y="331927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61" name="Rectangle 60"/>
          <p:cNvSpPr/>
          <p:nvPr/>
        </p:nvSpPr>
        <p:spPr>
          <a:xfrm>
            <a:off x="493776" y="3534155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66928" y="357073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«Космос» (Одеса)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834640" y="357073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80560" y="357073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120640" y="357073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357073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516368" y="357073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3822191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«Таврія В»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2834640" y="3822191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480560" y="3822191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120640" y="3822191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126480" y="3822191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77–143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7516368" y="3822191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 · Ottogi · Choi’s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93776" y="403707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66928" y="40736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834640" y="40736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480560" y="40736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8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120640" y="40736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128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126480" y="40736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516368" y="40736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66928" y="432511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«ЧудоМаркет»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2834640" y="432511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4480560" y="432511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120640" y="432511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126480" y="432511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100–149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516368" y="432511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Nongshim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93776" y="453999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566928" y="457657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«Торба»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2834640" y="457657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регіональна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4480560" y="457657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20640" y="457657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126480" y="457657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138–139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516368" y="457657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566928" y="482803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2834640" y="482803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· №1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480560" y="482803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120640" y="482803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126480" y="482803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90–199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516368" y="482803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(3) · Nongshim (1)</a:t>
            </a:r>
          </a:p>
        </p:txBody>
      </p:sp>
      <p:sp>
        <p:nvSpPr>
          <p:cNvPr id="100" name="Rectangle 99"/>
          <p:cNvSpPr/>
          <p:nvPr/>
        </p:nvSpPr>
        <p:spPr>
          <a:xfrm>
            <a:off x="493776" y="5042916"/>
            <a:ext cx="10936224" cy="24231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566928" y="507949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МегаМаркет · Ultramarket · ЕКО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834640" y="507949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4480560" y="507949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5120640" y="507949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6126480" y="507949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7516368" y="507949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66928" y="5330952"/>
            <a:ext cx="21945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Епіцентр · «Ідеал»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2834640" y="5330952"/>
            <a:ext cx="155448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національна / регіон.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4480560" y="5330952"/>
            <a:ext cx="548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5120640" y="5330952"/>
            <a:ext cx="9144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6126480" y="5330952"/>
            <a:ext cx="12801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7516368" y="5330952"/>
            <a:ext cx="41148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категорії немає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56692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56692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80467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№1 · «СІЛЬПО»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0467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Найбільша мережа країни тримає 4 SKU корейського рамену. Полиця відкрита — але вхід там 90–139 грн.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4315968" y="5486400"/>
            <a:ext cx="3547872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4315968" y="5486400"/>
            <a:ext cx="36576" cy="77724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553712" y="5641848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ДИРКА №2 · П’ЯТЬ МЕРЕЖ З НУЛЕМ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4553712" y="5870448"/>
            <a:ext cx="3072384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МегаМаркет, Ultramarket, ЕКО, Епіцентр, «Ідеал» — 0 SKU. Це аргумент для дистрибуції, не для ціни.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8065008" y="5486400"/>
            <a:ext cx="3566160" cy="77724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8065008" y="5486400"/>
            <a:ext cx="36576" cy="77724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8302752" y="5641848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ОДИН ПОСТАЧАЛЬНИК НА ДВІ МЕРЕЖІ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8302752" y="5870448"/>
            <a:ext cx="3090672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0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ідентичні 12 SKU і той самий діапазон. Саме там стоїть Choi’s.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КОРЕЙСЬКІ БРЕНДИ В МЕРЕЖАХ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Полиця не порожня — вона зайнята і поділена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Скільки позицій кожного бренду стоїть у кожній мережі. Насиченість кольору пропорційна кількості. Зріз 29.09.2026.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105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Ашан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7919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Grono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Onde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165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METRO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8523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«Зараз»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5391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Космос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2259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Таврія В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91271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NOVUS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59952" y="1700784"/>
            <a:ext cx="8686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«Сільпо»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11511" y="1700784"/>
            <a:ext cx="21031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717890"/>
                </a:solidFill>
                <a:latin typeface="Segoe UI"/>
              </a:rPr>
              <a:t>ВСЬОГО У ЗРІЗІ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2093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Samyang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83794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83794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0662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70662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75303" y="19842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753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443984" y="1984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439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312664" y="19842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1266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18134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18134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05002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5002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918703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918703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87384" y="1984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8787384" y="2075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11511" y="2103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72 позиції · 11 мереж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551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Nongshim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837943" y="2441448"/>
            <a:ext cx="813815" cy="402336"/>
          </a:xfrm>
          <a:prstGeom prst="rect">
            <a:avLst/>
          </a:prstGeom>
          <a:solidFill>
            <a:srgbClr val="1A74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83794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17</a:t>
            </a:r>
          </a:p>
        </p:txBody>
      </p:sp>
      <p:sp>
        <p:nvSpPr>
          <p:cNvPr id="43" name="Rectangle 42"/>
          <p:cNvSpPr/>
          <p:nvPr/>
        </p:nvSpPr>
        <p:spPr>
          <a:xfrm>
            <a:off x="2706623" y="24414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70662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75303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5753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11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443984" y="24414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44439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312664" y="2441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31266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18134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8134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05002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705002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55" name="Rectangle 54"/>
          <p:cNvSpPr/>
          <p:nvPr/>
        </p:nvSpPr>
        <p:spPr>
          <a:xfrm>
            <a:off x="7918703" y="24414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18703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787384" y="2441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787384" y="2532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811511" y="2560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71 позиція · 10 мереж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66928" y="30083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Paldo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37943" y="2898648"/>
            <a:ext cx="813815" cy="402336"/>
          </a:xfrm>
          <a:prstGeom prst="rect">
            <a:avLst/>
          </a:prstGeom>
          <a:solidFill>
            <a:srgbClr val="359B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83794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FFFFFF"/>
                </a:solidFill>
                <a:latin typeface="Segoe UI"/>
              </a:rPr>
              <a:t>13</a:t>
            </a:r>
          </a:p>
        </p:txBody>
      </p:sp>
      <p:sp>
        <p:nvSpPr>
          <p:cNvPr id="63" name="Rectangle 62"/>
          <p:cNvSpPr/>
          <p:nvPr/>
        </p:nvSpPr>
        <p:spPr>
          <a:xfrm>
            <a:off x="2706623" y="28986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70662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5" name="Rectangle 64"/>
          <p:cNvSpPr/>
          <p:nvPr/>
        </p:nvSpPr>
        <p:spPr>
          <a:xfrm>
            <a:off x="35753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753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4439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44439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31266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31266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18134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18134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3" name="Rectangle 72"/>
          <p:cNvSpPr/>
          <p:nvPr/>
        </p:nvSpPr>
        <p:spPr>
          <a:xfrm>
            <a:off x="705002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705002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5" name="Rectangle 74"/>
          <p:cNvSpPr/>
          <p:nvPr/>
        </p:nvSpPr>
        <p:spPr>
          <a:xfrm>
            <a:off x="7918703" y="28986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918703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77" name="Rectangle 76"/>
          <p:cNvSpPr/>
          <p:nvPr/>
        </p:nvSpPr>
        <p:spPr>
          <a:xfrm>
            <a:off x="8787384" y="28986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8787384" y="29900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9811511" y="30175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26 позицій · 5 мереж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34655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Ottogi</a:t>
            </a:r>
          </a:p>
        </p:txBody>
      </p:sp>
      <p:sp>
        <p:nvSpPr>
          <p:cNvPr id="81" name="Rectangle 80"/>
          <p:cNvSpPr/>
          <p:nvPr/>
        </p:nvSpPr>
        <p:spPr>
          <a:xfrm>
            <a:off x="1837943" y="3355848"/>
            <a:ext cx="813815" cy="402336"/>
          </a:xfrm>
          <a:prstGeom prst="rect">
            <a:avLst/>
          </a:prstGeom>
          <a:solidFill>
            <a:srgbClr val="6BBCB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83794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83" name="Rectangle 82"/>
          <p:cNvSpPr/>
          <p:nvPr/>
        </p:nvSpPr>
        <p:spPr>
          <a:xfrm>
            <a:off x="2706623" y="33558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270662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85" name="Rectangle 84"/>
          <p:cNvSpPr/>
          <p:nvPr/>
        </p:nvSpPr>
        <p:spPr>
          <a:xfrm>
            <a:off x="35753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35753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7" name="Rectangle 86"/>
          <p:cNvSpPr/>
          <p:nvPr/>
        </p:nvSpPr>
        <p:spPr>
          <a:xfrm>
            <a:off x="44439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44439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89" name="Rectangle 88"/>
          <p:cNvSpPr/>
          <p:nvPr/>
        </p:nvSpPr>
        <p:spPr>
          <a:xfrm>
            <a:off x="531266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531266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1" name="Rectangle 90"/>
          <p:cNvSpPr/>
          <p:nvPr/>
        </p:nvSpPr>
        <p:spPr>
          <a:xfrm>
            <a:off x="618134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18134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3" name="Rectangle 92"/>
          <p:cNvSpPr/>
          <p:nvPr/>
        </p:nvSpPr>
        <p:spPr>
          <a:xfrm>
            <a:off x="7050024" y="33558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705002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95" name="Rectangle 94"/>
          <p:cNvSpPr/>
          <p:nvPr/>
        </p:nvSpPr>
        <p:spPr>
          <a:xfrm>
            <a:off x="7918703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7918703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7" name="Rectangle 96"/>
          <p:cNvSpPr/>
          <p:nvPr/>
        </p:nvSpPr>
        <p:spPr>
          <a:xfrm>
            <a:off x="8787384" y="33558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TextBox 97"/>
          <p:cNvSpPr txBox="1"/>
          <p:nvPr/>
        </p:nvSpPr>
        <p:spPr>
          <a:xfrm>
            <a:off x="8787384" y="34472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9811511" y="34747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19 позицій · 5 мереж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66928" y="39227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O’Food</a:t>
            </a:r>
          </a:p>
        </p:txBody>
      </p:sp>
      <p:sp>
        <p:nvSpPr>
          <p:cNvPr id="101" name="Rectangle 100"/>
          <p:cNvSpPr/>
          <p:nvPr/>
        </p:nvSpPr>
        <p:spPr>
          <a:xfrm>
            <a:off x="1837943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2" name="TextBox 101"/>
          <p:cNvSpPr txBox="1"/>
          <p:nvPr/>
        </p:nvSpPr>
        <p:spPr>
          <a:xfrm>
            <a:off x="183794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03" name="Rectangle 102"/>
          <p:cNvSpPr/>
          <p:nvPr/>
        </p:nvSpPr>
        <p:spPr>
          <a:xfrm>
            <a:off x="270662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0662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35753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35753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7" name="Rectangle 106"/>
          <p:cNvSpPr/>
          <p:nvPr/>
        </p:nvSpPr>
        <p:spPr>
          <a:xfrm>
            <a:off x="44439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8" name="TextBox 107"/>
          <p:cNvSpPr txBox="1"/>
          <p:nvPr/>
        </p:nvSpPr>
        <p:spPr>
          <a:xfrm>
            <a:off x="44439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09" name="Rectangle 108"/>
          <p:cNvSpPr/>
          <p:nvPr/>
        </p:nvSpPr>
        <p:spPr>
          <a:xfrm>
            <a:off x="5312664" y="38130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531266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618134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2" name="TextBox 111"/>
          <p:cNvSpPr txBox="1"/>
          <p:nvPr/>
        </p:nvSpPr>
        <p:spPr>
          <a:xfrm>
            <a:off x="618134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3" name="Rectangle 112"/>
          <p:cNvSpPr/>
          <p:nvPr/>
        </p:nvSpPr>
        <p:spPr>
          <a:xfrm>
            <a:off x="705002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4" name="TextBox 113"/>
          <p:cNvSpPr txBox="1"/>
          <p:nvPr/>
        </p:nvSpPr>
        <p:spPr>
          <a:xfrm>
            <a:off x="705002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5" name="Rectangle 114"/>
          <p:cNvSpPr/>
          <p:nvPr/>
        </p:nvSpPr>
        <p:spPr>
          <a:xfrm>
            <a:off x="7918703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7918703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7" name="Rectangle 116"/>
          <p:cNvSpPr/>
          <p:nvPr/>
        </p:nvSpPr>
        <p:spPr>
          <a:xfrm>
            <a:off x="8787384" y="38130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TextBox 117"/>
          <p:cNvSpPr txBox="1"/>
          <p:nvPr/>
        </p:nvSpPr>
        <p:spPr>
          <a:xfrm>
            <a:off x="8787384" y="39044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9811511" y="39319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8 позицій · 2 мережі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566928" y="43799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Bibigo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1837943" y="4270248"/>
            <a:ext cx="813815" cy="402336"/>
          </a:xfrm>
          <a:prstGeom prst="rect">
            <a:avLst/>
          </a:prstGeom>
          <a:solidFill>
            <a:srgbClr val="A1D5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83794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123" name="Rectangle 122"/>
          <p:cNvSpPr/>
          <p:nvPr/>
        </p:nvSpPr>
        <p:spPr>
          <a:xfrm>
            <a:off x="270662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270662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5" name="Rectangle 124"/>
          <p:cNvSpPr/>
          <p:nvPr/>
        </p:nvSpPr>
        <p:spPr>
          <a:xfrm>
            <a:off x="35753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TextBox 125"/>
          <p:cNvSpPr txBox="1"/>
          <p:nvPr/>
        </p:nvSpPr>
        <p:spPr>
          <a:xfrm>
            <a:off x="35753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7" name="Rectangle 126"/>
          <p:cNvSpPr/>
          <p:nvPr/>
        </p:nvSpPr>
        <p:spPr>
          <a:xfrm>
            <a:off x="44439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44439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29" name="Rectangle 128"/>
          <p:cNvSpPr/>
          <p:nvPr/>
        </p:nvSpPr>
        <p:spPr>
          <a:xfrm>
            <a:off x="531266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0" name="TextBox 129"/>
          <p:cNvSpPr txBox="1"/>
          <p:nvPr/>
        </p:nvSpPr>
        <p:spPr>
          <a:xfrm>
            <a:off x="531266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1" name="Rectangle 130"/>
          <p:cNvSpPr/>
          <p:nvPr/>
        </p:nvSpPr>
        <p:spPr>
          <a:xfrm>
            <a:off x="618134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18134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3" name="Rectangle 132"/>
          <p:cNvSpPr/>
          <p:nvPr/>
        </p:nvSpPr>
        <p:spPr>
          <a:xfrm>
            <a:off x="705002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4" name="TextBox 133"/>
          <p:cNvSpPr txBox="1"/>
          <p:nvPr/>
        </p:nvSpPr>
        <p:spPr>
          <a:xfrm>
            <a:off x="705002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5" name="Rectangle 134"/>
          <p:cNvSpPr/>
          <p:nvPr/>
        </p:nvSpPr>
        <p:spPr>
          <a:xfrm>
            <a:off x="7918703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TextBox 135"/>
          <p:cNvSpPr txBox="1"/>
          <p:nvPr/>
        </p:nvSpPr>
        <p:spPr>
          <a:xfrm>
            <a:off x="7918703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7" name="Rectangle 136"/>
          <p:cNvSpPr/>
          <p:nvPr/>
        </p:nvSpPr>
        <p:spPr>
          <a:xfrm>
            <a:off x="8787384" y="42702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8787384" y="43616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811511" y="43891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4 позиції · 1 мережа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566928" y="4837176"/>
            <a:ext cx="111556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1" spc="-10">
                <a:solidFill>
                  <a:srgbClr val="303A5D"/>
                </a:solidFill>
                <a:latin typeface="Segoe UI"/>
              </a:rPr>
              <a:t>Choi’s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183794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83794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3" name="Rectangle 142"/>
          <p:cNvSpPr/>
          <p:nvPr/>
        </p:nvSpPr>
        <p:spPr>
          <a:xfrm>
            <a:off x="270662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270662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5" name="Rectangle 144"/>
          <p:cNvSpPr/>
          <p:nvPr/>
        </p:nvSpPr>
        <p:spPr>
          <a:xfrm>
            <a:off x="35753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35753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7" name="Rectangle 146"/>
          <p:cNvSpPr/>
          <p:nvPr/>
        </p:nvSpPr>
        <p:spPr>
          <a:xfrm>
            <a:off x="44439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4439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49" name="Rectangle 148"/>
          <p:cNvSpPr/>
          <p:nvPr/>
        </p:nvSpPr>
        <p:spPr>
          <a:xfrm>
            <a:off x="531266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531266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1" name="Rectangle 150"/>
          <p:cNvSpPr/>
          <p:nvPr/>
        </p:nvSpPr>
        <p:spPr>
          <a:xfrm>
            <a:off x="618134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618134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3" name="Rectangle 152"/>
          <p:cNvSpPr/>
          <p:nvPr/>
        </p:nvSpPr>
        <p:spPr>
          <a:xfrm>
            <a:off x="7050024" y="4727448"/>
            <a:ext cx="813815" cy="402336"/>
          </a:xfrm>
          <a:prstGeom prst="rect">
            <a:avLst/>
          </a:prstGeom>
          <a:solidFill>
            <a:srgbClr val="C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705002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55" name="Rectangle 154"/>
          <p:cNvSpPr/>
          <p:nvPr/>
        </p:nvSpPr>
        <p:spPr>
          <a:xfrm>
            <a:off x="7918703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7918703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7" name="Rectangle 156"/>
          <p:cNvSpPr/>
          <p:nvPr/>
        </p:nvSpPr>
        <p:spPr>
          <a:xfrm>
            <a:off x="8787384" y="4727448"/>
            <a:ext cx="813815" cy="402336"/>
          </a:xfrm>
          <a:prstGeom prst="rect">
            <a:avLst/>
          </a:prstGeom>
          <a:solidFill>
            <a:srgbClr val="ECF6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8787384" y="4818888"/>
            <a:ext cx="813815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—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9811511" y="4846320"/>
            <a:ext cx="21031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 позиції · 1 постачальник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56692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Rectangle 160"/>
          <p:cNvSpPr/>
          <p:nvPr/>
        </p:nvSpPr>
        <p:spPr>
          <a:xfrm>
            <a:off x="566928" y="5358384"/>
            <a:ext cx="36576" cy="1078992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80467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ВХІД ПРОБИТИЙ, АЛЕ НЕ ДЛЯ НАС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80467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Samyang і Nongshim дають 143 позиції з 219 і стоять у 10–11 мережах. Імпортер, договір і місце на полиці під них уже є — нова марка заходить проти них, а не в порожнечу.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4315968" y="5358384"/>
            <a:ext cx="3547872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Rectangle 164"/>
          <p:cNvSpPr/>
          <p:nvPr/>
        </p:nvSpPr>
        <p:spPr>
          <a:xfrm>
            <a:off x="4315968" y="5358384"/>
            <a:ext cx="36576" cy="1078992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553712" y="55138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ДЕ ВІЛЬНО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4553712" y="5742432"/>
            <a:ext cx="307238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«Сільпо» — 4 позиції на всю мережу. МегаМаркет, Ultramarket, ЕКО, Епіцентр і «Ідеал» — нуль. Ottogi, O’Food і Bibigo стоять лише у 1–5 мережах.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8065008" y="5358384"/>
            <a:ext cx="3566160" cy="107899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Rectangle 168"/>
          <p:cNvSpPr/>
          <p:nvPr/>
        </p:nvSpPr>
        <p:spPr>
          <a:xfrm>
            <a:off x="8065008" y="5358384"/>
            <a:ext cx="36576" cy="1078992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8302752" y="55138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CHOI’S УЖЕ МАЄ КАНАЛ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8302752" y="5742432"/>
            <a:ext cx="3090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«Космос» і «Таврія В» мають ідентичний набір і однаковий діапазон цін — їх обслуговує один постачальник, і він уже возить Choi’s. Питання до SIAS: хто це.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КАНАЛИ ПРОДАЖУ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продається категорія і кому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Ліворуч — скільки точок у кожному каналі перевірено у зрізі. Праворуч — хто туди приходить і чи це наш покупець.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609344"/>
            <a:ext cx="51206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00" b="1" spc="-10">
                <a:solidFill>
                  <a:srgbClr val="303A5D"/>
                </a:solidFill>
                <a:latin typeface="Segoe UI"/>
              </a:rPr>
              <a:t>ТОЧОК ПРОДАЖУ В КАНАЛІ · ПЕРЕВІРЕНО У ЗРІЗІ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500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9842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643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4985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3787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129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9305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729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07408" y="1883664"/>
            <a:ext cx="5486" cy="135331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041648" y="3273552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2052828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Продуктові мережі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50008" y="2029968"/>
            <a:ext cx="1851660" cy="201168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74820" y="204825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18  ·  13 мають рамен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2473452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50008" y="2450592"/>
            <a:ext cx="514350" cy="201168"/>
          </a:xfrm>
          <a:prstGeom prst="rect">
            <a:avLst/>
          </a:prstGeom>
          <a:solidFill>
            <a:srgbClr val="1E8E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937510" y="24688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2894076"/>
            <a:ext cx="1673352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Маркетплейси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350008" y="2871216"/>
            <a:ext cx="411480" cy="201168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34640" y="288950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749039"/>
            <a:ext cx="5394960" cy="243230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566928" y="3749039"/>
            <a:ext cx="36576" cy="24323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04672" y="3904487"/>
            <a:ext cx="49194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КАНАЛ І ПОКУПЕЦЬ — РІЗНІ ОСІ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04672" y="4133087"/>
            <a:ext cx="4919472" cy="19019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Продуктові мережі — єдиний канал з обсягом, але саме там уже стоять Samyang і Nongshim, і саме там бонус 20–30 %.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Маркетплейси й азійські фудшопи бонусу не беруть, і маржа 15 % там тримається повністю. Але обсягу вони не дають: медіана на Prom — 135 грн, у фудшопах 61–158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На відміну від готового рису, outdoor- і мілітарі-рітейл для рамену не канал: рамен потребує окропу і каструлі, тому в туристичних магазинах його немає.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Практичний вхід — «Сільпо» і п'ять нацмереж із нулем, з цифрами оборотності з маркетплейсів на руках.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217920" y="1572768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1572768"/>
            <a:ext cx="36576" cy="12070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55664" y="1682495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Продуктовий роздріб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0222992" y="1682495"/>
            <a:ext cx="1316736" cy="20116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222992" y="1709928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192024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B53A3A"/>
                </a:solidFill>
                <a:latin typeface="Segoe UI"/>
              </a:rPr>
              <a:t>МЕРЕЖІ НАЦІОНАЛЬНОГО ПОКРИТТЯ · 18 ПЕРЕВІРЕНО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2084832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13 мереж мають корейський рамен, 5 — жодної позиції. «Сільпо» тримає 4 позиції на всю мережу.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256032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щоденне харчування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17920" y="2907792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2907792"/>
            <a:ext cx="36576" cy="120700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55664" y="30175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Онлайн-маркетплейси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0222992" y="3017520"/>
            <a:ext cx="1316736" cy="201168"/>
          </a:xfrm>
          <a:prstGeom prst="rect">
            <a:avLst/>
          </a:prstGeom>
          <a:solidFill>
            <a:srgbClr val="C4820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222992" y="3044952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ЦІЛЬОВИЙ КАНАЛ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55664" y="325526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C4820A"/>
                </a:solidFill>
                <a:latin typeface="Segoe UI"/>
              </a:rPr>
              <a:t>УНІВЕРСАЛЬНІ МАЙДАНЧИКИ · 4 МАЙДАНЧИКИ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55664" y="3419856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Prom · Rozetka · MAUDAU · Bigl. Медіана в категорії «локшина рамен» на Prom — 135 грн, мінімум 80 грн. Бонусу немає.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455664" y="3895344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Масовий покупець · планована закупівля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217920" y="4242816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217920" y="4242816"/>
            <a:ext cx="36576" cy="12070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55664" y="435254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Азійські фудшопи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0222992" y="4352544"/>
            <a:ext cx="1316736" cy="20116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0222992" y="4379976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ВХІД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455664" y="459028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1E9EA6"/>
                </a:solidFill>
                <a:latin typeface="Segoe UI"/>
              </a:rPr>
              <a:t>СПЕЦІАЛІЗОВАНИЙ ФУДРІТЕЙЛ · 5 МАГАЗИНІВ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55664" y="4754879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OMG! Asia · Тайякі Март · Суші Повар · Asia Foods · Panda Asian. Корейський рамен 61–158 грн, ядро 92–135 грн.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455664" y="5230368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Покупець азійської кухні · знає категорію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217920" y="5577840"/>
            <a:ext cx="5413248" cy="12070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217920" y="5577840"/>
            <a:ext cx="36576" cy="12070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455664" y="568756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Outdoor- і мілітарі-рітейл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0222992" y="5687568"/>
            <a:ext cx="1316736" cy="20116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222992" y="5715000"/>
            <a:ext cx="1316736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20" b="1" spc="-10">
                <a:solidFill>
                  <a:srgbClr val="FFFFFF"/>
                </a:solidFill>
                <a:latin typeface="Segoe UI"/>
              </a:rPr>
              <a:t>НЕ НАШ КАНАЛ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455664" y="59253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9FA9C4"/>
                </a:solidFill>
                <a:latin typeface="Segoe UI"/>
              </a:rPr>
              <a:t>ТУРИСТИЧНІ ТА ВІЙСЬКОВІ МАГАЗИНИ · 0 ПОЗИЦІЙ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455664" y="6089904"/>
            <a:ext cx="495604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20" b="0" spc="-10">
                <a:solidFill>
                  <a:srgbClr val="303A5D"/>
                </a:solidFill>
                <a:latin typeface="Segoe UI"/>
              </a:rPr>
              <a:t>Рамену там немає: він потребує окропу й каструлі. Для готового рису це був головний канал — для рамену він нерелевантний.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455664" y="656539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1" spc="-10">
                <a:solidFill>
                  <a:srgbClr val="717890"/>
                </a:solidFill>
                <a:latin typeface="Segoe UI"/>
              </a:rPr>
              <a:t>ПОКУПЕЦЬ:  Турист і військовий · автономне харчування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КРИТИЧНИЙ ФАКТ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Choi’s Ramyeon уже продається в Україні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Знайдено в каталогах під час зрізу 29.09.2026. Це не оцінка — це фактична роздрібна ціна того самого SKU.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45920"/>
            <a:ext cx="1472184" cy="1655064"/>
          </a:xfrm>
          <a:prstGeom prst="rect">
            <a:avLst/>
          </a:prstGeom>
          <a:solidFill>
            <a:srgbClr val="FFFFFF"/>
          </a:solidFill>
          <a:ln w="6350">
            <a:solidFill>
              <a:srgbClr val="E3E8F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30936" y="1709928"/>
            <a:ext cx="1344168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3760344350847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28700" y="1773936"/>
            <a:ext cx="548640" cy="54864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85800" y="2423160"/>
            <a:ext cx="12344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710" b="1" spc="-10">
                <a:solidFill>
                  <a:srgbClr val="1C2235"/>
                </a:solidFill>
                <a:latin typeface="Segoe UI"/>
              </a:rPr>
              <a:t>Choi's рамен карбон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85800" y="2715768"/>
            <a:ext cx="12344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00" b="1" spc="-10">
                <a:solidFill>
                  <a:srgbClr val="B53A3A"/>
                </a:solidFill>
                <a:latin typeface="Segoe UI"/>
              </a:rPr>
              <a:t>131 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2862072"/>
            <a:ext cx="1234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1C2235"/>
                </a:solidFill>
                <a:latin typeface="Segoe UI"/>
              </a:rPr>
              <a:t>125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5800" y="3081528"/>
            <a:ext cx="12344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600" b="0" spc="-10">
                <a:solidFill>
                  <a:srgbClr val="717890"/>
                </a:solidFill>
                <a:latin typeface="Segoe UI"/>
              </a:rPr>
              <a:t>Космос · Таврія В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441448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EAN / ПОХОДЖЕННЯ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41448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3760344350847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441448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Префікс 376 — Франція.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Збігається з SIAS France, Roye.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330952" y="1645920"/>
            <a:ext cx="2926080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532120" y="1801368"/>
            <a:ext cx="2560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РОЗДРІБНА ЦІНА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32120" y="2011680"/>
            <a:ext cx="2560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125,20 грн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2120" y="2487168"/>
            <a:ext cx="25603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«Таврія В» і «Космос».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96 грн/100 г.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421624" y="1645920"/>
            <a:ext cx="3209544" cy="165506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22792" y="1801368"/>
            <a:ext cx="28437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ПРИ МАРЖІ 15 %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22792" y="2011680"/>
            <a:ext cx="2843784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22792" y="2487168"/>
            <a:ext cx="2843784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за пачку.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−3 % до фактичної ціни.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3520440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13232" y="3529584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ЩО ЦЕ ОЗНАЧАЄ ДЛЯ ПЕРЕГОВОРІВ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6692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0467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1 · ЦІНА ВЖЕ ВСТАНОВЛЕНА РИНКОМ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0467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Не ми визначаємо полицю для Choi’s. Вона вже є: 125,20 грн. За нашою моделлю з маржею 15 % ми виходимо на 122 грн — тобто можемо стати трохи дешевше за той самий товар, що вже стоїть поруч.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Європейський роздріб того самого SKU — €1,80–2,20, тобто 92–113 грн: українська полиця вже на рівні європейської. Європейський роздріб того самого SKU — €1,80–2,20 = 92–113 грн.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315968" y="3758184"/>
            <a:ext cx="3547872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4315968" y="3758184"/>
            <a:ext cx="36576" cy="233172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553712" y="3913632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2 · ХТО ВЖЕ ЗАВІЗ — ПИТАННЯ ДО SIAS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53712" y="4142232"/>
            <a:ext cx="3072384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Перед будь-якими обговореннями обсягу треба з’ясувати: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хто діючий імпортер Choi’s в Україні;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які в нього ціна FCA і обсяг;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чи пропонують нам ексклюзив, чи ми будемо другим каналом на той самий бренд;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· чому наша ціна закупівлі вища за ту, що дозволяє роздріб 125,20 грн.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065008" y="3758184"/>
            <a:ext cx="3566160" cy="23317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65008" y="3758184"/>
            <a:ext cx="36576" cy="2331720"/>
          </a:xfrm>
          <a:prstGeom prst="rect">
            <a:avLst/>
          </a:prstGeom>
          <a:solidFill>
            <a:srgbClr val="5D4B9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8302752" y="3913632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3 · НАЙІМОВІРНІША ГІПОТЕЗА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4142232"/>
            <a:ext cx="3090672" cy="180136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Діючий імпортер працює або на нижчій ціні FCA, або без бонусу мережі з маржею 15–20 %, або завозить дрібними партіями як асортиментний додаток.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Перший варіант означає, що €0,88–1,31 — не найкраща ціна SIAS. Це головне, що треба перевірити до розрахунку обсягу.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6236208"/>
            <a:ext cx="110642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Джерело: каталоги tavriav.zakaz.ua і cosmos.zakaz.ua, позиція «Локшина Choi’s рамен карбон 131 г», 125,20 грн. Європейська ціна — dotasia.eu.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ЦІНА ЗА УПАКОВКУ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Де ми стоїмо: від найдешевшої до найдорожчої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ринкові якорі й обидві наші позиції на одній шкалі. Помаранчеве — ми, темне — медіани сегментів, світле — конкретні позиції конкурентів.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10834" y="1664208"/>
            <a:ext cx="1027937" cy="3891686"/>
          </a:xfrm>
          <a:prstGeom prst="rect">
            <a:avLst/>
          </a:prstGeom>
          <a:solidFill>
            <a:srgbClr val="FDF3D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10834" y="1517904"/>
            <a:ext cx="1027937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C4820A"/>
                </a:solidFill>
                <a:latin typeface="Segoe UI"/>
              </a:rPr>
              <a:t>ВІКНО ПОЛИЦІ  86–124 грн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5844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186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6664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007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74852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38276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3056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6480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12607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546847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9464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2888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200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076688" y="1810512"/>
            <a:ext cx="5486" cy="3745382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710928" y="5592470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240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187086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Kimchi 120 г · найдешевший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584448" y="1877720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40527" y="186629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07385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O’Food Кімчі 144 г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584448" y="2080717"/>
            <a:ext cx="2082927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740527" y="206928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77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6928" y="227685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Bibigo рамен із соусом 122 г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84448" y="2283714"/>
            <a:ext cx="232638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983986" y="227228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86 грн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2479852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Ottogi · медіана бренду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584448" y="2486710"/>
            <a:ext cx="240753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65139" y="2475280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89 грн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66928" y="2682849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· медіана бренду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584448" y="2689707"/>
            <a:ext cx="254279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00394" y="2678277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94 грн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66928" y="288584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ІЗ СОУСОМ · медіана</a:t>
            </a:r>
          </a:p>
        </p:txBody>
      </p:sp>
      <p:sp>
        <p:nvSpPr>
          <p:cNvPr id="42" name="Rectangle 41"/>
          <p:cNvSpPr/>
          <p:nvPr/>
        </p:nvSpPr>
        <p:spPr>
          <a:xfrm>
            <a:off x="3584448" y="2892704"/>
            <a:ext cx="2705100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62700" y="288127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66928" y="308884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РАМЕН З БУЛЬЙОНОМ · медіана</a:t>
            </a:r>
          </a:p>
        </p:txBody>
      </p:sp>
      <p:sp>
        <p:nvSpPr>
          <p:cNvPr id="45" name="Rectangle 44"/>
          <p:cNvSpPr/>
          <p:nvPr/>
        </p:nvSpPr>
        <p:spPr>
          <a:xfrm>
            <a:off x="3584448" y="3095701"/>
            <a:ext cx="2813304" cy="14173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70904" y="308427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329184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Spicy / Beef / Chicken 113 г</a:t>
            </a:r>
          </a:p>
        </p:txBody>
      </p:sp>
      <p:sp>
        <p:nvSpPr>
          <p:cNvPr id="48" name="Rectangle 47"/>
          <p:cNvSpPr/>
          <p:nvPr/>
        </p:nvSpPr>
        <p:spPr>
          <a:xfrm>
            <a:off x="3584448" y="3298698"/>
            <a:ext cx="2840355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497955" y="328726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3494836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· медіана бренду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584448" y="3501694"/>
            <a:ext cx="300266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660261" y="3490264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111 грн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66928" y="3697833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· медіана бренду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584448" y="3704691"/>
            <a:ext cx="3029712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687312" y="3693261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112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390083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Paldo Volcano Carbonara 130 г</a:t>
            </a:r>
          </a:p>
        </p:txBody>
      </p:sp>
      <p:sp>
        <p:nvSpPr>
          <p:cNvPr id="57" name="Rectangle 56"/>
          <p:cNvSpPr/>
          <p:nvPr/>
        </p:nvSpPr>
        <p:spPr>
          <a:xfrm>
            <a:off x="3584448" y="3907688"/>
            <a:ext cx="3083814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741414" y="389625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114 грн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410382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Ramyun 120 г</a:t>
            </a:r>
          </a:p>
        </p:txBody>
      </p:sp>
      <p:sp>
        <p:nvSpPr>
          <p:cNvPr id="60" name="Rectangle 59"/>
          <p:cNvSpPr/>
          <p:nvPr/>
        </p:nvSpPr>
        <p:spPr>
          <a:xfrm>
            <a:off x="3584448" y="4110685"/>
            <a:ext cx="3164966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6822567" y="409925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117 грн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30682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Chapaghetti 140 г</a:t>
            </a:r>
          </a:p>
        </p:txBody>
      </p:sp>
      <p:sp>
        <p:nvSpPr>
          <p:cNvPr id="63" name="Rectangle 62"/>
          <p:cNvSpPr/>
          <p:nvPr/>
        </p:nvSpPr>
        <p:spPr>
          <a:xfrm>
            <a:off x="3584448" y="4313682"/>
            <a:ext cx="324612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903720" y="430225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120 грн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66928" y="4509820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SIAS · Carbonara / Gouda 123–131 г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584448" y="4516678"/>
            <a:ext cx="3300222" cy="14173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957822" y="4505248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66928" y="4712817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Choi’s · факт на полиці сьогодні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584448" y="4719675"/>
            <a:ext cx="338137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7038975" y="4708245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125,20 грн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4915814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Samyang Buldak Carbonara 130 г</a:t>
            </a:r>
          </a:p>
        </p:txBody>
      </p:sp>
      <p:sp>
        <p:nvSpPr>
          <p:cNvPr id="72" name="Rectangle 71"/>
          <p:cNvSpPr/>
          <p:nvPr/>
        </p:nvSpPr>
        <p:spPr>
          <a:xfrm>
            <a:off x="3584448" y="4922672"/>
            <a:ext cx="3787140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7444740" y="4911242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140 грн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5118811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Toomba 137 г</a:t>
            </a:r>
          </a:p>
        </p:txBody>
      </p:sp>
      <p:sp>
        <p:nvSpPr>
          <p:cNvPr id="75" name="Rectangle 74"/>
          <p:cNvSpPr/>
          <p:nvPr/>
        </p:nvSpPr>
        <p:spPr>
          <a:xfrm>
            <a:off x="3584448" y="5125669"/>
            <a:ext cx="4030599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7688199" y="5114239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149 грн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21808"/>
            <a:ext cx="29077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Nongshim Shin Black 130 г · максимум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584448" y="5328666"/>
            <a:ext cx="5545455" cy="14173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203055" y="5317236"/>
            <a:ext cx="1554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205 грн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66928" y="5775350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Шкала — грн за одну пачку, з ПДВ. Медіани сегментів і брендів — по зрізу 18 мереж, 29.09.2026.</a:t>
            </a:r>
          </a:p>
        </p:txBody>
      </p:sp>
      <p:sp>
        <p:nvSpPr>
          <p:cNvPr id="81" name="Rectangle 80"/>
          <p:cNvSpPr/>
          <p:nvPr/>
        </p:nvSpPr>
        <p:spPr>
          <a:xfrm>
            <a:off x="566928" y="5961888"/>
            <a:ext cx="3547872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566928" y="5961888"/>
            <a:ext cx="36576" cy="7498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804672" y="6117336"/>
            <a:ext cx="3072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МИ У ВІКНІ ПОЛИЦІ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804672" y="6345936"/>
            <a:ext cx="3072384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Обидві наші позиції — 105 і 122 грн — лежать у смузі 86–124 грн, де стоїть половина ринку рамену в пакеті.</a:t>
            </a:r>
          </a:p>
        </p:txBody>
      </p:sp>
      <p:sp>
        <p:nvSpPr>
          <p:cNvPr id="85" name="Rectangle 84"/>
          <p:cNvSpPr/>
          <p:nvPr/>
        </p:nvSpPr>
        <p:spPr>
          <a:xfrm>
            <a:off x="4315968" y="5760720"/>
            <a:ext cx="3547872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4517136" y="5916168"/>
            <a:ext cx="318211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АЛЕ НЕ В ЙОГО НИЗУ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517136" y="6126480"/>
            <a:ext cx="318211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F9A50B"/>
                </a:solidFill>
                <a:latin typeface="Segoe UI"/>
              </a:rPr>
              <a:t>+36 %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4517136" y="6601968"/>
            <a:ext cx="318211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наш мінімум 105 грн проти 77 у Ottogi і O’Food.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065008" y="5961888"/>
            <a:ext cx="3566160" cy="7498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8065008" y="5961888"/>
            <a:ext cx="36576" cy="7498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8302752" y="6117336"/>
            <a:ext cx="309067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РАМЕН ІЗ СОУСОМ У ВЕРХНІЙ ТРЕТИНІ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8302752" y="6345936"/>
            <a:ext cx="309067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122 грн проти медіани сегмента 100 грн і проти Paldo Volcano Carbonara 114 грн тієї ж ваги.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ГОЛОВНЕ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Шість висновків, які визначають рішення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Що дає зіставлення ринкового зрізу з фінмоделлю SIAS. Полиця = собівартість ÷ 0,60 × 1,40: бонус мережі 25 %, наша маржа 15 %, націнка мережі 1,40.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З БУЛЬЙОНОМ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8096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8096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€0,882 = 45,2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сегмента — 104 грн.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53128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ПОЛИЦЯ · ІЗ СОУСОМ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53128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53128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СС €1,018 = 52,1 грн.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 на полиці — 125,20 грн.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36992" y="1609344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38160" y="1764792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СЕГМЕНТА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38160" y="1975104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+1 % / +22 %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450592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з бульйоном проти 104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рамен із соусом проти 100 грн.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ДО МЕДІАНИ ВАГОВОГО ВІКНА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68096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C4820A"/>
                </a:solidFill>
                <a:latin typeface="Segoe UI"/>
              </a:rPr>
              <a:t>+11 % / +22 %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68096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110–125 г — 95 грн,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вікно 122–140 г — 100 грн.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251960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53128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ЦІНА ЗА ГРАМ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53128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303A5D"/>
                </a:solidFill>
                <a:latin typeface="Segoe UI"/>
              </a:rPr>
              <a:t>93–99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53128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грн/100 г проти 86 у сегменті 1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і 77 у сегменті 2.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36992" y="2999232"/>
            <a:ext cx="3456432" cy="115214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38160" y="3154679"/>
            <a:ext cx="3090672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ПОТРІБНО ВІД SIAS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38160" y="3364991"/>
            <a:ext cx="30906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spc="-10">
                <a:solidFill>
                  <a:srgbClr val="B53A3A"/>
                </a:solidFill>
                <a:latin typeface="Segoe UI"/>
              </a:rPr>
              <a:t>€0,837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840480"/>
            <a:ext cx="309067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на рамен із соусом замість €1,018,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щоб стати на медіану сегмента.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4517136"/>
            <a:ext cx="36576" cy="173736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04672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ЩО РОБИТИ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4672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Заводити рамен з бульйоном — Spicy, Beef, Chicken. За €0,882 полиця виходить 105 грн, а це медіана категорії.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Carbonara і Gouda торгувати: €1,018 → €0,837. Інакше вони дорожчі за Paldo Volcano Carbonara 130 г (114 грн).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Vegetable тримати поза лінійкою: єдиний овочевий конкурент ринку — Nongshim Soon Veggie 112 г за 88 грн.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Вхід — «Сільпо» і п'ять нацмереж із нулем, а не ті мережі, де вже стоять Samyang і Nongshim.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217920" y="4517136"/>
            <a:ext cx="5413248" cy="173736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217920" y="4517136"/>
            <a:ext cx="36576" cy="1737360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455664" y="4672584"/>
            <a:ext cx="493776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spc="-10">
                <a:solidFill>
                  <a:srgbClr val="303A5D"/>
                </a:solidFill>
                <a:latin typeface="Segoe UI"/>
              </a:rPr>
              <a:t>НА ЧОМУ ТРИМАЄТЬСЯ ВИСНОВОК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901184"/>
            <a:ext cx="4937760" cy="120700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1. Полиця рахується як СС ÷ 0,60 × 1,40 за умовами фінмоделі SIAS, курс 51,20 грн/€.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2. Ринкові ціни — роздріб за одну пачку в каталогах 18 мереж, зріз 29.09.2026, 96 позицій.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3. Маржа 15 % рахується від ціни партнеру, а не як націнка на собівартість: це 25 % націнки на СС.</a:t>
            </a:r>
          </a:p>
          <a:p>
            <a:pPr algn="l">
              <a:lnSpc>
                <a:spcPct val="13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4. Це валова маржа: внутрішня логістика, лістинги, промо і курсовий ризик у ній не враховані.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ЗВІДКИ 105 І 122 ГРН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Розрахунок від собівартості постачальника до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Усі числа — з двох ваших файлів: Self-Cost_Sias.xlsx (собівартість і курс) і RAMEN_FINMODEL_ALL_MARGINS.xlsx (формула ціни). Формула не змінювалася.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72768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1581912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КРОК ЗА КРОКОМ ПО ВАШІЙ ФОРМУЛІ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1581912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цільова маржа 15 % · бонус мережі 25 % · націнка мережі 1,40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1810512"/>
            <a:ext cx="42062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КРОК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1810512"/>
            <a:ext cx="321868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РАХУЄМО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06240" y="1810512"/>
            <a:ext cx="3017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ДІЯ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1810512"/>
            <a:ext cx="23408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SPICY · BEEF · CHICKEN · VEGETABLE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19488" y="1810512"/>
            <a:ext cx="188366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CARBONARA · GOUDA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1993392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7552" y="1993392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Собівартість в Україні, EUR/уп.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199339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із Self-Cost_Sias.xlsx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1993392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0,8824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19488" y="1993392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1,0181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93776" y="2165299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66928" y="2201875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7552" y="2201875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Курс, грн/EUR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06240" y="2201875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із Self-Cost_Sias.xlsx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23760" y="2201875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51,20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19488" y="2201875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51,20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241035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87552" y="2410358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Собівартість в Україні, грн/уп.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241035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1 × крок 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2410358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45,18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19488" y="2410358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52,13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3776" y="2582265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66928" y="2618841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7552" y="2618841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Повна ціна партнеру, 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206240" y="2618841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база для всіх відсотків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2618841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100 %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19488" y="2618841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100 %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282732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7552" y="2827324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Бонус мережі, 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206240" y="2827324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умова моделі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223760" y="2827324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25 %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19488" y="2827324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25 %</a:t>
            </a:r>
          </a:p>
        </p:txBody>
      </p:sp>
      <p:sp>
        <p:nvSpPr>
          <p:cNvPr id="45" name="Rectangle 44"/>
          <p:cNvSpPr/>
          <p:nvPr/>
        </p:nvSpPr>
        <p:spPr>
          <a:xfrm>
            <a:off x="493776" y="2999232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66928" y="3035808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6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7552" y="3035808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Наша цільова маржа, %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206240" y="303580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умова моделі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3035808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19488" y="3035808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15 %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3244291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87552" y="3244291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Частка ціни для собівартості, %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3244291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4 − крок 5 − крок 6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223760" y="3244291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60 %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9619488" y="3244291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60 %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3776" y="3416198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66928" y="345277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8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987552" y="3452774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Ціна партнеру з ПДВ, грн/уп.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206240" y="3452774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3 ÷ крок 7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7223760" y="3452774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75,30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19488" y="3452774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86,88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3661257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9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87552" y="3661257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Бонус мережі, грн/уп.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206240" y="3661257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8 × крок 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7223760" y="3661257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18,82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9619488" y="3661257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21,72</a:t>
            </a:r>
          </a:p>
        </p:txBody>
      </p:sp>
      <p:sp>
        <p:nvSpPr>
          <p:cNvPr id="67" name="Rectangle 66"/>
          <p:cNvSpPr/>
          <p:nvPr/>
        </p:nvSpPr>
        <p:spPr>
          <a:xfrm>
            <a:off x="493776" y="3833164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66928" y="386974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87552" y="3869740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Прибуток після бонусу, грн/уп.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4206240" y="386974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8 − крок 3 − крок 9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223760" y="3869740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11,29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19488" y="386974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13,03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66928" y="4078224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11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987552" y="4078224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Перевірка маржі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206240" y="4078224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10 ÷ крок 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7223760" y="4078224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15,0 %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9619488" y="4078224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15,0 %</a:t>
            </a:r>
          </a:p>
        </p:txBody>
      </p:sp>
      <p:sp>
        <p:nvSpPr>
          <p:cNvPr id="78" name="Rectangle 77"/>
          <p:cNvSpPr/>
          <p:nvPr/>
        </p:nvSpPr>
        <p:spPr>
          <a:xfrm>
            <a:off x="493776" y="4250131"/>
            <a:ext cx="10936224" cy="1993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566928" y="4286707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987552" y="4286707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Націнка мережі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206240" y="4286707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умова моделі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223760" y="4286707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× 1,40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9619488" y="4286707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× 1,40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4495190"/>
            <a:ext cx="42062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13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987552" y="4495190"/>
            <a:ext cx="321868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Полиця з ПДВ, грн/уп.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206240" y="4495190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60" b="0" spc="-10">
                <a:solidFill>
                  <a:srgbClr val="303A5D"/>
                </a:solidFill>
                <a:latin typeface="Segoe UI"/>
              </a:rPr>
              <a:t>крок 8 × крок 12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223760" y="4495190"/>
            <a:ext cx="23408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105,42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9619488" y="4495190"/>
            <a:ext cx="188366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60" b="0" spc="-10">
                <a:solidFill>
                  <a:srgbClr val="717890"/>
                </a:solidFill>
                <a:latin typeface="Segoe UI"/>
              </a:rPr>
              <a:t>121,63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66928" y="47731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Ціна партнеру вже з ПДВ — так закладено у вашій моделі, окремого множення на 1,20 немає.</a:t>
            </a:r>
          </a:p>
        </p:txBody>
      </p:sp>
      <p:sp>
        <p:nvSpPr>
          <p:cNvPr id="90" name="Rectangle 89"/>
          <p:cNvSpPr/>
          <p:nvPr/>
        </p:nvSpPr>
        <p:spPr>
          <a:xfrm>
            <a:off x="566928" y="499262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13232" y="5001768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ЧОМУ У ВАШОМУ ФАЙЛІ МОЖУТЬ ВИЙТИ ІНШІ ЧИСЛА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7315200" y="5001768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різниця лише в рядку собівартості, не у формулі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566928" y="5230368"/>
            <a:ext cx="30175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ОБСЯГ ПОСТАВКИ В РОЗРАХУНКУ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3584448" y="5230368"/>
            <a:ext cx="173736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 З БУЛЬЙОНОМ, грн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5321808" y="52303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ПОЛИЦЯ, грн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6510528" y="5230368"/>
            <a:ext cx="16459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СС ІЗ СОУСОМ, грн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156448" y="5230368"/>
            <a:ext cx="11887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ПОЛИЦЯ, грн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9528048" y="5230368"/>
            <a:ext cx="197510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СТАТУС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66928" y="5413248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Мінімальний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3584448" y="5413248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58,06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5321808" y="54132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135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510528" y="5413248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67,00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8156448" y="5413248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156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9528048" y="5413248"/>
            <a:ext cx="19751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відкривається у вашому файлі</a:t>
            </a:r>
          </a:p>
        </p:txBody>
      </p:sp>
      <p:sp>
        <p:nvSpPr>
          <p:cNvPr id="105" name="Rectangle 104"/>
          <p:cNvSpPr/>
          <p:nvPr/>
        </p:nvSpPr>
        <p:spPr>
          <a:xfrm>
            <a:off x="493776" y="5591556"/>
            <a:ext cx="10936224" cy="205739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566928" y="5628132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Середній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3584448" y="5628132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49,29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5321808" y="56281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115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6510528" y="5628132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56,88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8156448" y="5628132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133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9528048" y="5628132"/>
            <a:ext cx="19751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не використано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566928" y="5843016"/>
            <a:ext cx="3017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Максимальний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584448" y="5843016"/>
            <a:ext cx="173736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45,18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5321808" y="584301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510528" y="5843016"/>
            <a:ext cx="16459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52,13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8156448" y="5843016"/>
            <a:ext cx="11887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9528048" y="5843016"/>
            <a:ext cx="197510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взято в цьому звіті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566928" y="6016752"/>
            <a:ext cx="11064240" cy="73152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566928" y="6016752"/>
            <a:ext cx="36576" cy="73152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TextBox 119"/>
          <p:cNvSpPr txBox="1"/>
          <p:nvPr/>
        </p:nvSpPr>
        <p:spPr>
          <a:xfrm>
            <a:off x="804672" y="6172200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ЗВІДСИ РОЗБІЖНІСТЬ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804672" y="6400800"/>
            <a:ext cx="10588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Формула та сама — ваша. Відрізняється тільки те, який рядок собівартості з Self-Cost_Sias.xlsx у неї підставлено: ваш файл відкривається на мінімальному обсязі й дає 135 і 156 грн, а в звіті взято максимальний обсяг, як ви й просили — 105 і 122 грн. Переставте поле обсягу поставки на максимальний — ваш власний файл дасть рівно ці два числа.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ФІНМОДЕЛЬ ПРОТИ РИНКУ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Скільки коштує кожен наш SKU на полиці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Полиця = собівартість ÷ 0,60 × 1,40 за умовами фінмоделі SIAS, курс 51,20 грн/€. Вертикальні лінії — ринкові цілі.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558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9900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9306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648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40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054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396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80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80247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14487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120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655048" y="2267712"/>
            <a:ext cx="5486" cy="2286000"/>
          </a:xfrm>
          <a:prstGeom prst="rect">
            <a:avLst/>
          </a:prstGeom>
          <a:solidFill>
            <a:srgbClr val="E3E8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89288" y="4590288"/>
            <a:ext cx="7315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20" b="0" spc="-10">
                <a:solidFill>
                  <a:srgbClr val="717890"/>
                </a:solidFill>
                <a:latin typeface="Segoe UI"/>
              </a:rPr>
              <a:t>160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88276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4168" y="2029968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рамену із соусом 100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45756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581648" y="1865376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медіана рамену з бульйоном 104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839455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75348" y="1700784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Paldo Carbonara 114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72525" y="2103120"/>
            <a:ext cx="9144" cy="2432304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8418" y="1536192"/>
            <a:ext cx="173736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80" b="1" spc="-10">
                <a:solidFill>
                  <a:srgbClr val="717890"/>
                </a:solidFill>
                <a:latin typeface="Segoe UI"/>
              </a:rPr>
              <a:t>факт Choi’s 125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24094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Spicy Flavor 112,5 г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355848" y="2382012"/>
            <a:ext cx="4133850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562850" y="240487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66928" y="277520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Beef Flavor 113 г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355848" y="2747772"/>
            <a:ext cx="4133850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62850" y="277063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66928" y="314096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Chicken Flavor 113 г</a:t>
            </a:r>
          </a:p>
        </p:txBody>
      </p:sp>
      <p:sp>
        <p:nvSpPr>
          <p:cNvPr id="35" name="Rectangle 34"/>
          <p:cNvSpPr/>
          <p:nvPr/>
        </p:nvSpPr>
        <p:spPr>
          <a:xfrm>
            <a:off x="3355848" y="3113532"/>
            <a:ext cx="4133850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562850" y="313639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105 грн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6928" y="350672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355848" y="3479291"/>
            <a:ext cx="4133850" cy="210312"/>
          </a:xfrm>
          <a:prstGeom prst="rect">
            <a:avLst/>
          </a:prstGeom>
          <a:solidFill>
            <a:srgbClr val="C2CC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562850" y="350215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0" spc="-10">
                <a:solidFill>
                  <a:srgbClr val="717890"/>
                </a:solidFill>
                <a:latin typeface="Segoe UI"/>
              </a:rPr>
              <a:t>105 грн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387248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Carbonara Spicy 131 г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355848" y="3845052"/>
            <a:ext cx="4803140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8232140" y="386791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66928" y="4238244"/>
            <a:ext cx="2679191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80" b="1" spc="-10">
                <a:solidFill>
                  <a:srgbClr val="C4820A"/>
                </a:solidFill>
                <a:latin typeface="Segoe UI"/>
              </a:rPr>
              <a:t>Gouda Cheese 123 г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55848" y="4210812"/>
            <a:ext cx="4803140" cy="210312"/>
          </a:xfrm>
          <a:prstGeom prst="rect">
            <a:avLst/>
          </a:prstGeom>
          <a:solidFill>
            <a:srgbClr val="F5A0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232140" y="4233672"/>
            <a:ext cx="11887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19" b="1" spc="-10">
                <a:solidFill>
                  <a:srgbClr val="C4820A"/>
                </a:solidFill>
                <a:latin typeface="Segoe UI"/>
              </a:rPr>
              <a:t>122 грн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4773168"/>
            <a:ext cx="11064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9FA9C4"/>
                </a:solidFill>
                <a:latin typeface="Segoe UI"/>
              </a:rPr>
              <a:t>Сіра смуга — Vegetable Flavor: позиція порахована, але до заведення не рекомендована.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4992624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13232" y="5001768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ЯКА СОБІВАРТІСТЬ ПОТРІБНА ПІД ЦІЛЬОВУ ПОЛИЦЮ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315200" y="5001768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при маржі 15 % і бонусі мережі 25 %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66928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1520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95 грн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1520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вагового вікна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потрібна СС €0,795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615184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798064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962656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100 грн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962656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рамену із соусом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потрібна СС €0,837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846320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0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193792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104 грн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93792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медіана рамену з бульйоном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потрібна СС €0,871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077456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2" name="Rectangle 61"/>
          <p:cNvSpPr/>
          <p:nvPr/>
        </p:nvSpPr>
        <p:spPr>
          <a:xfrm>
            <a:off x="7260336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7424928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114 грн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7424928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паритет з Paldo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потрібна СС €0,954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9308592" y="5541264"/>
            <a:ext cx="182880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spc="-10">
                <a:solidFill>
                  <a:srgbClr val="9FA9C4"/>
                </a:solidFill>
                <a:latin typeface="Segoe UI"/>
              </a:rPr>
              <a:t>→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491472" y="5285231"/>
            <a:ext cx="2048256" cy="84124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656064" y="5394959"/>
            <a:ext cx="1719072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spc="-10">
                <a:solidFill>
                  <a:srgbClr val="303A5D"/>
                </a:solidFill>
                <a:latin typeface="Segoe UI"/>
              </a:rPr>
              <a:t>125 грн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9656064" y="5687568"/>
            <a:ext cx="17190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факт Choi’s</a:t>
            </a:r>
          </a:p>
          <a:p>
            <a:pPr algn="l">
              <a:lnSpc>
                <a:spcPct val="115000"/>
              </a:lnSpc>
            </a:pPr>
            <a:r>
              <a:rPr sz="680" b="0" spc="-10">
                <a:solidFill>
                  <a:srgbClr val="717890"/>
                </a:solidFill>
                <a:latin typeface="Segoe UI"/>
              </a:rPr>
              <a:t>потрібна СС €1,048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66928" y="6144768"/>
            <a:ext cx="11064240" cy="67665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566928" y="6144768"/>
            <a:ext cx="36576" cy="676656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804672" y="63002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ДВА ВИСНОВКИ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804672" y="6528816"/>
            <a:ext cx="1058875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30" b="0" spc="-10">
                <a:solidFill>
                  <a:srgbClr val="717890"/>
                </a:solidFill>
                <a:latin typeface="Segoe UI"/>
              </a:rPr>
              <a:t>1. Четвірці з бульйоном ціна вже підходить: під медіану категорії потрібна СС €0,879, SIAS дає €0,882 — розбіжність 0,3 %.  2. Carbonara і Gouda стоять на 122 грн, а прямий аналог Paldo Volcano Carbonara тієї ж ваги — 114 грн. Потрібна СС €0,954.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SKU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заводити: рамен з бульйоном як основа лінійки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29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групи, оцінені за конкурентною позицією у своєму ваговому вікні, а не за собівартістю.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РЕКОМЕНДУЄМО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Spicy · Beef · Chicken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112,5–113 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Ottogi Jin 120 г — 84–93 грн · Nongshim Shin 120 г — 110–117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ПЕРЕВАГА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на медіані сегмента 104 грн і на 10 % дешевше за Nongshim Shin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«Сільпо» з 4 позиціями і п'ять нацмереж із нулем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РИЗИК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113 г проти стандартних 120 г: за ту саму ціну на 6 % менше продукту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31596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315968" y="1591056"/>
            <a:ext cx="36576" cy="3950208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ДРУГИЙ ПРІОРИТЕТ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5371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F9A50B"/>
                </a:solidFill>
                <a:latin typeface="Segoe UI"/>
              </a:rPr>
              <a:t>122 грн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5371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93–99 грн/100 г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5371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Paldo Volcano Carbonara 130 г — 114 грн · Nongshim Chapaghetti 140 г — 120 грн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5371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НАША ПОЗИЦІЯ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5371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+22 % до медіани сегмента 100 грн, але −3 % до власного факту 125,20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КАНАЛ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той самий постачальник, що вже возить Choi’s у «Космос» і «Таврію В»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5371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СС €0,837 замість €1,018 — інакше дорожче за Paldo тієї ж ваги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065008" y="1591056"/>
            <a:ext cx="3547872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65008" y="1591056"/>
            <a:ext cx="36576" cy="3950208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НЕ ЗАВОДИТИ ЗАРАЗ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02752" y="1938528"/>
            <a:ext cx="307238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250" b="1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02752" y="2468880"/>
            <a:ext cx="30723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B53A3A"/>
                </a:solidFill>
                <a:latin typeface="Segoe UI"/>
              </a:rPr>
              <a:t>105 грн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02752" y="279806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0" spc="-10">
                <a:solidFill>
                  <a:srgbClr val="717890"/>
                </a:solidFill>
                <a:latin typeface="Segoe UI"/>
              </a:rPr>
              <a:t>полиця за фінмоделлю · 93 грн/100 г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02752" y="2999232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ПРЯМИЙ КОНКУРЕНТ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02752" y="3154679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Nongshim Soon Veggie 112 г — 88 грн, єдина овочева позиція ринку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02752" y="3557015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ПРОБЛЕМА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02752" y="3712463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овочевий смак — найвужчий попит: 1 позиція з 96 у всьому зрізі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302752" y="4114800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ЩО ЦЕ ОЗНАЧАЄ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302752" y="4270248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не ціна, а оборотність: SKU займе фейс і не дасть ротації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02752" y="4672584"/>
            <a:ext cx="3072384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УМОВА ВХОДУ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02752" y="4828032"/>
            <a:ext cx="3072384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тільки якщо мережа вимагає повну лінійку смаків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66928" y="5687568"/>
            <a:ext cx="11064240" cy="804672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66928" y="5687568"/>
            <a:ext cx="36576" cy="804672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804672" y="584301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ЧОМУ САМЕ ТАКИЙ ПОРЯДОК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04672" y="6071616"/>
            <a:ext cx="1058875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Трійці з бульйоном ціна вже підходить: €0,882 проти потрібних €0,879 під медіану категорії. Пара із соусом вимагає торгу, але має готовий канал і власний ціновий орієнтир 125,20 грн. Овочевий SKU не має ні того, ні іншого — його вхід не про ціну, а про вимогу мережі.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ЦІНА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Цільова полиця і що для неї потрібно від постачальника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Три цінові сценарії. Рекомендований — середній: він зберігає маржу 15 % за поточної собівартості.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2011680"/>
          </a:xfrm>
          <a:prstGeom prst="rect">
            <a:avLst/>
          </a:prstGeom>
          <a:solidFill>
            <a:srgbClr val="B5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B53A3A"/>
                </a:solidFill>
                <a:latin typeface="Segoe UI"/>
              </a:rPr>
              <a:t>АГРЕСИВНИЙ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Зайти ціною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95 грн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0428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0428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B53A3A"/>
                </a:solidFill>
                <a:latin typeface="Segoe UI"/>
              </a:rPr>
              <a:t>100 грн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падає до 8,4 % на рамені з бульйоном і 2,0 % на рамені із соусом за поточної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Щоб утримати 15 %, потрібна СС €0,795 і €0,837.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Бере полицю, але не залишає запасу на промо і курс.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1596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315968" y="1591056"/>
            <a:ext cx="36576" cy="2011680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5371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РЕКОМЕНДОВАНО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5371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Паритет із ринком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105 грн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53327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053327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1E9EA6"/>
                </a:solidFill>
                <a:latin typeface="Segoe UI"/>
              </a:rPr>
              <a:t>122 грн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5371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рівно 15 % за поточної собівартості €0,882 і €1,018.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 бульйоном — на медіані сегмента, рамен із соусом — дешевше за власний факт 125,20 грн.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Запас на промо є.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65008" y="1591056"/>
            <a:ext cx="3547872" cy="2011680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65008" y="1591056"/>
            <a:ext cx="36576" cy="2011680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1737360"/>
            <a:ext cx="307238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F9A50B"/>
                </a:solidFill>
                <a:latin typeface="Segoe UI"/>
              </a:rPr>
              <a:t>КОМФОРТНИЙ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02752" y="1920240"/>
            <a:ext cx="3072384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spc="-10">
                <a:solidFill>
                  <a:srgbClr val="303A5D"/>
                </a:solidFill>
                <a:latin typeface="Segoe UI"/>
              </a:rPr>
              <a:t>Премія бренду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02752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З БУЛЬЙОНОМ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02752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115 грн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802368" y="2194560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30" b="1" spc="-10">
                <a:solidFill>
                  <a:srgbClr val="717890"/>
                </a:solidFill>
                <a:latin typeface="Segoe UI"/>
              </a:rPr>
              <a:t>РАМЕН ІЗ СОУСОМ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02368" y="2322576"/>
            <a:ext cx="146304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spc="-10">
                <a:solidFill>
                  <a:srgbClr val="F9A50B"/>
                </a:solidFill>
                <a:latin typeface="Segoe UI"/>
              </a:rPr>
              <a:t>135 грн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02752" y="2688336"/>
            <a:ext cx="3072384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Маржа 20,0 % і 20,9 % за тієї самої СС.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З бульйоном — на рівні Nongshim Shin (117 грн), рамен із соусом — вище за Chapaghetti (120 грн).</a:t>
            </a:r>
          </a:p>
          <a:p>
            <a:pPr algn="l">
              <a:lnSpc>
                <a:spcPct val="130000"/>
              </a:lnSpc>
            </a:pPr>
            <a:r>
              <a:rPr sz="730" b="0" spc="-10">
                <a:solidFill>
                  <a:srgbClr val="303A5D"/>
                </a:solidFill>
                <a:latin typeface="Segoe UI"/>
              </a:rPr>
              <a:t>Працює лише з підтримкою мережі й промо.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822191"/>
            <a:ext cx="36576" cy="17373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13232" y="3831335"/>
            <a:ext cx="640080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303A5D"/>
                </a:solidFill>
                <a:latin typeface="Segoe UI"/>
              </a:rPr>
              <a:t>АРХІТЕКТУРА ЦІН ПО ВСІЙ ЛІНІЙЦІ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0" y="3831335"/>
            <a:ext cx="4023360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750" b="1" spc="-10">
                <a:solidFill>
                  <a:srgbClr val="C4820A"/>
                </a:solidFill>
                <a:latin typeface="Segoe UI"/>
              </a:rPr>
              <a:t>полиця з ПДВ, грн за пачку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66928" y="4059935"/>
            <a:ext cx="19202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SKU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523744" y="4059935"/>
            <a:ext cx="1874519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РОЛЬ У ЛІНІЙЦІ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434840" y="4059935"/>
            <a:ext cx="160020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ПОЛИЦЯ ЗА МОДЕЛЛЮ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071616" y="4059935"/>
            <a:ext cx="14630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ЦІЛЬОВА ПОЛИЦЯ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571231" y="4059935"/>
            <a:ext cx="141732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ПОТРІБНА СС, €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025128" y="4059935"/>
            <a:ext cx="1005840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МАЄМО, €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104120" y="4059935"/>
            <a:ext cx="1527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50" b="1" spc="-10">
                <a:solidFill>
                  <a:srgbClr val="717890"/>
                </a:solidFill>
                <a:latin typeface="Segoe UI"/>
              </a:rPr>
              <a:t>ОРІЄНТИР НА ПОЛИЦІ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424281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Spicy Flavor 112,5 г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2523744" y="424281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лінійки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434840" y="424281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71616" y="424281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571231" y="424281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025128" y="424281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104120" y="424281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Jin 84–93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493776" y="448055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566928" y="4517136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Beef Flavor 113 г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2523744" y="4517136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4434840" y="4517136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71616" y="4517136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571231" y="4517136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025128" y="4517136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104120" y="4517136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Nongshim Shin 117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66928" y="479145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Chicken Flavor 113 г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2523744" y="479145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Об'єм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4434840" y="479145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071616" y="479145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571231" y="479145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9025128" y="479145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0104120" y="479145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Ottogi Kimchi 77</a:t>
            </a:r>
          </a:p>
        </p:txBody>
      </p:sp>
      <p:sp>
        <p:nvSpPr>
          <p:cNvPr id="69" name="Rectangle 68"/>
          <p:cNvSpPr/>
          <p:nvPr/>
        </p:nvSpPr>
        <p:spPr>
          <a:xfrm>
            <a:off x="493776" y="502919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566928" y="506577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Carbonara Spicy 131 г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523744" y="506577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Герой рамену із соусом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434840" y="506577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71616" y="506577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114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7571231" y="506577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0,954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9025128" y="506577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10104120" y="506577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Paldo Carbonara 114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66928" y="534009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Gouda Cheese 123 г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2523744" y="534009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Ніша · сир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4434840" y="534009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071616" y="534009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122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571231" y="534009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025128" y="534009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1,018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10104120" y="534009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Bibigo Cheese 86</a:t>
            </a:r>
          </a:p>
        </p:txBody>
      </p:sp>
      <p:sp>
        <p:nvSpPr>
          <p:cNvPr id="84" name="Rectangle 83"/>
          <p:cNvSpPr/>
          <p:nvPr/>
        </p:nvSpPr>
        <p:spPr>
          <a:xfrm>
            <a:off x="493776" y="5577839"/>
            <a:ext cx="10936224" cy="26517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566928" y="5614415"/>
            <a:ext cx="19202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Vegetable Flavor 113 г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2523744" y="5614415"/>
            <a:ext cx="1874519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Поза лінійкою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4434840" y="5614415"/>
            <a:ext cx="160020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105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071616" y="5614415"/>
            <a:ext cx="14630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571231" y="5614415"/>
            <a:ext cx="141732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—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025128" y="5614415"/>
            <a:ext cx="1005840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800" b="0" spc="-10">
                <a:solidFill>
                  <a:srgbClr val="717890"/>
                </a:solidFill>
                <a:latin typeface="Segoe UI"/>
              </a:rPr>
              <a:t>0,882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104120" y="5614415"/>
            <a:ext cx="1527048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spc="-10">
                <a:solidFill>
                  <a:srgbClr val="303A5D"/>
                </a:solidFill>
                <a:latin typeface="Segoe UI"/>
              </a:rPr>
              <a:t>Soon Veggie 88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5870448"/>
            <a:ext cx="11064240" cy="768096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566928" y="5870448"/>
            <a:ext cx="36576" cy="768096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804672" y="6025896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ЩО ПРОСИТИ В SIAS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804672" y="6254496"/>
            <a:ext cx="1058875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50" b="0" spc="-10">
                <a:solidFill>
                  <a:srgbClr val="717890"/>
                </a:solidFill>
                <a:latin typeface="Segoe UI"/>
              </a:rPr>
              <a:t>Одне питання: собівартість Carbonara і Gouda. €1,018 дає полицю 122 грн, а прямий аналог Paldo Volcano Carbonara тієї ж ваги коштує 114 грн. Щоб стати поруч, потрібна СС €0,954; щоб стати на медіану сегмента — €0,837. По четвірці з бульйоном ціна вже ринкова.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60704"/>
          </a:xfrm>
          <a:prstGeom prst="rect">
            <a:avLst/>
          </a:prstGeom>
          <a:solidFill>
            <a:srgbClr val="303A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60704"/>
            <a:ext cx="12191695" cy="5486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504" y="237744"/>
            <a:ext cx="1389888" cy="6035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304288" y="310896"/>
            <a:ext cx="85039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1" spc="-10">
                <a:solidFill>
                  <a:srgbClr val="FFC95C"/>
                </a:solidFill>
                <a:latin typeface="Segoe UI"/>
              </a:rPr>
              <a:t>РЕКОМЕНДАЦІЯ · ПОСТАЧАЛЬНИК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304288" y="548640"/>
            <a:ext cx="8503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1" spc="-10">
                <a:solidFill>
                  <a:srgbClr val="FFFFFF"/>
                </a:solidFill>
                <a:latin typeface="Segoe UI"/>
              </a:rPr>
              <a:t>Що дає SIAS France і на що тиснути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61320" y="402336"/>
            <a:ext cx="1024128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700" b="1" spc="-10">
                <a:solidFill>
                  <a:srgbClr val="465382"/>
                </a:solidFill>
                <a:latin typeface="Segoe UI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3504" y="1252728"/>
            <a:ext cx="10881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spc="-10">
                <a:solidFill>
                  <a:srgbClr val="717890"/>
                </a:solidFill>
                <a:latin typeface="Segoe UI"/>
              </a:rPr>
              <a:t>Профіль постачальника за наданою презентацією SIAS і розрахунковим аркушем Self-Cost. Праворуч — альтернатива, з якою його треба порівняти.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1591056"/>
            <a:ext cx="36576" cy="3950208"/>
          </a:xfrm>
          <a:prstGeom prst="rect">
            <a:avLst/>
          </a:prstGeom>
          <a:solidFill>
            <a:srgbClr val="1E9E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2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1E9EA6"/>
                </a:solidFill>
                <a:latin typeface="Segoe UI"/>
              </a:rPr>
              <a:t>ОСНОВНИЙ ПОСТАЧАЛЬНИК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2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SIAS FRANCE · ROYE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4672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Франція · Hauts-de-France · європейська площадка корейської групи SIAS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4672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ЛІНІЙКА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263347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Choi’s Ramyeon — 6 SKU, 112,5–131 г, пакет. Оригінальні корейські рецептури.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4672" y="296265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ПЛОЩАДКА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310896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16 000 м², група працює з 1997 року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4672" y="343814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СЕРТИФІКАЦІЯ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04672" y="3584448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IFS · BRC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04672" y="39136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УМОВИ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4672" y="4059936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FCA Roye · 0 % ввізного мита за сертифікатом EUR.1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4672" y="438912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СОБІВАРТІСТЬ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4672" y="4535424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€0,882 на четвірці з бульйоном і €1,018 на парі Gouda / Carbonara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04672" y="486460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УНІКАЛЬНА ПЕРЕВАГА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" y="5010912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нульове мито і коротке плече з ЄС проти корейського імпорту за MFN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04672" y="53400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НЕ РОЗКРИТО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04672" y="5486400"/>
            <a:ext cx="495604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структура Self-Cost, ексклюзив на Україну, діючий імпортер, терміни придатності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591056"/>
            <a:ext cx="5413248" cy="3950208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217920" y="1591056"/>
            <a:ext cx="36576" cy="3950208"/>
          </a:xfrm>
          <a:prstGeom prst="rect">
            <a:avLst/>
          </a:prstGeom>
          <a:solidFill>
            <a:srgbClr val="9FA9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55664" y="1737360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1" spc="-10">
                <a:solidFill>
                  <a:srgbClr val="717890"/>
                </a:solidFill>
                <a:latin typeface="Segoe UI"/>
              </a:rPr>
              <a:t>АЛЬТЕРНАТИВА, З ЯКОЮ ТРЕБА ПОРІВНЯТИ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455664" y="1920240"/>
            <a:ext cx="49560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 spc="-10">
                <a:solidFill>
                  <a:srgbClr val="303A5D"/>
                </a:solidFill>
                <a:latin typeface="Segoe UI"/>
              </a:rPr>
              <a:t>ПРЯМИЙ ІМПОРТ З КОРЕЇ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55664" y="2267712"/>
            <a:ext cx="4956048" cy="118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60" b="0" spc="-10">
                <a:solidFill>
                  <a:srgbClr val="717890"/>
                </a:solidFill>
                <a:latin typeface="Segoe UI"/>
              </a:rPr>
              <a:t>Samyang · Nongshim · Ottogi · Paldo — ті, хто вже тримає полицю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55664" y="2487168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ЧОМУ ЦЕ РЕЛЕВАНТНО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455664" y="2633472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Корея у 2025 відвантажила в Україну 253,8 т за $4,88/кг. SIAS просить $8,9–13,2/кг.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455664" y="2999232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КОРЕЯ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55664" y="3145536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впізнаваний бренд, готовий попит, лістинг у 12 мережах із 13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3511296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ЩО ДАЄ SIAS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55664" y="3657600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0 % мита, коротке плече, власний бренд без внутрішньої конкуренції за фейс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455664" y="4023360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ЧОГО БРАКУЄ ДЛЯ ПОРІВНЯННЯ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55664" y="4169664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котирування корейських заводів на порівнянний обсяг — у цьому дослідженні його немає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55664" y="4535424"/>
            <a:ext cx="4956048" cy="1097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" b="1" spc="-10">
                <a:solidFill>
                  <a:srgbClr val="717890"/>
                </a:solidFill>
                <a:latin typeface="Segoe UI"/>
              </a:rPr>
              <a:t>ВИСНОВОК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55664" y="4681728"/>
            <a:ext cx="49560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740" b="0" spc="-10">
                <a:solidFill>
                  <a:srgbClr val="303A5D"/>
                </a:solidFill>
                <a:latin typeface="Segoe UI"/>
              </a:rPr>
              <a:t>перевага SIAS — логістика й мито, а не ціна продукту. Перед контрактом варто запросити котирування хоча б в одного корейського заводу.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66928" y="5705856"/>
            <a:ext cx="11064240" cy="786384"/>
          </a:xfrm>
          <a:prstGeom prst="rect">
            <a:avLst/>
          </a:prstGeom>
          <a:solidFill>
            <a:srgbClr val="F1F4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66928" y="5705856"/>
            <a:ext cx="36576" cy="786384"/>
          </a:xfrm>
          <a:prstGeom prst="rect">
            <a:avLst/>
          </a:prstGeom>
          <a:solidFill>
            <a:srgbClr val="F9A5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04672" y="5861304"/>
            <a:ext cx="10588752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1" spc="-10">
                <a:solidFill>
                  <a:srgbClr val="303A5D"/>
                </a:solidFill>
                <a:latin typeface="Segoe UI"/>
              </a:rPr>
              <a:t>НА ЩО ТИСНУТИ В ПЕРЕГОВОРАХ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04672" y="6089904"/>
            <a:ext cx="10588752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1. Розкрити структуру Self-Cost: FCA, фрахт і оформлення окремо — без цього полиця порахована на припущенні.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2. Carbonara і Gouda: €1,018 → €0,954 під паритет із Paldo або €0,837 під медіану сегмента.</a:t>
            </a:r>
          </a:p>
          <a:p>
            <a:pPr algn="l">
              <a:lnSpc>
                <a:spcPct val="135000"/>
              </a:lnSpc>
            </a:pPr>
            <a:r>
              <a:rPr sz="740" b="0" spc="-10">
                <a:solidFill>
                  <a:srgbClr val="717890"/>
                </a:solidFill>
                <a:latin typeface="Segoe UI"/>
              </a:rPr>
              <a:t>3. Ексклюзив на Україну або письмове пояснення, хто вже возить Choi’s у «Космос» і «Таврію В» і на яких умовах.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