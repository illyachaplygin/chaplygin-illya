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вирішують питання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Порівняння комерційної пропозиції SIAS France з фактичними цінами полиці. Ринкові цифри — власний зріз каталогів, не оцінка.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ІМПОРТ З КОРЕЇ,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HS 1902 30, дзеркальна статистика.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кг, +35 % $ до 2024.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КОРЕЙСЬКОЇ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грн/рік — 2,12 млн пачок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× медіана полиці 105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КОРЕЙСЬКОГО РАМЕНУ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Ашан — 63 SKU, «Сільпо» — 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ПОЛИЦІ, 110–135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52 SKU у ваговому вікні Choi’s.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грн, P75 113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CHOI’S ПРИ МАРЖІ 15 %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105–156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пачку: full truck 105–122,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6 палет 135–156.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 УЖЕ НА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— Carbonara 131 г у «Таврія В»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«Космос». EAN 3760344350847.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СХОДИТЬСЯ ПРИ МАРЖІ 15 %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Full truck: суповий рамьон виходить на 105 грн — це +1 % до медіани сегмента (104 грн), але +11 % до медіани свого вагового вікна 110–125 г (95 грн).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full truck — 122 грн, на 3 % дешевше за ті 125,20 грн, за які Choi’s уже стоїть у «Таврія В» і «Космос».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Ціна FCA €0,882 на суповій четвірці — рівно та, що потрібна під медіану категорії (€0,879).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Маржа за ринковою ціною: 14,2 % на суповому і 16,7 % на стір-фраї. Цільові 15 % витримуються.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НЕ СХОДИТЬСЯ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Працює тільки full truck. 12 палет дають +11 % до медіани супового, 6 палет +30 % — це вже не полиця.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6 палетах має точку нуля 125,1 грн — рівно ринкову ціну. Прибутку немає взагалі.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15 % — валова маржа до логістики, лістингів і промо. Курс +5 % або бонус 30 % знімають третину.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Оборотний капітал на фуру — 2,5 млн грн, а 52 800 пачок ≈ 2,5 % річного корейського ринку.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93–127 грн/100 г за фінмоделлю (15 %)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Full truck: 93–99 · факт: 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При маржі 15 % і full truck Choi’s стає на 93–99 грн/100 г — це нижня частина преміум-поверху, поруч із Samyang (93). На 6 палетах — 119–127 грн/100 г, тобто вище за Nongshim і поруч з Mama та Ippin. Фактична ціна того самого SKU сьогодні — 96 грн/100 г; обсяг, а не переговори про ціну, вирішує, куди Choi’s потрапить.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 · 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СУПОВИЙ РАМЬОН · ПАКЕТ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СТІР-ФРАЙ БЕЗ БУЛЬЙОНУ · ПАКЕТ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СТАКАН І БОУЛ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ТОК-ПОКІ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Стакан/боул визначено за маркером у назві або вагою ≤ 85 г: корейські мережеві каталоги рідко вказують формат окремо, а пакетний рамьон важить 100–145 г, стакан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1 і 2: пакетний рамьон — прямі конкуренти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2880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2880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2880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2880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28800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11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11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11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11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11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402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402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402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402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Таврія В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402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— найдешевший вхід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4688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4688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4688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4688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4688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6974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6974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697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697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6974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3824" y="29260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11880" y="29260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15384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29260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68312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82127" y="29260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 · Grono +8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30384" y="29260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супова частина лінійки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24" y="3154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11880" y="3154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74920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3154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68312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82127" y="3154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 · Grono +7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30384" y="3154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якір полиці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25 SKU   ·   медіана 100 грн   ·   77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76732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76732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76732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76732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76732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178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178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178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178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178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73936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63824" y="44074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11880" y="44074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15384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4920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00216" y="44074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068312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2127" y="44074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930384" y="44074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3936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63824" y="46360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11880" y="46360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15384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74920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00216" y="46360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68312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82127" y="46360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 · Onde +2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930384" y="46360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аналог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773936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63824" y="48646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11880" y="48646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15384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74920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0216" y="48646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68312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82127" y="48646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Клас · NOVUS +5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30384" y="48646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6928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73936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3824" y="5093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11880" y="5093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15384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74920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00216" y="5093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068312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82127" y="5093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30384" y="5093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6928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3936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63824" y="5321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11880" y="5321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15384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74920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300216" y="5321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068312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882127" y="5321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· Ашан · Клас +7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30384" y="5321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франшиза-лідер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стір-фрай (медіана сегмента 100 грн), Vegetable, Spicy, Beef і Chicken — суповий рамьон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3 і 4: стакан і рисовий 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4708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4708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470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4708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4708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2996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2996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299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299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Клас 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2996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8600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8600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860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8600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8600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54203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54203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54203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54203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54203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боул Jumbo Noodle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79806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79806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79806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79806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 · Ашан · Grono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79806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Cup і сублімовані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7 SKU   ·   медіана 198 грн   ·   136 грн/100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3824" y="35112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1129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15384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74920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0216" y="3511296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8312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82127" y="3511296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0384" y="3511296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73936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24" y="3694176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69417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15384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74920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36941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68312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2127" y="36941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30384" y="3694176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420624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420624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420624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420624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ток-покі з локшиною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46227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46227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46227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462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4622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снековий привід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пакетного рамьону.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ТОК-ПОКІ — НЕ НАША ПОЛИЦЯ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діапазон кожного бренду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 Помаранчеві лінії — полиця Choi’s за нашою фінмоделлю.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8488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19687" y="49011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43515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O'Food  (4)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0587" y="1975519"/>
            <a:ext cx="664082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96052" y="1957231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6110" y="1943515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09522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fire bull  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2241526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36057" y="2223238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79" y="220952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475530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Bibigo  (4)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4675" y="2507534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56097" y="2489246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96115" y="247553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41537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Ottogi  (11)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4582" y="2773541"/>
            <a:ext cx="1820227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76112" y="2755253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76250" y="2741537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07544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Paldo  (15)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64607" y="3039548"/>
            <a:ext cx="2080259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76138" y="3021260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36307" y="300754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73552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Otoki  (1)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80722" y="3305556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716142" y="3287268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72162" y="32735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39559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Baekje  (1)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0779" y="3571563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56197" y="3553275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32219" y="3539559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805566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Nongshim  (32)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24615" y="3837570"/>
            <a:ext cx="5420677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56222" y="3819282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36732" y="380556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071573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Samyang  (22)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40417" y="4103577"/>
            <a:ext cx="6004750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396227" y="4085289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36607" y="4071573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337581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Choi's  (1)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92874" y="4369585"/>
            <a:ext cx="18288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6292" y="4351297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84314" y="4337581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603588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Yopokki  (4)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0836" y="4635592"/>
            <a:ext cx="259232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076688" y="4617304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508" y="4603588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204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3459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77814" y="1453895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41540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25895" y="1600199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13662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98017" y="1453895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135–156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111496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Шкала — грн за одну пачку, з ПДВ. У дужках — кількість SKU бренду у зрізі. Помаранчеві лінії — полиця Choi’s за фінмоделлю.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09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809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1596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1713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1713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1713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65008" y="5257800"/>
            <a:ext cx="3566160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66176" y="541324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FULL TRUCK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6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66176" y="6099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суповий рамьон, маржа 15 %.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7867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6564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342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120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89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1676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1833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80468" y="175564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суповий рамьон · 33 палети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2359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94" y="1554479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стір-фрай · 33 палети 122 грн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факт Choi’s 125,20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5710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84345" y="175564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6 і 12 палет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115–156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176272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1 · СУПОВИЙ РАМЬОН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39572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6769" y="2194560"/>
            <a:ext cx="1030224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980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55917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62356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671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1313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8453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78453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865018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77699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0023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3886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3545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17086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0306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26745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8998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28998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29642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4793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479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081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6061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63768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6956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8256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6304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9524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9524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049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08120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92743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962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01114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7231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0450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19143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329868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32986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43932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45542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0332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4195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80591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62408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80067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1186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iamond 78"/>
          <p:cNvSpPr/>
          <p:nvPr/>
        </p:nvSpPr>
        <p:spPr>
          <a:xfrm>
            <a:off x="6612636" y="2670048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3996" y="2852927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2286000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00815" y="2505456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2962656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2 · СТІР-ФРАЙ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318211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24575" y="2980944"/>
            <a:ext cx="122339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800629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29604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897213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922968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058185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58185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058185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058185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7086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17086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70866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0130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52178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615150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66022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798659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96285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16889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265479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336307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6469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10253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36009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360092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60092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Diamond 110"/>
          <p:cNvSpPr/>
          <p:nvPr/>
        </p:nvSpPr>
        <p:spPr>
          <a:xfrm>
            <a:off x="6483858" y="3456432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935218" y="3639311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100 грн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100815" y="307238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100815" y="3291839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6928" y="3749039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396849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49936" y="3767327"/>
            <a:ext cx="57950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39819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401417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74589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55163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428422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489592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589395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621589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21589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679539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67953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885584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885584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885584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885584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922247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7375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583483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Diamond 135"/>
          <p:cNvSpPr/>
          <p:nvPr/>
        </p:nvSpPr>
        <p:spPr>
          <a:xfrm>
            <a:off x="6612636" y="4242816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063996" y="442569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100815" y="3858768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100815" y="4078224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66928" y="4535424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4 · ТОК-ПОКІ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47548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768465" y="4553712"/>
            <a:ext cx="3155061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019552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731050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920998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9667189" y="49331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9876453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876453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876453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Diamond 149"/>
          <p:cNvSpPr/>
          <p:nvPr/>
        </p:nvSpPr>
        <p:spPr>
          <a:xfrm>
            <a:off x="9638919" y="5029200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090279" y="5212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198 грн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100815" y="4645152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100815" y="4864608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66928" y="5559552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Шкала — грн за одну пачку, з ПДВ. Помаранчеві лінії — полиця Choi’s за фінмоделлю з маржею 15 % на різних тарифах і фактична ціна на полиці.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FULL TRUCK ПОТРАПЛЯЄ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105 грн лягає на медіану сегмента 1, 122 — між медіаною і P75 сегмента 2. Тарифи 6 і 12 палет (135–156 грн) — ні.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ток-покі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з маржею 15 % дає 105–156 грн: full truck лягає у смугу, 6 палет — ні.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Які поєднання ваги й формату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конкретні поєднання формату і грамажу. Праворуч — куди в цю сітку потрапляють шість SKU Choi’s.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#1 НА РИНКУ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пакет 120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22 SKU у пакеті, медіана 93 грн, 77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Nongshim, Ottogi, Paldo — 11 мереж.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#2 · СМУГА СТІР-ФРАЮ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пакет 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 SKU, медіана 114 грн, 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Сюди лягає Carbonara 131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стакан 80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4 SKU, медіана 70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 Buldak у стакані.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 СУПОВИХ SKU CHOI’S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Жодного SKU на ринку в цій вазі.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Найближча щільна клітинка — 120 г.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РІЗНИЦЯ ВАГИ ДО СТАНДАРТУ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проти 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Choi’s на 7 г легший за стандарт.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однакової ціни це −6 % продукту.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 СІТКИ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79 з 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позицій лежать у 16 поєднаннях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із двома і більше SKU.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891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39826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ТОП ПОЄДНАНЬ ФОРМАТ × 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39826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поєднання з двома і більше SKU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62686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2686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62686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47872" y="462686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8656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626864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ХТО ТРИМАЄ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36608" y="4626864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ЧИ Є ТУТ CHOI’S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80974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8097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8097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872" y="480974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48656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8097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(9) · Ottogi (6) · Paldo (4)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480974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 — наші 112,5–113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5029200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6577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06577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506577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06577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1104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48656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72784" y="506577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(3) · Samyang (2) · Nongshim (2)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6608" y="506577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так — Carbonara 131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3218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94560" y="53218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71800" y="532180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47872" y="532180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1104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48656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32180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(4) · Nongshim (1) · Paldo 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532180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" y="554126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55778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94560" y="55778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71800" y="557784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47872" y="5577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48656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72784" y="557784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(5) · Paldo (1)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36608" y="55778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58338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ток-покі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94560" y="583387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71800" y="583387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47872" y="58338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61104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8656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72784" y="583387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Yopokki (4) · Paldo (1)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58338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605332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60899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4560" y="60899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1800" y="60899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47872" y="60899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61104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48656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608990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(3) · Ottogi (1)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36608" y="608990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63459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94560" y="63459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3459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6345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61104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48656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72784" y="634593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63459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656539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66019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4560" y="660196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71800" y="660196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7872" y="66019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61104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48656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72784" y="66019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(4)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36608" y="66019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суповий рамьон.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рамьон.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суповому рамьоні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1 з 2 — сюди потрапляють Carbonara і Gouda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стір-фраю ніде не перетинає 170 грн.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СТАКАН І БОУЛ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і боул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ТОК-ПОКІ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2 з 2 і ток-покі — суміжні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Choi’s за фінмоделлю з маржею 15 % — 93–127 грн/100 г: на full truck це рівень Samyang (93), на 6 палетах — вище за Nongshim (107).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КОРЕЙСЬКІ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Полиця не порожня — вона зайнята і концентрована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Хто з восьми корейських брендів уже має лістинг у кожній мережі. ● — бренд присутній у каталозі на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240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Samyang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Nongshim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7256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Paldo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Ottogi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O’Food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Bibigo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Yopokki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3496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7256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2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3496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1997964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03454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03454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77256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9752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2248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25856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22585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94760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77256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9752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2248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3496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" y="2446020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8259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248259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36008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77256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18504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9752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2248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83496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270662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360" y="270662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36008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77256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18504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59752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42248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83496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" y="2894076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293065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80360" y="2930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94760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36008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7256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18504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9752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42248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83496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315468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31546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94760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36008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77256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18504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59752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01000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42248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83496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93776" y="3342132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6928" y="337870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80360" y="337870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94760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36008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77256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18504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59752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01000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42248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683496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60273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80360" y="360273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4760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36008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77256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18504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159752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01000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42248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83496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93776" y="3790188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382676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80360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794760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36008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77256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18504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59752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01000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842248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683496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405079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80360" y="40507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794760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36008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77256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318504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159752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01000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42248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683496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93776" y="4238244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66928" y="427482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80360" y="42748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794760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36008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477256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318504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159752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001000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842248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683496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449884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 · №1 у країні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880360" y="449884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794760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36008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477256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318504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59752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42248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683496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93776" y="4686300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72287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80360" y="47228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794760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36008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77256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18504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159752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001000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842248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83496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66928" y="494690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880360" y="494690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794760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36008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77256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18504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159752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001000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842248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683496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93776" y="5134356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66928" y="517093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ЕКО маркет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880360" y="51709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794760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6008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477256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318504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159752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001000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842248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683496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6928" y="539496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880360" y="53949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794760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636008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77256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318504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159752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001000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842248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683496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493776" y="5582412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66928" y="561898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«Ідеал»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880360" y="56189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94760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36008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477256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18504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59752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001000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8842248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683496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566928" y="5614416"/>
            <a:ext cx="3547872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66928" y="5614416"/>
            <a:ext cx="36576" cy="85953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04672" y="5769864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ВХІД ПРОБИТИЙ, АЛЕ НЕ ДЛЯ НАС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04672" y="5998464"/>
            <a:ext cx="30723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стоять у 12 мережах із 13 і дають 54 SKU з 96. Імпортер, договір і полиця під них уже є — нова марка заходить не в порожнечу, а проти них.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4315968" y="5614416"/>
            <a:ext cx="3547872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315968" y="5614416"/>
            <a:ext cx="36576" cy="8595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53712" y="5769864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П'ЯТЬ МЕРЕЖ І «СІЛЬПО» — БІЛА ПЛЯМА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53712" y="5998464"/>
            <a:ext cx="30723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МегаМаркет, Ultramarket, ЕКО, Епіцентр і «Ідеал» — нуль SKU. «Сільпо», найбільша мережа країни, тримає чотири. Це і є вільна полиця категорії.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065008" y="5614416"/>
            <a:ext cx="3566160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065008" y="5614416"/>
            <a:ext cx="36576" cy="8595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302752" y="5769864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CHOI’S УЖЕ МАЄ КАНАЛ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302752" y="5998464"/>
            <a:ext cx="30906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однаковий діапазон — це один постачальник, і він уже возить Choi’s. Питання до SIAS: хто це.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Куди Choi’s може зайти за поточної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Канал визначається не покупцем, а тим, чи бере він бонус і яку націнку тримає.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21214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НАЦІОНАЛЬНІ МЕРЕЖІ · НЕ ЗАХОДИМО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Ашан, «Сільпо», NOVUS, METRO, «Зараз».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 20–30 %, націнка 1,35–1,45, лістинг і промо-календар.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За поточної ціни FCA GM падає до 7 % і нижче. Полиця тут уже зайнята Samyang і Nongshim за 90–139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8728" y="1572768"/>
            <a:ext cx="36576" cy="21214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РЕГІОНАЛЬНІ МЕРЕЖІ · МОЖЛИВО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«Космос», «Таврія В», «Восторг», «Клас», Grono, Onde, «ЧудоМаркет».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корейського рамену тут 118–138 грн — вище, ніж у національних. Бонуси нижчі.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Але саме тут уже стоїть Choi’s за 125,20 грн через іншого постачальника.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5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МАРКЕТПЛЕЙСИ · РОБОЧИЙ 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Rozetka, Prom, MAUDAU, Bigl.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в категорії «локшина рамен» на Prom — 135 грн, мінімум 80 грн.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Бонусу немає, націнка продавця власна. Єдиний масовий канал, де поточна ціна FCA дає GM 25–30 %.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572768"/>
            <a:ext cx="214884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23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1728216"/>
            <a:ext cx="1673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АЗІЙСЬКІ ФУДШОПИ · РОБОЧИЙ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1956816"/>
            <a:ext cx="167335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OMG! Asia, Тайякі Март, Суші Повар, Asia Foods, Panda Asian.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Корейський рамен 61–158 грн, ядро 92–135 грн. Без бонусу.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Обсяги малі: full truck цим каналом не вибирається.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89534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04487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ЦІНОВИЙ ЗРІЗ ПО КАНАЛАХ · КОРЕЙСЬКИЙ РАМЕН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33087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ТОЧОК У ЗРІЗІ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/ ЗАПИСІВ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33087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33087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133087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ПРИДАТНІСТЬ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159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записів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159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3159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20–30 %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3159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590288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626864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 записів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6268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67–205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6268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5–15 %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62686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умовно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93775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50+ 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493775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80–1 350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93775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493775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" y="521207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24865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72 позиції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52486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61–158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79" y="52486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248655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так, обсяг малий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ПРО КАНАЛИ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Канали, де поточна ціна SIAS дає маржу, не здатні вибрати full truck 52 800 пачок. Канал, який здатен, маржі не дає. Це структурна проблема пропозиції, а не питання переговорів про 5–10 %.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ПРИ МАРЖІ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€1,018.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−3 %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На full truck з маржею 15 % ми виходимо на 122 грн — тобто можемо стати трохи дешевше за той самий товар, що вже стоїть поруч.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На 6 палетах полиця 156 грн, а точка беззбитковості — 125,1 грн: мала партія за ринковою ціною не заробляє нічого. Європейський роздріб того самого SKU — €1,80–2,20 = 92–113 грн.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нам дають €1,31 за 6 палет, якщо хтось уже продає в роздріб за 125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нижчій ціні FCA, або без бонусу мережі з маржею 15–20 %,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Наші шість SKU при маржі 15 % проти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Self-Cost × 51,20 ÷ 0,60 × 1,40. Тут 0,60 = 100 % мінус 25 % бонусу мережі мінус 15 % нашої маржі, 1,40 — націнка мережі.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ПОЛИЦЯ НАШИХ SKU ПРИ МАРЖІ 15 %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6362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грн за пачку, з ПДВ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179222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17922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SELF-COST, € · 6 / 12 / 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179222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6 ПАЛЕТ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792224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12 ПАЛЕТ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8664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33 ПАЛЕТИ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179222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 НА 33 ПАЛ.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51008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19751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19751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97510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1,309 / 1,111 / 1,018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4" y="197510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197510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1664" y="19751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51008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3776" y="2199132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23570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06624" y="22357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2357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1,309 / 1,111 / 1,018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9824" y="223570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1384" y="223570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8664" y="223570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22357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51008" y="223570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49631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06624" y="249631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249631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9824" y="24963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1384" y="249631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8664" y="24963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1664" y="24963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51008" y="24963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" y="2720340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75691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06624" y="275691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6432" y="275691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9824" y="27569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01384" y="275691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98664" y="2756916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41664" y="275691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8" y="275691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017520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06624" y="301752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56432" y="301752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9824" y="30175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1384" y="301752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98664" y="30175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41664" y="3017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51008" y="301752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3776" y="324154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" y="32781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06624" y="327812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56432" y="327812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1,134 / 0,963 / 0,882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327812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01384" y="327812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98664" y="327812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41664" y="327812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8" y="32781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63016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63931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 ЧИМ ПОРІВНЮЄМО — ФАКТИЧНА ПОЛИЦЯ ПАКЕТНОГО РИНКУ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363931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крапка — медіана, смуга — від найдешевшої до найдорожчої позиції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84248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618488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584448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18688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184648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818888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848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190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850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192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9852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6194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585447" y="3941064"/>
            <a:ext cx="5486" cy="15544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219687" y="55229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025188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Сегмент 1 · суповий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664582" y="4057192"/>
            <a:ext cx="5680709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76187" y="4038904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436732" y="4025188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4321454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Сегмент 2 · стір-фрай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64607" y="4353458"/>
            <a:ext cx="4480559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16167" y="4335170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36607" y="432145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100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617720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44293" y="4649724"/>
            <a:ext cx="5400674" cy="100584"/>
          </a:xfrm>
          <a:prstGeom prst="rect">
            <a:avLst/>
          </a:prstGeom>
          <a:solidFill>
            <a:srgbClr val="ACB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755772" y="4631436"/>
            <a:ext cx="137160" cy="137160"/>
          </a:xfrm>
          <a:prstGeom prst="ellipse">
            <a:avLst/>
          </a:prstGeom>
          <a:solidFill>
            <a:srgbClr val="3E59A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836407" y="461772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E59A8"/>
                </a:solidFill>
                <a:latin typeface="Segoe UI"/>
              </a:rPr>
              <a:t>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4913985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МИ · суповий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84772" y="4945989"/>
            <a:ext cx="18288" cy="100584"/>
          </a:xfrm>
          <a:prstGeom prst="rect">
            <a:avLst/>
          </a:prstGeom>
          <a:solidFill>
            <a:srgbClr val="F0D2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116192" y="4927701"/>
            <a:ext cx="137160" cy="137160"/>
          </a:xfrm>
          <a:prstGeom prst="ellipse">
            <a:avLst/>
          </a:prstGeom>
          <a:solidFill>
            <a:srgbClr val="C4820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76212" y="4913985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105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210251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МИ · стір-фрай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864857" y="5242255"/>
            <a:ext cx="18288" cy="100584"/>
          </a:xfrm>
          <a:prstGeom prst="rect">
            <a:avLst/>
          </a:prstGeom>
          <a:solidFill>
            <a:srgbClr val="F0D2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796277" y="5223967"/>
            <a:ext cx="137160" cy="137160"/>
          </a:xfrm>
          <a:prstGeom prst="ellipse">
            <a:avLst/>
          </a:prstGeom>
          <a:solidFill>
            <a:srgbClr val="C4820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56297" y="5210251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122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85558" y="3922776"/>
            <a:ext cx="14630" cy="15727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69914" y="3520440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факт Choi’s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125,20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573328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Помаранчеве — ми на full truck. Стакан і ток-покі не показані: інший формат.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5925312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5925312"/>
            <a:ext cx="36576" cy="7315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04672" y="6080760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 ЧИТАТИ ЦЕЙ СЛАЙД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04672" y="6309360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Суповий рамьон на full truck — 105 грн проти медіани свого сегмента 104 грн і медіани вагового вікна 110–125 г — 95 грн. Стір-фрай — 122 грн проти медіани сегмента 100 грн і проти 125,20 грн, за які Choi’s уже продається в «Таврія В» і «Космос». На 6 палетах обидві групи (135 і 156 грн) виходять за верхню межу пакетного ринку.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