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Relationship Id="rId10" Type="http://schemas.openxmlformats.org/officeDocument/2006/relationships/image" Target="../media/image12.jpg"/><Relationship Id="rId11" Type="http://schemas.openxmlformats.org/officeDocument/2006/relationships/image" Target="../media/image13.jpg"/><Relationship Id="rId12" Type="http://schemas.openxmlformats.org/officeDocument/2006/relationships/image" Target="../media/image14.jpg"/><Relationship Id="rId13" Type="http://schemas.openxmlformats.org/officeDocument/2006/relationships/image" Target="../media/image1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jpg"/><Relationship Id="rId4" Type="http://schemas.openxmlformats.org/officeDocument/2006/relationships/image" Target="../media/image8.jpg"/><Relationship Id="rId5" Type="http://schemas.openxmlformats.org/officeDocument/2006/relationships/image" Target="../media/image23.jpg"/><Relationship Id="rId6" Type="http://schemas.openxmlformats.org/officeDocument/2006/relationships/image" Target="../media/image1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26.jpg"/><Relationship Id="rId10" Type="http://schemas.openxmlformats.org/officeDocument/2006/relationships/image" Target="../media/image17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1.jpg"/><Relationship Id="rId14" Type="http://schemas.openxmlformats.org/officeDocument/2006/relationships/image" Target="../media/image29.jpg"/><Relationship Id="rId15" Type="http://schemas.openxmlformats.org/officeDocument/2006/relationships/image" Target="../media/image30.jpg"/><Relationship Id="rId16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jpg"/><Relationship Id="rId4" Type="http://schemas.openxmlformats.org/officeDocument/2006/relationships/image" Target="../media/image28.jpg"/><Relationship Id="rId5" Type="http://schemas.openxmlformats.org/officeDocument/2006/relationships/image" Target="../media/image9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19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8.jpg"/><Relationship Id="rId14" Type="http://schemas.openxmlformats.org/officeDocument/2006/relationships/image" Target="../media/image2.jpg"/><Relationship Id="rId15" Type="http://schemas.openxmlformats.org/officeDocument/2006/relationships/image" Target="../media/image39.jpg"/><Relationship Id="rId16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13.jpg"/><Relationship Id="rId8" Type="http://schemas.openxmlformats.org/officeDocument/2006/relationships/image" Target="../media/image21.jpg"/><Relationship Id="rId9" Type="http://schemas.openxmlformats.org/officeDocument/2006/relationships/image" Target="../media/image44.jpg"/><Relationship Id="rId10" Type="http://schemas.openxmlformats.org/officeDocument/2006/relationships/image" Target="../media/image45.jpg"/><Relationship Id="rId11" Type="http://schemas.openxmlformats.org/officeDocument/2006/relationships/image" Target="../media/image46.jpg"/><Relationship Id="rId12" Type="http://schemas.openxmlformats.org/officeDocument/2006/relationships/image" Target="../media/image47.jpg"/><Relationship Id="rId13" Type="http://schemas.openxmlformats.org/officeDocument/2006/relationships/image" Target="../media/image48.jpg"/><Relationship Id="rId14" Type="http://schemas.openxmlformats.org/officeDocument/2006/relationships/image" Target="../media/image49.jpg"/><Relationship Id="rId15" Type="http://schemas.openxmlformats.org/officeDocument/2006/relationships/image" Target="../media/image2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Relationship Id="rId9" Type="http://schemas.openxmlformats.org/officeDocument/2006/relationships/image" Target="../media/image5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jpg"/><Relationship Id="rId4" Type="http://schemas.openxmlformats.org/officeDocument/2006/relationships/image" Target="../media/image57.jpg"/><Relationship Id="rId5" Type="http://schemas.openxmlformats.org/officeDocument/2006/relationships/image" Target="../media/image58.jpg"/><Relationship Id="rId6" Type="http://schemas.openxmlformats.org/officeDocument/2006/relationships/image" Target="../media/image59.jpg"/><Relationship Id="rId7" Type="http://schemas.openxmlformats.org/officeDocument/2006/relationships/image" Target="../media/image51.jpg"/><Relationship Id="rId8" Type="http://schemas.openxmlformats.org/officeDocument/2006/relationships/image" Target="../media/image60.jp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jpg"/><Relationship Id="rId4" Type="http://schemas.openxmlformats.org/officeDocument/2006/relationships/image" Target="../media/image64.jpg"/><Relationship Id="rId5" Type="http://schemas.openxmlformats.org/officeDocument/2006/relationships/image" Target="../media/image10.jpg"/><Relationship Id="rId6" Type="http://schemas.openxmlformats.org/officeDocument/2006/relationships/image" Target="../media/image65.jpg"/><Relationship Id="rId7" Type="http://schemas.openxmlformats.org/officeDocument/2006/relationships/image" Target="../media/image53.jpg"/><Relationship Id="rId8" Type="http://schemas.openxmlformats.org/officeDocument/2006/relationships/image" Target="../media/image66.jpg"/><Relationship Id="rId9" Type="http://schemas.openxmlformats.org/officeDocument/2006/relationships/image" Target="../media/image3.jpg"/><Relationship Id="rId10" Type="http://schemas.openxmlformats.org/officeDocument/2006/relationships/image" Target="../media/image55.jpg"/><Relationship Id="rId11" Type="http://schemas.openxmlformats.org/officeDocument/2006/relationships/image" Target="../media/image67.jpg"/><Relationship Id="rId12" Type="http://schemas.openxmlformats.org/officeDocument/2006/relationships/image" Target="../media/image5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12.jpg"/><Relationship Id="rId6" Type="http://schemas.openxmlformats.org/officeDocument/2006/relationships/image" Target="../media/image70.jpg"/><Relationship Id="rId7" Type="http://schemas.openxmlformats.org/officeDocument/2006/relationships/image" Target="../media/image55.jpg"/><Relationship Id="rId8" Type="http://schemas.openxmlformats.org/officeDocument/2006/relationships/image" Target="../media/image71.jpg"/><Relationship Id="rId9" Type="http://schemas.openxmlformats.org/officeDocument/2006/relationships/image" Target="../media/image72.jpg"/><Relationship Id="rId10" Type="http://schemas.openxmlformats.org/officeDocument/2006/relationships/image" Target="../media/image50.jpg"/><Relationship Id="rId11" Type="http://schemas.openxmlformats.org/officeDocument/2006/relationships/image" Target="../media/image73.jpg"/><Relationship Id="rId12" Type="http://schemas.openxmlformats.org/officeDocument/2006/relationships/image" Target="../media/image5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4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Relationship Id="rId9" Type="http://schemas.openxmlformats.org/officeDocument/2006/relationships/image" Target="../media/image7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jpg"/><Relationship Id="rId4" Type="http://schemas.openxmlformats.org/officeDocument/2006/relationships/image" Target="../media/image80.jpg"/><Relationship Id="rId5" Type="http://schemas.openxmlformats.org/officeDocument/2006/relationships/image" Target="../media/image81.jpg"/><Relationship Id="rId6" Type="http://schemas.openxmlformats.org/officeDocument/2006/relationships/image" Target="../media/image75.jpg"/><Relationship Id="rId7" Type="http://schemas.openxmlformats.org/officeDocument/2006/relationships/image" Target="../media/image82.jpg"/><Relationship Id="rId8" Type="http://schemas.openxmlformats.org/officeDocument/2006/relationships/image" Target="../media/image83.jpg"/><Relationship Id="rId9" Type="http://schemas.openxmlformats.org/officeDocument/2006/relationships/image" Target="../media/image4.jpg"/><Relationship Id="rId10" Type="http://schemas.openxmlformats.org/officeDocument/2006/relationships/image" Target="../media/image84.jpg"/><Relationship Id="rId11" Type="http://schemas.openxmlformats.org/officeDocument/2006/relationships/image" Target="../media/image7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jpg"/><Relationship Id="rId4" Type="http://schemas.openxmlformats.org/officeDocument/2006/relationships/image" Target="../media/image85.jpg"/><Relationship Id="rId5" Type="http://schemas.openxmlformats.org/officeDocument/2006/relationships/image" Target="../media/image77.jpg"/><Relationship Id="rId6" Type="http://schemas.openxmlformats.org/officeDocument/2006/relationships/image" Target="../media/image76.jpg"/><Relationship Id="rId7" Type="http://schemas.openxmlformats.org/officeDocument/2006/relationships/image" Target="../media/image86.jpg"/><Relationship Id="rId8" Type="http://schemas.openxmlformats.org/officeDocument/2006/relationships/image" Target="../media/image78.jpg"/><Relationship Id="rId9" Type="http://schemas.openxmlformats.org/officeDocument/2006/relationships/image" Target="../media/image87.jpg"/><Relationship Id="rId10" Type="http://schemas.openxmlformats.org/officeDocument/2006/relationships/image" Target="../media/image88.jpg"/><Relationship Id="rId11" Type="http://schemas.openxmlformats.org/officeDocument/2006/relationships/image" Target="../media/image7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6.jpg"/><Relationship Id="rId5" Type="http://schemas.openxmlformats.org/officeDocument/2006/relationships/image" Target="../media/image11.jpg"/><Relationship Id="rId6" Type="http://schemas.openxmlformats.org/officeDocument/2006/relationships/image" Target="../media/image15.jpg"/><Relationship Id="rId7" Type="http://schemas.openxmlformats.org/officeDocument/2006/relationships/image" Target="../media/image89.jpg"/><Relationship Id="rId8" Type="http://schemas.openxmlformats.org/officeDocument/2006/relationships/image" Target="../media/image90.jpg"/><Relationship Id="rId9" Type="http://schemas.openxmlformats.org/officeDocument/2006/relationships/image" Target="../media/image5.jpg"/><Relationship Id="rId10" Type="http://schemas.openxmlformats.org/officeDocument/2006/relationships/image" Target="../media/image9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920240" cy="832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3042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FFC95C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Корейський рамен</a:t>
            </a:r>
          </a:p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в Україні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5371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Оцінка шести SKU SIAS — рамену в пакеті — проти ринкової полиці та ціна закупівлі для полиці 120 грн:</a:t>
            </a:r>
          </a:p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89 SKU корейського рамену · 9 брендів · 13 мереж із 18 · зріз каталогів 29.09.2026 · митна база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449824"/>
            <a:ext cx="45720" cy="8412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477256"/>
            <a:ext cx="100584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Усі ціни — роздріб за одну пачку, з ПДВ, на дату зрізу. Опт, ящики та мультипаки до медіан не входять.</a:t>
            </a:r>
          </a:p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Фото товарів — з каталогів мереж, як ідентифікація SKU. Фінансова модель — RAMEN_FINMODEL_4_TABS_PRESENTATION.xlsx.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ціни в колоді — за одну упаковку, з ПДВ. Опт і ящики до розрахунку не входять.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50592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9 брендів · 3 сегменти · 13 мереж із 18. Кожна позиція має ціну в каталозі.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627632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276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ІМПОРТ ЗА МИТНИЦЕЮ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933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838,5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50592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Січень–травень 2026, код УКТ ЗЕД 1902 30 10 00. За весь 2025 рік — 711,6 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27632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27632"/>
            <a:ext cx="41148" cy="129844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83080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2026 ПРОТИ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93392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×3,5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5059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Ті самі п’ять місяців: 239,7 → 838,5 т (+249,8 %); інвойс $1,02 → $3,20 млн.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54096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54096"/>
            <a:ext cx="41148" cy="12984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209544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ІМПОРТ З КОРЕЇ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419856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7705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Січень–травень 2026: +116,3 % до 54,8 т торік. Це 14 % коду; лідер — В’єтнам, 166,7 т.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3054096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054096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209544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РОЗРИВ ЦІН ФОРМАТІВ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419856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×1,9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87705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Ціна за 100 г: стакан 154 грн проти 83 грн у пакеті з бульйоном.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3054096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3054096"/>
            <a:ext cx="41148" cy="12984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209544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ЦІЛЬОВА ПОЛИЦЯ SIAS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19856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87705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P75 серед 71 пакетів: +17 % до медіани 102,8 грн; дорожчих — 18 із 71.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517136"/>
            <a:ext cx="5413248" cy="1645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517136"/>
            <a:ext cx="41148" cy="16459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4681728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4956048"/>
            <a:ext cx="4864608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Категорія повністю імпортна і швидко росте: ввіз за п’ять місяців 2026 року вже більший за весь 2025.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Корея росте повільніше за код в цілому: її частка впала з 23 % до 14 %.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Полиця концентрована: Samyang і Nongshim дають 53 позицій з 89 і стоять у 11–12 мережах.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517136"/>
            <a:ext cx="5413248" cy="1645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517136"/>
            <a:ext cx="41148" cy="16459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681728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ПОТРІБНО ВІД SIAS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956048"/>
            <a:ext cx="4864608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Полиця 120 грн за моделлю з маржею 30 % вимагає закупівлі €0,54 (повна машина) або €0,32 (6 палет).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Зараз SIAS пропонує €0,65–0,75: потрібне зниження — на 17–28 % для повної машини і на 51–57 % для 6 палет.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Тому торг іде про ціну закупівлі, а не про ціну на полиці.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Джерела: каталоги мереж 29.09.2026 (89 SKU); митна база користувача, код 1902 30 10 00, січень–травень 2025 і 2026; фінмодель RAMEN_FINMODEL_4_TABS (вкладки «Цена 120 грн»).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Код УКТ ЗЕД 1902 30 10 00: обсяг товарного коду, а не роздрібні продажі рамену. Однакові п’ять місяців для порівняння.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1627632"/>
            <a:ext cx="2487168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1627632"/>
            <a:ext cx="41148" cy="1188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8272" y="17830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ОБСЯГ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1993392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F9A50B"/>
                </a:solidFill>
                <a:latin typeface="Segoe UI"/>
              </a:rPr>
              <a:t>+249,8 %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238163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239,7 → 838,5 т за січень–травень: ×3,5.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1627632"/>
            <a:ext cx="2487168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4000" y="1627632"/>
            <a:ext cx="41148" cy="11887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00032" y="17830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ІНВОЙС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1993392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1E9EA6"/>
                </a:solidFill>
                <a:latin typeface="Segoe UI"/>
              </a:rPr>
              <a:t>+212,4 %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238163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$1,02 → $3,20 млн: ×3,1.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2944368"/>
            <a:ext cx="5138928" cy="16276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2944368"/>
            <a:ext cx="41148" cy="16276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3108960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КАЖЕ СЕРЕДНЯ ЦІНА ІМПОРТУ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59" y="3383280"/>
            <a:ext cx="45902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Митна вартість за кілограм: $4,27 у 2025 → $3,82 у 2026, тобто −10,7 %. Ввіз росте швидше за гроші: ймовірно, в обсязі додається дешевший товар.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Для SIAS це означає: категорія розширюється за рахунок цінового низу, а не премії.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681728"/>
            <a:ext cx="5138928" cy="1481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4681728"/>
            <a:ext cx="41148" cy="14813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59" y="4846320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ЧОГО ЦЕ НЕ ПОКАЗУЄ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59" y="5120640"/>
            <a:ext cx="45902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Код охоплює товар усіх країн походження, не лише корейський. Частки брендів і форматів у митній базі не видно — вони взяті з каталогів мереж.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303520"/>
            <a:ext cx="5669280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303520"/>
            <a:ext cx="41148" cy="8778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7" y="5468112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ЯК ЧИТАТИ ЦИФРИ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7" y="5742431"/>
            <a:ext cx="512064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Порівняння — за однакові п’ять місяців (01–05). За увесь 2025 рік — 711,6 т: за п’ять місяців 2026-го ввезено вже на 18 % більше.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00, січень–травень 2025 і 2026; повний 2025 рік — 711,6 т. Митна вартість на кілограм — власний розрахунок: інвойс ÷ вага.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їде: Корея — друга за обсягом країна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2026, код УКТ ЗЕД 1902 30 10 00. Країни за вагою нетто, тонн.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ПО КРАЇНАХ ПОХОДЖЕННЯ,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7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7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7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7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3454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11680"/>
            <a:ext cx="1600400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560" y="202996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166,7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418588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Корея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395728"/>
            <a:ext cx="1137716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0876" y="241401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80263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779776"/>
            <a:ext cx="834527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7687" y="27980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86,9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186684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163824"/>
            <a:ext cx="562292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5452" y="31821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58,6 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57073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0008" y="3547872"/>
            <a:ext cx="550192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3352" y="35661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57,3 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95478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008" y="3931920"/>
            <a:ext cx="487748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0908" y="395020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50,8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338828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315968"/>
            <a:ext cx="468168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91328" y="43342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48,8 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2287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700016"/>
            <a:ext cx="2409368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2528" y="47183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1627632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КОРЕЯ → УКРАЇНА · ПОРІВНЯННЯ ОДНАКОВИХ ПЕРІОДІВ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1920240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СІЧЕНЬ–ТРАВЕНЬ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920240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1920240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1920240"/>
            <a:ext cx="10241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ЗМІНА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10312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Обсяг, 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1031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54,8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21031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118,5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103120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+116,3 %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2414016"/>
            <a:ext cx="5138928" cy="338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245059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Інвойс, тис. $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24505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348,6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24505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809,2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2450592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+132,1 %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798064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$ за кг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279806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6,36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279806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6,83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2798064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+7,4 %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9088" y="3108960"/>
            <a:ext cx="5138928" cy="338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14553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Частка в імпорті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314553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22,9 %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18320" y="314553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3145536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−8,7 п.п.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3639312"/>
            <a:ext cx="5138928" cy="1481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92240" y="3639312"/>
            <a:ext cx="41148" cy="148132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59" y="3803904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КОРЕЯ ДОРОЖЧА ЗА СЕРЕДНЄ В 1,8 РАЗА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59" y="4078224"/>
            <a:ext cx="45902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Митна вартість корейського ввозу — $6,83/кг проти $3,82 в цілому по коду. Покупець у категорії вже платить премію за корейський товар.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5285232"/>
            <a:ext cx="5138928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5285232"/>
            <a:ext cx="41148" cy="9144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66559" y="5449824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АЛЕ ЧАСТКА КОРЕЇ ПАДАЄ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59" y="5724144"/>
            <a:ext cx="4590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Код в цілому виріс на 250 %, Корея — на 116 %: різницю забрав дешевший ввіз.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5285232"/>
            <a:ext cx="5760720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8" y="5285232"/>
            <a:ext cx="41148" cy="9144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7" y="5449824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СКІЛЬКИ ЦЕ В ПАЧКАХ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7" y="5724144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118,5 т при середній вазі пачки 120 г — близько 0,99 млн пачок за п’ять місяців. Це оцінка порядку величини, не продажі.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00, січень–травень. Частка Кореї, $/кг і кількість пачок — власний розрахунок. Країна походження за митною декларацією.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Три сегменти, 89 позицій: спершу спосіб приготування, далі вага, ціна й бренди. Належність наших шести SKU до сегментів 1 чи 2 потребує інструкцій приготування.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83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79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154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Сегмент визначено за способом приготування й форматом упаковки на фото картки; медіана — за медіанними цінами позицій у каталогах 18 мереж, 29.09.2026. Сільпо (4 позиції без ваги) до сегментів не віднесено.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ЦІНОВІ ПОВЕРХИ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Три поверхи локшини швидкого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Поверх визначено за ціною за 100 г — це єдиний коректний вимір, коли пачки важать від 50 до 200 г. Межі взяті з фактичного розподілу брендів, а не задані наперед.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3566160" cy="3108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36576" cy="310896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7190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3E59A8"/>
                </a:solidFill>
                <a:latin typeface="Segoe UI"/>
              </a:rPr>
              <a:t>ПОВЕРХ 1 · ЕКОНОМ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75104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9–25 грн  ·  14–37 грн/100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57984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Українське виробництво і приватні марки мереж · 15 брендів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5850024457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414016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809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Мівіна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22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37 грн/100 г · 16 мереж · 22 SKU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14015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3" y="2414016"/>
            <a:ext cx="566928" cy="566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14015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Reeva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015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015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34 грн/100 г · 14 мереж · 7 SKU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3621024"/>
            <a:ext cx="566928" cy="566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809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Роллтон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21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35 грн/100 г · 1 мереж · 1 SKU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14015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482309741337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3" y="3621024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14015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Щедро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5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15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4015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25 грн/100 г · 7 мереж · 4 SKU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5968" y="1591056"/>
            <a:ext cx="3566160" cy="3108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1591056"/>
            <a:ext cx="36576" cy="31089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17190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1E9EA6"/>
                </a:solidFill>
                <a:latin typeface="Segoe UI"/>
              </a:rPr>
              <a:t>ПОВЕРХ 2 · МІДЛ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1975104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38–124 грн  ·  58–86 грн/100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2157984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Азія та імпорт середньої ціни — сюди потрапляє й дешева Корея · 9 брендів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713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880105211456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3" y="2414016"/>
            <a:ext cx="566928" cy="5669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1713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O'Food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77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67 грн/100 г · 2 мереж · 4 SKU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3055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088010459999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2414016"/>
            <a:ext cx="566928" cy="5669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63055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3055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89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63055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75 грн/100 г · 5 мереж · 11 SKU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1713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0064843610005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3" y="3621024"/>
            <a:ext cx="566928" cy="5669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51713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Paldo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713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95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713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77 грн/100 г · 5 мереж · 8 SKU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63055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5201810202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3621024"/>
            <a:ext cx="566928" cy="5669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163055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Yum Yum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3055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60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63055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86 грн/100 г · 2 мереж · 1 SKU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65008" y="1591056"/>
            <a:ext cx="3566160" cy="3108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65008" y="1591056"/>
            <a:ext cx="36576" cy="3108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6176" y="17190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ПОВЕРХ 3 · ІМПОРТНИЙ ПРЕМІУМ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6" y="1975104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34–198 грн  ·  93–146 грн/100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6176" y="2157984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Samyang, Nongshim та імпортна азійська локшина · 9 брендів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617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0880107311342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1664" y="2414016"/>
            <a:ext cx="566928" cy="5669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26617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Samyang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112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93 грн/100 г · 11 мереж · 17 SKU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1209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088010431506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7584" y="2414016"/>
            <a:ext cx="566928" cy="56692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1209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Nongshim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1209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1209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107 грн/100 г · 9 мереж · 11 SKU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617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08850987150098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1664" y="3621024"/>
            <a:ext cx="566928" cy="56692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6617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Мама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108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6617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121 грн/100 г · 5 мереж · 7 SKU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1209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0893601068142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87584" y="3621024"/>
            <a:ext cx="566928" cy="5669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91209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Micoem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1209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72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1209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106 грн/100 г · 8 мереж · 3 SKU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" y="4791456"/>
            <a:ext cx="11064240" cy="6949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6928" y="4791456"/>
            <a:ext cx="41148" cy="6949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" y="4864608"/>
            <a:ext cx="3200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B53A3A"/>
                </a:solidFill>
                <a:latin typeface="Segoe UI"/>
              </a:rPr>
              <a:t>ДЕ ОПИНЯЮТЬСЯ НАШІ ШІСТЬ SKU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5047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92–107 грн/100 г при полиці 120 грн;</a:t>
            </a:r>
          </a:p>
          <a:p>
            <a:pPr algn="l">
              <a:lnSpc>
                <a:spcPct val="12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124–132 за поточною ціною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6240" y="4864608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При полиці 120 грн наші SKU стають між Samyang (93) і Nongshim (107 грн/100 г) — двома брендами, що тримають 53 позицій з 89. Поточна розрахункова полиця 140–162 грн виводить їх вище за обох.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614416"/>
            <a:ext cx="11064240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66928" y="5614416"/>
            <a:ext cx="41148" cy="1170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1247" y="5779007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ЗМІНЮЄ В КАРТИНІ КОНКУРЕНЦІЇ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7" y="6053327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Корейський рамен — не однорідний преміум. Ottogi (75), Paldo (77), O’Food (67) і Bibigo (70 грн/100 г) стоять у МІДЛІ поруч із Yum Yum, а не поруч із Samyang і Nongshim; саме ця дешева половина (67–89 грн за пачку) — прямий ціновий конкурент новому бренду.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На пропозицію впливає й фабрика Nestlé в Смолигові (Волинь): запущена в липні 2025, близько $50 млн; ≈ 75 % випуску — на експорт до ЄС під Maggi, решта — на внутрішній ринок (Latifundist, Just Food).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 Показано сім позицій, рівновіддалених по ціні.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83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100 г — медіана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Наші SKU при полиці 120 грн: 92–107.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6002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0017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0001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8001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000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Сюди найімовірніше потраплять чотири наші SKU по 112,5–113 г — якщо їх спосіб приготування варіння з бульйоном (не підтверджено).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Ціль 120 грн — на 26 % вище за медіану сегмента (95 грн) і вище за P75 (113 грн): дорожчих за 120 лише 7 із 41. Поточна розрахункова полиця 140,55 грн дорожча за всіх, крім 2.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06484361004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8500696671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731155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3 — 68–90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68–90 грн (49–78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521145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144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68–72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1006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062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55213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67–85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Таврія В +1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521143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129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5211454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103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52467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52226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15774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2270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112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74–102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15775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124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064843610042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Ottogi (4), O'Food (4), Nongshim (4). Уся ця частина дешевша за нашу ціль 120 грн (максимум 90 грн). Ціна за 100 г у цій частині — медіана 70 грн; наші SKU при полиці 120 грн мають 92–107 — у 1,4 раза більше.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3 — 92–112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92–112 грн (77–97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84361006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92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22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9999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67–101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1005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31077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31074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85006966714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15773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74–122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1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85–122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093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07460300668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6958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7311227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8010731155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Paldo (5), Nongshim (3), Samyang (3). Уся ця частина дешевша за нашу ціль 120 грн (максимум 112 грн). Ціна за 100 г у цій частині — медіана 84 грн; наші SKU при полиці 120 грн мають 92–107 — у 1,2 раза більше.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3 — 112–205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13 позицій за медіанною ціною 112–205 грн (86–158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99–124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52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5225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77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315062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98–129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METRO +4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177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112–130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15776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125–135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148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315002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07036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116–142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003114601737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165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Nongshim (9), Samyang (2), Ottogi (2). Наша ціль 120 грн потрапляє в цю частину: дешевших за неї 6 із 13, дорожчих — 7. Ціна за 100 г у цій частині — медіана 100 грн; наші SKU при полиці 120 грн мають 92–107 — на рівні.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12 мереж із 18 мають позиції цього сегмента; число поруч — скільки позицій сегмента є в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Суцільна перевірка каталогів 18 мереж, 29.09.2026. * «Сільпо» — позиція без ваги в каталозі, віднесена за назвою (Nongshim Shin Ramyun).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Локшина, з якої воду зливають, а смак дає соус: Buldak, Toomba, Chapaghetti, Volcano, Carbonara. Показано сім позицій, рівновіддалених по ціні.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79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100 г — медіана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Наші SKU при полиці 120 грн: 92–107.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745672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5472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16378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58189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90945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Сюди найімовірніше потраплять Gouda Cheese 123 г і Carbonara Spicy 131 г — якщо їх спосіб приготування це підтвердить.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Ціль 120 грн — на 13 % вище за медіану сегмента (106 грн), але нижче P75 (137 грн): дорожчих за 120 — 11 із 30. Прямі аналоги за вагою: Paldo Volcano Carbonara 130 г — 114 грн, Choi’s Carbonara 131 г — 125,20 грн. Поточна полиця 162,18 грн дорожча за 29 із 30.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95550503028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616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13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64843610127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7311647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1547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78–89 грн (57–77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3107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310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95550503028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955505030283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95550503028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95550503028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0092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17822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Bibigo (4), Paldo (2), Ottogi (2). Уся ця частина дешевша за нашу ціль 120 грн (максимум 89 грн). Ціна за 100 г у цій частині — медіана 70 грн; наші SKU при полиці 120 грн мають 92–107 — у 1,4 раза більше.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89–123 грн (68–88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430616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30687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136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96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10005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72–124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Grono · NOVUS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0746030059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90–115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1013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7311394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64843631068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105–121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7311647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2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89–136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127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Paldo (4), Nongshim (3), Samyang (3). Наша ціль 120 грн потрапляє в цю частину: дешевших за неї 9 із 10, дорожчих — 1. Ціна за 100 г у цій частині — медіана 79 грн; наші SKU при полиці 120 грн мають 92–107 — у 1,3 раза більше.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125–198 грн (93–150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33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94–184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731134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86–151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731105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93–156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731164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01847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131–154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11683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088017311686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157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7311684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301547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Samyang (7), Nongshim (2), Choi's (1). Уся ця частина дорожча за нашу ціль 120 грн (мінімум 125 грн). Ціна за 100 г у цій частині — медіана 108 грн; наші SKU при полиці 120 грн мають 92–107 — на рівні.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13 мереж із 18 мають позиції цього сегмента; число поруч — скільки позицій сегмента є в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Суцільна перевірка каталогів 18 мереж, 29.09.2026. * «Сільпо» — три позиції Samyang Buldak без ваги в каталозі, віднесені за назвою.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найдорожчий формат за 100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Заливається окропом, готується без плити: формат для споживання поза домом. Наші шість SKU — пакет, тому це ринковий контекст, а не пряма конкуренція.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154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100 г — медіана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Наші SKU при полиці 120 грн: 92–107.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454727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Ринок вже платить премію за зручність: 154 грн/100 г проти 83 у пакеті з бульйоном — у 1.9 раза більше.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Сегмент вузький: 18 позицій у 8 мережах і лише 4 бренди. Якщо в лінійці SIAS з’явиться стакан, це єдиний формат, де премія за грам уже прийнята ринком; у поточній пропозиції стакана немає.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0064517557028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00031146017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088010430293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0880104302812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088010430311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9 позицій за медіанною ціною 65–103 грн (81–166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40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73114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65–86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51755702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0311462706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10006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077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003114601711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003114601709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Samyang (4), Nongshim (3), Ottogi (1). Уся ця частина дешевша за нашу ціль 120 грн (максимум 103 грн). Ціна за 100 г у цій частині — медіана 123 грн; наші SKU при полиці 120 грн мають 92–107 — на 19 % менше.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9 позицій за медіанною ціною 105–195 грн (154–244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0311462706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304956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30293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031146017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302931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02812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125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137–150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Таврія В +1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02815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100–158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 · METRO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311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Nongshim (8), Samyang (1). Наша ціль 120 грн потрапляє в цю частину: дешевших за неї 6 із 9, дорожчих — 3. Ціна за 100 г у цій частині — медіана 179 грн; наші SKU при полиці 120 грн мають 92–107 — на 45 % менше.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мережах: скільки позицій і за скільки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 кожній клітинці — кількість позицій бренду в мережі (колір) і медіанна ціна за пачку, грн. Зріз 29.09.2026, 13 мереж, де є категорія.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5648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4579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4579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3512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52444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2444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5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5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0308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0308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8171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8171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47104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 В»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46036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6036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44968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3900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3900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42832" y="1554480"/>
            <a:ext cx="562356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167335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4916" y="1554480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4916" y="16733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81844" y="1554480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16733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8772" y="1554480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8772" y="16733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МЕДІАНА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03682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1956816"/>
            <a:ext cx="562356" cy="32461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55648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5648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54579" y="1956816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54579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4579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145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53512" y="1956816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53512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53512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122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52444" y="1956816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52444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52444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51375" y="195681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51375" y="20482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0308" y="195681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0308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0308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195681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9240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8171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8171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8171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47104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47104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47104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46036" y="195681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46036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46036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44968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44968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44968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43900" y="195681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43900" y="20482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42832" y="1956816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2832" y="197510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42832" y="214884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14916" y="195681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14916" y="204825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181844" y="195681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81844" y="204825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748772" y="195681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48772" y="204825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111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239801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55648" y="2318004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55648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5648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54579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54579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54579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152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53512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53512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53512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52444" y="231800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52444" y="240944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51375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51375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51375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50308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50308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0308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49240" y="2318004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49240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49240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8171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8171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48171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140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547104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47104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47104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140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46036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146036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46036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44968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44968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44968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130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43900" y="2318004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343900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43900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102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42832" y="2318004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42832" y="233629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42832" y="251002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14916" y="231800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614916" y="24094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181844" y="231800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181844" y="24094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748772" y="231800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748772" y="24094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112 грн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6928" y="275920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755648" y="2679192"/>
            <a:ext cx="562356" cy="32461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755648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55648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354579" y="2679192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354579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54579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953512" y="2679192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53512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953512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552444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552444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151375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51375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750308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50308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349240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49240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948171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948171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47104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47104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146036" y="2679192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146036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146036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744968" y="2679192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744968" y="269748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744968" y="287121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100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343900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343900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942832" y="2679192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942832" y="27706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614916" y="2679192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614916" y="27706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181844" y="2679192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181844" y="27706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748772" y="2679192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748772" y="27706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94 грн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6928" y="3120390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755648" y="3040380"/>
            <a:ext cx="562356" cy="32461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755648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755648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89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354579" y="3040380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54579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354579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101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953512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552444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552444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151375" y="3040380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151375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151375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750308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750308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349240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349240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948171" y="3040380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948171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948171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547104" y="3040380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547104" y="305866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547104" y="323240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146036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146036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744968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744968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343900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343900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942832" y="3040380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942832" y="31318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614916" y="3040380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614916" y="31318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181844" y="3040380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181844" y="31318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748772" y="3040380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748772" y="31318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грн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3481578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755648" y="3401568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755648" y="34198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755648" y="3593592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74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354579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354579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953512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953512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552444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552444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151375" y="3401568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151375" y="341985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51375" y="3593592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80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750308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750308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5349240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349240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948171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948171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547104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547104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146036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146036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744968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744968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343900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343900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942832" y="3401568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942832" y="3493008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614916" y="3401568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614916" y="349300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181844" y="3401568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181844" y="349300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748772" y="3401568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0748772" y="349300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77 грн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66928" y="384276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755648" y="3762756"/>
            <a:ext cx="562356" cy="32461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755648" y="378104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755648" y="3954780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2354579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354579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953512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953512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552444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552444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4151375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151375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4750308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750308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349240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349240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5948171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5948171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547104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547104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146036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146036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744968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744968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8343900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343900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8942832" y="3762756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942832" y="3854196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614916" y="376275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614916" y="385419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181844" y="376275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0181844" y="385419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0748772" y="3762756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0748772" y="385419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86 грн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566928" y="420395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755648" y="4123944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755648" y="414223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755648" y="4315968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2354579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2354579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953512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2953512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3552444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3552444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4151375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4151375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750308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750308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5349240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5349240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5948171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5948171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6547104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6547104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7146036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7146036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744968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7744968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8343900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8343900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8942832" y="4123944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942832" y="4215384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9614916" y="412394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9614916" y="42153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181844" y="412394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0181844" y="42153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748772" y="4123944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10748772" y="42153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66928" y="456514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755648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755648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2354579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2354579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953512" y="4485131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2953512" y="4503420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953512" y="4677156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78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552444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3552444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51375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4151375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750308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4750308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349240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5349240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5948171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5948171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6547104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6547104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146036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146036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744968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7744968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343900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8343900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8942832" y="4485131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8942832" y="4576572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614916" y="4485131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9614916" y="457657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0181844" y="4485131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10181844" y="457657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10748772" y="4485131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0748772" y="457657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78 грн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566928" y="4926329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Choi’s (SIAS)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1755648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755648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2354579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354579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2953512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2953512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3552444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3552444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4151375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4151375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750308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4750308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5349240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5349240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5948171" y="4846319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5948171" y="4864607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5948171" y="503834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6547104" y="4846319"/>
            <a:ext cx="562356" cy="32461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6547104" y="4864607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6547104" y="5038344"/>
            <a:ext cx="5623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7146036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7146036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7744968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7744968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343900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343900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8942832" y="4846319"/>
            <a:ext cx="562356" cy="32461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8942832" y="4937759"/>
            <a:ext cx="5623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9614916" y="4846319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9614916" y="4937759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10181844" y="4846319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10181844" y="4937759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10748772" y="4846319"/>
            <a:ext cx="539496" cy="3246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0748772" y="4937759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125 грн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1737360" y="5225795"/>
            <a:ext cx="95783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566928" y="5317235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737360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737360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89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2336291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336291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126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935224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2935224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534156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3534156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108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4133087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4133087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88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4732020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732020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330952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5330952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5929883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5929883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528816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6528816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7127748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7127748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134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7726680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7726680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325612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8325612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102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924544" y="5280659"/>
            <a:ext cx="5989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8924544" y="5445251"/>
            <a:ext cx="5989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9614916" y="5353811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181844" y="5353811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0748772" y="5353811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C4820A"/>
                </a:solidFill>
                <a:latin typeface="Segoe UI"/>
              </a:rPr>
              <a:t>103 грн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566928" y="5664707"/>
            <a:ext cx="11064240" cy="6400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566928" y="5664707"/>
            <a:ext cx="41148" cy="6400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841248" y="5756147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ЩО ПОКАЗУЄ ЗВЕДЕННЯ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841248" y="5957315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Nongshim і Samyang — 57 із 93 позицій; перший у 11 мережах із 13, другий у 12. Choi’s (SIAS) — одна позиція у двох мережах («Космос», «Таврія В»), 125 грн. Решта шість брендів — від 1 до 14 позицій, переважно в «Ашані».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Джерела: каталоги мереж (zakaz.ua) і «Сільпо», 29.09.2026. Клітинка = унікальні EAN × медіана цін по магазинах мережі; «Сільпо» — 4 позиції без EAN (3 Samyang, з них 2 за 89,99 — акція, і 1 Nongshim); 93 = 89 позицій з EAN + 4 «Сільпо». «Медіана» в підсумку — за медіанними цінами позицій по мережах. Сегменти 1–3.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Кожна клітинка — скільки позицій корейського рамену має цей формат у цій ваговій смузі. Насиченість кольору пропорційна кількості.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11064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МАТРИЦЯ ФОРМАТ × ВАГА · КІЛЬКІСТЬ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40–90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90–110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110–125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125–145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7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145 г 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95144"/>
            <a:ext cx="20116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Пакет (пачка)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8336" y="2139696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139696"/>
            <a:ext cx="1517904" cy="457200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7296" y="2139696"/>
            <a:ext cx="151790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1775" y="2139696"/>
            <a:ext cx="1517904" cy="457200"/>
          </a:xfrm>
          <a:prstGeom prst="rect">
            <a:avLst/>
          </a:prstGeom>
          <a:solidFill>
            <a:srgbClr val="5A7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5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255" y="2139696"/>
            <a:ext cx="1517904" cy="457200"/>
          </a:xfrm>
          <a:prstGeom prst="rect">
            <a:avLst/>
          </a:prstGeom>
          <a:solidFill>
            <a:srgbClr val="CF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5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788920"/>
            <a:ext cx="20116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88336" y="2633472"/>
            <a:ext cx="1517904" cy="457200"/>
          </a:xfrm>
          <a:prstGeom prst="rect">
            <a:avLst/>
          </a:prstGeom>
          <a:solidFill>
            <a:srgbClr val="7D9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833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97296" y="2633472"/>
            <a:ext cx="1517904" cy="457200"/>
          </a:xfrm>
          <a:prstGeom prst="rect">
            <a:avLst/>
          </a:prstGeom>
          <a:solidFill>
            <a:srgbClr val="CF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1775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6255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5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383279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392423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ВАГОВІ СМУГИ РИНКУ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392423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частка SKU, медіана полиці та ціна за 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621024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ВАГОВА СМУГА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23744" y="362102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5264" y="362102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ЧАСТКА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3621024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9824" y="3621024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3621024"/>
            <a:ext cx="4937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ЩО ЦЕ ЗА СМУГА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803904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744" y="380390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55264" y="380390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19 %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1104" y="38039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105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9824" y="38039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3803904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лише стакани: дорого за 100 г, дешево за чек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082796"/>
            <a:ext cx="10936224" cy="30632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4119372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23744" y="41193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5264" y="41193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61104" y="411937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101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9824" y="411937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119372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перехідна смуга, мало позицій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434840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23744" y="44348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5264" y="44348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40 %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61104" y="443484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9824" y="443484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3408" y="4434840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найщільніша смуга ринку — Shin Ramyun, Ottogi, Paldo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6" y="4713731"/>
            <a:ext cx="10936224" cy="30632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4750307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23744" y="475030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5264" y="4750307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30 %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61104" y="4750307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49824" y="4750307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3408" y="4750307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смуга преміальних лінійок і соусних SKU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506577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23744" y="506577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55264" y="5065775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61104" y="5065775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49824" y="5065775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3408" y="5065775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поодинокі позиції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5907024"/>
            <a:ext cx="5413248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5907024"/>
            <a:ext cx="41148" cy="8412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7" y="607161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7" y="634593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 За форматом і грамажем заперечень немає.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5907024"/>
            <a:ext cx="5413248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17920" y="5907024"/>
            <a:ext cx="41148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607161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ЦІНА ЗА 100 Г — ВИЩА ЗА ВІДПОВІДНІ СМУГИ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634593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При полиці 120 грн наші SKU — 92–107 грн/100 г проти 78–86 у їхніх смугах: на 7–37 % вище. За поточною розрахунковою ціною 124–132 грн/100 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Топ поєднань формат + вага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Поєднання з двома і більше позиціями. У 15 таких клітинках лежать 74 позицій із 89 — решта розсіяна по унікальних грамажах.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09344"/>
            <a:ext cx="41148" cy="1170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УПАКОВКА №1 НА РИНКУ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C4820A"/>
                </a:solidFill>
                <a:latin typeface="Segoe UI"/>
              </a:rPr>
              <a:t>пакет 120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1096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22 позицій, медіана 93 грн, 77 грн/100 г.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Nongshim, Ottogi, Paldo — 11 мереж.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609344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09344"/>
            <a:ext cx="41148" cy="117043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УПАКОВКА №2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1E9EA6"/>
                </a:solidFill>
                <a:latin typeface="Segoe UI"/>
              </a:rPr>
              <a:t>пакет 130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096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9 позицій, медіана 114 грн, 87 грн/100 г.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Сюди лягає наша Carbonara 131 г.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09344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09344"/>
            <a:ext cx="41148" cy="1170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НАЙДЕШЕВШИЙ ФОРМАТ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5D4B96"/>
                </a:solidFill>
                <a:latin typeface="Segoe UI"/>
              </a:rPr>
              <a:t>стакан 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1096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позиції, медіана 70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Samyang Buldak у стакані.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907792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907792"/>
            <a:ext cx="41148" cy="11704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06324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ЧОТИРЬОХ НАШИХ SKU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27355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113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70941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Жодної позиції ринку в цій вазі.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Найближча щільна клітинка — 120 г.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2907792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2907792"/>
            <a:ext cx="41148" cy="11704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06324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РІЗНИЦЯ ДО СТАНДАРТУ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27355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113 проти 120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70941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 7 г легше за стандарт категорії.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однакової ціни це −6 % продукту.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2907792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2907792"/>
            <a:ext cx="41148" cy="1170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06324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ПОКРИТТЯ СІТКИ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7355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303A5D"/>
                </a:solidFill>
                <a:latin typeface="Segoe UI"/>
              </a:rPr>
              <a:t>74 з 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0941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лежать у повторюваних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поєднаннях формату й ваги.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242816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251959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ТОП ПОЄДНАНЬ ФОРМАТ × ВАГА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251959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хто їх тримає і чи є там наші SKU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480559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480559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480559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480559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4480559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480559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1696" y="4480559"/>
            <a:ext cx="3017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ХТО ТРИМАЄ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480559"/>
            <a:ext cx="184708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ЧИ Є ТУТ НАШІ SKU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466344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46634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46634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466344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466344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11696" y="4663440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(9) · Ottogi (6) · Paldo (4)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663440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 — наші 112,5–113 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" y="4910327"/>
            <a:ext cx="10936224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4946903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494690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4946903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494690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4946903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4946903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11696" y="4946903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Paldo (3) · Samyang (2) · Nongshim (2)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4946903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так — Carbonara 131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5230367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94560" y="5230367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5230367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5230367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523036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523036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11696" y="5230367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(4) · Nongshim (1) · Paldo (1)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5230367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3776" y="5477255"/>
            <a:ext cx="10936224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551383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5513831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105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17520" y="551383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0" y="5513831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80560" y="551383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7840" y="551383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11696" y="5513831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(5) · Paldo (1)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84080" y="5513831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5797295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4560" y="579729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67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17520" y="579729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0" y="579729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0560" y="579729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107 грн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77840" y="579729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11696" y="5797295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(3) · Ottogi (1)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84080" y="5797295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" y="6163056"/>
            <a:ext cx="11064240" cy="5669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66928" y="6163056"/>
            <a:ext cx="41148" cy="56692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1248" y="6254496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ГОЛОВНЕ ПРО УПАКОВКУ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" y="6455664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Стандарт категорії — пакет 120 г. Чотири наші SKU на 7 г легші; при полиці 120 грн вони на 29 % дорожчі за медіану цієї клітинки (93 грн), за поточної розрахункової 140,55 грн — на 51 %.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ЦІНА НА ПОЛИЦІ · SKU-РІВЕНЬ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Хто стоїть навколо 120 грн: конкретні позиції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31 позицій конкурентів у коридорі 96–144 грн і шість наших SKU при ціні 120 грн. Пакетний рамен, ціна за одну пачку з ПДВ.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773936"/>
            <a:ext cx="5486" cy="37764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2312" y="1737360"/>
            <a:ext cx="12801" cy="383133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2038" y="15910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830243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AnSungTangMyun з грибами та во… · 125 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839387"/>
            <a:ext cx="120614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0284" y="1830243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0136" y="1834815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025155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Bibim Men в корейському стилі · 130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2034299"/>
            <a:ext cx="123016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4296" y="2025155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2029727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22006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Chacharoni зі смаком чорних боб… · 140 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2229210"/>
            <a:ext cx="126587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0006" y="222006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222463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414978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з морепродуктами гостра · 120 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2424122"/>
            <a:ext cx="1275106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9242" y="241497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0136" y="2419550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609890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Stir fried з куркою · 130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2619034"/>
            <a:ext cx="1283726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7862" y="260989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0136" y="261446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280480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з сиром · 110 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0128" y="2813945"/>
            <a:ext cx="1296655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0791" y="280480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0136" y="280937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2999713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зі смаком морепродуктів · 120 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3008857"/>
            <a:ext cx="1329903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4039" y="2999713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0136" y="3004285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319462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Buldak Jjajang зі смаком гостро… · 140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0128" y="3203768"/>
            <a:ext cx="133606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0196" y="319462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0136" y="319919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338953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Shin Ramyun зі смаком гострої… · 120 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0128" y="3398680"/>
            <a:ext cx="136068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4824" y="338953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0136" y="339410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3584448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Ramen · 115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10128" y="3593592"/>
            <a:ext cx="137300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47138" y="358444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0136" y="3589020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377935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Ramen локшина зі смаком курки з… · 135 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0128" y="3788503"/>
            <a:ext cx="137300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47138" y="377935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0136" y="378393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397427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Ramen з сиром · 120 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10128" y="3983415"/>
            <a:ext cx="137608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0216" y="397427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0136" y="397884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" y="4169182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 · з кунжутом · 115 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10128" y="4178326"/>
            <a:ext cx="1377927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2063" y="4169182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0136" y="417375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" y="436409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 · Jin Jjambbong Ramen з морепродук… · 130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0128" y="4373238"/>
            <a:ext cx="1385316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9452" y="436409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0136" y="436866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4559005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з морепродуктами середньогостра · 120 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10128" y="4568149"/>
            <a:ext cx="1398861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72997" y="4559005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0136" y="4563577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5 м.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4753917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Volcano Carbonara куряча · 130 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10128" y="4763061"/>
            <a:ext cx="1398861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72997" y="4753917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0136" y="4758489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494882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Ramen з сиром гостра · 130 г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10128" y="4957973"/>
            <a:ext cx="141733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91468" y="494882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0136" y="495340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" y="5143740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зі спеціями · 120 г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10128" y="5152884"/>
            <a:ext cx="144072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14864" y="514374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0136" y="514831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7 м.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" y="5338652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Kimchi Ramyun · 120 г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10128" y="5347796"/>
            <a:ext cx="145304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27178" y="5338652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0136" y="534322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9 м.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33688" y="1773936"/>
            <a:ext cx="5486" cy="358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405872" y="1737360"/>
            <a:ext cx="12801" cy="36364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45598" y="15910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90488" y="1810512"/>
            <a:ext cx="5440680" cy="17662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45351" y="1830243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Gouda Cheese · 123 г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33688" y="1839387"/>
            <a:ext cx="1477670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475366" y="1830243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90488" y="2005423"/>
            <a:ext cx="5440680" cy="17662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45351" y="2025155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Carbonara Spicy · 131 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33688" y="2034299"/>
            <a:ext cx="1477670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75366" y="2025155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90488" y="2200335"/>
            <a:ext cx="5440680" cy="17662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45351" y="222006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Vegetable Flavor · 113 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33688" y="2229210"/>
            <a:ext cx="1477670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75366" y="222006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90488" y="2395246"/>
            <a:ext cx="5440680" cy="17662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1" y="2414978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Spicy Flavor · 112,5 г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33688" y="2424122"/>
            <a:ext cx="1477670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75366" y="241497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90488" y="2590158"/>
            <a:ext cx="5440680" cy="17662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45351" y="2609890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Beef Flavor · 113 г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33688" y="2619034"/>
            <a:ext cx="1477670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475366" y="260989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90488" y="2785069"/>
            <a:ext cx="5440680" cy="17662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45351" y="280480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Chicken Flavor · 113 г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33688" y="2813945"/>
            <a:ext cx="1477670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475366" y="280480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45351" y="2999713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Chapaghetti · 140 г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933688" y="3008857"/>
            <a:ext cx="147767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475366" y="2999713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283695" y="3004285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 м.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45351" y="319462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Ramen зі смаком сиру · 105 г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933688" y="3203768"/>
            <a:ext cx="148629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483986" y="319462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83695" y="319919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45351" y="338953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Volcano Chicken з куркою дуже гос… · 140 г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33688" y="3398680"/>
            <a:ext cx="151461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512308" y="338953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283695" y="339410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45351" y="3584448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з морепродуктами · 125 г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933688" y="3593592"/>
            <a:ext cx="153924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36936" y="3584448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283695" y="3589020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45351" y="377935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зі спеціями · 120 г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33688" y="3788503"/>
            <a:ext cx="153924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36936" y="377935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283695" y="378393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45351" y="397427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Choi’s · карбон · 131 г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33688" y="3983415"/>
            <a:ext cx="154170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539398" y="397427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283695" y="397884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45351" y="4169182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Shin Ramyun з грибами · 120 г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933688" y="4178326"/>
            <a:ext cx="1581107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78803" y="4169182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283695" y="417375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245351" y="436409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Shin Ramyun Tom Yum Том Ям · 123 г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933688" y="4373238"/>
            <a:ext cx="1587879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585575" y="436409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283695" y="436866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45351" y="4559005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Buldak Рамен з гострою тушкован… · 145 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933688" y="4568149"/>
            <a:ext cx="1667304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665000" y="4559005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283695" y="4563577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7 м.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45351" y="4753917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зі смаком курки дуже гостра · 140 г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933688" y="4763061"/>
            <a:ext cx="1682081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679777" y="4753917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283695" y="4758489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10 м.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45351" y="494882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933688" y="4957973"/>
            <a:ext cx="169685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694554" y="494882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83695" y="495340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7 м.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45351" y="5143740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гостра з сиром · 130 г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933688" y="5152884"/>
            <a:ext cx="1711634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709330" y="5143740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283695" y="5148312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9 м.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66928" y="5623559"/>
            <a:ext cx="11064240" cy="6400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66928" y="5623559"/>
            <a:ext cx="41148" cy="6400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41248" y="5714999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ЩО ПОКАЗУЄ КОРИДОР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41248" y="59161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Конкурентів з ціною до 120 грн включно — 20 з 31. Нижче за коридор ще 33 позицій (від 68 грн), вище — 7. Наші шість SKU при 120 грн стоять поруч з Nongshim Chapaghetti (120), Paldo Volcano Chicken (123) та Choi’s Карбон (125).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Джерело цін конкурентів: каталоги мереж 29.09.2026, медіана ціни позиції (EAN) по мережах, де вона є; «м.» — число мереж. Наші SKU: ціль 120 грн — полиця за фінмоделлю при закупівлі €0,54 (33 палети). Червона лінія — 120 грн.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ЦІНА НА ПОЛИЦІ · SKU-РІВЕНЬ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ми стоїмо зараз: від 120 грн і наша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19 позицій конкурентів від 120 грн і шість SKU SIAS за поточною закупівлею (33 палети, маржа 30 %): 140,55 грн — чотири SKU, 162,18 грн — Gouda і Carbonara.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773936"/>
            <a:ext cx="5486" cy="377647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0120" y="1737360"/>
            <a:ext cx="12801" cy="383133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99846" y="15910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84851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Chapaghetti · 140 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857660"/>
            <a:ext cx="105547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14" y="184851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0136" y="185308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 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07997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Ramen зі смаком сиру · 105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2089118"/>
            <a:ext cx="1061635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5771" y="207997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208454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31143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· Volcano Chicken з куркою дуже гос… · 140 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2320575"/>
            <a:ext cx="1081865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6001" y="231143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231600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54288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з морепродуктами · 125 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2552033"/>
            <a:ext cx="1099457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3593" y="254288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0136" y="254746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77434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зі спеціями · 120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128" y="2783490"/>
            <a:ext cx="1099457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3593" y="277434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0136" y="277891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00580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Choi’s · карбон · 131 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0128" y="3014948"/>
            <a:ext cx="1101216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5352" y="300580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0136" y="301037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23726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Shin Ramyun з грибами · 120 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3246405"/>
            <a:ext cx="112936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3498" y="323726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0136" y="324183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346871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Shin Ramyun Tom Yum Том Ям · 123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0128" y="3477863"/>
            <a:ext cx="1134199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8335" y="346871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0136" y="347329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370017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Buldak Рамен з гострою тушкован… · 145 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0128" y="3709320"/>
            <a:ext cx="1190931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5067" y="370017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0136" y="370474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7 м.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393163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зі смаком курки дуже гостра · 140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10128" y="3940778"/>
            <a:ext cx="1201486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5622" y="393163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0136" y="393620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10 м.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16309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10128" y="4172235"/>
            <a:ext cx="1212041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86177" y="416309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0136" y="416766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7 м.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439454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гостра з сиром · 130 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10128" y="4403693"/>
            <a:ext cx="1222596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6732" y="439454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0136" y="439912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9 м.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4588001"/>
            <a:ext cx="5440680" cy="213169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462600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Vegetable Flavor · 113 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0128" y="4635150"/>
            <a:ext cx="1236259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10395" y="462600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140,55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4819459"/>
            <a:ext cx="5440680" cy="213169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" y="485746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Spicy Flavor · 112,5 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10128" y="4866608"/>
            <a:ext cx="1236259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10395" y="485746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140,55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" y="5050916"/>
            <a:ext cx="5440680" cy="213169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508892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Beef Flavor · 113 г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10128" y="5098065"/>
            <a:ext cx="1236259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10395" y="508892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140,55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5282374"/>
            <a:ext cx="5440680" cy="213169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532037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Chicken Flavor · 113 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10128" y="5329523"/>
            <a:ext cx="1236259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10395" y="532037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140,55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33688" y="1773936"/>
            <a:ext cx="5486" cy="2156269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983680" y="1737360"/>
            <a:ext cx="12801" cy="2211133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23406" y="15910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5351" y="184851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Toomba Spicy&amp;Creamy Stir-Fry в… · 137 г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33688" y="1857660"/>
            <a:ext cx="131055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08248" y="184851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83695" y="185308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7 м.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45351" y="207997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Tangle зі смаком вершкових гриб… · 105 г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33688" y="2089118"/>
            <a:ext cx="138091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78614" y="207997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83695" y="208454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5351" y="231143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Tangle зі смаком вершкового бул… · 105 г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33688" y="2320575"/>
            <a:ext cx="138091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78614" y="231143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83695" y="231600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5351" y="254288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· Tangle зі смаком часникової олії · 105 г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33688" y="2552033"/>
            <a:ext cx="138091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378614" y="254288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83695" y="254746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3 м.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90488" y="2736341"/>
            <a:ext cx="5440680" cy="213169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45351" y="277434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Gouda Cheese · 123 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33688" y="2783490"/>
            <a:ext cx="1426453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24149" y="277434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162,18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90488" y="2967799"/>
            <a:ext cx="5440680" cy="213169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45351" y="3005804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Choi’s SIAS · Carbonara Spicy · 131 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33688" y="3014948"/>
            <a:ext cx="1426453" cy="137160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24149" y="3005804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162,18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45351" y="3237261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Шин Рамен Black · 130 г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33688" y="3246405"/>
            <a:ext cx="1453394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451090" y="3237261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165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83695" y="3241833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45351" y="3468719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Spicy &amp; Creamy Toomba K-Pop · 137 г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33688" y="3477863"/>
            <a:ext cx="174154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739236" y="3468719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198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83695" y="3473291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 м.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45351" y="3700176"/>
            <a:ext cx="264261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Shin Ramyun Black · 130 г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33688" y="3709320"/>
            <a:ext cx="1805308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803004" y="3700176"/>
            <a:ext cx="548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205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83695" y="370474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2 м.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28" y="5623559"/>
            <a:ext cx="11064240" cy="6400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66928" y="5623559"/>
            <a:ext cx="41148" cy="64008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41248" y="5714999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ЩО ПОКАЗУЄ СПИСОК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1248" y="591616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поточній закупівлі чотири SKU (140,55 грн) були б дорожчими за 64 із 71 пакетних позицій, Gouda і Carbonara (162,18 грн) — за 68. При 120 грн — за 52.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Джерело цін конкурентів: каталоги мереж 29.09.2026, медіана ціни позиції по мережах. Наші SKU «зараз» = Self-Cost СС ÷ (1 − бонус 25 % − маржа 30 %) × націнка 1,40; курс 51,20 грн/€. Червона лінія — 120 грн.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377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700784"/>
            <a:ext cx="1645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ПОКРИТТЯ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0078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70078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0784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ДІАПАЗОН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700784"/>
            <a:ext cx="367588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БРЕНДИ НА ПОЛИЦІ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188366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88366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88366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8366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65–202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88366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 · Ottogi · O’Food · 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10494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14152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14152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1415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14152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14152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67–158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14152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399385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399385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39938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239938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126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399385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72–209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399385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620670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657246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657246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265724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265724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88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2657246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67–124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2657246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915107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2915107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291510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291510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2915107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117–157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915107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136392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172968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4368" y="317296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0288" y="31729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1808" y="317296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317296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117–157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172968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430828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4368" y="343082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C&amp;C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0288" y="343082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21808" y="343082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108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343082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98–165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430828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652113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688689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88689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0288" y="368868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8" y="3688689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3688689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40–150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3688689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94655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394655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90288" y="394655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1808" y="394655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9088" y="394655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34–150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3946550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" y="4167835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4204411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44368" y="4204411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90288" y="4204411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21808" y="420441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134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19088" y="4204411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119–184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79" y="4204411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46227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44368" y="446227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90288" y="44622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21808" y="446227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19088" y="44622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100–134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4462272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" y="4683556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472013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44368" y="472013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90288" y="472013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21808" y="472013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102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19088" y="472013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93–111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4720132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4977993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44368" y="4977993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№1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0288" y="497799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21808" y="4977993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19088" y="4977993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90–199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55279" y="4977993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(3) · Nongshim (1)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" y="519927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523585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МегаМаркет · Ultramarket · ЕКО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44368" y="523585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90288" y="523585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21808" y="523585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19088" y="523585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55279" y="523585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5493715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Епіцентр · «Ідеал»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5493715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/ регіон.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90288" y="549371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21808" y="549371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19088" y="5493715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55279" y="5493715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6692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1247" y="6400800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грн.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1596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1596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90288" y="6400800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65008" y="5961888"/>
            <a:ext cx="356616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65008" y="5961888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39328" y="640080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 Найімовірніше, один постачальник на дві мережі.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скільки точок у кожному каналі перевірено у зрізі. Праворуч — хто туди приходить і чи це наш покупець.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ТОЧОК ПРОДАЖУ В КАНАЛІ · ПЕРЕВІРЕНО У ЗРІЗІ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43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859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87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29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0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Продуктові мережі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8" y="2048256"/>
            <a:ext cx="1851660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4820" y="206654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18  ·  13 мають рамен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49174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2468880"/>
            <a:ext cx="514350" cy="201168"/>
          </a:xfrm>
          <a:prstGeom prst="rect">
            <a:avLst/>
          </a:prstGeom>
          <a:solidFill>
            <a:srgbClr val="1E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7510" y="248716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912364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Маркетплейси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889504"/>
            <a:ext cx="411480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90779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749039"/>
            <a:ext cx="5394960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749039"/>
            <a:ext cx="41148" cy="24688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913631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187952"/>
            <a:ext cx="4846320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Продуктові мережі — єдиний канал з обсягом, але саме там уже стоять Samyang і Nongshim.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Маркетплейси й азійські фудшопи дають орієнтир ціни, але не обсяг: медіана на Prom — 135 грн, у фудшопах 61–158 грн. Умови бонусу в цих каналах не перевірялися: у моделі закладено 25 % для мережевого роздробу.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На відміну від готового рису, outdoor- і мілітарі-рітейл для рамену не канал: рамен потребує окропу, тому в туристичних магазинах його немає.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Практичний вхід — «Сільпо» і п’ять нацмереж із нулем.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645920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645920"/>
            <a:ext cx="41148" cy="11521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73736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40112" y="1737360"/>
            <a:ext cx="149961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176479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197510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B53A3A"/>
                </a:solidFill>
                <a:latin typeface="Segoe UI"/>
              </a:rPr>
              <a:t>МЕРЕЖІ НАЦІОНАЛЬНОГО ПОКРИТТЯ · 18 ПЕРЕВІРЕНО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139696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 мереж мають корейський рамен, 5 — жодної позиції. «Сільпо» тримає 4 позиції на всю мережу.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57860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0779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41148" cy="11521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29992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0112" y="2999232"/>
            <a:ext cx="149961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0112" y="302666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3236976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УНІВЕРСАЛЬНІ МАЙДАНЧИКИ · 4 МАЙДАНЧИКИ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3401568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Prom · Rozetka · MAUDAU · Bigl. Медіана в категорії «локшина рамен» на Prom — 135 грн, мінімум 80 грн.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384048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планована закупівля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169663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169663"/>
            <a:ext cx="41148" cy="115214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5664" y="426110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40112" y="4261103"/>
            <a:ext cx="149961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0112" y="428853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664" y="449884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1E9EA6"/>
                </a:solidFill>
                <a:latin typeface="Segoe UI"/>
              </a:rPr>
              <a:t>СПЕЦІАЛІЗОВАНИЙ ФУДРІТЕЙЛ · 5 МАГАЗИНІВ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4663440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OMG! Asia · Тайякі Март · Суші Повар · Asia Foods · Panda Asian. Корейський рамен 61–158 грн, ядро 92–135 грн.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5664" y="5102352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431536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5431536"/>
            <a:ext cx="41148" cy="115214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55229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40112" y="5522976"/>
            <a:ext cx="1499616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40112" y="555040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НЕ НАШ КАНАЛ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55664" y="576072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9FA9C4"/>
                </a:solidFill>
                <a:latin typeface="Segoe UI"/>
              </a:rPr>
              <a:t>ТУРИСТИЧНІ ТА ВІЙСЬКОВІ МАГАЗИНИ · 0 ПОЗИЦІЙ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5925312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Рамену там немає: він потребує окропу й каструлі.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55664" y="636422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СУМІЖНА ПОЛИЦЯ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Не-корейська локшина: підлога, від якої рахує покупець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Чотирнадцять найпоширеніших не-корейських позицій локшини швидкого приготування — по одній на бренд. Вони формують уявлення про «нормальну» ціну в категорії.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36576" cy="19202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09344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E59A8"/>
                </a:solidFill>
                <a:latin typeface="Segoe UI"/>
              </a:rPr>
              <a:t>УКРАЇНА ТА АЗІЯ БЕЗ КОРЕЇ   ·   Варіння або окріп   ·   50–200 г   ·   9–144 грн   ·   18–146 грн/100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Garnenka зі смаком курки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9–13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ЕКО · Епіцентр 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Daryna зі смаком курки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Епіцентр · Торба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Хуторок зі смаком курки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13–16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МегаМаркет 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48230974133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Щедро Том Ям з морепродуктами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12–18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Reeva зі смаком грибів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15–22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ЕКО +9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ChiBi Sweet Chili Crab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85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18–25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NOVUS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229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Acecook Hao Hao зі смаком Кімчі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38–51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520181020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рамен Yum Yum Tom Yum з креветками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60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9360106814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Micoem Cung Dinh з куркою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68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50–87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482017244439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Hokkaido Club Рамен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80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62–90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Епіцентр · МегаМаркет +4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93456362815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Ippin класичний рамен Хаката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82–97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58500244579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Макаронні вироби МІВІНА® Street Fo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121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81–108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Ідеал +9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22792" y="3986783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Bich-Chi Vina Pho Ga зі сма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100–108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МегаМаркет · Ultramarket +1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93601068154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Cung Dinh Kool Korean BBQ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105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110–144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5955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59552"/>
            <a:ext cx="41148" cy="115214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724144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 ДЛЯ ЦІНИ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98464"/>
            <a:ext cx="4864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Український мас-маркет — 9–22 грн за 50–60 г, тобто 18–33 грн/100 г. Корейський рамен коштує у 2,5–3 рази дорожче за 100 г, і ринок це приймає. Але прийнята премія має межу.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217920" y="555955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217920" y="5559552"/>
            <a:ext cx="41148" cy="11521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92240" y="5724144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ДЕ ЦЯ МЕЖА ПРОХОДИТЬ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92240" y="5998464"/>
            <a:ext cx="4864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У корейському рамені в пакеті ціна за 100 г — від 49 до 158 грн, медіана 80. При полиці 120 грн наші SKU — 92–107 грн/100 г; на рівні 119 грн/100 г і вище стоять лише 6 із 71 пакетних позицій.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Choi’s: ринковий орієнтир, окремий продукт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Choi’s Carbonara 131 г — позиція вихідного зрізу 29.09.2026. Це окремий конкурент, а не наш товар SIAS.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76479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288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4780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рамен карбон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7063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B53A3A"/>
                </a:solidFill>
                <a:latin typeface="Segoe UI"/>
              </a:rPr>
              <a:t>131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3639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700784"/>
            <a:ext cx="2980944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1700784"/>
            <a:ext cx="41148" cy="170078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1856232"/>
            <a:ext cx="25054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РОЗДРІБНА ЦІНА НА ПОЛИЦІ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066544"/>
            <a:ext cx="2505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2926080"/>
            <a:ext cx="2505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«Таврія В» і «Космос» на 29.09.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V3 (05–06.10) у «Таврії В» — 131,50 грн.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8112" y="1700784"/>
            <a:ext cx="3108960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68112" y="1700784"/>
            <a:ext cx="41148" cy="17007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1856232"/>
            <a:ext cx="2633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НАШІ SIAS · GOUDA / CARBONARA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066544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2926080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Ціль за моделлю: на 4 % нижче за Choi’s 125,20.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Зараз за моделлю — 162,18 грн (+30 %).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700784"/>
            <a:ext cx="2852928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1700784"/>
            <a:ext cx="41148" cy="17007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185623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СС ДЛЯ ПАРИТЕТУ 125,20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066544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C4820A"/>
                </a:solidFill>
                <a:latin typeface="Segoe UI"/>
              </a:rPr>
              <a:t>40,24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Закупівля SIAS: €0,57 (машина), €0,35 (6 палет) — при маржі 30 %.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712463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721607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ЩО З ЦЬОГО МОЖНА І ЧОГО НЕ МОЖНА ВИВЕСТИ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50207"/>
            <a:ext cx="3547872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950207"/>
            <a:ext cx="41148" cy="21031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411479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· ЦЕ ПОРІВНЯННЯ РІЗНИХ 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4389119"/>
            <a:ext cx="2999232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Choi’s Carbonara коштує 125,20–131,50 грн. Наші SIAS Gouda / Carbonara за поточною собівартістю — 162,18 грн за моделлю, тобто на 30 % дорожче.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Щоб стати на 125,20 грн з маржею 30 %, потрібна СС 40,24 грн. Це ціновий сценарій, а не ціна закупівлі конкурента.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950207"/>
            <a:ext cx="3547872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3950207"/>
            <a:ext cx="41148" cy="21031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0288" y="411479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 · ЩО ПЕРЕВІРИТИ ДЛЯ SIAS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389119"/>
            <a:ext cx="2999232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Для наших шести SKU потрібно підтвердити: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склад та інструкції приготування;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що саме входить у собівартість — товар і всі витрати;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умови поставки й канал продажу;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підтримку запуску і попит за нашою ціною.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5008" y="3950207"/>
            <a:ext cx="3566160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5008" y="3950207"/>
            <a:ext cx="41148" cy="21031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8" y="411479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 · МЕЖА ВИСНОВКУ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4389119"/>
            <a:ext cx="3017520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Ціна Choi’s не розкриває його собівартості, бонусу мережі чи маржі.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З неї не можна вивести закупівельну ціну SIAS, спільного імпортера або доступність ексклюзиву для нашого продукту.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459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Джерело: каталоги tavriav.zakaz.ua і cosmos.zakaz.ua, «Локшина Choi’s рамен карбон 131 г»; 05–06.10 — за V3. Паритет — власний розрахунок за формулою вкладок 3–4.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МАРЖА 30 %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За 100 г,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95,6 / 100,4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91,6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123,8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3712464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3712464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3712464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1320" y="3712464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03720" y="4389120"/>
            <a:ext cx="4727448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03720" y="4389120"/>
            <a:ext cx="41148" cy="18836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40" y="4553712"/>
            <a:ext cx="4178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ЩО ЦЕ ЗНАЧИТЬ ДЛЯ ПЕРЕГОВОРІВ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4828031"/>
            <a:ext cx="41788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1. Наша ціль 120 грн — на 4–9 % нижче за те, по чому цей бренд уже продають у «Таврії В». Якщо це той самий EAN 3760344350847, діючий імпортер матиме ціну вищу за нашу.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2. За 29.09 → 05–06.10 ціна в «Таврії В» зросла на 5 %, акційної ціни немає (стара ціна дорівнює новій).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3. Історії цін немає — лише дві дати. Її варто запросити в «Таврії В» і SIAS.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5248656"/>
            <a:ext cx="6035040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5248656"/>
            <a:ext cx="41148" cy="1042415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7" y="5413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ЄВРОПЕЙСЬКИЙ ОРІЄНТИР — ТІЛЬКИ ДЛЯ ПОРІВНЯННЯ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7" y="5687568"/>
            <a:ext cx="5486400" cy="43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dotasia.eu продає ту саму позицію за €1,80 замість €2,20 (−18 %); Gouda Cheese 123 г — так само. Це інтернет-магазин в ЄС, ПДВ на сторінці не вказано, товар «немає в наявності» — прямо порівнювати з українською полицею не можна.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* З 71 пакетної позиції зрізу 29.09.2026. Курс для перерахунку EUR→грн — 51,20. Джерела: tavriav.zakaz.ua, cosmos.zakaz.ua; ціна «Таврії В» 05–06.10 — за V3; dotasia.eu (Choi’s Carbonara 131 г, Gouda 123 г).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АКЦІЇ ТА МІНІМАЛЬНІ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Одна й та сама позиція конкурента коштує по-різному в різних мережах і під час акцій. Для SIAS це діапазон конкурентного тиску на полиці.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ПОЗИЦІЯ КОНКУРЕНТА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700784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170078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700784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НАЙНИЖЧА,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700784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НАЙВИЩА,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70078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РІЗНИЦЯ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8836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188366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8836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86,20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8836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151,00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88366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43 %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148840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185416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18541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218541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1854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92,90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21854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156,00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18541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48716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48716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24871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24871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93,50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24871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184,00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248716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49 %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752344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78892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27889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7" y="278892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278892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99,90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278892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151,00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278892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34 %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090672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Shin Ramyun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1568" y="309067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3087" y="30906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30906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98,28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30906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129,00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309067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355848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39242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01568" y="339242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33087" y="33924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3168" y="339242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98,28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339242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124,00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8" y="339242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694176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369417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33087" y="369417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73168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89,00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136,00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0608" y="369417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35 %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959352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99592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1568" y="399592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137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33087" y="399592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73168" y="399592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131,10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61888" y="399592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154,00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50608" y="399592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429768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01568" y="42976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33087" y="429768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73168" y="4297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105,30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1888" y="4297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121,00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0608" y="42976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1627632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21040" y="1627632"/>
            <a:ext cx="41148" cy="11155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77072" y="178308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НИЖЧІ ЗА 120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77072" y="1993392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8 з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77072" y="242925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ключових позицій конкурентів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мають мінімальну ціну нижче 120 грн.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2871216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21040" y="2871216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77072" y="30266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РОЗКИД МІЖ МЕРЕЖАМИ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7072" y="3236976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C4820A"/>
                </a:solidFill>
                <a:latin typeface="Segoe UI"/>
              </a:rPr>
              <a:t>34 %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7072" y="3672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медіанний розкид найдешевшої й найдорожчої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мережі для 18 позицій у трьох і більше мережах.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4114800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21040" y="4114800"/>
            <a:ext cx="41148" cy="11155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77072" y="427024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АКЦІЯ В «АШАНІ»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77072" y="4480560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1E9EA6"/>
                </a:solidFill>
                <a:latin typeface="Segoe UI"/>
              </a:rPr>
              <a:t>30 з 52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77072" y="49164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записів пакетного рамену на акції;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знижка найчастіше 20–23 %, максимум 39 %.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92624"/>
            <a:ext cx="7589520" cy="12618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928" y="4992624"/>
            <a:ext cx="41148" cy="12618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7" y="5157216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СКІЛЬКИ КОШТУЄ АКЦІЯ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7" y="5431536"/>
            <a:ext cx="7040880" cy="658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«Сільпо»: Samyang Buldak зі смаком курки та сиру і Buldak Carbonara — 89,99 грн замість 174 грн (−48 %). Samyang Tangle: від 77,50 до 157,00 грн залежно від мережі (−51 %).</a:t>
            </a:r>
          </a:p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Отже, конкурент може виставити ту саму пачку за 86–105 грн на акції; наша ціна 120 грн — вище за цей рівень, але нижче за повну ціну більшості позицій.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5358384"/>
            <a:ext cx="3310128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21040" y="5358384"/>
            <a:ext cx="41148" cy="89611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95360" y="5522976"/>
            <a:ext cx="2761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ОБМЕЖЕННЯ ДАНИХ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95360" y="5797296"/>
            <a:ext cx="276148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Стару ціну віддають лише деякі мережі (в основному «Ашан»): частка акцій тут — нижня межа.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за пачку і стара ціна. «Різниця» = 1 − найнижча ÷ найвища ціна позиції по мережах. «Сільпо» — ціна й стара ціна в каталозі.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на полиці зараз: 141–208 грн замість цільових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Шість SKU SIAS за поточною закупівлею €0,65–0,75 за пачку. Ціна на полиці — з ПДВ, за одну пачку, маржа 30 %, бонус мережі 25 %.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€0,65 · €0,75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закупівля SIAS зараз за пачку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1865376"/>
            <a:ext cx="2743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45,18 · 52,13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СС (Self-Cost): товар, логістика, ПДВ · 33 палети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1865376"/>
            <a:ext cx="2743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7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100,40 · 115,84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ціна партнеру = СС ÷ 0,45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865376"/>
            <a:ext cx="2743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7" y="1609344"/>
            <a:ext cx="256032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719072"/>
            <a:ext cx="223113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140,55 · 162,18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011680"/>
            <a:ext cx="2231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полиця = ціна партнеру × 1,40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560320"/>
            <a:ext cx="2377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ПОЗИЦІЯ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560320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56032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ЗАКУПІВЛЯ, €/пач.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56032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СС, ГРН · 33 ПАЛ.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560320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ПОЛИЦЯ · 33 ПАЛЕТИ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60320"/>
            <a:ext cx="1325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ПОЛИЦЯ · 6 ПАЛЕТ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560320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560320"/>
            <a:ext cx="14813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ВІДРИВ ВІД 120 · 33 ПАЛ.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74320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Gouda Cheese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274320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274320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274320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52,13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74320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74320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208,43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7432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274320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+42,18 грн · +35 %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" y="3026664"/>
            <a:ext cx="11064240" cy="3108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06324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Carbonara Spicy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30632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306324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06324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52,13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06324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06324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208,43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0632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306324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+42,18 грн · +35 %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338328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Vegetable Flavor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338328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338328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338328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338328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338328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338328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" y="3666744"/>
            <a:ext cx="11064240" cy="3108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70332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Spicy Flavor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37033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370332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370332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703320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370332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370332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703320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4023359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Beef Flavor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40233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402335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402335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4023359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4023359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20" y="402335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023359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6" y="4306823"/>
            <a:ext cx="11064240" cy="3108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4343399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Chicken Flavor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7520" y="434339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434339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4343399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4343399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01000" y="4343399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18320" y="434339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04120" y="4343399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" y="4773168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6928" y="4773168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" y="4928616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33 ПАЛЕТИ · ЧОТИРИ SKU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513892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140,55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5596127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+17 % до цілі 120. Дорожче за 64 із 71 пакетних позицій ринку.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15968" y="4773168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15968" y="4773168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0" y="4928616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33 ПАЛЕТИ · GOUDA, CARBONARA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5138928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162,18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5596127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+35 % до цілі 120. Дорожче за 68 із 71 пакетних позицій.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65008" y="4773168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65008" y="4773168"/>
            <a:ext cx="41148" cy="12984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21040" y="4928616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6 ПАЛЕТ · УСІ SKU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21040" y="5138928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181–208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21040" y="5596127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+51…74 % до цілі 120. Вище за весь ринок пакетів (макс. 205 грн).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SIAS: вкладки «Финмодель 6 паллет» і «Финмодель 33 паллет», колонки маржі 30 %. СС — Self-Cost_Sias.xlsx. Курс 51,20 грн/€; ціна партнеру — вже з ПДВ. Коефіцієнти: 1 − 0,25 − 0,30 = 0,45; націнка 1,40.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потрібна, щоб стати на полицю за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Обернений розрахунок за тією ж моделлю: від ціни на полиці 120 грн униз до ціни, яку ми можемо заплатити SIAS за пачку.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120,00 грн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цільова ціна на полиці з ПДВ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578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038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85,71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038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ціна партнеру = 120 ÷ 1,40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458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464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38,57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макс. СС = ціна партнеру × 45 %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350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810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810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макс. СС в євро = грн ÷ 51,20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2308" y="1865376"/>
            <a:ext cx="4800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02368" y="1609344"/>
            <a:ext cx="1828800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7190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 · €0,32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01168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spc="-10">
                <a:solidFill>
                  <a:srgbClr val="717890"/>
                </a:solidFill>
                <a:latin typeface="Segoe UI"/>
              </a:rPr>
              <a:t>закупівля: 33 палети · 6 палет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560320"/>
            <a:ext cx="2286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ПОЗИЦІЯ SIAS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2560320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256032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ЗАРАЗ, €/пач.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560320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ПОТРІБНО · 33 ПАЛЕТИ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6032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ЗНИЖЕННЯ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560320"/>
            <a:ext cx="1508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ПОТРІБНО · 6 ПАЛЕТ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56032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ЗНИЖЕННЯ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74320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Gouda Cheese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274320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274320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74320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−28 %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274320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−57 %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" y="2999232"/>
            <a:ext cx="9509760" cy="283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035808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Carbonara Spicy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303580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303580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303580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035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−28 %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3035808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035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−57 %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328415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Vegetable Flavor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332841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3328415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3328415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328415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328415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3328415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" y="3584447"/>
            <a:ext cx="9509760" cy="283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621023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Spicy Flavor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362102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03320" y="3621023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00600" y="3621023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3621023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3621023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3621023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3913631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Beef Flavor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3913631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03320" y="3913631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391363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391363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06640" y="3913631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391363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3776" y="4169663"/>
            <a:ext cx="9509760" cy="283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4206240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Choi’s SIAS · Chicken Flavor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0" y="42062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03320" y="420624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00600" y="420624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2062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−17 %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0" y="420624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42062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−51 %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58400" y="2542032"/>
            <a:ext cx="1572768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58400" y="2542032"/>
            <a:ext cx="41148" cy="9144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14432" y="2697479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33 ПАЛЕТИ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14432" y="2907791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−17…28 %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14432" y="3184905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10058400" y="3547872"/>
            <a:ext cx="1572768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58400" y="3547872"/>
            <a:ext cx="41148" cy="9144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314432" y="37033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6 ПАЛЕТ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14432" y="3913632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−51…57 %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14432" y="4190745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566928" y="4590288"/>
            <a:ext cx="5943600" cy="17190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6928" y="4590288"/>
            <a:ext cx="41148" cy="17190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1248" y="468172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ЯКЩО ЗАКУПІВЛЮ НЕ ЗНИЗИТИ: ЩО ВИТРИМАЄ ПОЛИЦЯ 120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4937760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НАША МАРЖА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40280" y="4937760"/>
            <a:ext cx="2057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МАКС. ЗАКУПІВЛЯ · 33 ПАЛ.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43400" y="4937760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МАКС. ЗАКУПІВЛЯ · 6 ПАЛ.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512064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40280" y="5120640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43400" y="512064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4944" y="5330952"/>
            <a:ext cx="5669280" cy="2377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1248" y="536752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40280" y="5367528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€0,60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43400" y="536752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€0,39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1248" y="5614416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40280" y="5614416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€0,67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43400" y="5614416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€0,46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94944" y="5824728"/>
            <a:ext cx="5669280" cy="2377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1248" y="586130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240280" y="5861304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€0,74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43400" y="5861304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€0,53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1248" y="6071616"/>
            <a:ext cx="5577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При поточній закупівлі полиця 120 грн дає маржу 14–22 % (33 палети) і −3…7 % (6 палет).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675120" y="4590288"/>
            <a:ext cx="4956048" cy="17190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75120" y="4590288"/>
            <a:ext cx="41148" cy="17190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0" y="4754879"/>
            <a:ext cx="4407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УМОВИ РОЗРАХУНКУ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0" y="5029200"/>
            <a:ext cx="4407408" cy="1115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Бонус мережі 25 %, наша маржа 30 %, націнка магазину 1,40, курс 51,20 грн/€, мито 0 %, ПДВ 20 %. Витрати партії (фрахт, брокер) — на пачку: 33 палети €0,09, 6 палет €0,34.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Не враховано: лістинг-фі, промо-підтримка мережі, відстрочка. Згоди SIAS на ці ціни немає — це ціна для переговорів.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SIAS: вкладки «Цена 120 грн — 6 паллет» і «— 33 паллет». Запит — гранична ціна, округлена вниз до євроцента. «Зараз» — з Self-Cost_Sias (€0,65 — чотири SKU, €0,75 — Gouda і Carbonara).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