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7" r:id="rId28"/>
    <p:sldId id="278" r:id="rId29"/>
    <p:sldId id="279" r:id="rId3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Relationship Id="rId10" Type="http://schemas.openxmlformats.org/officeDocument/2006/relationships/image" Target="../media/image23.jpg"/><Relationship Id="rId11" Type="http://schemas.openxmlformats.org/officeDocument/2006/relationships/image" Target="../media/image24.jpg"/><Relationship Id="rId12" Type="http://schemas.openxmlformats.org/officeDocument/2006/relationships/image" Target="../media/image25.jpg"/><Relationship Id="rId13" Type="http://schemas.openxmlformats.org/officeDocument/2006/relationships/image" Target="../media/image26.jpg"/><Relationship Id="rId14" Type="http://schemas.openxmlformats.org/officeDocument/2006/relationships/image" Target="../media/image2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Relationship Id="rId12" Type="http://schemas.openxmlformats.org/officeDocument/2006/relationships/image" Target="../media/image37.jpg"/><Relationship Id="rId13" Type="http://schemas.openxmlformats.org/officeDocument/2006/relationships/image" Target="../media/image38.jpg"/><Relationship Id="rId14" Type="http://schemas.openxmlformats.org/officeDocument/2006/relationships/image" Target="../media/image3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47.jpg"/><Relationship Id="rId11" Type="http://schemas.openxmlformats.org/officeDocument/2006/relationships/image" Target="../media/image48.jpg"/><Relationship Id="rId12" Type="http://schemas.openxmlformats.org/officeDocument/2006/relationships/image" Target="../media/image49.jpg"/><Relationship Id="rId13" Type="http://schemas.openxmlformats.org/officeDocument/2006/relationships/image" Target="../media/image50.jpg"/><Relationship Id="rId14" Type="http://schemas.openxmlformats.org/officeDocument/2006/relationships/image" Target="../media/image5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Relationship Id="rId7" Type="http://schemas.openxmlformats.org/officeDocument/2006/relationships/image" Target="../media/image56.jpg"/><Relationship Id="rId8" Type="http://schemas.openxmlformats.org/officeDocument/2006/relationships/image" Target="../media/image57.jpg"/><Relationship Id="rId9" Type="http://schemas.openxmlformats.org/officeDocument/2006/relationships/image" Target="../media/image58.jpg"/><Relationship Id="rId10" Type="http://schemas.openxmlformats.org/officeDocument/2006/relationships/image" Target="../media/image59.jpg"/><Relationship Id="rId11" Type="http://schemas.openxmlformats.org/officeDocument/2006/relationships/image" Target="../media/image60.jpg"/><Relationship Id="rId12" Type="http://schemas.openxmlformats.org/officeDocument/2006/relationships/image" Target="../media/image61.jpg"/><Relationship Id="rId13" Type="http://schemas.openxmlformats.org/officeDocument/2006/relationships/image" Target="../media/image62.jpg"/><Relationship Id="rId14" Type="http://schemas.openxmlformats.org/officeDocument/2006/relationships/image" Target="../media/image6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jpg"/><Relationship Id="rId4" Type="http://schemas.openxmlformats.org/officeDocument/2006/relationships/image" Target="../media/image65.jpg"/><Relationship Id="rId5" Type="http://schemas.openxmlformats.org/officeDocument/2006/relationships/image" Target="../media/image66.jpg"/><Relationship Id="rId6" Type="http://schemas.openxmlformats.org/officeDocument/2006/relationships/image" Target="../media/image67.jpg"/><Relationship Id="rId7" Type="http://schemas.openxmlformats.org/officeDocument/2006/relationships/image" Target="../media/image68.jpg"/><Relationship Id="rId8" Type="http://schemas.openxmlformats.org/officeDocument/2006/relationships/image" Target="../media/image69.jpg"/><Relationship Id="rId9" Type="http://schemas.openxmlformats.org/officeDocument/2006/relationships/image" Target="../media/image70.jpg"/><Relationship Id="rId10" Type="http://schemas.openxmlformats.org/officeDocument/2006/relationships/image" Target="../media/image71.jpg"/><Relationship Id="rId11" Type="http://schemas.openxmlformats.org/officeDocument/2006/relationships/image" Target="../media/image72.jpg"/><Relationship Id="rId12" Type="http://schemas.openxmlformats.org/officeDocument/2006/relationships/image" Target="../media/image73.jpg"/><Relationship Id="rId13" Type="http://schemas.openxmlformats.org/officeDocument/2006/relationships/image" Target="../media/image74.jpg"/><Relationship Id="rId14" Type="http://schemas.openxmlformats.org/officeDocument/2006/relationships/image" Target="../media/image75.jpg"/><Relationship Id="rId15" Type="http://schemas.openxmlformats.org/officeDocument/2006/relationships/image" Target="../media/image76.jpg"/><Relationship Id="rId16" Type="http://schemas.openxmlformats.org/officeDocument/2006/relationships/image" Target="../media/image77.jpg"/><Relationship Id="rId17" Type="http://schemas.openxmlformats.org/officeDocument/2006/relationships/image" Target="../media/image78.jpg"/><Relationship Id="rId18" Type="http://schemas.openxmlformats.org/officeDocument/2006/relationships/image" Target="../media/image79.jpg"/><Relationship Id="rId19" Type="http://schemas.openxmlformats.org/officeDocument/2006/relationships/image" Target="../media/image80.jpg"/><Relationship Id="rId20" Type="http://schemas.openxmlformats.org/officeDocument/2006/relationships/image" Target="../media/image81.jpg"/><Relationship Id="rId21" Type="http://schemas.openxmlformats.org/officeDocument/2006/relationships/image" Target="../media/image82.jpg"/><Relationship Id="rId22" Type="http://schemas.openxmlformats.org/officeDocument/2006/relationships/image" Target="../media/image8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jpg"/><Relationship Id="rId4" Type="http://schemas.openxmlformats.org/officeDocument/2006/relationships/image" Target="../media/image85.jpg"/><Relationship Id="rId5" Type="http://schemas.openxmlformats.org/officeDocument/2006/relationships/image" Target="../media/image86.jpg"/><Relationship Id="rId6" Type="http://schemas.openxmlformats.org/officeDocument/2006/relationships/image" Target="../media/image42.jpg"/><Relationship Id="rId7" Type="http://schemas.openxmlformats.org/officeDocument/2006/relationships/image" Target="../media/image87.jpg"/><Relationship Id="rId8" Type="http://schemas.openxmlformats.org/officeDocument/2006/relationships/image" Target="../media/image88.jpg"/><Relationship Id="rId9" Type="http://schemas.openxmlformats.org/officeDocument/2006/relationships/image" Target="../media/image89.jpg"/><Relationship Id="rId10" Type="http://schemas.openxmlformats.org/officeDocument/2006/relationships/image" Target="../media/image90.jpg"/><Relationship Id="rId11" Type="http://schemas.openxmlformats.org/officeDocument/2006/relationships/image" Target="../media/image91.jpg"/><Relationship Id="rId12" Type="http://schemas.openxmlformats.org/officeDocument/2006/relationships/image" Target="../media/image92.jpg"/><Relationship Id="rId13" Type="http://schemas.openxmlformats.org/officeDocument/2006/relationships/image" Target="../media/image56.jpg"/><Relationship Id="rId14" Type="http://schemas.openxmlformats.org/officeDocument/2006/relationships/image" Target="../media/image9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94.jpg"/><Relationship Id="rId5" Type="http://schemas.openxmlformats.org/officeDocument/2006/relationships/image" Target="../media/image95.jpg"/><Relationship Id="rId6" Type="http://schemas.openxmlformats.org/officeDocument/2006/relationships/image" Target="../media/image96.jpg"/><Relationship Id="rId7" Type="http://schemas.openxmlformats.org/officeDocument/2006/relationships/image" Target="../media/image97.jpg"/><Relationship Id="rId8" Type="http://schemas.openxmlformats.org/officeDocument/2006/relationships/image" Target="../media/image98.jpg"/><Relationship Id="rId9" Type="http://schemas.openxmlformats.org/officeDocument/2006/relationships/image" Target="../media/image99.jpg"/><Relationship Id="rId10" Type="http://schemas.openxmlformats.org/officeDocument/2006/relationships/image" Target="../media/image46.jpg"/><Relationship Id="rId11" Type="http://schemas.openxmlformats.org/officeDocument/2006/relationships/image" Target="../media/image49.jpg"/><Relationship Id="rId12" Type="http://schemas.openxmlformats.org/officeDocument/2006/relationships/image" Target="../media/image100.jpg"/><Relationship Id="rId13" Type="http://schemas.openxmlformats.org/officeDocument/2006/relationships/image" Target="../media/image101.jpg"/><Relationship Id="rId14" Type="http://schemas.openxmlformats.org/officeDocument/2006/relationships/image" Target="../media/image6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Relationship Id="rId6" Type="http://schemas.openxmlformats.org/officeDocument/2006/relationships/image" Target="../media/image33.jpg"/><Relationship Id="rId7" Type="http://schemas.openxmlformats.org/officeDocument/2006/relationships/image" Target="../media/image104.jpg"/><Relationship Id="rId8" Type="http://schemas.openxmlformats.org/officeDocument/2006/relationships/image" Target="../media/image105.jpg"/><Relationship Id="rId9" Type="http://schemas.openxmlformats.org/officeDocument/2006/relationships/image" Target="../media/image106.jpg"/><Relationship Id="rId10" Type="http://schemas.openxmlformats.org/officeDocument/2006/relationships/image" Target="../media/image107.jpg"/><Relationship Id="rId11" Type="http://schemas.openxmlformats.org/officeDocument/2006/relationships/image" Target="../media/image108.jpg"/><Relationship Id="rId12" Type="http://schemas.openxmlformats.org/officeDocument/2006/relationships/image" Target="../media/image109.jpg"/><Relationship Id="rId13" Type="http://schemas.openxmlformats.org/officeDocument/2006/relationships/image" Target="../media/image110.jpg"/><Relationship Id="rId14" Type="http://schemas.openxmlformats.org/officeDocument/2006/relationships/image" Target="../media/image4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1.jpg"/><Relationship Id="rId4" Type="http://schemas.openxmlformats.org/officeDocument/2006/relationships/image" Target="../media/image112.jpg"/><Relationship Id="rId5" Type="http://schemas.openxmlformats.org/officeDocument/2006/relationships/image" Target="../media/image113.jpg"/><Relationship Id="rId6" Type="http://schemas.openxmlformats.org/officeDocument/2006/relationships/image" Target="../media/image114.jpg"/><Relationship Id="rId7" Type="http://schemas.openxmlformats.org/officeDocument/2006/relationships/image" Target="../media/image115.jpg"/><Relationship Id="rId8" Type="http://schemas.openxmlformats.org/officeDocument/2006/relationships/image" Target="../media/image116.jpg"/><Relationship Id="rId9" Type="http://schemas.openxmlformats.org/officeDocument/2006/relationships/image" Target="../media/image117.jpg"/><Relationship Id="rId10" Type="http://schemas.openxmlformats.org/officeDocument/2006/relationships/image" Target="../media/image118.jpg"/><Relationship Id="rId11" Type="http://schemas.openxmlformats.org/officeDocument/2006/relationships/image" Target="../media/image119.jpg"/><Relationship Id="rId12" Type="http://schemas.openxmlformats.org/officeDocument/2006/relationships/image" Target="../media/image120.jpg"/><Relationship Id="rId13" Type="http://schemas.openxmlformats.org/officeDocument/2006/relationships/image" Target="../media/image121.jpg"/><Relationship Id="rId14" Type="http://schemas.openxmlformats.org/officeDocument/2006/relationships/image" Target="../media/image122.jpg"/><Relationship Id="rId15" Type="http://schemas.openxmlformats.org/officeDocument/2006/relationships/image" Target="../media/image123.jpg"/><Relationship Id="rId16" Type="http://schemas.openxmlformats.org/officeDocument/2006/relationships/image" Target="../media/image124.jpg"/><Relationship Id="rId17" Type="http://schemas.openxmlformats.org/officeDocument/2006/relationships/image" Target="../media/image125.jpg"/><Relationship Id="rId18" Type="http://schemas.openxmlformats.org/officeDocument/2006/relationships/image" Target="../media/image126.jpg"/><Relationship Id="rId19" Type="http://schemas.openxmlformats.org/officeDocument/2006/relationships/image" Target="../media/image127.jpg"/><Relationship Id="rId20" Type="http://schemas.openxmlformats.org/officeDocument/2006/relationships/image" Target="../media/image12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9.jpg"/><Relationship Id="rId4" Type="http://schemas.openxmlformats.org/officeDocument/2006/relationships/image" Target="../media/image130.jpg"/><Relationship Id="rId5" Type="http://schemas.openxmlformats.org/officeDocument/2006/relationships/image" Target="../media/image131.jpg"/><Relationship Id="rId6" Type="http://schemas.openxmlformats.org/officeDocument/2006/relationships/image" Target="../media/image132.jpg"/><Relationship Id="rId7" Type="http://schemas.openxmlformats.org/officeDocument/2006/relationships/image" Target="../media/image133.jpg"/><Relationship Id="rId8" Type="http://schemas.openxmlformats.org/officeDocument/2006/relationships/image" Target="../media/image134.jpg"/><Relationship Id="rId9" Type="http://schemas.openxmlformats.org/officeDocument/2006/relationships/image" Target="../media/image135.jpg"/><Relationship Id="rId10" Type="http://schemas.openxmlformats.org/officeDocument/2006/relationships/image" Target="../media/image136.jpg"/><Relationship Id="rId11" Type="http://schemas.openxmlformats.org/officeDocument/2006/relationships/image" Target="../media/image137.jpg"/><Relationship Id="rId12" Type="http://schemas.openxmlformats.org/officeDocument/2006/relationships/image" Target="../media/image138.jpg"/><Relationship Id="rId13" Type="http://schemas.openxmlformats.org/officeDocument/2006/relationships/image" Target="../media/image139.jpg"/><Relationship Id="rId14" Type="http://schemas.openxmlformats.org/officeDocument/2006/relationships/image" Target="../media/image140.jpg"/><Relationship Id="rId15" Type="http://schemas.openxmlformats.org/officeDocument/2006/relationships/image" Target="../media/image141.jpg"/><Relationship Id="rId16" Type="http://schemas.openxmlformats.org/officeDocument/2006/relationships/image" Target="../media/image142.jpg"/><Relationship Id="rId17" Type="http://schemas.openxmlformats.org/officeDocument/2006/relationships/image" Target="../media/image143.jpg"/><Relationship Id="rId18" Type="http://schemas.openxmlformats.org/officeDocument/2006/relationships/image" Target="../media/image144.jpg"/><Relationship Id="rId19" Type="http://schemas.openxmlformats.org/officeDocument/2006/relationships/image" Target="../media/image145.jpg"/><Relationship Id="rId20" Type="http://schemas.openxmlformats.org/officeDocument/2006/relationships/image" Target="../media/image146.jpg"/><Relationship Id="rId21" Type="http://schemas.openxmlformats.org/officeDocument/2006/relationships/image" Target="../media/image14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Ц І Н И   ·   1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До 2 500 грн: японське виробництво сюди майже не дістає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Нижній діапазон каталогу. Саме тут лежить обсяг усього ринку кухонних ножів — і саме тут японське виробництво представлене найгірше.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_24ec4159b47e1d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18488"/>
            <a:ext cx="1642872" cy="7498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Seki Kanetsugu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Miyabi Isshin Vegetable 2000 90мм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990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_dec2f38d3512e53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832" y="1618488"/>
            <a:ext cx="1642872" cy="7498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Satake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Шеф малий Satake Swordsmith 803 · 274, 135мм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1 149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_d90d262096ae822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872" y="1618488"/>
            <a:ext cx="1642872" cy="74980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Satake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Satake Saku 802 · 369 Air Hol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1 349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_8b7cce29f42f488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618488"/>
            <a:ext cx="1642872" cy="74980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Mikihisa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MAKIRI MIKIHISA / Макірі Мікіхіса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1 650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p_13230609a3ee08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951" y="1618488"/>
            <a:ext cx="1642872" cy="74980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Misono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Misono, 105 мм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1 690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_6d24bbef6706f06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1991" y="1618488"/>
            <a:ext cx="1642872" cy="74980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Seki Kanetsugu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Miyabi Isshin Nakiri 2007 165мм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1 760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p_784ce71bc22d851c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3099815"/>
            <a:ext cx="1642872" cy="74980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Paring, 120 мм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1 905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_495a380f2939ce6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5832" y="3099815"/>
            <a:ext cx="1642872" cy="749808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Kasumi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овочевий Kasumi TORA 36844, 9см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1 991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p_26bce2626c4f4f9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9872" y="3099815"/>
            <a:ext cx="1642872" cy="749808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Wasabi Black 6716N Накірі, 16.5см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2 184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_6daf0fee42fead6a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3912" y="3099815"/>
            <a:ext cx="1642872" cy="749808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Motokane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Deba Motokane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2 200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p_5494c627bf4dbbe3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7951" y="3099815"/>
            <a:ext cx="1642872" cy="749808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Hanakumagawa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Funayuki ніж Shirogami 2 Steel 165 mm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2 390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p_7875bc5949a4fde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41991" y="3099815"/>
            <a:ext cx="1642872" cy="749808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Masahiro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Petty MRS · 30 10696 120мм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2 400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966E28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966E28"/>
                </a:solidFill>
                <a:latin typeface="Georgia"/>
              </a:rPr>
              <a:t>29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11 %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1 790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726–2 400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Seki Kanetsugu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8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Satake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374904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4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374904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4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285750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3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285750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29 позицій, 11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29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Щ О   В И З Н А Ч А Є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Моносталь або базова VG-10, штамповка, західне руків'я. Японія дістає сюди лише Satake, Seki Kanetsugu, Fuji Cutlery і бюджетними лініями KAI Wasabi.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Це єдиний діапазон, де японський ніж конкурує з європейським за ціною, а не за походженням — і де покупець найчастіше не перевіряє країну виробництва.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Ц І Н И   ·   2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2 500 – 5 000 грн: вхід у японське виробництво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Перший діапазон, де японське виробництво стає нормою, а не винятком. Тут з'являються імена кузень, а не лише промислові бренди.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_e888c5235184877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18488"/>
            <a:ext cx="1642872" cy="7498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Motokane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Paring Motokane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2 695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_baea53e54c6b061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832" y="1618488"/>
            <a:ext cx="1642872" cy="7498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Hanakumagawa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для фруктів з дамаської сталі Hanakumagawa 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2 870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_f8c8099989ac52f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872" y="1618488"/>
            <a:ext cx="1642872" cy="74980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HONMAMON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Santoku, 165 мм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3 090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_6028fd483d9c655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618488"/>
            <a:ext cx="1642872" cy="74980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Tomita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Deba ніж Blue Steel #2 110 mm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3 215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p_d0248b9063ea6e4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951" y="1618488"/>
            <a:ext cx="1642872" cy="74980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Tojiro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для овочів Tojiro DP F · 800, 9cм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3 499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_e0d7522aea256b5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1991" y="1618488"/>
            <a:ext cx="1642872" cy="74980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Tosa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Migaki Yanagiba HC305 · W2 210мм японський 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3 500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p_de98aa46148ce78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3099815"/>
            <a:ext cx="1642872" cy="74980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Seki Kanetsugu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SAIUN 9000 90мм VG10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3 980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_5bd7b314bd44cb9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5832" y="3099815"/>
            <a:ext cx="1642872" cy="749808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KAI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Seki Magoroku Red Wood MGR · 0210Y Янагіба,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4 130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p_0c39b79053b9248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9872" y="3099815"/>
            <a:ext cx="1642872" cy="749808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Fukamizu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Black 240мм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4 451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_34c572e195dfc0cf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3912" y="3099815"/>
            <a:ext cx="1642872" cy="749808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Yaxell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для стейка Yaxell RAN 36013, 113мм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4 657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p_c515f14758d9cd7d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7951" y="3099815"/>
            <a:ext cx="1642872" cy="749808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Tosa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Black 240мм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4 850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p_d5e2a8c9e2f223f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41991" y="3099815"/>
            <a:ext cx="1642872" cy="749808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Misono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Misono MV, 120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4 990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2A7F86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A7F86"/>
                </a:solidFill>
                <a:latin typeface="Georgia"/>
              </a:rPr>
              <a:t>67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26 %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3 539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2 640–4 996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Tosa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10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Masahiro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588873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8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517550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7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517550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7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446227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67 позицій, 19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23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20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67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Щ О   В И З Н А Ч А Є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VG-10 у три шари, перші куроучі з Тоса, артизанальні ножі з вуглецевої сталі. Руків'я ще західне, але геометрія вже японська.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Найцікавіший діапазон для входу з японським постачальником: покупець уже готовий платити за походження, але ще не вимагає дамаску й порошкової сталі.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Ц І Н И   ·   3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5 000 – 10 000 грн: ядро асортименту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Найгустіший діапазон каталогу. Сюди цілиться більшість спеціалізованих продавців країни.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_8e0af3bbdd519d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18488"/>
            <a:ext cx="1642872" cy="7498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Tojiro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ніж Tojiro DP F · 502 Накірі, 16.5см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5 299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_e8b23ca67e1e9ec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832" y="1618488"/>
            <a:ext cx="1642872" cy="7498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Yaxell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Сантоку Yaxell Zen 35512, 125мм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5 538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_acfe3d6ba7f31f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872" y="1618488"/>
            <a:ext cx="1642872" cy="74980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HONMAMON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Gyuto (Шеф), 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5 990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_63e6f1c1857333c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618488"/>
            <a:ext cx="1642872" cy="74980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KAI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SHUN CLASSIC DM · 0701 універсальний, 15см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6 440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p_c721c95119249d9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951" y="1618488"/>
            <a:ext cx="1642872" cy="74980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Yoshihiro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bocho 240мм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6 747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_c6a9ef1a5e03981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1991" y="1618488"/>
            <a:ext cx="1642872" cy="74980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Kasumi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Сантоку Kasumi Damascus 84013, 130мм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7 199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p_165fb8a92959951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3099815"/>
            <a:ext cx="1642872" cy="74980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Takamura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Chromax Petty 130мм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7 400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_31d4fe94ecd6fc4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5832" y="3099815"/>
            <a:ext cx="1642872" cy="749808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Sakai Takayuki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Янагіба SAKAI TAKAYUKI Yasugi для лівші, 24с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7 640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p_6e85a0b9876243d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9872" y="3099815"/>
            <a:ext cx="1642872" cy="749808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Santoku Damascus TADAYOSHI Tosa 165мм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7 907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_d3cf02f30425a55b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3912" y="3099815"/>
            <a:ext cx="1642872" cy="749808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Shigehiro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Shigehiro Speci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8 490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p_92ffe6fc4caa0b1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7951" y="3099815"/>
            <a:ext cx="1642872" cy="749808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Seki Kanetsugu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Kiritsuke Zuiun 9302 150мм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9 040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p_4561f399133faf54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41991" y="3099815"/>
            <a:ext cx="1642872" cy="749808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Tsukasa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Aogami super ніж слайсер 210 mm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9 900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554780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554780"/>
                </a:solidFill>
                <a:latin typeface="Georgia"/>
              </a:rPr>
              <a:t>116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45 %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7 290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5 060–9 999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24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701802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23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464058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15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Tosa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345186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11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345186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11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116 позицій, 18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77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7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116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Щ О   В И З Н А Ч А Є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Дамаск 32–69 шарів поверх VG-10, куроучі Тоса, Takamura Chromax, Tojiro DP Damascus. Твердість 60–61 HRC, часто вже wa-руків'я.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Тут найбільша щільність позицій і найбільша конкуренція продавців за одного покупця. Новий бренд без історії аргументу тут не має.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Ц І Н И   ·   4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Понад 10 000 грн: порошкова сталь і іменні ковалі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Верхній діапазон. Тут платять за марку сталі, кількість шарів і підпис майстра, а не за зручність.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_a01fd83e32bb4d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18488"/>
            <a:ext cx="1642872" cy="7498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Yaxell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універсальний Yaxell Super Gou 37102, 120мм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10 195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_b1b56934eddc262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832" y="1618488"/>
            <a:ext cx="1642872" cy="7498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KAI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SHUN CLASSIC DM · 0702 Сантоку, 180мм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10 220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_e06430cba6cce24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872" y="1618488"/>
            <a:ext cx="1642872" cy="74980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Tojiro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Tojiro Shippu Black FD · 1594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10 799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_a8a8440e0c1b116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618488"/>
            <a:ext cx="1642872" cy="74980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HONMAMON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Santoku 170 мм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11 790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p_c52d98d1a9d49b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951" y="1618488"/>
            <a:ext cx="1642872" cy="74980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JCK Natures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Aogami Super Series SAKURA · 2 Шеф 180mm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12 220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_d5eff106ae43f1c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1991" y="1618488"/>
            <a:ext cx="1642872" cy="74980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Tojiro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Tojiro Flash FF · CH180, 18см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12 999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p_c927d551feb48d8f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3099815"/>
            <a:ext cx="1642872" cy="74980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Hatsukokoro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HAYABUSA ZDP · 189 150MM PETTY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13 865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_d47b1f5c9cd8169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5832" y="3099815"/>
            <a:ext cx="1642872" cy="749808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KAI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Shun CLASSIC DM · 0712 Сокирка цайдао, 18см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15 120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p_ef04a89de1bf7ad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9872" y="3099815"/>
            <a:ext cx="1642872" cy="749808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Etsu / Ittetsu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Etsu (Ittetsu) R2 Damascus Bunka ніж 165мм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16 677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_9acd459dc4e3499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3912" y="3099815"/>
            <a:ext cx="1642872" cy="749808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Harukaze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"HARUKAZE" Pett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19 990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p_cbe742054c58d466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7951" y="3099815"/>
            <a:ext cx="1642872" cy="749808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HONMAMON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Gyuto (Шеф) Dam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23 990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p_91cbd83f61b9a69d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41991" y="3099815"/>
            <a:ext cx="1642872" cy="749808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KAI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Набір з 3 · х ножів KAI Shun Premier Tim Mal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27 970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A84A6B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A84A6B"/>
                </a:solidFill>
                <a:latin typeface="Georgia"/>
              </a:rPr>
              <a:t>47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18 %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13 500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10 035–38 640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A84A6B"/>
                </a:solidFill>
                <a:latin typeface="Segoe UI"/>
              </a:rPr>
              <a:t>15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493776" cy="6583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A84A6B"/>
                </a:solidFill>
                <a:latin typeface="Segoe UI"/>
              </a:rPr>
              <a:t>10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398678" cy="6583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A84A6B"/>
                </a:solidFill>
                <a:latin typeface="Segoe UI"/>
              </a:rPr>
              <a:t>8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Takamura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160934" cy="6583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A84A6B"/>
                </a:solidFill>
                <a:latin typeface="Segoe UI"/>
              </a:rPr>
              <a:t>3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160934" cy="6583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A84A6B"/>
                </a:solidFill>
                <a:latin typeface="Segoe UI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47 позицій, 11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33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47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Щ О   В И З Н А Ч А Є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SG-2 і R2 порошкові сталі, 101–193 шари, ZDP-189 при 65–67 HRC, honyaki. Yaxell Super Gou, Takeshi Saji, Nigara, Myojin, Hatsukokoro.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Покупців на всю країну — кілька тисяч. Ніж за 17 746 грн це 57 % середньої місячної зарплати: сегмент обмежений не смаком, а доходом.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К А Т А Л О Г   ·   С Е Г М Е Н Т А Ц І Я   З А   Ц І Н О 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Чотири цінові діапазони японського виробництва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Каталог із 259 ножів японського виробництва. На кожному щаблі — п'ять позицій, рівномірно розподілених за ціною.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54480"/>
            <a:ext cx="11064240" cy="106070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54480"/>
            <a:ext cx="41148" cy="1060704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6002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966E28"/>
                </a:solidFill>
                <a:latin typeface="Segoe UI"/>
              </a:rPr>
              <a:t>До 2 500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1865376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Японія сюди майже не дістає: моносталь, штамповка, західне руків'я.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322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523744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95" y="2322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11 %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2523744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6624" y="1609344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_c43f7c71f2be0d4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1645920"/>
            <a:ext cx="1583740" cy="60350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706624" y="231800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231800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6664" y="2313432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Seki Kanetsugu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6624" y="2450592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1 140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5148" y="246430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1532" y="1609344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_f4fee4ae0f6e1d4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252" y="1645920"/>
            <a:ext cx="1583740" cy="60350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491532" y="231800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1532" y="231800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1572" y="2313432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1532" y="2450592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1 650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0057" y="246430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6441" y="1609344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_14a5586d31e95f7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161" y="1645920"/>
            <a:ext cx="1583740" cy="60350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276441" y="231800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6441" y="231800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6481" y="2313432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Takanori Izumi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6441" y="2450592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1 980 грн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4966" y="246430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61350" y="1609344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_95b53f997fe6c97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7070" y="1645920"/>
            <a:ext cx="1583740" cy="60350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061350" y="231800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1350" y="231800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1390" y="2313432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1350" y="2450592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2 184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9875" y="246430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46259" y="1609344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p_edf2e8300d41ebd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1979" y="1645920"/>
            <a:ext cx="1583740" cy="603504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9846259" y="231800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46259" y="231800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66299" y="2313432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Kasumi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46259" y="2450592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2 390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44784" y="246430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2724912"/>
            <a:ext cx="11064240" cy="106070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2724912"/>
            <a:ext cx="41148" cy="106070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2770632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2A7F86"/>
                </a:solidFill>
                <a:latin typeface="Segoe UI"/>
              </a:rPr>
              <a:t>2 500 – 5 000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" y="3035808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Вхід у японське виробництво: VG-10 у три шари, перші куроучі з Тоса.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" y="34930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67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" y="3694176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82495" y="34930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26 %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82495" y="3694176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06624" y="2779776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p_c0e297c4c0f3c46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2344" y="2816352"/>
            <a:ext cx="1583740" cy="603504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2706624" y="3488436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06624" y="3488436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26664" y="3483863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Kasumi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06624" y="3621024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2 833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05148" y="3634739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91532" y="2779776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p_04c975e1aebac2f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7252" y="2816352"/>
            <a:ext cx="1583740" cy="603504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4491532" y="3488436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91532" y="3488436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1572" y="3483863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Tosa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91532" y="3621024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3 231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90057" y="3634739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76441" y="2779776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p_17289a4aa1af500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2161" y="2816352"/>
            <a:ext cx="1583740" cy="603504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6276441" y="3488436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76441" y="3488436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96481" y="3483863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Tomita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76441" y="3621024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3 539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74966" y="3634739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61350" y="2779776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_2ecfadef037b97a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7070" y="2816352"/>
            <a:ext cx="1583740" cy="603504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8061350" y="3488436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61350" y="3488436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81390" y="3483863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Seki Kanetsugu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61350" y="3621024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4 450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59875" y="3634739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846259" y="2779776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p_2649dfefe6c1cdb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91979" y="2816352"/>
            <a:ext cx="1583740" cy="603504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9846259" y="3488436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846259" y="3488436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66299" y="3483863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HONMAMON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46259" y="3621024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4 850 грн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44784" y="3634739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6928" y="3895344"/>
            <a:ext cx="11064240" cy="106070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66928" y="3895344"/>
            <a:ext cx="41148" cy="1060704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8096" y="3941063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554780"/>
                </a:solidFill>
                <a:latin typeface="Segoe UI"/>
              </a:rPr>
              <a:t>5 000 – 10 000 грн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8096" y="4206240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Ядро асортименту: дамаск 32–69 шарів, Chromax, 60–61 HRC.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8096" y="466344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116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8096" y="4864608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82495" y="466344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45 %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82495" y="4864608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06624" y="3950207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Picture 108" descr="p_84dcaef21734ab30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52344" y="3986783"/>
            <a:ext cx="1583740" cy="603504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2706624" y="465886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06624" y="465886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026664" y="4654296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HONMAMON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06624" y="4791456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5 490 грн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05148" y="480517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491532" y="3950207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Picture 115" descr="p_ddfa811abe728326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7252" y="3986783"/>
            <a:ext cx="1583740" cy="603504"/>
          </a:xfrm>
          <a:prstGeom prst="rect">
            <a:avLst/>
          </a:prstGeom>
        </p:spPr>
      </p:pic>
      <p:sp>
        <p:nvSpPr>
          <p:cNvPr id="117" name="Rounded Rectangle 116"/>
          <p:cNvSpPr/>
          <p:nvPr/>
        </p:nvSpPr>
        <p:spPr>
          <a:xfrm>
            <a:off x="4491532" y="465886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491532" y="465886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11572" y="4654296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Yaxell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491532" y="4791456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6 401 грн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90057" y="480517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276441" y="3950207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p_a7da9db63ef1eb5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2161" y="3986783"/>
            <a:ext cx="1583740" cy="603504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6276441" y="465886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76441" y="465886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596481" y="4654296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Motokane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76441" y="4791456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7 290 грн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274966" y="480517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61350" y="3950207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0" name="Picture 129" descr="p_c3cc24531869a65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07070" y="3986783"/>
            <a:ext cx="1583740" cy="603504"/>
          </a:xfrm>
          <a:prstGeom prst="rect">
            <a:avLst/>
          </a:prstGeom>
        </p:spPr>
      </p:pic>
      <p:sp>
        <p:nvSpPr>
          <p:cNvPr id="131" name="Rounded Rectangle 130"/>
          <p:cNvSpPr/>
          <p:nvPr/>
        </p:nvSpPr>
        <p:spPr>
          <a:xfrm>
            <a:off x="8061350" y="465886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61350" y="465886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81390" y="4654296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KAI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61350" y="4791456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8 050 грн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59875" y="480517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846259" y="3950207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Picture 136" descr="p_2fba9d1b3834fe86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91979" y="3986783"/>
            <a:ext cx="1583740" cy="603504"/>
          </a:xfrm>
          <a:prstGeom prst="rect">
            <a:avLst/>
          </a:prstGeom>
        </p:spPr>
      </p:pic>
      <p:sp>
        <p:nvSpPr>
          <p:cNvPr id="138" name="Rounded Rectangle 137"/>
          <p:cNvSpPr/>
          <p:nvPr/>
        </p:nvSpPr>
        <p:spPr>
          <a:xfrm>
            <a:off x="9846259" y="465886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846259" y="465886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166299" y="4654296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Tojiro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846259" y="4791456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9 470 грн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844784" y="480517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66928" y="5065776"/>
            <a:ext cx="11064240" cy="106070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66928" y="5065776"/>
            <a:ext cx="41148" cy="1060704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68096" y="5111496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A84A6B"/>
                </a:solidFill>
                <a:latin typeface="Segoe UI"/>
              </a:rPr>
              <a:t>Понад 10 000 грн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8096" y="5376672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Порошкова сталь SG-2 / R2, 101–193 шари, іменні ковалі.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68096" y="58338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47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68096" y="6035040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682495" y="58338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18 %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82495" y="6035040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06624" y="5120640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p_4d162e4b33b21339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52344" y="5157216"/>
            <a:ext cx="1583740" cy="603504"/>
          </a:xfrm>
          <a:prstGeom prst="rect">
            <a:avLst/>
          </a:prstGeom>
        </p:spPr>
      </p:pic>
      <p:sp>
        <p:nvSpPr>
          <p:cNvPr id="153" name="Rounded Rectangle 152"/>
          <p:cNvSpPr/>
          <p:nvPr/>
        </p:nvSpPr>
        <p:spPr>
          <a:xfrm>
            <a:off x="2706624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06624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026664" y="5824728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A84A6B"/>
                </a:solidFill>
                <a:latin typeface="Segoe UI"/>
              </a:rPr>
              <a:t>KAI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706624" y="5961888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10 220 грн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705148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491532" y="5120640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p_befb31a94894bda5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37252" y="5157216"/>
            <a:ext cx="1583740" cy="603504"/>
          </a:xfrm>
          <a:prstGeom prst="rect">
            <a:avLst/>
          </a:prstGeom>
        </p:spPr>
      </p:pic>
      <p:sp>
        <p:nvSpPr>
          <p:cNvPr id="160" name="Rounded Rectangle 159"/>
          <p:cNvSpPr/>
          <p:nvPr/>
        </p:nvSpPr>
        <p:spPr>
          <a:xfrm>
            <a:off x="4491532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491532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11572" y="5824728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A84A6B"/>
                </a:solidFill>
                <a:latin typeface="Segoe UI"/>
              </a:rPr>
              <a:t>Takamura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491532" y="5961888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11 990 грн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490057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276441" y="5120640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6" name="Picture 165" descr="p_a7c46d2bf7a28f35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2161" y="5157216"/>
            <a:ext cx="1583740" cy="603504"/>
          </a:xfrm>
          <a:prstGeom prst="rect">
            <a:avLst/>
          </a:prstGeom>
        </p:spPr>
      </p:pic>
      <p:sp>
        <p:nvSpPr>
          <p:cNvPr id="167" name="Rounded Rectangle 166"/>
          <p:cNvSpPr/>
          <p:nvPr/>
        </p:nvSpPr>
        <p:spPr>
          <a:xfrm>
            <a:off x="6276441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276441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96481" y="5824728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A84A6B"/>
                </a:solidFill>
                <a:latin typeface="Segoe UI"/>
              </a:rPr>
              <a:t>Hatsukokoro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276441" y="5961888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13 865 грн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74966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061350" y="5120640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p_57a4f5a4dbffe145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07070" y="5157216"/>
            <a:ext cx="1583740" cy="603504"/>
          </a:xfrm>
          <a:prstGeom prst="rect">
            <a:avLst/>
          </a:prstGeom>
        </p:spPr>
      </p:pic>
      <p:sp>
        <p:nvSpPr>
          <p:cNvPr id="174" name="Rounded Rectangle 173"/>
          <p:cNvSpPr/>
          <p:nvPr/>
        </p:nvSpPr>
        <p:spPr>
          <a:xfrm>
            <a:off x="8061350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061350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381390" y="5824728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A84A6B"/>
                </a:solidFill>
                <a:latin typeface="Segoe UI"/>
              </a:rPr>
              <a:t>Etsu / Ittetsu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061350" y="5961888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16 677 грн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059875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846259" y="5120640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Picture 179" descr="p_cf2c1f21946a54c7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91979" y="5157216"/>
            <a:ext cx="1583740" cy="603504"/>
          </a:xfrm>
          <a:prstGeom prst="rect">
            <a:avLst/>
          </a:prstGeom>
        </p:spPr>
      </p:pic>
      <p:sp>
        <p:nvSpPr>
          <p:cNvPr id="181" name="Rounded Rectangle 180"/>
          <p:cNvSpPr/>
          <p:nvPr/>
        </p:nvSpPr>
        <p:spPr>
          <a:xfrm>
            <a:off x="9846259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846259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166299" y="5824728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A84A6B"/>
                </a:solidFill>
                <a:latin typeface="Segoe UI"/>
              </a:rPr>
              <a:t>Yaxell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846259" y="5961888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27 822 грн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844784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03504" y="6364224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— 259 ножів із карток чотирьох магазинів (ProfiMax, ROKS, Sekator, WildCat). Це не весь японський асортимент країни: перепис на слайді 19 охоплює 56 брендів у 25 продавців.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Т И П У   ·   1   З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Шеф і гюто: найбільший тип каталогу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Робочий ніж кухні, 180–240 мм. Найширше представлений тип і головний драйвер середнього чека.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_91f3537549c7b8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18488"/>
            <a:ext cx="1642872" cy="7498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Seki Kanetsugu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Miyabi Isshin Gyuto 2004 180мм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1 560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_d6a404b1b2cf9fa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832" y="1618488"/>
            <a:ext cx="1642872" cy="7498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Kasumi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Kasumi TORA 36842, 18см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2 833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_ab3ef2d37b13563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872" y="1618488"/>
            <a:ext cx="1642872" cy="74980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Masahiro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Chief MRS · 30 10692 180мм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4 100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_acfe3d6ba7f31f5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618488"/>
            <a:ext cx="1642872" cy="74980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Gyuto (Шеф), 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5 990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p_35029d9ad0b17bb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951" y="1618488"/>
            <a:ext cx="1642872" cy="74980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Yaxell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Yaxell ZEN 35500, 200мм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6 671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_1fbb6c3b8399105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1991" y="1618488"/>
            <a:ext cx="1642872" cy="74980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Takamura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Gyuto Migaki VG10 210мм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7 950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p_627291157eafeff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3099815"/>
            <a:ext cx="1642872" cy="74980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Tojiro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Tojiro DP Damascus F · 654,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8 845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_fbffd1a33f91e27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5832" y="3099815"/>
            <a:ext cx="1642872" cy="749808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Tosa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Chief Damascus TADAYOSHI Tosa 210мм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9 720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p_34f19926d1a3de7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9872" y="3099815"/>
            <a:ext cx="1642872" cy="749808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Takamura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Gyuto Migaki SG2 180мм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10 200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_bc218389b9074b3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3912" y="3099815"/>
            <a:ext cx="1642872" cy="749808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SHUN CLASSIC DM · 0719 Кухарський Шеф, 20см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10 920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p_c52d98d1a9d49b0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7951" y="3099815"/>
            <a:ext cx="1642872" cy="749808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JCK Natures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Aogami Super Series SAKURA · 2 Шеф 180mm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12 220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p_d77f87d061b136d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41991" y="3099815"/>
            <a:ext cx="1642872" cy="749808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Harukaze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"HARUKAZE" Gyut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26 990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966E28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966E28"/>
                </a:solidFill>
                <a:latin typeface="Georgia"/>
              </a:rPr>
              <a:t>49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19 %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8 490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1 149–26 990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14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374904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7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273013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5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Satake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222068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4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222068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49 позицій, 13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29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8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49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Щ О   Ц Е   З А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Універсальний робочий ніж: м'ясо, овочі, риба. Купує і домашній просьюмер, і шеф-кухар для себе.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Саме в цьому типі найширший ціновий розкид — у десятки разів. Тип не визначає ціну; її визначає сталь.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Т И П У   ·   2   З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Сантоку, петті, накірі: домашня трійця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Три типи, які купує домашня кухня і які формують уявлення масового покупця про японський ніж.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_6d24bbef6706f06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18488"/>
            <a:ext cx="1642872" cy="7498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Seki Kanetsugu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Miyabi Isshin Nakiri 2007 165мм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1 760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_2055bd50bb8b8f8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832" y="1618488"/>
            <a:ext cx="1642872" cy="7498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Kasumi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Nakiri Kasumi TORA 36847, 16.5см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2 920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_cf7095da4b0a40c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872" y="1618488"/>
            <a:ext cx="1642872" cy="74980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Tojiro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Shirogami Kasumi Петті ніж 150 мм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3 247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_a7c0c4221a9a6e5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618488"/>
            <a:ext cx="1642872" cy="74980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Tomita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універсальний ніж Super Blue Steel 120 mm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4 362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p_311a4d2c917b072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951" y="1618488"/>
            <a:ext cx="1642872" cy="74980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Nakiri Kanto 54x165мм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5 439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_9f5a6251a4cf944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1991" y="1618488"/>
            <a:ext cx="1642872" cy="74980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KAI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SHUN CLASSIC DM · 0716 універсальний, 10см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6 160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p_63fada01193dea6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3099815"/>
            <a:ext cx="1642872" cy="74980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Yaxell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Накірі Yaxell ZEN 35504, 180мм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6 999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_165fb8a92959951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5832" y="3099815"/>
            <a:ext cx="1642872" cy="749808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Takamura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Chromax Petty 130мм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7 400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p_d3cf02f30425a55b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9872" y="3099815"/>
            <a:ext cx="1642872" cy="749808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Shigehiro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Shigehiro Speci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8 490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_d2a159866a37d397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3912" y="3099815"/>
            <a:ext cx="1642872" cy="749808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Kasumi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Накірі Kasumi Damascus 84017, 180мм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8 999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p_bc355ae1576e4c43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7951" y="3099815"/>
            <a:ext cx="1642872" cy="749808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HONMAMON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Gyuto/Petty сер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9 950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p_9acd459dc4e3499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41991" y="3099815"/>
            <a:ext cx="1642872" cy="749808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Harukaze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"HARUKAZE" Pett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19 990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2A7F86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A7F86"/>
                </a:solidFill>
                <a:latin typeface="Georgia"/>
              </a:rPr>
              <a:t>77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30 %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6 671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1 140–19 990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12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612648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10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553212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9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493776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8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434340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77 позицій, 18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35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14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9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77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Щ О   Ц Е   З А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Сантоку — другий ніж у домі після шефа. Петті — найчастіша купівля з найнижчим чеком. Накірі зростає разом із модою на овочі.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Єдина група, де японська геометрія вже стала масовою — і саме тому тут найважче продати походження: покупець бачить форму, а не країну.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Т И П У   ·   3   З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Односторонні: янагіба, деба, сашимі, усуба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Єдина геометрія, де японське виробництво не має європейського замінника в принципі.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_6daf0fee42fead6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18488"/>
            <a:ext cx="1642872" cy="7498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Motokane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Deba Motokane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2 200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_4961c17e9c545f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832" y="1618488"/>
            <a:ext cx="1642872" cy="7498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HONMAMON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Sashimi Hocho,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2 695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_1cc6e28810cabd0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872" y="1618488"/>
            <a:ext cx="1642872" cy="74980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Fukamizu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Black 210мм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3 463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_e0d7522aea256b5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618488"/>
            <a:ext cx="1642872" cy="74980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Migaki Yanagiba HC305 · W2 210мм японський 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3 500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p_21b6870e4a3cf5c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951" y="1618488"/>
            <a:ext cx="1642872" cy="74980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KAI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Seki Magoroku Kinju AK · 1106 Янагіба, 24см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3 999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_308b926e0a1046b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1991" y="1618488"/>
            <a:ext cx="1642872" cy="74980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240мм (двосторонній)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4 400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p_80bac945ebdcb67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3099815"/>
            <a:ext cx="1642872" cy="74980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Black 210мм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4 600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_8d0fc7030e63dd6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5832" y="3099815"/>
            <a:ext cx="1642872" cy="749808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270мм (двосторонній)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4 900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p_175b1e88a057e75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9872" y="3099815"/>
            <a:ext cx="1642872" cy="749808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Tanaka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Kamagata Usuba ніж Super Blue Steel 150mm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5 203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_6de02cfabd7e16cc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3912" y="3099815"/>
            <a:ext cx="1642872" cy="749808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Masahiro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Янагіба Masahiro 16220 Yanagiba, 27см сталь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6 512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p_70444fc05d72362b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7951" y="3099815"/>
            <a:ext cx="1642872" cy="749808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Sakai Haruhiko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White 2 Янагіба 240мм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7 040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p_31d4fe94ecd6fc4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41991" y="3099815"/>
            <a:ext cx="1642872" cy="749808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Sakai Takayuki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Янагіба SAKAI TAKAYUKI Yasugi для лівші, 24с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7 640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554780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554780"/>
                </a:solidFill>
                <a:latin typeface="Georgia"/>
              </a:rPr>
              <a:t>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14 %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4 550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2 016–7 640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Tosa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11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537002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8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212805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3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Fukamizu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147966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2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Tomita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147966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35 позицій, 12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35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Щ О   Ц Е   З А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Одностороннє заточення під праву руку, вуглецева або високовуглецева сталь, традиційне руків'я wa. Вимагає водних каменів і навички.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Професійний інструмент суші-кухні. Попит на всю країну — 500–900 ножів на рік: канал реальний, ринок за обсягом — ні.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К А Т А Л О Г   ·   С Е Г М Е Н Т А Ц І Я   З А   Т И П О М   Л Е З 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Три групи, які покривають 62 % каталогу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Той самий каталог у розрізі геометрії. Тип не визначає ціну — її визначає сталь.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54480"/>
            <a:ext cx="11064240" cy="145084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54480"/>
            <a:ext cx="41148" cy="1450848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6002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966E28"/>
                </a:solidFill>
                <a:latin typeface="Segoe UI"/>
              </a:rPr>
              <a:t>Шеф і гюто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1865376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Робочий ніж кухні, 180–240 мм. Найширший тип і головний драйвер чека.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322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523744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95" y="2322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19 %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2523744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6624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_1e9b75169e1391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1645920"/>
            <a:ext cx="1286256" cy="9936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706624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6664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Satake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6624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2 099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7664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94048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_473f5deef0bed4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768" y="1645920"/>
            <a:ext cx="1286256" cy="99364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194048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94048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4088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Tojiro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4048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4 976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5088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81472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_d03a0981dd07d6a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192" y="1645920"/>
            <a:ext cx="1286256" cy="993648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681472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1472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1512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Yaxell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81472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7 804 грн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68896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_6db8946fa46b361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6" y="1645920"/>
            <a:ext cx="1286256" cy="993648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7168896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68896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88936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8896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9 520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9936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56320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p_9fa68cd1cb784dc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2040" y="1645920"/>
            <a:ext cx="1286256" cy="993648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8656320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6320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6360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Takamura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6320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10 200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57360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43744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p_ec0998d321800d8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9464" y="1645920"/>
            <a:ext cx="1286256" cy="993648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143744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43744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3784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3744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23 990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44784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3115056"/>
            <a:ext cx="11064240" cy="145084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" y="3115056"/>
            <a:ext cx="41148" cy="1450848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3160776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2A7F86"/>
                </a:solidFill>
                <a:latin typeface="Segoe UI"/>
              </a:rPr>
              <a:t>Сантоку, петті, накірі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" y="3425952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Домашня трійця. Єдина група, де японська геометрія вже стала масовою.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" y="38831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77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" y="4084320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82495" y="38831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30 %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82495" y="4084320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06624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p_659d9c2451d28c2c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2344" y="3206496"/>
            <a:ext cx="1286256" cy="993648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2706624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06624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26664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Kasumi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06624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2 390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07664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94048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p_78ee12a56d72c3fb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9768" y="3206496"/>
            <a:ext cx="1286256" cy="993648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4194048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94048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14088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Masahiro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4048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3 500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95088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81472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_48c6410523451b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7192" y="3206496"/>
            <a:ext cx="1286256" cy="993648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5681472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81472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01512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Yaxell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81472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5 538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2512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6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p_09aa50f94c84532c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4616" y="3206496"/>
            <a:ext cx="1286256" cy="993648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7168896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68896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88936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Motokane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68896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7 290 грн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69936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656320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p_4cdc8787d7fb92e0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2040" y="3206496"/>
            <a:ext cx="1286256" cy="993648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8656320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56320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76360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KAI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56320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8 610 грн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57360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3744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p_c978dfe0a4d4ebbc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89464" y="3206496"/>
            <a:ext cx="1286256" cy="993648"/>
          </a:xfrm>
          <a:prstGeom prst="rect">
            <a:avLst/>
          </a:prstGeom>
        </p:spPr>
      </p:pic>
      <p:sp>
        <p:nvSpPr>
          <p:cNvPr id="109" name="Rounded Rectangle 108"/>
          <p:cNvSpPr/>
          <p:nvPr/>
        </p:nvSpPr>
        <p:spPr>
          <a:xfrm>
            <a:off x="10143744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43744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63784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HONMAMON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43744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11 790 грн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44784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6928" y="4675632"/>
            <a:ext cx="11064240" cy="145084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66928" y="4675632"/>
            <a:ext cx="41148" cy="1450848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68096" y="4721352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554780"/>
                </a:solidFill>
                <a:latin typeface="Segoe UI"/>
              </a:rPr>
              <a:t>Односторонні ножі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8096" y="4986528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Професійний інструмент суші-кухні. Єдина геометрія без європейського замінника.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8096" y="544372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35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8096" y="5644896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682495" y="544372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14 %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682495" y="5644896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06624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p_dfe0fd546d2fd21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52344" y="4767072"/>
            <a:ext cx="1286256" cy="993648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2706624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06624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026664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KAI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06624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2 660 грн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07664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94048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0" name="Picture 129" descr="p_0fda7a2e570781ad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39768" y="4767072"/>
            <a:ext cx="1286256" cy="993648"/>
          </a:xfrm>
          <a:prstGeom prst="rect">
            <a:avLst/>
          </a:prstGeom>
        </p:spPr>
      </p:pic>
      <p:sp>
        <p:nvSpPr>
          <p:cNvPr id="131" name="Rounded Rectangle 130"/>
          <p:cNvSpPr/>
          <p:nvPr/>
        </p:nvSpPr>
        <p:spPr>
          <a:xfrm>
            <a:off x="4194048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194048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14088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94048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3 500 грн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895088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681472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Picture 136" descr="p_c08f7843de669b91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27192" y="4767072"/>
            <a:ext cx="1286256" cy="993648"/>
          </a:xfrm>
          <a:prstGeom prst="rect">
            <a:avLst/>
          </a:prstGeom>
        </p:spPr>
      </p:pic>
      <p:sp>
        <p:nvSpPr>
          <p:cNvPr id="138" name="Rounded Rectangle 137"/>
          <p:cNvSpPr/>
          <p:nvPr/>
        </p:nvSpPr>
        <p:spPr>
          <a:xfrm>
            <a:off x="5681472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681472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01512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Fukamizu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81472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4 451 грн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382512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168896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p_71096e4f8ef3e786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14616" y="4767072"/>
            <a:ext cx="1286256" cy="993648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7168896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168896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488936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168896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4 850 грн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869936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656320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Picture 150" descr="p_ddb6aa1a4f2eca6d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02040" y="4767072"/>
            <a:ext cx="1286256" cy="993648"/>
          </a:xfrm>
          <a:prstGeom prst="rect">
            <a:avLst/>
          </a:prstGeom>
        </p:spPr>
      </p:pic>
      <p:sp>
        <p:nvSpPr>
          <p:cNvPr id="152" name="Rounded Rectangle 151"/>
          <p:cNvSpPr/>
          <p:nvPr/>
        </p:nvSpPr>
        <p:spPr>
          <a:xfrm>
            <a:off x="8656320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56320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976360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HONMAMON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56320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5 490 грн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357360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143744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p_06a35b300ea2f07d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89464" y="4767072"/>
            <a:ext cx="1286256" cy="993648"/>
          </a:xfrm>
          <a:prstGeom prst="rect">
            <a:avLst/>
          </a:prstGeom>
        </p:spPr>
      </p:pic>
      <p:sp>
        <p:nvSpPr>
          <p:cNvPr id="159" name="Rounded Rectangle 158"/>
          <p:cNvSpPr/>
          <p:nvPr/>
        </p:nvSpPr>
        <p:spPr>
          <a:xfrm>
            <a:off x="10143744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143744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463784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Sakai Takayuki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143744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7 460 грн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844784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03504" y="6364224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Позиції поза трьома групами (слайсери, хлібні, бунка, фунаюкі, набори) становлять решту каталогу. Каталог — 259 ножів із чотирьох магазинів; повний перелік марок країни — у переписі на слайді 19.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Ц І Н О В И Й   К О Р И Д О Р   Б Р Е Н Д І 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Де кожен із п'ятдесяти брендів стоїть на ціновій шкалі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Смуга — спостережений діапазон роздрібних цін марки в Україні, риска — середина діапазону. Усі марки японського виробництва.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149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75253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1 000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06235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5339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3 000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5790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4894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10 тис.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5877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4981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30 тис.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1536192"/>
            <a:ext cx="11155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AA2B4"/>
                </a:solidFill>
                <a:latin typeface="Segoe UI"/>
              </a:rPr>
              <a:t>ДІАПАЗОН,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73736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Sekiryu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43525" y="1783080"/>
            <a:ext cx="221155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173736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1 107 – 1 638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90652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Fuji Cutlery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84333" y="1952243"/>
            <a:ext cx="492951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05205" y="1930298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21664" y="1937613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190652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1 190 – 2 850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07568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Kanetsune Seki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84831" y="2121408"/>
            <a:ext cx="2022277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35632" y="2099462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52092" y="2106777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207568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150 – 25 184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244852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Sakai Ichiji</a:t>
            </a:r>
          </a:p>
        </p:txBody>
      </p:sp>
      <p:sp>
        <p:nvSpPr>
          <p:cNvPr id="37" name="Oval 36"/>
          <p:cNvSpPr/>
          <p:nvPr/>
        </p:nvSpPr>
        <p:spPr>
          <a:xfrm>
            <a:off x="2626805" y="2259482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638693" y="2271369"/>
            <a:ext cx="76809" cy="76809"/>
          </a:xfrm>
          <a:prstGeom prst="ellipse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36592" y="22448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1 999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14016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Inoguchi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78970" y="2459736"/>
            <a:ext cx="231090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24140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1 680 – 2 530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58318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Higonokami</a:t>
            </a:r>
          </a:p>
        </p:txBody>
      </p:sp>
      <p:sp>
        <p:nvSpPr>
          <p:cNvPr id="44" name="Oval 43"/>
          <p:cNvSpPr/>
          <p:nvPr/>
        </p:nvSpPr>
        <p:spPr>
          <a:xfrm>
            <a:off x="2651932" y="2597810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663819" y="2609697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36592" y="258318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2 090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275234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Motokane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02224" y="2798064"/>
            <a:ext cx="143496" cy="38404"/>
          </a:xfrm>
          <a:prstGeom prst="roundRect">
            <a:avLst>
              <a:gd name="adj" fmla="val 50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36592" y="275234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2 090 – 2 695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292150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Takanori Izumi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71707" y="2967228"/>
            <a:ext cx="249382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36592" y="292150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1 980 – 3 080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090672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Hanakumagawa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77930" y="3136392"/>
            <a:ext cx="87344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36592" y="309067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2 390 – 2 790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3259836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KAI Sekimagoroku Imayo</a:t>
            </a:r>
          </a:p>
        </p:txBody>
      </p:sp>
      <p:sp>
        <p:nvSpPr>
          <p:cNvPr id="57" name="Oval 56"/>
          <p:cNvSpPr/>
          <p:nvPr/>
        </p:nvSpPr>
        <p:spPr>
          <a:xfrm>
            <a:off x="2796475" y="3274466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08362" y="3286353"/>
            <a:ext cx="76809" cy="76809"/>
          </a:xfrm>
          <a:prstGeom prst="ellipse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36592" y="325983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2 700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42900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Misono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82320" y="3474720"/>
            <a:ext cx="611109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62271" y="3452774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78730" y="3460089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36592" y="342900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1 690 – 4 990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359816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Masahiro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80287" y="3643884"/>
            <a:ext cx="302261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36592" y="359816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2 400 – 4 100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76732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084831" y="3813048"/>
            <a:ext cx="1783575" cy="38404"/>
          </a:xfrm>
          <a:prstGeom prst="roundRect">
            <a:avLst>
              <a:gd name="adj" fmla="val 50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07042" y="3791102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923501" y="3798417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36592" y="376732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599 – 16 499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393649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Kanetaka</a:t>
            </a:r>
          </a:p>
        </p:txBody>
      </p:sp>
      <p:sp>
        <p:nvSpPr>
          <p:cNvPr id="74" name="Oval 73"/>
          <p:cNvSpPr/>
          <p:nvPr/>
        </p:nvSpPr>
        <p:spPr>
          <a:xfrm>
            <a:off x="2946166" y="3951122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958053" y="3963009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36592" y="393649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3 520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410565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Hisashige</a:t>
            </a:r>
          </a:p>
        </p:txBody>
      </p:sp>
      <p:sp>
        <p:nvSpPr>
          <p:cNvPr id="78" name="Oval 77"/>
          <p:cNvSpPr/>
          <p:nvPr/>
        </p:nvSpPr>
        <p:spPr>
          <a:xfrm>
            <a:off x="2946166" y="4120286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958053" y="4132173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36592" y="41056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3 520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274819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Yamawaki Hamono</a:t>
            </a:r>
          </a:p>
        </p:txBody>
      </p:sp>
      <p:sp>
        <p:nvSpPr>
          <p:cNvPr id="82" name="Oval 81"/>
          <p:cNvSpPr/>
          <p:nvPr/>
        </p:nvSpPr>
        <p:spPr>
          <a:xfrm>
            <a:off x="2947448" y="4289450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959335" y="4301337"/>
            <a:ext cx="76809" cy="76809"/>
          </a:xfrm>
          <a:prstGeom prst="ellipse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36592" y="4274819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3 528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4443983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Fukamizu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827632" y="4489703"/>
            <a:ext cx="349735" cy="38404"/>
          </a:xfrm>
          <a:prstGeom prst="roundRect">
            <a:avLst>
              <a:gd name="adj" fmla="val 50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976896" y="4467758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93356" y="4475073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4443983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2 610 – 4 850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4613147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Seki Kanetsugu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280476" y="4658867"/>
            <a:ext cx="1548657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029201" y="4636922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045661" y="4644237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736592" y="461314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990 – 15 390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" y="478231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Satake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193754" y="4828031"/>
            <a:ext cx="1768195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052249" y="4806086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068708" y="4813401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36592" y="478231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849 – 19 473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495147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Kasumi / Sumikama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9569" y="4997195"/>
            <a:ext cx="1443628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075780" y="4975250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092240" y="4982565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36592" y="495147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1 180 – 15 229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5120639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KAI / Shun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105416" y="5166359"/>
            <a:ext cx="2060914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110270" y="5144414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126729" y="5151729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36592" y="5120639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726 – 27 970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6928" y="5289803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Kiyokane</a:t>
            </a:r>
          </a:p>
        </p:txBody>
      </p:sp>
      <p:sp>
        <p:nvSpPr>
          <p:cNvPr id="111" name="Oval 110"/>
          <p:cNvSpPr/>
          <p:nvPr/>
        </p:nvSpPr>
        <p:spPr>
          <a:xfrm>
            <a:off x="3095976" y="5304434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07863" y="5316321"/>
            <a:ext cx="76809" cy="76809"/>
          </a:xfrm>
          <a:prstGeom prst="ellipse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36592" y="5289803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4 590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" y="5458967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Tomita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945302" y="5504687"/>
            <a:ext cx="405959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122679" y="5482742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139138" y="5490057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36592" y="545896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3 215 – 6 600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" y="562813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Suncraft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388585" y="5673851"/>
            <a:ext cx="1559455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142710" y="5651906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159169" y="5659221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736592" y="562813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1 199 – 18 999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6928" y="579729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Yoshihiro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010552" y="5843015"/>
            <a:ext cx="353143" cy="38404"/>
          </a:xfrm>
          <a:prstGeom prst="roundRect">
            <a:avLst>
              <a:gd name="adj" fmla="val 50000"/>
            </a:avLst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161520" y="5821070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177980" y="5828385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736592" y="579729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3 609 – 6 747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10293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699397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1 000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630379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319483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3 000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309934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999038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10 тис.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30021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619125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30 тис.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515600" y="1536192"/>
            <a:ext cx="11155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AA2B4"/>
                </a:solidFill>
                <a:latin typeface="Segoe UI"/>
              </a:rPr>
              <a:t>ДІАПАЗОН, ГРН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291072" y="173736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Tosa / Tosauchi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616861" y="1783080"/>
            <a:ext cx="695045" cy="38404"/>
          </a:xfrm>
          <a:prstGeom prst="roundRect">
            <a:avLst>
              <a:gd name="adj" fmla="val 50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938780" y="1761134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955239" y="1768449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460736" y="173736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2 929 – 10 035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91072" y="190652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Global (Yoshikin)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553503" y="1952243"/>
            <a:ext cx="912920" cy="38404"/>
          </a:xfrm>
          <a:prstGeom prst="roundRect">
            <a:avLst>
              <a:gd name="adj" fmla="val 50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984360" y="1930298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000819" y="1937613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460736" y="190652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2 618 – 13 195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91072" y="207568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Tadafusa / Ohishi</a:t>
            </a:r>
          </a:p>
        </p:txBody>
      </p:sp>
      <p:sp>
        <p:nvSpPr>
          <p:cNvPr id="149" name="Oval 148"/>
          <p:cNvSpPr/>
          <p:nvPr/>
        </p:nvSpPr>
        <p:spPr>
          <a:xfrm>
            <a:off x="8960970" y="2090318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972858" y="2102205"/>
            <a:ext cx="76809" cy="76809"/>
          </a:xfrm>
          <a:prstGeom prst="ellipse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460736" y="207568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5 891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91072" y="2244852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Seto Iseya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972499" y="2290572"/>
            <a:ext cx="98615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460736" y="22448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5 500 – 6 550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291072" y="2414016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Shimomura Kihan</a:t>
            </a:r>
          </a:p>
        </p:txBody>
      </p:sp>
      <p:sp>
        <p:nvSpPr>
          <p:cNvPr id="156" name="Oval 155"/>
          <p:cNvSpPr/>
          <p:nvPr/>
        </p:nvSpPr>
        <p:spPr>
          <a:xfrm>
            <a:off x="8984337" y="2428646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996224" y="2440533"/>
            <a:ext cx="76809" cy="76809"/>
          </a:xfrm>
          <a:prstGeom prst="ellipse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460736" y="24140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6 140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291072" y="258318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Sakai Yoshiharu</a:t>
            </a:r>
          </a:p>
        </p:txBody>
      </p:sp>
      <p:sp>
        <p:nvSpPr>
          <p:cNvPr id="160" name="Oval 159"/>
          <p:cNvSpPr/>
          <p:nvPr/>
        </p:nvSpPr>
        <p:spPr>
          <a:xfrm>
            <a:off x="9005979" y="2597810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017866" y="2609697"/>
            <a:ext cx="76809" cy="76809"/>
          </a:xfrm>
          <a:prstGeom prst="ellipse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460736" y="258318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6 380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91072" y="275234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Sakai Haruhiko</a:t>
            </a:r>
          </a:p>
        </p:txBody>
      </p:sp>
      <p:sp>
        <p:nvSpPr>
          <p:cNvPr id="164" name="Oval 163"/>
          <p:cNvSpPr/>
          <p:nvPr/>
        </p:nvSpPr>
        <p:spPr>
          <a:xfrm>
            <a:off x="9061541" y="2766974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073429" y="2778861"/>
            <a:ext cx="76809" cy="76809"/>
          </a:xfrm>
          <a:prstGeom prst="ellipse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460736" y="275234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7 040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291072" y="292150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Gyokucho / Kamisaku</a:t>
            </a:r>
          </a:p>
        </p:txBody>
      </p:sp>
      <p:sp>
        <p:nvSpPr>
          <p:cNvPr id="168" name="Oval 167"/>
          <p:cNvSpPr/>
          <p:nvPr/>
        </p:nvSpPr>
        <p:spPr>
          <a:xfrm>
            <a:off x="9082011" y="2936138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093898" y="2948025"/>
            <a:ext cx="76809" cy="76809"/>
          </a:xfrm>
          <a:prstGeom prst="ellipse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460736" y="292150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7 300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36208" y="3065068"/>
            <a:ext cx="5486400" cy="1691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291072" y="3090672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B42E3A"/>
                </a:solidFill>
                <a:latin typeface="Segoe UI"/>
              </a:rPr>
              <a:t>Sakai Takayuki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144540" y="3136392"/>
            <a:ext cx="13457" cy="38404"/>
          </a:xfrm>
          <a:prstGeom prst="roundRect">
            <a:avLst>
              <a:gd name="adj" fmla="val 50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460736" y="309067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7 460 – 7 640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291072" y="3259836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Takamura Hamono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953718" y="3305556"/>
            <a:ext cx="458653" cy="38404"/>
          </a:xfrm>
          <a:prstGeom prst="roundRect">
            <a:avLst>
              <a:gd name="adj" fmla="val 50000"/>
            </a:avLst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157441" y="3283610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173900" y="3290925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460736" y="325983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5 320 – 11 990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291072" y="342900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Teruhide</a:t>
            </a:r>
          </a:p>
        </p:txBody>
      </p:sp>
      <p:sp>
        <p:nvSpPr>
          <p:cNvPr id="181" name="Oval 180"/>
          <p:cNvSpPr/>
          <p:nvPr/>
        </p:nvSpPr>
        <p:spPr>
          <a:xfrm>
            <a:off x="9133694" y="3443630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145581" y="3455517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0460736" y="342900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8 000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291072" y="359816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Shigehiro</a:t>
            </a:r>
          </a:p>
        </p:txBody>
      </p:sp>
      <p:sp>
        <p:nvSpPr>
          <p:cNvPr id="185" name="Oval 184"/>
          <p:cNvSpPr/>
          <p:nvPr/>
        </p:nvSpPr>
        <p:spPr>
          <a:xfrm>
            <a:off x="9167248" y="3612794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9179135" y="3624681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460736" y="359816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8 490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291072" y="376732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112729" y="3813048"/>
            <a:ext cx="2296351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235302" y="3791102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251761" y="3798417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0460736" y="376732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1 199 – 70 102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291072" y="393649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Tsukasa (Hinoura)</a:t>
            </a:r>
          </a:p>
        </p:txBody>
      </p:sp>
      <p:sp>
        <p:nvSpPr>
          <p:cNvPr id="194" name="Oval 193"/>
          <p:cNvSpPr/>
          <p:nvPr/>
        </p:nvSpPr>
        <p:spPr>
          <a:xfrm>
            <a:off x="9253970" y="3951122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9265857" y="3963009"/>
            <a:ext cx="76809" cy="76809"/>
          </a:xfrm>
          <a:prstGeom prst="ellipse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460736" y="393649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9 900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291072" y="410565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Tamahagane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127801" y="4151375"/>
            <a:ext cx="442918" cy="38404"/>
          </a:xfrm>
          <a:prstGeom prst="roundRect">
            <a:avLst>
              <a:gd name="adj" fmla="val 50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323657" y="4129430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340116" y="4136745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60736" y="41056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7 242 – 15 873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291072" y="4274819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Shigeki Tanaka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8941166" y="4320539"/>
            <a:ext cx="929177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80152" y="4298594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96611" y="4305909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460736" y="4274819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5 203 – 26 990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291072" y="4443983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JCK Natures</a:t>
            </a:r>
          </a:p>
        </p:txBody>
      </p:sp>
      <p:sp>
        <p:nvSpPr>
          <p:cNvPr id="208" name="Oval 207"/>
          <p:cNvSpPr/>
          <p:nvPr/>
        </p:nvSpPr>
        <p:spPr>
          <a:xfrm>
            <a:off x="9372804" y="4458614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84691" y="4470501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0460736" y="4443983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12 220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291072" y="4613147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Hatsukokoro</a:t>
            </a:r>
          </a:p>
        </p:txBody>
      </p:sp>
      <p:sp>
        <p:nvSpPr>
          <p:cNvPr id="212" name="Oval 211"/>
          <p:cNvSpPr/>
          <p:nvPr/>
        </p:nvSpPr>
        <p:spPr>
          <a:xfrm>
            <a:off x="9444087" y="4627778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455975" y="4639665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460736" y="461314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13 865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291072" y="478231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Mcusta Zanmai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181157" y="4828031"/>
            <a:ext cx="640671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475890" y="4806086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492349" y="4813401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0460736" y="478231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7 960 – 24 767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291072" y="495147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Myojin (Naohito)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9466637" y="4997195"/>
            <a:ext cx="157544" cy="38404"/>
          </a:xfrm>
          <a:prstGeom prst="roundRect">
            <a:avLst>
              <a:gd name="adj" fmla="val 50000"/>
            </a:avLst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0460736" y="495147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13 200 – 17 450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291072" y="5120639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Nigara Hamono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9531214" y="5166359"/>
            <a:ext cx="69522" cy="38404"/>
          </a:xfrm>
          <a:prstGeom prst="roundRect">
            <a:avLst>
              <a:gd name="adj" fmla="val 50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0460736" y="5120639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14 800 – 16 740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291072" y="5289803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Miyabi (Zwilling)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9012124" y="5335523"/>
            <a:ext cx="1121354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547198" y="5313578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563657" y="5320893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0460736" y="5289803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5 900 – 43 020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291072" y="5458967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Etsu / Ittetsu</a:t>
            </a:r>
          </a:p>
        </p:txBody>
      </p:sp>
      <p:sp>
        <p:nvSpPr>
          <p:cNvPr id="232" name="Oval 231"/>
          <p:cNvSpPr/>
          <p:nvPr/>
        </p:nvSpPr>
        <p:spPr>
          <a:xfrm>
            <a:off x="9548316" y="5473598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560203" y="5485485"/>
            <a:ext cx="76809" cy="76809"/>
          </a:xfrm>
          <a:prstGeom prst="ellipse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0460736" y="545896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16 677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291072" y="562813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Harukaze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9700883" y="5673851"/>
            <a:ext cx="169460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460736" y="562813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19 990 – 26 990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291072" y="579729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Takeshi Saji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9746795" y="5843015"/>
            <a:ext cx="575631" cy="38404"/>
          </a:xfrm>
          <a:prstGeom prst="roundRect">
            <a:avLst>
              <a:gd name="adj" fmla="val 50000"/>
            </a:avLst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0009008" y="5821070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0025467" y="5828385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0460736" y="579729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21 684 – 60 125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566928" y="6181344"/>
            <a:ext cx="201168" cy="68580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41247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Секі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792224" y="6181344"/>
            <a:ext cx="201168" cy="68580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066543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Сакаї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3017520" y="6181344"/>
            <a:ext cx="201168" cy="68580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291839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Ечідзен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242816" y="6181344"/>
            <a:ext cx="201168" cy="68580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4517136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Тоса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468112" y="6181344"/>
            <a:ext cx="201168" cy="68580"/>
          </a:xfrm>
          <a:prstGeom prst="rect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742431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Сандзьо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693407" y="6181344"/>
            <a:ext cx="201168" cy="6858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967727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Аоморі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918704" y="6181344"/>
            <a:ext cx="201168" cy="68580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193024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регіон не вказано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9125712" y="6164884"/>
            <a:ext cx="21945" cy="89611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235440" y="6144768"/>
            <a:ext cx="1298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середина</a:t>
            </a:r>
          </a:p>
        </p:txBody>
      </p:sp>
      <p:sp>
        <p:nvSpPr>
          <p:cNvPr id="259" name="Oval 258"/>
          <p:cNvSpPr/>
          <p:nvPr/>
        </p:nvSpPr>
        <p:spPr>
          <a:xfrm>
            <a:off x="10460736" y="6164884"/>
            <a:ext cx="89611" cy="89611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0607040" y="6144768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одна ціна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603504" y="647395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Шкала логарифмічна. Діапазон — найнижча і найвища спостережена роздрібна ціна марки, жовтень 2026; це не прайс виробника. Кружок замість смуги означає одну знайдену ціну. Шість марок без публічних цін у графік не входять.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2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Дев'ятнадцять позицій на всю країну — і лише дві справжні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Обхід 17 продавців, Prom, Rozetka й Епіцентру на 1 жовтня 2026. Кожен рядок перевірено на картці товару.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463040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З Н А Й Д Е Н О   П О З И Ц І 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966E28"/>
                </a:solidFill>
                <a:latin typeface="Georgia"/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в усіх каналах
країни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856" y="1463040"/>
            <a:ext cx="2706624" cy="2560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Р Е А Л Ь Н О   Н А   С К Л А Д 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A7F86"/>
                </a:solidFill>
                <a:latin typeface="Georg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ProfiMax, обидві —
янагіба 24 см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1463040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Д Р О П Ш И П - Л І С Т И Н Г 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966E28"/>
                </a:solidFill>
                <a:latin typeface="Georgia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у пʼяти вітринах
Prom, складу немає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1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1" y="1463040"/>
            <a:ext cx="2706624" cy="25603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7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Ф А Х О В И Х   П Р О Д А В Ц І 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B42E3A"/>
                </a:solidFill>
                <a:latin typeface="Georgia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ProfiMax — єдиний,
хто тримає склад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688336"/>
            <a:ext cx="3931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ПОЗИЦІЯ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268833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ПРОДАВЕЦЬ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68833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ЦІНА,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8" y="2688336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СТАТУС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2688336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ЩО ЦЕ ЗНАЧИТЬ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" y="2830068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2871216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Yanagiba Yasugi 24 см, з ножнами (07003)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2871216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2871216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7 460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8" y="287121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2A7F86"/>
                </a:solidFill>
                <a:latin typeface="Segoe UI"/>
              </a:rPr>
              <a:t>СКЛАД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8" y="2871216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Картка продавця, походження: Japan (Sakai, Osaka)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024835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Yanagiba Yasugi 24 см, для лівші (07005)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8" y="3024835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024835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7 640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4928" y="3024835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2A7F86"/>
                </a:solidFill>
                <a:latin typeface="Segoe UI"/>
              </a:rPr>
              <a:t>СКЛАД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3024835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3776" y="3137306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3178454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Chief 210мм (вінтажний)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8848" y="317845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ROKS·Prom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317845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3 520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4928" y="317845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B42E3A"/>
                </a:solidFill>
                <a:latin typeface="Segoe UI"/>
              </a:rPr>
              <a:t>ТІЛЬКИ НА PROM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79408" y="3178454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Є на вітрині Prom, на сайті продавця — немає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3332073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Chief 240мм (вінтажний)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98848" y="3332073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ROKS·Prom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3332073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4 070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4928" y="3332073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B42E3A"/>
                </a:solidFill>
                <a:latin typeface="Segoe UI"/>
              </a:rPr>
              <a:t>ТІЛЬКИ НА PROM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9408" y="3332073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3776" y="3444544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485692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Vg 10 15см (07942)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8848" y="3485692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36208" y="348569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12 550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24928" y="348569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79408" y="348569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Термін постачання 5–10 днів, складу немає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3639312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98848" y="3639312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36208" y="363931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15 266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24928" y="363931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79408" y="363931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93776" y="3751783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3792931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Saiu Santoku 17см (VG-10)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98848" y="3792931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36208" y="3792931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24928" y="3792931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79408" y="3792931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3946550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98848" y="3946550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36208" y="3946550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24928" y="394655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79408" y="3946550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3776" y="4059021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6928" y="4100169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Vg-10 Saiseki Kengata (7966)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98848" y="4100169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36208" y="4100169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24928" y="4100169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79408" y="4100169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4253788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Сантоку Nanairo Vg 10 Green (14576)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98848" y="4253788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36208" y="4253788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24928" y="4253788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79408" y="4253788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3776" y="4366260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6928" y="4407408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шеф-кухаря Aogami#2 Iron Kurouchi 24см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98848" y="4407408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36208" y="4407408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17 387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24928" y="4407408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79408" y="4407408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4561027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Шеф Urushi Saiseki 24см (VG-10)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98848" y="4561027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36208" y="4561027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18 415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24928" y="4561027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79408" y="4561027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93776" y="4673498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6928" y="4714646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Santoku Ginga Za 18 см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98848" y="4714646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36208" y="4714646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20 572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424928" y="471464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79408" y="4714646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6928" y="4868265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Kasumi Shirogami 3 24см (6083)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98848" y="4868265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4868265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20 750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24928" y="4868265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79408" y="4868265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93776" y="4980736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66928" y="5021884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Silver#3 Yanagiba 27см (4231)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98848" y="502188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502188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34 857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24928" y="502188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79408" y="5021884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6928" y="5175504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Byakko Shirogami Kiritsuke Yanagiba 27см (2204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98848" y="517550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36208" y="517550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44 169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24928" y="517550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79408" y="5175504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93776" y="5287975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66928" y="5329123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Shoryu Honyaki Vg 10 Kengata Yanagiba 30см (20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498848" y="5329123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36208" y="5329123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57 903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24928" y="5329123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79408" y="5329123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6928" y="5482742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Shoryu Honyaki VG-10 Sakimaru 30см (0204)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98848" y="5482742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36208" y="548274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60 495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24928" y="548274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979408" y="548274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93776" y="5595213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66928" y="5636361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Genbu Aogami 2 Sakimaru 30Cm (2245)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98848" y="5636361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Livico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36208" y="5636361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61 891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24928" y="5636361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979408" y="5636361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66928" y="5852160"/>
            <a:ext cx="3584448" cy="68422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6928" y="5852160"/>
            <a:ext cx="36576" cy="684225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04672" y="600760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66E28"/>
                </a:solidFill>
                <a:latin typeface="Segoe UI"/>
              </a:rPr>
              <a:t>ЧОМУ 15 326 ГРН ЧОТИРИ РАЗИ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4672" y="6236208"/>
            <a:ext cx="3108960" cy="153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Чотири моделі, одна ціна — спільний фід.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297680" y="5852160"/>
            <a:ext cx="3584448" cy="68422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297680" y="5852160"/>
            <a:ext cx="36576" cy="684225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535424" y="600760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2E3A"/>
                </a:solidFill>
                <a:latin typeface="Segoe UI"/>
              </a:rPr>
              <a:t>ЩО ТАКЕ «ТІЛЬКИ НА PROM»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535424" y="6236208"/>
            <a:ext cx="3108960" cy="153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Товар є на вітрині Prom, але на сайті самого продавця — немає.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046720" y="5852160"/>
            <a:ext cx="3584448" cy="68422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046720" y="5852160"/>
            <a:ext cx="36576" cy="684225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84464" y="600760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B7282"/>
                </a:solidFill>
                <a:latin typeface="Segoe UI"/>
              </a:rPr>
              <a:t>ДЕ БРЕНДУ НЕМАЄ ВЗАГАЛІ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84464" y="6236208"/>
            <a:ext cx="3108960" cy="153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Rozetka, Епіцентр, Sekator, WildCat, rezat.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03504" y="6583680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Перевірено 1 жовтня 2026. «Склад» — картка продавця з прямою наявністю і зазначеним походженням. «Під замовлення» — лістинг Prom із терміном постачання 5–10 днів. Hangiri перевірити не вдалося: сайт закритий Cloudflare.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3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Georgia"/>
              </a:rPr>
              <a:t>Усі дев'ятнадцять позицій бренду в країні — на одній сторінці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Фотографії з карток продавців. Зелена позначка — склад, жовта — під замовлення, червона — розбіжність із сайтом продавця.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_dd4d05688dfa4b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563624"/>
            <a:ext cx="1361149" cy="7315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0080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СКЛАД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Yanagiba Yasugi 24 см, з ножнами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7 460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056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7533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_302f05bb83b2a84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541" y="1563624"/>
            <a:ext cx="1361149" cy="7315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220685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20685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0685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Yanagiba Yasugi 24 см, для лівші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0685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7 640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1661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28139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_1b68ddd7187a63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147" y="1563624"/>
            <a:ext cx="1361149" cy="73152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801291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01291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ТІЛЬКИ НА PROM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1291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Chief 210мм (вінтажний)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1291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3 520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2267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8745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_3cf09b9dde76644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753" y="1563624"/>
            <a:ext cx="1361149" cy="73152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381897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81897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ТІЛЬКИ НА PROM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81897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Chief 240мм (вінтажний)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81897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4 070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2873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89350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_0a93f49d747761d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358" y="1563624"/>
            <a:ext cx="1361149" cy="73152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962502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62502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2502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універсальний Urushi Vg 10 15см (07942)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2502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12 550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13478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69956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_b328c785fb1e861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3964" y="1563624"/>
            <a:ext cx="1361149" cy="73152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8543108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3108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3108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3108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15 266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94084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50562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p_cf44316a7d4c977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4570" y="1563624"/>
            <a:ext cx="1361149" cy="73152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10123714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23714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23714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Saiu Santoku 17см (VG-10)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23714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74690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p_29f05d151f49e6bf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" y="2999232"/>
            <a:ext cx="1361149" cy="731520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640080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91056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147533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_04ad21691281a05b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11541" y="2999232"/>
            <a:ext cx="1361149" cy="731520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2220685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20685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20685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Vg-10 Saiseki Kengata (7966)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20685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71661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28139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p_12df5afc38c5bd5f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2147" y="2999232"/>
            <a:ext cx="1361149" cy="731520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3801291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01291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01291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Сантоку Nanairo Vg 10 Green (14576)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01291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2267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308745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p_bb0674f3f697c03f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72753" y="2999232"/>
            <a:ext cx="1361149" cy="731520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5381897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81897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81897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шеф-кухаря Aogami#2 Iron Kurouchi 24см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81897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17 387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32873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889350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p_d8f262b0e38a543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3358" y="2999232"/>
            <a:ext cx="1361149" cy="731520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6962502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62502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62502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Шеф Urushi Saiseki 24см (VG-10)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62502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18 415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13478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469956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p_d725270ce809bc8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3964" y="2999232"/>
            <a:ext cx="1361149" cy="731520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8543108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3108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43108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Santoku Ginga Za 18 см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43108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20 572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94084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50562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p_74a76e9ae5d97009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4570" y="2999232"/>
            <a:ext cx="1361149" cy="731520"/>
          </a:xfrm>
          <a:prstGeom prst="rect">
            <a:avLst/>
          </a:prstGeom>
        </p:spPr>
      </p:pic>
      <p:sp>
        <p:nvSpPr>
          <p:cNvPr id="107" name="Rounded Rectangle 106"/>
          <p:cNvSpPr/>
          <p:nvPr/>
        </p:nvSpPr>
        <p:spPr>
          <a:xfrm>
            <a:off x="10123714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23714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23714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Kasumi Shirogami 3 24см (6083)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23714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20 750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074690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66928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p_81c372e6ab4f4573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0936" y="4434840"/>
            <a:ext cx="1361149" cy="731520"/>
          </a:xfrm>
          <a:prstGeom prst="rect">
            <a:avLst/>
          </a:prstGeom>
        </p:spPr>
      </p:pic>
      <p:sp>
        <p:nvSpPr>
          <p:cNvPr id="114" name="Rounded Rectangle 113"/>
          <p:cNvSpPr/>
          <p:nvPr/>
        </p:nvSpPr>
        <p:spPr>
          <a:xfrm>
            <a:off x="640080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080" y="5202936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Silver#3 Yanagiba 27см (4231)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080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34 857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91056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147533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p_899349b743e9a77f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11541" y="4434840"/>
            <a:ext cx="1361149" cy="731520"/>
          </a:xfrm>
          <a:prstGeom prst="rect">
            <a:avLst/>
          </a:prstGeom>
        </p:spPr>
      </p:pic>
      <p:sp>
        <p:nvSpPr>
          <p:cNvPr id="121" name="Rounded Rectangle 120"/>
          <p:cNvSpPr/>
          <p:nvPr/>
        </p:nvSpPr>
        <p:spPr>
          <a:xfrm>
            <a:off x="2220685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220685" y="5202936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20685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Byakko Shirogami Kiritsuke Yanagiba 27см (2204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20685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44 169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71661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728139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p_9dce3440c3a78a87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92147" y="4434840"/>
            <a:ext cx="1361149" cy="731520"/>
          </a:xfrm>
          <a:prstGeom prst="rect">
            <a:avLst/>
          </a:prstGeom>
        </p:spPr>
      </p:pic>
      <p:sp>
        <p:nvSpPr>
          <p:cNvPr id="128" name="Rounded Rectangle 127"/>
          <p:cNvSpPr/>
          <p:nvPr/>
        </p:nvSpPr>
        <p:spPr>
          <a:xfrm>
            <a:off x="3801291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801291" y="5202936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01291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Shoryu Honyaki Vg 10 Kengata Yanagiba 30см (20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01291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57 903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52267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308745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p_f7628f25fcd3e19d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72753" y="4434840"/>
            <a:ext cx="1361149" cy="731520"/>
          </a:xfrm>
          <a:prstGeom prst="rect">
            <a:avLst/>
          </a:prstGeom>
        </p:spPr>
      </p:pic>
      <p:sp>
        <p:nvSpPr>
          <p:cNvPr id="135" name="Rounded Rectangle 134"/>
          <p:cNvSpPr/>
          <p:nvPr/>
        </p:nvSpPr>
        <p:spPr>
          <a:xfrm>
            <a:off x="5381897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381897" y="5202936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381897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Shoryu Honyaki VG-10 Sakimaru 30см (0204)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381897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60 495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32873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889350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1" name="Picture 140" descr="p_38da390058d7706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53358" y="4434840"/>
            <a:ext cx="1361149" cy="731520"/>
          </a:xfrm>
          <a:prstGeom prst="rect">
            <a:avLst/>
          </a:prstGeom>
        </p:spPr>
      </p:pic>
      <p:sp>
        <p:nvSpPr>
          <p:cNvPr id="142" name="Rounded Rectangle 141"/>
          <p:cNvSpPr/>
          <p:nvPr/>
        </p:nvSpPr>
        <p:spPr>
          <a:xfrm>
            <a:off x="6962502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962502" y="5202936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62502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Genbu Aogami 2 Sakimaru 30Cm (2245)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62502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61 891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913478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Livico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66928" y="5833872"/>
            <a:ext cx="11064240" cy="687628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6928" y="5833872"/>
            <a:ext cx="36576" cy="687628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04672" y="5989320"/>
            <a:ext cx="105887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ЩО ВИДНО НА ЦІЙ СТОРІНЦІ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04672" y="6217920"/>
            <a:ext cx="10588752" cy="157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Зі складу — лише дві янагіби 24 см. Решта, разом із сантоку й гюто, тільки під замовлення.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03504" y="6601968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Фотографії — з публічних карток товару ProfiMax і вітрин prom.ua, жовтень 2026. Наведено для ідентифікації позицій; права на зображення належать продавцям і виробнику.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4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Цільова зона зайнята дванадцятьма брендами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Де саме Sakai Takayuki опинився б на полиці, проти кого стояв би і чим від них відрізняється сьогодні.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72768"/>
            <a:ext cx="2706624" cy="25603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Ц І Л Ь О В А   З О Н 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554780"/>
                </a:solidFill>
                <a:latin typeface="Georgia"/>
              </a:rPr>
              <a:t>7 000 – 20 000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грн. Сюди потрапляє
основна лінійка бренду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1572768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856" y="1572768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П О З И Ц І Й   У   Ц І Й   З О Н 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966E28"/>
                </a:solidFill>
                <a:latin typeface="Georgia"/>
              </a:rP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із 259 каталогу,
тобто 41 %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1572768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1572768"/>
            <a:ext cx="2706624" cy="25603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З   Н И Х   S A K A I   T A K A Y U K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B42E3A"/>
                </a:solidFill>
                <a:latin typeface="Georg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менше ніж 2 %
зайнятої зони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1" y="1572768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1" y="1572768"/>
            <a:ext cx="2706624" cy="2560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7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Б Р Е Н Д І В   У   З О Н 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2A7F86"/>
                </a:solidFill>
                <a:latin typeface="Georgia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усі з полицею
і глибиною лінійки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871216"/>
            <a:ext cx="557784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912364"/>
            <a:ext cx="30678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ХТО ВЖЕ ТРИМАЄ ЗОНУ: 12 БРЕНДІВ, 105 ПОЗИЦІЙ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3248" y="3218688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AA2B4"/>
                </a:solidFill>
                <a:latin typeface="Segoe UI"/>
              </a:rPr>
              <a:t>ПОЗИЦІЙ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401568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3439972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03120" y="3439972"/>
            <a:ext cx="3200400" cy="77724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3248" y="340156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966E28"/>
                </a:solidFill>
                <a:latin typeface="Segoe UI"/>
              </a:rPr>
              <a:t>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631996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KAI / Shun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3670401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03120" y="3670401"/>
            <a:ext cx="2743200" cy="77724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13248" y="363199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966E28"/>
                </a:solidFill>
                <a:latin typeface="Segoe UI"/>
              </a:rPr>
              <a:t>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862425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3900830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03120" y="3900830"/>
            <a:ext cx="2743200" cy="77724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13248" y="3862425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966E28"/>
                </a:solidFill>
                <a:latin typeface="Segoe UI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092854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4131259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103120" y="4131259"/>
            <a:ext cx="1371600" cy="7772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13248" y="409285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323283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Takamura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4361688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03120" y="4361688"/>
            <a:ext cx="1219200" cy="7772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13248" y="4323283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553712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Tosa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4592116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03120" y="4592116"/>
            <a:ext cx="1219200" cy="7772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13248" y="455371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4784140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03120" y="4822545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03120" y="4822545"/>
            <a:ext cx="1219200" cy="7772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13248" y="47841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014569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Seki Kanetsugu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03120" y="5052974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03120" y="5052974"/>
            <a:ext cx="609600" cy="7772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13248" y="501456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2064" y="5212994"/>
            <a:ext cx="5687568" cy="210312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244998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B42E3A"/>
                </a:solidFill>
                <a:latin typeface="Segoe UI"/>
              </a:rPr>
              <a:t>Sakai Takayuki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03120" y="5283403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03120" y="5283403"/>
            <a:ext cx="304800" cy="77724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13248" y="524499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B42E3A"/>
                </a:solidFill>
                <a:latin typeface="Segoe UI"/>
              </a:rP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19088" y="2871216"/>
            <a:ext cx="521208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65392" y="2912364"/>
            <a:ext cx="28666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ЧИМ SAKAI TAKAYUKI ВІД НИХ ВІДРІЗНЯЄТЬСЯ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9088" y="3163824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22208" y="316382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ДВАНАДЦЯТЬ У ЗОНІ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68128" y="3163824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SAKAI TAKAYUKI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45936" y="3342132"/>
            <a:ext cx="5358384" cy="402336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19088" y="3383280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Позицій у зоні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22208" y="3383280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4 – 21 у кожного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68128" y="3383280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19088" y="3803904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Хто завозить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22208" y="3803904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є імпортер або
фаховий магазин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68128" y="3803904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немає нікого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345936" y="4183380"/>
            <a:ext cx="5358384" cy="402336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19088" y="4224528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Великий формат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22208" y="4224528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Suncraft, Tojiro, KAI
стоять в Епіцентрі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68128" y="4224528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0 позицій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19088" y="4645152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Опт HoReCa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22208" y="4645152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Yaxell у каталозі
AL-Group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68128" y="464515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0 позицій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345936" y="5024628"/>
            <a:ext cx="5358384" cy="402336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19088" y="5065776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Впізнаваність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22208" y="5065776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роками на полиці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68128" y="5065776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фактично нульова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66928" y="5577840"/>
            <a:ext cx="11064240" cy="858520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66928" y="5577840"/>
            <a:ext cx="36576" cy="858520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04672" y="5733288"/>
            <a:ext cx="105887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ЩО З ЦЬОГО ВИПЛИВАЄ ДЛЯ РІШЕННЯ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" y="5961888"/>
            <a:ext cx="10588752" cy="328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Бренд не має в Україні ані дистриб'ютора, ані полиці, ані жодної позиції у великому форматі й в опті HoReCa — територія вільна.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Але вільна вона тому, що попиту на неї ніхто не створював: дві позиції за всю історію каналу не дали впізнаваності, на яку можна спертися в першій партії.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Кількість позицій у зоні 7 000 – 20 000 грн порахована за каталогом із 259 ножів японського виробництва. Це ширина присутності на полиці, а не обсяг продажів.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