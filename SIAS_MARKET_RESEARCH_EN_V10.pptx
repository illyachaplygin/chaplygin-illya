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2"/>
    <p:sldId id="258" r:id="rId3"/>
    <p:sldId id="286" r:id="rId4"/>
    <p:sldId id="260" r:id="rId5"/>
    <p:sldId id="287" r:id="rId6"/>
    <p:sldId id="288" r:id="rId7"/>
    <p:sldId id="289" r:id="rId8"/>
    <p:sldId id="290" r:id="rId9"/>
    <p:sldId id="291" r:id="rId10"/>
    <p:sldId id="265" r:id="rId11"/>
    <p:sldId id="292" r:id="rId12"/>
    <p:sldId id="293" r:id="rId13"/>
    <p:sldId id="294" r:id="rId14"/>
    <p:sldId id="295" r:id="rId15"/>
    <p:sldId id="270" r:id="rId16"/>
    <p:sldId id="296" r:id="rId17"/>
    <p:sldId id="297" r:id="rId18"/>
    <p:sldId id="298" r:id="rId19"/>
    <p:sldId id="299" r:id="rId20"/>
    <p:sldId id="300" r:id="rId21"/>
    <p:sldId id="301" r:id="rId22"/>
    <p:sldId id="303" r:id="rId23"/>
    <p:sldId id="304" r:id="rId24"/>
    <p:sldId id="280" r:id="rId25"/>
    <p:sldId id="305" r:id="rId26"/>
    <p:sldId id="306" r:id="rId27"/>
    <p:sldId id="309" r:id="rId35"/>
    <p:sldId id="310" r:id="rId36"/>
    <p:sldId id="31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4.jpg"/><Relationship Id="rId5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3.jpg"/><Relationship Id="rId8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3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18.jpg"/><Relationship Id="rId11" Type="http://schemas.openxmlformats.org/officeDocument/2006/relationships/image" Target="../media/image9.jpg"/><Relationship Id="rId12" Type="http://schemas.openxmlformats.org/officeDocument/2006/relationships/image" Target="../media/image19.jpg"/><Relationship Id="rId13" Type="http://schemas.openxmlformats.org/officeDocument/2006/relationships/image" Target="../media/image2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19.jpg"/><Relationship Id="rId8" Type="http://schemas.openxmlformats.org/officeDocument/2006/relationships/image" Target="../media/image10.jpg"/><Relationship Id="rId9" Type="http://schemas.openxmlformats.org/officeDocument/2006/relationships/image" Target="../media/image25.jpg"/><Relationship Id="rId10" Type="http://schemas.openxmlformats.org/officeDocument/2006/relationships/image" Target="../media/image26.jpg"/><Relationship Id="rId11" Type="http://schemas.openxmlformats.org/officeDocument/2006/relationships/image" Target="../media/image27.jpg"/><Relationship Id="rId12" Type="http://schemas.openxmlformats.org/officeDocument/2006/relationships/image" Target="../media/image28.jpg"/><Relationship Id="rId13" Type="http://schemas.openxmlformats.org/officeDocument/2006/relationships/image" Target="../media/image2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11.jpg"/><Relationship Id="rId6" Type="http://schemas.openxmlformats.org/officeDocument/2006/relationships/image" Target="../media/image6.jpg"/><Relationship Id="rId7" Type="http://schemas.openxmlformats.org/officeDocument/2006/relationships/image" Target="../media/image32.jpg"/><Relationship Id="rId8" Type="http://schemas.openxmlformats.org/officeDocument/2006/relationships/image" Target="../media/image33.jpg"/><Relationship Id="rId9" Type="http://schemas.openxmlformats.org/officeDocument/2006/relationships/image" Target="../media/image34.jpg"/><Relationship Id="rId10" Type="http://schemas.openxmlformats.org/officeDocument/2006/relationships/image" Target="../media/image35.jpg"/><Relationship Id="rId11" Type="http://schemas.openxmlformats.org/officeDocument/2006/relationships/image" Target="../media/image36.jpg"/><Relationship Id="rId12" Type="http://schemas.openxmlformats.org/officeDocument/2006/relationships/image" Target="../media/image37.jpg"/><Relationship Id="rId13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image" Target="../media/image41.jpg"/><Relationship Id="rId8" Type="http://schemas.openxmlformats.org/officeDocument/2006/relationships/image" Target="../media/image42.jpg"/><Relationship Id="rId9" Type="http://schemas.openxmlformats.org/officeDocument/2006/relationships/image" Target="../media/image43.jpg"/><Relationship Id="rId10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45.jpg"/><Relationship Id="rId5" Type="http://schemas.openxmlformats.org/officeDocument/2006/relationships/image" Target="../media/image46.jpg"/><Relationship Id="rId6" Type="http://schemas.openxmlformats.org/officeDocument/2006/relationships/image" Target="../media/image47.jpg"/><Relationship Id="rId7" Type="http://schemas.openxmlformats.org/officeDocument/2006/relationships/image" Target="../media/image2.jpg"/><Relationship Id="rId8" Type="http://schemas.openxmlformats.org/officeDocument/2006/relationships/image" Target="../media/image4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52.jpg"/><Relationship Id="rId8" Type="http://schemas.openxmlformats.org/officeDocument/2006/relationships/image" Target="../media/image45.jpg"/><Relationship Id="rId9" Type="http://schemas.openxmlformats.org/officeDocument/2006/relationships/image" Target="../media/image53.jpg"/><Relationship Id="rId10" Type="http://schemas.openxmlformats.org/officeDocument/2006/relationships/image" Target="../media/image54.jpg"/><Relationship Id="rId11" Type="http://schemas.openxmlformats.org/officeDocument/2006/relationships/image" Target="../media/image5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jpg"/><Relationship Id="rId4" Type="http://schemas.openxmlformats.org/officeDocument/2006/relationships/image" Target="../media/image57.jpg"/><Relationship Id="rId5" Type="http://schemas.openxmlformats.org/officeDocument/2006/relationships/image" Target="../media/image46.jpg"/><Relationship Id="rId6" Type="http://schemas.openxmlformats.org/officeDocument/2006/relationships/image" Target="../media/image58.jpg"/><Relationship Id="rId7" Type="http://schemas.openxmlformats.org/officeDocument/2006/relationships/image" Target="../media/image59.jpg"/><Relationship Id="rId8" Type="http://schemas.openxmlformats.org/officeDocument/2006/relationships/image" Target="../media/image60.jpg"/><Relationship Id="rId9" Type="http://schemas.openxmlformats.org/officeDocument/2006/relationships/image" Target="../media/image4.jpg"/><Relationship Id="rId10" Type="http://schemas.openxmlformats.org/officeDocument/2006/relationships/image" Target="../media/image47.jpg"/><Relationship Id="rId11" Type="http://schemas.openxmlformats.org/officeDocument/2006/relationships/image" Target="../media/image61.jpg"/><Relationship Id="rId12" Type="http://schemas.openxmlformats.org/officeDocument/2006/relationships/image" Target="../media/image6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Relationship Id="rId6" Type="http://schemas.openxmlformats.org/officeDocument/2006/relationships/image" Target="../media/image2.jpg"/><Relationship Id="rId7" Type="http://schemas.openxmlformats.org/officeDocument/2006/relationships/image" Target="../media/image47.jpg"/><Relationship Id="rId8" Type="http://schemas.openxmlformats.org/officeDocument/2006/relationships/image" Target="../media/image65.jpg"/><Relationship Id="rId9" Type="http://schemas.openxmlformats.org/officeDocument/2006/relationships/image" Target="../media/image66.jpg"/><Relationship Id="rId10" Type="http://schemas.openxmlformats.org/officeDocument/2006/relationships/image" Target="../media/image44.jpg"/><Relationship Id="rId11" Type="http://schemas.openxmlformats.org/officeDocument/2006/relationships/image" Target="../media/image67.jpg"/><Relationship Id="rId12" Type="http://schemas.openxmlformats.org/officeDocument/2006/relationships/image" Target="../media/image4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70.jpg"/><Relationship Id="rId6" Type="http://schemas.openxmlformats.org/officeDocument/2006/relationships/image" Target="../media/image71.jpg"/><Relationship Id="rId7" Type="http://schemas.openxmlformats.org/officeDocument/2006/relationships/image" Target="../media/image72.jpg"/><Relationship Id="rId8" Type="http://schemas.openxmlformats.org/officeDocument/2006/relationships/image" Target="../media/image7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69.jpg"/><Relationship Id="rId7" Type="http://schemas.openxmlformats.org/officeDocument/2006/relationships/image" Target="../media/image76.jpg"/><Relationship Id="rId8" Type="http://schemas.openxmlformats.org/officeDocument/2006/relationships/image" Target="../media/image77.jpg"/><Relationship Id="rId9" Type="http://schemas.openxmlformats.org/officeDocument/2006/relationships/image" Target="../media/image7.jpg"/><Relationship Id="rId10" Type="http://schemas.openxmlformats.org/officeDocument/2006/relationships/image" Target="../media/image70.jpg"/><Relationship Id="rId11" Type="http://schemas.openxmlformats.org/officeDocument/2006/relationships/image" Target="../media/image7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jpg"/><Relationship Id="rId4" Type="http://schemas.openxmlformats.org/officeDocument/2006/relationships/image" Target="../media/image71.jpg"/><Relationship Id="rId5" Type="http://schemas.openxmlformats.org/officeDocument/2006/relationships/image" Target="../media/image79.jpg"/><Relationship Id="rId6" Type="http://schemas.openxmlformats.org/officeDocument/2006/relationships/image" Target="../media/image78.jpg"/><Relationship Id="rId7" Type="http://schemas.openxmlformats.org/officeDocument/2006/relationships/image" Target="../media/image80.jpg"/><Relationship Id="rId8" Type="http://schemas.openxmlformats.org/officeDocument/2006/relationships/image" Target="../media/image72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7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629400" y="0"/>
            <a:ext cx="5562295" cy="68580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0" y="640080"/>
            <a:ext cx="5120640" cy="512064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035040" y="4297680"/>
            <a:ext cx="2286000" cy="2286000"/>
          </a:xfrm>
          <a:prstGeom prst="ellipse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0" y="4206240"/>
            <a:ext cx="2560320" cy="256032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566928"/>
            <a:ext cx="2331720" cy="1024128"/>
          </a:xfrm>
          <a:prstGeom prst="roundRect">
            <a:avLst>
              <a:gd name="adj" fmla="val 12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658368"/>
            <a:ext cx="2002536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331720"/>
            <a:ext cx="5669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C4820A"/>
                </a:solidFill>
                <a:latin typeface="Segoe UI"/>
              </a:rPr>
              <a:t>MARKET RESEARCH AND POSITIONING ·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58521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0" lang="en-US">
                <a:solidFill>
                  <a:srgbClr val="303A5D"/>
                </a:solidFill>
                <a:latin typeface="Segoe UI"/>
              </a:rPr>
              <a:t>Korean</a:t>
            </a:r>
          </a:p>
          <a:p>
            <a:pPr algn="l">
              <a:lnSpc>
                <a:spcPct val="100000"/>
              </a:lnSpc>
            </a:pPr>
            <a:r>
              <a:rPr sz="5800" b="1" spc="-10" lang="en-US">
                <a:solidFill>
                  <a:srgbClr val="303A5D"/>
                </a:solidFill>
                <a:latin typeface="Segoe UI"/>
              </a:rPr>
              <a:t>ramen</a:t>
            </a:r>
          </a:p>
          <a:p>
            <a:pPr algn="l">
              <a:lnSpc>
                <a:spcPct val="100000"/>
              </a:lnSpc>
            </a:pPr>
            <a:r>
              <a:rPr sz="5800" b="1" spc="-10" lang="en-US">
                <a:solidFill>
                  <a:srgbClr val="303A5D"/>
                </a:solidFill>
                <a:latin typeface="Segoe UI"/>
              </a:rPr>
              <a:t>in Ukraine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5532120"/>
            <a:ext cx="1463040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958583" y="56692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03720" y="50292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9" y="594360"/>
            <a:ext cx="2057400" cy="2057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958583" y="29900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03720" y="29260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79" y="3017520"/>
            <a:ext cx="2057400" cy="20574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656064" y="13898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601200" y="13258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1417320"/>
            <a:ext cx="2057400" cy="20574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656064" y="385876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01200" y="379476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3886200"/>
            <a:ext cx="2057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MARKET SIZE · CUSTOMS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How much noodle is imported into Ukraine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IMPORT VOLUME, TONNES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424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964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1388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928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352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7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2025 · Jan–May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29968"/>
            <a:ext cx="74268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65849" y="20665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239.7 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5283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2026 · Jan–May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487168"/>
            <a:ext cx="2598281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1441" y="25237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C4820A"/>
                </a:solidFill>
                <a:latin typeface="Segoe UI"/>
              </a:rPr>
              <a:t>838.5 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9855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2025 · full 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944368"/>
            <a:ext cx="2205106" cy="2377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28266" y="29809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711.6 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675887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INVOICE VALUE, USD 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84248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47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89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94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336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41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083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1193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2025 · Jan–May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078224"/>
            <a:ext cx="79374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16909" y="41148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$1.02 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765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2026 · Jan–May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535424"/>
            <a:ext cx="2479520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02680" y="45720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C4820A"/>
                </a:solidFill>
                <a:latin typeface="Segoe UI"/>
              </a:rPr>
              <a:t>$3.20 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CUSTOMS DATA · ORIGIN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Where the noodles come from: all import origins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Jan–May 2026 · net weight, tonnes · share of total imports of 838.5 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IMPORT MIX,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2181252" cy="4572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984248"/>
            <a:ext cx="21812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19.9 %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6468" y="1847088"/>
            <a:ext cx="1545354" cy="45720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66468" y="1984248"/>
            <a:ext cx="154535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14.1 %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0111" y="1847088"/>
            <a:ext cx="1128660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0111" y="1984248"/>
            <a:ext cx="11286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10.4 %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7059" y="1847088"/>
            <a:ext cx="754509" cy="45720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77059" y="1984248"/>
            <a:ext cx="75450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7.0 %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857" y="1847088"/>
            <a:ext cx="737879" cy="4572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9857" y="1984248"/>
            <a:ext cx="73787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6.8 %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24" y="1847088"/>
            <a:ext cx="652058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06024" y="1984248"/>
            <a:ext cx="65205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6.1 %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6370" y="1847088"/>
            <a:ext cx="625148" cy="457200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76370" y="1984248"/>
            <a:ext cx="62514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5.8 %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9806" y="1847088"/>
            <a:ext cx="3293073" cy="45720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19806" y="1984248"/>
            <a:ext cx="3293073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 lang="en-US">
                <a:solidFill>
                  <a:srgbClr val="FFFFFF"/>
                </a:solidFill>
                <a:latin typeface="Segoe UI"/>
              </a:rPr>
              <a:t>29.9 %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487168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BY COUNTRY OF ORIGIN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852928"/>
            <a:ext cx="128016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281635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Vietnam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798064"/>
            <a:ext cx="3251606" cy="2468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1734" y="28163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166.7 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81635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19.9 %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55264"/>
            <a:ext cx="128016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321868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Korea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200400"/>
            <a:ext cx="2311551" cy="246888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21679" y="321868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118.5 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321868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14.1 %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657600"/>
            <a:ext cx="128016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362102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Romania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602736"/>
            <a:ext cx="1695547" cy="246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05675" y="36210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86.9 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36210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10.4 %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059935"/>
            <a:ext cx="128016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2" y="4023359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United Kingdom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4005072"/>
            <a:ext cx="1142436" cy="24688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52564" y="4023359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58.6 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4023359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7.0 %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462272"/>
            <a:ext cx="128016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2" y="4425696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Latvia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407408"/>
            <a:ext cx="1117850" cy="2468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427978" y="44256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57.3 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44256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6.8 %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864608"/>
            <a:ext cx="128016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4672" y="482803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Czechia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4809744"/>
            <a:ext cx="990980" cy="246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01108" y="482803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50.8 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482803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6.1 %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266944"/>
            <a:ext cx="128016" cy="128016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04672" y="5230368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Poland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5212080"/>
            <a:ext cx="951199" cy="246888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61327" y="523036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48.8 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523036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5.8 %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5669280"/>
            <a:ext cx="128016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04672" y="563270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All other countries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5614416"/>
            <a:ext cx="4895224" cy="246888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05352" y="56327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250.9 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56327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 lang="en-US">
                <a:solidFill>
                  <a:srgbClr val="717890"/>
                </a:solidFill>
                <a:latin typeface="Segoe UI"/>
              </a:rPr>
              <a:t>29.9 %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6016752"/>
            <a:ext cx="11064240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4672" y="6089904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C4820A"/>
                </a:solidFill>
                <a:latin typeface="Segoe UI"/>
              </a:rPr>
              <a:t>Total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0" y="60899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C4820A"/>
                </a:solidFill>
                <a:latin typeface="Segoe UI"/>
              </a:rPr>
              <a:t>838.5 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608990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100 %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437376"/>
            <a:ext cx="11064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Customs database, HS code 1902 30 10 00. "All other countries" is a single line: the database has no country split.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Segmentation by preparation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566160" cy="3657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 lang="en-US">
                <a:solidFill>
                  <a:srgbClr val="FFFFFF"/>
                </a:solidFill>
                <a:latin typeface="Segoe UI"/>
              </a:rPr>
              <a:t>PACK RAMEN · WITH BROTH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88010430695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7" y="2130551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SKUs · 46 %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WEIGHT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102–144 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MEDIAN PRICE PER PACK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PACK PRICE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67–209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BRANDS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627632"/>
            <a:ext cx="3566160" cy="3657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3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 lang="en-US">
                <a:solidFill>
                  <a:srgbClr val="FFFFFF"/>
                </a:solidFill>
                <a:latin typeface="Segoe UI"/>
              </a:rPr>
              <a:t>PACK RAMEN · WITH SAUCE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00648436310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130551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43983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SKUs · 34 %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WEIGHT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105–145 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MEDIAN PRICE PER PACK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106 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3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PACK PRICE RANGE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72–198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3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BRANDS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1627632"/>
            <a:ext cx="3566160" cy="3657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9302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 lang="en-US">
                <a:solidFill>
                  <a:srgbClr val="FFFFFF"/>
                </a:solidFill>
                <a:latin typeface="Segoe UI"/>
              </a:rPr>
              <a:t>CUP RAMEN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901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130551"/>
            <a:ext cx="914400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19302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SKUs · 20 %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WEIGHT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62–120 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MEDIAN PRICE PER PACK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380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PACK PRICE RANGE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9380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34–195 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BRANDS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700016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303A5D"/>
                </a:solidFill>
                <a:latin typeface="Segoe UI"/>
              </a:rPr>
              <a:t>SEGMENT × PRICE BAND · SKUs, ₴ per pack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under 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358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80–95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164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95–110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110–130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130–150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150–180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650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180 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53728" y="484632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TOTAL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5166360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Pack · with broth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5129784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0574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632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9080" y="5129784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06908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7492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5129784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8076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8660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0866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924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53728" y="5175504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41 SKUs · median 95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477256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Pack · with sauce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574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63240" y="5440680"/>
            <a:ext cx="950976" cy="25603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0632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6908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06908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7492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076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8076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866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92440" y="5440680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0924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53728" y="548640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30 SKUs · median 106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5788152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Cup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40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0574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632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0632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069080" y="5751576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06908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7492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07492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8076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8076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86600" y="5751576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0866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924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0924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53728" y="5797296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18 SKUs · median 104 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the largest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The core of the Korean shelf: noodles and powdered broth, cooked in a pot.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 IN SEGMENT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41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6 brands in 11 chains.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46 % of the whole category.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MEDIAN SHELF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84–113 ₴.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Range: 67–209 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PRICIER THAN 120 ₴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303A5D"/>
                </a:solidFill>
                <a:latin typeface="Segoe UI"/>
              </a:rPr>
              <a:t>7 of 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SKUs in the segment.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Pricier than 140.55 ₴ (now): 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PACK WEIGHT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303A5D"/>
                </a:solidFill>
                <a:latin typeface="Segoe UI"/>
              </a:rPr>
              <a:t>102–144 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segment range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as of 29 Sep 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WHO HOLDS THE SEGMENT · SKUs PER BRAND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218687"/>
            <a:ext cx="173736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396995"/>
            <a:ext cx="1520189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575303"/>
            <a:ext cx="108585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753611"/>
            <a:ext cx="86868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3931920"/>
            <a:ext cx="21717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SKUs BY PRICE BAND · ₴ PER PACK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597510"/>
            <a:ext cx="566928" cy="4075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63640" y="3414630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 lang="en-US">
                <a:solidFill>
                  <a:srgbClr val="717890"/>
                </a:solidFill>
                <a:latin typeface="Segoe UI"/>
              </a:rPr>
              <a:t>under 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14032" y="3342785"/>
            <a:ext cx="566928" cy="66228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022592" y="3159905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72983" y="3801291"/>
            <a:ext cx="566928" cy="2037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81544" y="361841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31936" y="3291839"/>
            <a:ext cx="566928" cy="7132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40496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90888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99448" y="3803904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49840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058400" y="377124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08792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817352" y="377124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 lang="en-US">
                <a:solidFill>
                  <a:srgbClr val="303A5D"/>
                </a:solidFill>
                <a:latin typeface="Segoe UI"/>
              </a:rPr>
              <a:t>SEGMENT EXAMPLES · FROM CHEAPEST TO MOST EXPENSIVE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Yeul Ramen extra spicy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Cheese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111 g · Zaraz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Medium spicy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Kosmos · Grono +2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Seafood flavor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Onde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Kosmos · Klass · METRO +4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1" name="Picture 110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1 of 4 — 68–85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Yeul Ramen extra spicy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Kimchi Ramen noodles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68–72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144 g · Auchan · Zaraz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Teumsae Ramen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Kimchi Ramen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67–85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Kosmos · Tavria 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Kimchi Ramen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129 g · Auchan · Zaraz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Seafood Ramen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103 g · Auchan · Zaraz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O'Food · Seafood flavor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74–84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102 g · Auchan · Zaraz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Cheese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111 g · Zaraz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2 of 4 — 88–98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Soon Veggie Ramyun veg…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74–102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112 g · Auchan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Cham-Pong Ramyun seaf…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124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Hwa Ramyun hot pep…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87–93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Kokomen chicken flav…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Kosmos · Tavria V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Medium spicy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Kosmos · Grono +2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Seafood flavor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Spicy Zanmang Loopy w/ s…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 · Grono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Zanmang Loopy origi…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 · Grono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Otoki · Cheesy Ramen flavo…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AnSungTangMyun mushr…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74–122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125 g · Auchan · Onde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3 of 4 — 104–117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Seafood spicy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Cheese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Seafood flavor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flavor sp…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Pasta Samyan…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115 g · Auchan · Zaraz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Noodles chicken flav…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108–169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135 g · Auchan · Grono · Zaraz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99–124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Zaraz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Sesame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115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Jjambbong Ramen seaf…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Seafood medium sp…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 · Klass · METRO +2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Kosmos · Klass · METRO +4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PACK RAMEN · WITH BROTH   ·   41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catalogue 4 of 4 — 118–205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303A5D"/>
                </a:solidFill>
                <a:latin typeface="Segoe UI"/>
              </a:rPr>
              <a:t>SEGMENT 1 · PACK RAMEN · WITH BROTH   ·   Cook 4–5 min · served in broth   ·   weight 102–144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98–124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ChudoMarket · Kosmos · G…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 flavor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112–130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Auchan · Zaraz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Seafood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125–135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125 g · Klass · Onde · Vostorg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mushroom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128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Onde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Tom Yum…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116–142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123 g · Auchan · Grono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Ramen Black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165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METRO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1 · WHERE IT IS SOLD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broth: where it is sold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SEGMENT SKUs IN THE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382219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576072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75038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75038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83261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9001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199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9963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27450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27450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27450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185025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42425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92512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49912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92512" cy="173736"/>
          </a:xfrm>
          <a:prstGeom prst="rect">
            <a:avLst/>
          </a:prstGeom>
          <a:solidFill>
            <a:srgbClr val="787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4991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National chains ·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TARGET CHANNEL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Auchan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Zaraz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Silpo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1*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Regional chains · 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REGIONAL ENTRY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Klass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Vostorg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Kosmos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Tavria V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ChudoMarket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No segment SKUs · 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OPEN SHELF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MegaMarket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EKO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Epicentr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Torba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572292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663732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Ideal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30 SKUs, median 106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 IN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30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7 brands in 12 chains.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34 % of the whole category.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MEDIAN SHELF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106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86–137 ₴.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Range: 72–198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PRICIER THAN 120 ₴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C4820A"/>
                </a:solidFill>
                <a:latin typeface="Segoe UI"/>
              </a:rPr>
              <a:t>11 of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SKUs in the segment.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Pricier than 140.55 ₴ (now): 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PACK 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C4820A"/>
                </a:solidFill>
                <a:latin typeface="Segoe UI"/>
              </a:rPr>
              <a:t>105–145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segment range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as of 29 Sep 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WHO HOLDS THE SEGMENT · SKUs PER BRAND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895301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1579418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1263534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55648" y="3753611"/>
            <a:ext cx="631767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55648" y="3931920"/>
            <a:ext cx="315883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SKUs BY PRICE BAND · ₴ PER PACK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846576"/>
            <a:ext cx="566928" cy="1584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63640" y="3663696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 lang="en-US">
                <a:solidFill>
                  <a:srgbClr val="717890"/>
                </a:solidFill>
                <a:latin typeface="Segoe UI"/>
              </a:rPr>
              <a:t>under 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4032" y="3291839"/>
            <a:ext cx="566928" cy="7132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022592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72983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81544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31936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40496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90888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99448" y="342595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3767328"/>
            <a:ext cx="566928" cy="2377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058400" y="35844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08792" y="3925823"/>
            <a:ext cx="566928" cy="792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817352" y="3742943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 lang="en-US">
                <a:solidFill>
                  <a:srgbClr val="303A5D"/>
                </a:solidFill>
                <a:latin typeface="Segoe UI"/>
              </a:rPr>
              <a:t>SEGMENT EXAMPLES · FROM CHEAPEST TO MOST EXPENSIVE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7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Onde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2" name="Picture 8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Spicy T…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9" name="Picture 8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Bibim Men Korean-sty…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ChudoMarket · Grono · NO…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6" name="Picture 9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 spicy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3" name="Picture 10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Chicken flavor spicy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Kosmos · Grono +4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0" name="Picture 10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137 g · Grono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   ·   30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catalogue 1 of 3 — 78–89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C4820A"/>
                </a:solidFill>
                <a:latin typeface="Segoe UI"/>
              </a:rPr>
              <a:t>SEGMENT 2 · PACK RAMEN · WITH SAUCE   ·   Cook 4–5 min · drain water, mix with sauce   ·   weight 105–145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01798" y="2409444"/>
            <a:ext cx="160934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 lang="en-US">
                <a:solidFill>
                  <a:srgbClr val="9FA9C4"/>
                </a:solidFill>
                <a:latin typeface="Segoe UI"/>
              </a:rPr>
              <a:t>no photo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fire bull · Stir-Fried Ramen Beef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138 g · Onde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Volcano Carbonara spic…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80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Auchan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Compaghetti noodles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110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flavo…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Chicken…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Spicy 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122 g · Auchan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Bibigo · Stir-Fry Ramen Cheese…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127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Stir-Fry Ramen with cheese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Stir-Fry Ramen with chee…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   ·   30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catalogue 2 of 3 — 89–123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C4820A"/>
                </a:solidFill>
                <a:latin typeface="Segoe UI"/>
              </a:rPr>
              <a:t>SEGMENT 2 · PACK RAMEN · WITH SAUCE   ·   Cook 4–5 min · drain water, mix with sauce   ·   weight 105–145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Stir Fry Shin Ramyun sp…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131 g · Auchan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Stir Fry w…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96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136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Bibim Men Korean-sty…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ChudoMarket · Grono · NO…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Chacharoni black bea…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90–115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Zaraz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Stir fried chicken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86–123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Buldak Jjajang flav…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Volcano Carbonara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105–121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 · Grono · Onde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Cheese spicy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Chapaghetti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89–136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Klass · METRO +3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Paldo · Volcano Chicken w/ chick…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84–123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Grono · Onde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PACK RAMEN · WITH SAUCE   ·   30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catalogue 3 of 3 — 125–198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C4820A"/>
                </a:solidFill>
                <a:latin typeface="Segoe UI"/>
              </a:rPr>
              <a:t>SEGMENT 2 · PACK RAMEN · WITH SAUCE   ·   Cook 4–5 min · drain water, mix with sauce   ·   weight 105–145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Choi's · Carbonara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131 g · Kosmos · Tavria 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Buldak Ramen with hot…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94–184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145 g · Auchan · ChudoMarket · Kos…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Chicken flavor extra ho…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86–151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ChudoMarket · Kos…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Chicken flavor spicy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140 g · Auchan · Kosmos · Grono +4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Spicy cheese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130 g · ChudoMarket · Kosmos · G…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Toomba Spicy&amp;Creamy Sti…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131–154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137 g · Auchan · ChudoMarket · Gro…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Klass · Onde · Vostorg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creamy flav…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157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Klass · Vostorg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Tangle garlic flavo…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105 g · Klass · Onde · Vostorg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137 g · Grono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2 · WHERE IT IS SOLD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with sauce: where it is sold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SEGMENT SKUs IN THE CHAIN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4133087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607161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638794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96194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36566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3062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336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33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819397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76797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0231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0231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0231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40969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7098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409698" cy="173736"/>
          </a:xfrm>
          <a:prstGeom prst="rect">
            <a:avLst/>
          </a:prstGeom>
          <a:solidFill>
            <a:srgbClr val="D8A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467098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Torba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27313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3053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4700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5737859"/>
            <a:ext cx="13656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93966" y="574243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National chains · 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TARGET CHANNEL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Auchan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Zaraz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Silpo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3*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Regional chains · 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REGIONAL ENTRY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Klass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Vostorg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Kosmos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Tavria V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ChudoMarket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36208" y="4206240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27648" y="4265676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Torba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09790" y="4242816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009790" y="42656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303A5D"/>
                </a:solidFill>
                <a:latin typeface="Segoe UI"/>
              </a:rPr>
              <a:t>No segment SKUs · 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 lang="en-US">
                <a:solidFill>
                  <a:srgbClr val="FFFFFF"/>
                </a:solidFill>
                <a:latin typeface="Segoe UI"/>
              </a:rPr>
              <a:t>OPEN SHELF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MegaMarket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EKO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Epicentr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1C2235"/>
                </a:solidFill>
                <a:latin typeface="Segoe UI"/>
              </a:rPr>
              <a:t>Ideal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3 · CUP RAMEN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Cup: just add boiling water, no stove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 IN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18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4 brands in 8 chains.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20 % of the whole category.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MEDIAN SHELF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104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93–111 ₴.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Range: 34–195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PRICIER THAN 120 ₴ 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5D4B96"/>
                </a:solidFill>
                <a:latin typeface="Segoe UI"/>
              </a:rPr>
              <a:t>3 of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SKUs in the segment.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Pricier than 140.55 ₴ (now): 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PACK 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5D4B96"/>
                </a:solidFill>
                <a:latin typeface="Segoe UI"/>
              </a:rPr>
              <a:t>62–120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segment range</a:t>
            </a:r>
          </a:p>
          <a:p>
            <a:pPr algn="l">
              <a:lnSpc>
                <a:spcPct val="130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as of 29 Sep 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WHO HOLDS THE SEGMENT · SKUs PER BRAND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579418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SKUs BY PRICE BAND · ₴ PER PACK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699401"/>
            <a:ext cx="566928" cy="30567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351652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 lang="en-US">
                <a:solidFill>
                  <a:srgbClr val="717890"/>
                </a:solidFill>
                <a:latin typeface="Segoe UI"/>
              </a:rPr>
              <a:t>under 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1403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022592" y="372030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72983" y="3291839"/>
            <a:ext cx="566928" cy="7132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81544" y="3108959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31936" y="3597510"/>
            <a:ext cx="566928" cy="40756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40496" y="3414630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90888" y="3801291"/>
            <a:ext cx="566928" cy="2037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99448" y="361841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058400" y="3803904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0879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817352" y="3720301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 lang="en-US">
                <a:solidFill>
                  <a:srgbClr val="303A5D"/>
                </a:solidFill>
                <a:latin typeface="Segoe UI"/>
              </a:rPr>
              <a:t>SEGMENT EXAMPLES · FROM CHEAPEST TO MOST EXPENSIVE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9" name="Picture 6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Bulgogi Ramen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Shrimp cup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Red Super Spicy…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METRO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METRO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Cup noodles mushr…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Grono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3 · CUP RAMEN   ·   18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Cup: catalogue 1 of 2 — 65–103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5D4B96"/>
                </a:solidFill>
                <a:latin typeface="Segoe UI"/>
              </a:rPr>
              <a:t>SEGMENT 3 · CUP RAMEN   ·   Add boiling water 3–4 min · no stove   ·   weight 62–120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Bulgogi Ramen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Jjajang Ramen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Kimchi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65–86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Auchan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Ottogi · Jin Ramen Spicy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spicy fr…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97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Auchan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Jumbo Noodle Hot &amp; Spic…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120 g · Auchan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34–149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70 g · Kosmos · Grono · Klass +3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Shrimp cup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Auchan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62 g · Auchan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SEGMENT 3 · CUP RAMEN   ·   18 SKUs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Cup: catalogue 2 of 2 — 105–195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 lang="en-US">
                <a:solidFill>
                  <a:srgbClr val="5D4B96"/>
                </a:solidFill>
                <a:latin typeface="Segoe UI"/>
              </a:rPr>
              <a:t>SEGMENT 3 · CUP RAMEN   ·   Add boiling water 3–4 min · no stove   ·   weight 62–120 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Ramyun spicy fr…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METRO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Red Super Spicy…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68 g · METRO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Cup Ramyun Shrimp spicy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METRO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62 g · METRO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Neoguri soup seafo…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62 g · METRO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67 g · METRO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Samyang · Buldak Hot Chicken cheese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137–150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70 g · Kosmos · Klass · Tavria 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Shin Ramyun Cup…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100–158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75 g · Grono · METRO · Onde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 lang="en-US">
                <a:solidFill>
                  <a:srgbClr val="1C2235"/>
                </a:solidFill>
                <a:latin typeface="Segoe UI"/>
              </a:rPr>
              <a:t>Nongshim · Shin Cup noodles mushr…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80 g · Grono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SUMMARY · BRANDS ×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All brands in all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61872"/>
            <a:ext cx="566928" cy="40233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29844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261872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 lang="en-US">
                <a:solidFill>
                  <a:srgbClr val="303A5D"/>
                </a:solidFill>
                <a:latin typeface="Segoe UI"/>
              </a:rPr>
              <a:t>top number — brand SKU count in the chain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46304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bottom number — median pack price in ₴  ·  the darker the cell, the more SKUs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39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739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Auchan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257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2257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Grono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12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7121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Onde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985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1985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METRO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6849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Zaraz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171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Klass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6577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Vostorg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44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1441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Kosmos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6305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Tavria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1169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1169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NOVUS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03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60336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ChudoM.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89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0897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Torba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761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57615" y="192024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 lang="en-US">
                <a:solidFill>
                  <a:srgbClr val="FFFFFF"/>
                </a:solidFill>
                <a:latin typeface="Segoe UI"/>
              </a:rPr>
              <a:t>Silpo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79407" y="1810512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79407" y="192024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46335" y="1810512"/>
            <a:ext cx="612647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46335" y="192024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CHAINS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86415" y="1810512"/>
            <a:ext cx="722375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86415" y="192024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MEDIAN, 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36223" y="1810512"/>
            <a:ext cx="86868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936223" y="192024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PACK WEIGHT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229743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73936" y="2212848"/>
            <a:ext cx="512063" cy="333756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7739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739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22576" y="2212848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32257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257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145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7121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87121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7121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122 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1985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1985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1985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8496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968496" y="23042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17136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171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171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6577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6577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6577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1441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61441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1441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6305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16305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6305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1169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71169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1169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6033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260336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60336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08975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808975" y="23042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5761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357615" y="222656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57615" y="240487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79407" y="221284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979407" y="230428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33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46335" y="221284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546335" y="230428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86415" y="221284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186415" y="230428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111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936223" y="221284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936223" y="230428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62–140 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266776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773936" y="2583179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7739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739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2257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232257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2257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152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7121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87121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7121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19856" y="2583179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419856" y="26746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96849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96849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6849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1713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5171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171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65775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06577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6577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1441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61441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1441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6305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16305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6305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71169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71169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1169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26033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7260336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260336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808975" y="2583179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80897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0897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35761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357615" y="259689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57615" y="2775203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979407" y="2583179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8979407" y="267462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546335" y="2583179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546335" y="267462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186415" y="2583179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0186415" y="267462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936223" y="2583179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0936223" y="267462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70–145 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303809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73936" y="2953512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77393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77393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322576" y="2953512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32257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32257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113 ₴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87121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287121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87121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41985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341985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96849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96849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1713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51713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0657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506577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61441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5614416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16305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616305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711695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6711695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711695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260336" y="296722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60336" y="314553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089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80897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35761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8357615" y="304495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979407" y="295351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8979407" y="304495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546335" y="295351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9546335" y="3044952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186415" y="295351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10186415" y="3044952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94 ₴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936223" y="295351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10936223" y="304495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105–140 g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66928" y="340842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773936" y="3323844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177393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7393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322576" y="332384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232257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32257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101 ₴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87121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87121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41985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341985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96849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396849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96849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67 ₴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5171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451713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0657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506577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1441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5614416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614416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163055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6163055" y="333756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163055" y="351586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71169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671169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2603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7260336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8089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780897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5761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8357615" y="341528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979407" y="332384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979407" y="341528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546335" y="332384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 215"/>
          <p:cNvSpPr txBox="1"/>
          <p:nvPr/>
        </p:nvSpPr>
        <p:spPr>
          <a:xfrm>
            <a:off x="9546335" y="3415284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186415" y="332384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10186415" y="3415284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936223" y="332384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TextBox 219"/>
          <p:cNvSpPr txBox="1"/>
          <p:nvPr/>
        </p:nvSpPr>
        <p:spPr>
          <a:xfrm>
            <a:off x="10936223" y="341528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67–130 g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66928" y="377875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77393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1773936" y="370789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773936" y="3886200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32257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TextBox 225"/>
          <p:cNvSpPr txBox="1"/>
          <p:nvPr/>
        </p:nvSpPr>
        <p:spPr>
          <a:xfrm>
            <a:off x="232257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8712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TextBox 227"/>
          <p:cNvSpPr txBox="1"/>
          <p:nvPr/>
        </p:nvSpPr>
        <p:spPr>
          <a:xfrm>
            <a:off x="287121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41985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341985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96849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 231"/>
          <p:cNvSpPr txBox="1"/>
          <p:nvPr/>
        </p:nvSpPr>
        <p:spPr>
          <a:xfrm>
            <a:off x="3968496" y="370789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968496" y="3886200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80 ₴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5171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451713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0657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506577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6144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561441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16305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616305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71169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671169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2603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7260336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78089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780897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835761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8357615" y="378561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979407" y="3694176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8979407" y="3785616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546335" y="3694176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9546335" y="3785616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0186415" y="3694176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10186415" y="3785616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0936223" y="3694176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10936223" y="3785616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102–144 g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66928" y="414909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773936" y="406450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TextBox 259"/>
          <p:cNvSpPr txBox="1"/>
          <p:nvPr/>
        </p:nvSpPr>
        <p:spPr>
          <a:xfrm>
            <a:off x="1773936" y="407822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773936" y="4256532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32257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232257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8712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287121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41985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341985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396849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396849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5171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451713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0657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506577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56144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561441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16305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616305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71169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671169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2603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7260336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78089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TextBox 282"/>
          <p:cNvSpPr txBox="1"/>
          <p:nvPr/>
        </p:nvSpPr>
        <p:spPr>
          <a:xfrm>
            <a:off x="780897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35761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8357615" y="415594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979407" y="406450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TextBox 286"/>
          <p:cNvSpPr txBox="1"/>
          <p:nvPr/>
        </p:nvSpPr>
        <p:spPr>
          <a:xfrm>
            <a:off x="8979407" y="415594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546335" y="406450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9546335" y="415594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0186415" y="406450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TextBox 290"/>
          <p:cNvSpPr txBox="1"/>
          <p:nvPr/>
        </p:nvSpPr>
        <p:spPr>
          <a:xfrm>
            <a:off x="10186415" y="415594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936223" y="406450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0936223" y="415594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122–127 g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66928" y="4519422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773936" y="4434840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TextBox 295"/>
          <p:cNvSpPr txBox="1"/>
          <p:nvPr/>
        </p:nvSpPr>
        <p:spPr>
          <a:xfrm>
            <a:off x="1773936" y="4448556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773936" y="4626864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32257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232257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8712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287121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341985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341985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96849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396849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5171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451713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0657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506577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6144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TextBox 310"/>
          <p:cNvSpPr txBox="1"/>
          <p:nvPr/>
        </p:nvSpPr>
        <p:spPr>
          <a:xfrm>
            <a:off x="561441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16305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TextBox 312"/>
          <p:cNvSpPr txBox="1"/>
          <p:nvPr/>
        </p:nvSpPr>
        <p:spPr>
          <a:xfrm>
            <a:off x="616305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71169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671169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2603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TextBox 316"/>
          <p:cNvSpPr txBox="1"/>
          <p:nvPr/>
        </p:nvSpPr>
        <p:spPr>
          <a:xfrm>
            <a:off x="7260336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8089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TextBox 318"/>
          <p:cNvSpPr txBox="1"/>
          <p:nvPr/>
        </p:nvSpPr>
        <p:spPr>
          <a:xfrm>
            <a:off x="780897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5761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TextBox 320"/>
          <p:cNvSpPr txBox="1"/>
          <p:nvPr/>
        </p:nvSpPr>
        <p:spPr>
          <a:xfrm>
            <a:off x="8357615" y="452628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979407" y="4434840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TextBox 322"/>
          <p:cNvSpPr txBox="1"/>
          <p:nvPr/>
        </p:nvSpPr>
        <p:spPr>
          <a:xfrm>
            <a:off x="8979407" y="4526280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9546335" y="4434840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9546335" y="4526280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0186415" y="4434840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TextBox 326"/>
          <p:cNvSpPr txBox="1"/>
          <p:nvPr/>
        </p:nvSpPr>
        <p:spPr>
          <a:xfrm>
            <a:off x="10186415" y="4526280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936223" y="4434840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TextBox 328"/>
          <p:cNvSpPr txBox="1"/>
          <p:nvPr/>
        </p:nvSpPr>
        <p:spPr>
          <a:xfrm>
            <a:off x="10936223" y="4526280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120 g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566928" y="488975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fire bull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7739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TextBox 331"/>
          <p:cNvSpPr txBox="1"/>
          <p:nvPr/>
        </p:nvSpPr>
        <p:spPr>
          <a:xfrm>
            <a:off x="17739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232257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TextBox 333"/>
          <p:cNvSpPr txBox="1"/>
          <p:nvPr/>
        </p:nvSpPr>
        <p:spPr>
          <a:xfrm>
            <a:off x="232257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2871216" y="480517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TextBox 335"/>
          <p:cNvSpPr txBox="1"/>
          <p:nvPr/>
        </p:nvSpPr>
        <p:spPr>
          <a:xfrm>
            <a:off x="2871216" y="4818888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871216" y="4997196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341985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TextBox 338"/>
          <p:cNvSpPr txBox="1"/>
          <p:nvPr/>
        </p:nvSpPr>
        <p:spPr>
          <a:xfrm>
            <a:off x="341985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396849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TextBox 340"/>
          <p:cNvSpPr txBox="1"/>
          <p:nvPr/>
        </p:nvSpPr>
        <p:spPr>
          <a:xfrm>
            <a:off x="396849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5171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TextBox 342"/>
          <p:cNvSpPr txBox="1"/>
          <p:nvPr/>
        </p:nvSpPr>
        <p:spPr>
          <a:xfrm>
            <a:off x="45171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50657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506577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561441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TextBox 346"/>
          <p:cNvSpPr txBox="1"/>
          <p:nvPr/>
        </p:nvSpPr>
        <p:spPr>
          <a:xfrm>
            <a:off x="561441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616305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TextBox 348"/>
          <p:cNvSpPr txBox="1"/>
          <p:nvPr/>
        </p:nvSpPr>
        <p:spPr>
          <a:xfrm>
            <a:off x="616305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671169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TextBox 350"/>
          <p:cNvSpPr txBox="1"/>
          <p:nvPr/>
        </p:nvSpPr>
        <p:spPr>
          <a:xfrm>
            <a:off x="671169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72603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TextBox 352"/>
          <p:cNvSpPr txBox="1"/>
          <p:nvPr/>
        </p:nvSpPr>
        <p:spPr>
          <a:xfrm>
            <a:off x="7260336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78089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354"/>
          <p:cNvSpPr txBox="1"/>
          <p:nvPr/>
        </p:nvSpPr>
        <p:spPr>
          <a:xfrm>
            <a:off x="780897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835761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TextBox 356"/>
          <p:cNvSpPr txBox="1"/>
          <p:nvPr/>
        </p:nvSpPr>
        <p:spPr>
          <a:xfrm>
            <a:off x="8357615" y="4896612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8979407" y="480517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TextBox 358"/>
          <p:cNvSpPr txBox="1"/>
          <p:nvPr/>
        </p:nvSpPr>
        <p:spPr>
          <a:xfrm>
            <a:off x="8979407" y="489661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9546335" y="480517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TextBox 360"/>
          <p:cNvSpPr txBox="1"/>
          <p:nvPr/>
        </p:nvSpPr>
        <p:spPr>
          <a:xfrm>
            <a:off x="9546335" y="4896612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0186415" y="480517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TextBox 362"/>
          <p:cNvSpPr txBox="1"/>
          <p:nvPr/>
        </p:nvSpPr>
        <p:spPr>
          <a:xfrm>
            <a:off x="10186415" y="4896612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10936223" y="480517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TextBox 364"/>
          <p:cNvSpPr txBox="1"/>
          <p:nvPr/>
        </p:nvSpPr>
        <p:spPr>
          <a:xfrm>
            <a:off x="10936223" y="4896612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137.8 g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66928" y="526008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Choi’s (SIAS)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17739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TextBox 367"/>
          <p:cNvSpPr txBox="1"/>
          <p:nvPr/>
        </p:nvSpPr>
        <p:spPr>
          <a:xfrm>
            <a:off x="17739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232257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TextBox 369"/>
          <p:cNvSpPr txBox="1"/>
          <p:nvPr/>
        </p:nvSpPr>
        <p:spPr>
          <a:xfrm>
            <a:off x="232257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287121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TextBox 371"/>
          <p:cNvSpPr txBox="1"/>
          <p:nvPr/>
        </p:nvSpPr>
        <p:spPr>
          <a:xfrm>
            <a:off x="287121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341985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TextBox 373"/>
          <p:cNvSpPr txBox="1"/>
          <p:nvPr/>
        </p:nvSpPr>
        <p:spPr>
          <a:xfrm>
            <a:off x="341985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396849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TextBox 375"/>
          <p:cNvSpPr txBox="1"/>
          <p:nvPr/>
        </p:nvSpPr>
        <p:spPr>
          <a:xfrm>
            <a:off x="396849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45171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TextBox 377"/>
          <p:cNvSpPr txBox="1"/>
          <p:nvPr/>
        </p:nvSpPr>
        <p:spPr>
          <a:xfrm>
            <a:off x="45171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50657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TextBox 379"/>
          <p:cNvSpPr txBox="1"/>
          <p:nvPr/>
        </p:nvSpPr>
        <p:spPr>
          <a:xfrm>
            <a:off x="506577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5614416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TextBox 381"/>
          <p:cNvSpPr txBox="1"/>
          <p:nvPr/>
        </p:nvSpPr>
        <p:spPr>
          <a:xfrm>
            <a:off x="5614416" y="51892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5614416" y="536752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6163055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TextBox 384"/>
          <p:cNvSpPr txBox="1"/>
          <p:nvPr/>
        </p:nvSpPr>
        <p:spPr>
          <a:xfrm>
            <a:off x="6163055" y="5189220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6163055" y="5367528"/>
            <a:ext cx="512063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671169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TextBox 387"/>
          <p:cNvSpPr txBox="1"/>
          <p:nvPr/>
        </p:nvSpPr>
        <p:spPr>
          <a:xfrm>
            <a:off x="671169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72603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TextBox 389"/>
          <p:cNvSpPr txBox="1"/>
          <p:nvPr/>
        </p:nvSpPr>
        <p:spPr>
          <a:xfrm>
            <a:off x="7260336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8089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TextBox 391"/>
          <p:cNvSpPr txBox="1"/>
          <p:nvPr/>
        </p:nvSpPr>
        <p:spPr>
          <a:xfrm>
            <a:off x="780897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835761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TextBox 393"/>
          <p:cNvSpPr txBox="1"/>
          <p:nvPr/>
        </p:nvSpPr>
        <p:spPr>
          <a:xfrm>
            <a:off x="8357615" y="5266944"/>
            <a:ext cx="51206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8979407" y="517550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TextBox 395"/>
          <p:cNvSpPr txBox="1"/>
          <p:nvPr/>
        </p:nvSpPr>
        <p:spPr>
          <a:xfrm>
            <a:off x="8979407" y="526694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9546335" y="517550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TextBox 397"/>
          <p:cNvSpPr txBox="1"/>
          <p:nvPr/>
        </p:nvSpPr>
        <p:spPr>
          <a:xfrm>
            <a:off x="9546335" y="5266944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10186415" y="517550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TextBox 399"/>
          <p:cNvSpPr txBox="1"/>
          <p:nvPr/>
        </p:nvSpPr>
        <p:spPr>
          <a:xfrm>
            <a:off x="10186415" y="5266944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10936223" y="517550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TextBox 401"/>
          <p:cNvSpPr txBox="1"/>
          <p:nvPr/>
        </p:nvSpPr>
        <p:spPr>
          <a:xfrm>
            <a:off x="10936223" y="5266944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131 g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1755648" y="5564124"/>
            <a:ext cx="10076688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TextBox 403"/>
          <p:cNvSpPr txBox="1"/>
          <p:nvPr/>
        </p:nvSpPr>
        <p:spPr>
          <a:xfrm>
            <a:off x="566928" y="565556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 lang="en-US">
                <a:solidFill>
                  <a:srgbClr val="C4820A"/>
                </a:solidFill>
                <a:latin typeface="Segoe UI"/>
              </a:rPr>
              <a:t>TOTAL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7556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60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7556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89 ₴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23042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23042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126 ₴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285292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285292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340156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340156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108 ₴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395020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14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395020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88 ₴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44988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44988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0474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50474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559612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559612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14476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614476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6693407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6693407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134 ₴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24204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724204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120 ₴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7790688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7790688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102 ₴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8339327" y="561898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8339327" y="580186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8979407" y="5710428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93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546335" y="5710428"/>
            <a:ext cx="612647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186415" y="5710428"/>
            <a:ext cx="72237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103 ₴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10936223" y="5710428"/>
            <a:ext cx="8686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 lang="en-US">
                <a:solidFill>
                  <a:srgbClr val="C4820A"/>
                </a:solidFill>
                <a:latin typeface="Segoe UI"/>
              </a:rPr>
              <a:t>62–145 g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 catalogues (zakaz.ua) and Silpo, 29 Sep 2026. Cell = unique EANs × median price across the chain's stores. Silpo: 4 SKUs without EAN (3 Samyang, 1 Nongshim); 93 = 89 SKUs with EAN + 4 Silpo. Weight = min–max pack of the brand.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FORMAT × WEIGHT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Where the shelf is really dense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SKU count and median pack price by weight band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591056"/>
            <a:ext cx="4343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Pack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31036" y="160934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32204" y="1591056"/>
            <a:ext cx="5029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Cup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874519"/>
            <a:ext cx="6217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SKUs IN WEIGHT 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874519"/>
            <a:ext cx="3108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MEDIAN PACK PRICE, 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10127"/>
            <a:ext cx="11064240" cy="113385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236829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40–90 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2304288"/>
            <a:ext cx="1759016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74519" y="2377440"/>
            <a:ext cx="175901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4976" y="237744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17  ·  19 %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304288"/>
            <a:ext cx="195224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35240" y="2377440"/>
            <a:ext cx="184251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105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352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90–110 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2871216"/>
            <a:ext cx="82777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74519" y="2944368"/>
            <a:ext cx="8277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3732" y="29443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  ·  9 %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2871216"/>
            <a:ext cx="1877872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35240" y="2944368"/>
            <a:ext cx="17681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101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502151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110–125 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3438144"/>
            <a:ext cx="3621505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874519" y="3511296"/>
            <a:ext cx="362150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96025" y="3438144"/>
            <a:ext cx="103471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90936" y="351129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36  ·  40 %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3438144"/>
            <a:ext cx="172913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35240" y="3511296"/>
            <a:ext cx="161940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93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06908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125–145 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05072"/>
            <a:ext cx="279373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874519" y="4078224"/>
            <a:ext cx="27937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9692" y="4078224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27  ·  30 %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4005072"/>
            <a:ext cx="208239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35240" y="4078224"/>
            <a:ext cx="1972665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112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3600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 lang="en-US">
                <a:solidFill>
                  <a:srgbClr val="303A5D"/>
                </a:solidFill>
                <a:latin typeface="Segoe UI"/>
              </a:rPr>
              <a:t>145 g 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572000"/>
            <a:ext cx="103471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69431" y="464515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  ·  1 %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4572000"/>
            <a:ext cx="2510028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35240" y="4645152"/>
            <a:ext cx="24003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135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60889" y="2176272"/>
            <a:ext cx="12801" cy="28712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454896" y="5065776"/>
            <a:ext cx="822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 lang="en-US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3739896"/>
            <a:ext cx="1051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spc="-10" lang="en-US">
                <a:solidFill>
                  <a:srgbClr val="C4820A"/>
                </a:solidFill>
                <a:latin typeface="Segoe UI"/>
              </a:rPr>
              <a:t>our SKUs:</a:t>
            </a:r>
          </a:p>
          <a:p>
            <a:pPr algn="ctr">
              <a:lnSpc>
                <a:spcPct val="110000"/>
              </a:lnSpc>
            </a:pPr>
            <a:r>
              <a:rPr sz="850" b="1" spc="-10" lang="en-US">
                <a:solidFill>
                  <a:srgbClr val="C4820A"/>
                </a:solidFill>
                <a:latin typeface="Segoe UI"/>
              </a:rPr>
              <a:t>112.5–131 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66928" y="5614416"/>
            <a:ext cx="41148" cy="7863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1247" y="5779007"/>
            <a:ext cx="4864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OUR SKU WEIGHT IS IN LINE WITH THE MARKET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" y="6053327"/>
            <a:ext cx="486460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112.5–131 g falls into the two densest bands: 70 % of all SKUs on the market.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217920" y="5614416"/>
            <a:ext cx="41148" cy="7863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92240" y="5779007"/>
            <a:ext cx="48646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303A5D"/>
                </a:solidFill>
                <a:latin typeface="Segoe UI"/>
              </a:rPr>
              <a:t>OUR SKU PRICE VS THESE BANDS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6053327"/>
            <a:ext cx="4864608" cy="1828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 lang="en-US">
                <a:solidFill>
                  <a:srgbClr val="717890"/>
                </a:solidFill>
                <a:latin typeface="Segoe UI"/>
              </a:rPr>
              <a:t>At a 120 ₴ shelf price our SKUs are 29 % above the median of the 110–125 g band (93 ₴); at the current 140.55 ₴ they are 51 % above.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RETAIL AUDIT ·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What Korean ramen is on shelf in the chains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Full check of the online catalogues of 18 chains, snapshot of 29 Sep 2026. SKU = unique Korean ramen listings in the chain catalogue.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5569" y="151790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86737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1" y="151790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360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7872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49039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1532" y="1517904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92700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5193" y="1517904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36361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8854" y="1517904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0022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7534" y="1517904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8702" y="1499616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1499616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PACK PRICE, ₴: min–max (line) · median (marker)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18470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188823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1892807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65960" y="1903780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1883664"/>
            <a:ext cx="84582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88920" y="1894636"/>
            <a:ext cx="8458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3884" y="1883664"/>
            <a:ext cx="64465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43884" y="1894636"/>
            <a:ext cx="64465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883664"/>
            <a:ext cx="59436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97680" y="1894636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01184" y="1883664"/>
            <a:ext cx="443484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01184" y="1894636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53812" y="188366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53812" y="1894636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4980" y="1883664"/>
            <a:ext cx="192024" cy="16642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54980" y="1894636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56148" y="1883664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52159" y="188823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5780" y="1953158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520684" y="18882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497312" y="188823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65–202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27080" y="188823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2136952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65960" y="2141524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65960" y="2152497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2132380"/>
            <a:ext cx="54406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88920" y="2143353"/>
            <a:ext cx="54406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42132" y="2132380"/>
            <a:ext cx="493776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42132" y="2143353"/>
            <a:ext cx="49377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5052" y="2132380"/>
            <a:ext cx="9144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945636" y="2132380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041648" y="213695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79307" y="2201875"/>
            <a:ext cx="1525524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939784" y="2136952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759696" y="213695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67–158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27080" y="2136952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2344521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0080" y="2385669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965960" y="239024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965960" y="2401214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88920" y="2381097"/>
            <a:ext cx="44348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88920" y="2392070"/>
            <a:ext cx="44348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41548" y="2381097"/>
            <a:ext cx="393192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241548" y="2392070"/>
            <a:ext cx="39319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43884" y="2381097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43884" y="2392070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5635" y="2381097"/>
            <a:ext cx="41148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041647" y="238566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63127" y="2450592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140952" y="2385669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614660" y="2385669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72–209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27080" y="2385669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263438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965960" y="263895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965960" y="2649931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88920" y="2629814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2788920" y="2640787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40963" y="262981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140963" y="2640787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42132" y="262981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538727" y="263438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79307" y="2699308"/>
            <a:ext cx="955547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503919" y="263438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189719" y="263438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67–124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263438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88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" y="2841955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40080" y="288310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965960" y="288767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965960" y="289864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88920" y="2878531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788920" y="2889504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40963" y="2878531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140963" y="2889504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88435" y="288310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17508" y="2948025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9325356" y="288310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742932" y="2883103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27080" y="2883103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" y="31318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965960" y="313639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965960" y="3147364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88920" y="3127248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788920" y="3138220"/>
            <a:ext cx="3429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140963" y="3127248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140963" y="3138220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88435" y="31318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17508" y="3196742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9325356" y="31318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9742932" y="313182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27080" y="313182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33393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40080" y="338053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965960" y="338510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965960" y="3396081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88920" y="3375964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788920" y="3386937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90672" y="337596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3241548" y="3375964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3342132" y="3375964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438144" y="3380536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726679" y="3445459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9073896" y="33805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9625583" y="338053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40–150 ₴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927080" y="3380536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0080" y="3629253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965960" y="363382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965960" y="364479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88920" y="3624681"/>
            <a:ext cx="59436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788920" y="3635654"/>
            <a:ext cx="5943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38144" y="362925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98991" y="3694176"/>
            <a:ext cx="112318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8839200" y="362925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9877044" y="3629253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98–165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927080" y="3629253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3836822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640080" y="387797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965960" y="388254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965960" y="3893515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788920" y="3873398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2788920" y="3884371"/>
            <a:ext cx="29260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090672" y="3873398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3241548" y="3873398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3342132" y="3873398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438144" y="387797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726679" y="3942892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9073896" y="387797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625583" y="387797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34–150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27080" y="387797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40080" y="412668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965960" y="413125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965960" y="414223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88920" y="4122115"/>
            <a:ext cx="19202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2788920" y="4133087"/>
            <a:ext cx="19202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990088" y="4122115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3140964" y="4122115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3236976" y="412668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051036" y="4191609"/>
            <a:ext cx="10896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9275064" y="412668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195560" y="4126687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119–184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927080" y="4126687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134 ₴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66928" y="433425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640080" y="437540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965960" y="4379976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1965960" y="4390948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88920" y="4370832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2939796" y="4370832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3040379" y="4370832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3136391" y="437540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732519" y="4440326"/>
            <a:ext cx="5699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9040368" y="4375404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9357360" y="4375404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100–134 ₴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927080" y="4375404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40080" y="4624120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965960" y="462869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1965960" y="4639665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NAT.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88920" y="4619548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2939796" y="4619548"/>
            <a:ext cx="4114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3035808" y="4624120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564879" y="4689043"/>
            <a:ext cx="18272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8939784" y="46241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10447019" y="462412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90–199 ₴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927080" y="4624120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66928" y="4831689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640080" y="4872837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Torba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965960" y="487740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1965960" y="4888382"/>
            <a:ext cx="71323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 lang="en-US">
                <a:solidFill>
                  <a:srgbClr val="FFFFFF"/>
                </a:solidFill>
                <a:latin typeface="Segoe UI"/>
              </a:rPr>
              <a:t>REG.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788920" y="4868265"/>
            <a:ext cx="9144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2935223" y="487283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615171" y="4937760"/>
            <a:ext cx="301752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8738616" y="487283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8971788" y="4872837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93–111 ₴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927080" y="4872837"/>
            <a:ext cx="70408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6928" y="508040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640080" y="5121554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717890"/>
                </a:solidFill>
                <a:latin typeface="Segoe UI"/>
              </a:rPr>
              <a:t>MegaMarket · Ultramarket · EKO · Epicentr · Ideal — 0 SKUs in the snapshot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060484" y="1819656"/>
            <a:ext cx="14630" cy="327903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8610600" y="1719072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561320" y="171907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 lang="en-US">
                <a:solidFill>
                  <a:srgbClr val="717890"/>
                </a:solidFill>
                <a:latin typeface="Segoe UI"/>
              </a:rPr>
              <a:t>MEDIAN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6692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56692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841247" y="6126479"/>
            <a:ext cx="29992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GAP #1 · SILPO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41247" y="6400800"/>
            <a:ext cx="299923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The largest chain in the country carries 4 SKUs. The shelf is open, but entry prices there are 90–199 ₴.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31596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431596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4590288" y="6126479"/>
            <a:ext cx="29992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GAP #2 · FIVE CHAINS WITH ZERO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590288" y="6400800"/>
            <a:ext cx="2999232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MegaMarket, Ultramarket, EKO, Epicentr, Ideal — no SKUs in the snapshot.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8065008" y="5961888"/>
            <a:ext cx="3566160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Rectangle 212"/>
          <p:cNvSpPr/>
          <p:nvPr/>
        </p:nvSpPr>
        <p:spPr>
          <a:xfrm>
            <a:off x="8065008" y="5961888"/>
            <a:ext cx="41148" cy="8046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TextBox 213"/>
          <p:cNvSpPr txBox="1"/>
          <p:nvPr/>
        </p:nvSpPr>
        <p:spPr>
          <a:xfrm>
            <a:off x="8339328" y="6126479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ONE SUPPLIER FOR TWO CHAINS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339328" y="6400800"/>
            <a:ext cx="3017520" cy="2011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Kosmos and Tavria V — 12 SKUs each; all 12 match by EAN.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CHANNELS · PRICES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Pack price by channel vs our current shelf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Min–max (line), 25–75 % of offers (box), median (tick) · pack price, ₴ · bands = our current shelf price under the two purchase-price options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3419856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4553712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85674" y="2240280"/>
            <a:ext cx="735980" cy="3447287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850099" y="2240280"/>
            <a:ext cx="945892" cy="3447287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632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39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6964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46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5036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54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3108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861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1180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68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9252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475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7324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2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5396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90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34679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15400" y="57332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182880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 lang="en-US">
                <a:solidFill>
                  <a:srgbClr val="717890"/>
                </a:solidFill>
                <a:latin typeface="Segoe UI"/>
              </a:rPr>
              <a:t>OFFERS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1828800"/>
            <a:ext cx="9784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 lang="en-US">
                <a:solidFill>
                  <a:srgbClr val="717890"/>
                </a:solidFill>
                <a:latin typeface="Segoe UI"/>
              </a:rPr>
              <a:t>UP TO 120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36829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National chains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256946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5 chains · Auchan, METRO, NOVUS…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14140" y="2546604"/>
            <a:ext cx="4645914" cy="45720"/>
          </a:xfrm>
          <a:prstGeom prst="rect">
            <a:avLst/>
          </a:prstGeom>
          <a:solidFill>
            <a:srgbClr val="828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549762" y="2459736"/>
            <a:ext cx="965771" cy="219456"/>
          </a:xfrm>
          <a:prstGeom prst="rect">
            <a:avLst/>
          </a:prstGeom>
          <a:solidFill>
            <a:srgbClr val="4F5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23739" y="2414016"/>
            <a:ext cx="36576" cy="31089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6267" y="2295144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33206" y="2487168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246888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468880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85 %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2935224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Regional chains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" y="313639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8 chains · Grono, Onde, Kosmos…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3113532"/>
            <a:ext cx="5752084" cy="45720"/>
          </a:xfrm>
          <a:prstGeom prst="rect">
            <a:avLst/>
          </a:prstGeom>
          <a:solidFill>
            <a:srgbClr val="8B9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70436" y="3026664"/>
            <a:ext cx="1084046" cy="219456"/>
          </a:xfrm>
          <a:prstGeom prst="rect">
            <a:avLst/>
          </a:prstGeom>
          <a:solidFill>
            <a:srgbClr val="5A7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938012" y="2980944"/>
            <a:ext cx="36576" cy="31089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590540" y="28620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8476" y="3054096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6920" y="3035808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52760" y="3035808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41 %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" y="3502152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Sushi Povar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3703320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food shop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31312" y="3680459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731004" y="3593591"/>
            <a:ext cx="918971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053076" y="3547872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05604" y="3429000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99 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5956" y="3621024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46920" y="360273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3602736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" y="4069079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" y="4270247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food shop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41852" y="4247387"/>
            <a:ext cx="4016248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241544" y="4160519"/>
            <a:ext cx="850899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665724" y="4114799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318252" y="3995927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31252" y="4187951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46920" y="4169663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52760" y="4169663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" y="463600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Taiyaki Mart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656" y="483717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food shop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77996" y="4814316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050283" y="4727448"/>
            <a:ext cx="2025142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813780" y="4681728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466308" y="4562856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52640" y="475488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46920" y="473659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52760" y="4736592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" y="5202936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" y="5404103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marketplace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24680" y="5381243"/>
            <a:ext cx="4050283" cy="45720"/>
          </a:xfrm>
          <a:prstGeom prst="rect">
            <a:avLst/>
          </a:prstGeom>
          <a:solidFill>
            <a:srgbClr val="DBB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113909" y="5294375"/>
            <a:ext cx="1608201" cy="219456"/>
          </a:xfrm>
          <a:prstGeom prst="rect">
            <a:avLst/>
          </a:prstGeom>
          <a:solidFill>
            <a:srgbClr val="CC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631688" y="5248655"/>
            <a:ext cx="36576" cy="3108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284215" y="5129783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48116" y="5321807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199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46920" y="530352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52760" y="5303520"/>
            <a:ext cx="97840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78804" y="2240280"/>
            <a:ext cx="16459" cy="34747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871720" y="203911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target 120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03962" y="2039112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now · 33 pallets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03962" y="2176272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C4820A"/>
                </a:solidFill>
                <a:latin typeface="Segoe UI"/>
              </a:rPr>
              <a:t>141–162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68387" y="2039112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now · 6 pallets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68387" y="2176272"/>
            <a:ext cx="20116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B53A3A"/>
                </a:solidFill>
                <a:latin typeface="Segoe UI"/>
              </a:rPr>
              <a:t>181–208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Chains: catalogues of 29 Sep 2026, median SKU price within the chain. Food shops and Prom.ua: category pages, October 2026, bundles above 250 ₴ excluded. Bands: Vegetable/Spicy/Beef/Chicken (lower bound) and Gouda/Carbonara (upper bound) per the financial model, chain bonus 35 %, margin 20 %.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CHANNELS · PRICE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Share of offers by pack price in each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Chains: 89 Korean ramen SKUs (packs and cups); food shops and Prom.ua: ramen from category pages, no bundles. Numbers inside the bars = % of offers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&lt; 100 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28216" y="1517904"/>
            <a:ext cx="146304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9384" y="149961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100–120 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0924" y="1517904"/>
            <a:ext cx="146304" cy="128016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22092" y="149961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120–140 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13631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799" y="1499616"/>
            <a:ext cx="845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over 140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517904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UP TO 120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517904"/>
            <a:ext cx="457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SKUs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51790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717890"/>
                </a:solidFill>
                <a:latin typeface="Segoe UI"/>
              </a:rPr>
              <a:t>WHICH BRANDS (SKUs)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8470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Torba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1837943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23160" y="186080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837943"/>
            <a:ext cx="22860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1860804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84708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856231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856231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10586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Auchan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2096719"/>
            <a:ext cx="32766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423160" y="2119579"/>
            <a:ext cx="3276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72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99760" y="2096719"/>
            <a:ext cx="10668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99760" y="2119579"/>
            <a:ext cx="1066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096719"/>
            <a:ext cx="762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42760" y="2096719"/>
            <a:ext cx="1524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95160" y="210586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11500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11500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17 · Samyang 13 · Paldo 12 · Ottogi 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36463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2355494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23160" y="2378354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2355494"/>
            <a:ext cx="3047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66160" y="2378354"/>
            <a:ext cx="3047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14159" y="2355494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14159" y="2378354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236463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92 %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37378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37378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262341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Sushi Povar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3160" y="2614269"/>
            <a:ext cx="2671948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423160" y="2637129"/>
            <a:ext cx="267194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95108" y="2614269"/>
            <a:ext cx="1425038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95108" y="2637129"/>
            <a:ext cx="142503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20147" y="2614269"/>
            <a:ext cx="47501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20147" y="2637129"/>
            <a:ext cx="4750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262341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63255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263255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 lang="en-US">
                <a:solidFill>
                  <a:srgbClr val="303A5D"/>
                </a:solidFill>
                <a:latin typeface="Segoe UI"/>
              </a:rPr>
              <a:t>Samyang 28 · others 16 · Paldo 15 · Nongshim 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28821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Zaraz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3160" y="2873044"/>
            <a:ext cx="2612571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423160" y="2895904"/>
            <a:ext cx="261257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35731" y="2873044"/>
            <a:ext cx="1306285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035731" y="2895904"/>
            <a:ext cx="130628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42017" y="2873044"/>
            <a:ext cx="65314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342017" y="2895904"/>
            <a:ext cx="653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5160" y="288218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86 %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2891332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2891332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O'Food 4 · Ottogi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3140963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23160" y="3131819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423160" y="3154679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60" y="3131819"/>
            <a:ext cx="1714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566160" y="3154679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80660" y="3131819"/>
            <a:ext cx="190499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471160" y="3131819"/>
            <a:ext cx="1523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471160" y="3154679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95160" y="3140963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3150107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0" y="3150107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8 · Nongshim 6 · Paldo 4 · Ottogi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3399739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23160" y="3390595"/>
            <a:ext cx="993913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423160" y="3413455"/>
            <a:ext cx="99391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17073" y="3390595"/>
            <a:ext cx="1789043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417073" y="3413455"/>
            <a:ext cx="178904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06116" y="3390595"/>
            <a:ext cx="1391478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206116" y="3413455"/>
            <a:ext cx="139147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97594" y="3390595"/>
            <a:ext cx="397565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597594" y="3413455"/>
            <a:ext cx="3975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5160" y="3399739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0" y="340888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0" y="340888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 lang="en-US">
                <a:solidFill>
                  <a:srgbClr val="303A5D"/>
                </a:solidFill>
                <a:latin typeface="Segoe UI"/>
              </a:rPr>
              <a:t>others 18 · Paldo 3 · Nongshim 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365851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23160" y="3649370"/>
            <a:ext cx="1333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4231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756660" y="3649370"/>
            <a:ext cx="1333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7566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90160" y="3649370"/>
            <a:ext cx="1333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090160" y="3672230"/>
            <a:ext cx="1333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23660" y="3649370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423660" y="3672230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95160" y="365851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58 %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366765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0" y="366765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11 · Samyang 10 · Paldo 2 · fire bull 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3917289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Tavria V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23160" y="3908145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423160" y="3931005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47160" y="3908145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947160" y="3931005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09159" y="3908145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709159" y="3931005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14159" y="3908145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614159" y="3931005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3917289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12480" y="392643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52560" y="392643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417606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Kosmos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23160" y="4166920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423160" y="4189780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947160" y="4166920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947160" y="4189780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09159" y="4166920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709159" y="4189780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14159" y="4166920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6614159" y="4189780"/>
            <a:ext cx="380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995160" y="4176064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12480" y="418520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52560" y="4185208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6928" y="443484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ChudoMarket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423160" y="4425696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423160" y="4448555"/>
            <a:ext cx="1523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947160" y="4425696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947160" y="4448555"/>
            <a:ext cx="76199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709159" y="4425696"/>
            <a:ext cx="2286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709159" y="4448555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95160" y="44348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12480" y="4443983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52560" y="4443983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2 · Paldo 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6928" y="4693615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Silpo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423160" y="4684471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2423160" y="4707331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468447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4709160" y="470733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852160" y="4684471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5852160" y="470733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95160" y="4693615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412480" y="470275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52560" y="470275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66928" y="495239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Taiyaki Mart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23160" y="4943246"/>
            <a:ext cx="1714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2423160" y="4966106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137660" y="4943246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137660" y="4966106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09160" y="4943246"/>
            <a:ext cx="1714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709160" y="4966106"/>
            <a:ext cx="1714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423660" y="4943246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423660" y="4966106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995160" y="495239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12480" y="496153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052560" y="496153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 lang="en-US">
                <a:solidFill>
                  <a:srgbClr val="303A5D"/>
                </a:solidFill>
                <a:latin typeface="Segoe UI"/>
              </a:rPr>
              <a:t>others 10 · Samyang 7 · Ottogi 4 · Nongshim 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66928" y="5211165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423160" y="5202021"/>
            <a:ext cx="571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2423160" y="5224881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994660" y="5202021"/>
            <a:ext cx="952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2994660" y="5224881"/>
            <a:ext cx="952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947160" y="520202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3947160" y="5224881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090160" y="5202021"/>
            <a:ext cx="1905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5090160" y="5224881"/>
            <a:ext cx="1905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95160" y="5211165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33 %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12480" y="522030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052560" y="522030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9 · Paldo 8 · Samyang 6 · Ottogi 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66928" y="546994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Vostorg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423160" y="5460796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2423160" y="5483656"/>
            <a:ext cx="7033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126544" y="5460796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3126544" y="5483656"/>
            <a:ext cx="175846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885006" y="5460796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4885006" y="5483656"/>
            <a:ext cx="21101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995160" y="54699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12480" y="5479084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052560" y="5479084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6928" y="5728716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Klass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423160" y="5719572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2423160" y="5742431"/>
            <a:ext cx="70338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126544" y="5719572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3126544" y="5742431"/>
            <a:ext cx="1758461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885006" y="5719572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4885006" y="5742431"/>
            <a:ext cx="2110153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95160" y="572871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412480" y="5737859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052560" y="5737859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66928" y="5987491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423160" y="5978347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2423160" y="6001207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994660" y="5978347"/>
            <a:ext cx="2857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2994660" y="6001207"/>
            <a:ext cx="2857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852160" y="5978347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5852160" y="6001207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95160" y="5987491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12 %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412480" y="5996635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052560" y="5996635"/>
            <a:ext cx="2606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4 · Samyang 3 · Paldo 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Chains: unique SKUs (EAN) at the chain median price, 29 Sep 2026; Silpo: 4 SKUs. Food shops and Prom.ua: category pages, October 2026 (brand identified from the product name; "others" = non-Korean or unbranded).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CASE STUDY · RETAIL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Choi’s at Tavria V: what it sold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The same SIAS brand is already on a Ukrainian shelf. Three dates and three price levels, to compare with our target and the current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303A5D"/>
                </a:solidFill>
                <a:latin typeface="Segoe UI"/>
              </a:rPr>
              <a:t>CHOI’S CARBONARA 131 G · PRICE PER PACK, 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61488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6135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10375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5022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9262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3909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08149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2797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7037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1684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5924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0253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EU · dotasia.eu · promo €1.80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1997964"/>
            <a:ext cx="103423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34636" y="20208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92.2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3911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EU · dotasia.eu · regular €2.20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2363724"/>
            <a:ext cx="126406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4466" y="23865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112.6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569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 · 29 Sep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72948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05417" y="27523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125.20 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12267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Kosmos · 29 Sep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248" y="309524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5417" y="311810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125.20 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48843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Tavria V · 5–6 Oct (per V3)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3461003"/>
            <a:ext cx="1475716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76116" y="348386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303A5D"/>
                </a:solidFill>
                <a:latin typeface="Segoe UI"/>
              </a:rPr>
              <a:t>131.50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541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C4820A"/>
                </a:solidFill>
                <a:latin typeface="Segoe UI"/>
              </a:rPr>
              <a:t>SIAS · model target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3826763"/>
            <a:ext cx="1346661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47061" y="38496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C4820A"/>
                </a:solidFill>
                <a:latin typeface="Segoe UI"/>
              </a:rPr>
              <a:t>120.00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2199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SIAS · now, 33 pallets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7248" y="4192524"/>
            <a:ext cx="1819979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0379" y="42153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162.18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5857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SIAS · now, 6 pallets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4558284"/>
            <a:ext cx="2339061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39461" y="45811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 lang="en-US">
                <a:solidFill>
                  <a:srgbClr val="717890"/>
                </a:solidFill>
                <a:latin typeface="Segoe UI"/>
              </a:rPr>
              <a:t>208.43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1645920"/>
            <a:ext cx="4754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303A5D"/>
                </a:solidFill>
                <a:latin typeface="Segoe UI"/>
              </a:rPr>
              <a:t>COMPARISON · "NOW" = 33 PALLETS, CHAIN BONUS 35 %, MARGIN 20 %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1920240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5820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CHOI’S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TARGET 120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1920240"/>
            <a:ext cx="10698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 lang="en-US">
                <a:solidFill>
                  <a:srgbClr val="717890"/>
                </a:solidFill>
                <a:latin typeface="Segoe UI"/>
              </a:rPr>
              <a:t>NOW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2103120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Price, 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125.20 / 131.50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120.00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103120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162.18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30568" y="2468880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03720" y="2505456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vs Choi’s 125.20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820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−4.2 %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2505456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+29.5 %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2907792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vs pack median 102.8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+21.8 %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+16.7 %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290779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+57.8 %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30568" y="3273552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03720" y="3310128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 lang="en-US">
                <a:solidFill>
                  <a:srgbClr val="303A5D"/>
                </a:solidFill>
                <a:latin typeface="Segoe UI"/>
              </a:rPr>
              <a:t>Pricier SKUs in category*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13 of 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18 of 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3310128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 lang="en-US">
                <a:solidFill>
                  <a:srgbClr val="717890"/>
                </a:solidFill>
                <a:latin typeface="Segoe UI"/>
              </a:rPr>
              <a:t>3 of 71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COMPETITORS · POPULAR PACKS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Popular packs: every SKU and its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16736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1316736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109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5204" y="1316736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6372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85032" y="1316736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4" y="1316736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73752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1316736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61304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7688" y="1316736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48856" y="1298448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57516" y="1316736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58684" y="1298448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SIAS: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7596" y="1298448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 lang="en-US">
                <a:solidFill>
                  <a:srgbClr val="C4820A"/>
                </a:solidFill>
                <a:latin typeface="Segoe UI"/>
              </a:rPr>
              <a:t>band: target 120 → now 33 pallets → 6 pallets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45920"/>
            <a:ext cx="5440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120 G PACK · 22 SKUs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1828800"/>
            <a:ext cx="5440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717890"/>
                </a:solidFill>
                <a:latin typeface="Segoe UI"/>
              </a:rPr>
              <a:t>68–128 ₴ · up to 120 ₴ inclusive: 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72968" y="2048256"/>
            <a:ext cx="5486" cy="414223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62402" y="2020824"/>
            <a:ext cx="13716" cy="4178807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208026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Yeul Ramen extra spicy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72968" y="2093976"/>
            <a:ext cx="735386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63218" y="207568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68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24028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Teumsae Ramen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2253996"/>
            <a:ext cx="777501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05333" y="223570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72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40030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72968" y="2414015"/>
            <a:ext cx="79369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021531" y="23957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56032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Kimchi Ramen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72968" y="2574035"/>
            <a:ext cx="830414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058246" y="25557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7203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Jin spicy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2968" y="2734055"/>
            <a:ext cx="903845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131677" y="27157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84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28803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Kimchi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72968" y="2894075"/>
            <a:ext cx="91680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44635" y="28757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85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0403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Stir-Fry with cheese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72968" y="3054095"/>
            <a:ext cx="961077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88909" y="30358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003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Hwa Ramyun hot pepper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72968" y="3214115"/>
            <a:ext cx="971336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99168" y="31958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3604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Kokomen chicken flavor sp…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72968" y="3374135"/>
            <a:ext cx="993473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21305" y="33558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92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35204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Jin spicy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72968" y="353415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228864" y="35158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36804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medium spicy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72968" y="369417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28864" y="36758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38404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seafood flavor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72968" y="3854195"/>
            <a:ext cx="1003192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31024" y="38359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40004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Otoki · Cheesy Ramen cheese flav…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2968" y="4014215"/>
            <a:ext cx="1024789" cy="96011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252621" y="39959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41605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seafood spicy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72968" y="4174235"/>
            <a:ext cx="1118197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346029" y="41559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3205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seafood flavor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72968" y="4334255"/>
            <a:ext cx="1166251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394083" y="43159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055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Shin Ramyun spicy flav…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72968" y="4494275"/>
            <a:ext cx="119324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421080" y="447598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46405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Ramen cheese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72968" y="4654295"/>
            <a:ext cx="1206746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4434578" y="46360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80059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seafood medium sp…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72968" y="4814315"/>
            <a:ext cx="1226724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454556" y="479602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496061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72968" y="4974335"/>
            <a:ext cx="126343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491271" y="495604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512063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72968" y="5134355"/>
            <a:ext cx="127423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502070" y="511606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5262371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03504" y="5276087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 lang="en-US">
                <a:solidFill>
                  <a:srgbClr val="C4820A"/>
                </a:solidFill>
                <a:latin typeface="Segoe UI"/>
              </a:rPr>
              <a:t>SIAS · Vegetable/Spicy/Beef/Chicken 113 g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72968" y="5294375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468803" y="5294375"/>
            <a:ext cx="221948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4690751" y="5294375"/>
            <a:ext cx="432892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03504" y="5426963"/>
            <a:ext cx="5349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target 120 ₴  ·  now: 33 pallets 141 ₴  ·  6 pallets 181 ₴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" y="5554979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03504" y="556869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 lang="en-US">
                <a:solidFill>
                  <a:srgbClr val="C4820A"/>
                </a:solidFill>
                <a:latin typeface="Segoe UI"/>
              </a:rPr>
              <a:t>SIAS · Gouda Cheese 123 g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72968" y="5586983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468803" y="5586983"/>
            <a:ext cx="455453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924256" y="5586983"/>
            <a:ext cx="49949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03504" y="5719571"/>
            <a:ext cx="53492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target 120 ₴  ·  now: 33 pallets 162 ₴  ·  6 pallets 208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586587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spicy seasoning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72968" y="5879591"/>
            <a:ext cx="134982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577660" y="586130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" y="602589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Shin Ramyun mushroom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72968" y="6039611"/>
            <a:ext cx="138654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614375" y="602132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128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92285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40203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88121" y="6208775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36208" y="1645920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130 G PACK · 9 SKUs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36208" y="1828800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717890"/>
                </a:solidFill>
                <a:latin typeface="Segoe UI"/>
              </a:rPr>
              <a:t>89–205 ₴ · up to 120 ₴ inclusive: 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42248" y="2048256"/>
            <a:ext cx="5486" cy="186994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105556" y="2020824"/>
            <a:ext cx="13716" cy="190652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236208" y="208026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Stir-Fry cheese spicy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42248" y="2093976"/>
            <a:ext cx="941701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38813" y="207568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224942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Bibim Men Korean-sty…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842248" y="2263140"/>
            <a:ext cx="1057033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954145" y="224485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36208" y="241858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Stir fried chicken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842248" y="2432304"/>
            <a:ext cx="1103060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000172" y="241401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36208" y="2587752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Ottogi · Jin Jjambbong Ramen seaf…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842248" y="2601468"/>
            <a:ext cx="1190352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0087464" y="258318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36208" y="2756916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Volcano Carbonara chicken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42248" y="2770632"/>
            <a:ext cx="1201991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099103" y="2752344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36208" y="292608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Ramen cheese spicy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842248" y="2939796"/>
            <a:ext cx="1217863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114975" y="292150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115 ₴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236208" y="3076956"/>
            <a:ext cx="5394960" cy="31089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6272784" y="3090672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 lang="en-US">
                <a:solidFill>
                  <a:srgbClr val="C4820A"/>
                </a:solidFill>
                <a:latin typeface="Segoe UI"/>
              </a:rPr>
              <a:t>SIAS · Carbonara Spicy 131 g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842248" y="3108960"/>
            <a:ext cx="1269709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0111957" y="3108960"/>
            <a:ext cx="446271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0558228" y="3108960"/>
            <a:ext cx="48942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6272784" y="3241548"/>
            <a:ext cx="5303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 lang="en-US">
                <a:solidFill>
                  <a:srgbClr val="717890"/>
                </a:solidFill>
                <a:latin typeface="Segoe UI"/>
              </a:rPr>
              <a:t>target 120 ₴  ·  now: 33 pallets 162 ₴  ·  6 pallets 208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36208" y="3406140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spicy cheese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842248" y="3419856"/>
            <a:ext cx="147074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367859" y="3401568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36208" y="3575304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Nongshim · Shin Black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842248" y="3589020"/>
            <a:ext cx="1748390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10645502" y="357073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165 ₴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36208" y="3744468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842248" y="3758184"/>
            <a:ext cx="2171732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1068844" y="3739896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205 ₴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613648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248502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883357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518212" y="39364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236208" y="4101083"/>
            <a:ext cx="53949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 lang="en-US">
                <a:solidFill>
                  <a:srgbClr val="303A5D"/>
                </a:solidFill>
                <a:latin typeface="Segoe UI"/>
              </a:rPr>
              <a:t>140 G PACK · 6 SKUs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36208" y="4283964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717890"/>
                </a:solidFill>
                <a:latin typeface="Segoe UI"/>
              </a:rPr>
              <a:t>103–138 ₴ · up to 120 ₴ inclusive: 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842248" y="4503420"/>
            <a:ext cx="5486" cy="10515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10105556" y="4475988"/>
            <a:ext cx="13716" cy="108813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6236208" y="4535423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Chacharoni black bea…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842248" y="4549140"/>
            <a:ext cx="108771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984829" y="453085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103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36208" y="4704587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Buldak Jjajang flavo…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842248" y="4718303"/>
            <a:ext cx="114802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10045141" y="4700015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236208" y="4873751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Chapaghetti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842248" y="4887467"/>
            <a:ext cx="1269709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166821" y="4869179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236208" y="5042915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Paldo · Volcano Chicken w/ chick…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842248" y="5056631"/>
            <a:ext cx="1301452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10198564" y="503834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123 ₴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236208" y="5212079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chicken flavor extra hot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842248" y="5225795"/>
            <a:ext cx="1445352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10342464" y="5207507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236208" y="5381243"/>
            <a:ext cx="25603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 lang="en-US">
                <a:solidFill>
                  <a:srgbClr val="303A5D"/>
                </a:solidFill>
                <a:latin typeface="Segoe UI"/>
              </a:rPr>
              <a:t>Samyang · chicken flavor spicy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42248" y="5394959"/>
            <a:ext cx="145804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10355161" y="537667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138 ₴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613648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248502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883357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518212" y="5573267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 catalogues, 29 Sep 2026: median pack price across the chains where the SKU is listed. Red line = 120 ₴. SIAS: current shelf price per the financial model, chain bonus 35 %, margin 20 %.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COMPETITORS · BELOW 120 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Key competitors sell below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6400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PACK PRICE RANGE ACROSS CHAINS, 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627632"/>
            <a:ext cx="15316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below 120 ₴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4036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75204" y="1627632"/>
            <a:ext cx="11201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above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6587" y="2167128"/>
            <a:ext cx="568462" cy="3749039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60453" y="2167128"/>
            <a:ext cx="730595" cy="3749039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8892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460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47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4038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7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59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626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9194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781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43499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6928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938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9506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5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20840" y="596188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24942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2× spicy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3230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140 g · 10 chains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7691" y="2322576"/>
            <a:ext cx="88856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66260" y="232257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63291" y="222199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86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8971" y="239572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6082" y="222199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6082" y="239572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Vostorg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6609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Chapaghetti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84378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140 g · 6 chains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51300" y="2734056"/>
            <a:ext cx="814959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66260" y="2734056"/>
            <a:ext cx="42062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636900" y="263347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89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62580" y="280720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Auchan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1747" y="26334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136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1747" y="280720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Vostorg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0723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Hot Chicken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55263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140 g · 7 chains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3828" y="3145536"/>
            <a:ext cx="712431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366260" y="3145536"/>
            <a:ext cx="94640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39428" y="304495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93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5108" y="321868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Torba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67527" y="304495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67527" y="321868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348386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Samyang Buldak braised chicken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66674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145 g · 7 chains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69601" y="3557016"/>
            <a:ext cx="69665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366260" y="3557016"/>
            <a:ext cx="168249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755201" y="345643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94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80881" y="363016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Auchan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03620" y="345643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184 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3620" y="363016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389534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Nongshim Ramen spicy seasoning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407822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120 g · 7 chains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95262" y="396849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366260" y="3968496"/>
            <a:ext cx="236600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80862" y="386791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06542" y="404164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57724" y="386791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7724" y="404164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430682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Kimchi Ramyun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970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120 g · 9 chains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795262" y="437997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366260" y="4379976"/>
            <a:ext cx="10515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880862" y="427939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542" y="445312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26279" y="427939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26279" y="445312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471830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Samyang Buldak cheese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90118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130 g · 9 chains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37851" y="4791456"/>
            <a:ext cx="52840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4366260" y="479145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2923451" y="469087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100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49131" y="486460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ChudoMarket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36082" y="469087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6082" y="486460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Vostorg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51297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 Volcano Carbonara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531266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130 g · 3 chains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979811" y="5202936"/>
            <a:ext cx="38644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366260" y="5202936"/>
            <a:ext cx="2628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065411" y="5102352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105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91091" y="527608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Auchan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47412" y="5102352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47412" y="527608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554126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Toomba Spicy &amp; Creamy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" y="5724144"/>
            <a:ext cx="2194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137 g · 7 chains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58067" y="5614416"/>
            <a:ext cx="60201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3743667" y="551383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131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69347" y="5687568"/>
            <a:ext cx="11430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 lang="en-US">
                <a:solidFill>
                  <a:srgbClr val="717890"/>
                </a:solidFill>
                <a:latin typeface="Segoe UI"/>
              </a:rPr>
              <a:t>ChudoMarket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14949" y="5513831"/>
            <a:ext cx="7315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154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14949" y="5687568"/>
            <a:ext cx="10058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358944" y="2167128"/>
            <a:ext cx="16459" cy="377647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451860" y="1965960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target 120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24875" y="196596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C4820A"/>
                </a:solidFill>
                <a:latin typeface="Segoe UI"/>
              </a:rPr>
              <a:t>now · 33 pallets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78741" y="196596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 lang="en-US">
                <a:solidFill>
                  <a:srgbClr val="B53A3A"/>
                </a:solidFill>
                <a:latin typeface="Segoe UI"/>
              </a:rPr>
              <a:t>now · 6 pallets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01000" y="138988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 lang="en-US">
                <a:solidFill>
                  <a:srgbClr val="303A5D"/>
                </a:solidFill>
                <a:latin typeface="Segoe UI"/>
              </a:rPr>
              <a:t>PROMOS: REGULAR PRICE → PROMO PRICE, ₴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01000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202168" y="162763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regular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16568" y="1645920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9317736" y="1627632"/>
            <a:ext cx="5715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 lang="en-US">
                <a:solidFill>
                  <a:srgbClr val="303A5D"/>
                </a:solidFill>
                <a:latin typeface="Segoe UI"/>
              </a:rPr>
              <a:t>promo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01000" y="208483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Buldak chicken &amp; cheese · 140 g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01000" y="2286000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903016" y="226771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01000" y="245059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528365" y="243230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90 ₴  (−48 %) · Silpo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01000" y="272491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Buldak carbonara · 130 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01000" y="2926079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0903016" y="2907791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001000" y="309067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528365" y="307238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90 ₴  (−48 %) · Silpo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01000" y="3364991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· Ramen chicken flav… · 135 g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001000" y="3566160"/>
            <a:ext cx="290933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0965196" y="354787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178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001000" y="3730752"/>
            <a:ext cx="1775379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831243" y="3712463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108 ₴  (−39 %) · Auchan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01000" y="400507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Samyang · chicken flavor spicy · 140 g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001000" y="4206240"/>
            <a:ext cx="2364445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10420309" y="418795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144 ₴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01000" y="4370832"/>
            <a:ext cx="1520117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9575981" y="435254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93 ₴  (−36 %) · Torba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64515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Nongshim · Soon Veggie Ramyun veg… · 112 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001000" y="4846320"/>
            <a:ext cx="1564297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620161" y="482803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96 ₴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01000" y="5010912"/>
            <a:ext cx="1202676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9258540" y="499262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74 ₴  (−23 %) · Auchan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01000" y="5285232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Ottogi · Jin Jjambbong Ramen seaf… · 130 g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001000" y="5486400"/>
            <a:ext cx="2393899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449763" y="5468112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146 ₴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001000" y="5650992"/>
            <a:ext cx="184083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896695" y="563270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C4820A"/>
                </a:solidFill>
                <a:latin typeface="Segoe UI"/>
              </a:rPr>
              <a:t>112 ₴  (−23 %) · Auchan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Chain catalogues, 29 Sep 2026: SKU price within the chain (median across stores); not all chains publish an "old price", so there are more promos than shown. Bands = our current shelf price: Vegetable/Spicy/Beef/Chicken (lower bound) and Gouda/Carbonara (upper).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FINANCIAL MODEL · 33 PALLETS · FINAL FIGURES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33 pallets: purchase €0.65–0.75 → €0.54, shelf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NOW · SHELF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B53A3A"/>
                </a:solidFill>
                <a:latin typeface="Segoe UI"/>
              </a:rPr>
              <a:t>140.55 / 162.18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purchase €0.65 / €0.75 · +17…35 % above the 120 ₴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REQUEST TO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1E9EA6"/>
                </a:solidFill>
                <a:latin typeface="Segoe UI"/>
              </a:rPr>
              <a:t>€0.54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−17 % / −28 % vs current purchase price (one price for all 6 SKUs)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AFTER · SHELF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1E9EA6"/>
                </a:solidFill>
                <a:latin typeface="Segoe UI"/>
              </a:rPr>
              <a:t>119.86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bonus 35 % · margin 20 % · cost 38.53 ₴ · headroom 0.14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SIAS purchase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BBE1E4"/>
                </a:solidFill>
                <a:latin typeface="Segoe UI"/>
              </a:rPr>
              <a:t>price per pack,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Landed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C7CBD9"/>
                </a:solidFill>
                <a:latin typeface="Segoe UI"/>
              </a:rPr>
              <a:t>full, in Ukraine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Partner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cost ÷ 0.45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Chain bonus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35 % of partner price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Our profit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20 % of partner price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Markup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D7DAE4"/>
                </a:solidFill>
                <a:latin typeface="Segoe UI"/>
              </a:rPr>
              <a:t>store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SHELF PRICE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8C3C3"/>
                </a:solidFill>
                <a:latin typeface="Segoe UI"/>
              </a:rPr>
              <a:t>partner × 1.40 + VAT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4 SKUs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Vegetable, Spicy, Beef, Chicken · purchase €0.65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33.28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45.18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€0.882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100.40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€1.961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35.14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€0.686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20.08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€0.392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40.16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€0.784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140.55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€2.745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2 SKUs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Gouda, Carbonara · purchase €0.75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52.13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€1.018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115.84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€2.263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40.54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€0.792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23.17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€0.453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46.34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€0.905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162.18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€3.168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AFTER · SIAS request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all 6 SKUs · purchase €0.54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27.65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€0.540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38.53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€0.752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85.62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€1.672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29.97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€0.585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17.12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€0.334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34.25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€0.669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1E9EA6"/>
                </a:solidFill>
                <a:latin typeface="Segoe UI"/>
              </a:rPr>
              <a:t>119.86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€2.341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B53A3A"/>
                </a:solidFill>
                <a:latin typeface="Segoe UI"/>
              </a:rPr>
              <a:t>CHANGE · AFTER − BEFORE (4 SKUs)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−5.63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−€0.110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−6.65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−€0.130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−14.78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−€0.289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−5.17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−€0.101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−2.96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−€0.058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−5.91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−€0.115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−20.69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−€0.404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SIAS PURCHASE PRICE BY SKU · NOW → REQUEST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112.5 g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€0.54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123 g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€0.54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131 g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€0.54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 lang="en-US">
                <a:solidFill>
                  <a:srgbClr val="9FA9C4"/>
                </a:solidFill>
                <a:latin typeface="Segoe UI"/>
              </a:rPr>
              <a:t>Rate 51.20 ₴/€. Partner price = landed cost ÷ (1 − chain bonus 35 % − margin 20 %); shelf price = partner price × 1.40; all prices incl. VAT, per pack. "Before" landed cost per our cost file; "after" at the requested €0.54. Indicative model for discussion; the price has not been agreed.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FINANCIAL MODEL · 6 PALLETS · FINAL FIGURES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6 pallets: purchase €0.65–0.75 → €0.32, shelf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NOW · SHELF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B53A3A"/>
                </a:solidFill>
                <a:latin typeface="Segoe UI"/>
              </a:rPr>
              <a:t>180.64 / 208.43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purchase €0.65 / €0.75 · +51…74 % above the 120 ₴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REQUEST TO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 lang="en-US">
                <a:solidFill>
                  <a:srgbClr val="B53A3A"/>
                </a:solidFill>
                <a:latin typeface="Segoe UI"/>
              </a:rPr>
              <a:t>€0.32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−51 % / −57 % vs current purchase price (one price for all 6 SKUs)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 lang="en-US">
                <a:solidFill>
                  <a:srgbClr val="717890"/>
                </a:solidFill>
                <a:latin typeface="Segoe UI"/>
              </a:rPr>
              <a:t>AFTER · SHELF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 lang="en-US">
                <a:solidFill>
                  <a:srgbClr val="1E9EA6"/>
                </a:solidFill>
                <a:latin typeface="Segoe UI"/>
              </a:rPr>
              <a:t>118.72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 lang="en-US">
                <a:solidFill>
                  <a:srgbClr val="717890"/>
                </a:solidFill>
                <a:latin typeface="Segoe UI"/>
              </a:rPr>
              <a:t>bonus 35 % · margin 20 % · cost 38.16 ₴ · headroom 1.28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SIAS purchase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BBE1E4"/>
                </a:solidFill>
                <a:latin typeface="Segoe UI"/>
              </a:rPr>
              <a:t>price per pack,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Landed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C7CBD9"/>
                </a:solidFill>
                <a:latin typeface="Segoe UI"/>
              </a:rPr>
              <a:t>full, in Ukraine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Partner price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9FA9C4"/>
                </a:solidFill>
                <a:latin typeface="Segoe UI"/>
              </a:rPr>
              <a:t>cost ÷ 0.45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Chain bonus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35 % of partner price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Our profit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DD9B5"/>
                </a:solidFill>
                <a:latin typeface="Segoe UI"/>
              </a:rPr>
              <a:t>20 % of partner price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Markup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D7DAE4"/>
                </a:solidFill>
                <a:latin typeface="Segoe UI"/>
              </a:rPr>
              <a:t>store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 lang="en-US">
                <a:solidFill>
                  <a:srgbClr val="FFFFFF"/>
                </a:solidFill>
                <a:latin typeface="Segoe UI"/>
              </a:rPr>
              <a:t>SHELF PRICE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E8C3C3"/>
                </a:solidFill>
                <a:latin typeface="Segoe UI"/>
              </a:rPr>
              <a:t>partner × 1.40 + VAT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4 SKUs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Vegetable, Spicy, Beef, Chicken · purchase €0.65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33.28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58.06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€1.134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129.03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€2.520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45.16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€0.882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25.81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€0.504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51.61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€1.008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180.64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€3.528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1C2235"/>
                </a:solidFill>
                <a:latin typeface="Segoe UI"/>
              </a:rPr>
              <a:t>BEFORE · 2 SKUs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Gouda, Carbonara · purchase €0.75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67.00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€1.309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148.88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€2.908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52.11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€1.018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29.78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€0.582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59.55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€1.163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B53A3A"/>
                </a:solidFill>
                <a:latin typeface="Segoe UI"/>
              </a:rPr>
              <a:t>208.43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€4.071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 lang="en-US">
                <a:solidFill>
                  <a:srgbClr val="303A5D"/>
                </a:solidFill>
                <a:latin typeface="Segoe UI"/>
              </a:rPr>
              <a:t>AFTER · SIAS request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all 6 SKUs · purchase €0.32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16.38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€0.320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38.16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€0.745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84.80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€1.656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29.68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€0.580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16.96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€0.331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 lang="en-US">
                <a:solidFill>
                  <a:srgbClr val="303A5D"/>
                </a:solidFill>
                <a:latin typeface="Segoe UI"/>
              </a:rPr>
              <a:t>33.92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€0.662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 lang="en-US">
                <a:solidFill>
                  <a:srgbClr val="1E9EA6"/>
                </a:solidFill>
                <a:latin typeface="Segoe UI"/>
              </a:rPr>
              <a:t>118.72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 lang="en-US">
                <a:solidFill>
                  <a:srgbClr val="717890"/>
                </a:solidFill>
                <a:latin typeface="Segoe UI"/>
              </a:rPr>
              <a:t>€2.319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 lang="en-US">
                <a:solidFill>
                  <a:srgbClr val="B53A3A"/>
                </a:solidFill>
                <a:latin typeface="Segoe UI"/>
              </a:rPr>
              <a:t>CHANGE · AFTER − BEFORE (4 SKUs)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−16.90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−€0.330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−19.90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−€0.389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−44.23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−€0.864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−15.48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−€0.302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−8.85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−€0.173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−17.69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−€0.346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 lang="en-US">
                <a:solidFill>
                  <a:srgbClr val="B53A3A"/>
                </a:solidFill>
                <a:latin typeface="Segoe UI"/>
              </a:rPr>
              <a:t>−61.92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−€1.209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 lang="en-US">
                <a:solidFill>
                  <a:srgbClr val="303A5D"/>
                </a:solidFill>
                <a:latin typeface="Segoe UI"/>
              </a:rPr>
              <a:t>SIAS PURCHASE PRICE BY SKU · NOW → REQUEST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112.5 g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113 g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€0.65 → €0.32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123 g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€0.32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 lang="en-US">
                <a:solidFill>
                  <a:srgbClr val="717890"/>
                </a:solidFill>
                <a:latin typeface="Segoe UI"/>
              </a:rPr>
              <a:t>131 g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 lang="en-US">
                <a:solidFill>
                  <a:srgbClr val="1C2235"/>
                </a:solidFill>
                <a:latin typeface="Segoe UI"/>
              </a:rPr>
              <a:t>€0.75 → €0.32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 lang="en-US">
                <a:solidFill>
                  <a:srgbClr val="9FA9C4"/>
                </a:solidFill>
                <a:latin typeface="Segoe UI"/>
              </a:rPr>
              <a:t>Rate 51.20 ₴/€. Partner price = landed cost ÷ (1 − chain bonus 35 % − margin 20 %); shelf price = partner price × 1.40; all prices incl. VAT, per pack. "Before" landed cost per our cost file; "after" at the requested €0.32. Indicative model for discussion; the price has not been agreed.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 lang="en-US">
                <a:solidFill>
                  <a:srgbClr val="FFC95C"/>
                </a:solidFill>
                <a:latin typeface="Segoe UI"/>
              </a:rPr>
              <a:t>SENSITIVITY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 lang="en-US">
                <a:solidFill>
                  <a:srgbClr val="FFFFFF"/>
                </a:solidFill>
                <a:latin typeface="Segoe UI"/>
              </a:rPr>
              <a:t>Purchase price needed at other shelf prices and margins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 lang="en-US">
                <a:solidFill>
                  <a:srgbClr val="717890"/>
                </a:solidFill>
                <a:latin typeface="Segoe UI"/>
              </a:rPr>
              <a:t>Maximum purchase price, € per pack, at a 35 % chain bonus. Colour = comparison with the current SIAS price: €0.75 (Gouda, Carbonara) and €0.65 (the rest).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1E9EA6"/>
                </a:solidFill>
                <a:latin typeface="Segoe UI"/>
              </a:rPr>
              <a:t>33 PALLETS · FULL TRUCK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 lang="en-US">
                <a:solidFill>
                  <a:srgbClr val="717890"/>
                </a:solidFill>
                <a:latin typeface="Segoe UI"/>
              </a:rPr>
              <a:t>MARGIN \ SHELF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105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658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658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223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4223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0056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0056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8760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8658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6440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42232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4223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0056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0056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20 %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08760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08760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8658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8658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6440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6440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64408" y="3227832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64408" y="3648455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64408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050791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42232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4223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0056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0056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8658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8658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6440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6440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42232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4223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0056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0056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€0.72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08760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08760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8658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8658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6440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€0.67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42232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4223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€0.73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0056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0056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FFFFFF"/>
                </a:solidFill>
                <a:latin typeface="Segoe UI"/>
              </a:rPr>
              <a:t>€0.80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1627632"/>
            <a:ext cx="5394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 lang="en-US">
                <a:solidFill>
                  <a:srgbClr val="B53A3A"/>
                </a:solidFill>
                <a:latin typeface="Segoe UI"/>
              </a:rPr>
              <a:t>6 PALLETS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1938528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 lang="en-US">
                <a:solidFill>
                  <a:srgbClr val="717890"/>
                </a:solidFill>
                <a:latin typeface="Segoe UI"/>
              </a:rPr>
              <a:t>MARGIN \ SHELF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105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0144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87967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65792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43616" y="1920240"/>
            <a:ext cx="8778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 lang="en-US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22860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30 %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5975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59752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37575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037575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€0.15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15399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15399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€0.19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9322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793224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7104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671048" y="2322576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279806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59752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59752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€0.19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37575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37575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15399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15399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79322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793224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67104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671048" y="2834640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17920" y="331012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20 %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159752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159752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37575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037575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€0.27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15399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15399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15399" y="3227832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915399" y="3648455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915399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701784" y="3227832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9322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93224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€0.37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71048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671048" y="3346704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0" y="382219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59752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159752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37575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37575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15399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915399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€0.39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793224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793224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7104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671048" y="3858768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433425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10 %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159752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159752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€0.36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37575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037575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915399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915399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€0.46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79322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793224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671048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671048" y="4370832"/>
            <a:ext cx="822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 lang="en-US">
                <a:solidFill>
                  <a:srgbClr val="303A5D"/>
                </a:solidFill>
                <a:latin typeface="Segoe UI"/>
              </a:rPr>
              <a:t>€0.58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94944" y="4718304"/>
            <a:ext cx="164592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14400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≥ €0.75 — achievable for all SKUs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419856" y="4718304"/>
            <a:ext cx="164592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639312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€0.65–0.75 — for four SKUs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144768" y="4718304"/>
            <a:ext cx="164592" cy="128016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364224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€0.50–0.65 — price reduction needed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869680" y="4718304"/>
            <a:ext cx="164592" cy="128016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089136" y="4700016"/>
            <a:ext cx="23774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 lang="en-US">
                <a:solidFill>
                  <a:srgbClr val="303A5D"/>
                </a:solidFill>
                <a:latin typeface="Segoe UI"/>
              </a:rPr>
              <a:t>&lt; €0.50 — substantial reduction needed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4944" y="4901184"/>
            <a:ext cx="10789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 lang="en-US">
                <a:solidFill>
                  <a:srgbClr val="B53A3A"/>
                </a:solidFill>
                <a:latin typeface="Segoe UI"/>
              </a:rPr>
              <a:t>Red frame = target: shelf price 120 ₴, chain bonus 35 %, margin 20 %.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 lang="en-US">
                <a:solidFill>
                  <a:srgbClr val="9FA9C4"/>
                </a:solidFill>
                <a:latin typeface="Segoe UI"/>
              </a:rPr>
              <a:t>Calculated with the financial-model formula (rate 51.20; chain bonus 35 %; markup 1.40; financing 2.5 %; VAT 20 %). Price rounded down to the euro cent.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6507</Words>
  <Application>Microsoft Office PowerPoint</Application>
  <PresentationFormat>Широкий екран</PresentationFormat>
  <Paragraphs>1932</Paragraphs>
  <Slides>29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29</vt:i4>
      </vt:variant>
    </vt:vector>
  </HeadingPairs>
  <TitlesOfParts>
    <vt:vector size="33" baseType="lpstr">
      <vt:lpstr>Arial</vt:lpstr>
      <vt:lpstr>Calibri</vt:lpstr>
      <vt:lpstr>Segoe UI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Чаплигін lлля</cp:lastModifiedBy>
  <cp:revision>3</cp:revision>
  <dcterms:created xsi:type="dcterms:W3CDTF">2013-01-27T09:14:16Z</dcterms:created>
  <dcterms:modified xsi:type="dcterms:W3CDTF">2026-10-13T12:43:07Z</dcterms:modified>
  <cp:category/>
</cp:coreProperties>
</file>