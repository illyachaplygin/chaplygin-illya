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3"/>
    <p:sldId id="258" r:id="rId3"/>
    <p:sldId id="286" r:id="rId34"/>
    <p:sldId id="260" r:id="rId5"/>
    <p:sldId id="287" r:id="rId35"/>
    <p:sldId id="288" r:id="rId36"/>
    <p:sldId id="289" r:id="rId37"/>
    <p:sldId id="290" r:id="rId38"/>
    <p:sldId id="291" r:id="rId39"/>
    <p:sldId id="265" r:id="rId10"/>
    <p:sldId id="292" r:id="rId40"/>
    <p:sldId id="293" r:id="rId41"/>
    <p:sldId id="294" r:id="rId42"/>
    <p:sldId id="295" r:id="rId43"/>
    <p:sldId id="270" r:id="rId15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280" r:id="rId24"/>
    <p:sldId id="305" r:id="rId53"/>
    <p:sldId id="306" r:id="rId54"/>
    <p:sldId id="307" r:id="rId55"/>
    <p:sldId id="308" r:id="rId56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10" Type="http://schemas.openxmlformats.org/officeDocument/2006/relationships/slide" Target="slides/slide10.xml"/><Relationship Id="rId15" Type="http://schemas.openxmlformats.org/officeDocument/2006/relationships/slide" Target="slides/slide15.xml"/><Relationship Id="rId24" Type="http://schemas.openxmlformats.org/officeDocument/2006/relationships/slide" Target="slides/slide25.xml"/><Relationship Id="rId28" Type="http://schemas.openxmlformats.org/officeDocument/2006/relationships/slide" Target="slides/slide30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.xml"/><Relationship Id="rId34" Type="http://schemas.openxmlformats.org/officeDocument/2006/relationships/slide" Target="slides/slide3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6.xml"/><Relationship Id="rId54" Type="http://schemas.openxmlformats.org/officeDocument/2006/relationships/slide" Target="slides/slide27.xml"/><Relationship Id="rId55" Type="http://schemas.openxmlformats.org/officeDocument/2006/relationships/slide" Target="slides/slide28.xml"/><Relationship Id="rId56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jpg"/><Relationship Id="rId4" Type="http://schemas.openxmlformats.org/officeDocument/2006/relationships/image" Target="../media/image14.jpg"/><Relationship Id="rId5" Type="http://schemas.openxmlformats.org/officeDocument/2006/relationships/image" Target="../media/image3.jpg"/><Relationship Id="rId6" Type="http://schemas.openxmlformats.org/officeDocument/2006/relationships/image" Target="../media/image6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18.jpg"/><Relationship Id="rId5" Type="http://schemas.openxmlformats.org/officeDocument/2006/relationships/image" Target="../media/image23.jpg"/><Relationship Id="rId6" Type="http://schemas.openxmlformats.org/officeDocument/2006/relationships/image" Target="../media/image30.jpg"/><Relationship Id="rId7" Type="http://schemas.openxmlformats.org/officeDocument/2006/relationships/image" Target="../media/image14.jpg"/><Relationship Id="rId8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6.jpg"/><Relationship Id="rId11" Type="http://schemas.openxmlformats.org/officeDocument/2006/relationships/image" Target="../media/image18.jpg"/><Relationship Id="rId12" Type="http://schemas.openxmlformats.org/officeDocument/2006/relationships/image" Target="../media/image19.jpg"/><Relationship Id="rId1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7.jpg"/><Relationship Id="rId6" Type="http://schemas.openxmlformats.org/officeDocument/2006/relationships/image" Target="../media/image22.jpg"/><Relationship Id="rId7" Type="http://schemas.openxmlformats.org/officeDocument/2006/relationships/image" Target="../media/image19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Relationship Id="rId10" Type="http://schemas.openxmlformats.org/officeDocument/2006/relationships/image" Target="../media/image25.jpg"/><Relationship Id="rId11" Type="http://schemas.openxmlformats.org/officeDocument/2006/relationships/image" Target="../media/image26.jpg"/><Relationship Id="rId12" Type="http://schemas.openxmlformats.org/officeDocument/2006/relationships/image" Target="../media/image8.jpg"/><Relationship Id="rId13" Type="http://schemas.openxmlformats.org/officeDocument/2006/relationships/image" Target="../media/image2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2.jpg"/><Relationship Id="rId7" Type="http://schemas.openxmlformats.org/officeDocument/2006/relationships/image" Target="../media/image31.jpg"/><Relationship Id="rId8" Type="http://schemas.openxmlformats.org/officeDocument/2006/relationships/image" Target="../media/image9.jpg"/><Relationship Id="rId9" Type="http://schemas.openxmlformats.org/officeDocument/2006/relationships/image" Target="../media/image32.jpg"/><Relationship Id="rId10" Type="http://schemas.openxmlformats.org/officeDocument/2006/relationships/image" Target="../media/image33.jpg"/><Relationship Id="rId11" Type="http://schemas.openxmlformats.org/officeDocument/2006/relationships/image" Target="../media/image34.jpg"/><Relationship Id="rId12" Type="http://schemas.openxmlformats.org/officeDocument/2006/relationships/image" Target="../media/image35.jpg"/><Relationship Id="rId13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jpg"/><Relationship Id="rId4" Type="http://schemas.openxmlformats.org/officeDocument/2006/relationships/image" Target="../media/image52.jpg"/><Relationship Id="rId5" Type="http://schemas.openxmlformats.org/officeDocument/2006/relationships/image" Target="../media/image57.jpg"/><Relationship Id="rId6" Type="http://schemas.openxmlformats.org/officeDocument/2006/relationships/image" Target="../media/image47.jpg"/><Relationship Id="rId7" Type="http://schemas.openxmlformats.org/officeDocument/2006/relationships/image" Target="../media/image64.jpg"/><Relationship Id="rId8" Type="http://schemas.openxmlformats.org/officeDocument/2006/relationships/image" Target="../media/image4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43.jpg"/><Relationship Id="rId8" Type="http://schemas.openxmlformats.org/officeDocument/2006/relationships/image" Target="../media/image52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45.jpg"/><Relationship Id="rId8" Type="http://schemas.openxmlformats.org/officeDocument/2006/relationships/image" Target="../media/image59.jpg"/><Relationship Id="rId9" Type="http://schemas.openxmlformats.org/officeDocument/2006/relationships/image" Target="../media/image3.jpg"/><Relationship Id="rId10" Type="http://schemas.openxmlformats.org/officeDocument/2006/relationships/image" Target="../media/image47.jpg"/><Relationship Id="rId11" Type="http://schemas.openxmlformats.org/officeDocument/2006/relationships/image" Target="../media/image60.jpg"/><Relationship Id="rId12" Type="http://schemas.openxmlformats.org/officeDocument/2006/relationships/image" Target="../media/image4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jp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image" Target="../media/image64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2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8.jpg"/><Relationship Id="rId6" Type="http://schemas.openxmlformats.org/officeDocument/2006/relationships/image" Target="../media/image79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4.jpg"/><Relationship Id="rId10" Type="http://schemas.openxmlformats.org/officeDocument/2006/relationships/image" Target="../media/image78.jpg"/><Relationship Id="rId11" Type="http://schemas.openxmlformats.org/officeDocument/2006/relationships/image" Target="../media/image7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9.jpg"/><Relationship Id="rId5" Type="http://schemas.openxmlformats.org/officeDocument/2006/relationships/image" Target="../media/image71.jpg"/><Relationship Id="rId6" Type="http://schemas.openxmlformats.org/officeDocument/2006/relationships/image" Target="../media/image70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640080"/>
            <a:ext cx="5120640" cy="512064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0" y="4297680"/>
            <a:ext cx="2286000" cy="2286000"/>
          </a:xfrm>
          <a:prstGeom prst="ellipse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4206240"/>
            <a:ext cx="2560320" cy="256032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566928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58368"/>
            <a:ext cx="200253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33172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C4820A"/>
                </a:solidFill>
                <a:latin typeface="Segoe UI"/>
              </a:rPr>
              <a:t>MARKET RESEARCH AND POSITIONING ·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Korean</a:t>
            </a:r>
          </a:p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ramen</a:t>
            </a:r>
          </a:p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in Ukraine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532120"/>
            <a:ext cx="1463040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58583" y="56692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03720" y="50292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594360"/>
            <a:ext cx="2057400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58583" y="29900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03720" y="29260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9" y="3017520"/>
            <a:ext cx="2057400" cy="2057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56064" y="13898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13258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417320"/>
            <a:ext cx="2057400" cy="2057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56064" y="385876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0" y="379476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8862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MARKET SIZE · CUSTOMS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How much noodle is imported into Ukraine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IMPORT VOLUME, TONNES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Jan–May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239.7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2026 · Jan–May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838.5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full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711.6 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INVOICE VALUE, USD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Jan–May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$1.02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2026 · Jan–May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$3.20 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CUSTOMS DATA · ORIGIN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Where the noodles come from: all import origins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Jan–May 2026 · net weight, tonnes · share of total imports of 838.5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IMPORT MIX,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2181252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21812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19.9 %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468" y="1847088"/>
            <a:ext cx="154535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6468" y="1984248"/>
            <a:ext cx="15453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14.1 %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111" y="1847088"/>
            <a:ext cx="1128660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0111" y="1984248"/>
            <a:ext cx="11286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10.4 %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059" y="1847088"/>
            <a:ext cx="754509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7059" y="1984248"/>
            <a:ext cx="7545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7.0 %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857" y="1847088"/>
            <a:ext cx="737879" cy="4572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9857" y="1984248"/>
            <a:ext cx="737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6.8 %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24" y="1847088"/>
            <a:ext cx="652058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6024" y="1984248"/>
            <a:ext cx="65205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6.1 %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6370" y="1847088"/>
            <a:ext cx="625148" cy="457200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6370" y="1984248"/>
            <a:ext cx="6251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5.8 %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9806" y="1847088"/>
            <a:ext cx="3293073" cy="45720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9806" y="1984248"/>
            <a:ext cx="32930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29.9 %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BY COUNTRY OF ORIGIN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52928"/>
            <a:ext cx="128016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281635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Vietnam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798064"/>
            <a:ext cx="3251606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1734" y="28163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166.7 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163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19.9 %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55264"/>
            <a:ext cx="128016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321868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Korea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00400"/>
            <a:ext cx="2311551" cy="24688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1679" y="32186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118.5 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2186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14.1 %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57600"/>
            <a:ext cx="128016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362102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Romania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02736"/>
            <a:ext cx="1695547" cy="246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5675" y="36210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86.9 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210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10.4 %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59935"/>
            <a:ext cx="128016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5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United Kingdom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005072"/>
            <a:ext cx="1142436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52564" y="4023359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58.6 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59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7.0 %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62272"/>
            <a:ext cx="128016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Latvia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407408"/>
            <a:ext cx="111785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27978" y="44256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57.3 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4256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6.8 %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64608"/>
            <a:ext cx="128016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482803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Czechia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809744"/>
            <a:ext cx="990980" cy="246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1108" y="48280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50.8 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8280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6.1 %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66944"/>
            <a:ext cx="128016" cy="128016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23036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Poland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12080"/>
            <a:ext cx="951199" cy="246888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61327" y="523036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48.8 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23036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5.8 %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69280"/>
            <a:ext cx="128016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" y="563270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All other countries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14416"/>
            <a:ext cx="4895224" cy="246888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05352" y="56327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250.9 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6327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29.9 %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608990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C4820A"/>
                </a:solidFill>
                <a:latin typeface="Segoe UI"/>
              </a:rPr>
              <a:t>Total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608990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C4820A"/>
                </a:solidFill>
                <a:latin typeface="Segoe UI"/>
              </a:rPr>
              <a:t>838.5 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99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100 %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37376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Customs database, HS code 1902 30 10 00. "All other countries" is a single line: the database has no country split.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Segmentation by preparation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PACK RAMEN · WITH BROTH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67–209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PACK RAMEN · WITH SAUCE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105–145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106 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72–198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CUP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62–120 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34–195 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303A5D"/>
                </a:solidFill>
                <a:latin typeface="Segoe UI"/>
              </a:rPr>
              <a:t>SEGMENT × PRICE BAND · SKUs, ₴ per pack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under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TOTAL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Pack · with broth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41 SKUs · median 95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Pack · with sauce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30 SKUs · median 106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Cup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18 SKUs · median 104 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the largest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The core of the Korean shelf: noodles and powdered broth, cooked in a pot.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6 brands in 11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46 % of the whole category.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67–209 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303A5D"/>
                </a:solidFill>
                <a:latin typeface="Segoe UI"/>
              </a:rPr>
              <a:t>7 of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218687"/>
            <a:ext cx="173736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396995"/>
            <a:ext cx="1520189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575303"/>
            <a:ext cx="108585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753611"/>
            <a:ext cx="86868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3931920"/>
            <a:ext cx="21717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597510"/>
            <a:ext cx="566928" cy="4075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3414630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14032" y="3342785"/>
            <a:ext cx="566928" cy="66228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22592" y="3159905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3" y="3801291"/>
            <a:ext cx="566928" cy="2037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81544" y="361841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31936" y="3291839"/>
            <a:ext cx="566928" cy="7132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0496" y="3108959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8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9448" y="3803904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0" y="3771246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08792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817352" y="3771246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Cheese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111 g · Zaraz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Medium spicy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Grono +2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Klass · METRO +4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1 of 4 — 68–85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Kimchi Ramen noodles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68–72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144 g · Auchan · Zaraz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67–85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Tavria 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Kimchi Ramen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129 g · Auchan · Zaraz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Seafood Ramen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103 g · Auchan · 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Seafood flavor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102 g · Auchan · Zaraz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Cheese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111 g · Zaraz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2 of 4 — 88–98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Soon Veggie Ramyun veg…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74–102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112 g · Auchan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Cham-Pong Ramyun seaf…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124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Hwa Ramyun hot pep…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87–93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Kokomen chicken flav…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Tavria 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Medium spicy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Grono 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Seafood flavor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Spicy Zanmang Loopy w/ 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 · Grono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Zanmang Loopy origi…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 · Grono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Otoki · Cheesy Ramen flavo…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AnSungTangMyun mushr…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74–122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125 g · Auchan · Onde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3 of 4 — 104–117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Cheese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flavor sp…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Pasta Samyan…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115 g · Auchan · Zaraz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Noodles chicken flav…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108–169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135 g · Auchan · Grono · Zaraz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99–124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Sesame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115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Jjambbong Ramen seaf…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 medium sp…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Klass · METRO +2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Klass · METRO +4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4 of 4 — 118–205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98–124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ChudoMarket · Kosmos · G…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flavor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112–130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Auchan · Zaraz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125–135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125 g · Klass · Onde · Vostorg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mushroom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128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Tom Yum…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116–142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123 g · Auchan · Grono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Ramen Black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165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METRO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WHERE IT IS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where it is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SEGMENT SKUs IN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National chains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TARGET CHANNEL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Auchan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Zaraz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Silpo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Regional chains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REGIONAL ENTRY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Klass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Vostorg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Kosmos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Tavria V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ChudoMarket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No segment SKUs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OPEN SHELF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MegaMarket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EKO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Epicentr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Torba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Ideal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30 SKUs, median 106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7 brands in 12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34 % of the whole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72–198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C4820A"/>
                </a:solidFill>
                <a:latin typeface="Segoe UI"/>
              </a:rPr>
              <a:t>11 of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C4820A"/>
                </a:solidFill>
                <a:latin typeface="Segoe UI"/>
              </a:rPr>
              <a:t>105–145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89530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1579418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1263534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3753611"/>
            <a:ext cx="63176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55648" y="3931920"/>
            <a:ext cx="315883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46576"/>
            <a:ext cx="566928" cy="1584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3663696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4032" y="3291839"/>
            <a:ext cx="566928" cy="7132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22592" y="3108959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2983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81544" y="342595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1936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0496" y="342595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90888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99448" y="342595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767328"/>
            <a:ext cx="566928" cy="2377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400" y="35844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08792" y="3925823"/>
            <a:ext cx="566928" cy="792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17352" y="3742943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Onde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Spicy T…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Grono · NO…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spicy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Kosmos · Grono +4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Grono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1 of 3 — 78–89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1798" y="2409444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 lang="en-US">
                <a:solidFill>
                  <a:srgbClr val="9FA9C4"/>
                </a:solidFill>
                <a:latin typeface="Segoe UI"/>
              </a:rPr>
              <a:t>no 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138 g · Onde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Carbonara spic…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Auchan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Compaghetti noodles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flavo…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Chicken…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127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Stir-Fry Ramen with cheese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Stir-Fry Ramen with chee…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2 of 3 — 89–123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Stir Fry Shin Ramyun sp…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131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Stir Fry w…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136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Grono · NO…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Chacharoni black bea…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90–115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Zaraz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Stir fried chicken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86–123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Jjajang flav…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Carbonara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105–121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 · Onde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spicy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89–136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Klass · METRO +3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Chicken w/ chick…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84–123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Grono · Onde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3 of 3 — 125–198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Choi's · Carbonara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131 g · Kosmos · Tavria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Ramen with hot…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94–184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145 g · Auchan · ChudoMarket · Kos…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extra ho…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86–151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ChudoMarket · Kos…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Kosmos · Grono +4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Spicy cheese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Kosmos · G…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131–154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Auchan · ChudoMarket · Gro…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Onde · Vostorg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157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Vostorg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garlic flavo…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Onde · Vostorg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Grono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WHERE IT IS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where it is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SEGMENT SKUs IN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National chains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TARGET CHANNEL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Auchan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Zaraz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Silpo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Regional chains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REGIONAL ENTRY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Klass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Vostorg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Kosmos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Tavria V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ChudoMarket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Torba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No segment SKUs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OPEN SHELF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MegaMarket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EKO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Epicentr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Ideal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just add boiling water, no stove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4 brands in 8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20 % of the whole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34–195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5D4B96"/>
                </a:solidFill>
                <a:latin typeface="Segoe UI"/>
              </a:rPr>
              <a:t>3 of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5D4B96"/>
                </a:solidFill>
                <a:latin typeface="Segoe UI"/>
              </a:rPr>
              <a:t>62–120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579418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699401"/>
            <a:ext cx="566928" cy="30567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51652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1403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22592" y="372030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72983" y="3291839"/>
            <a:ext cx="566928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1544" y="3108959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31936" y="3597510"/>
            <a:ext cx="566928" cy="40756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0496" y="3414630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0888" y="3801291"/>
            <a:ext cx="566928" cy="2037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9448" y="361841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0" y="3803904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0879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17352" y="372030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Bulgogi Ramen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Shrimp cup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Red Super Spicy…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Cup noodles mushr…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Grono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   ·   18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catalogue 1 of 2 — 65–103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5D4B96"/>
                </a:solidFill>
                <a:latin typeface="Segoe UI"/>
              </a:rPr>
              <a:t>SEGMENT 3 · CUP RAMEN   ·   Add boiling water 3–4 min · no stove   ·   weight 62–120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Bulgogi Ramen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Jjajang Ramen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Kimchi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65–86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spicy fr…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97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Auchan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34–149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70 g · Kosmos · Grono · Klass +3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Shrimp cup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Auchan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   ·   18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catalogue 2 of 2 — 105–195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5D4B96"/>
                </a:solidFill>
                <a:latin typeface="Segoe UI"/>
              </a:rPr>
              <a:t>SEGMENT 3 · CUP RAMEN   ·   Add boiling water 3–4 min · no stove   ·   weight 62–120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spicy fr…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Red Super Spicy…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Cup Ramyun Shrimp spicy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METRO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Neoguri soup seafo…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METRO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Hot Chicken cheese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137–150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70 g · Kosmos · Klass · Tavria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100–158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75 g · Grono · METRO · Onde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Cup noodles mushr…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Grono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SUMMARY · BRANDS ×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All brands in all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566928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26187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top number — brand SKU count in the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630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bottom number — median pack price in ₴  ·  the darker the cell, the more SKUs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39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Auchan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257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849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Zaraz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Klass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Vostorg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Kosmos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Tavria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ChudoM.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897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Torba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Silpo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810512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7" y="192024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5" y="1810512"/>
            <a:ext cx="612647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46335" y="192024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CHAINS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6415" y="1810512"/>
            <a:ext cx="722375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86415" y="192024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MEDIAN,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36223" y="1810512"/>
            <a:ext cx="86868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36223" y="192024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PACK WEIGHT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29743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3936" y="2212848"/>
            <a:ext cx="512063" cy="33375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739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39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2576" y="2212848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2257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257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145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7121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7121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122 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985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1985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985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8496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68496" y="23042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17136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171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71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6577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6577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1441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441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305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1169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1169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6033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603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03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08975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08975" y="23042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5761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5761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21284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79407" y="230428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46335" y="221284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46335" y="230428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86415" y="221284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86415" y="230428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111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36223" y="221284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936223" y="230428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62–140 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266776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73936" y="2583179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739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739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2257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2257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152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7121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7121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21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19856" y="2583179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19856" y="26746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6849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96849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849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171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71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65775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6577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1441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61441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1441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6305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6305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6305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1169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71169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1169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033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2603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603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08975" y="2583179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80897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5761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35761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5761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9407" y="2583179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979407" y="267462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46335" y="2583179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546335" y="267462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86415" y="2583179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186415" y="267462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36223" y="2583179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936223" y="267462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70–145 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303809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2953512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77393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393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2953512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32257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2257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113 ₴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87121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87121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7121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1985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1985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96849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96849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1713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51713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657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06577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1441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61441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6305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16305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11695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11695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11695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26033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6033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089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80897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35761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35761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79407" y="295351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979407" y="304495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546335" y="295351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546335" y="3044952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86415" y="295351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186415" y="3044952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94 ₴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36223" y="295351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936223" y="30449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105–140 g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66928" y="340842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73936" y="3323844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77393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7393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22576" y="332384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32257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2257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101 ₴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7121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87121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1985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41985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6849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96849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6849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67 ₴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171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51713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657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06577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1441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61441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1441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63055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163055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63055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1169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71169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2603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26033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089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80897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5761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35761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79407" y="332384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979407" y="341528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546335" y="332384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546335" y="3415284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86415" y="332384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186415" y="3415284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936223" y="332384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936223" y="34152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67–130 g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377875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7393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773936" y="370789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73936" y="3886200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2257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32257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712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287121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41985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1985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96849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3968496" y="370789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968496" y="3886200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80 ₴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171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51713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657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06577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144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61441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6305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16305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71169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71169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2603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26033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089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780897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5761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35761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79407" y="3694176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8979407" y="378561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46335" y="3694176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9546335" y="3785616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186415" y="3694176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0186415" y="3785616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36223" y="3694176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0936223" y="3785616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6928" y="414909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773936" y="406450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773936" y="407822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73936" y="425653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2257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232257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8712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87121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1985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41985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96849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396849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5171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451713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0657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506577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6144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61441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6305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616305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1169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71169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2603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726033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8089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780897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35761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835761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79407" y="406450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8979407" y="415594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546335" y="406450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9546335" y="415594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186415" y="406450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0186415" y="415594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936223" y="406450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936223" y="41559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122–127 g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928" y="451942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773936" y="4434840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773936" y="444855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773936" y="4626864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32257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232257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8712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287121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1985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341985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96849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396849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5171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451713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0657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506577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44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561441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6305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616305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71169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671169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603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26033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8089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780897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5761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35761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79407" y="4434840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8979407" y="452628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546335" y="4434840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9546335" y="452628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186415" y="4434840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10186415" y="452628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936223" y="4434840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10936223" y="452628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120 g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66928" y="488975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739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7739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32257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232257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871216" y="480517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2871216" y="48188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871216" y="499719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41985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341985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96849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396849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5171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45171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657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506577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61441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561441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16305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616305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71169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671169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2603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72603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089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780897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35761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835761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979407" y="480517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8979407" y="489661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546335" y="480517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9546335" y="4896612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186415" y="480517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0186415" y="4896612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0936223" y="480517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10936223" y="489661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137.8 g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526008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Choi’s (SIAS)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7739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17739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232257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232257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287121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287121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41985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341985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96849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396849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45171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45171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657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506577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5614416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5614416" y="51892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614416" y="536752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163055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6163055" y="51892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163055" y="536752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671169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671169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2603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72603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8089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780897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835761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835761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8979407" y="517550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8979407" y="526694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9546335" y="517550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9546335" y="5266944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186415" y="517550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0186415" y="5266944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10936223" y="517550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10936223" y="526694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131 g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755648" y="5564124"/>
            <a:ext cx="10076688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566928" y="565556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 lang="en-US">
                <a:solidFill>
                  <a:srgbClr val="C4820A"/>
                </a:solidFill>
                <a:latin typeface="Segoe UI"/>
              </a:rPr>
              <a:t>TOTAL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7556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7556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89 ₴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3042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3042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126 ₴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85292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85292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0156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0156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108 ₴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95020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95020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88 ₴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4988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988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0474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0474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9612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59612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4476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14476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693407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693407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134 ₴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2420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20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₴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906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77906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102 ₴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339327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39327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979407" y="571042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546335" y="571042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186415" y="571042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103 ₴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936223" y="571042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C4820A"/>
                </a:solidFill>
                <a:latin typeface="Segoe UI"/>
              </a:rPr>
              <a:t>62–145 g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 (zakaz.ua) and Silpo, 29 Sep 2026. Cell = unique EANs × median price across the chain's stores. Silpo: 4 SKUs without EAN (3 Samyang, 1 Nongshim); 93 = 89 SKUs with EAN + 4 Silpo. Weight = min–max pack of the brand.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FORMAT × 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Where the shelf is really dense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SKU count and median pack price by weight 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4343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Pack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036" y="160934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2204" y="1591056"/>
            <a:ext cx="5029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Cup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74519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SKUs IN WEIGHT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MEDIAN PACK PRICE,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0127"/>
            <a:ext cx="11064240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3682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40–90 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304288"/>
            <a:ext cx="1759016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2377440"/>
            <a:ext cx="1759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976" y="237744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17  ·  19 %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304288"/>
            <a:ext cx="195224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1842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105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352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90–110 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871216"/>
            <a:ext cx="82777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2944368"/>
            <a:ext cx="8277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3732" y="29443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  ·  9 %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71216"/>
            <a:ext cx="1877872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76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1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110–125 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438144"/>
            <a:ext cx="3621505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3511296"/>
            <a:ext cx="362150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6025" y="3438144"/>
            <a:ext cx="103471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0936" y="3511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36  ·  40 %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438144"/>
            <a:ext cx="172913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3511296"/>
            <a:ext cx="16194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93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690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125–145 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05072"/>
            <a:ext cx="279373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4078224"/>
            <a:ext cx="27937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9692" y="407822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27  ·  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005072"/>
            <a:ext cx="208239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4078224"/>
            <a:ext cx="19726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3600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145 g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572000"/>
            <a:ext cx="103471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69431" y="46451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 ·  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572000"/>
            <a:ext cx="2510028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4645152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135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0889" y="2176272"/>
            <a:ext cx="12801" cy="28712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54896" y="5065776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73989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spc="-10" lang="en-US">
                <a:solidFill>
                  <a:srgbClr val="C4820A"/>
                </a:solidFill>
                <a:latin typeface="Segoe UI"/>
              </a:rPr>
              <a:t>our SKUs:</a:t>
            </a:r>
          </a:p>
          <a:p>
            <a:pPr algn="ctr">
              <a:lnSpc>
                <a:spcPct val="110000"/>
              </a:lnSpc>
            </a:pPr>
            <a:r>
              <a:rPr sz="850" b="1" spc="-10" lang="en-US">
                <a:solidFill>
                  <a:srgbClr val="C4820A"/>
                </a:solidFill>
                <a:latin typeface="Segoe UI"/>
              </a:rPr>
              <a:t>112.5–131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5614416"/>
            <a:ext cx="41148" cy="7863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7" y="5779007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OUR SKU WEIGHT IS IN LINE WITH THE MARKET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6053327"/>
            <a:ext cx="486460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112.5–131 g falls into the two densest bands: 70 % of all SKUs on the market.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5614416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5779007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OUR SKU PRICE VS THESE BANDS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7"/>
            <a:ext cx="486460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At a 120 ₴ shelf price our SKUs are 29 % above the median of the 110–125 g band (93 ₴); at the current 140.55 ₴ they are 51 % above.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RETAIL AUDIT ·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What Korean ramen is on shelf in the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Full check of the online catalogues of 18 chains, snapshot of 29 Sep 2026. SKU = unique Korean ramen listings in the chain catalogue.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5569" y="151790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6737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1" y="151790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1532" y="1517904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2700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5193" y="1517904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36361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8854" y="1517904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0022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7534" y="1517904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702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4996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PACK PRICE, ₴: min–max (line) · median (marker)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8470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8882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1892807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1903780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883664"/>
            <a:ext cx="84582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1894636"/>
            <a:ext cx="8458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3884" y="1883664"/>
            <a:ext cx="64465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3884" y="1894636"/>
            <a:ext cx="6446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883664"/>
            <a:ext cx="59436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1894636"/>
            <a:ext cx="594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1184" y="1883664"/>
            <a:ext cx="443484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01184" y="1894636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3812" y="188366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53812" y="1894636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4980" y="1883664"/>
            <a:ext cx="192024" cy="16642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4980" y="1894636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6148" y="1883664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59" y="18882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5780" y="1953158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20684" y="18882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97312" y="18882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65–202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188823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1369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2141524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2152497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2132380"/>
            <a:ext cx="54406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88920" y="2143353"/>
            <a:ext cx="5440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42132" y="2132380"/>
            <a:ext cx="493776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2132" y="2143353"/>
            <a:ext cx="493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5052" y="2132380"/>
            <a:ext cx="9144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45636" y="2132380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41648" y="21369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9307" y="2201875"/>
            <a:ext cx="1525524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39784" y="2136952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9696" y="21369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67–158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2136952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2344521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2385669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65960" y="239024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65960" y="2401214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2381097"/>
            <a:ext cx="44348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88920" y="2392070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1548" y="2381097"/>
            <a:ext cx="393192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1548" y="2392070"/>
            <a:ext cx="3931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43884" y="2381097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43884" y="239207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5635" y="2381097"/>
            <a:ext cx="41148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41647" y="238566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3127" y="2450592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40952" y="2385669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14660" y="238566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72–209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7080" y="2385669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263438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65960" y="263895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65960" y="2649931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2629814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88920" y="2640787"/>
            <a:ext cx="3429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40963" y="262981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40963" y="2640787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42132" y="262981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38727" y="263438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79307" y="2699308"/>
            <a:ext cx="955547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03919" y="263438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89719" y="263438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67–124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263438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88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2841955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288310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65960" y="288767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65960" y="289864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88920" y="2878531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88920" y="2889504"/>
            <a:ext cx="3429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40963" y="2878531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40963" y="288950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88435" y="288310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17508" y="2948025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325356" y="288310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42932" y="288310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7080" y="2883103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313182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965960" y="313639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965960" y="3147364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88920" y="3127248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88920" y="3138220"/>
            <a:ext cx="3429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40963" y="3127248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40963" y="313822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435" y="31318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17508" y="3196742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25356" y="31318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742932" y="31318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27080" y="3131820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33393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33805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65960" y="338510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965960" y="3396081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88920" y="3375964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788920" y="3386937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90672" y="337596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241548" y="3375964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342132" y="3375964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438144" y="3380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26679" y="3445459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073896" y="33805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25583" y="33805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40–150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27080" y="338053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362925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965960" y="363382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965960" y="364479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88920" y="3624681"/>
            <a:ext cx="59436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788920" y="3635654"/>
            <a:ext cx="594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38144" y="362925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98991" y="3694176"/>
            <a:ext cx="112318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839200" y="362925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877044" y="362925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98–165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27080" y="3629253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3836822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40080" y="387797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965960" y="388254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965960" y="3893515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88920" y="3873398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788920" y="3884371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90672" y="3873398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241548" y="3873398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342132" y="3873398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438144" y="387797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26679" y="3942892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073896" y="387797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625583" y="387797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34–150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27080" y="3877970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4126687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965960" y="413125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965960" y="4142232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88920" y="4122115"/>
            <a:ext cx="19202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788920" y="4133087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90088" y="4122115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140964" y="4122115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236976" y="412668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051036" y="4191609"/>
            <a:ext cx="10896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275064" y="412668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195560" y="412668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119–184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27080" y="4126687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134 ₴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6928" y="433425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40080" y="437540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965960" y="4379976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965960" y="439094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4370832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939796" y="4370832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040379" y="4370832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136391" y="437540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32519" y="4440326"/>
            <a:ext cx="5699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40368" y="4375404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357360" y="437540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100–134 ₴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927080" y="4375404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0080" y="462412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965960" y="462869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965960" y="4639665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88920" y="4619548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939796" y="4619548"/>
            <a:ext cx="4114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035808" y="46241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64879" y="4689043"/>
            <a:ext cx="18272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939784" y="46241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447019" y="46241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90–199 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27080" y="4624120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66928" y="4831689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40080" y="4872837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965960" y="487740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965960" y="4888382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88920" y="4868265"/>
            <a:ext cx="9144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935223" y="487283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5171" y="4937760"/>
            <a:ext cx="301752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738616" y="487283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971788" y="487283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93–111 ₴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27080" y="4872837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6928" y="508040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40080" y="5121554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717890"/>
                </a:solidFill>
                <a:latin typeface="Segoe UI"/>
              </a:rPr>
              <a:t>MegaMarket · Ultramarket · EKO · Epicentr · Ideal — 0 SKUs in the snapshot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60484" y="1819656"/>
            <a:ext cx="14630" cy="327903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610600" y="171907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61320" y="171907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MEDIAN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6692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6692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GAP #1 · SILPO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1247" y="6400800"/>
            <a:ext cx="2999232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The largest chain in the country carries 4 SKUs. The shelf is open, but entry prices there are 90–199 ₴.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31596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31596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GAP #2 · FIVE CHAINS WITH ZERO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90288" y="6400800"/>
            <a:ext cx="2999232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MegaMarket, Ultramarket, EKO, Epicentr, Ideal — no SKUs in the snapshot.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065008" y="5961888"/>
            <a:ext cx="3566160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065008" y="5961888"/>
            <a:ext cx="41148" cy="8046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ONE SUPPLIER FOR TWO CHAINS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39328" y="6400800"/>
            <a:ext cx="301752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Kosmos and Tavria V — 12 SKUs each; all 12 match by EAN.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SALES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Where the category is sold, and to whom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Left: every outlet checked — where the category is present and how many SKUs. Right: who shops there and whether they are our buyer.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81328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OUTLETS CHECKED · SKUs IN 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82496"/>
            <a:ext cx="6355080" cy="1828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09928"/>
            <a:ext cx="6217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 lang="en-US">
                <a:solidFill>
                  <a:srgbClr val="FFFFFF"/>
                </a:solidFill>
                <a:latin typeface="Segoe UI"/>
              </a:rPr>
              <a:t>GROCERY CHAINS · 18 CHECKED · 13 CARRY RAMEN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901952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915668"/>
            <a:ext cx="2831690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5394" y="189280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042769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2056485"/>
            <a:ext cx="1132676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6380" y="2033625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183587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197303"/>
            <a:ext cx="1132676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6380" y="217444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2324404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338120"/>
            <a:ext cx="660727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4431" y="2315260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2465222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2478938"/>
            <a:ext cx="613532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17236" y="245607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2606039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2619756"/>
            <a:ext cx="613532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7236" y="259689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746857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2760573"/>
            <a:ext cx="566338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042" y="273771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288767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2901391"/>
            <a:ext cx="566338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70042" y="2878531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3028492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3042208"/>
            <a:ext cx="566338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0042" y="301934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316931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48840" y="3183026"/>
            <a:ext cx="377558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81262" y="316016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310127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8840" y="3323843"/>
            <a:ext cx="283169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6873" y="330098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345094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3464661"/>
            <a:ext cx="188779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92483" y="3441801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359176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48840" y="3605479"/>
            <a:ext cx="94389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98093" y="3582619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373258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MegaMarket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48840" y="3732580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category not listed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3873398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Ultramarket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3873398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category not listed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" y="401421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EKO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48840" y="4014215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category not listed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" y="415503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Epicentr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48840" y="4155033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category not listed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" y="4295851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Ideal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4295851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category not listed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473244"/>
            <a:ext cx="6355080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500676"/>
            <a:ext cx="6217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 lang="en-US">
                <a:solidFill>
                  <a:srgbClr val="FFFFFF"/>
                </a:solidFill>
                <a:latin typeface="Segoe UI"/>
              </a:rPr>
              <a:t>ASIAN FOOD SHOPS · 5 CHECKED · 3 WITH PRICES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469270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Sushi Povar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48840" y="4706416"/>
            <a:ext cx="3634002" cy="95097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37706" y="468355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77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833518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Taiyaki Mart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48840" y="4847234"/>
            <a:ext cx="1132676" cy="95097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36380" y="4824374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" y="497433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48840" y="4988051"/>
            <a:ext cx="1085481" cy="95097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89185" y="4965191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2648" y="511515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OMG! Asia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48840" y="5115153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no price data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255971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Panda Asian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48840" y="5255971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no price data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433364"/>
            <a:ext cx="6355080" cy="18288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5460796"/>
            <a:ext cx="6217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 lang="en-US">
                <a:solidFill>
                  <a:srgbClr val="FFFFFF"/>
                </a:solidFill>
                <a:latin typeface="Segoe UI"/>
              </a:rPr>
              <a:t>MARKETPLACES · 4 CHECKED · 1 WITH PRICES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65282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48840" y="5666536"/>
            <a:ext cx="1132676" cy="95097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36380" y="564367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5793638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Rozetka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48840" y="5793638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no price data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" y="593445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MAUDAU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48840" y="5934455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no price data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2648" y="607527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Bigl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48840" y="6075273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no price data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78040" y="1481328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178040" y="1481328"/>
            <a:ext cx="41148" cy="113385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60920" y="156362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Grocery retail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012680" y="1563624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12680" y="159105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TARGET CHANNEL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60920" y="1810512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 lang="en-US">
                <a:solidFill>
                  <a:srgbClr val="B53A3A"/>
                </a:solidFill>
                <a:latin typeface="Segoe UI"/>
              </a:rPr>
              <a:t>NATIONWIDE CHAINS · 18 CHECKED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60920" y="198424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 lang="en-US">
                <a:solidFill>
                  <a:srgbClr val="303A5D"/>
                </a:solidFill>
                <a:latin typeface="Segoe UI"/>
              </a:rPr>
              <a:t>13 chains carry Korean ramen, 5 carry none. Silpo has 4 SKUs across the whole chain.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60920" y="2414016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717890"/>
                </a:solidFill>
                <a:latin typeface="Segoe UI"/>
              </a:rPr>
              <a:t>BUYER:  Mass-market shopper · everyday food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78040" y="2688336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178040" y="2688336"/>
            <a:ext cx="41148" cy="11338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60920" y="27706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Online marketplaces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12680" y="2770632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12680" y="279806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TARGET CHANNEL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60920" y="3017520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 lang="en-US">
                <a:solidFill>
                  <a:srgbClr val="C4820A"/>
                </a:solidFill>
                <a:latin typeface="Segoe UI"/>
              </a:rPr>
              <a:t>GENERAL MARKETPLACES · 4 PLATFORMS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60920" y="3191256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 lang="en-US">
                <a:solidFill>
                  <a:srgbClr val="303A5D"/>
                </a:solidFill>
                <a:latin typeface="Segoe UI"/>
              </a:rPr>
              <a:t>Prom · Rozetka · MAUDAU · Bigl. Prices only from Prom: 24 offers, median 116 ₴, minimum 80 ₴.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60920" y="3621024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717890"/>
                </a:solidFill>
                <a:latin typeface="Segoe UI"/>
              </a:rPr>
              <a:t>BUYER:  Mass-market shopper · planned purchase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178040" y="3895344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78040" y="3895344"/>
            <a:ext cx="41148" cy="113385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60920" y="397763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Asian food shops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012680" y="3977639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012680" y="4005072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ENTRY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60920" y="4224528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 lang="en-US">
                <a:solidFill>
                  <a:srgbClr val="1E9EA6"/>
                </a:solidFill>
                <a:latin typeface="Segoe UI"/>
              </a:rPr>
              <a:t>SPECIALIST FOOD RETAIL · 5 STORES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60920" y="4398264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 lang="en-US">
                <a:solidFill>
                  <a:srgbClr val="303A5D"/>
                </a:solidFill>
                <a:latin typeface="Segoe UI"/>
              </a:rPr>
              <a:t>OMG! Asia · Taiyaki Mart · Sushi Povar · Asia Foods · Panda Asian. Prices from three of them: 42–175 ₴.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60920" y="4828031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717890"/>
                </a:solidFill>
                <a:latin typeface="Segoe UI"/>
              </a:rPr>
              <a:t>BUYER:  Asian-cuisine shopper · knows the category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78040" y="5102352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178040" y="5102352"/>
            <a:ext cx="41148" cy="113385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60920" y="51846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Outdoor and military retail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012680" y="5184648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12680" y="5212080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NOT OUR CHANNEL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60920" y="5431536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 lang="en-US">
                <a:solidFill>
                  <a:srgbClr val="9FA9C4"/>
                </a:solidFill>
                <a:latin typeface="Segoe UI"/>
              </a:rPr>
              <a:t>HIKING AND MILITARY STORES · 0 SKUs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60920" y="56052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 lang="en-US">
                <a:solidFill>
                  <a:srgbClr val="303A5D"/>
                </a:solidFill>
                <a:latin typeface="Segoe UI"/>
              </a:rPr>
              <a:t>No ramen there: it needs boiling water and a pot.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360920" y="6035040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717890"/>
                </a:solidFill>
                <a:latin typeface="Segoe UI"/>
              </a:rPr>
              <a:t>BUYER:  Hiker and soldier · field rations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Chains: zakaz.ua and Silpo catalogues, 29 Sep 2026. Food shops: category pages (Sushi Povar, Asia Foods, Taiyaki Mart); Prom.ua: one results page, October 2026; bundles above 250 ₴ excluded. Rozetka, MAUDAU, Bigl, OMG! Asia and Panda Asian gave no price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CHANNELS ·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price by channel vs our current shelf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Min–max (line), 25–75 % of offers (box), median (tick) · pack price, ₴ · bands = our current shelf price under the two purchase-price options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419856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553712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85674" y="2240280"/>
            <a:ext cx="735980" cy="3447287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50099" y="2240280"/>
            <a:ext cx="945892" cy="3447287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39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964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46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036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1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1180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68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52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75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324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2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396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0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4679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828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OFFERS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1828800"/>
            <a:ext cx="978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UP TO 120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36829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National chains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56946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5 chains · Auchan, METRO, NOVUS…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4140" y="2546604"/>
            <a:ext cx="4645914" cy="45720"/>
          </a:xfrm>
          <a:prstGeom prst="rect">
            <a:avLst/>
          </a:prstGeom>
          <a:solidFill>
            <a:srgbClr val="828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49762" y="2459736"/>
            <a:ext cx="965771" cy="219456"/>
          </a:xfrm>
          <a:prstGeom prst="rect">
            <a:avLst/>
          </a:prstGeom>
          <a:solidFill>
            <a:srgbClr val="4F5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23739" y="2414016"/>
            <a:ext cx="36576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6267" y="229514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3206" y="248716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46888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468880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29352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Regional chains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3136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8 chains · Grono, Onde, Kosmos…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113532"/>
            <a:ext cx="5752084" cy="45720"/>
          </a:xfrm>
          <a:prstGeom prst="rect">
            <a:avLst/>
          </a:prstGeom>
          <a:solidFill>
            <a:srgbClr val="8B9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70436" y="3026664"/>
            <a:ext cx="1084046" cy="219456"/>
          </a:xfrm>
          <a:prstGeom prst="rect">
            <a:avLst/>
          </a:prstGeom>
          <a:solidFill>
            <a:srgbClr val="5A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38012" y="2980944"/>
            <a:ext cx="36576" cy="31089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90540" y="286207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8476" y="3054096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303580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3035808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350215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Sushi Povar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370332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1312" y="3680459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31004" y="3593591"/>
            <a:ext cx="918971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53076" y="3547872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5604" y="342900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99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5956" y="36210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360273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3602736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406907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" y="4270247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41852" y="4247387"/>
            <a:ext cx="4016248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241544" y="4160519"/>
            <a:ext cx="850899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65724" y="4114799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18252" y="3995927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31252" y="4187951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4169663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4169663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" y="46360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Taiyaki Mart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483717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77996" y="4814316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050283" y="4727448"/>
            <a:ext cx="2025142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813780" y="4681728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66308" y="4562856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2640" y="4754880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4736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4736592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" y="520293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404103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marketplace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4680" y="5381243"/>
            <a:ext cx="4050283" cy="45720"/>
          </a:xfrm>
          <a:prstGeom prst="rect">
            <a:avLst/>
          </a:prstGeom>
          <a:solidFill>
            <a:srgbClr val="DBB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113909" y="5294375"/>
            <a:ext cx="1608201" cy="219456"/>
          </a:xfrm>
          <a:prstGeom prst="rect">
            <a:avLst/>
          </a:prstGeom>
          <a:solidFill>
            <a:srgbClr val="CC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631688" y="5248655"/>
            <a:ext cx="36576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84215" y="5129783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8116" y="5321807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035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52760" y="5303520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8804" y="2240280"/>
            <a:ext cx="16459" cy="3474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71720" y="203911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target 120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3962" y="2039112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now · 33 pallets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3962" y="2176272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C4820A"/>
                </a:solidFill>
                <a:latin typeface="Segoe UI"/>
              </a:rPr>
              <a:t>141–162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8387" y="2039112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now · 6 pallets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8387" y="2176272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B53A3A"/>
                </a:solidFill>
                <a:latin typeface="Segoe UI"/>
              </a:rPr>
              <a:t>181–208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Chains: catalogues of 29 Sep 2026, median SKU price within the chain. Food shops and Prom.ua: category pages, October 2026, bundles above 250 ₴ excluded. Bands: Vegetable/Spicy/Beef/Chicken (lower bound) and Gouda/Carbonara (upper bound) per the financial model, 30 % margin.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CHANNELS · PRICE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Share of offers by pack price in each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Chains: 89 Korean ramen SKUs (packs and cups); food shops and Prom.ua: ramen from category pages, no bundles. Numbers inside the bars = % of offers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&lt; 100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8216" y="1517904"/>
            <a:ext cx="146304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4" y="149961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100–120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0924" y="1517904"/>
            <a:ext cx="146304" cy="128016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2092" y="149961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120–140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1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9" y="1499616"/>
            <a:ext cx="8458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over 140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1790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UP TO 120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1790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51790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WHICH BRANDS (SKUs)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84708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1837943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1860804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837943"/>
            <a:ext cx="22860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1860804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470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562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856231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0586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096719"/>
            <a:ext cx="32766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2119579"/>
            <a:ext cx="3276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9760" y="2096719"/>
            <a:ext cx="10668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9760" y="2119579"/>
            <a:ext cx="106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096719"/>
            <a:ext cx="762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42760" y="2096719"/>
            <a:ext cx="1524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21058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1500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115007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17 · Samyang 13 · Paldo 12 · Ottogi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36463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355494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23160" y="237835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2355494"/>
            <a:ext cx="3047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2378354"/>
            <a:ext cx="3047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4159" y="2355494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4159" y="2378354"/>
            <a:ext cx="380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36463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92 %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37378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373782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262341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Sushi Povar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2614269"/>
            <a:ext cx="2671948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23160" y="2637129"/>
            <a:ext cx="26719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95108" y="2614269"/>
            <a:ext cx="1425038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95108" y="2637129"/>
            <a:ext cx="14250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20147" y="2614269"/>
            <a:ext cx="47501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20147" y="2637129"/>
            <a:ext cx="4750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2341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63255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632557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Samyang 28 · others 16 · Paldo 15 · Nongshim 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88218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873044"/>
            <a:ext cx="2612571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23160" y="2895904"/>
            <a:ext cx="261257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35731" y="2873044"/>
            <a:ext cx="1306285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35731" y="2895904"/>
            <a:ext cx="130628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42017" y="2873044"/>
            <a:ext cx="65314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42017" y="2895904"/>
            <a:ext cx="653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28821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86 %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289133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2891332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O'Food 4 · Ottogi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14096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3131819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23160" y="3154679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3131819"/>
            <a:ext cx="1714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66160" y="3154679"/>
            <a:ext cx="1714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80660" y="3131819"/>
            <a:ext cx="190499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1160" y="3131819"/>
            <a:ext cx="1523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71160" y="3154679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60" y="31409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315010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3150107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8 · Nongshim 6 · Paldo 4 · Ottogi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39973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23160" y="3390595"/>
            <a:ext cx="993913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23160" y="3413455"/>
            <a:ext cx="99391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17073" y="3390595"/>
            <a:ext cx="1789043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17073" y="3413455"/>
            <a:ext cx="17890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06116" y="3390595"/>
            <a:ext cx="1391478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06116" y="3413455"/>
            <a:ext cx="139147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97594" y="3390595"/>
            <a:ext cx="397565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97594" y="3413455"/>
            <a:ext cx="3975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5160" y="339973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40888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0" y="3408883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others 18 · Paldo 3 · Nongshim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365851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23160" y="3649370"/>
            <a:ext cx="1333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423160" y="3672230"/>
            <a:ext cx="1333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56660" y="3649370"/>
            <a:ext cx="1333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756660" y="3672230"/>
            <a:ext cx="1333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90160" y="3649370"/>
            <a:ext cx="1333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90160" y="3672230"/>
            <a:ext cx="1333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23660" y="3649370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23660" y="3672230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95160" y="365851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58 %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6765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0" y="3667658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11 · Samyang 10 · Paldo 2 · fire bull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91728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23160" y="3908145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423160" y="3931005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160" y="3908145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47160" y="3931005"/>
            <a:ext cx="761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59" y="3908145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09159" y="3931005"/>
            <a:ext cx="1905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14159" y="3908145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14159" y="3931005"/>
            <a:ext cx="380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391728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0" y="392643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0" y="3926433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1760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23160" y="4166920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423160" y="4189780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47160" y="4166920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47160" y="4189780"/>
            <a:ext cx="761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9159" y="4166920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709159" y="4189780"/>
            <a:ext cx="1905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14159" y="4166920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14159" y="4189780"/>
            <a:ext cx="380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95160" y="417606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418520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4185208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44348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3160" y="4425696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423160" y="4448555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47160" y="4425696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947160" y="4448555"/>
            <a:ext cx="761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09159" y="4425696"/>
            <a:ext cx="2286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709159" y="4448555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95160" y="443484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44398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0" y="4443983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2 · Paldo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693615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23160" y="4684471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423160" y="4707331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68447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709160" y="4707331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52160" y="4684471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52160" y="4707331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60" y="469361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12480" y="470275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4702759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495239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Taiyaki Mart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23160" y="4943246"/>
            <a:ext cx="1714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423160" y="4966106"/>
            <a:ext cx="1714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37660" y="4943246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137660" y="496610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43246"/>
            <a:ext cx="1714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709160" y="4966106"/>
            <a:ext cx="1714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23660" y="4943246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23660" y="496610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95160" y="495239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496153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52560" y="496153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others 10 · Samyang 7 · Ottogi 4 · Nongshim 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928" y="5211165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423160" y="5202021"/>
            <a:ext cx="571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423160" y="5224881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994660" y="5202021"/>
            <a:ext cx="952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94660" y="5224881"/>
            <a:ext cx="952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47160" y="520202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947160" y="5224881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90160" y="5202021"/>
            <a:ext cx="1905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090160" y="5224881"/>
            <a:ext cx="1905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95160" y="521116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33 %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22030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52560" y="5220309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9 · Paldo 8 · Samyang 6 · Ottogi 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6928" y="54699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23160" y="5460796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423160" y="5483656"/>
            <a:ext cx="703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26544" y="5460796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126544" y="5483656"/>
            <a:ext cx="175846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885006" y="5460796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885006" y="5483656"/>
            <a:ext cx="211015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95160" y="546994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4790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52560" y="54790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57287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23160" y="5719572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423160" y="5742431"/>
            <a:ext cx="703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26544" y="5719572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126544" y="5742431"/>
            <a:ext cx="175846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885006" y="5719572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885006" y="5742431"/>
            <a:ext cx="211015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95160" y="572871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12480" y="573785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052560" y="5737859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928" y="5987491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23160" y="5978347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423160" y="6001207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994660" y="5978347"/>
            <a:ext cx="2857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994660" y="6001207"/>
            <a:ext cx="2857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852160" y="5978347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852160" y="6001207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95160" y="5987491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12 %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12480" y="599663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052560" y="5996635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4 · Samyang 3 · Paldo 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Chains: unique SKUs (EAN) at the chain median price, 29 Sep 2026; Silpo: 4 SKUs. Food shops and Prom.ua: category pages, October 2026 (brand identified from the product name; "others" = non-Korean or unbranded).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CASE STUDY · RETAIL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Choi’s at Tavria V: what it sold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The same SIAS brand is already on a Ukrainian shelf. Three dates and three price levels, to compare with our target and the current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CHOI’S CARBONARA 131 G · PRICE PER PACK, 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EU · dotasia.eu · promo €1.80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92.2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EU · dotasia.eu · regular €2.20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112.6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 · 29 Sep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125.20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 · 29 Sep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125.20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 · 5–6 Oct (per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131.50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SIAS · model target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120.00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SIAS · now, 33 pallets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162.18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SIAS · now, 6 pallets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208.43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COMPARISON · "NOW" = 33 PALLETS, 30 % MARGIN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TARGET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NOW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Price, 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125.20 / 131.50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120.00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162.18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vs Choi’s 125.20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−4.2 %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+29.5 %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vs pack median 102.8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+21.8 %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+16.7 %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+57.8 %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Pricier SKUs in category*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13 of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18 of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3 of 71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COMPETITORS · POPULAR PACKS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Popular packs: every SKU and its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316736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109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5204" y="1316736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6372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316736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1304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316736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7516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8684" y="12984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SIAS: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596" y="129844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C4820A"/>
                </a:solidFill>
                <a:latin typeface="Segoe UI"/>
              </a:rPr>
              <a:t>band: target 120 → now 33 pallets → 6 pallets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45920"/>
            <a:ext cx="5440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120 G PACK · 22 SKUs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828800"/>
            <a:ext cx="5440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68–128 ₴ · up to 120 ₴ inclusive: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048256"/>
            <a:ext cx="5486" cy="414223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62402" y="2020824"/>
            <a:ext cx="13716" cy="41788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08026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2093976"/>
            <a:ext cx="735386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3218" y="207568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24028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Teumsae Ramen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2253996"/>
            <a:ext cx="777501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05333" y="223570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72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40030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2414015"/>
            <a:ext cx="79369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1531" y="23957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56032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Kimchi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2968" y="2574035"/>
            <a:ext cx="830414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58246" y="25557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203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spicy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2734055"/>
            <a:ext cx="903845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1677" y="27157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84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288035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Kimchi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2894075"/>
            <a:ext cx="91680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44635" y="287578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85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0403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Stir-Fry with cheese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72968" y="3054095"/>
            <a:ext cx="961077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88909" y="30358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0039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Hwa Ramyun hot pepper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3214115"/>
            <a:ext cx="971336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99168" y="31958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3604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Kokomen chicken flavor sp…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72968" y="3374135"/>
            <a:ext cx="993473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21305" y="33558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92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35204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spicy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2968" y="353415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28864" y="35158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68045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medium spicy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72968" y="369417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28864" y="367588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8404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seafood flavor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72968" y="3854195"/>
            <a:ext cx="1003192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31024" y="38359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00049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Otoki · Cheesy Ramen cheese flav…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968" y="4014215"/>
            <a:ext cx="1024789" cy="96011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52621" y="39959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41605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seafood spicy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72968" y="4174235"/>
            <a:ext cx="1118197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46029" y="41559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3205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72968" y="4334255"/>
            <a:ext cx="1166251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4083" y="43159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055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Ramyun spicy flav…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72968" y="4494275"/>
            <a:ext cx="119324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21080" y="447598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46405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Ramen cheese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72968" y="4654295"/>
            <a:ext cx="1206746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34578" y="46360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80059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seafood medium sp…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72968" y="4814315"/>
            <a:ext cx="1226724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54556" y="47960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9606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72968" y="4974335"/>
            <a:ext cx="126343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91271" y="49560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1206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72968" y="5134355"/>
            <a:ext cx="127423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02070" y="51160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262371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3504" y="5276087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Vegetable/Spicy/Beef/Chicken 113 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72968" y="5294375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468803" y="5294375"/>
            <a:ext cx="221948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690751" y="5294375"/>
            <a:ext cx="432892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3504" y="5426963"/>
            <a:ext cx="5349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141 ₴  ·  6 pallets 181 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5554979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3504" y="556869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Gouda Cheese 123 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72968" y="5586983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468803" y="5586983"/>
            <a:ext cx="455453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924256" y="5586983"/>
            <a:ext cx="49949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3504" y="5719571"/>
            <a:ext cx="5349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162 ₴  ·  6 pallets 208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586587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72968" y="5879591"/>
            <a:ext cx="134982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7660" y="586130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02589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Ramyun mushroom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2968" y="6039611"/>
            <a:ext cx="138654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614375" y="602132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2285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0203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88121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36208" y="164592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130 G PACK · 9 SKUs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1828800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89–205 ₴ · up to 120 ₴ inclusive: 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42248" y="2048256"/>
            <a:ext cx="5486" cy="186994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105556" y="2020824"/>
            <a:ext cx="13716" cy="19065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36208" y="208026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Stir-Fry cheese spicy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42248" y="2093976"/>
            <a:ext cx="941701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38813" y="207568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224942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42248" y="2263140"/>
            <a:ext cx="105703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954145" y="224485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24185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Stir fried chicken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42248" y="2432304"/>
            <a:ext cx="1103060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000172" y="241401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258775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Jjambbong Ramen seaf…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42248" y="2601468"/>
            <a:ext cx="119035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87464" y="25831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6208" y="275691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Volcano Carbonara chicken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770632"/>
            <a:ext cx="120199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099103" y="275234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36208" y="292608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Ramen cheese spicy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42248" y="2939796"/>
            <a:ext cx="1217863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114975" y="292150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115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36208" y="3076956"/>
            <a:ext cx="5394960" cy="3108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272784" y="309067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Carbonara Spicy 131 g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842248" y="3108960"/>
            <a:ext cx="1269709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111957" y="3108960"/>
            <a:ext cx="446271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558228" y="3108960"/>
            <a:ext cx="48942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272784" y="3241548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162 ₴  ·  6 pallets 208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36208" y="340614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spicy cheese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42248" y="3419856"/>
            <a:ext cx="147074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367859" y="340156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36208" y="357530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Black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842248" y="3589020"/>
            <a:ext cx="1748390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645502" y="357073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165 ₴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36208" y="374446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42248" y="3758184"/>
            <a:ext cx="2171732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068844" y="3739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205 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3648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248502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883357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8212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36208" y="4101083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140 G PACK · 6 SKUs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36208" y="4283964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103–138 ₴ · up to 120 ₴ inclusive: 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842248" y="4503420"/>
            <a:ext cx="5486" cy="105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105556" y="4475988"/>
            <a:ext cx="13716" cy="10881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236208" y="4535423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Chacharoni black bea…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42248" y="4549140"/>
            <a:ext cx="108771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984829" y="453085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103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6208" y="4704587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Buldak Jjajang flavo…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42248" y="4718303"/>
            <a:ext cx="114802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045141" y="470001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36208" y="4873751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Chapaghetti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42248" y="4887467"/>
            <a:ext cx="126970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166821" y="4869179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236208" y="504291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Volcano Chicken w/ chick…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42248" y="5056631"/>
            <a:ext cx="130145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198564" y="503834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123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36208" y="52120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chicken flavor extra hot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842248" y="5225795"/>
            <a:ext cx="1445352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0342464" y="52075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5381243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42248" y="5394959"/>
            <a:ext cx="145804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355161" y="537667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138 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13648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248502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883357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518212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catalogues, 29 Sep 2026: median pack price across the chains where the SKU is listed. Red line = 120 ₴. SIAS: current shelf price per the financial model, 30 % margin.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COMPETITORS · BELOW 120 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Key competitors sell below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PACK PRICE RANGE ACROSS CHAINS, 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27632"/>
            <a:ext cx="15316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below 120 ₴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4036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5204" y="1627632"/>
            <a:ext cx="11201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above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6587" y="2167128"/>
            <a:ext cx="568462" cy="3749039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60453" y="2167128"/>
            <a:ext cx="730595" cy="3749039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47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038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9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626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194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81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43499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938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506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24942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3230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10 chains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7691" y="2322576"/>
            <a:ext cx="88856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66260" y="232257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3291" y="222199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86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8971" y="239572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6082" y="222199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6082" y="23957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66090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84378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6 chains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51300" y="2734056"/>
            <a:ext cx="814959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66260" y="2734056"/>
            <a:ext cx="42062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36900" y="263347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89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580" y="28072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1747" y="263347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136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7" y="280720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07238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55263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7 chains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3828" y="3145536"/>
            <a:ext cx="712431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66260" y="3145536"/>
            <a:ext cx="94640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39428" y="304495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93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5108" y="321868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Torba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7" y="304495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7" y="321868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48386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Samyang Buldak braised chicken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66674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145 g · 7 chains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9601" y="3557016"/>
            <a:ext cx="69665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66260" y="3557016"/>
            <a:ext cx="168249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55201" y="345643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94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0881" y="36301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3620" y="345643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184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3620" y="363016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389534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Nongshim Ramen spicy seasoning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07822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120 g · 7 chains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5262" y="396849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6260" y="3968496"/>
            <a:ext cx="236600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80862" y="386791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542" y="404164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57724" y="386791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7724" y="404164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30682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970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120 g · 9 chains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95262" y="437997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366260" y="4379976"/>
            <a:ext cx="10515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80862" y="427939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542" y="445312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79" y="427939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79" y="4453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471830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Samyang Buldak cheese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90118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130 g · 9 chains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37851" y="4791456"/>
            <a:ext cx="52840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66260" y="479145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23451" y="469087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100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49131" y="48646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ChudoMarket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6082" y="469087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6082" y="486460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512978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531266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130 g · 3 chains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9811" y="5202936"/>
            <a:ext cx="38644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366260" y="5202936"/>
            <a:ext cx="2628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65411" y="510235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105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1091" y="527608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47412" y="510235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7412" y="527608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554126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72414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137 g · 7 chains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58067" y="5614416"/>
            <a:ext cx="60201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43667" y="551383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131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9347" y="56875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ChudoMarket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14949" y="551383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154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4949" y="568756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58944" y="2167128"/>
            <a:ext cx="16459" cy="377647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51860" y="1965960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target 120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24875" y="1965960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C4820A"/>
                </a:solidFill>
                <a:latin typeface="Segoe UI"/>
              </a:rPr>
              <a:t>now · 33 pallets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78741" y="1965960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B53A3A"/>
                </a:solidFill>
                <a:latin typeface="Segoe UI"/>
              </a:rPr>
              <a:t>now · 6 pallets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01000" y="138988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PROMOS: REGULAR PRICE → PROMO PRICE, 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01000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02168" y="16276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regular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16568" y="1645920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317736" y="1627632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promo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2084831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Buldak chicken &amp; cheese · 140 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01000" y="2286000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903016" y="226771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01000" y="245059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528365" y="2432303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90 ₴  (−48 %) · Silpo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01000" y="2724911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Buldak carbonara · 130 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01000" y="2926079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903016" y="290779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01000" y="309067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528365" y="3072383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90 ₴  (−48 %) · Silpo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3364991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· Ramen chicken flav… · 135 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01000" y="3566160"/>
            <a:ext cx="290933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965196" y="354787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178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01000" y="3730752"/>
            <a:ext cx="1775379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831243" y="3712463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108 ₴  (−39 %) · Auchan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400507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· chicken flavor spicy · 140 g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01000" y="4206240"/>
            <a:ext cx="2364445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420309" y="418795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144 ₴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370832"/>
            <a:ext cx="1520117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75981" y="435254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93 ₴  (−36 %) · Torba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6451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Nongshim · Soon Veggie Ramyun veg… · 112 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01000" y="4846320"/>
            <a:ext cx="1564297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620161" y="482803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96 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5010912"/>
            <a:ext cx="1202676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58540" y="499262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74 ₴  (−23 %) · Auchan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01000" y="528523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Ottogi · Jin Jjambbong Ramen seaf… · 130 g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01000" y="5486400"/>
            <a:ext cx="2393899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449763" y="546811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146 ₴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001000" y="5650992"/>
            <a:ext cx="184083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896695" y="563270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112 ₴  (−23 %) · Auchan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catalogues, 29 Sep 2026: SKU price within the chain (median across stores); not all chains publish an "old price", so there are more promos than shown. Bands = our current shelf price: Vegetable/Spicy/Beef/Chicken (lower bound) and Gouda/Carbonara (upper).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FINANCIAL MODEL · 33 PALLETS · FINAL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33 pallets: purchase €0.65–0.75 → €0.54, shelf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NOW · SHELF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B53A3A"/>
                </a:solidFill>
                <a:latin typeface="Segoe UI"/>
              </a:rPr>
              <a:t>140.55 / 162.18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purchase €0.65 / €0.75 · +17…35 % above the 120 ₴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REQUEST TO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1E9EA6"/>
                </a:solidFill>
                <a:latin typeface="Segoe UI"/>
              </a:rPr>
              <a:t>€0.54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−17 % / −28 % vs current purchase price (one price for all 6 SKUs)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AFTER · SHELF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1E9EA6"/>
                </a:solidFill>
                <a:latin typeface="Segoe UI"/>
              </a:rPr>
              <a:t>119.86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margin 30 % · landed cost 38.53 ₴ · headroom to 120 ₴: 0.14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SIAS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BBE1E4"/>
                </a:solidFill>
                <a:latin typeface="Segoe UI"/>
              </a:rPr>
              <a:t>price per pack,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Landed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C7CBD9"/>
                </a:solidFill>
                <a:latin typeface="Segoe UI"/>
              </a:rPr>
              <a:t>full, in Ukraine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Partner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cost ÷ 0.45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Chain bonus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25 % of partner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Our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30 % of partner price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Markup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D7DAE4"/>
                </a:solidFill>
                <a:latin typeface="Segoe UI"/>
              </a:rPr>
              <a:t>store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SHELF PRICE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8C3C3"/>
                </a:solidFill>
                <a:latin typeface="Segoe UI"/>
              </a:rPr>
              <a:t>partner × 1.40 + VAT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4 SKUs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Vegetable, Spicy, Beef, Chicken · purchase €0.65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45.18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€0.882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100.40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€1.961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25.10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€0.490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30.12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€0.588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40.16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€0.784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140.55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€2.745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2 SKUs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Gouda, Carbonara · purchase €0.75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52.13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115.84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€2.263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28.96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€0.566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34.75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€0.679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46.34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€0.905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162.18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€3.168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AFTER · SIAS request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all 6 SKUs · purchase €0.54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27.65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€0.540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38.53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85.62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€1.672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21.40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€0.418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25.68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€0.502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34.25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€0.669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1E9EA6"/>
                </a:solidFill>
                <a:latin typeface="Segoe UI"/>
              </a:rPr>
              <a:t>119.86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€2.341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B53A3A"/>
                </a:solidFill>
                <a:latin typeface="Segoe UI"/>
              </a:rPr>
              <a:t>CHANGE · AFTER − BEFORE (4 SKUs)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−5.63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−€0.110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−6.65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−€0.130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−14.78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−€0.289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−3.69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−€0.072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−4.43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−€0.087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−5.91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−€0.115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−20.69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−€0.404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SIAS PURCHASE PRICE BY SKU · NOW → REQUEST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112.5 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123 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€0.54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131 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€0.54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 lang="en-US">
                <a:solidFill>
                  <a:srgbClr val="9FA9C4"/>
                </a:solidFill>
                <a:latin typeface="Segoe UI"/>
              </a:rPr>
              <a:t>Rate 51.20 ₴/€. Partner price = landed cost ÷ (1 − chain bonus 25 % − margin 30 %); shelf price = partner price × 1.40; all prices incl. VAT, per pack. "Before" landed cost per our cost file; "after" at the requested €0.54. Indicative model for discussion; the price has not been agreed.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FINANCIAL MODEL · 6 PALLETS · FINAL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6 pallets: purchase €0.65–0.75 → €0.32, shelf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NOW · SHELF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B53A3A"/>
                </a:solidFill>
                <a:latin typeface="Segoe UI"/>
              </a:rPr>
              <a:t>180.64 / 208.43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purchase €0.65 / €0.75 · +51…74 % above the 120 ₴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REQUEST TO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B53A3A"/>
                </a:solidFill>
                <a:latin typeface="Segoe UI"/>
              </a:rPr>
              <a:t>€0.32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−51 % / −57 % vs current purchase price (one price for all 6 SKUs)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AFTER · SHELF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1E9EA6"/>
                </a:solidFill>
                <a:latin typeface="Segoe UI"/>
              </a:rPr>
              <a:t>118.72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margin 30 % · landed cost 38.16 ₴ · headroom to 120 ₴: 1.28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SIAS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BBE1E4"/>
                </a:solidFill>
                <a:latin typeface="Segoe UI"/>
              </a:rPr>
              <a:t>price per pack,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Landed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C7CBD9"/>
                </a:solidFill>
                <a:latin typeface="Segoe UI"/>
              </a:rPr>
              <a:t>full, in Ukraine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Partner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cost ÷ 0.45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Chain bonus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25 % of partner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Our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30 % of partner price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Markup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D7DAE4"/>
                </a:solidFill>
                <a:latin typeface="Segoe UI"/>
              </a:rPr>
              <a:t>store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SHELF PRICE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8C3C3"/>
                </a:solidFill>
                <a:latin typeface="Segoe UI"/>
              </a:rPr>
              <a:t>partner × 1.40 + VAT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4 SKUs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Vegetable, Spicy, Beef, Chicken · purchase €0.65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58.06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€1.134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129.03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€2.520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32.26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38.71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51.61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180.64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€3.528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2 SKUs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Gouda, Carbonara · purchase €0.75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67.00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€1.309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148.88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€2.908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37.22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€0.727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44.66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€0.872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59.55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€1.163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208.43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€4.071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AFTER · SIAS request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all 6 SKUs · purchase €0.32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16.38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38.16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€0.745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84.80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€1.656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21.20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€0.414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25.44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€0.497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33.92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€0.662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1E9EA6"/>
                </a:solidFill>
                <a:latin typeface="Segoe UI"/>
              </a:rPr>
              <a:t>118.72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€2.319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B53A3A"/>
                </a:solidFill>
                <a:latin typeface="Segoe UI"/>
              </a:rPr>
              <a:t>CHANGE · AFTER − BEFORE (4 SKUs)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−16.90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−€0.330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−19.90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−€0.389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−44.23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−€0.864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−11.06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−€0.216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−13.27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−€0.259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−17.69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−€0.346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−61.92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−€1.209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SIAS PURCHASE PRICE BY SKU · NOW → REQUEST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112.5 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123 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€0.32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131 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€0.32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 lang="en-US">
                <a:solidFill>
                  <a:srgbClr val="9FA9C4"/>
                </a:solidFill>
                <a:latin typeface="Segoe UI"/>
              </a:rPr>
              <a:t>Rate 51.20 ₴/€. Partner price = landed cost ÷ (1 − chain bonus 25 % − margin 30 %); shelf price = partner price × 1.40; all prices incl. VAT, per pack. "Before" landed cost per our cost file; "after" at the requested €0.32. Indicative model for discussion; the price has not been agreed.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Purchase price needed at other shelf prices and margins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Maximum purchase price, € per pack, using the financial-model formula. Colour = comparison with the current SIAS price: €0.75 (Gouda, Carbonara) and €0.65 (the rest).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1E9EA6"/>
                </a:solidFill>
                <a:latin typeface="Segoe UI"/>
              </a:rPr>
              <a:t>33 PALLETS · FULL TRUCK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 lang="en-US">
                <a:solidFill>
                  <a:srgbClr val="717890"/>
                </a:solidFill>
                <a:latin typeface="Segoe UI"/>
              </a:rPr>
              <a:t>MARGIN \ SHELF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105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64408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64408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050791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€0.73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FFFFFF"/>
                </a:solidFill>
                <a:latin typeface="Segoe UI"/>
              </a:rPr>
              <a:t>€0.80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€0.74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FFFFFF"/>
                </a:solidFill>
                <a:latin typeface="Segoe UI"/>
              </a:rPr>
              <a:t>€0.81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FFFFFF"/>
                </a:solidFill>
                <a:latin typeface="Segoe UI"/>
              </a:rPr>
              <a:t>€0.88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B53A3A"/>
                </a:solidFill>
                <a:latin typeface="Segoe UI"/>
              </a:rPr>
              <a:t>6 PALLETS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 lang="en-US">
                <a:solidFill>
                  <a:srgbClr val="717890"/>
                </a:solidFill>
                <a:latin typeface="Segoe UI"/>
              </a:rPr>
              <a:t>MARGIN \ SHELF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105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15399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915399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915399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9701784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≥ €0.75 — achievable for all SKUs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€0.65–0.75 — for four SKUs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€0.50–0.65 — price reduction needed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&lt; €0.50 — substantial reduction needed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Red frame = target: shelf price 120 ₴, margin 30 %.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Calculated with the financial-model formula (rate 51.20; chain bonus 25 %; markup 1.40; financing 2.5 %; VAT 20 %). Price rounded down to the euro cent.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5856</Words>
  <Application>Microsoft Office PowerPoint</Application>
  <PresentationFormat>Широкий екран</PresentationFormat>
  <Paragraphs>1760</Paragraphs>
  <Slides>27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27</vt:i4>
      </vt:variant>
    </vt:vector>
  </HeadingPairs>
  <TitlesOfParts>
    <vt:vector size="31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2</cp:revision>
  <dcterms:created xsi:type="dcterms:W3CDTF">2013-01-27T09:14:16Z</dcterms:created>
  <dcterms:modified xsi:type="dcterms:W3CDTF">2026-10-06T15:06:11Z</dcterms:modified>
  <cp:category/>
</cp:coreProperties>
</file>