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86" r:id="rId12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2000" cy="6858000"/>
  <p:notesSz cx="7559675" cy="10691813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" Target="slides/slide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Relationship Id="rId73" Type="http://schemas.openxmlformats.org/officeDocument/2006/relationships/slide" Target="slides/slide58.xml"/><Relationship Id="rId74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6049C9C-26D1-4BF7-95C2-7ABB3BE0045C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1877D8-6C42-493E-8137-7AA72E3A88C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12FBAA39-EC53-4CF0-B60E-14DE506C665D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6FE0B3-4447-4A7D-B583-5EE32AB8B828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5602CAE-D726-43B9-920E-EA5939FE8FE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538AA35-9490-4648-8368-19B3123CAD3A}" type="slidenum">
              <a:t>‹№›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AB01A933-A588-48C4-BB5D-0E2F439E6893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926C7FD-F93C-4D5B-BE9B-12BDB056F4FC}" type="slidenum">
              <a:t>‹№›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4FE91E-1351-4F9F-8CF5-0B7F6789C7CF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82F14AF9-FC9F-4855-811B-1BDAF89C796A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208C1557-350F-440A-AEDD-9DFC903CA691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BF6D8D-7452-4BBD-B80A-CCF3520CA28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393B8F-BA6B-4E36-8247-E9C295277C1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806D57-E2E7-4FCC-8AB1-E1592A1A537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6F79F3-08D0-4626-8438-E303BB1E74C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701CCC-9DC2-4749-8F63-A885FB3A76DD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10AE7C-BC5C-431D-A7BD-9638F561294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8B0B25-FF38-4398-BF0F-2F66D13BE1A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51B68A-7401-4164-B7B7-66C50FF8715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605F44-7B5C-4EC4-9071-29658010D3A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384E6A-BA14-4EB6-BCD8-4BF7C0D4A84E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41A942-13C1-4351-B248-8F6A5E96920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6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17.jpeg"/><Relationship Id="rId5" Type="http://schemas.openxmlformats.org/officeDocument/2006/relationships/image" Target="../media/image12.jpeg"/><Relationship Id="rId6" Type="http://schemas.openxmlformats.org/officeDocument/2006/relationships/image" Target="../media/image72.jpg"/><Relationship Id="rId7" Type="http://schemas.openxmlformats.org/officeDocument/2006/relationships/image" Target="../media/image73.jp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Relationship Id="rId11" Type="http://schemas.openxmlformats.org/officeDocument/2006/relationships/image" Target="../media/image54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Relationship Id="rId9" Type="http://schemas.openxmlformats.org/officeDocument/2006/relationships/image" Target="../media/image18.jpeg"/><Relationship Id="rId10" Type="http://schemas.openxmlformats.org/officeDocument/2006/relationships/image" Target="../media/image19.jpeg"/><Relationship Id="rId11" Type="http://schemas.openxmlformats.org/officeDocument/2006/relationships/image" Target="../media/image20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7.jpg"/><Relationship Id="rId4" Type="http://schemas.openxmlformats.org/officeDocument/2006/relationships/image" Target="../media/image75.jpg"/><Relationship Id="rId5" Type="http://schemas.openxmlformats.org/officeDocument/2006/relationships/image" Target="../media/image78.jpg"/><Relationship Id="rId6" Type="http://schemas.openxmlformats.org/officeDocument/2006/relationships/image" Target="../media/image74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76.jpg"/><Relationship Id="rId10" Type="http://schemas.openxmlformats.org/officeDocument/2006/relationships/image" Target="../media/image81.jpg"/><Relationship Id="rId11" Type="http://schemas.openxmlformats.org/officeDocument/2006/relationships/image" Target="../media/image82.jpg"/><Relationship Id="rId12" Type="http://schemas.openxmlformats.org/officeDocument/2006/relationships/image" Target="../media/image83.jpg"/><Relationship Id="rId13" Type="http://schemas.openxmlformats.org/officeDocument/2006/relationships/image" Target="../media/image8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4.jpeg"/><Relationship Id="rId4" Type="http://schemas.openxmlformats.org/officeDocument/2006/relationships/image" Target="../media/image55.jpeg"/><Relationship Id="rId5" Type="http://schemas.openxmlformats.org/officeDocument/2006/relationships/image" Target="../media/image56.jpeg"/><Relationship Id="rId6" Type="http://schemas.openxmlformats.org/officeDocument/2006/relationships/image" Target="../media/image73.jpg"/><Relationship Id="rId7" Type="http://schemas.openxmlformats.org/officeDocument/2006/relationships/image" Target="../media/image72.jpg"/><Relationship Id="rId8" Type="http://schemas.openxmlformats.org/officeDocument/2006/relationships/image" Target="../media/image85.jpg"/><Relationship Id="rId9" Type="http://schemas.openxmlformats.org/officeDocument/2006/relationships/image" Target="../media/image86.jpg"/><Relationship Id="rId10" Type="http://schemas.openxmlformats.org/officeDocument/2006/relationships/image" Target="../media/image87.jpg"/><Relationship Id="rId11" Type="http://schemas.openxmlformats.org/officeDocument/2006/relationships/image" Target="../media/image88.jpg"/><Relationship Id="rId12" Type="http://schemas.openxmlformats.org/officeDocument/2006/relationships/image" Target="../media/image8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90.jpg"/><Relationship Id="rId5" Type="http://schemas.openxmlformats.org/officeDocument/2006/relationships/image" Target="../media/image28.jpeg"/><Relationship Id="rId6" Type="http://schemas.openxmlformats.org/officeDocument/2006/relationships/image" Target="../media/image26.jpeg"/><Relationship Id="rId7" Type="http://schemas.openxmlformats.org/officeDocument/2006/relationships/image" Target="../media/image91.jpg"/><Relationship Id="rId8" Type="http://schemas.openxmlformats.org/officeDocument/2006/relationships/image" Target="../media/image25.jpeg"/><Relationship Id="rId9" Type="http://schemas.openxmlformats.org/officeDocument/2006/relationships/image" Target="../media/image40.jpeg"/><Relationship Id="rId10" Type="http://schemas.openxmlformats.org/officeDocument/2006/relationships/image" Target="../media/image21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1.jpeg"/><Relationship Id="rId4" Type="http://schemas.openxmlformats.org/officeDocument/2006/relationships/image" Target="../media/image22.jpeg"/><Relationship Id="rId5" Type="http://schemas.openxmlformats.org/officeDocument/2006/relationships/image" Target="../media/image23.jpeg"/><Relationship Id="rId6" Type="http://schemas.openxmlformats.org/officeDocument/2006/relationships/image" Target="../media/image24.jpeg"/><Relationship Id="rId7" Type="http://schemas.openxmlformats.org/officeDocument/2006/relationships/image" Target="../media/image25.jpeg"/><Relationship Id="rId8" Type="http://schemas.openxmlformats.org/officeDocument/2006/relationships/image" Target="../media/image26.jpeg"/><Relationship Id="rId9" Type="http://schemas.openxmlformats.org/officeDocument/2006/relationships/image" Target="../media/image27.jpeg"/><Relationship Id="rId10" Type="http://schemas.openxmlformats.org/officeDocument/2006/relationships/image" Target="../media/image9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8.jpeg"/><Relationship Id="rId4" Type="http://schemas.openxmlformats.org/officeDocument/2006/relationships/image" Target="../media/image29.jpeg"/><Relationship Id="rId5" Type="http://schemas.openxmlformats.org/officeDocument/2006/relationships/image" Target="../media/image30.jpeg"/><Relationship Id="rId6" Type="http://schemas.openxmlformats.org/officeDocument/2006/relationships/image" Target="../media/image31.jpeg"/><Relationship Id="rId7" Type="http://schemas.openxmlformats.org/officeDocument/2006/relationships/image" Target="../media/image32.jpeg"/><Relationship Id="rId8" Type="http://schemas.openxmlformats.org/officeDocument/2006/relationships/image" Target="../media/image33.jpeg"/><Relationship Id="rId9" Type="http://schemas.openxmlformats.org/officeDocument/2006/relationships/image" Target="../media/image40.jpeg"/><Relationship Id="rId10" Type="http://schemas.openxmlformats.org/officeDocument/2006/relationships/image" Target="../media/image41.jpeg"/><Relationship Id="rId11" Type="http://schemas.openxmlformats.org/officeDocument/2006/relationships/image" Target="../media/image90.jpg"/><Relationship Id="rId12" Type="http://schemas.openxmlformats.org/officeDocument/2006/relationships/image" Target="../media/image9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0.jpg"/><Relationship Id="rId4" Type="http://schemas.openxmlformats.org/officeDocument/2006/relationships/image" Target="../media/image66.jpeg"/><Relationship Id="rId5" Type="http://schemas.openxmlformats.org/officeDocument/2006/relationships/image" Target="../media/image60.jpeg"/><Relationship Id="rId6" Type="http://schemas.openxmlformats.org/officeDocument/2006/relationships/image" Target="../media/image64.jpeg"/><Relationship Id="rId7" Type="http://schemas.openxmlformats.org/officeDocument/2006/relationships/image" Target="../media/image46.jpeg"/><Relationship Id="rId8" Type="http://schemas.openxmlformats.org/officeDocument/2006/relationships/image" Target="../media/image57.jpeg"/><Relationship Id="rId9" Type="http://schemas.openxmlformats.org/officeDocument/2006/relationships/image" Target="../media/image59.jpeg"/><Relationship Id="rId10" Type="http://schemas.openxmlformats.org/officeDocument/2006/relationships/image" Target="../media/image44.jpeg"/><Relationship Id="rId11" Type="http://schemas.openxmlformats.org/officeDocument/2006/relationships/image" Target="../media/image50.jpeg"/><Relationship Id="rId12" Type="http://schemas.openxmlformats.org/officeDocument/2006/relationships/image" Target="../media/image53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48.jpeg"/><Relationship Id="rId6" Type="http://schemas.openxmlformats.org/officeDocument/2006/relationships/image" Target="../media/image49.jpeg"/><Relationship Id="rId7" Type="http://schemas.openxmlformats.org/officeDocument/2006/relationships/image" Target="../media/image50.jpeg"/><Relationship Id="rId8" Type="http://schemas.openxmlformats.org/officeDocument/2006/relationships/image" Target="../media/image51.jpeg"/><Relationship Id="rId9" Type="http://schemas.openxmlformats.org/officeDocument/2006/relationships/image" Target="../media/image52.jpeg"/><Relationship Id="rId10" Type="http://schemas.openxmlformats.org/officeDocument/2006/relationships/image" Target="../media/image53.jpeg"/><Relationship Id="rId11" Type="http://schemas.openxmlformats.org/officeDocument/2006/relationships/image" Target="../media/image9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57.jpeg"/><Relationship Id="rId6" Type="http://schemas.openxmlformats.org/officeDocument/2006/relationships/image" Target="../media/image58.jpeg"/><Relationship Id="rId7" Type="http://schemas.openxmlformats.org/officeDocument/2006/relationships/image" Target="../media/image54.jpeg"/><Relationship Id="rId8" Type="http://schemas.openxmlformats.org/officeDocument/2006/relationships/image" Target="../media/image59.jpeg"/><Relationship Id="rId9" Type="http://schemas.openxmlformats.org/officeDocument/2006/relationships/image" Target="../media/image56.jpeg"/><Relationship Id="rId10" Type="http://schemas.openxmlformats.org/officeDocument/2006/relationships/image" Target="../media/image9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0.jpeg"/><Relationship Id="rId4" Type="http://schemas.openxmlformats.org/officeDocument/2006/relationships/image" Target="../media/image61.jpeg"/><Relationship Id="rId5" Type="http://schemas.openxmlformats.org/officeDocument/2006/relationships/image" Target="../media/image62.jpeg"/><Relationship Id="rId6" Type="http://schemas.openxmlformats.org/officeDocument/2006/relationships/image" Target="../media/image63.jpeg"/><Relationship Id="rId7" Type="http://schemas.openxmlformats.org/officeDocument/2006/relationships/image" Target="../media/image64.jpeg"/><Relationship Id="rId8" Type="http://schemas.openxmlformats.org/officeDocument/2006/relationships/image" Target="../media/image65.jpeg"/><Relationship Id="rId9" Type="http://schemas.openxmlformats.org/officeDocument/2006/relationships/image" Target="../media/image66.jpeg"/><Relationship Id="rId10" Type="http://schemas.openxmlformats.org/officeDocument/2006/relationships/image" Target="../media/image95.jpg"/><Relationship Id="rId11" Type="http://schemas.openxmlformats.org/officeDocument/2006/relationships/image" Target="../media/image9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1.jpg"/><Relationship Id="rId4" Type="http://schemas.openxmlformats.org/officeDocument/2006/relationships/image" Target="../media/image34.jpeg"/><Relationship Id="rId5" Type="http://schemas.openxmlformats.org/officeDocument/2006/relationships/image" Target="../media/image35.jpeg"/><Relationship Id="rId6" Type="http://schemas.openxmlformats.org/officeDocument/2006/relationships/image" Target="../media/image38.jpeg"/><Relationship Id="rId7" Type="http://schemas.openxmlformats.org/officeDocument/2006/relationships/image" Target="../media/image42.jpeg"/><Relationship Id="rId8" Type="http://schemas.openxmlformats.org/officeDocument/2006/relationships/image" Target="../media/image43.jpeg"/><Relationship Id="rId9" Type="http://schemas.openxmlformats.org/officeDocument/2006/relationships/image" Target="../media/image9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4.jpeg"/><Relationship Id="rId4" Type="http://schemas.openxmlformats.org/officeDocument/2006/relationships/image" Target="../media/image35.jpeg"/><Relationship Id="rId5" Type="http://schemas.openxmlformats.org/officeDocument/2006/relationships/image" Target="../media/image36.jpeg"/><Relationship Id="rId6" Type="http://schemas.openxmlformats.org/officeDocument/2006/relationships/image" Target="../media/image37.jpeg"/><Relationship Id="rId7" Type="http://schemas.openxmlformats.org/officeDocument/2006/relationships/image" Target="../media/image38.jpeg"/><Relationship Id="rId8" Type="http://schemas.openxmlformats.org/officeDocument/2006/relationships/image" Target="../media/image39.jpeg"/><Relationship Id="rId9" Type="http://schemas.openxmlformats.org/officeDocument/2006/relationships/image" Target="../media/image42.jpeg"/><Relationship Id="rId10" Type="http://schemas.openxmlformats.org/officeDocument/2006/relationships/image" Target="../media/image43.jpeg"/><Relationship Id="rId11" Type="http://schemas.openxmlformats.org/officeDocument/2006/relationships/image" Target="../media/image98.jpg"/><Relationship Id="rId12" Type="http://schemas.openxmlformats.org/officeDocument/2006/relationships/image" Target="../media/image9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5E4B94"/>
                </a:solidFill>
                <a:latin typeface="Segoe UI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29 брендів · 4 формати · 64 продавців. Кожна позиція має фото й ціну в каталозі.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9872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4192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 ПОЛИЦІ МЕРЕЖ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192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192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SKU на всю країну, 11 з них — Ben's Original у «Сільпо». Ритейл-аудит 9 мереж.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6240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16240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ІМПОРТ ЗА МИТНИЦЕЮ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9A50B"/>
                </a:solidFill>
                <a:latin typeface="Segoe UI"/>
              </a:rPr>
              <a:t>3,5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Сегменти 1–2 за січ. 2025 – трав. 2026 — лише 1,4 % коду 1904901000. Решта — заморожені суміші, чіпси, різото й долма: не готовий рис.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3504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2026 ПРОТИ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37A169"/>
                </a:solidFill>
                <a:latin typeface="Segoe UI"/>
              </a:rPr>
              <a:t>×2,0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Наші сегменти без разової партії Ben's: 128 → 261 кг на місяць.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9872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09872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192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РОЗРИВ ЦІН ФОРМАТІВ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192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4F7C"/>
                </a:solidFill>
                <a:latin typeface="Segoe UI"/>
              </a:rPr>
              <a:t>×6,2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192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коробки з нагрівачем 735 грн проти 118 грн у пауча.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6240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240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560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ВХІД У КАТЕГОРІЮ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0560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4810A"/>
                </a:solidFill>
                <a:latin typeface="Segoe UI"/>
              </a:rPr>
              <a:t>118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0560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пауча — найдешевшого формату: 34 позицій, вага 220–400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Джерела: картки продавців 23–28.09.2026 і 06.10.2026 (105 позицій); митна база codexmb, вивантаження 28.09.2026, січень 2025 – травень 2026; ритейл-аудит 9 мереж, 28.09.2026.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Скільки готового рису ввозять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За січень 2025 – травень 2026: 3,5 т готового рису. Це 1,4 % коду 1904901000.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7269480" cy="4626864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2880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ЩО САМЕ ВВОЗЯТЬ, КГ ЗА ПЕРІОД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3969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Рис у чаші під окріп (тип Henan)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2139696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2 639 кг · 75,0 %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450591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450591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651760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 · чаша 144/174 г, сегмент 2 · імпортер Вендінг Кінгз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83006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83006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676 кг · 19,2 %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" y="3140963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3140963"/>
            <a:ext cx="1733027" cy="18288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342132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 · Британія · Mars Austria, пауч, сегмент 1 · імпортер Фоззі Коммерц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520439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CJ Hetbahn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3520439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76 кг · 2,2 %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831335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3831335"/>
            <a:ext cx="193857" cy="18288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032504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 · чаша 210 г, сегмент 1 · імпортер Відус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421081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42108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62 кг · 1,8 %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" y="4521707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4521707"/>
            <a:ext cx="160266" cy="18288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722875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 · органічний пауч 250 г, сегмент 1 · імпортер Бюро Він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901183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Рис швидкого приготування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3984" y="4901183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30 кг · 0,9 %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" y="5212079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9536" y="5212079"/>
            <a:ext cx="77953" cy="18288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413248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 · пакет, сегмент 2 · імпортер Азіяфудс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" y="5591555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C2235"/>
                </a:solidFill>
                <a:latin typeface="Segoe UI"/>
              </a:rPr>
              <a:t>Haldiram RTE Biryani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984" y="5591555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33 кг · 0,9 %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" y="5902451"/>
            <a:ext cx="67665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59536" y="5902451"/>
            <a:ext cx="84620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6103619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Індія · пакет 200 г, сегмент 1 · імпортер Тадж Махал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74152" y="1700784"/>
            <a:ext cx="3514313" cy="301752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74152" y="1700784"/>
            <a:ext cx="82296" cy="30175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48472" y="184708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95C"/>
                </a:solidFill>
                <a:latin typeface="Segoe UI"/>
              </a:rPr>
              <a:t>Готовий рис, сегменти 1–2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76272"/>
            <a:ext cx="30571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3,5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85292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9C2DA"/>
                </a:solidFill>
                <a:latin typeface="Segoe UI"/>
              </a:rPr>
              <a:t>14 партій за січ. 2025 – трав.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310128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25425" y="33101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0,85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730752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25425" y="37307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2,67 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48472" y="4151376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Ben's — одна партія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25425" y="41513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676 кг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4846320"/>
            <a:ext cx="3514313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3608" y="4956048"/>
            <a:ext cx="314855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ПЕРІОД І МЕТОД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5212080"/>
            <a:ext cx="314855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2235"/>
                </a:solidFill>
                <a:latin typeface="Segoe UI"/>
              </a:rPr>
              <a:t>17 місяців: січень 2025 – травень 2026 (немає 12–31 березня 2025). У коді 250,3 т; решта — заморожені суміші, чіпси, різото-набори, долма — це не готовий рис, їх не враховано.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Лише готовий рис сегментів 1–2; класифікація — за описом кожної декларації. Вага нетто.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2025 І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Скільки привозили у 2025 і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Середнє на місяць: 2025 — 12 місяців, 2026 — січень–травень. Так порівняння чесне.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722376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556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КГ НА МІСЯЦЬ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6864" y="180136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5464" y="17739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80136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17739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2026 · січ–трав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139696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Рис у чаші під окріп (тип Henan)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056" y="2157984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всього: 2025 — 1 386 кг · 2026 — 1 253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" y="2414015"/>
            <a:ext cx="1812487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3463" y="239115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116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" y="2596896"/>
            <a:ext cx="3931920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82896" y="25740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251 кг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283006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056" y="2848356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всього: 2025 — 676 кг · 2026 — 0 кг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104387"/>
            <a:ext cx="883803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34779" y="308152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56 кг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" y="3287268"/>
            <a:ext cx="36576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2644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0 кг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3520439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CJ Hetbahn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056" y="3538727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всього: 2025 — 25 кг · 2026 — 50 кг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" y="3794759"/>
            <a:ext cx="36576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37719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2 кг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" y="3977639"/>
            <a:ext cx="158180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9156" y="395478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10 кг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421081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77056" y="4229099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всього: 2025 — 62 кг · 2026 — 0 кг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" y="4485131"/>
            <a:ext cx="81731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2707" y="446227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5 кг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" y="4668012"/>
            <a:ext cx="36576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464515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0 кг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4901183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Рис швидкого приготування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77056" y="4919471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всього: 2025 — 30 кг · 2026 — 0 кг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" y="5175503"/>
            <a:ext cx="39754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0730" y="515264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3 кг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" y="5358383"/>
            <a:ext cx="36576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552" y="533552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0 кг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" y="5591555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Haldiram RTE Biryani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77056" y="5609843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всього: 2025 — 33 кг · 2026 — 0 кг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9536" y="5865875"/>
            <a:ext cx="43154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4130" y="584301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3 кг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" y="6048755"/>
            <a:ext cx="36576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7552" y="60258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0 кг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28432" y="1645920"/>
            <a:ext cx="3560033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028432" y="1645920"/>
            <a:ext cx="82296" cy="15179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66176" y="1755648"/>
            <a:ext cx="319427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1993392"/>
            <a:ext cx="319427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03A5D"/>
                </a:solidFill>
                <a:latin typeface="Segoe UI"/>
              </a:rPr>
              <a:t>797 → 50 кг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2468880"/>
            <a:ext cx="319427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У 2025 — 797 кг, з них 676 кг — одна партія Ben's. У 2026 за п'ять місяців — лише CJ Hetbahn, 50 кг.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28432" y="3236976"/>
            <a:ext cx="3560033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028432" y="3236976"/>
            <a:ext cx="82296" cy="151790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66176" y="3346704"/>
            <a:ext cx="319427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3584448"/>
            <a:ext cx="319427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03A5D"/>
                </a:solidFill>
                <a:latin typeface="Segoe UI"/>
              </a:rPr>
              <a:t>×2,2 на місяць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4059936"/>
            <a:ext cx="319427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Китайський рис у чаші: 1 386 кг у 2025 і 1 253 кг за п'ять місяців 2026.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28432" y="4828032"/>
            <a:ext cx="3560033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028432" y="4828032"/>
            <a:ext cx="82296" cy="151790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66176" y="4937760"/>
            <a:ext cx="319427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УСІ СЕГМЕНТИ 1–2 БЕЗ BEN'S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5175504"/>
            <a:ext cx="319427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03A5D"/>
                </a:solidFill>
                <a:latin typeface="Segoe UI"/>
              </a:rPr>
              <a:t>×2,0 на місяць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5650992"/>
            <a:ext cx="319427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128 → 261 кг на місяць.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Лише готовий рис сегментів 1–2; класифікація — за описом кожної декларації. Вага нетто. Ben's у 2025 — одна партія 676 кг (лютий).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Хто завозить готовий рис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Усього шість імпортерів за січ. 2025 – трав. 2026, і жоден не возить регулярно: від однієї до чотирьох партій.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45920"/>
            <a:ext cx="301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64592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5224" y="1645920"/>
            <a:ext cx="2404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ЩО ЗАВОЗИТЬ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9824" y="1645920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645920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ПАРТІЙ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15784" y="1645920"/>
            <a:ext cx="1581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КОЛИ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424" y="1645920"/>
            <a:ext cx="6675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717890"/>
                </a:solidFill>
                <a:latin typeface="Segoe UI"/>
              </a:rPr>
              <a:t>КГ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84664" y="1645920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1901952"/>
            <a:ext cx="10954512" cy="621792"/>
          </a:xfrm>
          <a:prstGeom prst="roundRect">
            <a:avLst>
              <a:gd name="adj" fmla="val 1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084832"/>
            <a:ext cx="30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" y="2084832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Вендінг Кінгз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199339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Рис у чаші під окріп (тип Henan)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5224" y="223113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чаша 144/174 г, сегмент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9824" y="2084832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4264" y="208483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4" y="2084832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лют. 2025 – кві.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066544"/>
            <a:ext cx="73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2 639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0384" y="2103120"/>
            <a:ext cx="914400" cy="182880"/>
          </a:xfrm>
          <a:prstGeom prst="roundRect">
            <a:avLst>
              <a:gd name="adj" fmla="val 4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7936" y="20848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75,0 %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" y="2578608"/>
            <a:ext cx="10954512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2761488"/>
            <a:ext cx="30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" y="2761488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5224" y="26700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35224" y="2907792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Mars Austria, пауч, сегмент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9824" y="2761488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ЄС · Британія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4264" y="276148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15784" y="2761488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лют.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2743200"/>
            <a:ext cx="73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676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30384" y="2779776"/>
            <a:ext cx="234192" cy="182880"/>
          </a:xfrm>
          <a:prstGeom prst="roundRect">
            <a:avLst>
              <a:gd name="adj" fmla="val 4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37728" y="276148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19,2 %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255264"/>
            <a:ext cx="10954512" cy="621792"/>
          </a:xfrm>
          <a:prstGeom prst="roundRect">
            <a:avLst>
              <a:gd name="adj" fmla="val 1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" y="3438144"/>
            <a:ext cx="30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6424" y="3438144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Відус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35224" y="334670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CJ Hetbahn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5224" y="358444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чаша 210 г, сегмент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49824" y="3438144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84264" y="34381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5784" y="3438144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тра. 2025 – кві.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15984" y="3419856"/>
            <a:ext cx="73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76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30384" y="3456432"/>
            <a:ext cx="45720" cy="182880"/>
          </a:xfrm>
          <a:prstGeom prst="roundRect">
            <a:avLst>
              <a:gd name="adj" fmla="val 4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49256" y="343814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2,2 %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" y="3931920"/>
            <a:ext cx="10954512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" y="4114800"/>
            <a:ext cx="30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6424" y="4114800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Бюро Він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35224" y="402336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35224" y="426110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органічний пауч 250 г, сегмент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9824" y="411480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ЄС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84264" y="411480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15784" y="4114800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січ. 2025 – лис. 2025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15984" y="4096512"/>
            <a:ext cx="73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62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30384" y="4133088"/>
            <a:ext cx="45720" cy="182880"/>
          </a:xfrm>
          <a:prstGeom prst="roundRect">
            <a:avLst>
              <a:gd name="adj" fmla="val 4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49256" y="411480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1,8 %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608576"/>
            <a:ext cx="10954512" cy="621792"/>
          </a:xfrm>
          <a:prstGeom prst="roundRect">
            <a:avLst>
              <a:gd name="adj" fmla="val 1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" y="4791456"/>
            <a:ext cx="30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" y="4791456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Тадж Махал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5224" y="470001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Haldiram RTE Biryani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5224" y="493776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пакет 200 г, сегмент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791456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Індія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84264" y="479145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4" y="4791456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лис.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15984" y="4773168"/>
            <a:ext cx="73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33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30384" y="4809744"/>
            <a:ext cx="45720" cy="182880"/>
          </a:xfrm>
          <a:prstGeom prst="roundRect">
            <a:avLst>
              <a:gd name="adj" fmla="val 4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49256" y="47914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0,9 %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3504" y="5285232"/>
            <a:ext cx="10954512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" y="5468112"/>
            <a:ext cx="30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" y="5468112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Азіяфудс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5224" y="537667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Рис швидкого приготування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5224" y="561441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пакет, сегмент 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9824" y="5468112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Таїланд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84264" y="5468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15784" y="5468112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лют. 2025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15984" y="5449824"/>
            <a:ext cx="73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30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30384" y="5486400"/>
            <a:ext cx="45720" cy="182880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49256" y="54681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0,9 %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Лише готовий рис сегментів 1–2; класифікація — за описом кожної декларації. Вага нетто. Імпортери — за даними декларацій; Вендінг Кінгз і Азіяфудс не вказали виробника в описі.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Сегментація за упаковкою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Чотири формати, 105 позицій: спершу упаковка, далі вага, ціна й бренди.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585" y="2139696"/>
            <a:ext cx="862736" cy="12070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4810A"/>
                </a:solidFill>
                <a:latin typeface="Segoe UI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7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118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7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78708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78708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5012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8436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275" y="2139696"/>
            <a:ext cx="1373765" cy="12070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25012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E9EA6"/>
                </a:solidFill>
                <a:latin typeface="Segoe UI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9956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22 %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5012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9412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5012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9412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5012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9412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3912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53912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0216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ДОЙПАК · ПЛОСКИЙ ПАКЕТ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h_curr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683" y="2139696"/>
            <a:ext cx="1321356" cy="12070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300216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E4B94"/>
                </a:solidFill>
                <a:latin typeface="Segoe UI"/>
              </a:rPr>
              <a:t>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0216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4616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4616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315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9116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29116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75420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8844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2121" y="2139696"/>
            <a:ext cx="1222889" cy="120700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075420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4F7C"/>
                </a:solidFill>
                <a:latin typeface="Segoe UI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70364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13 %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5420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89820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75420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89820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5420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9820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48463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ФОРМАТ × СПОСІБ ПРИГОТУВАННЯ · ПОЗИЦІЙ І МЕДІАНА ЦІНИ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512064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40864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1 · Розігрів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45152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2 · Під окріп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 · Саморозігрів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53728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 · Сублімат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536752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32304" y="535838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40864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34 · 118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45152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9440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53728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561898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432304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999D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40864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11 · 255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36592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9DA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45152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10 · 132 грн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040879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C2C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49440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2 · 931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53728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587044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40864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36592" y="586130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BDC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5152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3 · 501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0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345167" y="586130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3D4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53728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31 · 295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3504" y="612190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40864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45152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40879" y="611276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8B9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49440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14 · 735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53728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Формат визначено за фактичною упаковкою на фото картки; способи приготування: 1 — розігрів у НВЧ/воді, 2 — сухий рис під окріп, 3 — саморозігрів, 4 — сублімація. Медіана — за мінімальною ціною позиції. Qiaoshanmei — плоский пакет під окріп, віднесено до дойпаку.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1 З 4 · ПАУЧ · РЕТОРТ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Від порційних 220 г до реторту 400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461" y="1883664"/>
            <a:ext cx="1006525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34 · 10  (32 %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118 грн · 45–449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або гаряча вода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19379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4924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Україна 6 · ЄС 3 · США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63270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78815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Сільпо, СУХПАЙ, UPcompany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502" y="1993392"/>
            <a:ext cx="425027" cy="61493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220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75104"/>
            <a:ext cx="713935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70064" y="2212848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×7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90–210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398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870819"/>
            <a:ext cx="426720" cy="602011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6214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oc_jasmin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432" y="2958465"/>
            <a:ext cx="426720" cy="4267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48030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learspring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8592" y="2916720"/>
            <a:ext cx="426720" cy="5102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240–250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048" y="2846070"/>
            <a:ext cx="611944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53992" y="2846070"/>
            <a:ext cx="611944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65937" y="2846070"/>
            <a:ext cx="101990" cy="182880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22792" y="280949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42048" y="311581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70064" y="3083814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×6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24036" y="3115818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2052" y="3083814"/>
            <a:ext cx="13423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Seeds of Change ×6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42048" y="3271266"/>
            <a:ext cx="91440" cy="91440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70064" y="3239262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45–449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4398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ua_pak_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3900551"/>
            <a:ext cx="426720" cy="2844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96214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a_markel_soy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0432" y="3773879"/>
            <a:ext cx="426720" cy="537822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48030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a_veres_por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11289" y="3735324"/>
            <a:ext cx="401325" cy="61493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350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42048" y="3717036"/>
            <a:ext cx="305972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548020" y="3717036"/>
            <a:ext cx="203981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52001" y="3717036"/>
            <a:ext cx="203981" cy="182880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955983" y="3717036"/>
            <a:ext cx="203981" cy="18288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159964" y="3717036"/>
            <a:ext cx="10199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1955" y="3717036"/>
            <a:ext cx="10199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22792" y="36804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42048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395478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МАКРО ×3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80883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08899" y="3954780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Маркел ×2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80068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08084" y="395478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Верес ×2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42048" y="4142232"/>
            <a:ext cx="91440" cy="9144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70064" y="4110228"/>
            <a:ext cx="11612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Ходорівський ×2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403336" y="414223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31352" y="4110228"/>
            <a:ext cx="67848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81820" y="414223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209836" y="4110228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М'ясниця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71–199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2272" y="4638814"/>
            <a:ext cx="475488" cy="549884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400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42048" y="4588002"/>
            <a:ext cx="305972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622792" y="45514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42048" y="485775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70064" y="4825746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Adventure Menu ×3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315–404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Пауч — найдешевший формат: від 45 грн. 350 г — український реторт: 11 позицій, 6 брендів, медіана 101 грн. 220–250 г — Ben's Original. 240 г — органіка Seeds of Change (208–449 грн, перепродаж iHerb). Вагових смуг 150–199 і 300 г немає.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Ben's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13 позицій, 220–250 г — єдиний бренд готового гарніру на мережевій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868" y="1746504"/>
            <a:ext cx="648148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85" y="1746504"/>
            <a:ext cx="653527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6080" y="1746504"/>
            <a:ext cx="64814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685" y="1746504"/>
            <a:ext cx="648148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568" y="1746504"/>
            <a:ext cx="661595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5965" y="1746504"/>
            <a:ext cx="632011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3124" y="1746504"/>
            <a:ext cx="658905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100–210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Сільпо · Товари з Іспанії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9" y="4178808"/>
            <a:ext cx="653527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85" y="4178808"/>
            <a:ext cx="653527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4906" y="4178808"/>
            <a:ext cx="610496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685" y="4178808"/>
            <a:ext cx="648148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568" y="4178808"/>
            <a:ext cx="661595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5965" y="4178808"/>
            <a:ext cx="632011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український реторт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11 позицій, 350 г: каша чи плов із м'ясом, не гарнір. 71–199 грн, готовий після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a_portion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68" y="1746504"/>
            <a:ext cx="984183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PORTION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71–109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portion.com.ua · Rozetka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a_markel_so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947" y="1746504"/>
            <a:ext cx="725504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80–96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 · Мартел-shop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a_myasnytsi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346" y="1746504"/>
            <a:ext cx="756786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М'ЯСНИЦЯ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88–89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Belorfoods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a_pak_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980" y="1746504"/>
            <a:ext cx="13716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 та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96–135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UPcompany · СУХПАЙ · Ліхтар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a_makro_chick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5645" y="1746504"/>
            <a:ext cx="742348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 курятиною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a_pak_beef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2545" y="1746504"/>
            <a:ext cx="696628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яловичиною та солодким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104–107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UPcompany · СУХПАЙ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a_veres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276" y="4178808"/>
            <a:ext cx="596766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ВЕРЕС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a_vere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10438" y="4178808"/>
            <a:ext cx="808522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 м'ясом курки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ВЕРЕС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108–135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Козуб · Смачна адреса · Продукт-Shop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a_khodoriv_35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5840" y="4178808"/>
            <a:ext cx="6858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 та овочами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ХОДОРІВСЬКИЙ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ua_khodoriv_por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1004" y="4178808"/>
            <a:ext cx="743551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ХОДОРІВСЬКИЙ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Foodi Shop · Food Shop · МореПродуктів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a_markel_eat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2490" y="4178808"/>
            <a:ext cx="70866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127–144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органіка й імпорт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Seeds of Change — органіка США, лише через перепродавців iHerb на Prom; Clearspring — ЄС; Adventure Menu — 400 г для походів.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720" y="1746504"/>
            <a:ext cx="790687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6352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80360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257" y="1746504"/>
            <a:ext cx="785308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16936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6936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315–356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6936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93208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1552" y="1746504"/>
            <a:ext cx="758414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29784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4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42048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06056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1222" y="1746504"/>
            <a:ext cx="76477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42631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CLEARSPRING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2631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252–446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54896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18904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oc_jasmin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1746504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55480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Organic Jasmine Rice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225–449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 · VITADOBI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67512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oc_brownwil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7863" y="4178808"/>
            <a:ext cx="91440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04088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Rice, томат і часник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6352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880360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c_cilantro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0712" y="4178808"/>
            <a:ext cx="914400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916936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Jasmine, кінза й лайм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16936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6936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16936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0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93208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oc_brownbasmati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178808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9784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Basmati Rice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9784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9784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208–287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784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Карман · BIOLIFE · ТАБЛЕТКА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42048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06056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oc_quinoagarlic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36407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42631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Quinoa &amp; Brown Rice з часником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42631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42631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210–400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42631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Zdorovo · FAIR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54896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518904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oc_spanish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49255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555480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Spanish Style з кіноа та перцем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5480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407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55480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BIOLIFE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30 магазинів у 5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171450" cy="27432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56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1543050" cy="27432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3916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342900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53512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1028700" cy="27432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481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 ·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5931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5931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32504" y="2404872"/>
            <a:ext cx="7555961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32504" y="2404872"/>
            <a:ext cx="73152" cy="987552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1960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1688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6460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66944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6672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BIOLIFE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2223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2223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24574" y="2770632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4302" y="2770632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MAUDAU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08545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8545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10881" y="2770632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20609" y="2770632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FAIR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52206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52206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54542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64270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209836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09836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12172" y="2770632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21900" y="2770632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VITADOBI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38790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38790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51960" y="3054096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61688" y="3054096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Zdorovo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07254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07254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09590" y="3054096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19318" y="3054096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Карман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93561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93561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95897" y="3054096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05625" y="3054096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ТАБЛЕТКА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22515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22515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32504" y="3447288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32504" y="3447288"/>
            <a:ext cx="73152" cy="7040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51960" y="3520440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51105" y="3529584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1105" y="3529584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51960" y="3813048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61688" y="3813048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Edison Lee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21224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21224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623560" y="3813048"/>
            <a:ext cx="170809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33288" y="3813048"/>
            <a:ext cx="125089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020763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20763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032504" y="4206240"/>
            <a:ext cx="7555961" cy="1271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032504" y="4206240"/>
            <a:ext cx="73152" cy="127101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51960" y="427939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12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851105" y="428853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851105" y="428853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51960" y="457200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61688" y="457200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СУХПАЙ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35931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5931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338267" y="4572000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47995" y="4572000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UPcompany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36208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36208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638544" y="4572000"/>
            <a:ext cx="149412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748272" y="4572000"/>
            <a:ext cx="103692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821777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821777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224113" y="4572000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33841" y="45720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Belorfoods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193377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93377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595713" y="4572000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705441" y="4572000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Food Shop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493654" y="459486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493654" y="45948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51960" y="4855464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361688" y="4855464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Foodi Shop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221224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21224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623560" y="4855464"/>
            <a:ext cx="1565452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33288" y="4855464"/>
            <a:ext cx="11082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portion.com.ua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878116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78116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280452" y="4855464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390180" y="4855464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Козуб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893100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893100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295436" y="4855464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05164" y="4855464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Мартел-shop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9336024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336024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738360" y="4855464"/>
            <a:ext cx="1565452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848088" y="4855464"/>
            <a:ext cx="11082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0992916" y="487832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992916" y="487832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251960" y="5138927"/>
            <a:ext cx="142280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361688" y="5138927"/>
            <a:ext cx="9656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Продукт-Shop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363870" y="516178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363870" y="516178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766206" y="5138927"/>
            <a:ext cx="149412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875934" y="5138927"/>
            <a:ext cx="103692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Смачна адреса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949440" y="516178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949440" y="516178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032504" y="55321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4032504" y="55321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251960" y="56052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6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851105" y="56144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851105" y="56144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51960" y="5897880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361688" y="5897880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MK-Sport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078577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078577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480913" y="5897880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590641" y="5897880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ALANTUR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36208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36208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638544" y="5897880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748272" y="5897880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ForCamp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393838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393838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796174" y="5897880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905902" y="5897880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Freeride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622792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622792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9025128" y="5897880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34856" y="5897880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Лєєр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566452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566452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968788" y="589788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0078516" y="589788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Ліхтар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0652760" y="59207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0652760" y="59207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(34 позицій формату «пауч»). Канали — як на слайді «Де продається категорія»; Prom-перепродавці iHerb — продавці Seeds of Change.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2 З 4 · ЧАША · СТАКАН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Найширший діапазон ваги: від 84 до 320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360" y="1883664"/>
            <a:ext cx="1602726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23 · 5  (22 %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229 грн · 83–931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· окріп 5–10 хв · саморозігрів 15 хв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4009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9554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Корея 2 · Китай 2 · ЄС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93445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DCM, Pulsar, Апетіт.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51b547b7d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41123"/>
            <a:ext cx="345277" cy="34527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84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75104"/>
            <a:ext cx="331470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70064" y="2212848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Gallina Blanca ×2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229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749574"/>
            <a:ext cx="345277" cy="321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144–174 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42048" y="2671876"/>
            <a:ext cx="132588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22792" y="26353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42048" y="2941624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70064" y="290962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Henan ×8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83–156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470720"/>
            <a:ext cx="345277" cy="273175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ibigo_bow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8989" y="3433880"/>
            <a:ext cx="345277" cy="34685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210–247 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048" y="3368649"/>
            <a:ext cx="33147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73518" y="3368649"/>
            <a:ext cx="165735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22792" y="333207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42048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70064" y="3606393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×2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41233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69249" y="3606393"/>
            <a:ext cx="61813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135–320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4154799"/>
            <a:ext cx="345277" cy="298563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4880701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8989" y="4131442"/>
            <a:ext cx="345277" cy="34527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269–280 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42048" y="4065422"/>
            <a:ext cx="497204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39252" y="4065422"/>
            <a:ext cx="331470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22792" y="402884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42048" y="433517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70064" y="4303166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×3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41233" y="433517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69249" y="4303166"/>
            <a:ext cx="11612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Mo Xiao Xian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252–931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4850048"/>
            <a:ext cx="345277" cy="30160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310–320 г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42048" y="4762195"/>
            <a:ext cx="828675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22792" y="472561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42048" y="5031943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370064" y="4999939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×5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252–356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Чаша — єдиний формат у всіх вагових смугах від 84 до 320 г. Найдешевша — Henan 144 г (83 грн), найдорожча готова — Ottogi 320 г (356 грн). Наш стакан 150 г стає між Henan (144–174 г) і Bibigo (210 г).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КАТАЛОГ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готовий рис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Ottogi і Bibigo — розігрів у мікрохвильовці 60–90 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66" y="1746504"/>
            <a:ext cx="1046787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61" y="1746504"/>
            <a:ext cx="1032877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346" y="1746504"/>
            <a:ext cx="1046787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580" y="1746504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255–260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085" y="1746504"/>
            <a:ext cx="1057469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255–289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2986" y="1746504"/>
            <a:ext cx="1155747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225–320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221" y="4178808"/>
            <a:ext cx="1032877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252–334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5965" y="4178808"/>
            <a:ext cx="1057469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540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356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4045" y="4178808"/>
            <a:ext cx="1057469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bibigo_bow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1698" y="4178808"/>
            <a:ext cx="910243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BIBIGO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135–189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КАТАЛОГ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Henan, Gallina Blanca — окріп 5–10 хв; Mo Xiao Xian — нагрівач.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287" y="1746504"/>
            <a:ext cx="980744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129–156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942" y="1746504"/>
            <a:ext cx="965515" cy="9143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438" y="1746504"/>
            <a:ext cx="956603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509" y="1746504"/>
            <a:ext cx="92254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447" y="1746504"/>
            <a:ext cx="980744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112–150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1082" y="1746504"/>
            <a:ext cx="959555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358" y="4178808"/>
            <a:ext cx="956603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7893" y="4178808"/>
            <a:ext cx="1253612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152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1540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5580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51b547b7d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9619" y="4178808"/>
            <a:ext cx="91440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3703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8877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47975023c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33659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992428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2428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428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2428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13 магазинів у 2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617220" cy="27432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333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MAUDAU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5931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5931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38267" y="2011680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7995" y="2011680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Prom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79592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9592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81928" y="2011680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91656" y="2011680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37222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37222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32504" y="2404872"/>
            <a:ext cx="7555961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032504" y="2404872"/>
            <a:ext cx="73152" cy="98755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10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51960" y="2770632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61688" y="2770632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Апетітаріум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92547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92547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94883" y="2770632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4611" y="2770632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Gurmissimo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64147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4147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66483" y="2770632"/>
            <a:ext cx="78089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76211" y="2770632"/>
            <a:ext cx="32369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DCM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36484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36484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938820" y="2770632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8548" y="2770632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OMG! Asia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36761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36761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39097" y="2770632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48825" y="2770632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Pulsar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2306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2306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251960" y="3054096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054096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Тайякі Март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292547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92547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94883" y="3054096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04611" y="3054096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СНЕКІС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78854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78854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781190" y="3054096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90918" y="3054096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Скарби Азії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21777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21777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4113" y="3054096"/>
            <a:ext cx="1708099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333841" y="3054096"/>
            <a:ext cx="125089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621316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21316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023652" y="3054096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133380" y="3054096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Смак Кореї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992916" y="307695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992916" y="307695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(23 позицій формату «чаша»). Канали — як на слайді «Де продається категорія»; Prom-перепродавці iHerb — продавці Seeds of Change.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3 З 4 · ДОЙПАК · ПЛОСКИЙ ПАКЕТ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Стільки ж позицій, скільки в пауча, — але це туризм.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h_cur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932" y="1883664"/>
            <a:ext cx="1541582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34 · 11  (32 %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315 грн · 55–889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Окріп 8–10 хв (сублімат і сухий рис)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19379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4924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Україна 5 · ЄС 4 · Китай 1 · США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63270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78815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Highlander, ALANTUR, ВсеОпт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07082"/>
            <a:ext cx="345277" cy="41336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880701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989" y="2067527"/>
            <a:ext cx="345277" cy="29247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317418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5706" y="2020042"/>
            <a:ext cx="345277" cy="3874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80–90 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1975104"/>
            <a:ext cx="602672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44720" y="1975104"/>
            <a:ext cx="482138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26858" y="1975104"/>
            <a:ext cx="241069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70064" y="2212848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Харчі ×5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80883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08899" y="2212848"/>
            <a:ext cx="10405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James Cook ×4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21470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9486" y="2212848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Їжа в Похід ×2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55–217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2696311"/>
            <a:ext cx="345277" cy="42844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4880701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8989" y="2720576"/>
            <a:ext cx="345277" cy="37991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5317418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5706" y="2769377"/>
            <a:ext cx="345277" cy="28231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100–125 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42048" y="2671876"/>
            <a:ext cx="482138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24186" y="2671876"/>
            <a:ext cx="241069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965255" y="2671876"/>
            <a:ext cx="241069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06324" y="2671876"/>
            <a:ext cx="120534" cy="18288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326858" y="2671876"/>
            <a:ext cx="120534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447393" y="2671876"/>
            <a:ext cx="120534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2792" y="26353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42048" y="2941624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70064" y="2909620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Travellunch ×4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42985" y="2941624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71001" y="2909620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Adventure Menu ×2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42048" y="309707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70064" y="3065068"/>
            <a:ext cx="98023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SubliMate ×2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2284" y="3097072"/>
            <a:ext cx="91440" cy="9144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50300" y="3065068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323222" y="3097072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51238" y="3065068"/>
            <a:ext cx="55778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42048" y="325252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70064" y="3220516"/>
            <a:ext cx="55778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133–699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3434669"/>
            <a:ext cx="345277" cy="345277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8989" y="3392300"/>
            <a:ext cx="345277" cy="430015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5317418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5706" y="3412946"/>
            <a:ext cx="345277" cy="38872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133–146 г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42048" y="3368649"/>
            <a:ext cx="361603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03651" y="3368649"/>
            <a:ext cx="241069" cy="182880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44720" y="3368649"/>
            <a:ext cx="120534" cy="18288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965255" y="3368649"/>
            <a:ext cx="120534" cy="1828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22792" y="333207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42048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70064" y="3606393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Qiaoshanmei ×3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42985" y="3638397"/>
            <a:ext cx="91440" cy="91440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71001" y="3606393"/>
            <a:ext cx="12819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Adventure Food ×2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42048" y="37938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370064" y="3761841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2985" y="37938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71001" y="3761841"/>
            <a:ext cx="79918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309–699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2272" y="4089072"/>
            <a:ext cx="345277" cy="430015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250 г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242048" y="4065422"/>
            <a:ext cx="361603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622792" y="402884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242048" y="433517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70064" y="4303166"/>
            <a:ext cx="110093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Travellunch ×3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415–889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4786630"/>
            <a:ext cx="345277" cy="428446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242048" y="4762195"/>
            <a:ext cx="241069" cy="182880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22792" y="472561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242048" y="5031943"/>
            <a:ext cx="91440" cy="9144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70064" y="4999939"/>
            <a:ext cx="10405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Trek'n Eat ×2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269–715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34 позицій, але 31 із них — сублімат для походів: вага 80–250 г, ціни 55–889 грн. Це туристичний канал, а не мережева полиця: без туристичних магазинів частка дойпаку падає з 32 % до 5 %.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імпортний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Travellunch, Trek'n Eat, Mountain House, Adventure Food.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93" y="1746504"/>
            <a:ext cx="736898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443" y="1746504"/>
            <a:ext cx="734209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295–515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807" y="1746504"/>
            <a:ext cx="712694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567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242" y="1746504"/>
            <a:ext cx="753035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515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4261" y="1746504"/>
            <a:ext cx="734209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415–811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Highlander · ForCamp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5624" y="1746504"/>
            <a:ext cx="712694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811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66230" y="1746504"/>
            <a:ext cx="712694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93" y="4178808"/>
            <a:ext cx="736898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269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443" y="4178808"/>
            <a:ext cx="734209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807" y="4178808"/>
            <a:ext cx="712694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4658" y="4178808"/>
            <a:ext cx="812202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4261" y="4178808"/>
            <a:ext cx="734209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af_cashew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Cashew: індонезійський рис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UA-market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Adventure Menu, SubliMate,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Adventure Menu — єдиний бренд у двох форматах (пауч 400 г і сублімат 110 г). Qiaoshanmei — сухий рис під окріп, не сублімат.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470" y="1746504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956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357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530" y="1746504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47014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014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014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3562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275" y="1746504"/>
            <a:ext cx="83102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3620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378–483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0168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569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2991" y="1746504"/>
            <a:ext cx="833717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226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226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226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390–483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226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6751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6326" y="4178808"/>
            <a:ext cx="790687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408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309–310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6956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3357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8564" y="4178808"/>
            <a:ext cx="111833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47014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014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014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014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3562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9963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582" y="4178808"/>
            <a:ext cx="758414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23620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168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96569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q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4178808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0226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із зеленим перцем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226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226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226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український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James Cook, Харчі, Їжа в Похід, !FEST — вага 80–100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92" y="1746504"/>
            <a:ext cx="10795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798" y="1746504"/>
            <a:ext cx="10795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73–133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ВсеОпт · Highlander ·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629" y="1746504"/>
            <a:ext cx="108704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417" y="1746504"/>
            <a:ext cx="1022684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55–81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919" y="1746504"/>
            <a:ext cx="814891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0491" y="1746504"/>
            <a:ext cx="82296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80" y="1746504"/>
            <a:ext cx="763792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92" y="4178808"/>
            <a:ext cx="10795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798" y="4178808"/>
            <a:ext cx="10795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629" y="4178808"/>
            <a:ext cx="1087048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321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417" y="4178808"/>
            <a:ext cx="1022684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!FEST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133–238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SportStorm · Kalush-Craft · Вояджер · Військторг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h_plov_ve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165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з басматі та телятиною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195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kh_plov_ric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Плов: багато рису, курка й морква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217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25 магазинів у 3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93518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9630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187036" cy="274320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148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92547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92547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32504" y="2404872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32504" y="2404872"/>
            <a:ext cx="73152" cy="70408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1960" y="2770632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1688" y="2770632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Харчі ТМ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78577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78577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0913" y="2770632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90641" y="2770632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21500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21500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032504" y="3163824"/>
            <a:ext cx="7555961" cy="1837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032504" y="3163824"/>
            <a:ext cx="73152" cy="1837944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51960" y="3236976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22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51105" y="3246120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51105" y="32461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51960" y="3529584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61688" y="3529584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Highlander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21224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21224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23560" y="3529584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33288" y="3529584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ALANTUR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78854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78854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81190" y="3529584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0918" y="3529584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ВсеОпт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65161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65161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7497" y="3529584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77225" y="3529584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Freeride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94115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94115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96451" y="3529584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06179" y="3529584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Гайдамака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94392" y="3552444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94392" y="3552444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1960" y="3813048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61688" y="3813048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110вольт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78577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78577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80913" y="3813048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590641" y="3813048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MK-Sport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07531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07531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09867" y="3813048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19595" y="3813048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Висот-Нік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607808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607808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10144" y="3813048"/>
            <a:ext cx="85222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19872" y="3813048"/>
            <a:ext cx="395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Лєєр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551468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51468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53804" y="3813048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63532" y="3813048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Суренж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637776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37776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40112" y="3813048"/>
            <a:ext cx="113751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49840" y="3813048"/>
            <a:ext cx="68031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Activity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866729" y="3835908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866729" y="383590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251960" y="4096511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61688" y="4096511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ForCamp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007254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07254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409590" y="4096511"/>
            <a:ext cx="142280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519318" y="4096511"/>
            <a:ext cx="9656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Kalush-Craft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521500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21500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923836" y="4096511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33564" y="4096511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Kamanti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79131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679131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1467" y="4096511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91195" y="4096511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Klever-Shop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122054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22054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24390" y="4096511"/>
            <a:ext cx="78089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34118" y="4096511"/>
            <a:ext cx="32369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OXO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994392" y="4119372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94392" y="411937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251960" y="4379975"/>
            <a:ext cx="994867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361688" y="4379975"/>
            <a:ext cx="53766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Palmer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5931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35931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338267" y="4379975"/>
            <a:ext cx="128016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47995" y="4379975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SportStorm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307531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07531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709867" y="4379975"/>
            <a:ext cx="163677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19595" y="4379975"/>
            <a:ext cx="11795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Terra Incognita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035747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035747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38083" y="4379975"/>
            <a:ext cx="1208836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47811" y="4379975"/>
            <a:ext cx="75163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UA-market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336024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336024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738360" y="4379975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48088" y="4379975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Вояджер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493654" y="4402836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493654" y="440283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251960" y="4663439"/>
            <a:ext cx="1779422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361688" y="4663439"/>
            <a:ext cx="132222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Клуб Мандрівників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720486" y="4686299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20486" y="4686299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(34 позицій формату «дойпак»). Канали — як на слайді «Де продається категорія»; Prom-перепродавці iHerb — продавці Seeds of Change. У частини карток продавці названі не всі (ще ~11 не названо).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4 З 4 · КОРОБКА З НАГРІВАЧЕМ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Найдорожчий формат: без техніки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d_tomato_beef2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371" y="1883664"/>
            <a:ext cx="1426704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14 · 4  (13 %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735 грн · 380–1 190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Хімічний нагрівач, 15 хв, без техніки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4009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9554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Китай 3 · ЄС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93445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Daruy, Скарби Азії, Sweet Svitt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· КОЛІР = БРЕНД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58117"/>
            <a:ext cx="475488" cy="48548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165–187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75104"/>
            <a:ext cx="132588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38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42048" y="224485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70064" y="2212848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Haidilao ×6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380–680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3983" y="2846070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934081"/>
            <a:ext cx="475488" cy="47548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272 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42048" y="2846070"/>
            <a:ext cx="66294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22792" y="280949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42048" y="311581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70064" y="3083814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Haidilao ×3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770–799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4398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829430"/>
            <a:ext cx="426720" cy="4267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496214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0432" y="3829430"/>
            <a:ext cx="426720" cy="42672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48030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98592" y="3829430"/>
            <a:ext cx="426720" cy="42672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360–440 г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42048" y="3717036"/>
            <a:ext cx="441960" cy="1828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684007" y="3717036"/>
            <a:ext cx="220980" cy="1828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04988" y="3717036"/>
            <a:ext cx="220980" cy="18288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2792" y="36804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42048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70064" y="3954780"/>
            <a:ext cx="91988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Haidilao ×2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61934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9950" y="3954780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00769" y="3986784"/>
            <a:ext cx="91440" cy="9144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28785" y="3954780"/>
            <a:ext cx="11612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735–1 190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forestia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2272" y="4676013"/>
            <a:ext cx="475488" cy="47548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42048" y="4588002"/>
            <a:ext cx="220980" cy="1828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22792" y="45514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42048" y="4857750"/>
            <a:ext cx="91440" cy="9144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4825746"/>
            <a:ext cx="738835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Forestia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935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14 позицій і 4 бренди: Haidilao дає 11 із 14. Нагрівач у коробці замінює мікрохвильовку, але медіана 735 грн — у 6,2 раза вища за пауч (118 грн).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КОРОБКА · КАТАЛОГ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Haidilao, Zihaiguo, Rongcheng Haoji, Forestia — без техніки й окропу, 15 хв.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155" y="1746504"/>
            <a:ext cx="895574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380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348" y="1746504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770–799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2954" y="1746504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6736" y="1746504"/>
            <a:ext cx="928047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4165" y="1746504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680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84" y="1746504"/>
            <a:ext cx="895574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650–680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5377" y="1746504"/>
            <a:ext cx="914400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641" y="4178808"/>
            <a:ext cx="956603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650–660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524" y="4178808"/>
            <a:ext cx="928047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42954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1 190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4178808"/>
            <a:ext cx="91440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ZIHAIGUO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165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94F7C"/>
                </a:solidFill>
                <a:latin typeface="Segoe UI"/>
              </a:rPr>
              <a:t>RONGCHENG HAOJI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hd_spicy36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м'ясний рис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950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87138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151146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foresti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5377" y="4178808"/>
            <a:ext cx="914400" cy="91440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187722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87722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FORESTIA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87722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935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187722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КОРОБКА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7 магазинів у 2 каналах; число поруч — скільки позицій цього формату є в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МАГАЗИНІВ У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031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60320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2374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07791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64991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169663"/>
            <a:ext cx="822960" cy="27432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4133087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713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A9B0C4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974336"/>
            <a:ext cx="91440" cy="274320"/>
          </a:xfrm>
          <a:prstGeom prst="roundRect">
            <a:avLst>
              <a:gd name="adj" fmla="val 25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93775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21807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779007"/>
            <a:ext cx="2057400" cy="27432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7424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70408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19072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28216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28216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2011680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011680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92547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92547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94883" y="2011680"/>
            <a:ext cx="1351483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4611" y="2011680"/>
            <a:ext cx="89428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Sweet Svitt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35470" y="2034540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5470" y="20345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32504" y="2404872"/>
            <a:ext cx="7555961" cy="704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032504" y="2404872"/>
            <a:ext cx="73152" cy="7040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51960" y="2478024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51105" y="2487168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51105" y="24871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51960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61688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Daruy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64608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64608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66944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6672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Desna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79592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79592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81928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91656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Kamanti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37222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7222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39558" y="2770632"/>
            <a:ext cx="1066190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9286" y="2770632"/>
            <a:ext cx="60899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Tactico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94852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4852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97188" y="2770632"/>
            <a:ext cx="923544" cy="246888"/>
          </a:xfrm>
          <a:prstGeom prst="roundRect">
            <a:avLst>
              <a:gd name="adj" fmla="val 4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6916" y="2770632"/>
            <a:ext cx="46634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Шериф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209836" y="2793491"/>
            <a:ext cx="274320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09836" y="279349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Магазини — за картками продавців 23.09–06.10.2026 (14 позицій формату «коробка»). Канали — як на слайді «Де продається категорія»; Prom-перепродавці iHerb — продавці Seeds of Change.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Скільки позицій у кожній вазі. Помаранчеві мітки — наші формати.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80–99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73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100–149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119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150–199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664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200–249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210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250–299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755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300–349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01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350+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213" y="2029968"/>
            <a:ext cx="2725774" cy="3273552"/>
          </a:xfrm>
          <a:prstGeom prst="roundRect">
            <a:avLst>
              <a:gd name="adj" fmla="val 3000"/>
            </a:avLst>
          </a:prstGeom>
          <a:noFill/>
          <a:ln w="3175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23113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52374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реторт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7685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231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573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4776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119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9A50B"/>
                </a:solidFill>
                <a:latin typeface="Segoe UI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3157" y="2587751"/>
            <a:ext cx="7315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3157" y="2587751"/>
            <a:ext cx="7315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150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322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A8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664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645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10653" y="2587751"/>
            <a:ext cx="120743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0653" y="2587751"/>
            <a:ext cx="120743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200 · BSCM 240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1867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2C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210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210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5487" y="2587751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5487" y="2587751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CM Premium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5413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755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8958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A8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301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301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30175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3310127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стакан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7685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F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4028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4028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1231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7573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7573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4776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1119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1119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10287" y="3374135"/>
            <a:ext cx="93725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10287" y="3374135"/>
            <a:ext cx="93725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стакан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8322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4664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664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77162" y="3374135"/>
            <a:ext cx="10744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7162" y="3374135"/>
            <a:ext cx="10744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ONE'S 200/210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61867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8210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210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15487" y="3374135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5487" y="3374135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2×125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5413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1755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755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28958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301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3803903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4096511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плоский пакет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685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877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4028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4028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1231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7573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75735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4776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1119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8322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4664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1867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9C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8210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210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95413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1755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28958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301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" y="459028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488289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з нагрівачем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27685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4028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61231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7573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776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4A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1119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1119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8322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4664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61867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C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210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210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5413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1755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28958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AB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5301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5301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46645" y="1847088"/>
            <a:ext cx="2670910" cy="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03504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22960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ПОРЦІЙНЕ ВІКНО 200–299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34 позицій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Пауч і чаша: одна порція на людину. Тут стоять BSCM 200/240, CM Premium, ONE'S і подвійний стакан.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313925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313925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33381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3381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дойпак 100–149 г — 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3381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Це сухий сублімат для походів, інший привід і канал. Наші формати з ним не перетинаються.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024347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8024347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243803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ВІЛЬНІ КЛІТИНКИ ДЛЯ НАС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43803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пауч 150–199 г — 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43803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Жодного пауча 150–199 г. BSCM пауч 150 г заходить без прямого конкурента; найближчий — Ben's 220 г.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Вага — готової страви; для сухого рису й сублімату — вага продукту. Позиції без вказаної маси (Trek'n Eat ×2) не враховано. Наші формати — за комерційними пропозиціями BSCM, CM Premium, One's.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Топ поєднань формат +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Які упаковки ринок обирає найчастіше — і де стоять наші ваги.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7726679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7373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ТОП-13 ПОЄДНАНЬ «ФОРМАТ + ГРАМАЖ»,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9397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350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103120"/>
            <a:ext cx="1691640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7096" y="20756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10312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4184" y="211226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МАКРО · Маркел · Верес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4185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85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427732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1954" y="24003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42773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4184" y="243687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Харчі · Їжа в Похід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74320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220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2752344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1954" y="27249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275234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139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4184" y="276148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06781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240 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32304" y="3076956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81954" y="304952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307695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225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4184" y="308610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Seeds of Change · 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3924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250 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32304" y="3401568"/>
            <a:ext cx="922712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8168" y="3374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40156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44184" y="3410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 · Clearspring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371703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174 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32304" y="3726180"/>
            <a:ext cx="768927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4383" y="36987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372618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118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4184" y="37353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404164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110 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432304" y="4050792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20597" y="40233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0507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384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4184" y="405993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Adventure Menu · Mountain House · SubliMate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43662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125 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2304" y="4375404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20597" y="43479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37540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405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4184" y="43845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Travellunch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469087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146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32304" y="4700016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20597" y="4672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1144" y="470001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44184" y="4709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Qiaoshanmei · Adventure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50154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187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432304" y="5024628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66812" y="49971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1144" y="502462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650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44184" y="503377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34009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272 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432304" y="5349240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66812" y="53218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81144" y="534924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799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44184" y="535838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66470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144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432304" y="5673852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966812" y="56464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81144" y="56738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135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44184" y="568299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59893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90 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2304" y="5998464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966812" y="59710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81144" y="599846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44184" y="60076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James Cook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31352" y="1645920"/>
            <a:ext cx="3057113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1737360"/>
            <a:ext cx="27827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ЧАСТКА ФОРМАТУ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14232" y="2011680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Усі 105 позицій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14232" y="2249424"/>
            <a:ext cx="871485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14232" y="2249424"/>
            <a:ext cx="8714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85717" y="2249424"/>
            <a:ext cx="871485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85717" y="2249424"/>
            <a:ext cx="8714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57203" y="2249424"/>
            <a:ext cx="589534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57203" y="2249424"/>
            <a:ext cx="58953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046738" y="2249424"/>
            <a:ext cx="358847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046738" y="2249424"/>
            <a:ext cx="3588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13 %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14232" y="2852928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Без туристичних і військових · 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14232" y="3090672"/>
            <a:ext cx="1390532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714232" y="3090672"/>
            <a:ext cx="13905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52 %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04764" y="3090672"/>
            <a:ext cx="1031685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104764" y="3090672"/>
            <a:ext cx="10316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38 %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136450" y="3090672"/>
            <a:ext cx="134567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271017" y="3090672"/>
            <a:ext cx="134567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714232" y="3474720"/>
            <a:ext cx="27370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Тобто є хоча б в одному магазині поза цим каналом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31352" y="3913632"/>
            <a:ext cx="3057113" cy="2432304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531352" y="3913632"/>
            <a:ext cx="82296" cy="24323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87384" y="4023360"/>
            <a:ext cx="269135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C95C"/>
                </a:solidFill>
                <a:latin typeface="Segoe UI"/>
              </a:rPr>
              <a:t>НАШІ ВАГИ НА ЦІЙ КАРТІ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87384" y="437083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150 г · BSCM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45465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787384" y="4681728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200 г · BSCM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45465" y="468172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787384" y="4992624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240 г · BSCM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445465" y="499262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7 в цій вазі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87384" y="5303520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250 г · CM Premium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445465" y="5303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6 в цій вазі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87384" y="5614416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Стакан 150 г · BSCM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45465" y="56144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87384" y="592531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Лоток 210 г · ONE'S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445465" y="59253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1 в цій вазі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 (105 SKU). «Поза туристичними й військовими магазинами» — позиції, які є хоча б в одному магазині, що не є туристичним чи військовим (мережі, маркетплейси, азійські й гастро-магазини). «Конкурентів» — позицій того самого формату з точно такою вагою.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готовий рис і наші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Сегмент 1 — розігрів у мікрохвильовці: усі бренди й наші позиції на одній шкалі.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6712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60952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78504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2744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30296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4536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82089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632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33881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8121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93226" y="1645920"/>
            <a:ext cx="1554919" cy="420624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93226" y="6080760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879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193974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6704" y="196717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9935" y="196717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4" y="196717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92692" y="2017471"/>
            <a:ext cx="437681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842400" y="20083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82964" y="194889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3253" y="194889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71–109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217992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М'ясниця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46704" y="220736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59935" y="220736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8304" y="220736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88497" y="2257653"/>
            <a:ext cx="36576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8205" y="224850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78769" y="218907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82895" y="218907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88–89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242011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46704" y="244754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59935" y="244754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244754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93226" y="2497836"/>
            <a:ext cx="190045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542934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06124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76420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280081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83208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40798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086336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5619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625619" y="24886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116984" y="242925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76563" y="242925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45–210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266029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МАКРО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46704" y="268772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59935" y="268772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18304" y="268772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80640" y="2738018"/>
            <a:ext cx="449199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130348" y="2728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187938" y="2728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222492" y="2728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28502" y="266943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12719" y="266943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96–135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290047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46704" y="292790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59935" y="292790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18304" y="292790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96353" y="2978200"/>
            <a:ext cx="73714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946061" y="29690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487404" y="29690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57297" y="290962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16380" y="29096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80–144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314065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Верес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6704" y="316809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9935" y="316809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18304" y="316809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26712" y="3218383"/>
            <a:ext cx="40312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6420" y="32092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268563" y="32092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163055" y="314980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12719" y="314980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100–135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" y="338084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Ходорівський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340827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59935" y="340827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18304" y="340827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84301" y="3458565"/>
            <a:ext cx="1082684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234009" y="344942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637137" y="344942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376137" y="338998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49866" y="338998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105–199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362102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46704" y="36484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59935" y="364845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718304" y="36484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629839" y="3698748"/>
            <a:ext cx="62196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579547" y="36896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6520111" y="36301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34687" y="36301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135–189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1520" y="386120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Seeds of Change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346704" y="388863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59935" y="388863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18304" y="388863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470648" y="3938930"/>
            <a:ext cx="2775819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7616160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8480004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8007770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420356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7443391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9712422" y="39297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752529" y="387035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429347" y="387035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208–449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1520" y="410138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46704" y="412882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059935" y="412882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718304" y="41288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977436" y="4179112"/>
            <a:ext cx="223447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927144" y="41699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7867708" y="411053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394793" y="411053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252–446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1520" y="434157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46704" y="436900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059935" y="436900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217,5–320 г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718304" y="436900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666452" y="4419295"/>
            <a:ext cx="150884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92714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792714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616160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92714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8871614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912500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961698" y="44101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902262" y="435071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358180" y="43507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225–356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458175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пауч 400 г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46704" y="460918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059935" y="460918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18304" y="460918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703065" y="4659477"/>
            <a:ext cx="1025095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355367" y="4650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8652773" y="4650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894650" y="4650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8835214" y="459089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911040" y="459089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315–404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03504" y="4848148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1520" y="484814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НАШІ БРЕНДИ · ПОЛИЦЯ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46704" y="48481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059935" y="48481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28032" y="48481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3504" y="5149900"/>
            <a:ext cx="10984961" cy="203606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31520" y="513283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Foods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346704" y="516026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059935" y="516026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150–250 г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718304" y="516026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03911" y="5210556"/>
            <a:ext cx="1691949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655361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680440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680440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6966203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6752634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6972562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6972562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161071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83038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708835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7088355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34632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662361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6623566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675681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675681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6756810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7977157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7708746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7977157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7977244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8245568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7547699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7977157" y="52014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6913126" y="514197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478740" y="514197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133–280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603504" y="5390083"/>
            <a:ext cx="10984961" cy="203606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31520" y="537301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CM Premium · Chefrey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46704" y="540044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059935" y="540044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718304" y="540044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7130266" y="5450738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7079974" y="54415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7020538" y="538215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313146" y="538215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03504" y="5630265"/>
            <a:ext cx="10984961" cy="203606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31520" y="561319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ONE'S International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346704" y="56406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059935" y="564062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200–210 г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718304" y="56406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6837249" y="5690920"/>
            <a:ext cx="2056045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ounded Rectangle 213"/>
          <p:cNvSpPr/>
          <p:nvPr/>
        </p:nvSpPr>
        <p:spPr>
          <a:xfrm>
            <a:off x="6786957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ounded Rectangle 214"/>
          <p:cNvSpPr/>
          <p:nvPr/>
        </p:nvSpPr>
        <p:spPr>
          <a:xfrm>
            <a:off x="8843002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8843002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8843002" y="5681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8783566" y="56223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076174" y="56223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153–332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кожна позиція — її мінімальна ціна. Наші бренди — полиця за фінмоделлю: ціна партнеру з ПДВ × 1,4 (20' навалом, курс 45). Смуга — від найдешевшої до найдорожчої позиції.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Henan стоїть на рівні пауча, саморозігрів — у п'ять–вісім разів дорожче.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3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7023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0648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2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66376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615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64240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0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166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00025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202768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9935" y="202768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144–174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202768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72610" y="2077974"/>
            <a:ext cx="3497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42725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695431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590019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90019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61271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22318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71474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752929" y="206882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56936" y="200939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05267" y="200939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236143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6704" y="238887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59935" y="238887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84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4" y="238887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163" y="2439162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21871" y="243001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21871" y="243001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062435" y="237058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43" y="237058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72262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275005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59935" y="275005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8304" y="275005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75439" y="2800350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425147" y="27912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425147" y="27912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425147" y="27912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365711" y="273177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58319" y="273177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501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304952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304952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46704" y="30495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59935" y="30495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30495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39471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6704" y="342214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9935" y="3422142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165–360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304" y="342214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95673" y="3472434"/>
            <a:ext cx="3881079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84538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714049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85300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85300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282818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139074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726460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576511" y="34632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223382" y="340385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59632" y="340385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380–1 190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375589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6704" y="378333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9935" y="378333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440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18304" y="378333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596640" y="3833622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546348" y="38244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486912" y="376504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779520" y="376504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" y="411708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46704" y="414451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59935" y="414451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440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18304" y="414451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596640" y="4194810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546348" y="41856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486912" y="412623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779520" y="412623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447827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46704" y="450570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59935" y="450570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275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18304" y="450570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535765" y="4555998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485473" y="45468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485473" y="45468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426037" y="448741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718645" y="448741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" y="483946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Forestia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46704" y="486689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059935" y="486689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маса н/д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18304" y="486689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54931" y="4917186"/>
            <a:ext cx="36576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9504639" y="490804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9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445203" y="484860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37811" y="484860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935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03504" y="5733288"/>
            <a:ext cx="10954512" cy="621792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03504" y="5733288"/>
            <a:ext cx="82296" cy="6217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14400" y="5916168"/>
            <a:ext cx="104058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Henan (чаша 144–174 г): медіана 124 грн проти 118 грн у пауча. Саморозігрів: Haidilao 380–1 190 грн, решта бренди — 735–935 грн; це інший привід (похід, дача), а не мережева полиця.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кожна позиція — її мінімальна ціна.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Український сублімат — від 55 до 370 грн, імпортний — від 270 до 890.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5829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0069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96738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0978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57648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1888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8557" y="1645920"/>
            <a:ext cx="10972" cy="349300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2797" y="5166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5166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97967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704" y="200710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9935" y="200710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80–90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4" y="200710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21670" y="2057400"/>
            <a:ext cx="636759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547905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4859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08137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371378" y="2048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56946" y="198881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1309" y="198881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55–156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29971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6704" y="232714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5" y="232714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18304" y="232714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13424" y="2377440"/>
            <a:ext cx="661977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863132" y="23682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03696" y="230886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58282" y="23088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261975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46704" y="264718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59935" y="264718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8304" y="26471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94511" y="2697480"/>
            <a:ext cx="94568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938787" y="26883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844219" y="26883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32067" y="262890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1959" y="26289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130–145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93979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46704" y="29672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9935" y="296722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85–100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18304" y="29672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98197" y="3017520"/>
            <a:ext cx="1500482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781173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781173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47905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48387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254014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92714" y="30083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958158" y="29489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81559" y="29489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25983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6704" y="328726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9935" y="328726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110–140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304" y="328726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03238" y="3337560"/>
            <a:ext cx="504363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72733" y="3328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852946" y="3328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57310" y="3328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913297" y="326898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90482" y="32689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290–370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357987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дойпак 110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46704" y="360730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59935" y="360730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18304" y="360730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58038" y="3657600"/>
            <a:ext cx="661977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407746" y="36484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483401" y="36484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386138" y="358902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02896" y="35890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378–483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1520" y="389991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46704" y="392734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59935" y="392734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маса 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18304" y="392734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770843" y="3977640"/>
            <a:ext cx="2811828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20551" y="39684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532379" y="39684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67029" y="390906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765551" y="390906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269–715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" y="421995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46704" y="424738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59935" y="424738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140–146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18304" y="42473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176757" y="4297680"/>
            <a:ext cx="36576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8126465" y="42885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126465" y="42885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8067029" y="422910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59637" y="422910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492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" y="453999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46704" y="45674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59935" y="456742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125–250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18304" y="456742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808670" y="4617720"/>
            <a:ext cx="3870992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6758378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6884469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599306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271469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7641015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10137615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629370" y="46085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212033" y="45491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862542" y="45491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275–889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1520" y="486003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46704" y="488746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059935" y="488746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110–133 г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18304" y="488746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481798" y="4937759"/>
            <a:ext cx="36576" cy="8229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9431506" y="49286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9431506" y="49286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5E4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372070" y="486917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664678" y="486917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699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03504" y="5733288"/>
            <a:ext cx="10954512" cy="621792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03504" y="5733288"/>
            <a:ext cx="82296" cy="6217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5916168"/>
            <a:ext cx="104058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Український сублімат (James Cook, Харчі, Їжа в Похід, !FEST, SubliMate) — 80–140 г і 55–370 грн; імпортний (Travellunch, Trek'n Eat, Mountain House, Adventure) — 110–250 г і 269–889 грн. Продається в туристичних магазинах.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кожна позиція — її мінімальна ціна. Вага — продукту в упаковці (сухого).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РИТЕЙЛ-АУДИТ ·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з готового рису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Каталоги 9 мереж, 28.09.2026: усього 26 позицій, а готового рису кімнатного зберігання — лише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45920"/>
            <a:ext cx="222199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6664" y="1645920"/>
            <a:ext cx="1216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КІМНАТНЕ ЗБЕРІГАННЯ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1645920"/>
            <a:ext cx="1216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ОХОЛОДЖЕНА КУЛІНАРІЯ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164592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СУМІШІ ПІД ВАРІННЯ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45920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202996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4825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22199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Ben's ×11 · Чіл Міл ×2 · боули ×6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384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0665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972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1104" y="20665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206654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" y="239572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41401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58775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The Local Food · рис японський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2384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4323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4972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1104" y="24323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6984" y="24323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276148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7977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95351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«Майстри Смаку»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5224" y="27980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49724" y="279806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61104" y="27980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52744" y="279806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6984" y="27980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2724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14553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31927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«Легко!»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5224" y="316382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49724" y="316382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1104" y="316382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52744" y="316382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86984" y="316382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3504" y="349300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351129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368503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лише крупа 1–10 кг: Metro Chef, Aro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35224" y="35295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1104" y="35295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86984" y="352958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" y="385876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877055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ЕКО маркет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050791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24" y="38953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61104" y="38953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86984" y="389534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22452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424281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Epicentr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441655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5224" y="42611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61104" y="42611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6984" y="4261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3504" y="459028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460857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478231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35224" y="46268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61104" y="46268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86984" y="46268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3504" y="4974336"/>
            <a:ext cx="7086600" cy="365760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49743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Унікальних SKU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5224" y="49743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1104" y="49743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86984" y="497433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91272" y="1645920"/>
            <a:ext cx="3697193" cy="37307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1737360"/>
            <a:ext cx="33314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BEN'S ORIGINAL У «СІЛЬПО» · 11 ПОЗИЦІЙ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204825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57232" y="204825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9745" y="2048256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92440" y="2339035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57232" y="233903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99745" y="2339035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92440" y="262981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57232" y="262981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99745" y="2629814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92440" y="2920593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Mediterran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57232" y="2920593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99745" y="2920593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92440" y="321137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Risi Bisi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57232" y="321137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99745" y="3211372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92440" y="35021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Indian Curry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57232" y="350215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9745" y="3502152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92440" y="3792931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57232" y="379293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99745" y="379293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92440" y="408371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Mexikanisch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857232" y="408371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399745" y="408371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2440" y="4374489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Curryreis Indien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57232" y="4374489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99745" y="4374489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92440" y="466526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Для боулів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57232" y="466526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99745" y="4665268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92440" y="4956047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Sweet Chili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57232" y="4956047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99745" y="4956047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350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0350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SKU кімнатного зберігання на всю країну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1142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01142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23088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11 з 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3088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це Ben's Original в одній мережі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1934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541934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3880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3880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у METRO, Ашан, NOVUS, ЕКО маркет, Epicentr, Космос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891272" y="5486400"/>
            <a:ext cx="3697193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891272" y="5486400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02168" y="5669280"/>
            <a:ext cx="314855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Ben's у «Сільпо» — єдиний мережевий гарнір; інших немає.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Каталоги мереж на 28.09.2026: Ашан, Сільпо, METRO, NOVUS, МегаМаркет, Ultramarket (одна платформа з МегаМаркет), ЕКО маркет, Epicentr, Космос. Кімнатне зберігання — готовий рис у паучі/лотку; охолоджена — кулінарія 2–5 діб; суміші — сира крупа в пакеті для варіння.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РИТЕЙЛ-АУДИТ ·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саме стоїть на полицях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26 знайдених позицій: де, який формат, скільки SKU і яка ціна за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2514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6276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8312" y="16276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1627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4272" y="162763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0151" y="162763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1865376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8653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КІМНАТНЕ ЗБЕРІГАННЯ · НАШ СЕТ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3104" y="186537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12 SKU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" y="2194560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2235708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2235708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35708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пауч 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2235708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235708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45–179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0151" y="2235708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Mars · ЄС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560320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27832" y="2560320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The Local Food,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560320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560320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2560320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0151" y="2560320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" y="2935224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293522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2935224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11 SKU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264408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305556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27832" y="3305556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68312" y="3305556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 280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3305556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05556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1" y="3305556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3630168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27832" y="3630168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8312" y="3630168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3630168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34272" y="3630168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0151" y="3630168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3504" y="3913631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3954779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27832" y="3954779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8312" y="3954779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954779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34272" y="3954779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139–439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0151" y="3954779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" y="4279392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7832" y="4279392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68312" y="4279392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4279392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4272" y="4279392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0151" y="4279392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562856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" y="4604004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27832" y="4604004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68312" y="4604004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4604004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4272" y="4604004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60151" y="4604004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978908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49789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97890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3 SKU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3504" y="5308092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5349240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27832" y="5349240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68312" y="5349240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200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5349240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34272" y="5349240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89–92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60151" y="5349240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5673852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NOVUS · Сільпо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27832" y="5673852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68312" y="5673852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250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5673852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5673852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59–85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60151" y="5673852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957316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3232" y="5998464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27832" y="5998464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68312" y="5998464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500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85632" y="5998464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4272" y="5998464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60151" y="5998464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Ашан, Сільпо, METRO, NOVUS, МегаМаркет, Ultramarket, ЕКО маркет, Epicentr, Космос — каталоги на 28.09.2026. METRO, ЕКО маркет, Epicentr і Космос — жодної позиції цих трьох груп.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магазини, де ми знайшли готовий рис і суміжні формати, — по каналах.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ТОЧОК ПРОДАЖУ В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6654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23744"/>
            <a:ext cx="949569" cy="310896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5681" y="24871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3522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92424"/>
            <a:ext cx="158261" cy="310896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73" y="335584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80390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261104"/>
            <a:ext cx="1055076" cy="310896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1188" y="42245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67258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5129784"/>
            <a:ext cx="791307" cy="310896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7419" y="509320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54126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998464"/>
            <a:ext cx="2057400" cy="310896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96188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8686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0992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 · 18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1907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1907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1975104"/>
            <a:ext cx="719020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94F7C"/>
                </a:solidFill>
                <a:latin typeface="Segoe UI"/>
              </a:rPr>
              <a:t>3 мережі з категорією: </a:t>
            </a:r>
            <a:r>
              <a:rPr sz="950" b="0" i="0">
                <a:solidFill>
                  <a:srgbClr val="1C2235"/>
                </a:solidFill>
                <a:latin typeface="Segoe UI"/>
              </a:rPr>
              <a:t>Сільпо · МегаМаркет · Ultramarket</a:t>
            </a:r>
          </a:p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94F7C"/>
                </a:solidFill>
                <a:latin typeface="Segoe UI"/>
              </a:rPr>
              <a:t>ще 15 перевірених без категорії: </a:t>
            </a:r>
            <a:r>
              <a:rPr sz="950" b="0" i="0">
                <a:solidFill>
                  <a:srgbClr val="1C2235"/>
                </a:solidFill>
                <a:latin typeface="Segoe UI"/>
              </a:rPr>
              <a:t>NOVUS · METRO · Таврія В · Cosmos · Восторг · Kharkiv · Чудо-маркет · Епіцентр · Ашан · Грона · Ідеал · ОнДе · Za Raz · ЕКО маркет · Торба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32504" y="2578608"/>
            <a:ext cx="7555961" cy="649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32504" y="2578608"/>
            <a:ext cx="73152" cy="649224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51960" y="2642616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51105" y="2651760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51105" y="265176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2907792"/>
            <a:ext cx="719020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4810A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MAUDAU · Rozetka · Prom. На Prom ще 7 перепродавців iHerb (Seeds of Change).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32504" y="3291840"/>
            <a:ext cx="7555961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32504" y="3291840"/>
            <a:ext cx="73152" cy="94183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35584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51105" y="336499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51105" y="336499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3621024"/>
            <a:ext cx="719020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E9EA6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32504" y="4297680"/>
            <a:ext cx="7555961" cy="850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32504" y="4297680"/>
            <a:ext cx="73152" cy="85039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60" y="436168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51105" y="437083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51105" y="43708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0" y="4626864"/>
            <a:ext cx="719020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37A169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Харчі ТМ · Їжа в Похід · UPcompany · СУХПАЙ · Belorfoods · МореПродуктів · Козуб · Смачна адреса · Продукт-Shop · Молочний склад · Foodi Shop · Food Shop · Мартел-shop · portion.com.ua · Euro-komplekt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32504" y="5212080"/>
            <a:ext cx="7555961" cy="1161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032504" y="5212080"/>
            <a:ext cx="73152" cy="11612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51960" y="527608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39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51105" y="528523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51105" y="52852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0" y="5541264"/>
            <a:ext cx="719020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5E4B94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ALANTUR · Highlander · ForCamp · Гайдамака · Freeride · MK-Sport · Daruy · Tactico · Лєєр · Activity · ВсеОпт · Шериф · Суренж · OXO · Desna · Kalush-Craft · SportStorm · Klever-Shop · Terra Incognita · 110вольт · Virnyy vybir · Vkladovke.com.ua · Експрес Шоп · Клуб Мандрівників · Вояджер · Непереможні · Вартовий · Драйв Сенс · Ліхтар · Іграшка Мрії · Military Style · Націоналіст · Modern Shop · Palmer · Kamanti · Mr.Fishkin · Висот-Нік · UA-market · Skaut.in.ua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Покупець: мережі — масовий, щоденне харчування; маркетплейси — масовий, планове замовлення; азійські магазини — знає категорію; туристичні й військові — автономне харчування. Мереж перевірено 18 (17 через zakaz.ua + Сільпо); магазини — за картками продавців 23.09–06.10.2026.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ЦІНОУТВОРЕННЯ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Як у фінмоделі: ціна партнеру = 100 %, а мережа додає до неї 40 % — так виходить полиця. Закупівля (FOB) — окремо.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0954512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00784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ЦІНА ПАРТНЕРУ — ЗА НЕЮ МИ ПРОДАЄМО МЕРЕЖІ (100 %)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1920240"/>
            <a:ext cx="2999232" cy="329184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920240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Собівартість 40 %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31336" y="1920240"/>
            <a:ext cx="1874520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1336" y="1920240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05856" y="1920240"/>
            <a:ext cx="2624328" cy="3291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1920240"/>
            <a:ext cx="26243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Наша маржа 35 %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30183" y="1920240"/>
            <a:ext cx="2999232" cy="329184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3" y="1920240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Націнка магазину +40 %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2304288"/>
            <a:ext cx="7498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C2235"/>
                </a:solidFill>
                <a:latin typeface="Segoe UI"/>
              </a:rPr>
              <a:t>= ціна партнеру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" y="2286000"/>
            <a:ext cx="7498080" cy="109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2304288"/>
            <a:ext cx="2999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" y="2578608"/>
            <a:ext cx="10497312" cy="109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" y="2615184"/>
            <a:ext cx="10497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ПОЛИЦЯ = ціна партнеру × 1,40.  Бонус 25 % і маржа 35 % — частки ціни партнеру; націнка 40 % — понад ціну партнеру.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0358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ТОВАР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303580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УПАКОВКУ: ЦІНА ПАРТНЕРУ + НАЦІНКА МАГАЗИНУ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87184" y="303580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49056" y="3017520"/>
            <a:ext cx="10972" cy="301752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303580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ЗАКУПІВЛЯ · ОКРЕМО ВІД ПОЛИЦІ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58784" y="32369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FOB,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32369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СС,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87584" y="32369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3410712"/>
            <a:ext cx="10954512" cy="3474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48386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06624" y="3465575"/>
            <a:ext cx="458700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6624" y="3465575"/>
            <a:ext cx="4587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5324" y="3465575"/>
            <a:ext cx="286688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5324" y="3465575"/>
            <a:ext cx="286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52013" y="3465575"/>
            <a:ext cx="401363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2013" y="3465575"/>
            <a:ext cx="40136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35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2403" y="342900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53376" y="3465575"/>
            <a:ext cx="458700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53376" y="3465575"/>
            <a:ext cx="4587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5229" y="346557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0064" y="3465575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58784" y="348386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$0.500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73184" y="348386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$0.881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87584" y="3483863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39,7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" y="38496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BSCM пауч 150 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06624" y="3831336"/>
            <a:ext cx="438620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6624" y="3831336"/>
            <a:ext cx="4386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45244" y="3831336"/>
            <a:ext cx="274137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5244" y="3831336"/>
            <a:ext cx="27413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19381" y="3831336"/>
            <a:ext cx="383792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19381" y="3831336"/>
            <a:ext cx="383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33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92201" y="379476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803174" y="3831336"/>
            <a:ext cx="438620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3174" y="3831336"/>
            <a:ext cx="4386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4946" y="3831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70064" y="38313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8784" y="38496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$0.472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73184" y="38496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$0.843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87584" y="384962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37,9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3504" y="4142232"/>
            <a:ext cx="10954512" cy="3474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4215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BSCM пауч 200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06624" y="4197096"/>
            <a:ext cx="495711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6624" y="4197096"/>
            <a:ext cx="4957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2335" y="4197096"/>
            <a:ext cx="309819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2335" y="4197096"/>
            <a:ext cx="30981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12154" y="4197096"/>
            <a:ext cx="433747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12154" y="4197096"/>
            <a:ext cx="4337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34929" y="416052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945902" y="4197096"/>
            <a:ext cx="495711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45902" y="4197096"/>
            <a:ext cx="4957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43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14765" y="419709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70064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58784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$0.550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73184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$0.953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87584" y="42153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42,9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" y="45811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BSCM пауч 240 г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06624" y="4562856"/>
            <a:ext cx="518017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06624" y="4562856"/>
            <a:ext cx="51801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45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24641" y="4562856"/>
            <a:ext cx="323760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224641" y="4562856"/>
            <a:ext cx="323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48401" y="4562856"/>
            <a:ext cx="453264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48401" y="4562856"/>
            <a:ext cx="453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990693" y="452628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001666" y="4562856"/>
            <a:ext cx="518017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001666" y="4562856"/>
            <a:ext cx="51801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45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92835" y="45628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0064" y="45628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58784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$0.583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73184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$0.995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87584" y="458114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44,8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03504" y="4873752"/>
            <a:ext cx="10954512" cy="3474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3232" y="494690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CM Premium 250 г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06624" y="4928616"/>
            <a:ext cx="589615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706624" y="4928616"/>
            <a:ext cx="589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96239" y="4928616"/>
            <a:ext cx="368509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96239" y="4928616"/>
            <a:ext cx="36850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64748" y="4928616"/>
            <a:ext cx="515913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64748" y="4928616"/>
            <a:ext cx="51591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45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169688" y="489204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180661" y="4928616"/>
            <a:ext cx="589615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80661" y="4928616"/>
            <a:ext cx="589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51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43428" y="49286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70064" y="49286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8784" y="49469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$0.667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73184" y="494690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$1.133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87584" y="4946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51,0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13232" y="53126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ONE'S білий 210 г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06624" y="5294376"/>
            <a:ext cx="505557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06624" y="5294376"/>
            <a:ext cx="50555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44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12181" y="5294376"/>
            <a:ext cx="315973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212181" y="5294376"/>
            <a:ext cx="31597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528154" y="5294376"/>
            <a:ext cx="442362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528154" y="5294376"/>
            <a:ext cx="44236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959544" y="525780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970517" y="5294376"/>
            <a:ext cx="505557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970517" y="5294376"/>
            <a:ext cx="50555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44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49227" y="52943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370064" y="5294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8784" y="5312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17890"/>
                </a:solidFill>
                <a:latin typeface="Segoe UI"/>
              </a:rPr>
              <a:t>н/д*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473184" y="5312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$0.971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87584" y="5312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43,7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3504" y="5605272"/>
            <a:ext cx="10954512" cy="3474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3232" y="56784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ONE'S fried 200 г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706624" y="5660136"/>
            <a:ext cx="1095373" cy="256032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06624" y="5660136"/>
            <a:ext cx="109537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95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801997" y="5660136"/>
            <a:ext cx="684608" cy="256032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801997" y="5660136"/>
            <a:ext cx="6846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59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486605" y="5660136"/>
            <a:ext cx="958451" cy="256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486605" y="5660136"/>
            <a:ext cx="95845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83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434084" y="5623560"/>
            <a:ext cx="21945" cy="3291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45057" y="5660136"/>
            <a:ext cx="1095373" cy="256032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45057" y="5660136"/>
            <a:ext cx="109537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95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13582" y="56601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70064" y="56601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558784" y="56784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17890"/>
                </a:solidFill>
                <a:latin typeface="Segoe UI"/>
              </a:rPr>
              <a:t>н/д*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473184" y="56784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$2.105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87584" y="567842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235"/>
                </a:solidFill>
                <a:latin typeface="Segoe UI"/>
              </a:rPr>
              <a:t>94,7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3504" y="6108192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04672" y="607161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427732" y="6108192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628900" y="607161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863340" y="6108192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064508" y="607161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143500" y="6108192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344668" y="607161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004304" y="607161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Чорна риска — ціна партнеру; праворуч від неї — націнка магазину.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 (20' FCL навалом, курс 45 грн/$, ціна вже з ПДВ): ціна партнеру = СС ÷ 0,4; бонус мережі = 25 % і наша маржа = 35 % від ціни партнеру; полиця = ціна партнеру × 1,4. СС — Self_Cost. FOB — комерційна пропозиція постачальника, до полиці не входить. *ONE'S не розкрив FOB.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Наша ціна на полиці: усі формати й смаки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32 позиції трьох брендів. Ціна партнеру й роздрібна полиця — з ПДВ, за одну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240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157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202 грн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028492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028492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73552" y="3028492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3302812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31195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31195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67328" y="331195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331195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150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7328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3683203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64608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185 грн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504" y="4136745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136745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150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73552" y="4136745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411065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442020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442020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67328" y="442020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608" y="442020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133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" y="461040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461040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67328" y="461040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64608" y="461040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79145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480060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480060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67328" y="480060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4608" y="480060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" y="499079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499079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67328" y="499079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64608" y="499079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3504" y="524499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524499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250 г, ОРГАНІК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73552" y="524499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CM Premium · Chefrey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504" y="551931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552846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Garlic Fried Rice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0" y="552846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67328" y="552846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64608" y="552846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71865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Cilantro Lime Rice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571865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67328" y="571865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64608" y="571865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3504" y="58997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4944" y="59088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Turmeric Basmati + Cumin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0400" y="59088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67328" y="59088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64608" y="59088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4944" y="609904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Rice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0" y="609904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67328" y="609904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8" y="609904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59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814816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81744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79024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27648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СТАКАН 150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7967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09359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Jasmine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14816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81744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79024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09359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Brown Jasmine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14816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81744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479024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17920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09359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Red Jasmine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14816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381744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79024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09359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Rice Berry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814816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81744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479024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217920" y="295534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96448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+ Red Quinoa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14816" y="296448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81744" y="296448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479024" y="296448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17920" y="321868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27648" y="321868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ПОДВІЙНИЙ СТАКАН 2×125 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887967" y="321868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17920" y="34930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309359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з олією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14816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81744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479024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Pathum · з олією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14816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81744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79024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233 грн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17920" y="387339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09359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· з олією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814816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81744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79024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59" y="407273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Rice · з олією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814816" y="407273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81744" y="407273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479024" y="407273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0" y="425378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59" y="426293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Basmati* · з олією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814816" y="426293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81744" y="426293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479024" y="426293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280 грн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09359" y="445312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Long Grain · з олією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814816" y="445312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81744" y="445312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479024" y="445312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219 грн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4634179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09359" y="464332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без олії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14816" y="464332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81744" y="464332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479024" y="464332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217920" y="4897526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327648" y="4897526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ЛОТОК 200–210 г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87967" y="4897526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ONE'S International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217920" y="517184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09359" y="518099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Cooked White 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814816" y="518099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81744" y="518099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479024" y="518099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153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09359" y="537118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Kimchi Fried Rice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14816" y="537118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381744" y="537118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79024" y="537118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17920" y="555223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309359" y="556138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Vegetable Fried Rice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814816" y="556138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81744" y="556138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479024" y="556138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309359" y="575157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Japchae Fried Rice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814816" y="575157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81744" y="575157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479024" y="575157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 (20' FCL навалом): курс 45 грн/$, бонус мережі 25 %, маржа 35 %. Ціна партнеру = собівартість ÷ 0,4, полиця = ціна партнеру × 1,4. Варіанти змішаного контейнера (Bags+Cups) не показано. Basmati* — за комерційною пропозицією.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ПАУЧ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ми стоїмо: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Наш пауч 133–202 грн стоїть між українським реторт-паучем (медіана 101) і Seeds of Change (242). Помаранчеве — наші.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2695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56934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7047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4710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8245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2485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660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0260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6418" y="1645920"/>
            <a:ext cx="1684496" cy="420624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36418" y="6080760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879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ПАУЧ · ВІД ДЕШЕВИХ ДО ДОРОГИХ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195011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Portion ·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197754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9935" y="1977542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197754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60840" y="2027834"/>
            <a:ext cx="474154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10548" y="20186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51112" y="195925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7874" y="195925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71–109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21101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М'ясниця · 350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6704" y="223845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9935" y="223845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18304" y="223845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961" y="2288743"/>
            <a:ext cx="36576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22670" y="22795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063233" y="222016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8319" y="222016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88–89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247192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 · 240–250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46704" y="249936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59935" y="249936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240–250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8304" y="24993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36418" y="2549652"/>
            <a:ext cx="1172908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86126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4762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759035" y="25405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88189" y="24810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2207" y="248107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45–139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2732836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МАКРО · 350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46704" y="276026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59935" y="2760268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18304" y="276026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72783" y="2810560"/>
            <a:ext cx="486632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222492" y="2801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284880" y="2801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22314" y="28014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225444" y="274198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2296" y="27419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96–135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299374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Маркел · 350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6704" y="302117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9935" y="302117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304" y="302117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73140" y="3071469"/>
            <a:ext cx="798575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022848" y="3062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609302" y="3062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256639" y="300288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54596" y="300288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80–144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25465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Верес · 350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46704" y="328208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59935" y="328208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18304" y="328208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22695" y="3332378"/>
            <a:ext cx="436721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272403" y="332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2225" y="332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262878" y="326379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2296" y="326379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100–135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351556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Ходорівський · 350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6704" y="354299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9935" y="354299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18304" y="354299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85083" y="3593287"/>
            <a:ext cx="1172908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334791" y="35841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71513" y="35841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493716" y="352470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40872" y="352470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105–199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" y="3776472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 · 220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380390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59935" y="3803904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18304" y="3803904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7917" y="3854196"/>
            <a:ext cx="1497330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147625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2403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384702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821424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883812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258145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759035" y="3845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699599" y="378561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878127" y="378561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90–210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" y="4044086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31520" y="40373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150 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46704" y="40648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059935" y="4064812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18304" y="4064812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731327" y="4115104"/>
            <a:ext cx="44696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681035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952720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952720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128001" y="41059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893284" y="404652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61173" y="40465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133–169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03504" y="4304995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429828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200 г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346704" y="432572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59935" y="432572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718304" y="432572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946926" y="4376013"/>
            <a:ext cx="442473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6896634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134889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134889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339108" y="4366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7075453" y="430743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72280" y="430743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150–185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03504" y="4565903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1520" y="4559198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CM Premium пауч 250 г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46704" y="458663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59935" y="458663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18304" y="458663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301545" y="4636922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251253" y="4627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191817" y="456834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484425" y="456834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03504" y="4826812"/>
            <a:ext cx="10984961" cy="224332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31520" y="482010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240 г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46704" y="484753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59935" y="484753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18304" y="484753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031162" y="4897831"/>
            <a:ext cx="558925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6980870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7260332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7260332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539795" y="48886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200896" y="482925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772967" y="48292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157–202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31520" y="508101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Seeds of Change · 240 г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46704" y="510844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59935" y="510844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718304" y="510844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670291" y="5158739"/>
            <a:ext cx="3007137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7832121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767953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8256365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619999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7644955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10103072" y="514959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7984807" y="509015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860309" y="5090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208–449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31520" y="534192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Clearspring · 250 г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46704" y="53693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059935" y="536935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718304" y="53693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219313" y="5419648"/>
            <a:ext cx="2420683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8169021" y="54105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8109585" y="53510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22876" y="53510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252–446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31520" y="560283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400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346704" y="563026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059935" y="563026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718304" y="563026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005411" y="5680557"/>
            <a:ext cx="1110519" cy="8229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9716262" y="56714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8955119" y="56714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9217151" y="56714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48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157715" y="561197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98810" y="561197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315–404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упаковку: конкуренти — мінімальна ціна позиції на сайтах продавців; наші — полиця за фінмоделлю з ПДВ.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ЧАША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ми стоїмо: чаша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Наш стакан 150 г стоїть між Henan (медіана 124) і Bibigo (135–189); ONE'S fried rice — на рівні Ottogi. Помаранчеве — наші.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3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7023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0648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2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66376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615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800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64240" y="1645920"/>
            <a:ext cx="10972" cy="42062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0" y="58795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4439" y="1645920"/>
            <a:ext cx="808558" cy="4206240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4439" y="6080760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879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ГРН/УПАКОВКА · ВЕЛИКА ТОЧКА — МЕДІАНА, МАЛІ — ПОЗИЦІЇ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ЧАША · ВІД ДЕШЕВИХ ДО ДОРОГИХ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704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КРАЇНА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9935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16550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1982724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 · 174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6704" y="201015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9935" y="2010156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4" y="20101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45723" y="2060448"/>
            <a:ext cx="263530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97250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63132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31367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731367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95431" y="20513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71931" y="19918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2133" y="19918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112–156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3088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 · 144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46704" y="233629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59935" y="233629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4" y="233629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72033" y="2386584"/>
            <a:ext cx="413263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521741" y="23774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833186" y="23774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935004" y="23774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773750" y="231800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68176" y="231800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63499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Bibigo · 210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266242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59935" y="266242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8304" y="266242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83478" y="2712719"/>
            <a:ext cx="323423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833186" y="270357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773750" y="264413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89781" y="264413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135–189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504" y="2935223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96113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стакан 150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46704" y="298856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59935" y="298856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18304" y="298856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906367" y="3038855"/>
            <a:ext cx="69287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56103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856075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925362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925362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925362" y="3029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865926" y="297027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58534" y="297027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139–150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3504" y="3261359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328726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ONE'S лоток 210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46704" y="331469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59935" y="331469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18304" y="331469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91331" y="3364991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941039" y="335584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881603" y="329641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74211" y="329641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1520" y="361340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Gallina Blanca Yatekomo · 84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46704" y="364083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59935" y="364083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84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18304" y="364083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46474" y="3691127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396182" y="36819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396182" y="36819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336746" y="36225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354" y="362254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393953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 · 217–247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46704" y="396697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9935" y="396697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217,5–247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18304" y="396697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22517" y="4017263"/>
            <a:ext cx="568985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72225" y="40081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551904" y="40081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402628" y="394868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74382" y="394868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225–320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4265675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 · 269–280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46704" y="4293107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59935" y="4293107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269–280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18304" y="4293107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584228" y="4343399"/>
            <a:ext cx="49112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551904" y="4334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533936" y="4334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7025060" y="43342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492468" y="427481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258232" y="427481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252–334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" y="4591811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 · 310–320 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46704" y="4619243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059935" y="4619243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310–320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18304" y="4619243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584228" y="4669535"/>
            <a:ext cx="622889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533936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551904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533936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551904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156825" y="46603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6492468" y="460095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89997" y="460095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252–356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3504" y="4892039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1520" y="4917947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BSCM подвійний 2×125 г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46704" y="494537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59935" y="4945379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2×125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718304" y="4945379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86917" y="4995671"/>
            <a:ext cx="362891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559943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6420369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6559943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559988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699517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336625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559943" y="49865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500507" y="492709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932689" y="492709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219–280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3504" y="5218175"/>
            <a:ext cx="10984961" cy="289560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31520" y="5244083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НАШ · ONE'S fried rice 200 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346704" y="527151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59935" y="5271515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718304" y="527151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060474" y="5321807"/>
            <a:ext cx="36576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010182" y="53126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7010182" y="53126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010182" y="53126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6950746" y="525322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43354" y="525322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332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" y="5570219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 Xiao Xian · 275 г (саморозігрів)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46704" y="5597651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059935" y="5597651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275 г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718304" y="5597651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0650976" y="5647943"/>
            <a:ext cx="3657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10600684" y="56387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10600684" y="56387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0541248" y="557936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833856" y="557936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упаковку: конкуренти — мінімальна ціна позиції на сайтах продавців; наші — полиця за фінмоделлю з ПДВ.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Карта цін: формат × цінова смуга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бренди в клітинках за мінімальною ціною позиції; помаранчеве — наші товари за ціною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Пауч · 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7378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378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Чаша · 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43116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3116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Дойпак · 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18854" y="1627632"/>
            <a:ext cx="2402586" cy="292608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8854" y="1627632"/>
            <a:ext cx="24025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Коробка ·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225040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до 100 грн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202996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Ben's Original ×6 · Portion · Маркел · М'ясниця · МАКРО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7378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8818" y="202996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43116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4555" y="202996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James Cook ×3 · Харчі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18854" y="199339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0294" y="2029968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2962656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100–149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91640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83080" y="2767584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Ben's Original ×6 · МАКРО ×2 · Верес ×2 · Ходорівський ×2 · Маркел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64792" y="3230880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64792" y="3230880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150 г ×1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7378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8818" y="2767584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Henan ×6 · Bibigo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0530" y="3230880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0530" y="3230880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стакан 150 г ×2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43116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34555" y="2767584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Їжа в Похід ×2 · Харчі ×2 · !FEST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18854" y="2731008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0294" y="2767584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3700272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150–199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691640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3505200"/>
            <a:ext cx="2219706" cy="134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64792" y="3639312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64792" y="3639312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150 г ×3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64792" y="3803904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64792" y="3803904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200 г ×4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764792" y="3968496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64792" y="3968496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240 г ×3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67378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58818" y="3505200"/>
            <a:ext cx="2219706" cy="298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40530" y="3803904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0530" y="3803904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стакан 150 г ×3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40530" y="3968496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0530" y="3968496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43116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34555" y="3505200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James Cook · Харчі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18854" y="3468624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10294" y="3505200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" y="4437888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200–299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691640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83080" y="4242816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Seeds of Change ×4 · Clearspring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64792" y="4706112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64792" y="4706112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пауч 240 г ×1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67378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58818" y="4242816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Ottogi ×8 · Gallina Blanca ×2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40530" y="4706112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0530" y="4706112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BSCM подвійний 2×125 г ×7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643116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34555" y="4242816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Travellunch ×2 · Trek'n Eat · SubliMate · Харчі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18854" y="4206240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10294" y="4242816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5175504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300–499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91640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83080" y="4980432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Adventure Menu ×3 · Seeds of Change ×2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67378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58818" y="4980432"/>
            <a:ext cx="2219706" cy="463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Ottogi ×2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240530" y="5443728"/>
            <a:ext cx="2256282" cy="15087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40530" y="5443728"/>
            <a:ext cx="2256282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303A5D"/>
                </a:solidFill>
                <a:latin typeface="Segoe UI"/>
              </a:rPr>
              <a:t>ONE'S fried rice 200 г ×3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43116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34555" y="4980432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Adventure Food ×2 · Adventure Menu ×2 · SubliMate ×2 · Travellunch · Харчі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118854" y="4943856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0294" y="4980432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5913120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500+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691640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783080" y="5718048"/>
            <a:ext cx="221970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67378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58818" y="571804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Mo Xiao Xian ×2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643116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734555" y="571804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Travellunch ×4 · Qiaoshanmei ×3 · Mountain House ×2 · Trek'n Eat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118854" y="5681472"/>
            <a:ext cx="2402586" cy="691895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210294" y="5718048"/>
            <a:ext cx="2219706" cy="627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Haidilao ×10 · Zihaiguo · Rongcheng Haoji · Forestia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Чорний текст — бренди конкурентів і кількість їхніх позицій у смузі (за мінімальною ціною на сайтах продавців); помаранчеві плашки — наші товарні групи (полиця за фінмоделлю з ПДВ), ×n — число смаків у смузі.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ХТО З КИМ СТОЇТЬ · СУСІДИ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Найближчі за ціною до кожного нашого товару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Конкуренти сегментів 1–2 (готовий рис і рис під окріп): три найближчі нижче й вище, плюс коридор ±20 %.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НАШ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162763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ДЕШЕВШЕ ЗА НАС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2763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ДОРОЖЧЕ ЗА НАС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7191" y="1627632"/>
            <a:ext cx="21305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КОРИДОР ±20 %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847088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184708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89280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пауч 150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11226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133–169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2" y="187451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Тушкована курка · 174 г · 129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Маркел Рис із рослинним фарш… · 350 г · 127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Кантонська ковбаска · 174 г · 118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187451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1" y="188366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12 позицій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7191" y="209397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Henan, Ben's Original, Ходорівський, Bibigo…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39572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44144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пауч 200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266090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150–185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4952" y="242316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Гребінці та гриби · 174 г · 140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42316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Тунець і майонез · 247 г · 225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1" y="243230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8 позицій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1" y="26426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Ходорівський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" y="2944368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3504" y="294436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29900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пауч 240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20954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157–202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4952" y="297180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297180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Тунець і майонез · 247 г · 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37191" y="298094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91" y="319125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Seeds of Change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349300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353872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CM Premium пауч 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375818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178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44952" y="352044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352044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37191" y="352958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37191" y="373989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Seeds of Change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504" y="4041648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3504" y="404164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08736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" y="430682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139–150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4952" y="406908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Кисло-солодка яловичи… · 144 г · 135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Bibigo Білий рис · 210 г · 135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Тушкована курка · 174 г · 129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406908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37191" y="407822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12 позицій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37191" y="428853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Ben's Original, Henan, Ходорівський, Bibigo…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590288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463600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BSCM подвійний 2×125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" y="485546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219–280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4952" y="461772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91072" y="4617720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&amp; Wild Rice, то… · 240 г · 300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Adventure Menu Курка в томатному соу… · 400 г · 315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Гостра свинина · 269 г · 334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37191" y="4626864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16 позицій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37191" y="483717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Ottogi, Seeds of Change, Clearspring, Gallina Blanca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5138927"/>
            <a:ext cx="10954512" cy="51206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" y="5138927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096" y="518464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ONE'S лоток 210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5404103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153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4952" y="516635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Henan Курка з баклажанами · 144 г · 152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Для боулів · 220 г · 149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Curryreis Indien · 220 г · 144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91072" y="516635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Ben's Original Sweet Chili · 220 г · 179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Basmati Rice · 240 г · 208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Quinoa &amp; Brown Rice з… · 240 г · 210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37191" y="5175503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12 позицій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37191" y="538581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Henan, Ben's Original, Ходорівський, Bibigo…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3504" y="5687567"/>
            <a:ext cx="64008" cy="512063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8096" y="5733287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ONE'S fried rice 200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5952743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332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44952" y="571499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Adventure Menu Курка в томатному соу… · 400 г · 315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&amp; Wild Rice, то… · 240 г · 300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Seeds of Change Brown Jasmine, кінза … · 240 г · 259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91072" y="5714999"/>
            <a:ext cx="3063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Гостра свинина · 269 г · 334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Adventure Menu Фрикадельки з басматі · 400 г · 336</a:t>
            </a:r>
          </a:p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1C2235"/>
                </a:solidFill>
                <a:latin typeface="Segoe UI"/>
              </a:rPr>
              <a:t>Ottogi Гостра яловичина · 320 г · 356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37191" y="5724143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6 позицій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37191" y="593445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717890"/>
                </a:solidFill>
                <a:latin typeface="Segoe UI"/>
              </a:rPr>
              <a:t>Ottogi, Adventure Menu, Seeds of Change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Формат запису: бренд, назва, вага, мінімальна ціна на сайтах продавців, грн. Коридор — позиції сегментів 1–2 із ціною ±20 % від медіани нашого товару. Наші ціни — полиця за фінмоделлю з ПДВ. Саморозігрів і сублімат — інший привід, до сусідів не входять.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2952</Words>
  <Application>Microsoft Office PowerPoint</Application>
  <PresentationFormat>Широкий екран</PresentationFormat>
  <Paragraphs>836</Paragraphs>
  <Slides>23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11</vt:i4>
      </vt:variant>
      <vt:variant>
        <vt:lpstr>Заголовки слайдів</vt:lpstr>
      </vt:variant>
      <vt:variant>
        <vt:i4>23</vt:i4>
      </vt:variant>
    </vt:vector>
  </HeadingPairs>
  <TitlesOfParts>
    <vt:vector size="40" baseType="lpstr">
      <vt:lpstr>Arial</vt:lpstr>
      <vt:lpstr>Calibri</vt:lpstr>
      <vt:lpstr>Segoe UI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Чаплигін lлля</cp:lastModifiedBy>
  <cp:revision>9</cp:revision>
  <dcterms:created xsi:type="dcterms:W3CDTF">2013-01-27T09:14:16Z</dcterms:created>
  <dcterms:modified xsi:type="dcterms:W3CDTF">2026-10-06T08:49:21Z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