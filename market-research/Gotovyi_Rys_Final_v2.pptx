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</p:sldMasterIdLst>
  <p:sldIdLst>
    <p:sldId id="286" r:id="rId12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</p:sldIdLst>
  <p:sldSz cx="12192000" cy="6858000"/>
  <p:notesSz cx="7559675" cy="10691813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11" Type="http://schemas.openxmlformats.org/officeDocument/2006/relationships/slideMaster" Target="slideMasters/slideMaster11.xml"/><Relationship Id="rId12" Type="http://schemas.openxmlformats.org/officeDocument/2006/relationships/slide" Target="slides/slide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Relationship Id="rId39" Type="http://schemas.openxmlformats.org/officeDocument/2006/relationships/slide" Target="slides/slide24.xml"/><Relationship Id="rId40" Type="http://schemas.openxmlformats.org/officeDocument/2006/relationships/slide" Target="slides/slide25.xml"/><Relationship Id="rId41" Type="http://schemas.openxmlformats.org/officeDocument/2006/relationships/slide" Target="slides/slide26.xml"/><Relationship Id="rId42" Type="http://schemas.openxmlformats.org/officeDocument/2006/relationships/slide" Target="slides/slide27.xml"/><Relationship Id="rId43" Type="http://schemas.openxmlformats.org/officeDocument/2006/relationships/slide" Target="slides/slide28.xml"/><Relationship Id="rId44" Type="http://schemas.openxmlformats.org/officeDocument/2006/relationships/slide" Target="slides/slide29.xml"/><Relationship Id="rId45" Type="http://schemas.openxmlformats.org/officeDocument/2006/relationships/slide" Target="slides/slide30.xml"/><Relationship Id="rId46" Type="http://schemas.openxmlformats.org/officeDocument/2006/relationships/slide" Target="slides/slide31.xml"/><Relationship Id="rId47" Type="http://schemas.openxmlformats.org/officeDocument/2006/relationships/slide" Target="slides/slide32.xml"/><Relationship Id="rId48" Type="http://schemas.openxmlformats.org/officeDocument/2006/relationships/slide" Target="slides/slide33.xml"/><Relationship Id="rId49" Type="http://schemas.openxmlformats.org/officeDocument/2006/relationships/slide" Target="slides/slide34.xml"/><Relationship Id="rId50" Type="http://schemas.openxmlformats.org/officeDocument/2006/relationships/slide" Target="slides/slide35.xml"/><Relationship Id="rId51" Type="http://schemas.openxmlformats.org/officeDocument/2006/relationships/slide" Target="slides/slide36.xml"/><Relationship Id="rId52" Type="http://schemas.openxmlformats.org/officeDocument/2006/relationships/slide" Target="slides/slide37.xml"/><Relationship Id="rId53" Type="http://schemas.openxmlformats.org/officeDocument/2006/relationships/slide" Target="slides/slide38.xml"/><Relationship Id="rId54" Type="http://schemas.openxmlformats.org/officeDocument/2006/relationships/slide" Target="slides/slide39.xml"/><Relationship Id="rId55" Type="http://schemas.openxmlformats.org/officeDocument/2006/relationships/slide" Target="slides/slide40.xml"/><Relationship Id="rId56" Type="http://schemas.openxmlformats.org/officeDocument/2006/relationships/slide" Target="slides/slide41.xml"/><Relationship Id="rId57" Type="http://schemas.openxmlformats.org/officeDocument/2006/relationships/slide" Target="slides/slide42.xml"/><Relationship Id="rId58" Type="http://schemas.openxmlformats.org/officeDocument/2006/relationships/slide" Target="slides/slide43.xml"/><Relationship Id="rId59" Type="http://schemas.openxmlformats.org/officeDocument/2006/relationships/slide" Target="slides/slide44.xml"/><Relationship Id="rId60" Type="http://schemas.openxmlformats.org/officeDocument/2006/relationships/slide" Target="slides/slide45.xml"/><Relationship Id="rId61" Type="http://schemas.openxmlformats.org/officeDocument/2006/relationships/slide" Target="slides/slide46.xml"/><Relationship Id="rId62" Type="http://schemas.openxmlformats.org/officeDocument/2006/relationships/slide" Target="slides/slide47.xml"/><Relationship Id="rId63" Type="http://schemas.openxmlformats.org/officeDocument/2006/relationships/slide" Target="slides/slide48.xml"/><Relationship Id="rId64" Type="http://schemas.openxmlformats.org/officeDocument/2006/relationships/slide" Target="slides/slide49.xml"/><Relationship Id="rId65" Type="http://schemas.openxmlformats.org/officeDocument/2006/relationships/slide" Target="slides/slide50.xml"/><Relationship Id="rId66" Type="http://schemas.openxmlformats.org/officeDocument/2006/relationships/slide" Target="slides/slide51.xml"/><Relationship Id="rId67" Type="http://schemas.openxmlformats.org/officeDocument/2006/relationships/slide" Target="slides/slide52.xml"/><Relationship Id="rId68" Type="http://schemas.openxmlformats.org/officeDocument/2006/relationships/slide" Target="slides/slide53.xml"/><Relationship Id="rId69" Type="http://schemas.openxmlformats.org/officeDocument/2006/relationships/slide" Target="slides/slide54.xml"/><Relationship Id="rId70" Type="http://schemas.openxmlformats.org/officeDocument/2006/relationships/slide" Target="slides/slide5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6049C9C-26D1-4BF7-95C2-7ABB3BE0045C}" type="slidenum">
              <a:t>‹№›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51877D8-6C42-493E-8137-7AA72E3A88C7}" type="slidenum">
              <a:t>‹№›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12FBAA39-EC53-4CF0-B60E-14DE506C665D}" type="slidenum">
              <a:t>‹№›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D6FE0B3-4447-4A7D-B583-5EE32AB8B828}" type="slidenum">
              <a:t>‹№›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15602CAE-D726-43B9-920E-EA5939FE8FE7}" type="slidenum">
              <a:t>‹№›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D538AA35-9490-4648-8368-19B3123CAD3A}" type="slidenum">
              <a:t>‹№›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AB01A933-A588-48C4-BB5D-0E2F439E6893}" type="slidenum">
              <a:t>‹№›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9926C7FD-F93C-4D5B-BE9B-12BDB056F4FC}" type="slidenum">
              <a:t>‹№›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C64FE91E-1351-4F9F-8CF5-0B7F6789C7CF}" type="slidenum">
              <a:t>‹№›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fld id="{82F14AF9-FC9F-4855-811B-1BDAF89C796A}" type="slidenum">
              <a:t>‹№›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lstStyle/>
          <a:p>
            <a:fld id="{208C1557-350F-440A-AEDD-9DFC903CA691}" type="slidenum">
              <a:t>‹№›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heme" Target="../theme/theme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BBF6D8D-7452-4BBD-B80A-CCF3520CA285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‹№›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5393B8F-BA6B-4E36-8247-E9C295277C1B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‹№›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3806D57-E2E7-4FCC-8AB1-E1592A1A5373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‹№›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A6F79F3-08D0-4626-8438-E303BB1E74CA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‹№›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4000" b="1" strike="noStrike" cap="all" spc="-1">
                <a:solidFill>
                  <a:schemeClr val="dk1"/>
                </a:solidFill>
                <a:latin typeface="Calibri"/>
              </a:rPr>
              <a:t>Click to edit Master title style</a:t>
            </a:r>
            <a:endParaRPr lang="en-US" sz="4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F701CCC-9DC2-4749-8F63-A885FB3A76DD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‹№›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010AE7C-BC5C-431D-A7BD-9638F5612940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‹№›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E8B0B25-FF38-4398-BF0F-2F66D13BE1AC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‹№›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751B68A-7401-4164-B7B7-66C50FF87152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‹№›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9605F44-7B5C-4EC4-9071-29658010D3A1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‹№›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1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C384E6A-BA14-4EB6-BCD8-4BF7C0D4A84E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‹№›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1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141A942-13C1-4351-B248-8F6A5E969205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‹№›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image" Target="../media/image6.jpg"/><Relationship Id="rId5" Type="http://schemas.openxmlformats.org/officeDocument/2006/relationships/image" Target="../media/image70.jpg"/><Relationship Id="rId6" Type="http://schemas.openxmlformats.org/officeDocument/2006/relationships/image" Target="../media/image7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image" Target="../media/image17.jpeg"/><Relationship Id="rId5" Type="http://schemas.openxmlformats.org/officeDocument/2006/relationships/image" Target="../media/image12.jpeg"/><Relationship Id="rId6" Type="http://schemas.openxmlformats.org/officeDocument/2006/relationships/image" Target="../media/image72.jpg"/><Relationship Id="rId7" Type="http://schemas.openxmlformats.org/officeDocument/2006/relationships/image" Target="../media/image73.jpg"/><Relationship Id="rId8" Type="http://schemas.openxmlformats.org/officeDocument/2006/relationships/image" Target="../media/image74.jpg"/><Relationship Id="rId9" Type="http://schemas.openxmlformats.org/officeDocument/2006/relationships/image" Target="../media/image75.jpg"/><Relationship Id="rId10" Type="http://schemas.openxmlformats.org/officeDocument/2006/relationships/image" Target="../media/image76.jpg"/><Relationship Id="rId11" Type="http://schemas.openxmlformats.org/officeDocument/2006/relationships/image" Target="../media/image54.jpe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2.jpeg"/><Relationship Id="rId4" Type="http://schemas.openxmlformats.org/officeDocument/2006/relationships/image" Target="../media/image13.jpeg"/><Relationship Id="rId5" Type="http://schemas.openxmlformats.org/officeDocument/2006/relationships/image" Target="../media/image14.jpeg"/><Relationship Id="rId6" Type="http://schemas.openxmlformats.org/officeDocument/2006/relationships/image" Target="../media/image15.jpeg"/><Relationship Id="rId7" Type="http://schemas.openxmlformats.org/officeDocument/2006/relationships/image" Target="../media/image16.jpeg"/><Relationship Id="rId8" Type="http://schemas.openxmlformats.org/officeDocument/2006/relationships/image" Target="../media/image17.jpeg"/><Relationship Id="rId9" Type="http://schemas.openxmlformats.org/officeDocument/2006/relationships/image" Target="../media/image18.jpeg"/><Relationship Id="rId10" Type="http://schemas.openxmlformats.org/officeDocument/2006/relationships/image" Target="../media/image19.jpeg"/><Relationship Id="rId11" Type="http://schemas.openxmlformats.org/officeDocument/2006/relationships/image" Target="../media/image20.jpe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77.jpg"/><Relationship Id="rId4" Type="http://schemas.openxmlformats.org/officeDocument/2006/relationships/image" Target="../media/image75.jpg"/><Relationship Id="rId5" Type="http://schemas.openxmlformats.org/officeDocument/2006/relationships/image" Target="../media/image78.jpg"/><Relationship Id="rId6" Type="http://schemas.openxmlformats.org/officeDocument/2006/relationships/image" Target="../media/image74.jpg"/><Relationship Id="rId7" Type="http://schemas.openxmlformats.org/officeDocument/2006/relationships/image" Target="../media/image79.jpg"/><Relationship Id="rId8" Type="http://schemas.openxmlformats.org/officeDocument/2006/relationships/image" Target="../media/image80.jpg"/><Relationship Id="rId9" Type="http://schemas.openxmlformats.org/officeDocument/2006/relationships/image" Target="../media/image76.jpg"/><Relationship Id="rId10" Type="http://schemas.openxmlformats.org/officeDocument/2006/relationships/image" Target="../media/image81.jpg"/><Relationship Id="rId11" Type="http://schemas.openxmlformats.org/officeDocument/2006/relationships/image" Target="../media/image82.jpg"/><Relationship Id="rId12" Type="http://schemas.openxmlformats.org/officeDocument/2006/relationships/image" Target="../media/image83.jpg"/><Relationship Id="rId13" Type="http://schemas.openxmlformats.org/officeDocument/2006/relationships/image" Target="../media/image84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54.jpeg"/><Relationship Id="rId4" Type="http://schemas.openxmlformats.org/officeDocument/2006/relationships/image" Target="../media/image55.jpeg"/><Relationship Id="rId5" Type="http://schemas.openxmlformats.org/officeDocument/2006/relationships/image" Target="../media/image56.jpeg"/><Relationship Id="rId6" Type="http://schemas.openxmlformats.org/officeDocument/2006/relationships/image" Target="../media/image73.jpg"/><Relationship Id="rId7" Type="http://schemas.openxmlformats.org/officeDocument/2006/relationships/image" Target="../media/image72.jpg"/><Relationship Id="rId8" Type="http://schemas.openxmlformats.org/officeDocument/2006/relationships/image" Target="../media/image85.jpg"/><Relationship Id="rId9" Type="http://schemas.openxmlformats.org/officeDocument/2006/relationships/image" Target="../media/image86.jpg"/><Relationship Id="rId10" Type="http://schemas.openxmlformats.org/officeDocument/2006/relationships/image" Target="../media/image87.jpg"/><Relationship Id="rId11" Type="http://schemas.openxmlformats.org/officeDocument/2006/relationships/image" Target="../media/image88.jpg"/><Relationship Id="rId12" Type="http://schemas.openxmlformats.org/officeDocument/2006/relationships/image" Target="../media/image89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6.jpg"/><Relationship Id="rId4" Type="http://schemas.openxmlformats.org/officeDocument/2006/relationships/image" Target="../media/image90.jpg"/><Relationship Id="rId5" Type="http://schemas.openxmlformats.org/officeDocument/2006/relationships/image" Target="../media/image28.jpeg"/><Relationship Id="rId6" Type="http://schemas.openxmlformats.org/officeDocument/2006/relationships/image" Target="../media/image26.jpeg"/><Relationship Id="rId7" Type="http://schemas.openxmlformats.org/officeDocument/2006/relationships/image" Target="../media/image91.jpg"/><Relationship Id="rId8" Type="http://schemas.openxmlformats.org/officeDocument/2006/relationships/image" Target="../media/image25.jpeg"/><Relationship Id="rId9" Type="http://schemas.openxmlformats.org/officeDocument/2006/relationships/image" Target="../media/image40.jpeg"/><Relationship Id="rId10" Type="http://schemas.openxmlformats.org/officeDocument/2006/relationships/image" Target="../media/image21.jpe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21.jpeg"/><Relationship Id="rId4" Type="http://schemas.openxmlformats.org/officeDocument/2006/relationships/image" Target="../media/image22.jpeg"/><Relationship Id="rId5" Type="http://schemas.openxmlformats.org/officeDocument/2006/relationships/image" Target="../media/image23.jpeg"/><Relationship Id="rId6" Type="http://schemas.openxmlformats.org/officeDocument/2006/relationships/image" Target="../media/image24.jpeg"/><Relationship Id="rId7" Type="http://schemas.openxmlformats.org/officeDocument/2006/relationships/image" Target="../media/image25.jpeg"/><Relationship Id="rId8" Type="http://schemas.openxmlformats.org/officeDocument/2006/relationships/image" Target="../media/image26.jpeg"/><Relationship Id="rId9" Type="http://schemas.openxmlformats.org/officeDocument/2006/relationships/image" Target="../media/image27.jpeg"/><Relationship Id="rId10" Type="http://schemas.openxmlformats.org/officeDocument/2006/relationships/image" Target="../media/image91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28.jpeg"/><Relationship Id="rId4" Type="http://schemas.openxmlformats.org/officeDocument/2006/relationships/image" Target="../media/image29.jpeg"/><Relationship Id="rId5" Type="http://schemas.openxmlformats.org/officeDocument/2006/relationships/image" Target="../media/image30.jpeg"/><Relationship Id="rId6" Type="http://schemas.openxmlformats.org/officeDocument/2006/relationships/image" Target="../media/image31.jpeg"/><Relationship Id="rId7" Type="http://schemas.openxmlformats.org/officeDocument/2006/relationships/image" Target="../media/image32.jpeg"/><Relationship Id="rId8" Type="http://schemas.openxmlformats.org/officeDocument/2006/relationships/image" Target="../media/image33.jpeg"/><Relationship Id="rId9" Type="http://schemas.openxmlformats.org/officeDocument/2006/relationships/image" Target="../media/image40.jpeg"/><Relationship Id="rId10" Type="http://schemas.openxmlformats.org/officeDocument/2006/relationships/image" Target="../media/image41.jpeg"/><Relationship Id="rId11" Type="http://schemas.openxmlformats.org/officeDocument/2006/relationships/image" Target="../media/image90.jpg"/><Relationship Id="rId12" Type="http://schemas.openxmlformats.org/officeDocument/2006/relationships/image" Target="../media/image92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70.jpg"/><Relationship Id="rId4" Type="http://schemas.openxmlformats.org/officeDocument/2006/relationships/image" Target="../media/image66.jpeg"/><Relationship Id="rId5" Type="http://schemas.openxmlformats.org/officeDocument/2006/relationships/image" Target="../media/image60.jpeg"/><Relationship Id="rId6" Type="http://schemas.openxmlformats.org/officeDocument/2006/relationships/image" Target="../media/image64.jpeg"/><Relationship Id="rId7" Type="http://schemas.openxmlformats.org/officeDocument/2006/relationships/image" Target="../media/image46.jpeg"/><Relationship Id="rId8" Type="http://schemas.openxmlformats.org/officeDocument/2006/relationships/image" Target="../media/image57.jpeg"/><Relationship Id="rId9" Type="http://schemas.openxmlformats.org/officeDocument/2006/relationships/image" Target="../media/image59.jpeg"/><Relationship Id="rId10" Type="http://schemas.openxmlformats.org/officeDocument/2006/relationships/image" Target="../media/image44.jpeg"/><Relationship Id="rId11" Type="http://schemas.openxmlformats.org/officeDocument/2006/relationships/image" Target="../media/image50.jpeg"/><Relationship Id="rId12" Type="http://schemas.openxmlformats.org/officeDocument/2006/relationships/image" Target="../media/image53.jpe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46.jpeg"/><Relationship Id="rId4" Type="http://schemas.openxmlformats.org/officeDocument/2006/relationships/image" Target="../media/image47.jpeg"/><Relationship Id="rId5" Type="http://schemas.openxmlformats.org/officeDocument/2006/relationships/image" Target="../media/image48.jpeg"/><Relationship Id="rId6" Type="http://schemas.openxmlformats.org/officeDocument/2006/relationships/image" Target="../media/image49.jpeg"/><Relationship Id="rId7" Type="http://schemas.openxmlformats.org/officeDocument/2006/relationships/image" Target="../media/image50.jpeg"/><Relationship Id="rId8" Type="http://schemas.openxmlformats.org/officeDocument/2006/relationships/image" Target="../media/image51.jpeg"/><Relationship Id="rId9" Type="http://schemas.openxmlformats.org/officeDocument/2006/relationships/image" Target="../media/image52.jpeg"/><Relationship Id="rId10" Type="http://schemas.openxmlformats.org/officeDocument/2006/relationships/image" Target="../media/image53.jpeg"/><Relationship Id="rId11" Type="http://schemas.openxmlformats.org/officeDocument/2006/relationships/image" Target="../media/image93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44.jpeg"/><Relationship Id="rId4" Type="http://schemas.openxmlformats.org/officeDocument/2006/relationships/image" Target="../media/image45.jpeg"/><Relationship Id="rId5" Type="http://schemas.openxmlformats.org/officeDocument/2006/relationships/image" Target="../media/image57.jpeg"/><Relationship Id="rId6" Type="http://schemas.openxmlformats.org/officeDocument/2006/relationships/image" Target="../media/image58.jpeg"/><Relationship Id="rId7" Type="http://schemas.openxmlformats.org/officeDocument/2006/relationships/image" Target="../media/image54.jpeg"/><Relationship Id="rId8" Type="http://schemas.openxmlformats.org/officeDocument/2006/relationships/image" Target="../media/image59.jpeg"/><Relationship Id="rId9" Type="http://schemas.openxmlformats.org/officeDocument/2006/relationships/image" Target="../media/image56.jpeg"/><Relationship Id="rId10" Type="http://schemas.openxmlformats.org/officeDocument/2006/relationships/image" Target="../media/image94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60.jpeg"/><Relationship Id="rId4" Type="http://schemas.openxmlformats.org/officeDocument/2006/relationships/image" Target="../media/image61.jpeg"/><Relationship Id="rId5" Type="http://schemas.openxmlformats.org/officeDocument/2006/relationships/image" Target="../media/image62.jpeg"/><Relationship Id="rId6" Type="http://schemas.openxmlformats.org/officeDocument/2006/relationships/image" Target="../media/image63.jpeg"/><Relationship Id="rId7" Type="http://schemas.openxmlformats.org/officeDocument/2006/relationships/image" Target="../media/image64.jpeg"/><Relationship Id="rId8" Type="http://schemas.openxmlformats.org/officeDocument/2006/relationships/image" Target="../media/image65.jpeg"/><Relationship Id="rId9" Type="http://schemas.openxmlformats.org/officeDocument/2006/relationships/image" Target="../media/image66.jpeg"/><Relationship Id="rId10" Type="http://schemas.openxmlformats.org/officeDocument/2006/relationships/image" Target="../media/image95.jpg"/><Relationship Id="rId11" Type="http://schemas.openxmlformats.org/officeDocument/2006/relationships/image" Target="../media/image96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71.jpg"/><Relationship Id="rId4" Type="http://schemas.openxmlformats.org/officeDocument/2006/relationships/image" Target="../media/image34.jpeg"/><Relationship Id="rId5" Type="http://schemas.openxmlformats.org/officeDocument/2006/relationships/image" Target="../media/image35.jpeg"/><Relationship Id="rId6" Type="http://schemas.openxmlformats.org/officeDocument/2006/relationships/image" Target="../media/image38.jpeg"/><Relationship Id="rId7" Type="http://schemas.openxmlformats.org/officeDocument/2006/relationships/image" Target="../media/image42.jpeg"/><Relationship Id="rId8" Type="http://schemas.openxmlformats.org/officeDocument/2006/relationships/image" Target="../media/image43.jpeg"/><Relationship Id="rId9" Type="http://schemas.openxmlformats.org/officeDocument/2006/relationships/image" Target="../media/image97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4.jpeg"/><Relationship Id="rId4" Type="http://schemas.openxmlformats.org/officeDocument/2006/relationships/image" Target="../media/image35.jpeg"/><Relationship Id="rId5" Type="http://schemas.openxmlformats.org/officeDocument/2006/relationships/image" Target="../media/image36.jpeg"/><Relationship Id="rId6" Type="http://schemas.openxmlformats.org/officeDocument/2006/relationships/image" Target="../media/image37.jpeg"/><Relationship Id="rId7" Type="http://schemas.openxmlformats.org/officeDocument/2006/relationships/image" Target="../media/image38.jpeg"/><Relationship Id="rId8" Type="http://schemas.openxmlformats.org/officeDocument/2006/relationships/image" Target="../media/image39.jpeg"/><Relationship Id="rId9" Type="http://schemas.openxmlformats.org/officeDocument/2006/relationships/image" Target="../media/image42.jpeg"/><Relationship Id="rId10" Type="http://schemas.openxmlformats.org/officeDocument/2006/relationships/image" Target="../media/image43.jpeg"/><Relationship Id="rId11" Type="http://schemas.openxmlformats.org/officeDocument/2006/relationships/image" Target="../media/image98.jpg"/><Relationship Id="rId12" Type="http://schemas.openxmlformats.org/officeDocument/2006/relationships/image" Target="../media/image97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d_bg_title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md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475488"/>
            <a:ext cx="1773936" cy="768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03504" y="1847088"/>
            <a:ext cx="493776" cy="8229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3504" y="2139696"/>
            <a:ext cx="6400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FC95C"/>
                </a:solidFill>
                <a:latin typeface="Segoe UI"/>
              </a:rPr>
              <a:t>ДОСЛІДЖЕННЯ РИНКУ ТА ПОЗИЦІОНУВАННЯ · ВЕРЕСЕНЬ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2542032"/>
            <a:ext cx="65836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4600" b="1" i="0">
                <a:solidFill>
                  <a:srgbClr val="FFFFFF"/>
                </a:solidFill>
                <a:latin typeface="Segoe UI"/>
              </a:rPr>
              <a:t>Готовий рис
в Україні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" y="4681728"/>
            <a:ext cx="5394960" cy="50292"/>
          </a:xfrm>
          <a:prstGeom prst="rect">
            <a:avLst/>
          </a:prstGeom>
          <a:solidFill>
            <a:srgbClr val="556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552944" y="877824"/>
            <a:ext cx="214884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bens_basmati25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4560" y="1005840"/>
            <a:ext cx="1385606" cy="193852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857232" y="877824"/>
            <a:ext cx="214884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hn_scallop17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3536" y="1094494"/>
            <a:ext cx="1856232" cy="176121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552944" y="3200400"/>
            <a:ext cx="21488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hd_beef_stew27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5260" y="3328416"/>
            <a:ext cx="1664208" cy="1664208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9857232" y="3200400"/>
            <a:ext cx="21488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ot_bibimbap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03536" y="3345065"/>
            <a:ext cx="1856232" cy="163090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C95C"/>
                </a:solidFill>
                <a:latin typeface="Segoe UI"/>
              </a:rPr>
              <a:t>ГОЛОВНЕ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Шість цифр, які описують ринок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717890"/>
                </a:solidFill>
                <a:latin typeface="Segoe UI"/>
              </a:rPr>
              <a:t>Усі ціни в колоді — за одну упаковку. Опт і ящики до розрахунку не входять.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00784"/>
            <a:ext cx="3541776" cy="2249424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3504" y="1700784"/>
            <a:ext cx="3541776" cy="91440"/>
          </a:xfrm>
          <a:prstGeom prst="roundRect">
            <a:avLst>
              <a:gd name="adj" fmla="val 50000"/>
            </a:avLst>
          </a:prstGeom>
          <a:solidFill>
            <a:srgbClr val="5E4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11680"/>
            <a:ext cx="29931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717890"/>
                </a:solidFill>
                <a:latin typeface="Segoe UI"/>
              </a:rPr>
              <a:t>ПОЗИЦІЙ У ПРОДАЖУ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340864"/>
            <a:ext cx="299313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5E4B94"/>
                </a:solidFill>
                <a:latin typeface="Segoe UI"/>
              </a:rPr>
              <a:t>105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182112"/>
            <a:ext cx="299313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C2235"/>
                </a:solidFill>
                <a:latin typeface="Segoe UI"/>
              </a:rPr>
              <a:t>29 брендів · 4 формати · 64 продавців. Кожна позиція має фото й ціну в каталозі.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9872" y="1700784"/>
            <a:ext cx="3541776" cy="2249424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09872" y="1700784"/>
            <a:ext cx="3541776" cy="91440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84192" y="2011680"/>
            <a:ext cx="29931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717890"/>
                </a:solidFill>
                <a:latin typeface="Segoe UI"/>
              </a:rPr>
              <a:t>НА ПОЛИЦІ МЕРЕЖ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4192" y="2340864"/>
            <a:ext cx="299313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1E9EA6"/>
                </a:solidFill>
                <a:latin typeface="Segoe UI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4192" y="3182112"/>
            <a:ext cx="299313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C2235"/>
                </a:solidFill>
                <a:latin typeface="Segoe UI"/>
              </a:rPr>
              <a:t>SKU на всю країну, 11 з них — Ben's Original у «Сільпо». Ритейл-аудит 9 мереж.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6240" y="1700784"/>
            <a:ext cx="3541776" cy="2249424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16240" y="1700784"/>
            <a:ext cx="3541776" cy="9144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90560" y="2011680"/>
            <a:ext cx="29931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717890"/>
                </a:solidFill>
                <a:latin typeface="Segoe UI"/>
              </a:rPr>
              <a:t>ІМПОРТ ЗА МИТНИЦЕЮ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0560" y="2340864"/>
            <a:ext cx="299313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9A50B"/>
                </a:solidFill>
                <a:latin typeface="Segoe UI"/>
              </a:rPr>
              <a:t>3,5 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0560" y="3182112"/>
            <a:ext cx="299313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C2235"/>
                </a:solidFill>
                <a:latin typeface="Segoe UI"/>
              </a:rPr>
              <a:t>Сегменти 1–2 за січ. 2025 – трав. 2026 — лише 1,4 % коду 1904901000. Решта — заморожені суміші й снеки.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" y="4114800"/>
            <a:ext cx="3541776" cy="2249424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03504" y="4114800"/>
            <a:ext cx="3541776" cy="91440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" y="4425696"/>
            <a:ext cx="29931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717890"/>
                </a:solidFill>
                <a:latin typeface="Segoe UI"/>
              </a:rPr>
              <a:t>2026 ПРОТИ 2025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754880"/>
            <a:ext cx="299313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37A169"/>
                </a:solidFill>
                <a:latin typeface="Segoe UI"/>
              </a:rPr>
              <a:t>×2,0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" y="5596128"/>
            <a:ext cx="299313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C2235"/>
                </a:solidFill>
                <a:latin typeface="Segoe UI"/>
              </a:rPr>
              <a:t>Наші сегменти без разової партії Ben's: 128 → 261 кг на місяць.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09872" y="4114800"/>
            <a:ext cx="3541776" cy="2249424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309872" y="4114800"/>
            <a:ext cx="3541776" cy="91440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84192" y="4425696"/>
            <a:ext cx="29931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717890"/>
                </a:solidFill>
                <a:latin typeface="Segoe UI"/>
              </a:rPr>
              <a:t>РОЗРИВ ЦІН ФОРМАТІВ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84192" y="4754880"/>
            <a:ext cx="299313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C94F7C"/>
                </a:solidFill>
                <a:latin typeface="Segoe UI"/>
              </a:rPr>
              <a:t>×6,2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84192" y="5596128"/>
            <a:ext cx="299313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C2235"/>
                </a:solidFill>
                <a:latin typeface="Segoe UI"/>
              </a:rPr>
              <a:t>Медіана коробки з нагрівачем 735 грн проти 118 грн у пауча.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16240" y="4114800"/>
            <a:ext cx="3541776" cy="2249424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016240" y="4114800"/>
            <a:ext cx="3541776" cy="91440"/>
          </a:xfrm>
          <a:prstGeom prst="roundRect">
            <a:avLst>
              <a:gd name="adj" fmla="val 50000"/>
            </a:avLst>
          </a:prstGeom>
          <a:solidFill>
            <a:srgbClr val="C48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90560" y="4425696"/>
            <a:ext cx="29931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717890"/>
                </a:solidFill>
                <a:latin typeface="Segoe UI"/>
              </a:rPr>
              <a:t>ВХІД У КАТЕГОРІЮ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90560" y="4754880"/>
            <a:ext cx="299313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C4810A"/>
                </a:solidFill>
                <a:latin typeface="Segoe UI"/>
              </a:rPr>
              <a:t>118 грн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90560" y="5596128"/>
            <a:ext cx="299313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C2235"/>
                </a:solidFill>
                <a:latin typeface="Segoe UI"/>
              </a:rPr>
              <a:t>Медіана пауча — найдешевшого формату: 34 позицій, вага 220–400 г.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504" y="647395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Джерела: картки продавців 23–28.09.2026 і 06.10.2026 (105 позицій); митна база codexmb, вивантаження 28.09.2026, січень 2025 – травень 2026; ритейл-аудит 9 мереж, 28.09.2026.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C95C"/>
                </a:solidFill>
                <a:latin typeface="Segoe UI"/>
              </a:rPr>
              <a:t>ОБСЯГ РИНКУ · МИТНА БАЗА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Скільки готового рису ввозять в Україну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717890"/>
                </a:solidFill>
                <a:latin typeface="Segoe UI"/>
              </a:rPr>
              <a:t>Код 1904901000, січень 2025 – травень 2026: 250 т, з них готовий рис для розігріву — лише 0,85 т.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00784"/>
            <a:ext cx="7269480" cy="4626864"/>
          </a:xfrm>
          <a:prstGeom prst="roundRect">
            <a:avLst>
              <a:gd name="adj" fmla="val 3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828800"/>
            <a:ext cx="6766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717890"/>
                </a:solidFill>
                <a:latin typeface="Segoe UI"/>
              </a:rPr>
              <a:t>З ЧОГО СКЛАДАЄТЬСЯ КОД, ТОНН ЗА ПЕРІОД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139696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C2235"/>
                </a:solidFill>
                <a:latin typeface="Segoe UI"/>
              </a:rPr>
              <a:t>Заморожені суміші рис + овочі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8464" y="2139696"/>
            <a:ext cx="1691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50" b="1" i="0">
                <a:solidFill>
                  <a:srgbClr val="303A5D"/>
                </a:solidFill>
                <a:latin typeface="Segoe UI"/>
              </a:rPr>
              <a:t>193,7 т · 77,4 %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" y="2395728"/>
            <a:ext cx="6766560" cy="1463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59536" y="2395728"/>
            <a:ext cx="6766559" cy="146304"/>
          </a:xfrm>
          <a:prstGeom prst="roundRect">
            <a:avLst>
              <a:gd name="adj" fmla="val 50000"/>
            </a:avLst>
          </a:prstGeom>
          <a:solidFill>
            <a:srgbClr val="5B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2569463"/>
            <a:ext cx="6766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17890"/>
                </a:solidFill>
                <a:latin typeface="Segoe UI"/>
              </a:rPr>
              <a:t>Oerlemans, «Рудь», АТБ-маркет: гавайська суміш, паелья — у морозилку, не готова страва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2738628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C2235"/>
                </a:solidFill>
                <a:latin typeface="Segoe UI"/>
              </a:rPr>
              <a:t>Рисові чіпси й снеки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98464" y="2738628"/>
            <a:ext cx="1691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50" b="1" i="0">
                <a:solidFill>
                  <a:srgbClr val="303A5D"/>
                </a:solidFill>
                <a:latin typeface="Segoe UI"/>
              </a:rPr>
              <a:t>32,4 т · 12,9 %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9536" y="2994660"/>
            <a:ext cx="6766560" cy="1463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59536" y="2994660"/>
            <a:ext cx="1130116" cy="146304"/>
          </a:xfrm>
          <a:prstGeom prst="roundRect">
            <a:avLst>
              <a:gd name="adj" fmla="val 50000"/>
            </a:avLst>
          </a:prstGeom>
          <a:solidFill>
            <a:srgbClr val="A9B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3168396"/>
            <a:ext cx="6766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17890"/>
                </a:solidFill>
                <a:latin typeface="Segoe UI"/>
              </a:rPr>
              <a:t>Ficosota «Livity»: солоний снек, не страва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3337560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C2235"/>
                </a:solidFill>
                <a:latin typeface="Segoe UI"/>
              </a:rPr>
              <a:t>Долма в банці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98464" y="3337560"/>
            <a:ext cx="1691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50" b="1" i="0">
                <a:solidFill>
                  <a:srgbClr val="303A5D"/>
                </a:solidFill>
                <a:latin typeface="Segoe UI"/>
              </a:rPr>
              <a:t>10,8 т · 4,3 %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9536" y="3593592"/>
            <a:ext cx="6766560" cy="1463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59536" y="3593592"/>
            <a:ext cx="377234" cy="146304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3767328"/>
            <a:ext cx="6766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17890"/>
                </a:solidFill>
                <a:latin typeface="Segoe UI"/>
              </a:rPr>
              <a:t>Виноградне листя з рисом, Болгарія: інший формат і привід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3936492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C2235"/>
                </a:solidFill>
                <a:latin typeface="Segoe UI"/>
              </a:rPr>
              <a:t>Різото «довести до готовності»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98464" y="3936492"/>
            <a:ext cx="1691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50" b="1" i="0">
                <a:solidFill>
                  <a:srgbClr val="303A5D"/>
                </a:solidFill>
                <a:latin typeface="Segoe UI"/>
              </a:rPr>
              <a:t>7,41 т · 3,0 %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9536" y="4192524"/>
            <a:ext cx="6766560" cy="1463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59536" y="4192524"/>
            <a:ext cx="258830" cy="146304"/>
          </a:xfrm>
          <a:prstGeom prst="roundRect">
            <a:avLst>
              <a:gd name="adj" fmla="val 50000"/>
            </a:avLst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4366260"/>
            <a:ext cx="6766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17890"/>
                </a:solidFill>
                <a:latin typeface="Segoe UI"/>
              </a:rPr>
              <a:t>Riso Gallo, Casa Rinaldi, Trevijano: рис сирий, варити 15–18 хв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" y="4535424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C2235"/>
                </a:solidFill>
                <a:latin typeface="Segoe UI"/>
              </a:rPr>
              <a:t>Інше: топінги, сирий рис, спорт-каша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98464" y="4535424"/>
            <a:ext cx="1691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50" b="1" i="0">
                <a:solidFill>
                  <a:srgbClr val="303A5D"/>
                </a:solidFill>
                <a:latin typeface="Segoe UI"/>
              </a:rPr>
              <a:t>2,47 т · 1,0 %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9536" y="4791456"/>
            <a:ext cx="6766560" cy="1463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59536" y="4791456"/>
            <a:ext cx="86325" cy="146304"/>
          </a:xfrm>
          <a:prstGeom prst="roundRect">
            <a:avLst>
              <a:gd name="adj" fmla="val 50000"/>
            </a:avLst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9536" y="4965192"/>
            <a:ext cx="6766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17890"/>
                </a:solidFill>
                <a:latin typeface="Segoe UI"/>
              </a:rPr>
              <a:t>Посипки, промисловий рис, GymBeam, ттокпоккі, сублімат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" y="5134356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C2235"/>
                </a:solidFill>
                <a:latin typeface="Segoe UI"/>
              </a:rPr>
              <a:t>Сегмент 2 · рис під окріп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98464" y="5134356"/>
            <a:ext cx="1691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50" b="1" i="0">
                <a:solidFill>
                  <a:srgbClr val="303A5D"/>
                </a:solidFill>
                <a:latin typeface="Segoe UI"/>
              </a:rPr>
              <a:t>2,67 т · 1,1 %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59536" y="5390388"/>
            <a:ext cx="6766560" cy="1463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59536" y="5390388"/>
            <a:ext cx="93232" cy="146304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9536" y="5564124"/>
            <a:ext cx="6766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17890"/>
                </a:solidFill>
                <a:latin typeface="Segoe UI"/>
              </a:rPr>
              <a:t>Китайський рис у чаші 144/174 г (тип Henan); 30 кг — тайський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" y="5733288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C2235"/>
                </a:solidFill>
                <a:latin typeface="Segoe UI"/>
              </a:rPr>
              <a:t>Сегмент 1 · готовий рис для розігріву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98464" y="5733288"/>
            <a:ext cx="1691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50" b="1" i="0">
                <a:solidFill>
                  <a:srgbClr val="303A5D"/>
                </a:solidFill>
                <a:latin typeface="Segoe UI"/>
              </a:rPr>
              <a:t>0,85 т · 0,3 %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59536" y="5989320"/>
            <a:ext cx="6766560" cy="1463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59536" y="5989320"/>
            <a:ext cx="54864" cy="146304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9536" y="6163056"/>
            <a:ext cx="6766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17890"/>
                </a:solidFill>
                <a:latin typeface="Segoe UI"/>
              </a:rPr>
              <a:t>Ben's (Mars), CJ Hetbahn, Clearspring, Haldiram RTE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74152" y="1700784"/>
            <a:ext cx="3514313" cy="3017520"/>
          </a:xfrm>
          <a:prstGeom prst="roundRect">
            <a:avLst>
              <a:gd name="adj" fmla="val 5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074152" y="1700784"/>
            <a:ext cx="82296" cy="301752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48472" y="1847088"/>
            <a:ext cx="3057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C95C"/>
                </a:solidFill>
                <a:latin typeface="Segoe UI"/>
              </a:rPr>
              <a:t>Наш ринок: сегменти 1–2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48472" y="2176272"/>
            <a:ext cx="305711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egoe UI"/>
              </a:rPr>
              <a:t>3,5 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48472" y="2852928"/>
            <a:ext cx="3057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9C2DA"/>
                </a:solidFill>
                <a:latin typeface="Segoe UI"/>
              </a:rPr>
              <a:t>1,4 % коду за весь період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48472" y="3310128"/>
            <a:ext cx="177695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D5DBEA"/>
                </a:solidFill>
                <a:latin typeface="Segoe UI"/>
              </a:rPr>
              <a:t>Сегмент 1 · розігрів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25425" y="33101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Segoe UI"/>
              </a:rPr>
              <a:t>0,85 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48472" y="3730752"/>
            <a:ext cx="177695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D5DBEA"/>
                </a:solidFill>
                <a:latin typeface="Segoe UI"/>
              </a:rPr>
              <a:t>Сегмент 2 · під окріп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25425" y="373075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Segoe UI"/>
              </a:rPr>
              <a:t>2,67 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48472" y="4151376"/>
            <a:ext cx="177695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D5DBEA"/>
                </a:solidFill>
                <a:latin typeface="Segoe UI"/>
              </a:rPr>
              <a:t>Ben's — одна партія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25425" y="415137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Segoe UI"/>
              </a:rPr>
              <a:t>676 кг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074152" y="4846320"/>
            <a:ext cx="3514313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93608" y="4956048"/>
            <a:ext cx="314855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C94F7C"/>
                </a:solidFill>
                <a:latin typeface="Segoe UI"/>
              </a:rPr>
              <a:t>ПЕРІОД І МЕТОД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93608" y="5212080"/>
            <a:ext cx="3148553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C2235"/>
                </a:solidFill>
                <a:latin typeface="Segoe UI"/>
              </a:rPr>
              <a:t>17 місяців: січень 2025 – травень 2026. У вивантаженні немає 12–31 березня 2025. Кожну декларацію віднесено до типу продукту за її описом. Показано вагу нетто, а не вартість.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3504" y="647395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Митна база (codexmb), вивантаження 28.09.2026, УКТ ЗЕД 1904901000, січень 2025 – травень 2026 (у базі немає 12–31 березня 2025). Класифікація — за описом кожної декларації. Вага нетто. Фактурна вартість USD без ПДВ і мита.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C95C"/>
                </a:solidFill>
                <a:latin typeface="Segoe UI"/>
              </a:rPr>
              <a:t>МИТНА БАЗА · 2025 І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Який рис ввозять і скільки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717890"/>
                </a:solidFill>
                <a:latin typeface="Segoe UI"/>
              </a:rPr>
              <a:t>Середнє на місяць: 2025 — 12 місяців, 2026 — січень–травень. Так порівняння чесне.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645920"/>
            <a:ext cx="6720840" cy="4700016"/>
          </a:xfrm>
          <a:prstGeom prst="roundRect">
            <a:avLst>
              <a:gd name="adj" fmla="val 3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755648"/>
            <a:ext cx="6263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717890"/>
                </a:solidFill>
                <a:latin typeface="Segoe UI"/>
              </a:rPr>
              <a:t>ЩО ВВОЗЯТЬ МАСОВО · ТОНН НА МІСЯЦЬ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43984" y="1801368"/>
            <a:ext cx="146304" cy="146304"/>
          </a:xfrm>
          <a:prstGeom prst="roundRect">
            <a:avLst>
              <a:gd name="adj" fmla="val 30000"/>
            </a:avLst>
          </a:prstGeom>
          <a:solidFill>
            <a:srgbClr val="5B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2584" y="1773936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C2235"/>
                </a:solidFill>
                <a:latin typeface="Segoe UI"/>
              </a:rPr>
              <a:t>2025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07024" y="1801368"/>
            <a:ext cx="146304" cy="146304"/>
          </a:xfrm>
          <a:prstGeom prst="roundRect">
            <a:avLst>
              <a:gd name="adj" fmla="val 3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35624" y="1773936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C2235"/>
                </a:solidFill>
                <a:latin typeface="Segoe UI"/>
              </a:rPr>
              <a:t>2026 · січ–трав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2157984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03A5D"/>
                </a:solidFill>
                <a:latin typeface="Segoe UI"/>
              </a:rPr>
              <a:t>Заморожені суміші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9816" y="2185415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рис + овочі, у морозилку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9536" y="2468879"/>
            <a:ext cx="4846320" cy="219456"/>
          </a:xfrm>
          <a:prstGeom prst="roundRect">
            <a:avLst>
              <a:gd name="adj" fmla="val 25000"/>
            </a:avLst>
          </a:prstGeom>
          <a:solidFill>
            <a:srgbClr val="5B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97296" y="2459736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12,0 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9536" y="2743199"/>
            <a:ext cx="3985513" cy="219456"/>
          </a:xfrm>
          <a:prstGeom prst="roundRect">
            <a:avLst>
              <a:gd name="adj" fmla="val 25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6489" y="2734056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9,9 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2980944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03A5D"/>
                </a:solidFill>
                <a:latin typeface="Segoe UI"/>
              </a:rPr>
              <a:t>Рисові чіпси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99816" y="3008375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снек, не страва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9536" y="3291839"/>
            <a:ext cx="752049" cy="219456"/>
          </a:xfrm>
          <a:prstGeom prst="roundRect">
            <a:avLst>
              <a:gd name="adj" fmla="val 25000"/>
            </a:avLst>
          </a:prstGeom>
          <a:solidFill>
            <a:srgbClr val="5B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03025" y="3282696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1,9 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9536" y="3566159"/>
            <a:ext cx="803298" cy="219456"/>
          </a:xfrm>
          <a:prstGeom prst="roundRect">
            <a:avLst>
              <a:gd name="adj" fmla="val 25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54274" y="3557015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2,0 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803904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03A5D"/>
                </a:solidFill>
                <a:latin typeface="Segoe UI"/>
              </a:rPr>
              <a:t>Долма в банці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99816" y="3831336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листя з рисом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9536" y="4114800"/>
            <a:ext cx="241840" cy="219456"/>
          </a:xfrm>
          <a:prstGeom prst="roundRect">
            <a:avLst>
              <a:gd name="adj" fmla="val 25000"/>
            </a:avLst>
          </a:prstGeom>
          <a:solidFill>
            <a:srgbClr val="5B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92816" y="4105656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0,60 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9536" y="4389120"/>
            <a:ext cx="290209" cy="219456"/>
          </a:xfrm>
          <a:prstGeom prst="roundRect">
            <a:avLst>
              <a:gd name="adj" fmla="val 25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41185" y="4379976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0,72 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4626864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03A5D"/>
                </a:solidFill>
                <a:latin typeface="Segoe UI"/>
              </a:rPr>
              <a:t>Різото-набори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99816" y="4654296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сирий рис, варити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9536" y="4937760"/>
            <a:ext cx="191851" cy="219456"/>
          </a:xfrm>
          <a:prstGeom prst="roundRect">
            <a:avLst>
              <a:gd name="adj" fmla="val 25000"/>
            </a:avLst>
          </a:prstGeom>
          <a:solidFill>
            <a:srgbClr val="5B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2827" y="4928616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0,48 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9536" y="5212080"/>
            <a:ext cx="136915" cy="219456"/>
          </a:xfrm>
          <a:prstGeom prst="roundRect">
            <a:avLst>
              <a:gd name="adj" fmla="val 25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87891" y="5202936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0,34 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" y="5449824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03A5D"/>
                </a:solidFill>
                <a:latin typeface="Segoe UI"/>
              </a:rPr>
              <a:t>Інше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99816" y="5477256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топінги, сирий рис, каша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59536" y="5760720"/>
            <a:ext cx="60911" cy="219456"/>
          </a:xfrm>
          <a:prstGeom prst="roundRect">
            <a:avLst>
              <a:gd name="adj" fmla="val 25000"/>
            </a:avLst>
          </a:prstGeom>
          <a:solidFill>
            <a:srgbClr val="5B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1887" y="5751576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0,15 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59536" y="6035040"/>
            <a:ext cx="53043" cy="219456"/>
          </a:xfrm>
          <a:prstGeom prst="roundRect">
            <a:avLst>
              <a:gd name="adj" fmla="val 25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4019" y="6025896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0,13 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525512" y="1645920"/>
            <a:ext cx="4062953" cy="29809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63256" y="1755648"/>
            <a:ext cx="369719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717890"/>
                </a:solidFill>
                <a:latin typeface="Segoe UI"/>
              </a:rPr>
              <a:t>НАШІ СЕГМЕНТИ · КГ НА МІСЯЦЬ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63256" y="2139696"/>
            <a:ext cx="369719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Сегмент 1 · готовий рис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63256" y="2386584"/>
            <a:ext cx="369719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розігрів у НВЧ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763256" y="2670048"/>
            <a:ext cx="616096" cy="219456"/>
          </a:xfrm>
          <a:prstGeom prst="roundRect">
            <a:avLst>
              <a:gd name="adj" fmla="val 25000"/>
            </a:avLst>
          </a:prstGeom>
          <a:solidFill>
            <a:srgbClr val="5B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70792" y="2660903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66 кг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63256" y="2944368"/>
            <a:ext cx="93558" cy="219456"/>
          </a:xfrm>
          <a:prstGeom prst="roundRect">
            <a:avLst>
              <a:gd name="adj" fmla="val 25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48254" y="2935223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10 кг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63256" y="3401568"/>
            <a:ext cx="369719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Сегмент 2 · під окріп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63256" y="3648456"/>
            <a:ext cx="369719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Henan-тип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763256" y="3931920"/>
            <a:ext cx="1095536" cy="219456"/>
          </a:xfrm>
          <a:prstGeom prst="roundRect">
            <a:avLst>
              <a:gd name="adj" fmla="val 25000"/>
            </a:avLst>
          </a:prstGeom>
          <a:solidFill>
            <a:srgbClr val="5B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950232" y="3922776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118 кг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763256" y="4206240"/>
            <a:ext cx="2325593" cy="219456"/>
          </a:xfrm>
          <a:prstGeom prst="roundRect">
            <a:avLst>
              <a:gd name="adj" fmla="val 25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180289" y="4197096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251 кг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525512" y="4736592"/>
            <a:ext cx="4062953" cy="1609344"/>
          </a:xfrm>
          <a:prstGeom prst="roundRect">
            <a:avLst>
              <a:gd name="adj" fmla="val 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7525512" y="4736592"/>
            <a:ext cx="82296" cy="1609344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836408" y="4919472"/>
            <a:ext cx="3514313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D5DBEA"/>
                </a:solidFill>
                <a:latin typeface="Segoe UI"/>
              </a:rPr>
              <a:t>Сегменти 1–2: 2,21 т у 2025 (з них 0,68 т — одна партія Ben's) і 1,30 т за п'ять місяців 2026. Без Ben's на місяць: 128 кг → 261 кг, ×2,0.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03504" y="647395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Митна база (codexmb), вивантаження 28.09.2026, УКТ ЗЕД 1904901000, січень 2025 – травень 2026 (у базі немає 12–31 березня 2025). Класифікація — за описом кожної декларації. Вага нетто. Заморожені суміші в 2025 мали великі разові партії, тому середнє на місяць у 2026 нижче; тренд — за місяцями нестабільний.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C95C"/>
                </a:solidFill>
                <a:latin typeface="Segoe UI"/>
              </a:rPr>
              <a:t>МИТНА БАЗА · ІМПОРТЕРИ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Хто завозить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717890"/>
                </a:solidFill>
                <a:latin typeface="Segoe UI"/>
              </a:rPr>
              <a:t>Топ-10 імпортерів коду за вагою, січ. 2025 – трав. 2026. Усього в базі 20 імпортерів.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1645920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717890"/>
                </a:solidFill>
                <a:latin typeface="Segoe UI"/>
              </a:rPr>
              <a:t>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" y="1645920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717890"/>
                </a:solidFill>
                <a:latin typeface="Segoe UI"/>
              </a:rPr>
              <a:t>ІМПОРТЕР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71216" y="164592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717890"/>
                </a:solidFill>
                <a:latin typeface="Segoe UI"/>
              </a:rPr>
              <a:t>ЩО ЗАВОЗИТЬ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02936" y="164592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717890"/>
                </a:solidFill>
                <a:latin typeface="Segoe UI"/>
              </a:rPr>
              <a:t>КРАЇНА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1344" y="1645920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717890"/>
                </a:solidFill>
                <a:latin typeface="Segoe UI"/>
              </a:rPr>
              <a:t>ТОНН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78624" y="1645920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717890"/>
                </a:solidFill>
                <a:latin typeface="Segoe UI"/>
              </a:rPr>
              <a:t>ЧАСТКА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" y="1883664"/>
            <a:ext cx="7726679" cy="397764"/>
          </a:xfrm>
          <a:prstGeom prst="roundRect">
            <a:avLst>
              <a:gd name="adj" fmla="val 2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1984248"/>
            <a:ext cx="365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" y="1975104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АТБ-маркет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71216" y="192024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C2235"/>
                </a:solidFill>
                <a:latin typeface="Segoe UI"/>
              </a:rPr>
              <a:t>Заморожені суміші рис + овочі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71216" y="2093976"/>
            <a:ext cx="2331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17890"/>
                </a:solidFill>
                <a:latin typeface="Segoe UI"/>
              </a:rPr>
              <a:t>Oerlemans Foods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02936" y="199339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C2235"/>
                </a:solidFill>
                <a:latin typeface="Segoe UI"/>
              </a:rPr>
              <a:t>Польща · ЄС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0216" y="1975104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50" b="1" i="0">
                <a:solidFill>
                  <a:srgbClr val="303A5D"/>
                </a:solidFill>
                <a:latin typeface="Segoe UI"/>
              </a:rPr>
              <a:t>123,9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60336" y="2002536"/>
            <a:ext cx="731520" cy="173736"/>
          </a:xfrm>
          <a:prstGeom prst="roundRect">
            <a:avLst>
              <a:gd name="adj" fmla="val 40000"/>
            </a:avLst>
          </a:prstGeom>
          <a:solidFill>
            <a:srgbClr val="5B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55864" y="1993392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717890"/>
                </a:solidFill>
                <a:latin typeface="Segoe UI"/>
              </a:rPr>
              <a:t>49,5 %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" y="2318004"/>
            <a:ext cx="7726679" cy="39776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" y="2418588"/>
            <a:ext cx="365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" y="2409444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ТФ «Рудь»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71216" y="235458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C2235"/>
                </a:solidFill>
                <a:latin typeface="Segoe UI"/>
              </a:rPr>
              <a:t>Заморожені суміші рис + овочі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71216" y="2528316"/>
            <a:ext cx="2331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17890"/>
                </a:solidFill>
                <a:latin typeface="Segoe UI"/>
              </a:rPr>
              <a:t>Oerlemans Foods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02936" y="242773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C2235"/>
                </a:solidFill>
                <a:latin typeface="Segoe UI"/>
              </a:rPr>
              <a:t>Польща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0216" y="2409444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50" b="1" i="0">
                <a:solidFill>
                  <a:srgbClr val="303A5D"/>
                </a:solidFill>
                <a:latin typeface="Segoe UI"/>
              </a:rPr>
              <a:t>57,5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60336" y="2436876"/>
            <a:ext cx="339194" cy="173736"/>
          </a:xfrm>
          <a:prstGeom prst="roundRect">
            <a:avLst>
              <a:gd name="adj" fmla="val 40000"/>
            </a:avLst>
          </a:prstGeom>
          <a:solidFill>
            <a:srgbClr val="5B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63538" y="2427732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717890"/>
                </a:solidFill>
                <a:latin typeface="Segoe UI"/>
              </a:rPr>
              <a:t>23,0 %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3504" y="2752344"/>
            <a:ext cx="7726679" cy="397764"/>
          </a:xfrm>
          <a:prstGeom prst="roundRect">
            <a:avLst>
              <a:gd name="adj" fmla="val 2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" y="2852928"/>
            <a:ext cx="365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717890"/>
                </a:solidFill>
                <a:latin typeface="Segoe UI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6" y="2843784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Фоззі Коммерц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71216" y="278892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C2235"/>
                </a:solidFill>
                <a:latin typeface="Segoe UI"/>
              </a:rPr>
              <a:t>Долма, різото, Ben's 676 кг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71216" y="2962656"/>
            <a:ext cx="2331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17890"/>
                </a:solidFill>
                <a:latin typeface="Segoe UI"/>
              </a:rPr>
              <a:t>Palirria, Mars Austria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02936" y="286207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C2235"/>
                </a:solidFill>
                <a:latin typeface="Segoe UI"/>
              </a:rPr>
              <a:t>Греція · ЄС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0216" y="2843784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50" b="1" i="0">
                <a:solidFill>
                  <a:srgbClr val="303A5D"/>
                </a:solidFill>
                <a:latin typeface="Segoe UI"/>
              </a:rPr>
              <a:t>16,9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60336" y="2871216"/>
            <a:ext cx="99497" cy="173736"/>
          </a:xfrm>
          <a:prstGeom prst="roundRect">
            <a:avLst>
              <a:gd name="adj" fmla="val 4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23841" y="2862072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717890"/>
                </a:solidFill>
                <a:latin typeface="Segoe UI"/>
              </a:rPr>
              <a:t>6,7 %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3504" y="3186684"/>
            <a:ext cx="7726679" cy="39776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4944" y="3287268"/>
            <a:ext cx="365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8136" y="3278124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Метро Кеш енд Кері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71216" y="322326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C2235"/>
                </a:solidFill>
                <a:latin typeface="Segoe UI"/>
              </a:rPr>
              <a:t>Рисові чіпси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71216" y="3396996"/>
            <a:ext cx="2331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17890"/>
                </a:solidFill>
                <a:latin typeface="Segoe UI"/>
              </a:rPr>
              <a:t>Ficosota Food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02936" y="32964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C2235"/>
                </a:solidFill>
                <a:latin typeface="Segoe UI"/>
              </a:rPr>
              <a:t>ЄС (Болгарія)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0216" y="3278124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50" b="1" i="0">
                <a:solidFill>
                  <a:srgbClr val="303A5D"/>
                </a:solidFill>
                <a:latin typeface="Segoe UI"/>
              </a:rPr>
              <a:t>16,0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260336" y="3305556"/>
            <a:ext cx="94192" cy="173736"/>
          </a:xfrm>
          <a:prstGeom prst="roundRect">
            <a:avLst>
              <a:gd name="adj" fmla="val 40000"/>
            </a:avLst>
          </a:prstGeom>
          <a:solidFill>
            <a:srgbClr val="5B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18536" y="3296412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717890"/>
                </a:solidFill>
                <a:latin typeface="Segoe UI"/>
              </a:rPr>
              <a:t>6,4 %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03504" y="3621024"/>
            <a:ext cx="7726679" cy="397764"/>
          </a:xfrm>
          <a:prstGeom prst="roundRect">
            <a:avLst>
              <a:gd name="adj" fmla="val 2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4944" y="3721608"/>
            <a:ext cx="365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88136" y="3712464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Фудком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871216" y="365760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C2235"/>
                </a:solidFill>
                <a:latin typeface="Segoe UI"/>
              </a:rPr>
              <a:t>Рисові чіпси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71216" y="3831336"/>
            <a:ext cx="2331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17890"/>
                </a:solidFill>
                <a:latin typeface="Segoe UI"/>
              </a:rPr>
              <a:t>Ficosota Food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02936" y="373075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C2235"/>
                </a:solidFill>
                <a:latin typeface="Segoe UI"/>
              </a:rPr>
              <a:t>ЄС (Болгарія)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00216" y="3712464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50" b="1" i="0">
                <a:solidFill>
                  <a:srgbClr val="303A5D"/>
                </a:solidFill>
                <a:latin typeface="Segoe UI"/>
              </a:rPr>
              <a:t>7,5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260336" y="3739896"/>
            <a:ext cx="44545" cy="173736"/>
          </a:xfrm>
          <a:prstGeom prst="roundRect">
            <a:avLst>
              <a:gd name="adj" fmla="val 40000"/>
            </a:avLst>
          </a:prstGeom>
          <a:solidFill>
            <a:srgbClr val="5B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68889" y="3730752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717890"/>
                </a:solidFill>
                <a:latin typeface="Segoe UI"/>
              </a:rPr>
              <a:t>3,0 %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03504" y="4055364"/>
            <a:ext cx="7726679" cy="39776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4944" y="4155948"/>
            <a:ext cx="365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717890"/>
                </a:solidFill>
                <a:latin typeface="Segoe UI"/>
              </a:rP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88136" y="4146804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Таврія-В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871216" y="409194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C2235"/>
                </a:solidFill>
                <a:latin typeface="Segoe UI"/>
              </a:rPr>
              <a:t>Рисові чіпси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871216" y="4265676"/>
            <a:ext cx="2331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17890"/>
                </a:solidFill>
                <a:latin typeface="Segoe UI"/>
              </a:rPr>
              <a:t>Ficosota Food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202936" y="416509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C2235"/>
                </a:solidFill>
                <a:latin typeface="Segoe UI"/>
              </a:rPr>
              <a:t>ЄС (Болгарія)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00216" y="4146804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50" b="1" i="0">
                <a:solidFill>
                  <a:srgbClr val="303A5D"/>
                </a:solidFill>
                <a:latin typeface="Segoe UI"/>
              </a:rPr>
              <a:t>6,1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260336" y="4174236"/>
            <a:ext cx="36576" cy="173736"/>
          </a:xfrm>
          <a:prstGeom prst="roundRect">
            <a:avLst>
              <a:gd name="adj" fmla="val 40000"/>
            </a:avLst>
          </a:prstGeom>
          <a:solidFill>
            <a:srgbClr val="5B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60920" y="4165092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717890"/>
                </a:solidFill>
                <a:latin typeface="Segoe UI"/>
              </a:rPr>
              <a:t>2,4 %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03504" y="4489704"/>
            <a:ext cx="7726679" cy="397764"/>
          </a:xfrm>
          <a:prstGeom prst="roundRect">
            <a:avLst>
              <a:gd name="adj" fmla="val 2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94944" y="4590288"/>
            <a:ext cx="365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717890"/>
                </a:solidFill>
                <a:latin typeface="Segoe UI"/>
              </a:rPr>
              <a:t>7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88136" y="4581144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Вічунай Україна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871216" y="452628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C2235"/>
                </a:solidFill>
                <a:latin typeface="Segoe UI"/>
              </a:rPr>
              <a:t>Заморожені суміші рис + овочі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871216" y="4700016"/>
            <a:ext cx="2331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17890"/>
                </a:solidFill>
                <a:latin typeface="Segoe UI"/>
              </a:rPr>
              <a:t>Oerlemans, Bonduelle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202936" y="459943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C2235"/>
                </a:solidFill>
                <a:latin typeface="Segoe UI"/>
              </a:rPr>
              <a:t>Польща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300216" y="4581144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50" b="1" i="0">
                <a:solidFill>
                  <a:srgbClr val="303A5D"/>
                </a:solidFill>
                <a:latin typeface="Segoe UI"/>
              </a:rPr>
              <a:t>5,8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260336" y="4608576"/>
            <a:ext cx="36576" cy="173736"/>
          </a:xfrm>
          <a:prstGeom prst="roundRect">
            <a:avLst>
              <a:gd name="adj" fmla="val 40000"/>
            </a:avLst>
          </a:prstGeom>
          <a:solidFill>
            <a:srgbClr val="5B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360920" y="4599432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717890"/>
                </a:solidFill>
                <a:latin typeface="Segoe UI"/>
              </a:rPr>
              <a:t>2,3 %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03504" y="4924044"/>
            <a:ext cx="7726679" cy="39776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94944" y="5024628"/>
            <a:ext cx="365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717890"/>
                </a:solidFill>
                <a:latin typeface="Segoe UI"/>
              </a:rPr>
              <a:t>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88136" y="5015483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АТ «Рудь»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871216" y="496062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C2235"/>
                </a:solidFill>
                <a:latin typeface="Segoe UI"/>
              </a:rPr>
              <a:t>Заморожені суміші рис + овочі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871216" y="5134356"/>
            <a:ext cx="2331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17890"/>
                </a:solidFill>
                <a:latin typeface="Segoe UI"/>
              </a:rPr>
              <a:t>Oerlemans Foods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202936" y="503377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C2235"/>
                </a:solidFill>
                <a:latin typeface="Segoe UI"/>
              </a:rPr>
              <a:t>Польща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300216" y="5015483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50" b="1" i="0">
                <a:solidFill>
                  <a:srgbClr val="303A5D"/>
                </a:solidFill>
                <a:latin typeface="Segoe UI"/>
              </a:rPr>
              <a:t>5,2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260336" y="5042916"/>
            <a:ext cx="36576" cy="173736"/>
          </a:xfrm>
          <a:prstGeom prst="roundRect">
            <a:avLst>
              <a:gd name="adj" fmla="val 40000"/>
            </a:avLst>
          </a:prstGeom>
          <a:solidFill>
            <a:srgbClr val="5B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60920" y="5033772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717890"/>
                </a:solidFill>
                <a:latin typeface="Segoe UI"/>
              </a:rPr>
              <a:t>2,1 %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03504" y="5358383"/>
            <a:ext cx="7726679" cy="397764"/>
          </a:xfrm>
          <a:prstGeom prst="roundRect">
            <a:avLst>
              <a:gd name="adj" fmla="val 2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94944" y="5458968"/>
            <a:ext cx="365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717890"/>
                </a:solidFill>
                <a:latin typeface="Segoe UI"/>
              </a:rPr>
              <a:t>9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88136" y="5449823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Копійка Центр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871216" y="5394959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C2235"/>
                </a:solidFill>
                <a:latin typeface="Segoe UI"/>
              </a:rPr>
              <a:t>Рисові чіпси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871216" y="5568696"/>
            <a:ext cx="2331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17890"/>
                </a:solidFill>
                <a:latin typeface="Segoe UI"/>
              </a:rPr>
              <a:t>Ficosota Food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202936" y="54681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C2235"/>
                </a:solidFill>
                <a:latin typeface="Segoe UI"/>
              </a:rPr>
              <a:t>ЄС (Болгарія)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300216" y="5449823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50" b="1" i="0">
                <a:solidFill>
                  <a:srgbClr val="303A5D"/>
                </a:solidFill>
                <a:latin typeface="Segoe UI"/>
              </a:rPr>
              <a:t>2,9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7260336" y="5477255"/>
            <a:ext cx="36576" cy="173736"/>
          </a:xfrm>
          <a:prstGeom prst="roundRect">
            <a:avLst>
              <a:gd name="adj" fmla="val 40000"/>
            </a:avLst>
          </a:prstGeom>
          <a:solidFill>
            <a:srgbClr val="5B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360920" y="5468112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717890"/>
                </a:solidFill>
                <a:latin typeface="Segoe UI"/>
              </a:rPr>
              <a:t>1,2 %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03504" y="5792723"/>
            <a:ext cx="7726679" cy="39776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94944" y="5893307"/>
            <a:ext cx="365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717890"/>
                </a:solidFill>
                <a:latin typeface="Segoe UI"/>
              </a:rPr>
              <a:t>10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88136" y="5884163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Вендінг Кінгз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871216" y="5829299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C2235"/>
                </a:solidFill>
                <a:latin typeface="Segoe UI"/>
              </a:rPr>
              <a:t>Рис у чаші під окріп (сегм. 2)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871216" y="6003036"/>
            <a:ext cx="2331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17890"/>
                </a:solidFill>
                <a:latin typeface="Segoe UI"/>
              </a:rPr>
              <a:t>не вказано в описі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202936" y="5902451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C2235"/>
                </a:solidFill>
                <a:latin typeface="Segoe UI"/>
              </a:rPr>
              <a:t>Китай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300216" y="5884163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50" b="1" i="0">
                <a:solidFill>
                  <a:srgbClr val="303A5D"/>
                </a:solidFill>
                <a:latin typeface="Segoe UI"/>
              </a:rPr>
              <a:t>2,6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7260336" y="5911595"/>
            <a:ext cx="36576" cy="173736"/>
          </a:xfrm>
          <a:prstGeom prst="roundRect">
            <a:avLst>
              <a:gd name="adj" fmla="val 4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360920" y="5902451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717890"/>
                </a:solidFill>
                <a:latin typeface="Segoe UI"/>
              </a:rPr>
              <a:t>1,1 %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94944" y="6263639"/>
            <a:ext cx="77266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717890"/>
                </a:solidFill>
                <a:latin typeface="Segoe UI"/>
              </a:rPr>
              <a:t>Топ-10 — 97,6 % ваги коду; ще 10 імпортерів — 5,9 т.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8531352" y="1645920"/>
            <a:ext cx="3057113" cy="4700016"/>
          </a:xfrm>
          <a:prstGeom prst="roundRect">
            <a:avLst>
              <a:gd name="adj" fmla="val 4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8531352" y="1645920"/>
            <a:ext cx="82296" cy="470001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805672" y="1773936"/>
            <a:ext cx="25999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C95C"/>
                </a:solidFill>
                <a:latin typeface="Segoe UI"/>
              </a:rPr>
              <a:t>Наші сегменти 1–2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805672" y="2084831"/>
            <a:ext cx="25999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9C2DA"/>
                </a:solidFill>
                <a:latin typeface="Segoe UI"/>
              </a:rPr>
              <a:t>імпортери, кг за період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805672" y="2468880"/>
            <a:ext cx="168551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Segoe UI"/>
              </a:rPr>
              <a:t>Вендінг Кінгз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491185" y="2468880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50" b="1" i="0">
                <a:solidFill>
                  <a:srgbClr val="FFC95C"/>
                </a:solidFill>
                <a:latin typeface="Segoe UI"/>
              </a:rPr>
              <a:t>2 639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805672" y="2697480"/>
            <a:ext cx="259991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9C2DA"/>
                </a:solidFill>
                <a:latin typeface="Segoe UI"/>
              </a:rPr>
              <a:t>Китай · під окріп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8805672" y="2926080"/>
            <a:ext cx="2508473" cy="64008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805672" y="3108960"/>
            <a:ext cx="168551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Segoe UI"/>
              </a:rPr>
              <a:t>Фоззі Коммерц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491185" y="3108960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50" b="1" i="0">
                <a:solidFill>
                  <a:srgbClr val="FFC95C"/>
                </a:solidFill>
                <a:latin typeface="Segoe UI"/>
              </a:rPr>
              <a:t>676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805672" y="3337560"/>
            <a:ext cx="259991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9C2DA"/>
                </a:solidFill>
                <a:latin typeface="Segoe UI"/>
              </a:rPr>
              <a:t>Ben's Original · одна партія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8805672" y="3566160"/>
            <a:ext cx="642564" cy="64008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8805672" y="3749040"/>
            <a:ext cx="168551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Segoe UI"/>
              </a:rPr>
              <a:t>Відус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491185" y="3749040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50" b="1" i="0">
                <a:solidFill>
                  <a:srgbClr val="FFC95C"/>
                </a:solidFill>
                <a:latin typeface="Segoe UI"/>
              </a:rPr>
              <a:t>76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805672" y="3977640"/>
            <a:ext cx="259991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9C2DA"/>
                </a:solidFill>
                <a:latin typeface="Segoe UI"/>
              </a:rPr>
              <a:t>Hetbahn · CJ, Корея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8805672" y="4206240"/>
            <a:ext cx="72240" cy="64008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805672" y="4389120"/>
            <a:ext cx="168551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Segoe UI"/>
              </a:rPr>
              <a:t>Бюро Він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0491185" y="4389120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50" b="1" i="0">
                <a:solidFill>
                  <a:srgbClr val="FFC95C"/>
                </a:solidFill>
                <a:latin typeface="Segoe UI"/>
              </a:rPr>
              <a:t>63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805672" y="4617720"/>
            <a:ext cx="259991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9C2DA"/>
                </a:solidFill>
                <a:latin typeface="Segoe UI"/>
              </a:rPr>
              <a:t>Clearspring · ЄС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8805672" y="4846320"/>
            <a:ext cx="59883" cy="64008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8805672" y="5029200"/>
            <a:ext cx="168551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Segoe UI"/>
              </a:rPr>
              <a:t>Тадж Махал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491185" y="5029200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50" b="1" i="0">
                <a:solidFill>
                  <a:srgbClr val="FFC95C"/>
                </a:solidFill>
                <a:latin typeface="Segoe UI"/>
              </a:rPr>
              <a:t>33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805672" y="5257800"/>
            <a:ext cx="259991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9C2DA"/>
                </a:solidFill>
                <a:latin typeface="Segoe UI"/>
              </a:rPr>
              <a:t>Haldiram · Індія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8805672" y="5486400"/>
            <a:ext cx="45720" cy="64008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8805672" y="5669280"/>
            <a:ext cx="168551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Segoe UI"/>
              </a:rPr>
              <a:t>Азіяфудс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491185" y="5669280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50" b="1" i="0">
                <a:solidFill>
                  <a:srgbClr val="FFC95C"/>
                </a:solidFill>
                <a:latin typeface="Segoe UI"/>
              </a:rPr>
              <a:t>30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805672" y="5897880"/>
            <a:ext cx="259991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9C2DA"/>
                </a:solidFill>
                <a:latin typeface="Segoe UI"/>
              </a:rPr>
              <a:t>рис, Таїланд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8805672" y="6126480"/>
            <a:ext cx="45720" cy="64008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8805672" y="6327648"/>
            <a:ext cx="259991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Жоден не возить регулярно: 1–4 партії за 17 місяців.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03504" y="647395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Митна база (codexmb), вивантаження 28.09.2026, УКТ ЗЕД 1904901000, січень 2025 – травень 2026 (у базі немає 12–31 березня 2025). Класифікація — за описом кожної декларації. Вага нетто. Частка — від ваги коду. Імпортер «Рудь» представлений двома юрособами (ТОВ і АТ).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C95C"/>
                </a:solidFill>
                <a:latin typeface="Segoe UI"/>
              </a:rPr>
              <a:t>СЕГМЕНТАЦІЯ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Сегментація за упаковкою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717890"/>
                </a:solidFill>
                <a:latin typeface="Segoe UI"/>
              </a:rPr>
              <a:t>Чотири формати, 105 позицій: спершу упаковка, далі вага, ціна й бренди.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645920"/>
            <a:ext cx="2628900" cy="307238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3504" y="1664208"/>
            <a:ext cx="2628900" cy="365760"/>
          </a:xfrm>
          <a:prstGeom prst="roundRect">
            <a:avLst>
              <a:gd name="adj" fmla="val 30000"/>
            </a:avLst>
          </a:prstGeom>
          <a:solidFill>
            <a:srgbClr val="C48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664208"/>
            <a:ext cx="23545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ПАУЧ · РЕТОРТ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2103120"/>
            <a:ext cx="2409444" cy="128016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6585" y="2139696"/>
            <a:ext cx="862736" cy="12070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3401568"/>
            <a:ext cx="822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C4810A"/>
                </a:solidFill>
                <a:latin typeface="Segoe UI"/>
              </a:rPr>
              <a:t>34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4752" y="3520440"/>
            <a:ext cx="16230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717890"/>
                </a:solidFill>
                <a:latin typeface="Segoe UI"/>
              </a:rPr>
              <a:t>позицій · 32 %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904487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717890"/>
                </a:solidFill>
                <a:latin typeface="Segoe UI"/>
              </a:rPr>
              <a:t>ГРАМАЖ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4207" y="3877056"/>
            <a:ext cx="14401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303A5D"/>
                </a:solidFill>
                <a:latin typeface="Segoe UI"/>
              </a:rPr>
              <a:t>220–400 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16052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717890"/>
                </a:solidFill>
                <a:latin typeface="Segoe UI"/>
              </a:rPr>
              <a:t>МЕДІАНА ЦІНИ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7" y="4133088"/>
            <a:ext cx="14401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303A5D"/>
                </a:solidFill>
                <a:latin typeface="Segoe UI"/>
              </a:rPr>
              <a:t>118 грн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416552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717890"/>
                </a:solidFill>
                <a:latin typeface="Segoe UI"/>
              </a:rPr>
              <a:t>БРЕНДІВ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4207" y="4389120"/>
            <a:ext cx="14401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303A5D"/>
                </a:solidFill>
                <a:latin typeface="Segoe UI"/>
              </a:rPr>
              <a:t>10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78708" y="1645920"/>
            <a:ext cx="2628900" cy="307238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378708" y="1664208"/>
            <a:ext cx="2628900" cy="365760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5012" y="1664208"/>
            <a:ext cx="23545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ЧАША · СТАКАН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88436" y="2103120"/>
            <a:ext cx="2409444" cy="128016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6275" y="2139696"/>
            <a:ext cx="1373765" cy="120700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525012" y="3401568"/>
            <a:ext cx="822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E9EA6"/>
                </a:solidFill>
                <a:latin typeface="Segoe UI"/>
              </a:rPr>
              <a:t>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19956" y="3520440"/>
            <a:ext cx="16230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717890"/>
                </a:solidFill>
                <a:latin typeface="Segoe UI"/>
              </a:rPr>
              <a:t>позицій · 22 %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5012" y="3904487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717890"/>
                </a:solidFill>
                <a:latin typeface="Segoe UI"/>
              </a:rPr>
              <a:t>ГРАМАЖ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9412" y="3877056"/>
            <a:ext cx="14401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303A5D"/>
                </a:solidFill>
                <a:latin typeface="Segoe UI"/>
              </a:rPr>
              <a:t>84–320 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5012" y="416052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717890"/>
                </a:solidFill>
                <a:latin typeface="Segoe UI"/>
              </a:rPr>
              <a:t>МЕДІАНА ЦІНИ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9412" y="4133088"/>
            <a:ext cx="14401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303A5D"/>
                </a:solidFill>
                <a:latin typeface="Segoe UI"/>
              </a:rPr>
              <a:t>229 грн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5012" y="4416552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717890"/>
                </a:solidFill>
                <a:latin typeface="Segoe UI"/>
              </a:rPr>
              <a:t>БРЕНДІВ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9412" y="4389120"/>
            <a:ext cx="14401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3912" y="1645920"/>
            <a:ext cx="2628900" cy="307238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153912" y="1664208"/>
            <a:ext cx="2628900" cy="365760"/>
          </a:xfrm>
          <a:prstGeom prst="roundRect">
            <a:avLst>
              <a:gd name="adj" fmla="val 30000"/>
            </a:avLst>
          </a:prstGeom>
          <a:solidFill>
            <a:srgbClr val="5E4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0216" y="1664208"/>
            <a:ext cx="23545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ДОЙПАК · ПЛОСКИЙ ПАКЕТ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63640" y="2103120"/>
            <a:ext cx="2409444" cy="128016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mh_curry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7683" y="2139696"/>
            <a:ext cx="1321356" cy="120700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300216" y="3401568"/>
            <a:ext cx="822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5E4B94"/>
                </a:solidFill>
                <a:latin typeface="Segoe UI"/>
              </a:rPr>
              <a:t>34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95160" y="3520440"/>
            <a:ext cx="16230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717890"/>
                </a:solidFill>
                <a:latin typeface="Segoe UI"/>
              </a:rPr>
              <a:t>позицій · 32 %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0216" y="3904487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717890"/>
                </a:solidFill>
                <a:latin typeface="Segoe UI"/>
              </a:rPr>
              <a:t>ГРАМАЖ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14616" y="3877056"/>
            <a:ext cx="14401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303A5D"/>
                </a:solidFill>
                <a:latin typeface="Segoe UI"/>
              </a:rPr>
              <a:t>80–250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0216" y="416052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717890"/>
                </a:solidFill>
                <a:latin typeface="Segoe UI"/>
              </a:rPr>
              <a:t>МЕДІАНА ЦІНИ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14616" y="4133088"/>
            <a:ext cx="14401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303A5D"/>
                </a:solidFill>
                <a:latin typeface="Segoe UI"/>
              </a:rPr>
              <a:t>315 грн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0216" y="4416552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717890"/>
                </a:solidFill>
                <a:latin typeface="Segoe UI"/>
              </a:rPr>
              <a:t>БРЕНДІВ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14616" y="4389120"/>
            <a:ext cx="14401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303A5D"/>
                </a:solidFill>
                <a:latin typeface="Segoe UI"/>
              </a:rPr>
              <a:t>11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929116" y="1645920"/>
            <a:ext cx="2628900" cy="307238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929116" y="1664208"/>
            <a:ext cx="2628900" cy="365760"/>
          </a:xfrm>
          <a:prstGeom prst="roundRect">
            <a:avLst>
              <a:gd name="adj" fmla="val 3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75420" y="1664208"/>
            <a:ext cx="23545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КОРОБКА З НАГРІВАЧЕМ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038844" y="2103120"/>
            <a:ext cx="2409444" cy="128016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hd_tomato_beef27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32121" y="2139696"/>
            <a:ext cx="1222889" cy="1207008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9075420" y="3401568"/>
            <a:ext cx="822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C94F7C"/>
                </a:solidFill>
                <a:latin typeface="Segoe UI"/>
              </a:rPr>
              <a:t>14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70364" y="3520440"/>
            <a:ext cx="16230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717890"/>
                </a:solidFill>
                <a:latin typeface="Segoe UI"/>
              </a:rPr>
              <a:t>позицій · 13 %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75420" y="3904487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717890"/>
                </a:solidFill>
                <a:latin typeface="Segoe UI"/>
              </a:rPr>
              <a:t>ГРАМАЖ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89820" y="3877056"/>
            <a:ext cx="14401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303A5D"/>
                </a:solidFill>
                <a:latin typeface="Segoe UI"/>
              </a:rPr>
              <a:t>165–440 г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75420" y="416052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717890"/>
                </a:solidFill>
                <a:latin typeface="Segoe UI"/>
              </a:rPr>
              <a:t>МЕДІАНА ЦІНИ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89820" y="4133088"/>
            <a:ext cx="14401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303A5D"/>
                </a:solidFill>
                <a:latin typeface="Segoe UI"/>
              </a:rPr>
              <a:t>735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75420" y="4416552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717890"/>
                </a:solidFill>
                <a:latin typeface="Segoe UI"/>
              </a:rPr>
              <a:t>БРЕНДІВ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89820" y="4389120"/>
            <a:ext cx="14401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3504" y="484632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17890"/>
                </a:solidFill>
                <a:latin typeface="Segoe UI"/>
              </a:rPr>
              <a:t>ФОРМАТ × СПОСІБ ПРИГОТУВАННЯ · ПОЗИЦІЙ І МЕДІАНА ЦІНИ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03504" y="5120640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303A5D"/>
                </a:solidFill>
                <a:latin typeface="Segoe UI"/>
              </a:rPr>
              <a:t/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40864" y="5120640"/>
            <a:ext cx="23042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303A5D"/>
                </a:solidFill>
                <a:latin typeface="Segoe UI"/>
              </a:rPr>
              <a:t>1 · Розігрів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645152" y="5120640"/>
            <a:ext cx="23042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303A5D"/>
                </a:solidFill>
                <a:latin typeface="Segoe UI"/>
              </a:rPr>
              <a:t>2 · Під окріп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49440" y="5120640"/>
            <a:ext cx="23042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303A5D"/>
                </a:solidFill>
                <a:latin typeface="Segoe UI"/>
              </a:rPr>
              <a:t>3 · Саморозігрів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253728" y="5120640"/>
            <a:ext cx="23042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303A5D"/>
                </a:solidFill>
                <a:latin typeface="Segoe UI"/>
              </a:rPr>
              <a:t>4 · Сублімат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3504" y="5367527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C4810A"/>
                </a:solidFill>
                <a:latin typeface="Segoe UI"/>
              </a:rPr>
              <a:t>Пауч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432304" y="5358383"/>
            <a:ext cx="2121408" cy="224028"/>
          </a:xfrm>
          <a:prstGeom prst="roundRect">
            <a:avLst>
              <a:gd name="adj" fmla="val 30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340864" y="5367527"/>
            <a:ext cx="230428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34 · 118 грн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645152" y="5367527"/>
            <a:ext cx="230428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A9B0C4"/>
                </a:solidFill>
                <a:latin typeface="Segoe UI"/>
              </a:rPr>
              <a:t>—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49440" y="5367527"/>
            <a:ext cx="230428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A9B0C4"/>
                </a:solidFill>
                <a:latin typeface="Segoe UI"/>
              </a:rPr>
              <a:t>—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253728" y="5367527"/>
            <a:ext cx="230428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A9B0C4"/>
                </a:solidFill>
                <a:latin typeface="Segoe UI"/>
              </a:rPr>
              <a:t>—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03504" y="5618988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E9EA6"/>
                </a:solidFill>
                <a:latin typeface="Segoe UI"/>
              </a:rPr>
              <a:t>Чаша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2432304" y="5609844"/>
            <a:ext cx="2121408" cy="224028"/>
          </a:xfrm>
          <a:prstGeom prst="roundRect">
            <a:avLst>
              <a:gd name="adj" fmla="val 30000"/>
            </a:avLst>
          </a:prstGeom>
          <a:solidFill>
            <a:srgbClr val="999D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340864" y="5618988"/>
            <a:ext cx="230428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303A5D"/>
                </a:solidFill>
                <a:latin typeface="Segoe UI"/>
              </a:rPr>
              <a:t>11 · 255 грн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736592" y="5609844"/>
            <a:ext cx="2121408" cy="224028"/>
          </a:xfrm>
          <a:prstGeom prst="roundRect">
            <a:avLst>
              <a:gd name="adj" fmla="val 30000"/>
            </a:avLst>
          </a:prstGeom>
          <a:solidFill>
            <a:srgbClr val="9DA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645152" y="5618988"/>
            <a:ext cx="230428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303A5D"/>
                </a:solidFill>
                <a:latin typeface="Segoe UI"/>
              </a:rPr>
              <a:t>10 · 132 грн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040879" y="5609844"/>
            <a:ext cx="2121408" cy="224028"/>
          </a:xfrm>
          <a:prstGeom prst="roundRect">
            <a:avLst>
              <a:gd name="adj" fmla="val 30000"/>
            </a:avLst>
          </a:prstGeom>
          <a:solidFill>
            <a:srgbClr val="C2C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949440" y="5618988"/>
            <a:ext cx="230428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303A5D"/>
                </a:solidFill>
                <a:latin typeface="Segoe UI"/>
              </a:rPr>
              <a:t>2 · 931 грн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253728" y="5618988"/>
            <a:ext cx="230428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A9B0C4"/>
                </a:solidFill>
                <a:latin typeface="Segoe UI"/>
              </a:rPr>
              <a:t>—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03504" y="5870447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5E4B94"/>
                </a:solidFill>
                <a:latin typeface="Segoe UI"/>
              </a:rPr>
              <a:t>Дойпак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340864" y="5870447"/>
            <a:ext cx="230428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A9B0C4"/>
                </a:solidFill>
                <a:latin typeface="Segoe UI"/>
              </a:rPr>
              <a:t>—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4736592" y="5861303"/>
            <a:ext cx="2121408" cy="224028"/>
          </a:xfrm>
          <a:prstGeom prst="roundRect">
            <a:avLst>
              <a:gd name="adj" fmla="val 30000"/>
            </a:avLst>
          </a:prstGeom>
          <a:solidFill>
            <a:srgbClr val="BDC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645152" y="5870447"/>
            <a:ext cx="230428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303A5D"/>
                </a:solidFill>
                <a:latin typeface="Segoe UI"/>
              </a:rPr>
              <a:t>3 · 501 грн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949440" y="5870447"/>
            <a:ext cx="230428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A9B0C4"/>
                </a:solidFill>
                <a:latin typeface="Segoe UI"/>
              </a:rPr>
              <a:t>—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9345167" y="5861303"/>
            <a:ext cx="2121408" cy="224028"/>
          </a:xfrm>
          <a:prstGeom prst="roundRect">
            <a:avLst>
              <a:gd name="adj" fmla="val 30000"/>
            </a:avLst>
          </a:prstGeom>
          <a:solidFill>
            <a:srgbClr val="3D47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253728" y="5870447"/>
            <a:ext cx="230428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31 · 295 грн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03504" y="6121907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Коробка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340864" y="6121907"/>
            <a:ext cx="230428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A9B0C4"/>
                </a:solidFill>
                <a:latin typeface="Segoe UI"/>
              </a:rPr>
              <a:t>—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645152" y="6121907"/>
            <a:ext cx="230428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A9B0C4"/>
                </a:solidFill>
                <a:latin typeface="Segoe UI"/>
              </a:rPr>
              <a:t>—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7040879" y="6112764"/>
            <a:ext cx="2121408" cy="224028"/>
          </a:xfrm>
          <a:prstGeom prst="roundRect">
            <a:avLst>
              <a:gd name="adj" fmla="val 30000"/>
            </a:avLst>
          </a:prstGeom>
          <a:solidFill>
            <a:srgbClr val="8B9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949440" y="6121907"/>
            <a:ext cx="230428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14 · 735 грн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253728" y="6121907"/>
            <a:ext cx="230428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A9B0C4"/>
                </a:solidFill>
                <a:latin typeface="Segoe UI"/>
              </a:rPr>
              <a:t>—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03504" y="647395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Формат визначено за фактичною упаковкою на фото картки; способи приготування: 1 — розігрів у НВЧ/воді, 2 — сухий рис під окріп, 3 — саморозігрів, 4 — сублімація. Медіана — за мінімальною ціною позиції. Qiaoshanmei — плоский пакет під окріп, віднесено до дойпаку.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C95C"/>
                </a:solidFill>
                <a:latin typeface="Segoe UI"/>
              </a:rPr>
              <a:t>ФОРМАТ 1 З 4 · ПАУЧ · РЕТОРТ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Пауч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717890"/>
                </a:solidFill>
                <a:latin typeface="Segoe UI"/>
              </a:rPr>
              <a:t>Від порційних 220 г до реторту 400 г.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645920"/>
            <a:ext cx="3520440" cy="470001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3504" y="1645920"/>
            <a:ext cx="3520440" cy="91440"/>
          </a:xfrm>
          <a:prstGeom prst="roundRect">
            <a:avLst>
              <a:gd name="adj" fmla="val 50000"/>
            </a:avLst>
          </a:prstGeom>
          <a:solidFill>
            <a:srgbClr val="C48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0664" y="1847088"/>
            <a:ext cx="3246120" cy="148132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0461" y="1883664"/>
            <a:ext cx="1006525" cy="140817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4672" y="3438144"/>
            <a:ext cx="3154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717890"/>
                </a:solidFill>
                <a:latin typeface="Segoe UI"/>
              </a:rPr>
              <a:t>ПОЗИЦІЙ · БРЕНДІВ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593591"/>
            <a:ext cx="3154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>
                <a:solidFill>
                  <a:srgbClr val="303A5D"/>
                </a:solidFill>
                <a:latin typeface="Segoe UI"/>
              </a:rPr>
              <a:t>34 · 10  (32 % асортименту)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3877056"/>
            <a:ext cx="3154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717890"/>
                </a:solidFill>
                <a:latin typeface="Segoe UI"/>
              </a:rPr>
              <a:t>ГРАМАЖ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4032504"/>
            <a:ext cx="3154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>
                <a:solidFill>
                  <a:srgbClr val="303A5D"/>
                </a:solidFill>
                <a:latin typeface="Segoe UI"/>
              </a:rPr>
              <a:t>220–400 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315968"/>
            <a:ext cx="3154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717890"/>
                </a:solidFill>
                <a:latin typeface="Segoe UI"/>
              </a:rPr>
              <a:t>МЕДІАНА · ДІАПАЗОН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4471416"/>
            <a:ext cx="3154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>
                <a:solidFill>
                  <a:srgbClr val="303A5D"/>
                </a:solidFill>
                <a:latin typeface="Segoe UI"/>
              </a:rPr>
              <a:t>118 грн · 45–449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754880"/>
            <a:ext cx="3154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717890"/>
                </a:solidFill>
                <a:latin typeface="Segoe UI"/>
              </a:rPr>
              <a:t>ПРИГОТУВАННЯ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4910328"/>
            <a:ext cx="3154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>
                <a:solidFill>
                  <a:srgbClr val="303A5D"/>
                </a:solidFill>
                <a:latin typeface="Segoe UI"/>
              </a:rPr>
              <a:t>НВЧ 60–90 с або гаряча вода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5193792"/>
            <a:ext cx="3154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717890"/>
                </a:solidFill>
                <a:latin typeface="Segoe UI"/>
              </a:rPr>
              <a:t>ПОХОДЖЕННЯ БРЕНДІВ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5349240"/>
            <a:ext cx="3154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>
                <a:solidFill>
                  <a:srgbClr val="303A5D"/>
                </a:solidFill>
                <a:latin typeface="Segoe UI"/>
              </a:rPr>
              <a:t>Україна 6 · ЄС 3 · США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5632704"/>
            <a:ext cx="3154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717890"/>
                </a:solidFill>
                <a:latin typeface="Segoe UI"/>
              </a:rPr>
              <a:t>ПРОДАВЦІ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5788152"/>
            <a:ext cx="3154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>
                <a:solidFill>
                  <a:srgbClr val="303A5D"/>
                </a:solidFill>
                <a:latin typeface="Segoe UI"/>
              </a:rPr>
              <a:t>Сільпо, СУХПАЙ, UPcompany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25696" y="1664208"/>
            <a:ext cx="16276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ФОТО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53328" y="1664208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ГРАМАЖ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42048" y="1664208"/>
            <a:ext cx="3063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ПОЗИЦІЙ · КОЛІР = БРЕНД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05288" y="1664208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ЦІНА, ГРН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52544" y="1901952"/>
            <a:ext cx="7235921" cy="797814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443983" y="1975104"/>
            <a:ext cx="512064" cy="65151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7502" y="1993392"/>
            <a:ext cx="425027" cy="61493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053328" y="2117979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303A5D"/>
                </a:solidFill>
                <a:latin typeface="Segoe UI"/>
              </a:rPr>
              <a:t>220 г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42048" y="1975104"/>
            <a:ext cx="713935" cy="18288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22792" y="193852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42048" y="2244852"/>
            <a:ext cx="91440" cy="91440"/>
          </a:xfrm>
          <a:prstGeom prst="roundRect">
            <a:avLst>
              <a:gd name="adj" fmla="val 3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70064" y="2212848"/>
            <a:ext cx="128198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C2235"/>
                </a:solidFill>
                <a:latin typeface="Segoe UI"/>
              </a:rPr>
              <a:t>Ben's Original ×7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05288" y="2154555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C4810A"/>
                </a:solidFill>
                <a:latin typeface="Segoe UI"/>
              </a:rPr>
              <a:t>90–210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52544" y="2772918"/>
            <a:ext cx="7235921" cy="797814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443983" y="2846070"/>
            <a:ext cx="463296" cy="65151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2272" y="2870819"/>
            <a:ext cx="426720" cy="602011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4962143" y="2846070"/>
            <a:ext cx="463296" cy="65151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soc_jasmin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0432" y="2958465"/>
            <a:ext cx="426720" cy="426720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5480303" y="2846070"/>
            <a:ext cx="463296" cy="65151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learspring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98592" y="2916720"/>
            <a:ext cx="426720" cy="510208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053328" y="2988945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303A5D"/>
                </a:solidFill>
                <a:latin typeface="Segoe UI"/>
              </a:rPr>
              <a:t>240–250 г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42048" y="2846070"/>
            <a:ext cx="611944" cy="18288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853992" y="2846070"/>
            <a:ext cx="611944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465937" y="2846070"/>
            <a:ext cx="101990" cy="182880"/>
          </a:xfrm>
          <a:prstGeom prst="rect">
            <a:avLst/>
          </a:prstGeom>
          <a:solidFill>
            <a:srgbClr val="5B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22792" y="280949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03A5D"/>
                </a:solidFill>
                <a:latin typeface="Segoe UI"/>
              </a:rPr>
              <a:t>13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242048" y="3115818"/>
            <a:ext cx="91440" cy="91440"/>
          </a:xfrm>
          <a:prstGeom prst="roundRect">
            <a:avLst>
              <a:gd name="adj" fmla="val 3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70064" y="3083814"/>
            <a:ext cx="128198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C2235"/>
                </a:solidFill>
                <a:latin typeface="Segoe UI"/>
              </a:rPr>
              <a:t>Ben's Original ×6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524036" y="3115818"/>
            <a:ext cx="91440" cy="91440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52052" y="3083814"/>
            <a:ext cx="13423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C2235"/>
                </a:solidFill>
                <a:latin typeface="Segoe UI"/>
              </a:rPr>
              <a:t>Seeds of Change ×6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242048" y="3271266"/>
            <a:ext cx="91440" cy="91440"/>
          </a:xfrm>
          <a:prstGeom prst="roundRect">
            <a:avLst>
              <a:gd name="adj" fmla="val 30000"/>
            </a:avLst>
          </a:prstGeom>
          <a:solidFill>
            <a:srgbClr val="5B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70064" y="3239262"/>
            <a:ext cx="91988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C2235"/>
                </a:solidFill>
                <a:latin typeface="Segoe UI"/>
              </a:rPr>
              <a:t>Clearspring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305288" y="3025521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C4810A"/>
                </a:solidFill>
                <a:latin typeface="Segoe UI"/>
              </a:rPr>
              <a:t>45–449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352544" y="3643884"/>
            <a:ext cx="7235921" cy="797814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4443983" y="3717036"/>
            <a:ext cx="463296" cy="65151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ua_pak_pork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62272" y="3900551"/>
            <a:ext cx="426720" cy="284480"/>
          </a:xfrm>
          <a:prstGeom prst="rect">
            <a:avLst/>
          </a:prstGeom>
        </p:spPr>
      </p:pic>
      <p:sp>
        <p:nvSpPr>
          <p:cNvPr id="61" name="Rounded Rectangle 60"/>
          <p:cNvSpPr/>
          <p:nvPr/>
        </p:nvSpPr>
        <p:spPr>
          <a:xfrm>
            <a:off x="4962143" y="3717036"/>
            <a:ext cx="463296" cy="65151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ua_markel_soy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80432" y="3773879"/>
            <a:ext cx="426720" cy="537822"/>
          </a:xfrm>
          <a:prstGeom prst="rect">
            <a:avLst/>
          </a:prstGeom>
        </p:spPr>
      </p:pic>
      <p:sp>
        <p:nvSpPr>
          <p:cNvPr id="63" name="Rounded Rectangle 62"/>
          <p:cNvSpPr/>
          <p:nvPr/>
        </p:nvSpPr>
        <p:spPr>
          <a:xfrm>
            <a:off x="5480303" y="3717036"/>
            <a:ext cx="463296" cy="65151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ua_veres_pork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11289" y="3735324"/>
            <a:ext cx="401325" cy="614934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6053328" y="3859911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303A5D"/>
                </a:solidFill>
                <a:latin typeface="Segoe UI"/>
              </a:rPr>
              <a:t>350 г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42048" y="3717036"/>
            <a:ext cx="305972" cy="18288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548020" y="3717036"/>
            <a:ext cx="203981" cy="182880"/>
          </a:xfrm>
          <a:prstGeom prst="rect">
            <a:avLst/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752001" y="3717036"/>
            <a:ext cx="203981" cy="182880"/>
          </a:xfrm>
          <a:prstGeom prst="rect">
            <a:avLst/>
          </a:prstGeom>
          <a:solidFill>
            <a:srgbClr val="5E4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955983" y="3717036"/>
            <a:ext cx="203981" cy="182880"/>
          </a:xfrm>
          <a:prstGeom prst="rect">
            <a:avLst/>
          </a:prstGeom>
          <a:solidFill>
            <a:srgbClr val="C48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159964" y="3717036"/>
            <a:ext cx="101990" cy="18288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261955" y="3717036"/>
            <a:ext cx="101990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622792" y="36804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03A5D"/>
                </a:solidFill>
                <a:latin typeface="Segoe UI"/>
              </a:rPr>
              <a:t>11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242048" y="3986784"/>
            <a:ext cx="91440" cy="91440"/>
          </a:xfrm>
          <a:prstGeom prst="roundRect">
            <a:avLst>
              <a:gd name="adj" fmla="val 3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370064" y="3954780"/>
            <a:ext cx="73883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C2235"/>
                </a:solidFill>
                <a:latin typeface="Segoe UI"/>
              </a:rPr>
              <a:t>МАКРО ×3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980883" y="3986784"/>
            <a:ext cx="91440" cy="91440"/>
          </a:xfrm>
          <a:prstGeom prst="roundRect">
            <a:avLst>
              <a:gd name="adj" fmla="val 3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108899" y="3954780"/>
            <a:ext cx="79918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C2235"/>
                </a:solidFill>
                <a:latin typeface="Segoe UI"/>
              </a:rPr>
              <a:t>Маркел ×2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780068" y="3986784"/>
            <a:ext cx="91440" cy="91440"/>
          </a:xfrm>
          <a:prstGeom prst="roundRect">
            <a:avLst>
              <a:gd name="adj" fmla="val 30000"/>
            </a:avLst>
          </a:prstGeom>
          <a:solidFill>
            <a:srgbClr val="5E4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08084" y="3954780"/>
            <a:ext cx="73883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C2235"/>
                </a:solidFill>
                <a:latin typeface="Segoe UI"/>
              </a:rPr>
              <a:t>Верес ×2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242048" y="4142232"/>
            <a:ext cx="91440" cy="91440"/>
          </a:xfrm>
          <a:prstGeom prst="roundRect">
            <a:avLst>
              <a:gd name="adj" fmla="val 30000"/>
            </a:avLst>
          </a:prstGeom>
          <a:solidFill>
            <a:srgbClr val="C48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370064" y="4110228"/>
            <a:ext cx="116128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C2235"/>
                </a:solidFill>
                <a:latin typeface="Segoe UI"/>
              </a:rPr>
              <a:t>Ходорівський ×2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403336" y="4142232"/>
            <a:ext cx="91440" cy="91440"/>
          </a:xfrm>
          <a:prstGeom prst="roundRect">
            <a:avLst>
              <a:gd name="adj" fmla="val 3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531352" y="4110228"/>
            <a:ext cx="67848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C2235"/>
                </a:solidFill>
                <a:latin typeface="Segoe UI"/>
              </a:rPr>
              <a:t>Portion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081820" y="4142232"/>
            <a:ext cx="91440" cy="91440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209836" y="4110228"/>
            <a:ext cx="73883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C2235"/>
                </a:solidFill>
                <a:latin typeface="Segoe UI"/>
              </a:rPr>
              <a:t>М'ясниця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305288" y="3896487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C4810A"/>
                </a:solidFill>
                <a:latin typeface="Segoe UI"/>
              </a:rPr>
              <a:t>71–199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352544" y="4514850"/>
            <a:ext cx="7235921" cy="797814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4443983" y="4588002"/>
            <a:ext cx="512064" cy="65151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8" name="Picture 87" descr="image.jpe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62272" y="4638814"/>
            <a:ext cx="475488" cy="549884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6053328" y="4730877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303A5D"/>
                </a:solidFill>
                <a:latin typeface="Segoe UI"/>
              </a:rPr>
              <a:t>400 г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242048" y="4588002"/>
            <a:ext cx="305972" cy="182880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622792" y="455142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7242048" y="4857750"/>
            <a:ext cx="91440" cy="91440"/>
          </a:xfrm>
          <a:prstGeom prst="roundRect">
            <a:avLst>
              <a:gd name="adj" fmla="val 30000"/>
            </a:avLst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370064" y="4825746"/>
            <a:ext cx="128198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C2235"/>
                </a:solidFill>
                <a:latin typeface="Segoe UI"/>
              </a:rPr>
              <a:t>Adventure Menu ×3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305288" y="4767453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C4810A"/>
                </a:solidFill>
                <a:latin typeface="Segoe UI"/>
              </a:rPr>
              <a:t>315–404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4352544" y="5422392"/>
            <a:ext cx="7235921" cy="923543"/>
          </a:xfrm>
          <a:prstGeom prst="roundRect">
            <a:avLst>
              <a:gd name="adj" fmla="val 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4352544" y="5422392"/>
            <a:ext cx="82296" cy="923543"/>
          </a:xfrm>
          <a:prstGeom prst="roundRect">
            <a:avLst>
              <a:gd name="adj" fmla="val 50000"/>
            </a:avLst>
          </a:prstGeom>
          <a:solidFill>
            <a:srgbClr val="C48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663440" y="5605272"/>
            <a:ext cx="6687281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D5DBEA"/>
                </a:solidFill>
                <a:latin typeface="Segoe UI"/>
              </a:rPr>
              <a:t>Пауч — найдешевший формат: від 45 грн. 350 г — український реторт: 11 позицій, 6 брендів, медіана 101 грн. 220–250 г — Ben's Original. 240 г — органіка Seeds of Change (208–449 грн, перепродаж iHerb). Вагових смуг 150–199 і 300 г немає.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03504" y="647395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Позиції — за картками продавців; грамаж — вага готової страви (для сухого рису й сублімату — вага продукту). Медіана — за мінімальною ціною позиції. Ціни за одну упаковку, без опту.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C95C"/>
                </a:solidFill>
                <a:latin typeface="Segoe UI"/>
              </a:rPr>
              <a:t>ПАУЧ · КАТАЛОГ 1 З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Пауч: Ben's Original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717890"/>
                </a:solidFill>
                <a:latin typeface="Segoe UI"/>
              </a:rPr>
              <a:t>13 позицій, 220–250 г — єдиний бренд готового гарніру на мережевій полиці.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645920"/>
            <a:ext cx="1470877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7512" y="1709928"/>
            <a:ext cx="1342861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868" y="1746504"/>
            <a:ext cx="648148" cy="914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4088" y="2761488"/>
            <a:ext cx="126970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Long Grain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145536"/>
            <a:ext cx="12697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4810A"/>
                </a:solidFill>
                <a:latin typeface="Segoe UI"/>
              </a:rPr>
              <a:t>BEN'S ORIGINAL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3328416"/>
            <a:ext cx="1269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45 грн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3621024"/>
            <a:ext cx="126970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Сільпо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84109" y="1645920"/>
            <a:ext cx="1470877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248117" y="1709928"/>
            <a:ext cx="1342861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2785" y="1746504"/>
            <a:ext cx="653527" cy="914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284693" y="2761488"/>
            <a:ext cx="126970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Basmati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4693" y="3145536"/>
            <a:ext cx="12697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4810A"/>
                </a:solidFill>
                <a:latin typeface="Segoe UI"/>
              </a:rPr>
              <a:t>BEN'S ORIGINAL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4693" y="3328416"/>
            <a:ext cx="1269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90 грн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4693" y="3621024"/>
            <a:ext cx="126970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Сільпо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64715" y="1645920"/>
            <a:ext cx="1470877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828723" y="1709928"/>
            <a:ext cx="1342861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6080" y="1746504"/>
            <a:ext cx="648148" cy="9144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865299" y="2761488"/>
            <a:ext cx="126970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Mediterran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65299" y="3145536"/>
            <a:ext cx="12697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4810A"/>
                </a:solidFill>
                <a:latin typeface="Segoe UI"/>
              </a:rPr>
              <a:t>BEN'S ORIGINAL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65299" y="3328416"/>
            <a:ext cx="1269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90 грн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65299" y="3621024"/>
            <a:ext cx="126970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Сільпо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45321" y="1645920"/>
            <a:ext cx="1470877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409329" y="1709928"/>
            <a:ext cx="1342861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6685" y="1746504"/>
            <a:ext cx="648148" cy="9144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445905" y="2761488"/>
            <a:ext cx="126970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Risi Bisi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45905" y="3145536"/>
            <a:ext cx="12697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4810A"/>
                </a:solidFill>
                <a:latin typeface="Segoe UI"/>
              </a:rPr>
              <a:t>BEN'S ORIGINAL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5905" y="3328416"/>
            <a:ext cx="1269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90 грн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45905" y="3621024"/>
            <a:ext cx="126970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Сільпо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25926" y="1645920"/>
            <a:ext cx="1470877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989934" y="1709928"/>
            <a:ext cx="1342861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0568" y="1746504"/>
            <a:ext cx="661595" cy="9144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026510" y="2761488"/>
            <a:ext cx="126970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Indian Curry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26510" y="3145536"/>
            <a:ext cx="12697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4810A"/>
                </a:solidFill>
                <a:latin typeface="Segoe UI"/>
              </a:rPr>
              <a:t>BEN'S ORIGINAL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26510" y="3328416"/>
            <a:ext cx="1269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90 грн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26510" y="3621024"/>
            <a:ext cx="126970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Сільпо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506532" y="1645920"/>
            <a:ext cx="1470877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570540" y="1709928"/>
            <a:ext cx="1342861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25965" y="1746504"/>
            <a:ext cx="632011" cy="9144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607116" y="2761488"/>
            <a:ext cx="126970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Curry з сочевицею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07116" y="3145536"/>
            <a:ext cx="12697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4810A"/>
                </a:solidFill>
                <a:latin typeface="Segoe UI"/>
              </a:rPr>
              <a:t>BEN'S ORIGINAL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220 г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07116" y="3328416"/>
            <a:ext cx="1269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90 грн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07116" y="3621024"/>
            <a:ext cx="126970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Сільпо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087138" y="1645920"/>
            <a:ext cx="1470877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0151146" y="1709928"/>
            <a:ext cx="1342861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jpe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93124" y="1746504"/>
            <a:ext cx="658905" cy="91440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0187722" y="2761488"/>
            <a:ext cx="126970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Basmati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187722" y="3145536"/>
            <a:ext cx="12697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4810A"/>
                </a:solidFill>
                <a:latin typeface="Segoe UI"/>
              </a:rPr>
              <a:t>BEN'S ORIGINAL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220 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87722" y="3328416"/>
            <a:ext cx="1269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100–210 грн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187722" y="3621024"/>
            <a:ext cx="126970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MAUDAU · Сільпо · Товари з Іспанії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03504" y="4078224"/>
            <a:ext cx="1470877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67512" y="4142232"/>
            <a:ext cx="1342861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image.jpe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2179" y="4178808"/>
            <a:ext cx="653527" cy="91440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704088" y="5193792"/>
            <a:ext cx="126970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Mexikanisch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04088" y="5577840"/>
            <a:ext cx="12697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4810A"/>
                </a:solidFill>
                <a:latin typeface="Segoe UI"/>
              </a:rPr>
              <a:t>BEN'S ORIGINAL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220 г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04088" y="5760720"/>
            <a:ext cx="1269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109 грн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4088" y="6053327"/>
            <a:ext cx="126970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Сільпо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184109" y="4078224"/>
            <a:ext cx="1470877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2248117" y="4142232"/>
            <a:ext cx="1342861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image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2785" y="4178808"/>
            <a:ext cx="653527" cy="91440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2284693" y="5193792"/>
            <a:ext cx="126970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Curryreis Indien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284693" y="5577840"/>
            <a:ext cx="12697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4810A"/>
                </a:solidFill>
                <a:latin typeface="Segoe UI"/>
              </a:rPr>
              <a:t>BEN'S ORIGINAL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220 г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284693" y="5760720"/>
            <a:ext cx="1269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144 грн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84693" y="6053327"/>
            <a:ext cx="126970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Сільпо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764715" y="4078224"/>
            <a:ext cx="1470877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28723" y="4142232"/>
            <a:ext cx="1342861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image.jpe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94906" y="4178808"/>
            <a:ext cx="610496" cy="914400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3865299" y="5193792"/>
            <a:ext cx="126970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Для боулів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865299" y="5577840"/>
            <a:ext cx="12697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4810A"/>
                </a:solidFill>
                <a:latin typeface="Segoe UI"/>
              </a:rPr>
              <a:t>BEN'S ORIGINAL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220 г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865299" y="5760720"/>
            <a:ext cx="1269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149 грн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65299" y="6053327"/>
            <a:ext cx="126970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Сільпо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345321" y="4078224"/>
            <a:ext cx="1470877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5409329" y="4142232"/>
            <a:ext cx="1342861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2" name="Picture 81" descr="image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6685" y="4178808"/>
            <a:ext cx="648148" cy="914400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5445905" y="5193792"/>
            <a:ext cx="126970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Sweet Chili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45905" y="5577840"/>
            <a:ext cx="12697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4810A"/>
                </a:solidFill>
                <a:latin typeface="Segoe UI"/>
              </a:rPr>
              <a:t>BEN'S ORIGINAL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220 г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445905" y="5760720"/>
            <a:ext cx="1269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179 грн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445905" y="6053327"/>
            <a:ext cx="126970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Сільпо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925926" y="4078224"/>
            <a:ext cx="1470877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6989934" y="4142232"/>
            <a:ext cx="1342861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9" name="Picture 88" descr="image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0568" y="4178808"/>
            <a:ext cx="661595" cy="914400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7026510" y="5193792"/>
            <a:ext cx="126970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Bio Basmati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026510" y="5577840"/>
            <a:ext cx="12697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4810A"/>
                </a:solidFill>
                <a:latin typeface="Segoe UI"/>
              </a:rPr>
              <a:t>BEN'S ORIGINAL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240 г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026510" y="5760720"/>
            <a:ext cx="1269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139 грн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026510" y="6053327"/>
            <a:ext cx="126970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Edison Lee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8506532" y="4078224"/>
            <a:ext cx="1470877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8570540" y="4142232"/>
            <a:ext cx="1342861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6" name="Picture 95" descr="image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25965" y="4178808"/>
            <a:ext cx="632011" cy="914400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8607116" y="5193792"/>
            <a:ext cx="126970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Long Grain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607116" y="5577840"/>
            <a:ext cx="12697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4810A"/>
                </a:solidFill>
                <a:latin typeface="Segoe UI"/>
              </a:rPr>
              <a:t>BEN'S ORIGINAL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220 г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607116" y="5760720"/>
            <a:ext cx="1269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139 грн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607116" y="6053327"/>
            <a:ext cx="126970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Edison Lee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03504" y="647395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Фото, вага й ціна — з карток продавців; ціна за одну упаковку (від–до серед продавців). Колір назви бренду: золотий — розігрів, бірюзовий — під окріп, рожевий — саморозігрів, фіолетовий — сублімат.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C95C"/>
                </a:solidFill>
                <a:latin typeface="Segoe UI"/>
              </a:rPr>
              <a:t>ПАУЧ · КАТАЛОГ 2 З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Пауч: український реторт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717890"/>
                </a:solidFill>
                <a:latin typeface="Segoe UI"/>
              </a:rPr>
              <a:t>11 позицій, 350 г: каша чи плов із м'ясом, не гарнір. 71–199 грн, готовий після розігріву.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645920"/>
            <a:ext cx="1734312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7512" y="1709928"/>
            <a:ext cx="1606296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ua_portion_pac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568" y="1746504"/>
            <a:ext cx="984183" cy="914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4088" y="2761488"/>
            <a:ext cx="15331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Каша рисова з куркою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145536"/>
            <a:ext cx="1533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4810A"/>
                </a:solidFill>
                <a:latin typeface="Segoe UI"/>
              </a:rPr>
              <a:t>PORTION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350 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3328416"/>
            <a:ext cx="1533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71–109 грн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3621024"/>
            <a:ext cx="15331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portion.com.ua · Rozetka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47544" y="1645920"/>
            <a:ext cx="1734312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511552" y="1709928"/>
            <a:ext cx="1606296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ua_markel_so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1947" y="1746504"/>
            <a:ext cx="725504" cy="914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548128" y="2761488"/>
            <a:ext cx="15331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Рис із соєвим м'ясом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48128" y="3145536"/>
            <a:ext cx="1533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4810A"/>
                </a:solidFill>
                <a:latin typeface="Segoe UI"/>
              </a:rPr>
              <a:t>МАРКЕЛ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350 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48128" y="3328416"/>
            <a:ext cx="1533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80–96 грн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48128" y="3621024"/>
            <a:ext cx="15331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СУХПАЙ · UPcompany · Мартел-shop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1584" y="1645920"/>
            <a:ext cx="1734312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55592" y="1709928"/>
            <a:ext cx="1606296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ua_myasnytsia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0346" y="1746504"/>
            <a:ext cx="756786" cy="9144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392168" y="2761488"/>
            <a:ext cx="15331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Каша зі свининою, горошком, кукурудзою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92168" y="3145536"/>
            <a:ext cx="1533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4810A"/>
                </a:solidFill>
                <a:latin typeface="Segoe UI"/>
              </a:rPr>
              <a:t>М'ЯСНИЦЯ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350 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92168" y="3328416"/>
            <a:ext cx="1533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88–89 грн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92168" y="3621024"/>
            <a:ext cx="15331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Belorfoods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35624" y="1645920"/>
            <a:ext cx="1734312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99632" y="1709928"/>
            <a:ext cx="1606296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ua_pak_pork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6980" y="1746504"/>
            <a:ext cx="1371600" cy="9144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236208" y="2761488"/>
            <a:ext cx="15331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Каша зі свининою та овочами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36208" y="3145536"/>
            <a:ext cx="1533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4810A"/>
                </a:solidFill>
                <a:latin typeface="Segoe UI"/>
              </a:rPr>
              <a:t>МАКРО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350 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36208" y="3328416"/>
            <a:ext cx="1533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96–135 грн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36208" y="3621024"/>
            <a:ext cx="15331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UPcompany · СУХПАЙ · Ліхтар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79664" y="1645920"/>
            <a:ext cx="1734312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043672" y="1709928"/>
            <a:ext cx="1606296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ua_makro_chicken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5645" y="1746504"/>
            <a:ext cx="742348" cy="9144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080247" y="2761488"/>
            <a:ext cx="15331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Каша з курятиною та овочами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80247" y="3145536"/>
            <a:ext cx="1533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4810A"/>
                </a:solidFill>
                <a:latin typeface="Segoe UI"/>
              </a:rPr>
              <a:t>МАКРО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350 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80247" y="3328416"/>
            <a:ext cx="1533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101 грн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80247" y="3621024"/>
            <a:ext cx="15331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СУХПАЙ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823703" y="1645920"/>
            <a:ext cx="1734312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887712" y="1709928"/>
            <a:ext cx="1606296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ua_pak_beef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42545" y="1746504"/>
            <a:ext cx="696628" cy="9144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924287" y="2761488"/>
            <a:ext cx="15331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Рис з яловичиною та солодким перцем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24287" y="3145536"/>
            <a:ext cx="1533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4810A"/>
                </a:solidFill>
                <a:latin typeface="Segoe UI"/>
              </a:rPr>
              <a:t>МАКРО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350 г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24287" y="3328416"/>
            <a:ext cx="1533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104–107 грн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24287" y="3621024"/>
            <a:ext cx="15331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UPcompany · СУХПАЙ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03504" y="4078224"/>
            <a:ext cx="1734312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67512" y="4142232"/>
            <a:ext cx="1606296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ua_veres_pork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72276" y="4178808"/>
            <a:ext cx="596766" cy="91440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704088" y="5193792"/>
            <a:ext cx="15331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Каша зі свининою, горошком, кукурудзою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4088" y="5577840"/>
            <a:ext cx="1533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4810A"/>
                </a:solidFill>
                <a:latin typeface="Segoe UI"/>
              </a:rPr>
              <a:t>ВЕРЕС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350 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4088" y="5760720"/>
            <a:ext cx="1533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100 грн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4088" y="6053327"/>
            <a:ext cx="15331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МореПродуктів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447544" y="4078224"/>
            <a:ext cx="1734312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2511552" y="4142232"/>
            <a:ext cx="1606296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ua_veres_chicken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10438" y="4178808"/>
            <a:ext cx="808522" cy="91440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2548128" y="5193792"/>
            <a:ext cx="15331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Каша з м'ясом курки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548128" y="5577840"/>
            <a:ext cx="1533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4810A"/>
                </a:solidFill>
                <a:latin typeface="Segoe UI"/>
              </a:rPr>
              <a:t>ВЕРЕС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350 г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548128" y="5760720"/>
            <a:ext cx="1533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108–135 грн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48128" y="6053327"/>
            <a:ext cx="15331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Козуб · Смачна адреса · Продукт-Shop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291584" y="4078224"/>
            <a:ext cx="1734312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4355592" y="4142232"/>
            <a:ext cx="1606296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ua_khodoriv_350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15840" y="4178808"/>
            <a:ext cx="685800" cy="91440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4392168" y="5193792"/>
            <a:ext cx="15331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Каша зі свининою та овочами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92168" y="5577840"/>
            <a:ext cx="1533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4810A"/>
                </a:solidFill>
                <a:latin typeface="Segoe UI"/>
              </a:rPr>
              <a:t>ХОДОРІВСЬКИЙ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350 г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392168" y="5760720"/>
            <a:ext cx="1533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105 грн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92168" y="6053327"/>
            <a:ext cx="15331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Молочний склад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135624" y="4078224"/>
            <a:ext cx="1734312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6199632" y="4142232"/>
            <a:ext cx="1606296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ua_khodoriv_pork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31004" y="4178808"/>
            <a:ext cx="743551" cy="914400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6236208" y="5193792"/>
            <a:ext cx="15331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Каша зі свининою, горошком, кукурудзою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36208" y="5577840"/>
            <a:ext cx="1533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4810A"/>
                </a:solidFill>
                <a:latin typeface="Segoe UI"/>
              </a:rPr>
              <a:t>ХОДОРІВСЬКИЙ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350 г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36208" y="5760720"/>
            <a:ext cx="1533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140–199 грн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36208" y="6053327"/>
            <a:ext cx="15331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Foodi Shop · Food Shop · МореПродуктів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979664" y="4078224"/>
            <a:ext cx="1734312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8043672" y="4142232"/>
            <a:ext cx="1606296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2" name="Picture 81" descr="ua_markel_eat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92490" y="4178808"/>
            <a:ext cx="708660" cy="914400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8080247" y="5193792"/>
            <a:ext cx="15331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Рис із рослинним фаршем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080247" y="5577840"/>
            <a:ext cx="1533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4810A"/>
                </a:solidFill>
                <a:latin typeface="Segoe UI"/>
              </a:rPr>
              <a:t>МАРКЕЛ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350 г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080247" y="5760720"/>
            <a:ext cx="1533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127–144 грн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80247" y="6053327"/>
            <a:ext cx="15331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СУХПАЙ · UPcompany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3504" y="647395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Фото, вага й ціна — з карток продавців; ціна за одну упаковку (від–до серед продавців). Колір назви бренду: золотий — розігрів, бірюзовий — під окріп, рожевий — саморозігрів, фіолетовий — сублімат.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C95C"/>
                </a:solidFill>
                <a:latin typeface="Segoe UI"/>
              </a:rPr>
              <a:t>ПАУЧ · КАТАЛОГ 3 З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Пауч: органіка й імпорт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717890"/>
                </a:solidFill>
                <a:latin typeface="Segoe UI"/>
              </a:rPr>
              <a:t>Seeds of Change — органіка США, лише через перепродавців iHerb на Prom; Clearspring — ЄС; Adventure Menu — 400 г для походів.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645920"/>
            <a:ext cx="2103120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7512" y="1709928"/>
            <a:ext cx="1975103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720" y="1746504"/>
            <a:ext cx="790687" cy="914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4088" y="2761488"/>
            <a:ext cx="19019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Chicken Korma з рисом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145536"/>
            <a:ext cx="19019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4810A"/>
                </a:solidFill>
                <a:latin typeface="Segoe UI"/>
              </a:rPr>
              <a:t>ADVENTURE MENU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400 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3328416"/>
            <a:ext cx="19019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376–404 грн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3621024"/>
            <a:ext cx="19019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ALANTUR · ForCamp · MK-Sport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16352" y="1645920"/>
            <a:ext cx="2103120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880360" y="1709928"/>
            <a:ext cx="1975103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5257" y="1746504"/>
            <a:ext cx="785308" cy="914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916936" y="2761488"/>
            <a:ext cx="19019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Курка в томатному соусі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16936" y="3145536"/>
            <a:ext cx="19019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4810A"/>
                </a:solidFill>
                <a:latin typeface="Segoe UI"/>
              </a:rPr>
              <a:t>ADVENTURE MENU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400 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16936" y="3328416"/>
            <a:ext cx="19019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315–356 грн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16936" y="3621024"/>
            <a:ext cx="19019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Freeride · MK-Sport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0" y="1645920"/>
            <a:ext cx="2103120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93208" y="1709928"/>
            <a:ext cx="1975103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1552" y="1746504"/>
            <a:ext cx="758414" cy="9144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129784" y="2761488"/>
            <a:ext cx="19019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Фрикадельки з басматі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9784" y="3145536"/>
            <a:ext cx="19019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4810A"/>
                </a:solidFill>
                <a:latin typeface="Segoe UI"/>
              </a:rPr>
              <a:t>ADVENTURE MENU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400 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9784" y="3328416"/>
            <a:ext cx="19019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336 грн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9784" y="3621024"/>
            <a:ext cx="19019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Лєєр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42048" y="1645920"/>
            <a:ext cx="2103120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306056" y="1709928"/>
            <a:ext cx="1975103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clearspring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1222" y="1746504"/>
            <a:ext cx="764770" cy="9144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342631" y="2761488"/>
            <a:ext cx="19019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Brown &amp; Wild Rice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42631" y="3145536"/>
            <a:ext cx="19019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4810A"/>
                </a:solidFill>
                <a:latin typeface="Segoe UI"/>
              </a:rPr>
              <a:t>CLEARSPRING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42631" y="3328416"/>
            <a:ext cx="19019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252–446 грн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42631" y="3621024"/>
            <a:ext cx="19019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MAUDAU · спец. магазини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454896" y="1645920"/>
            <a:ext cx="2103120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518904" y="1709928"/>
            <a:ext cx="1975103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soc_jasmin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49255" y="1746504"/>
            <a:ext cx="914400" cy="9144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555480" y="2761488"/>
            <a:ext cx="19019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Organic Jasmine Rice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55480" y="3145536"/>
            <a:ext cx="19019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1" i="0">
                <a:solidFill>
                  <a:srgbClr val="C4810A"/>
                </a:solidFill>
                <a:latin typeface="Segoe UI"/>
              </a:rPr>
              <a:t>SEEDS OF CHANGE · </a:t>
            </a:r>
            <a:r>
              <a:rPr sz="680" b="0" i="0">
                <a:solidFill>
                  <a:srgbClr val="717890"/>
                </a:solidFill>
                <a:latin typeface="Segoe UI"/>
              </a:rPr>
              <a:t>240 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55480" y="3328416"/>
            <a:ext cx="19019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225–449 грн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55480" y="3621024"/>
            <a:ext cx="19019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FRESH · VITADOBI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3504" y="4078224"/>
            <a:ext cx="2103120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67512" y="4142232"/>
            <a:ext cx="1975103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soc_brownwild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97863" y="4178808"/>
            <a:ext cx="914400" cy="9144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704088" y="5193792"/>
            <a:ext cx="19019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Brown &amp; Wild Rice, томат і часник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4088" y="5577840"/>
            <a:ext cx="19019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1" i="0">
                <a:solidFill>
                  <a:srgbClr val="C4810A"/>
                </a:solidFill>
                <a:latin typeface="Segoe UI"/>
              </a:rPr>
              <a:t>SEEDS OF CHANGE · </a:t>
            </a:r>
            <a:r>
              <a:rPr sz="680" b="0" i="0">
                <a:solidFill>
                  <a:srgbClr val="717890"/>
                </a:solidFill>
                <a:latin typeface="Segoe UI"/>
              </a:rPr>
              <a:t>240 г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4088" y="5760720"/>
            <a:ext cx="19019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300 грн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4088" y="6053327"/>
            <a:ext cx="19019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FRESH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816352" y="4078224"/>
            <a:ext cx="2103120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2880360" y="4142232"/>
            <a:ext cx="1975103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soc_cilantro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10712" y="4178808"/>
            <a:ext cx="914400" cy="91440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2916936" y="5193792"/>
            <a:ext cx="19019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Brown Jasmine, кінза й лайм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16936" y="5577840"/>
            <a:ext cx="19019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1" i="0">
                <a:solidFill>
                  <a:srgbClr val="C4810A"/>
                </a:solidFill>
                <a:latin typeface="Segoe UI"/>
              </a:rPr>
              <a:t>SEEDS OF CHANGE · </a:t>
            </a:r>
            <a:r>
              <a:rPr sz="680" b="0" i="0">
                <a:solidFill>
                  <a:srgbClr val="717890"/>
                </a:solidFill>
                <a:latin typeface="Segoe UI"/>
              </a:rPr>
              <a:t>240 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916936" y="5760720"/>
            <a:ext cx="19019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259 грн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916936" y="6053327"/>
            <a:ext cx="19019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FRESH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029200" y="4078224"/>
            <a:ext cx="2103120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5093208" y="4142232"/>
            <a:ext cx="1975103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soc_brownbasmati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23560" y="4178808"/>
            <a:ext cx="914400" cy="91440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5129784" y="5193792"/>
            <a:ext cx="19019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Brown Basmati Rice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29784" y="5577840"/>
            <a:ext cx="19019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1" i="0">
                <a:solidFill>
                  <a:srgbClr val="C4810A"/>
                </a:solidFill>
                <a:latin typeface="Segoe UI"/>
              </a:rPr>
              <a:t>SEEDS OF CHANGE · </a:t>
            </a:r>
            <a:r>
              <a:rPr sz="680" b="0" i="0">
                <a:solidFill>
                  <a:srgbClr val="717890"/>
                </a:solidFill>
                <a:latin typeface="Segoe UI"/>
              </a:rPr>
              <a:t>240 г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129784" y="5760720"/>
            <a:ext cx="19019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208–287 грн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29784" y="6053327"/>
            <a:ext cx="19019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Карман · BIOLIFE · ТАБЛЕТКА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242048" y="4078224"/>
            <a:ext cx="2103120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7306056" y="4142232"/>
            <a:ext cx="1975103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soc_quinoagarlic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36407" y="4178808"/>
            <a:ext cx="914400" cy="91440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7342631" y="5193792"/>
            <a:ext cx="19019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Quinoa &amp; Brown Rice з часником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42631" y="5577840"/>
            <a:ext cx="19019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1" i="0">
                <a:solidFill>
                  <a:srgbClr val="C4810A"/>
                </a:solidFill>
                <a:latin typeface="Segoe UI"/>
              </a:rPr>
              <a:t>SEEDS OF CHANGE · </a:t>
            </a:r>
            <a:r>
              <a:rPr sz="680" b="0" i="0">
                <a:solidFill>
                  <a:srgbClr val="717890"/>
                </a:solidFill>
                <a:latin typeface="Segoe UI"/>
              </a:rPr>
              <a:t>240 г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42631" y="5760720"/>
            <a:ext cx="19019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210–400 грн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42631" y="6053327"/>
            <a:ext cx="19019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Zdorovo · FAIR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454896" y="4078224"/>
            <a:ext cx="2103120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9518904" y="4142232"/>
            <a:ext cx="1975103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soc_spanish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49255" y="4178808"/>
            <a:ext cx="914400" cy="914400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9555480" y="5193792"/>
            <a:ext cx="19019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Spanish Style з кіноа та перцем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555480" y="5577840"/>
            <a:ext cx="19019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1" i="0">
                <a:solidFill>
                  <a:srgbClr val="C4810A"/>
                </a:solidFill>
                <a:latin typeface="Segoe UI"/>
              </a:rPr>
              <a:t>SEEDS OF CHANGE · </a:t>
            </a:r>
            <a:r>
              <a:rPr sz="680" b="0" i="0">
                <a:solidFill>
                  <a:srgbClr val="717890"/>
                </a:solidFill>
                <a:latin typeface="Segoe UI"/>
              </a:rPr>
              <a:t>240 г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555480" y="5760720"/>
            <a:ext cx="19019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407 грн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555480" y="6053327"/>
            <a:ext cx="19019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BIOLIFE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03504" y="647395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Фото, вага й ціна — з карток продавців; ціна за одну упаковку (від–до серед продавців). Колір назви бренду: золотий — розігрів, бірюзовий — під окріп, рожевий — саморозігрів, фіолетовий — сублімат.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C95C"/>
                </a:solidFill>
                <a:latin typeface="Segoe UI"/>
              </a:rPr>
              <a:t>ФОРМАТ 2 З 4 · ЧАША · СТАКАН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Чаша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717890"/>
                </a:solidFill>
                <a:latin typeface="Segoe UI"/>
              </a:rPr>
              <a:t>Найширший діапазон ваги: від 84 до 320 г.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645920"/>
            <a:ext cx="3520440" cy="470001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3504" y="1645920"/>
            <a:ext cx="3520440" cy="91440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0664" y="1847088"/>
            <a:ext cx="3246120" cy="148132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360" y="1883664"/>
            <a:ext cx="1602726" cy="140817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4672" y="3438144"/>
            <a:ext cx="3154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717890"/>
                </a:solidFill>
                <a:latin typeface="Segoe UI"/>
              </a:rPr>
              <a:t>ПОЗИЦІЙ · БРЕНДІВ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593591"/>
            <a:ext cx="3154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>
                <a:solidFill>
                  <a:srgbClr val="303A5D"/>
                </a:solidFill>
                <a:latin typeface="Segoe UI"/>
              </a:rPr>
              <a:t>23 · 5  (22 % асортименту)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3877056"/>
            <a:ext cx="3154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717890"/>
                </a:solidFill>
                <a:latin typeface="Segoe UI"/>
              </a:rPr>
              <a:t>ГРАМАЖ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4032504"/>
            <a:ext cx="3154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>
                <a:solidFill>
                  <a:srgbClr val="303A5D"/>
                </a:solidFill>
                <a:latin typeface="Segoe UI"/>
              </a:rPr>
              <a:t>84–320 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315968"/>
            <a:ext cx="3154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717890"/>
                </a:solidFill>
                <a:latin typeface="Segoe UI"/>
              </a:rPr>
              <a:t>МЕДІАНА · ДІАПАЗОН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4471416"/>
            <a:ext cx="3154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>
                <a:solidFill>
                  <a:srgbClr val="303A5D"/>
                </a:solidFill>
                <a:latin typeface="Segoe UI"/>
              </a:rPr>
              <a:t>229 грн · 83–931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754880"/>
            <a:ext cx="3154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717890"/>
                </a:solidFill>
                <a:latin typeface="Segoe UI"/>
              </a:rPr>
              <a:t>ПРИГОТУВАННЯ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4910328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>
                <a:solidFill>
                  <a:srgbClr val="303A5D"/>
                </a:solidFill>
                <a:latin typeface="Segoe UI"/>
              </a:rPr>
              <a:t>НВЧ 60–90 с · окріп 5–10 хв · саморозігрів 15 хв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5340096"/>
            <a:ext cx="3154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717890"/>
                </a:solidFill>
                <a:latin typeface="Segoe UI"/>
              </a:rPr>
              <a:t>ПОХОДЖЕННЯ БРЕНДІВ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5495544"/>
            <a:ext cx="3154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>
                <a:solidFill>
                  <a:srgbClr val="303A5D"/>
                </a:solidFill>
                <a:latin typeface="Segoe UI"/>
              </a:rPr>
              <a:t>Корея 2 · Китай 2 · ЄС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5779008"/>
            <a:ext cx="3154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717890"/>
                </a:solidFill>
                <a:latin typeface="Segoe UI"/>
              </a:rPr>
              <a:t>ПРОДАВЦІ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5934456"/>
            <a:ext cx="3154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>
                <a:solidFill>
                  <a:srgbClr val="303A5D"/>
                </a:solidFill>
                <a:latin typeface="Segoe UI"/>
              </a:rPr>
              <a:t>DCM, Pulsar, Апетіт.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25696" y="1664208"/>
            <a:ext cx="16276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ФОТО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53328" y="1664208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ГРАМАЖ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42048" y="1664208"/>
            <a:ext cx="3063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ПОЗИЦІЙ · КОЛІР = БРЕНД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05288" y="1664208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ЦІНА, ГРН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52544" y="1901952"/>
            <a:ext cx="7235921" cy="623620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443983" y="1975104"/>
            <a:ext cx="381853" cy="4773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51b547b7d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272" y="2041123"/>
            <a:ext cx="345277" cy="34527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053328" y="2030882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303A5D"/>
                </a:solidFill>
                <a:latin typeface="Segoe UI"/>
              </a:rPr>
              <a:t>84 г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42048" y="1975104"/>
            <a:ext cx="331470" cy="18288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22792" y="193852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42048" y="2244852"/>
            <a:ext cx="91440" cy="91440"/>
          </a:xfrm>
          <a:prstGeom prst="roundRect">
            <a:avLst>
              <a:gd name="adj" fmla="val 3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70064" y="2212848"/>
            <a:ext cx="128198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C2235"/>
                </a:solidFill>
                <a:latin typeface="Segoe UI"/>
              </a:rPr>
              <a:t>Gallina Blanca ×2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05288" y="2067458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E9EA6"/>
                </a:solidFill>
                <a:latin typeface="Segoe UI"/>
              </a:rPr>
              <a:t>229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52544" y="2598724"/>
            <a:ext cx="7235921" cy="623620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443983" y="2671876"/>
            <a:ext cx="381853" cy="4773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2272" y="2749574"/>
            <a:ext cx="345277" cy="32192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053328" y="2727655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303A5D"/>
                </a:solidFill>
                <a:latin typeface="Segoe UI"/>
              </a:rPr>
              <a:t>144–174 г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42048" y="2671876"/>
            <a:ext cx="1325880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22792" y="26353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03A5D"/>
                </a:solidFill>
                <a:latin typeface="Segoe UI"/>
              </a:rPr>
              <a:t>8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242048" y="2941624"/>
            <a:ext cx="91440" cy="91440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70064" y="2909620"/>
            <a:ext cx="73883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C2235"/>
                </a:solidFill>
                <a:latin typeface="Segoe UI"/>
              </a:rPr>
              <a:t>Henan ×8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05288" y="2764231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E9EA6"/>
                </a:solidFill>
                <a:latin typeface="Segoe UI"/>
              </a:rPr>
              <a:t>83–156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52544" y="3295497"/>
            <a:ext cx="7235921" cy="623620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443983" y="3368649"/>
            <a:ext cx="381853" cy="4773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2272" y="3470720"/>
            <a:ext cx="345277" cy="273175"/>
          </a:xfrm>
          <a:prstGeom prst="rect">
            <a:avLst/>
          </a:prstGeom>
        </p:spPr>
      </p:pic>
      <p:sp>
        <p:nvSpPr>
          <p:cNvPr id="51" name="Rounded Rectangle 50"/>
          <p:cNvSpPr/>
          <p:nvPr/>
        </p:nvSpPr>
        <p:spPr>
          <a:xfrm>
            <a:off x="4880701" y="3368649"/>
            <a:ext cx="381853" cy="4773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bibigo_bowl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8989" y="3433880"/>
            <a:ext cx="345277" cy="346854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053328" y="3424428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303A5D"/>
                </a:solidFill>
                <a:latin typeface="Segoe UI"/>
              </a:rPr>
              <a:t>210–247 г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242048" y="3368649"/>
            <a:ext cx="331470" cy="18288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573518" y="3368649"/>
            <a:ext cx="165735" cy="182880"/>
          </a:xfrm>
          <a:prstGeom prst="rect">
            <a:avLst/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22792" y="3332073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242048" y="3638397"/>
            <a:ext cx="91440" cy="91440"/>
          </a:xfrm>
          <a:prstGeom prst="roundRect">
            <a:avLst>
              <a:gd name="adj" fmla="val 3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70064" y="3606393"/>
            <a:ext cx="79918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C2235"/>
                </a:solidFill>
                <a:latin typeface="Segoe UI"/>
              </a:rPr>
              <a:t>Ottogi ×2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041233" y="3638397"/>
            <a:ext cx="91440" cy="91440"/>
          </a:xfrm>
          <a:prstGeom prst="roundRect">
            <a:avLst>
              <a:gd name="adj" fmla="val 3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169249" y="3606393"/>
            <a:ext cx="61813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C2235"/>
                </a:solidFill>
                <a:latin typeface="Segoe UI"/>
              </a:rPr>
              <a:t>Bibigo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305288" y="3461004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E9EA6"/>
                </a:solidFill>
                <a:latin typeface="Segoe UI"/>
              </a:rPr>
              <a:t>135–320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352544" y="3992270"/>
            <a:ext cx="7235921" cy="623620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4443983" y="4065422"/>
            <a:ext cx="381853" cy="4773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image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62272" y="4154799"/>
            <a:ext cx="345277" cy="298563"/>
          </a:xfrm>
          <a:prstGeom prst="rect">
            <a:avLst/>
          </a:prstGeom>
        </p:spPr>
      </p:pic>
      <p:sp>
        <p:nvSpPr>
          <p:cNvPr id="65" name="Rounded Rectangle 64"/>
          <p:cNvSpPr/>
          <p:nvPr/>
        </p:nvSpPr>
        <p:spPr>
          <a:xfrm>
            <a:off x="4880701" y="4065422"/>
            <a:ext cx="381853" cy="4773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image.jpe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98989" y="4131442"/>
            <a:ext cx="345277" cy="345277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6053328" y="41212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303A5D"/>
                </a:solidFill>
                <a:latin typeface="Segoe UI"/>
              </a:rPr>
              <a:t>269–280 г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242048" y="4065422"/>
            <a:ext cx="497204" cy="18288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739252" y="4065422"/>
            <a:ext cx="331470" cy="182880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622792" y="402884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242048" y="4335170"/>
            <a:ext cx="91440" cy="91440"/>
          </a:xfrm>
          <a:prstGeom prst="roundRect">
            <a:avLst>
              <a:gd name="adj" fmla="val 3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70064" y="4303166"/>
            <a:ext cx="79918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C2235"/>
                </a:solidFill>
                <a:latin typeface="Segoe UI"/>
              </a:rPr>
              <a:t>Ottogi ×3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041233" y="4335170"/>
            <a:ext cx="91440" cy="91440"/>
          </a:xfrm>
          <a:prstGeom prst="roundRect">
            <a:avLst>
              <a:gd name="adj" fmla="val 30000"/>
            </a:avLst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169249" y="4303166"/>
            <a:ext cx="116128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C2235"/>
                </a:solidFill>
                <a:latin typeface="Segoe UI"/>
              </a:rPr>
              <a:t>Mo Xiao Xian ×2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305288" y="4157776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E9EA6"/>
                </a:solidFill>
                <a:latin typeface="Segoe UI"/>
              </a:rPr>
              <a:t>252–931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352544" y="4689043"/>
            <a:ext cx="7235921" cy="623620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4443983" y="4762195"/>
            <a:ext cx="381853" cy="4773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8" name="Picture 77" descr="image.jpe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62272" y="4850048"/>
            <a:ext cx="345277" cy="301609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6053328" y="4817973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303A5D"/>
                </a:solidFill>
                <a:latin typeface="Segoe UI"/>
              </a:rPr>
              <a:t>310–320 г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242048" y="4762195"/>
            <a:ext cx="828675" cy="18288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622792" y="4725619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242048" y="5031943"/>
            <a:ext cx="91440" cy="91440"/>
          </a:xfrm>
          <a:prstGeom prst="roundRect">
            <a:avLst>
              <a:gd name="adj" fmla="val 3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370064" y="4999939"/>
            <a:ext cx="79918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C2235"/>
                </a:solidFill>
                <a:latin typeface="Segoe UI"/>
              </a:rPr>
              <a:t>Ottogi ×5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305288" y="4854549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E9EA6"/>
                </a:solidFill>
                <a:latin typeface="Segoe UI"/>
              </a:rPr>
              <a:t>252–356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352544" y="5422392"/>
            <a:ext cx="7235921" cy="923543"/>
          </a:xfrm>
          <a:prstGeom prst="roundRect">
            <a:avLst>
              <a:gd name="adj" fmla="val 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4352544" y="5422392"/>
            <a:ext cx="82296" cy="923543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663440" y="5605272"/>
            <a:ext cx="6687281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D5DBEA"/>
                </a:solidFill>
                <a:latin typeface="Segoe UI"/>
              </a:rPr>
              <a:t>Чаша — єдиний формат у всіх вагових смугах від 84 до 320 г. Найдешевша — Henan 144 г (83 грн), найдорожча готова — Ottogi 320 г (356 грн). Наш стакан 150 г стає між Henan (144–174 г) і Bibigo (210 г).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03504" y="647395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Позиції — за картками продавців; грамаж — вага готової страви (для сухого рису й сублімату — вага продукту). Медіана — за мінімальною ціною позиції. Ціни за одну упаковку, без опту.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C95C"/>
                </a:solidFill>
                <a:latin typeface="Segoe UI"/>
              </a:rPr>
              <a:t>ЧАША · КАТАЛОГ 1 З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Чаша: готовий рис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717890"/>
                </a:solidFill>
                <a:latin typeface="Segoe UI"/>
              </a:rPr>
              <a:t>Ottogi і Bibigo — розігрів у мікрохвильовці 60–90 с.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645920"/>
            <a:ext cx="1734312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7512" y="1709928"/>
            <a:ext cx="1606296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266" y="1746504"/>
            <a:ext cx="1046787" cy="914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4088" y="2761488"/>
            <a:ext cx="15331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Бульгогі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145536"/>
            <a:ext cx="1533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4810A"/>
                </a:solidFill>
                <a:latin typeface="Segoe UI"/>
              </a:rPr>
              <a:t>OTTOGI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320 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3328416"/>
            <a:ext cx="1533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252 грн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3621024"/>
            <a:ext cx="15331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Тайякі Март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47544" y="1645920"/>
            <a:ext cx="1734312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511552" y="1709928"/>
            <a:ext cx="1606296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261" y="1746504"/>
            <a:ext cx="1032877" cy="914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548128" y="2761488"/>
            <a:ext cx="15331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Гамбурзький стейк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48128" y="3145536"/>
            <a:ext cx="1533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4810A"/>
                </a:solidFill>
                <a:latin typeface="Segoe UI"/>
              </a:rPr>
              <a:t>OTTOGI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315 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48128" y="3328416"/>
            <a:ext cx="1533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255 грн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48128" y="3621024"/>
            <a:ext cx="15331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Pulsar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1584" y="1645920"/>
            <a:ext cx="1734312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55592" y="1709928"/>
            <a:ext cx="1606296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5346" y="1746504"/>
            <a:ext cx="1046787" cy="9144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392168" y="2761488"/>
            <a:ext cx="15331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Свинина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92168" y="3145536"/>
            <a:ext cx="1533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4810A"/>
                </a:solidFill>
                <a:latin typeface="Segoe UI"/>
              </a:rPr>
              <a:t>OTTOGI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310 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92168" y="3328416"/>
            <a:ext cx="1533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252 грн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92168" y="3621024"/>
            <a:ext cx="15331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Тайякі Март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35624" y="1645920"/>
            <a:ext cx="1734312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99632" y="1709928"/>
            <a:ext cx="1606296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5580" y="1746504"/>
            <a:ext cx="914400" cy="9144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236208" y="2761488"/>
            <a:ext cx="15331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Гострі курячі ребра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36208" y="3145536"/>
            <a:ext cx="1533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4810A"/>
                </a:solidFill>
                <a:latin typeface="Segoe UI"/>
              </a:rPr>
              <a:t>OTTOGI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310 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36208" y="3328416"/>
            <a:ext cx="1533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255–260 грн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36208" y="3621024"/>
            <a:ext cx="15331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Pulsar · Gurmissimo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79664" y="1645920"/>
            <a:ext cx="1734312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043672" y="1709928"/>
            <a:ext cx="1606296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8085" y="1746504"/>
            <a:ext cx="1057469" cy="9144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080247" y="2761488"/>
            <a:ext cx="15331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Гострий восьминіг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80247" y="3145536"/>
            <a:ext cx="1533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4810A"/>
                </a:solidFill>
                <a:latin typeface="Segoe UI"/>
              </a:rPr>
              <a:t>OTTOGI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280 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80247" y="3328416"/>
            <a:ext cx="1533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255–289 грн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80247" y="3621024"/>
            <a:ext cx="15331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Pulsar · Апетіт. · Gurm.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823703" y="1645920"/>
            <a:ext cx="1734312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887712" y="1709928"/>
            <a:ext cx="1606296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12986" y="1746504"/>
            <a:ext cx="1155747" cy="9144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924287" y="2761488"/>
            <a:ext cx="15331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Тунець і майонез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24287" y="3145536"/>
            <a:ext cx="1533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4810A"/>
                </a:solidFill>
                <a:latin typeface="Segoe UI"/>
              </a:rPr>
              <a:t>OTTOGI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247 г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24287" y="3328416"/>
            <a:ext cx="1533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225–320 грн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24287" y="3621024"/>
            <a:ext cx="15331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Тайякі · Gurmissimo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03504" y="4078224"/>
            <a:ext cx="1734312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67512" y="4142232"/>
            <a:ext cx="1606296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221" y="4178808"/>
            <a:ext cx="1032877" cy="91440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704088" y="5193792"/>
            <a:ext cx="15331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Пібімпаб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4088" y="5577840"/>
            <a:ext cx="1533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4810A"/>
                </a:solidFill>
                <a:latin typeface="Segoe UI"/>
              </a:rPr>
              <a:t>OTTOGI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269 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4088" y="5760720"/>
            <a:ext cx="1533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252–334 грн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4088" y="6053327"/>
            <a:ext cx="15331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Тайякі · Апетітаріум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447544" y="4078224"/>
            <a:ext cx="1734312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2511552" y="4142232"/>
            <a:ext cx="1606296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image.jpe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85965" y="4178808"/>
            <a:ext cx="1057469" cy="91440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2548128" y="5193792"/>
            <a:ext cx="15331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Гостра свинина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548128" y="5577840"/>
            <a:ext cx="1533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4810A"/>
                </a:solidFill>
                <a:latin typeface="Segoe UI"/>
              </a:rPr>
              <a:t>OTTOGI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269 г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548128" y="5760720"/>
            <a:ext cx="1533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334 грн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48128" y="6053327"/>
            <a:ext cx="15331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Апетітаріум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291584" y="4078224"/>
            <a:ext cx="1734312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4355592" y="4142232"/>
            <a:ext cx="1606296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image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1540" y="4178808"/>
            <a:ext cx="914400" cy="91440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4392168" y="5193792"/>
            <a:ext cx="15331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Гостра яловичина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92168" y="5577840"/>
            <a:ext cx="1533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4810A"/>
                </a:solidFill>
                <a:latin typeface="Segoe UI"/>
              </a:rPr>
              <a:t>OTTOGI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320 г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392168" y="5760720"/>
            <a:ext cx="1533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356 грн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92168" y="6053327"/>
            <a:ext cx="15331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Апетітаріум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135624" y="4078224"/>
            <a:ext cx="1734312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6199632" y="4142232"/>
            <a:ext cx="1606296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image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4045" y="4178808"/>
            <a:ext cx="1057469" cy="914400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6236208" y="5193792"/>
            <a:ext cx="15331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Jjampong: рис у супі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36208" y="5577840"/>
            <a:ext cx="1533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4810A"/>
                </a:solidFill>
                <a:latin typeface="Segoe UI"/>
              </a:rPr>
              <a:t>OTTOGI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217,5 г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36208" y="5760720"/>
            <a:ext cx="1533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255 грн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36208" y="6053327"/>
            <a:ext cx="15331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Pulsar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979664" y="4078224"/>
            <a:ext cx="1734312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8043672" y="4142232"/>
            <a:ext cx="1606296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2" name="Picture 81" descr="bibigo_bowl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91698" y="4178808"/>
            <a:ext cx="910243" cy="914400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8080247" y="5193792"/>
            <a:ext cx="15331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Білий рис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080247" y="5577840"/>
            <a:ext cx="1533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4810A"/>
                </a:solidFill>
                <a:latin typeface="Segoe UI"/>
              </a:rPr>
              <a:t>BIBIGO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210 г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080247" y="5760720"/>
            <a:ext cx="1533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135–189 грн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80247" y="6053327"/>
            <a:ext cx="15331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Смак Кореї · Rozetka · Prom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3504" y="647395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Фото, вага й ціна — з карток продавців; ціна за одну упаковку (від–до серед продавців). Колір назви бренду: золотий — розігрів, бірюзовий — під окріп, рожевий — саморозігрів, фіолетовий — сублімат.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C95C"/>
                </a:solidFill>
                <a:latin typeface="Segoe UI"/>
              </a:rPr>
              <a:t>ЧАША · КАТАЛОГ 2 З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Чаша: під окріп і саморозігрів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717890"/>
                </a:solidFill>
                <a:latin typeface="Segoe UI"/>
              </a:rPr>
              <a:t>Henan, Gallina Blanca — окріп 5–10 хв; Mo Xiao Xian — нагрівач.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645920"/>
            <a:ext cx="1734312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7512" y="1709928"/>
            <a:ext cx="1606296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287" y="1746504"/>
            <a:ext cx="980744" cy="914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4088" y="2761488"/>
            <a:ext cx="15331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Тушкована курка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145536"/>
            <a:ext cx="1533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E9EA6"/>
                </a:solidFill>
                <a:latin typeface="Segoe UI"/>
              </a:rPr>
              <a:t>HENAN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174 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3328416"/>
            <a:ext cx="1533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129–156 грн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3621024"/>
            <a:ext cx="15331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СНЕКІС · DCM · Апетіт.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47544" y="1645920"/>
            <a:ext cx="1734312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511552" y="1709928"/>
            <a:ext cx="1606296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1942" y="1746504"/>
            <a:ext cx="965515" cy="91439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548128" y="2761488"/>
            <a:ext cx="15331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Гребінці та гриби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48128" y="3145536"/>
            <a:ext cx="1533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E9EA6"/>
                </a:solidFill>
                <a:latin typeface="Segoe UI"/>
              </a:rPr>
              <a:t>HENAN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174 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48128" y="3328416"/>
            <a:ext cx="1533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140–156 грн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48128" y="3621024"/>
            <a:ext cx="15331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MAUDAU · Gurm. · DCM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1584" y="1645920"/>
            <a:ext cx="1734312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55592" y="1709928"/>
            <a:ext cx="1606296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0438" y="1746504"/>
            <a:ext cx="956603" cy="9144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392168" y="2761488"/>
            <a:ext cx="15331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Кантонська ковбаска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92168" y="3145536"/>
            <a:ext cx="1533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E9EA6"/>
                </a:solidFill>
                <a:latin typeface="Segoe UI"/>
              </a:rPr>
              <a:t>HENAN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174 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92168" y="3328416"/>
            <a:ext cx="1533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118–156 грн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92168" y="3621024"/>
            <a:ext cx="15331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OMG! Asia · Gurm. · Апетіт.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35624" y="1645920"/>
            <a:ext cx="1734312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99632" y="1709928"/>
            <a:ext cx="1606296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1509" y="1746504"/>
            <a:ext cx="922540" cy="9144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236208" y="2761488"/>
            <a:ext cx="15331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Яловичина з перцем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36208" y="3145536"/>
            <a:ext cx="1533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E9EA6"/>
                </a:solidFill>
                <a:latin typeface="Segoe UI"/>
              </a:rPr>
              <a:t>HENAN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174 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36208" y="3328416"/>
            <a:ext cx="1533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118–156 грн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36208" y="3621024"/>
            <a:ext cx="15331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OMG! Asia · Gurm. · Апетіт.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79664" y="1645920"/>
            <a:ext cx="1734312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043672" y="1709928"/>
            <a:ext cx="1606296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6447" y="1746504"/>
            <a:ext cx="980744" cy="9144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080247" y="2761488"/>
            <a:ext cx="15331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Курка з перцем чилі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80247" y="3145536"/>
            <a:ext cx="1533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E9EA6"/>
                </a:solidFill>
                <a:latin typeface="Segoe UI"/>
              </a:rPr>
              <a:t>HENAN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174 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80247" y="3328416"/>
            <a:ext cx="1533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112–150 грн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80247" y="3621024"/>
            <a:ext cx="15331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OMG! · СНЕКІС · DCM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823703" y="1645920"/>
            <a:ext cx="1734312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887712" y="1709928"/>
            <a:ext cx="1606296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11082" y="1746504"/>
            <a:ext cx="959555" cy="9144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924287" y="2761488"/>
            <a:ext cx="15331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Гостра курка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24287" y="3145536"/>
            <a:ext cx="1533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E9EA6"/>
                </a:solidFill>
                <a:latin typeface="Segoe UI"/>
              </a:rPr>
              <a:t>HENAN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144 г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24287" y="3328416"/>
            <a:ext cx="1533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83 грн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24287" y="3621024"/>
            <a:ext cx="15331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OMG! Asia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03504" y="4078224"/>
            <a:ext cx="1734312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67512" y="4142232"/>
            <a:ext cx="1606296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358" y="4178808"/>
            <a:ext cx="956603" cy="91440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704088" y="5193792"/>
            <a:ext cx="15331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Кисло-солодка яловичина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4088" y="5577840"/>
            <a:ext cx="1533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E9EA6"/>
                </a:solidFill>
                <a:latin typeface="Segoe UI"/>
              </a:rPr>
              <a:t>HENAN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144 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4088" y="5760720"/>
            <a:ext cx="1533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135 грн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4088" y="6053327"/>
            <a:ext cx="15331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DCM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447544" y="4078224"/>
            <a:ext cx="1734312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2511552" y="4142232"/>
            <a:ext cx="1606296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image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87893" y="4178808"/>
            <a:ext cx="1253612" cy="91440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2548128" y="5193792"/>
            <a:ext cx="15331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Курка з баклажанами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548128" y="5577840"/>
            <a:ext cx="1533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E9EA6"/>
                </a:solidFill>
                <a:latin typeface="Segoe UI"/>
              </a:rPr>
              <a:t>HENAN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144 г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548128" y="5760720"/>
            <a:ext cx="1533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152 грн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48128" y="6053327"/>
            <a:ext cx="15331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DCM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291584" y="4078224"/>
            <a:ext cx="1734312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4355592" y="4142232"/>
            <a:ext cx="1606296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image.jpe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01540" y="4178808"/>
            <a:ext cx="914400" cy="91440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4392168" y="5193792"/>
            <a:ext cx="15331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Яловичина з бамбуком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92168" y="5577840"/>
            <a:ext cx="1533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4F7C"/>
                </a:solidFill>
                <a:latin typeface="Segoe UI"/>
              </a:rPr>
              <a:t>MO XIAO XIAN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275 г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392168" y="5760720"/>
            <a:ext cx="1533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931 грн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92168" y="6053327"/>
            <a:ext cx="15331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Скарби Азії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135624" y="4078224"/>
            <a:ext cx="1734312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6199632" y="4142232"/>
            <a:ext cx="1606296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image.jpe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45580" y="4178808"/>
            <a:ext cx="914400" cy="914400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6236208" y="5193792"/>
            <a:ext cx="15331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Бекон і горошок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36208" y="5577840"/>
            <a:ext cx="1533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4F7C"/>
                </a:solidFill>
                <a:latin typeface="Segoe UI"/>
              </a:rPr>
              <a:t>MO XIAO XIAN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275 г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36208" y="5760720"/>
            <a:ext cx="1533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931 грн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36208" y="6053327"/>
            <a:ext cx="15331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Скарби Азії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979664" y="4078224"/>
            <a:ext cx="1734312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8043672" y="4142232"/>
            <a:ext cx="1606296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2" name="Picture 81" descr="51b547b7d3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89619" y="4178808"/>
            <a:ext cx="914400" cy="914400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8080247" y="5193792"/>
            <a:ext cx="15331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Yatekomo: яловичина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080247" y="5577840"/>
            <a:ext cx="1533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E9EA6"/>
                </a:solidFill>
                <a:latin typeface="Segoe UI"/>
              </a:rPr>
              <a:t>GALLINA BLANCA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84 г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080247" y="5760720"/>
            <a:ext cx="1533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229 грн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80247" y="6053327"/>
            <a:ext cx="15331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Товари з Іспанії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9823703" y="4078224"/>
            <a:ext cx="1734312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9887712" y="4142232"/>
            <a:ext cx="1606296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9" name="Picture 88" descr="47975023c3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33659" y="4178808"/>
            <a:ext cx="914400" cy="914400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9924287" y="5193792"/>
            <a:ext cx="15331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Yatekomo: теріякі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924287" y="5577840"/>
            <a:ext cx="1533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E9EA6"/>
                </a:solidFill>
                <a:latin typeface="Segoe UI"/>
              </a:rPr>
              <a:t>GALLINA BLANCA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84 г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924287" y="5760720"/>
            <a:ext cx="1533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229 грн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924287" y="6053327"/>
            <a:ext cx="15331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Товари з Іспанії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03504" y="647395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Фото, вага й ціна — з карток продавців; ціна за одну упаковку (від–до серед продавців). Колір назви бренду: золотий — розігрів, бірюзовий — під окріп, рожевий — саморозігрів, фіолетовий — сублімат.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C95C"/>
                </a:solidFill>
                <a:latin typeface="Segoe UI"/>
              </a:rPr>
              <a:t>ФОРМАТ 3 З 4 · ДОЙПАК · ПЛОСКИЙ ПАКЕТ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Дойпак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717890"/>
                </a:solidFill>
                <a:latin typeface="Segoe UI"/>
              </a:rPr>
              <a:t>Стільки ж позицій, скільки в пауча, — але це туризм.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645920"/>
            <a:ext cx="3520440" cy="470001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3504" y="1645920"/>
            <a:ext cx="3520440" cy="91440"/>
          </a:xfrm>
          <a:prstGeom prst="roundRect">
            <a:avLst>
              <a:gd name="adj" fmla="val 50000"/>
            </a:avLst>
          </a:prstGeom>
          <a:solidFill>
            <a:srgbClr val="5E4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0664" y="1847088"/>
            <a:ext cx="3246120" cy="148132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mh_curr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2932" y="1883664"/>
            <a:ext cx="1541582" cy="140817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4672" y="3438144"/>
            <a:ext cx="3154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717890"/>
                </a:solidFill>
                <a:latin typeface="Segoe UI"/>
              </a:rPr>
              <a:t>ПОЗИЦІЙ · БРЕНДІВ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593591"/>
            <a:ext cx="3154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>
                <a:solidFill>
                  <a:srgbClr val="303A5D"/>
                </a:solidFill>
                <a:latin typeface="Segoe UI"/>
              </a:rPr>
              <a:t>34 · 11  (32 % асортименту)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3877056"/>
            <a:ext cx="3154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717890"/>
                </a:solidFill>
                <a:latin typeface="Segoe UI"/>
              </a:rPr>
              <a:t>ГРАМАЖ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4032504"/>
            <a:ext cx="3154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>
                <a:solidFill>
                  <a:srgbClr val="303A5D"/>
                </a:solidFill>
                <a:latin typeface="Segoe UI"/>
              </a:rPr>
              <a:t>80–250 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315968"/>
            <a:ext cx="3154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717890"/>
                </a:solidFill>
                <a:latin typeface="Segoe UI"/>
              </a:rPr>
              <a:t>МЕДІАНА · ДІАПАЗОН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4471416"/>
            <a:ext cx="3154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>
                <a:solidFill>
                  <a:srgbClr val="303A5D"/>
                </a:solidFill>
                <a:latin typeface="Segoe UI"/>
              </a:rPr>
              <a:t>315 грн · 55–889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754880"/>
            <a:ext cx="3154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717890"/>
                </a:solidFill>
                <a:latin typeface="Segoe UI"/>
              </a:rPr>
              <a:t>ПРИГОТУВАННЯ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4910328"/>
            <a:ext cx="3154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>
                <a:solidFill>
                  <a:srgbClr val="303A5D"/>
                </a:solidFill>
                <a:latin typeface="Segoe UI"/>
              </a:rPr>
              <a:t>Окріп 8–10 хв (сублімат і сухий рис)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5193792"/>
            <a:ext cx="3154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717890"/>
                </a:solidFill>
                <a:latin typeface="Segoe UI"/>
              </a:rPr>
              <a:t>ПОХОДЖЕННЯ БРЕНДІВ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5349240"/>
            <a:ext cx="3154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>
                <a:solidFill>
                  <a:srgbClr val="303A5D"/>
                </a:solidFill>
                <a:latin typeface="Segoe UI"/>
              </a:rPr>
              <a:t>Україна 5 · ЄС 4 · Китай 1 · США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5632704"/>
            <a:ext cx="3154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717890"/>
                </a:solidFill>
                <a:latin typeface="Segoe UI"/>
              </a:rPr>
              <a:t>ПРОДАВЦІ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5788152"/>
            <a:ext cx="3154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>
                <a:solidFill>
                  <a:srgbClr val="303A5D"/>
                </a:solidFill>
                <a:latin typeface="Segoe UI"/>
              </a:rPr>
              <a:t>Highlander, ALANTUR, ВсеОпт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25696" y="1664208"/>
            <a:ext cx="16276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ФОТО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53328" y="1664208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ГРАМАЖ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42048" y="1664208"/>
            <a:ext cx="3063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ПОЗИЦІЙ · КОЛІР = БРЕНД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05288" y="1664208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ЦІНА, ГРН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52544" y="1901952"/>
            <a:ext cx="7235921" cy="623620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443983" y="1975104"/>
            <a:ext cx="381853" cy="4773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272" y="2007082"/>
            <a:ext cx="345277" cy="41336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4880701" y="1975104"/>
            <a:ext cx="381853" cy="4773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8989" y="2067527"/>
            <a:ext cx="345277" cy="292470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5317418" y="1975104"/>
            <a:ext cx="381853" cy="4773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5706" y="2020042"/>
            <a:ext cx="345277" cy="38744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053328" y="2030882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303A5D"/>
                </a:solidFill>
                <a:latin typeface="Segoe UI"/>
              </a:rPr>
              <a:t>80–90 г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42048" y="1975104"/>
            <a:ext cx="602672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844720" y="1975104"/>
            <a:ext cx="482138" cy="182880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326858" y="1975104"/>
            <a:ext cx="241069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22792" y="193852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03A5D"/>
                </a:solidFill>
                <a:latin typeface="Segoe UI"/>
              </a:rPr>
              <a:t>11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42048" y="2244852"/>
            <a:ext cx="91440" cy="91440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70064" y="2212848"/>
            <a:ext cx="73883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C2235"/>
                </a:solidFill>
                <a:latin typeface="Segoe UI"/>
              </a:rPr>
              <a:t>Харчі ×5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980883" y="2244852"/>
            <a:ext cx="91440" cy="91440"/>
          </a:xfrm>
          <a:prstGeom prst="roundRect">
            <a:avLst>
              <a:gd name="adj" fmla="val 30000"/>
            </a:avLst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08899" y="2212848"/>
            <a:ext cx="1040587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C2235"/>
                </a:solidFill>
                <a:latin typeface="Segoe UI"/>
              </a:rPr>
              <a:t>James Cook ×4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021470" y="2244852"/>
            <a:ext cx="91440" cy="91440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9486" y="2212848"/>
            <a:ext cx="1100937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C2235"/>
                </a:solidFill>
                <a:latin typeface="Segoe UI"/>
              </a:rPr>
              <a:t>Їжа в Похід ×2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05288" y="2067458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5E4B94"/>
                </a:solidFill>
                <a:latin typeface="Segoe UI"/>
              </a:rPr>
              <a:t>55–217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352544" y="2598724"/>
            <a:ext cx="7235921" cy="623620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443983" y="2671876"/>
            <a:ext cx="381853" cy="4773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image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2272" y="2696311"/>
            <a:ext cx="345277" cy="428446"/>
          </a:xfrm>
          <a:prstGeom prst="rect">
            <a:avLst/>
          </a:prstGeom>
        </p:spPr>
      </p:pic>
      <p:sp>
        <p:nvSpPr>
          <p:cNvPr id="52" name="Rounded Rectangle 51"/>
          <p:cNvSpPr/>
          <p:nvPr/>
        </p:nvSpPr>
        <p:spPr>
          <a:xfrm>
            <a:off x="4880701" y="2671876"/>
            <a:ext cx="381853" cy="4773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8989" y="2720576"/>
            <a:ext cx="345277" cy="379916"/>
          </a:xfrm>
          <a:prstGeom prst="rect">
            <a:avLst/>
          </a:prstGeom>
        </p:spPr>
      </p:pic>
      <p:sp>
        <p:nvSpPr>
          <p:cNvPr id="54" name="Rounded Rectangle 53"/>
          <p:cNvSpPr/>
          <p:nvPr/>
        </p:nvSpPr>
        <p:spPr>
          <a:xfrm>
            <a:off x="5317418" y="2671876"/>
            <a:ext cx="381853" cy="4773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image.jpe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5706" y="2769377"/>
            <a:ext cx="345277" cy="282315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053328" y="2727655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303A5D"/>
                </a:solidFill>
                <a:latin typeface="Segoe UI"/>
              </a:rPr>
              <a:t>100–125 г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242048" y="2671876"/>
            <a:ext cx="482138" cy="18288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724186" y="2671876"/>
            <a:ext cx="241069" cy="18288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965255" y="2671876"/>
            <a:ext cx="241069" cy="182880"/>
          </a:xfrm>
          <a:prstGeom prst="rect">
            <a:avLst/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206324" y="2671876"/>
            <a:ext cx="120534" cy="182880"/>
          </a:xfrm>
          <a:prstGeom prst="rect">
            <a:avLst/>
          </a:prstGeom>
          <a:solidFill>
            <a:srgbClr val="C48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326858" y="2671876"/>
            <a:ext cx="120534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447393" y="2671876"/>
            <a:ext cx="120534" cy="182880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622792" y="26353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03A5D"/>
                </a:solidFill>
                <a:latin typeface="Segoe UI"/>
              </a:rPr>
              <a:t>11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242048" y="2941624"/>
            <a:ext cx="91440" cy="91440"/>
          </a:xfrm>
          <a:prstGeom prst="roundRect">
            <a:avLst>
              <a:gd name="adj" fmla="val 3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70064" y="2909620"/>
            <a:ext cx="1100937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C2235"/>
                </a:solidFill>
                <a:latin typeface="Segoe UI"/>
              </a:rPr>
              <a:t>Travellunch ×4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342985" y="2941624"/>
            <a:ext cx="91440" cy="91440"/>
          </a:xfrm>
          <a:prstGeom prst="roundRect">
            <a:avLst>
              <a:gd name="adj" fmla="val 3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471001" y="2909620"/>
            <a:ext cx="128198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C2235"/>
                </a:solidFill>
                <a:latin typeface="Segoe UI"/>
              </a:rPr>
              <a:t>Adventure Menu ×2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242048" y="3097072"/>
            <a:ext cx="91440" cy="91440"/>
          </a:xfrm>
          <a:prstGeom prst="roundRect">
            <a:avLst>
              <a:gd name="adj" fmla="val 3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70064" y="3065068"/>
            <a:ext cx="98023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C2235"/>
                </a:solidFill>
                <a:latin typeface="Segoe UI"/>
              </a:rPr>
              <a:t>SubliMate ×2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222284" y="3097072"/>
            <a:ext cx="91440" cy="91440"/>
          </a:xfrm>
          <a:prstGeom prst="roundRect">
            <a:avLst>
              <a:gd name="adj" fmla="val 30000"/>
            </a:avLst>
          </a:prstGeom>
          <a:solidFill>
            <a:srgbClr val="C48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350300" y="3065068"/>
            <a:ext cx="1100937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C2235"/>
                </a:solidFill>
                <a:latin typeface="Segoe UI"/>
              </a:rPr>
              <a:t>Mountain House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323222" y="3097072"/>
            <a:ext cx="91440" cy="91440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451238" y="3065068"/>
            <a:ext cx="55778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C2235"/>
                </a:solidFill>
                <a:latin typeface="Segoe UI"/>
              </a:rPr>
              <a:t>Харчі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242048" y="3252520"/>
            <a:ext cx="91440" cy="91440"/>
          </a:xfrm>
          <a:prstGeom prst="roundRect">
            <a:avLst>
              <a:gd name="adj" fmla="val 30000"/>
            </a:avLst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70064" y="3220516"/>
            <a:ext cx="55778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C2235"/>
                </a:solidFill>
                <a:latin typeface="Segoe UI"/>
              </a:rPr>
              <a:t>!FEST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305288" y="2764231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5E4B94"/>
                </a:solidFill>
                <a:latin typeface="Segoe UI"/>
              </a:rPr>
              <a:t>133–699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352544" y="3295497"/>
            <a:ext cx="7235921" cy="623620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4443983" y="3368649"/>
            <a:ext cx="381853" cy="4773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Picture 78" descr="image.jpe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62272" y="3434669"/>
            <a:ext cx="345277" cy="345277"/>
          </a:xfrm>
          <a:prstGeom prst="rect">
            <a:avLst/>
          </a:prstGeom>
        </p:spPr>
      </p:pic>
      <p:sp>
        <p:nvSpPr>
          <p:cNvPr id="80" name="Rounded Rectangle 79"/>
          <p:cNvSpPr/>
          <p:nvPr/>
        </p:nvSpPr>
        <p:spPr>
          <a:xfrm>
            <a:off x="4880701" y="3368649"/>
            <a:ext cx="381853" cy="4773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1" name="Picture 80" descr="image.jpe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98989" y="3392300"/>
            <a:ext cx="345277" cy="430015"/>
          </a:xfrm>
          <a:prstGeom prst="rect">
            <a:avLst/>
          </a:prstGeom>
        </p:spPr>
      </p:pic>
      <p:sp>
        <p:nvSpPr>
          <p:cNvPr id="82" name="Rounded Rectangle 81"/>
          <p:cNvSpPr/>
          <p:nvPr/>
        </p:nvSpPr>
        <p:spPr>
          <a:xfrm>
            <a:off x="5317418" y="3368649"/>
            <a:ext cx="381853" cy="4773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3" name="Picture 82" descr="image.jpe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35706" y="3412946"/>
            <a:ext cx="345277" cy="388722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6053328" y="3424428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303A5D"/>
                </a:solidFill>
                <a:latin typeface="Segoe UI"/>
              </a:rPr>
              <a:t>133–146 г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242048" y="3368649"/>
            <a:ext cx="361603" cy="18288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03651" y="3368649"/>
            <a:ext cx="241069" cy="182880"/>
          </a:xfrm>
          <a:prstGeom prst="rect">
            <a:avLst/>
          </a:prstGeom>
          <a:solidFill>
            <a:srgbClr val="5B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844720" y="3368649"/>
            <a:ext cx="120534" cy="182880"/>
          </a:xfrm>
          <a:prstGeom prst="rect">
            <a:avLst/>
          </a:prstGeom>
          <a:solidFill>
            <a:srgbClr val="C48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965255" y="3368649"/>
            <a:ext cx="120534" cy="182880"/>
          </a:xfrm>
          <a:prstGeom prst="rect">
            <a:avLst/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622792" y="3332073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7242048" y="3638397"/>
            <a:ext cx="91440" cy="91440"/>
          </a:xfrm>
          <a:prstGeom prst="roundRect">
            <a:avLst>
              <a:gd name="adj" fmla="val 3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370064" y="3606393"/>
            <a:ext cx="1100937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C2235"/>
                </a:solidFill>
                <a:latin typeface="Segoe UI"/>
              </a:rPr>
              <a:t>Qiaoshanmei ×3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8342985" y="3638397"/>
            <a:ext cx="91440" cy="91440"/>
          </a:xfrm>
          <a:prstGeom prst="roundRect">
            <a:avLst>
              <a:gd name="adj" fmla="val 30000"/>
            </a:avLst>
          </a:prstGeom>
          <a:solidFill>
            <a:srgbClr val="5B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471001" y="3606393"/>
            <a:ext cx="128198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C2235"/>
                </a:solidFill>
                <a:latin typeface="Segoe UI"/>
              </a:rPr>
              <a:t>Adventure Food ×2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7242048" y="3793845"/>
            <a:ext cx="91440" cy="91440"/>
          </a:xfrm>
          <a:prstGeom prst="roundRect">
            <a:avLst>
              <a:gd name="adj" fmla="val 30000"/>
            </a:avLst>
          </a:prstGeom>
          <a:solidFill>
            <a:srgbClr val="C48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370064" y="3761841"/>
            <a:ext cx="1100937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C2235"/>
                </a:solidFill>
                <a:latin typeface="Segoe UI"/>
              </a:rPr>
              <a:t>Mountain House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8342985" y="3793845"/>
            <a:ext cx="91440" cy="91440"/>
          </a:xfrm>
          <a:prstGeom prst="roundRect">
            <a:avLst>
              <a:gd name="adj" fmla="val 3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471001" y="3761841"/>
            <a:ext cx="79918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C2235"/>
                </a:solidFill>
                <a:latin typeface="Segoe UI"/>
              </a:rPr>
              <a:t>SubliMate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305288" y="3461004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5E4B94"/>
                </a:solidFill>
                <a:latin typeface="Segoe UI"/>
              </a:rPr>
              <a:t>309–699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4352544" y="3992270"/>
            <a:ext cx="7235921" cy="623620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4443983" y="4065422"/>
            <a:ext cx="381853" cy="4773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1" name="Picture 100" descr="image.jpe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62272" y="4089072"/>
            <a:ext cx="345277" cy="430015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6053328" y="41212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303A5D"/>
                </a:solidFill>
                <a:latin typeface="Segoe UI"/>
              </a:rPr>
              <a:t>250 г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242048" y="4065422"/>
            <a:ext cx="361603" cy="18288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622792" y="402884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7242048" y="4335170"/>
            <a:ext cx="91440" cy="91440"/>
          </a:xfrm>
          <a:prstGeom prst="roundRect">
            <a:avLst>
              <a:gd name="adj" fmla="val 3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370064" y="4303166"/>
            <a:ext cx="1100937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C2235"/>
                </a:solidFill>
                <a:latin typeface="Segoe UI"/>
              </a:rPr>
              <a:t>Travellunch ×3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305288" y="4157776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5E4B94"/>
                </a:solidFill>
                <a:latin typeface="Segoe UI"/>
              </a:rPr>
              <a:t>415–889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4352544" y="4689043"/>
            <a:ext cx="7235921" cy="623620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4443983" y="4762195"/>
            <a:ext cx="381853" cy="4773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0" name="Picture 109" descr="image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2272" y="4786630"/>
            <a:ext cx="345277" cy="428446"/>
          </a:xfrm>
          <a:prstGeom prst="rect">
            <a:avLst/>
          </a:prstGeom>
        </p:spPr>
      </p:pic>
      <p:sp>
        <p:nvSpPr>
          <p:cNvPr id="111" name="TextBox 110"/>
          <p:cNvSpPr txBox="1"/>
          <p:nvPr/>
        </p:nvSpPr>
        <p:spPr>
          <a:xfrm>
            <a:off x="6053328" y="4817973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303A5D"/>
                </a:solidFill>
                <a:latin typeface="Segoe UI"/>
              </a:rPr>
              <a:t>маса н/д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242048" y="4762195"/>
            <a:ext cx="241069" cy="182880"/>
          </a:xfrm>
          <a:prstGeom prst="rect">
            <a:avLst/>
          </a:prstGeom>
          <a:solidFill>
            <a:srgbClr val="5E4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622792" y="4725619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7242048" y="5031943"/>
            <a:ext cx="91440" cy="91440"/>
          </a:xfrm>
          <a:prstGeom prst="roundRect">
            <a:avLst>
              <a:gd name="adj" fmla="val 30000"/>
            </a:avLst>
          </a:prstGeom>
          <a:solidFill>
            <a:srgbClr val="5E4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370064" y="4999939"/>
            <a:ext cx="1040587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C2235"/>
                </a:solidFill>
                <a:latin typeface="Segoe UI"/>
              </a:rPr>
              <a:t>Trek'n Eat ×2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305288" y="4854549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5E4B94"/>
                </a:solidFill>
                <a:latin typeface="Segoe UI"/>
              </a:rPr>
              <a:t>269–715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4352544" y="5422392"/>
            <a:ext cx="7235921" cy="923543"/>
          </a:xfrm>
          <a:prstGeom prst="roundRect">
            <a:avLst>
              <a:gd name="adj" fmla="val 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4352544" y="5422392"/>
            <a:ext cx="82296" cy="923543"/>
          </a:xfrm>
          <a:prstGeom prst="roundRect">
            <a:avLst>
              <a:gd name="adj" fmla="val 50000"/>
            </a:avLst>
          </a:prstGeom>
          <a:solidFill>
            <a:srgbClr val="5E4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663440" y="5605272"/>
            <a:ext cx="6687281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D5DBEA"/>
                </a:solidFill>
                <a:latin typeface="Segoe UI"/>
              </a:rPr>
              <a:t>34 позицій, але 31 із них — сублімат для походів: вага 80–250 г, ціни 55–889 грн. Це туристичний канал, а не мережева полиця: без туристичних магазинів частка дойпаку падає з 32 % до 5 %.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03504" y="647395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Позиції — за картками продавців; грамаж — вага готової страви (для сухого рису й сублімату — вага продукту). Медіана — за мінімальною ціною позиції. Ціни за одну упаковку, без опту.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C95C"/>
                </a:solidFill>
                <a:latin typeface="Segoe UI"/>
              </a:rPr>
              <a:t>ДОЙПАК · КАТАЛОГ 1 З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Дойпак: імпортний сублімат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717890"/>
                </a:solidFill>
                <a:latin typeface="Segoe UI"/>
              </a:rPr>
              <a:t>Travellunch, Trek'n Eat, Mountain House, Adventure Food.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645920"/>
            <a:ext cx="1470877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7512" y="1709928"/>
            <a:ext cx="1342861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493" y="1746504"/>
            <a:ext cx="736898" cy="914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4088" y="2761488"/>
            <a:ext cx="126970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Бефстроганов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145536"/>
            <a:ext cx="12697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5E4B94"/>
                </a:solidFill>
                <a:latin typeface="Segoe UI"/>
              </a:rPr>
              <a:t>TRAVELLUNCH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125 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3328416"/>
            <a:ext cx="1269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275–515 грн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3621024"/>
            <a:ext cx="126970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Гайдамака · ALANTUR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84109" y="1645920"/>
            <a:ext cx="1470877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248117" y="1709928"/>
            <a:ext cx="1342861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2443" y="1746504"/>
            <a:ext cx="734209" cy="914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284693" y="2761488"/>
            <a:ext cx="126970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Яловичина з перцем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4693" y="3145536"/>
            <a:ext cx="12697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5E4B94"/>
                </a:solidFill>
                <a:latin typeface="Segoe UI"/>
              </a:rPr>
              <a:t>TRAVELLUNCH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125 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4693" y="3328416"/>
            <a:ext cx="1269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295–515 грн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4693" y="3621024"/>
            <a:ext cx="126970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Гайдамака · ALANTUR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64715" y="1645920"/>
            <a:ext cx="1470877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828723" y="1709928"/>
            <a:ext cx="1342861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3807" y="1746504"/>
            <a:ext cx="712694" cy="9144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865299" y="2761488"/>
            <a:ext cx="126970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Nasi Goreng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65299" y="3145536"/>
            <a:ext cx="12697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5E4B94"/>
                </a:solidFill>
                <a:latin typeface="Segoe UI"/>
              </a:rPr>
              <a:t>TRAVELLUNCH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125 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65299" y="3328416"/>
            <a:ext cx="1269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567 грн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65299" y="3621024"/>
            <a:ext cx="126970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ALANTUR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45321" y="1645920"/>
            <a:ext cx="1470877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409329" y="1709928"/>
            <a:ext cx="1342861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04242" y="1746504"/>
            <a:ext cx="753035" cy="9144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445905" y="2761488"/>
            <a:ext cx="126970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Курка карі з рисом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45905" y="3145536"/>
            <a:ext cx="12697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5E4B94"/>
                </a:solidFill>
                <a:latin typeface="Segoe UI"/>
              </a:rPr>
              <a:t>TRAVELLUNCH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125 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5905" y="3328416"/>
            <a:ext cx="1269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515 грн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45905" y="3621024"/>
            <a:ext cx="126970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ALANTUR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25926" y="1645920"/>
            <a:ext cx="1470877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989934" y="1709928"/>
            <a:ext cx="1342861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94261" y="1746504"/>
            <a:ext cx="734209" cy="9144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026510" y="2761488"/>
            <a:ext cx="126970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Бефстроганов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26510" y="3145536"/>
            <a:ext cx="12697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5E4B94"/>
                </a:solidFill>
                <a:latin typeface="Segoe UI"/>
              </a:rPr>
              <a:t>TRAVELLUNCH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26510" y="3328416"/>
            <a:ext cx="1269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415–811 грн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26510" y="3621024"/>
            <a:ext cx="126970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Freeride · Highlander · ForCamp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506532" y="1645920"/>
            <a:ext cx="1470877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570540" y="1709928"/>
            <a:ext cx="1342861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85624" y="1746504"/>
            <a:ext cx="712694" cy="9144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607116" y="2761488"/>
            <a:ext cx="126970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Яловичина з перцем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07116" y="3145536"/>
            <a:ext cx="12697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5E4B94"/>
                </a:solidFill>
                <a:latin typeface="Segoe UI"/>
              </a:rPr>
              <a:t>TRAVELLUNCH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07116" y="3328416"/>
            <a:ext cx="1269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811 грн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07116" y="3621024"/>
            <a:ext cx="126970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ALANTUR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087138" y="1645920"/>
            <a:ext cx="1470877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0151146" y="1709928"/>
            <a:ext cx="1342861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jpe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66230" y="1746504"/>
            <a:ext cx="712694" cy="91440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0187722" y="2761488"/>
            <a:ext cx="126970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Nasi Goreng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187722" y="3145536"/>
            <a:ext cx="12697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5E4B94"/>
                </a:solidFill>
                <a:latin typeface="Segoe UI"/>
              </a:rPr>
              <a:t>TRAVELLUNCH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87722" y="3328416"/>
            <a:ext cx="1269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889 грн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187722" y="3621024"/>
            <a:ext cx="126970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ALANTUR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03504" y="4078224"/>
            <a:ext cx="1470877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67512" y="4142232"/>
            <a:ext cx="1342861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493" y="4178808"/>
            <a:ext cx="736898" cy="91440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704088" y="5193792"/>
            <a:ext cx="126970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Риба з рисом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04088" y="5577840"/>
            <a:ext cx="12697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5E4B94"/>
                </a:solidFill>
                <a:latin typeface="Segoe UI"/>
              </a:rPr>
              <a:t>TREK'N EAT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маса н/д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04088" y="5760720"/>
            <a:ext cx="1269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269 грн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4088" y="6053327"/>
            <a:ext cx="126970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Freeride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184109" y="4078224"/>
            <a:ext cx="1470877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2248117" y="4142232"/>
            <a:ext cx="1342861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image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2443" y="4178808"/>
            <a:ext cx="734209" cy="91440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2284693" y="5193792"/>
            <a:ext cx="126970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Бефстроганов з рисом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284693" y="5577840"/>
            <a:ext cx="12697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5E4B94"/>
                </a:solidFill>
                <a:latin typeface="Segoe UI"/>
              </a:rPr>
              <a:t>TREK'N EAT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маса н/д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284693" y="5760720"/>
            <a:ext cx="1269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715 грн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84693" y="6053327"/>
            <a:ext cx="126970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Kamanti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764715" y="4078224"/>
            <a:ext cx="1470877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28723" y="4142232"/>
            <a:ext cx="1342861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image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3807" y="4178808"/>
            <a:ext cx="712694" cy="914400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3865299" y="5193792"/>
            <a:ext cx="126970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Жовте карі з куркою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865299" y="5577840"/>
            <a:ext cx="12697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5E4B94"/>
                </a:solidFill>
                <a:latin typeface="Segoe UI"/>
              </a:rPr>
              <a:t>MOUNTAIN HOUSE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110 г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865299" y="5760720"/>
            <a:ext cx="1269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699 грн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65299" y="6053327"/>
            <a:ext cx="126970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110вольт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345321" y="4078224"/>
            <a:ext cx="1470877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5409329" y="4142232"/>
            <a:ext cx="1342861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2" name="Picture 81" descr="image.jpe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74658" y="4178808"/>
            <a:ext cx="812202" cy="914400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5445905" y="5193792"/>
            <a:ext cx="126970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Chicken Fried Rice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45905" y="5577840"/>
            <a:ext cx="12697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5E4B94"/>
                </a:solidFill>
                <a:latin typeface="Segoe UI"/>
              </a:rPr>
              <a:t>MOUNTAIN HOUSE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133 г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445905" y="5760720"/>
            <a:ext cx="1269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699 грн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445905" y="6053327"/>
            <a:ext cx="126970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110вольт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925926" y="4078224"/>
            <a:ext cx="1470877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6989934" y="4142232"/>
            <a:ext cx="1342861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9" name="Picture 88" descr="image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94261" y="4178808"/>
            <a:ext cx="734209" cy="914400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7026510" y="5193792"/>
            <a:ext cx="126970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Рис карі з фруктами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026510" y="5577840"/>
            <a:ext cx="12697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5E4B94"/>
                </a:solidFill>
                <a:latin typeface="Segoe UI"/>
              </a:rPr>
              <a:t>ADVENTURE FOOD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146 г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026510" y="5760720"/>
            <a:ext cx="1269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492 грн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026510" y="6053327"/>
            <a:ext cx="126970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Клуб Мандрівник · ще 3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8506532" y="4078224"/>
            <a:ext cx="1470877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8570540" y="4142232"/>
            <a:ext cx="1342861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6" name="Picture 95" descr="af_cashew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84771" y="4178808"/>
            <a:ext cx="914400" cy="914400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8607116" y="5193792"/>
            <a:ext cx="126970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Nasi Cashew: індонезійський рис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607116" y="5577840"/>
            <a:ext cx="12697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5E4B94"/>
                </a:solidFill>
                <a:latin typeface="Segoe UI"/>
              </a:rPr>
              <a:t>ADVENTURE FOOD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140 г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607116" y="5760720"/>
            <a:ext cx="1269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492 грн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607116" y="6053327"/>
            <a:ext cx="126970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UA-market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03504" y="647395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Фото, вага й ціна — з карток продавців; ціна за одну упаковку (від–до серед продавців). Колір назви бренду: золотий — розігрів, бірюзовий — під окріп, рожевий — саморозігрів, фіолетовий — сублімат.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C95C"/>
                </a:solidFill>
                <a:latin typeface="Segoe UI"/>
              </a:rPr>
              <a:t>ДОЙПАК · КАТАЛОГ 2 З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Дойпак: Adventure Menu, SubliMate, Qiaoshanmei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717890"/>
                </a:solidFill>
                <a:latin typeface="Segoe UI"/>
              </a:rPr>
              <a:t>Adventure Menu — єдиний бренд у двох форматах (пауч 400 г і сублімат 110 г). Qiaoshanmei — сухий рис під окріп, не сублімат.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645920"/>
            <a:ext cx="2656332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7512" y="1709928"/>
            <a:ext cx="2528316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470" y="1746504"/>
            <a:ext cx="914400" cy="914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4088" y="2761488"/>
            <a:ext cx="24551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Гостра яловичина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145536"/>
            <a:ext cx="24551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E9EA6"/>
                </a:solidFill>
                <a:latin typeface="Segoe UI"/>
              </a:rPr>
              <a:t>QIAOSHANMEI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146 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3328416"/>
            <a:ext cx="24551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501 грн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3621024"/>
            <a:ext cx="24551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Скарби Азії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69564" y="1645920"/>
            <a:ext cx="2656332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33572" y="1709928"/>
            <a:ext cx="2528316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0530" y="1746504"/>
            <a:ext cx="914400" cy="914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470148" y="2761488"/>
            <a:ext cx="24551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Свинина по-тайванськи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0148" y="3145536"/>
            <a:ext cx="24551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E9EA6"/>
                </a:solidFill>
                <a:latin typeface="Segoe UI"/>
              </a:rPr>
              <a:t>QIAOSHANMEI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146 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0148" y="3328416"/>
            <a:ext cx="24551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501 грн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0148" y="3621024"/>
            <a:ext cx="24551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Скарби Азії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35624" y="1645920"/>
            <a:ext cx="2656332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99632" y="1709928"/>
            <a:ext cx="2528316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8275" y="1746504"/>
            <a:ext cx="831028" cy="9144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236208" y="2761488"/>
            <a:ext cx="24551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Korma з басматі · сублімат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6208" y="3145536"/>
            <a:ext cx="24551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5E4B94"/>
                </a:solidFill>
                <a:latin typeface="Segoe UI"/>
              </a:rPr>
              <a:t>ADVENTURE MENU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110 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6208" y="3328416"/>
            <a:ext cx="24551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378–483 грн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6208" y="3621024"/>
            <a:ext cx="24551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Лєєр · OXO · MK · Freeride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01684" y="1645920"/>
            <a:ext cx="2656332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965692" y="1709928"/>
            <a:ext cx="2528316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2991" y="1746504"/>
            <a:ext cx="833717" cy="9144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002268" y="2761488"/>
            <a:ext cx="24551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Tikka Masala · сублімат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2268" y="3145536"/>
            <a:ext cx="24551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5E4B94"/>
                </a:solidFill>
                <a:latin typeface="Segoe UI"/>
              </a:rPr>
              <a:t>ADVENTURE MENU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110 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2268" y="3328416"/>
            <a:ext cx="24551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390–483 грн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02268" y="3621024"/>
            <a:ext cx="24551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Palmer · Лєєр · MK · Freeride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3504" y="4078224"/>
            <a:ext cx="2656332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67512" y="4142232"/>
            <a:ext cx="2528316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36326" y="4178808"/>
            <a:ext cx="790687" cy="9144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04088" y="5193792"/>
            <a:ext cx="24551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Плов узбецький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8" y="5577840"/>
            <a:ext cx="24551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5E4B94"/>
                </a:solidFill>
                <a:latin typeface="Segoe UI"/>
              </a:rPr>
              <a:t>SUBLIMATE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140 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8" y="5760720"/>
            <a:ext cx="24551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309–310 грн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8" y="6053327"/>
            <a:ext cx="24551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Highlander · ВсеОпт · Суренж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369564" y="4078224"/>
            <a:ext cx="2656332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433572" y="4142232"/>
            <a:ext cx="2528316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38564" y="4178808"/>
            <a:ext cx="1118330" cy="9144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3470148" y="5193792"/>
            <a:ext cx="24551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Рис з куркою і фруктами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70148" y="5577840"/>
            <a:ext cx="24551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5E4B94"/>
                </a:solidFill>
                <a:latin typeface="Segoe UI"/>
              </a:rPr>
              <a:t>SUBLIMATE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110 г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70148" y="5760720"/>
            <a:ext cx="24551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290 грн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70148" y="6053327"/>
            <a:ext cx="24551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Highlander · Суренж · ВсеОпт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35624" y="4078224"/>
            <a:ext cx="2656332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199632" y="4142232"/>
            <a:ext cx="2528316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jpe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84582" y="4178808"/>
            <a:ext cx="758414" cy="91440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6236208" y="5193792"/>
            <a:ext cx="24551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Тайське зелене карі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36208" y="5577840"/>
            <a:ext cx="24551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5E4B94"/>
                </a:solidFill>
                <a:latin typeface="Segoe UI"/>
              </a:rPr>
              <a:t>SUBLIMATE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120 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36208" y="5760720"/>
            <a:ext cx="24551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370 грн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36208" y="6053327"/>
            <a:ext cx="24551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Highlander · ВсеОпт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901684" y="4078224"/>
            <a:ext cx="2656332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965692" y="4142232"/>
            <a:ext cx="2528316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qs_chicken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72650" y="4178808"/>
            <a:ext cx="914400" cy="91440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9002268" y="5193792"/>
            <a:ext cx="24551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Курка із зеленим перцем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02268" y="5577840"/>
            <a:ext cx="24551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E9EA6"/>
                </a:solidFill>
                <a:latin typeface="Segoe UI"/>
              </a:rPr>
              <a:t>QIAOSHANMEI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146 г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02268" y="5760720"/>
            <a:ext cx="24551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501 грн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02268" y="6053327"/>
            <a:ext cx="24551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Скарби Азії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03504" y="647395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Фото, вага й ціна — з карток продавців; ціна за одну упаковку (від–до серед продавців). Колір назви бренду: золотий — розігрів, бірюзовий — під окріп, рожевий — саморозігрів, фіолетовий — сублімат.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C95C"/>
                </a:solidFill>
                <a:latin typeface="Segoe UI"/>
              </a:rPr>
              <a:t>ДОЙПАК · КАТАЛОГ 3 З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Дойпак: український сублімат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717890"/>
                </a:solidFill>
                <a:latin typeface="Segoe UI"/>
              </a:rPr>
              <a:t>James Cook, Харчі, Їжа в Похід, !FEST — вага 80–100 г.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645920"/>
            <a:ext cx="1470877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7512" y="1709928"/>
            <a:ext cx="1342861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192" y="1746504"/>
            <a:ext cx="1079500" cy="914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4088" y="2761488"/>
            <a:ext cx="126970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Рис з м'ясом та овочами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145536"/>
            <a:ext cx="12697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5E4B94"/>
                </a:solidFill>
                <a:latin typeface="Segoe UI"/>
              </a:rPr>
              <a:t>JAMES COOK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90 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3328416"/>
            <a:ext cx="1269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83–138 грн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3621024"/>
            <a:ext cx="126970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Highlander · ВсеОпт · Klever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84109" y="1645920"/>
            <a:ext cx="1470877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248117" y="1709928"/>
            <a:ext cx="1342861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9798" y="1746504"/>
            <a:ext cx="1079500" cy="914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284693" y="2761488"/>
            <a:ext cx="126970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Карі з рисом та куркою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4693" y="3145536"/>
            <a:ext cx="12697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5E4B94"/>
                </a:solidFill>
                <a:latin typeface="Segoe UI"/>
              </a:rPr>
              <a:t>JAMES COOK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90 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4693" y="3328416"/>
            <a:ext cx="1269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73–133 грн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4693" y="3621024"/>
            <a:ext cx="126970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ВсеОпт · Highlander · Activity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64715" y="1645920"/>
            <a:ext cx="1470877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828723" y="1709928"/>
            <a:ext cx="1342861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6629" y="1746504"/>
            <a:ext cx="1087048" cy="9144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865299" y="2761488"/>
            <a:ext cx="126970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Машкічірі: рис з бобами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65299" y="3145536"/>
            <a:ext cx="12697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5E4B94"/>
                </a:solidFill>
                <a:latin typeface="Segoe UI"/>
              </a:rPr>
              <a:t>JAMES COOK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80 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65299" y="3328416"/>
            <a:ext cx="1269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156 грн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65299" y="3621024"/>
            <a:ext cx="126970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Highlander · Terra Incognita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45321" y="1645920"/>
            <a:ext cx="1470877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409329" y="1709928"/>
            <a:ext cx="1342861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9417" y="1746504"/>
            <a:ext cx="1022684" cy="9144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445905" y="2761488"/>
            <a:ext cx="126970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Рис з овочами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45905" y="3145536"/>
            <a:ext cx="12697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5E4B94"/>
                </a:solidFill>
                <a:latin typeface="Segoe UI"/>
              </a:rPr>
              <a:t>JAMES COOK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90 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5905" y="3328416"/>
            <a:ext cx="1269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55–81 грн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45905" y="3621024"/>
            <a:ext cx="126970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Highlander · ВсеОпт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25926" y="1645920"/>
            <a:ext cx="1470877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989934" y="1709928"/>
            <a:ext cx="1342861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53919" y="1746504"/>
            <a:ext cx="814891" cy="9144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026510" y="2761488"/>
            <a:ext cx="126970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Рис з куркою та овочами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26510" y="3145536"/>
            <a:ext cx="12697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5E4B94"/>
                </a:solidFill>
                <a:latin typeface="Segoe UI"/>
              </a:rPr>
              <a:t>ЇЖА В ПОХІД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85 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26510" y="3328416"/>
            <a:ext cx="1269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145 грн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26510" y="3621024"/>
            <a:ext cx="126970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власний магазин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506532" y="1645920"/>
            <a:ext cx="1470877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570540" y="1709928"/>
            <a:ext cx="1342861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30491" y="1746504"/>
            <a:ext cx="822960" cy="9144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607116" y="2761488"/>
            <a:ext cx="126970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Рис з овочами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07116" y="3145536"/>
            <a:ext cx="12697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5E4B94"/>
                </a:solidFill>
                <a:latin typeface="Segoe UI"/>
              </a:rPr>
              <a:t>ЇЖА В ПОХІД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85 г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07116" y="3328416"/>
            <a:ext cx="1269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130 грн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07116" y="3621024"/>
            <a:ext cx="126970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власний магазин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087138" y="1645920"/>
            <a:ext cx="1470877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0151146" y="1709928"/>
            <a:ext cx="1342861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jpe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40680" y="1746504"/>
            <a:ext cx="763792" cy="91440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0187722" y="2761488"/>
            <a:ext cx="126970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Рис зі свининою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187722" y="3145536"/>
            <a:ext cx="12697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5E4B94"/>
                </a:solidFill>
                <a:latin typeface="Segoe UI"/>
              </a:rPr>
              <a:t>ХАРЧІ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85 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87722" y="3328416"/>
            <a:ext cx="1269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120 грн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187722" y="3621024"/>
            <a:ext cx="126970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Харчі ТМ · Висот-Нік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03504" y="4078224"/>
            <a:ext cx="1470877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67512" y="4142232"/>
            <a:ext cx="1342861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192" y="4178808"/>
            <a:ext cx="1079500" cy="91440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704088" y="5193792"/>
            <a:ext cx="126970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Рисова каша з м'ясом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04088" y="5577840"/>
            <a:ext cx="12697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5E4B94"/>
                </a:solidFill>
                <a:latin typeface="Segoe UI"/>
              </a:rPr>
              <a:t>ХАРЧІ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85 г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04088" y="5760720"/>
            <a:ext cx="1269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120 грн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4088" y="6053327"/>
            <a:ext cx="126970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Highlander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184109" y="4078224"/>
            <a:ext cx="1470877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2248117" y="4142232"/>
            <a:ext cx="1342861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image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9798" y="4178808"/>
            <a:ext cx="1079500" cy="91440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2284693" y="5193792"/>
            <a:ext cx="126970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Кічрі: боби з рисом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284693" y="5577840"/>
            <a:ext cx="12697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5E4B94"/>
                </a:solidFill>
                <a:latin typeface="Segoe UI"/>
              </a:rPr>
              <a:t>ХАРЧІ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85 г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284693" y="5760720"/>
            <a:ext cx="1269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83 грн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84693" y="6053327"/>
            <a:ext cx="126970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Висот-Нік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764715" y="4078224"/>
            <a:ext cx="1470877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28723" y="4142232"/>
            <a:ext cx="1342861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image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6629" y="4178808"/>
            <a:ext cx="1087048" cy="914400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3865299" y="5193792"/>
            <a:ext cx="126970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Плов XL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865299" y="5577840"/>
            <a:ext cx="12697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5E4B94"/>
                </a:solidFill>
                <a:latin typeface="Segoe UI"/>
              </a:rPr>
              <a:t>ХАРЧІ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100 г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865299" y="5760720"/>
            <a:ext cx="1269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321 грн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65299" y="6053327"/>
            <a:ext cx="126970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8 продавців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345321" y="4078224"/>
            <a:ext cx="1470877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5409329" y="4142232"/>
            <a:ext cx="1342861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2" name="Picture 81" descr="image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9417" y="4178808"/>
            <a:ext cx="1022684" cy="914400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5445905" y="5193792"/>
            <a:ext cx="126970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Плов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45905" y="5577840"/>
            <a:ext cx="12697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5E4B94"/>
                </a:solidFill>
                <a:latin typeface="Segoe UI"/>
              </a:rPr>
              <a:t>!FEST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100 г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445905" y="5760720"/>
            <a:ext cx="1269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133–238 грн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445905" y="6053327"/>
            <a:ext cx="126970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SportStorm · Kalush-Craft · Вояджер · Військторг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925926" y="4078224"/>
            <a:ext cx="1470877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6989934" y="4142232"/>
            <a:ext cx="1342861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9" name="Picture 88" descr="kh_plov_veal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04165" y="4178808"/>
            <a:ext cx="914400" cy="914400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7026510" y="5193792"/>
            <a:ext cx="126970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Плов з басматі та телятиною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026510" y="5577840"/>
            <a:ext cx="12697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5E4B94"/>
                </a:solidFill>
                <a:latin typeface="Segoe UI"/>
              </a:rPr>
              <a:t>ХАРЧІ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85 г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026510" y="5760720"/>
            <a:ext cx="1269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195 грн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026510" y="6053327"/>
            <a:ext cx="126970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Харчі ТМ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8506532" y="4078224"/>
            <a:ext cx="1470877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8570540" y="4142232"/>
            <a:ext cx="1342861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6" name="Picture 95" descr="kh_plov_ric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84771" y="4178808"/>
            <a:ext cx="914400" cy="914400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8607116" y="5193792"/>
            <a:ext cx="126970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Плов: багато рису, курка й морква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607116" y="5577840"/>
            <a:ext cx="12697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5E4B94"/>
                </a:solidFill>
                <a:latin typeface="Segoe UI"/>
              </a:rPr>
              <a:t>ХАРЧІ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85 г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607116" y="5760720"/>
            <a:ext cx="1269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217 грн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607116" y="6053327"/>
            <a:ext cx="126970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Харчі ТМ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03504" y="647395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Фото, вага й ціна — з карток продавців; ціна за одну упаковку (від–до серед продавців). Колір назви бренду: золотий — розігрів, бірюзовий — під окріп, рожевий — саморозігрів, фіолетовий — сублімат.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C95C"/>
                </a:solidFill>
                <a:latin typeface="Segoe UI"/>
              </a:rPr>
              <a:t>ФОРМАТ 4 З 4 · КОРОБКА З НАГРІВАЧЕМ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Коробка з нагрівачем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717890"/>
                </a:solidFill>
                <a:latin typeface="Segoe UI"/>
              </a:rPr>
              <a:t>Найдорожчий формат: без техніки й окропу.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645920"/>
            <a:ext cx="3520440" cy="470001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3504" y="1645920"/>
            <a:ext cx="3520440" cy="91440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0664" y="1847088"/>
            <a:ext cx="3246120" cy="148132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hd_tomato_beef27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0371" y="1883664"/>
            <a:ext cx="1426704" cy="140817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4672" y="3438144"/>
            <a:ext cx="3154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717890"/>
                </a:solidFill>
                <a:latin typeface="Segoe UI"/>
              </a:rPr>
              <a:t>ПОЗИЦІЙ · БРЕНДІВ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593591"/>
            <a:ext cx="3154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>
                <a:solidFill>
                  <a:srgbClr val="303A5D"/>
                </a:solidFill>
                <a:latin typeface="Segoe UI"/>
              </a:rPr>
              <a:t>14 · 4  (13 % асортименту)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3877056"/>
            <a:ext cx="3154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717890"/>
                </a:solidFill>
                <a:latin typeface="Segoe UI"/>
              </a:rPr>
              <a:t>ГРАМАЖ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4032504"/>
            <a:ext cx="3154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>
                <a:solidFill>
                  <a:srgbClr val="303A5D"/>
                </a:solidFill>
                <a:latin typeface="Segoe UI"/>
              </a:rPr>
              <a:t>165–440 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315968"/>
            <a:ext cx="3154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717890"/>
                </a:solidFill>
                <a:latin typeface="Segoe UI"/>
              </a:rPr>
              <a:t>МЕДІАНА · ДІАПАЗОН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4471416"/>
            <a:ext cx="3154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>
                <a:solidFill>
                  <a:srgbClr val="303A5D"/>
                </a:solidFill>
                <a:latin typeface="Segoe UI"/>
              </a:rPr>
              <a:t>735 грн · 380–1 190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754880"/>
            <a:ext cx="3154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717890"/>
                </a:solidFill>
                <a:latin typeface="Segoe UI"/>
              </a:rPr>
              <a:t>ПРИГОТУВАННЯ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4910328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>
                <a:solidFill>
                  <a:srgbClr val="303A5D"/>
                </a:solidFill>
                <a:latin typeface="Segoe UI"/>
              </a:rPr>
              <a:t>Хімічний нагрівач, 15 хв, без техніки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5340096"/>
            <a:ext cx="3154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717890"/>
                </a:solidFill>
                <a:latin typeface="Segoe UI"/>
              </a:rPr>
              <a:t>ПОХОДЖЕННЯ БРЕНДІВ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5495544"/>
            <a:ext cx="3154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>
                <a:solidFill>
                  <a:srgbClr val="303A5D"/>
                </a:solidFill>
                <a:latin typeface="Segoe UI"/>
              </a:rPr>
              <a:t>Китай 3 · ЄС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5779008"/>
            <a:ext cx="3154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717890"/>
                </a:solidFill>
                <a:latin typeface="Segoe UI"/>
              </a:rPr>
              <a:t>ПРОДАВЦІ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5934456"/>
            <a:ext cx="3154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>
                <a:solidFill>
                  <a:srgbClr val="303A5D"/>
                </a:solidFill>
                <a:latin typeface="Segoe UI"/>
              </a:rPr>
              <a:t>Daruy, Скарби Азії, Sweet Svitt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25696" y="1664208"/>
            <a:ext cx="16276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ФОТО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53328" y="1664208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ГРАМАЖ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42048" y="1664208"/>
            <a:ext cx="3063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ПОЗИЦІЙ · КОЛІР = БРЕНД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05288" y="1664208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ЦІНА, ГРН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52544" y="1901952"/>
            <a:ext cx="7235921" cy="797814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443983" y="1975104"/>
            <a:ext cx="512064" cy="65151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272" y="2058117"/>
            <a:ext cx="475488" cy="485483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053328" y="2117979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303A5D"/>
                </a:solidFill>
                <a:latin typeface="Segoe UI"/>
              </a:rPr>
              <a:t>165–187 г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42048" y="1975104"/>
            <a:ext cx="1325880" cy="18288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22792" y="193852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42048" y="2244852"/>
            <a:ext cx="91440" cy="91440"/>
          </a:xfrm>
          <a:prstGeom prst="roundRect">
            <a:avLst>
              <a:gd name="adj" fmla="val 3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70064" y="2212848"/>
            <a:ext cx="91988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C2235"/>
                </a:solidFill>
                <a:latin typeface="Segoe UI"/>
              </a:rPr>
              <a:t>Haidilao ×6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05288" y="2154555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C94F7C"/>
                </a:solidFill>
                <a:latin typeface="Segoe UI"/>
              </a:rPr>
              <a:t>380–680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52544" y="2772918"/>
            <a:ext cx="7235921" cy="797814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443983" y="2846070"/>
            <a:ext cx="512064" cy="65151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2272" y="2934081"/>
            <a:ext cx="475488" cy="47548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053328" y="2988945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303A5D"/>
                </a:solidFill>
                <a:latin typeface="Segoe UI"/>
              </a:rPr>
              <a:t>272 г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42048" y="2846070"/>
            <a:ext cx="662940" cy="18288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22792" y="280949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242048" y="3115818"/>
            <a:ext cx="91440" cy="91440"/>
          </a:xfrm>
          <a:prstGeom prst="roundRect">
            <a:avLst>
              <a:gd name="adj" fmla="val 3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70064" y="3083814"/>
            <a:ext cx="91988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C2235"/>
                </a:solidFill>
                <a:latin typeface="Segoe UI"/>
              </a:rPr>
              <a:t>Haidilao ×3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05288" y="3025521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C94F7C"/>
                </a:solidFill>
                <a:latin typeface="Segoe UI"/>
              </a:rPr>
              <a:t>770–799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52544" y="3643884"/>
            <a:ext cx="7235921" cy="797814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443983" y="3717036"/>
            <a:ext cx="463296" cy="65151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2272" y="3829430"/>
            <a:ext cx="426720" cy="426720"/>
          </a:xfrm>
          <a:prstGeom prst="rect">
            <a:avLst/>
          </a:prstGeom>
        </p:spPr>
      </p:pic>
      <p:sp>
        <p:nvSpPr>
          <p:cNvPr id="51" name="Rounded Rectangle 50"/>
          <p:cNvSpPr/>
          <p:nvPr/>
        </p:nvSpPr>
        <p:spPr>
          <a:xfrm>
            <a:off x="4962143" y="3717036"/>
            <a:ext cx="463296" cy="65151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image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0432" y="3829430"/>
            <a:ext cx="426720" cy="426720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5480303" y="3717036"/>
            <a:ext cx="463296" cy="65151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98592" y="3829430"/>
            <a:ext cx="426720" cy="42672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6053328" y="3859911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303A5D"/>
                </a:solidFill>
                <a:latin typeface="Segoe UI"/>
              </a:rPr>
              <a:t>360–440 г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42048" y="3717036"/>
            <a:ext cx="441960" cy="18288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684007" y="3717036"/>
            <a:ext cx="220980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904988" y="3717036"/>
            <a:ext cx="220980" cy="182880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22792" y="36804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242048" y="3986784"/>
            <a:ext cx="91440" cy="91440"/>
          </a:xfrm>
          <a:prstGeom prst="roundRect">
            <a:avLst>
              <a:gd name="adj" fmla="val 3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70064" y="3954780"/>
            <a:ext cx="91988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C2235"/>
                </a:solidFill>
                <a:latin typeface="Segoe UI"/>
              </a:rPr>
              <a:t>Haidilao ×2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161934" y="3986784"/>
            <a:ext cx="91440" cy="91440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89950" y="3954780"/>
            <a:ext cx="73883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C2235"/>
                </a:solidFill>
                <a:latin typeface="Segoe UI"/>
              </a:rPr>
              <a:t>Zihaiguo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900769" y="3986784"/>
            <a:ext cx="91440" cy="91440"/>
          </a:xfrm>
          <a:prstGeom prst="roundRect">
            <a:avLst>
              <a:gd name="adj" fmla="val 30000"/>
            </a:avLst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028785" y="3954780"/>
            <a:ext cx="116128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C2235"/>
                </a:solidFill>
                <a:latin typeface="Segoe UI"/>
              </a:rPr>
              <a:t>Rongcheng Haoji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305288" y="3896487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C94F7C"/>
                </a:solidFill>
                <a:latin typeface="Segoe UI"/>
              </a:rPr>
              <a:t>735–1 190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352544" y="4514850"/>
            <a:ext cx="7235921" cy="797814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4443983" y="4588002"/>
            <a:ext cx="512064" cy="65151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forestia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62272" y="4676013"/>
            <a:ext cx="475488" cy="475488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6053328" y="4730877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303A5D"/>
                </a:solidFill>
                <a:latin typeface="Segoe UI"/>
              </a:rPr>
              <a:t>маса н/д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242048" y="4588002"/>
            <a:ext cx="220980" cy="18288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622792" y="455142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242048" y="4857750"/>
            <a:ext cx="91440" cy="91440"/>
          </a:xfrm>
          <a:prstGeom prst="roundRect">
            <a:avLst>
              <a:gd name="adj" fmla="val 3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370064" y="4825746"/>
            <a:ext cx="73883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C2235"/>
                </a:solidFill>
                <a:latin typeface="Segoe UI"/>
              </a:rPr>
              <a:t>Forestia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305288" y="4767453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C94F7C"/>
                </a:solidFill>
                <a:latin typeface="Segoe UI"/>
              </a:rPr>
              <a:t>935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352544" y="5422392"/>
            <a:ext cx="7235921" cy="923543"/>
          </a:xfrm>
          <a:prstGeom prst="roundRect">
            <a:avLst>
              <a:gd name="adj" fmla="val 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4352544" y="5422392"/>
            <a:ext cx="82296" cy="923543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663440" y="5605272"/>
            <a:ext cx="6687281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D5DBEA"/>
                </a:solidFill>
                <a:latin typeface="Segoe UI"/>
              </a:rPr>
              <a:t>14 позицій і 4 бренди: Haidilao дає 11 із 14. Нагрівач у коробці замінює мікрохвильовку, але медіана 735 грн — у 6,2 раза вища за пауч (118 грн).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3504" y="647395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Позиції — за картками продавців; грамаж — вага готової страви (для сухого рису й сублімату — вага продукту). Медіана — за мінімальною ціною позиції. Ціни за одну упаковку, без опту.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C95C"/>
                </a:solidFill>
                <a:latin typeface="Segoe UI"/>
              </a:rPr>
              <a:t>КОРОБКА · КАТАЛОГ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Коробка з нагрівачем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717890"/>
                </a:solidFill>
                <a:latin typeface="Segoe UI"/>
              </a:rPr>
              <a:t>Haidilao, Zihaiguo, Rongcheng Haoji, Forestia — без техніки й окропу, 15 хв.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645920"/>
            <a:ext cx="1470877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7512" y="1709928"/>
            <a:ext cx="1342861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155" y="1746504"/>
            <a:ext cx="895574" cy="914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4088" y="2761488"/>
            <a:ext cx="126970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Stewed Chicken*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145536"/>
            <a:ext cx="12697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4F7C"/>
                </a:solidFill>
                <a:latin typeface="Segoe UI"/>
              </a:rPr>
              <a:t>HAIDILAO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165 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3328416"/>
            <a:ext cx="1269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380 грн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3621024"/>
            <a:ext cx="126970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Sweet Svitt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84109" y="1645920"/>
            <a:ext cx="1470877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248117" y="1709928"/>
            <a:ext cx="1342861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2348" y="1746504"/>
            <a:ext cx="914400" cy="914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284693" y="2761488"/>
            <a:ext cx="126970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Яловичина з карі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4693" y="3145536"/>
            <a:ext cx="12697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4F7C"/>
                </a:solidFill>
                <a:latin typeface="Segoe UI"/>
              </a:rPr>
              <a:t>HAIDILAO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272 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4693" y="3328416"/>
            <a:ext cx="1269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770–799 грн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4693" y="3621024"/>
            <a:ext cx="126970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Daruy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64715" y="1645920"/>
            <a:ext cx="1470877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828723" y="1709928"/>
            <a:ext cx="1342861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2954" y="1746504"/>
            <a:ext cx="914400" cy="9144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865299" y="2761488"/>
            <a:ext cx="126970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Тушкована яловичина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65299" y="3145536"/>
            <a:ext cx="12697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4F7C"/>
                </a:solidFill>
                <a:latin typeface="Segoe UI"/>
              </a:rPr>
              <a:t>HAIDILAO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272 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65299" y="3328416"/>
            <a:ext cx="1269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799 грн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65299" y="3621024"/>
            <a:ext cx="126970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Daruy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45321" y="1645920"/>
            <a:ext cx="1470877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409329" y="1709928"/>
            <a:ext cx="1342861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6736" y="1746504"/>
            <a:ext cx="928047" cy="9144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445905" y="2761488"/>
            <a:ext cx="126970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Томати й грудинка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45905" y="3145536"/>
            <a:ext cx="12697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4F7C"/>
                </a:solidFill>
                <a:latin typeface="Segoe UI"/>
              </a:rPr>
              <a:t>HAIDILAO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272 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5905" y="3328416"/>
            <a:ext cx="1269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799 грн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45905" y="3621024"/>
            <a:ext cx="126970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Daruy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25926" y="1645920"/>
            <a:ext cx="1470877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989934" y="1709928"/>
            <a:ext cx="1342861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4165" y="1746504"/>
            <a:ext cx="914400" cy="9144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026510" y="2761488"/>
            <a:ext cx="126970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Кантонський стиль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26510" y="3145536"/>
            <a:ext cx="12697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4F7C"/>
                </a:solidFill>
                <a:latin typeface="Segoe UI"/>
              </a:rPr>
              <a:t>HAIDILAO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187 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26510" y="3328416"/>
            <a:ext cx="1269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680 грн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26510" y="3621024"/>
            <a:ext cx="126970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Daruy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506532" y="1645920"/>
            <a:ext cx="1470877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570540" y="1709928"/>
            <a:ext cx="1342861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4184" y="1746504"/>
            <a:ext cx="895574" cy="9144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607116" y="2761488"/>
            <a:ext cx="126970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Тушкована курка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07116" y="3145536"/>
            <a:ext cx="12697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4F7C"/>
                </a:solidFill>
                <a:latin typeface="Segoe UI"/>
              </a:rPr>
              <a:t>HAIDILAO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187 г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07116" y="3328416"/>
            <a:ext cx="1269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650–680 грн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07116" y="3621024"/>
            <a:ext cx="126970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Daruy · Desna · Tactico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087138" y="1645920"/>
            <a:ext cx="1470877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0151146" y="1709928"/>
            <a:ext cx="1342861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5377" y="1746504"/>
            <a:ext cx="914400" cy="91440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0187722" y="2761488"/>
            <a:ext cx="126970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Свинина, рибний смак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187722" y="3145536"/>
            <a:ext cx="12697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4F7C"/>
                </a:solidFill>
                <a:latin typeface="Segoe UI"/>
              </a:rPr>
              <a:t>HAIDILAO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187 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87722" y="3328416"/>
            <a:ext cx="1269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650 грн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187722" y="3621024"/>
            <a:ext cx="126970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Daruy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03504" y="4078224"/>
            <a:ext cx="1470877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67512" y="4142232"/>
            <a:ext cx="1342861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image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0641" y="4178808"/>
            <a:ext cx="956603" cy="91440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704088" y="5193792"/>
            <a:ext cx="126970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Курка теріякі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04088" y="5577840"/>
            <a:ext cx="12697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4F7C"/>
                </a:solidFill>
                <a:latin typeface="Segoe UI"/>
              </a:rPr>
              <a:t>HAIDILAO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181 г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04088" y="5760720"/>
            <a:ext cx="1269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650–660 грн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4088" y="6053327"/>
            <a:ext cx="126970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Daruy · Шериф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184109" y="4078224"/>
            <a:ext cx="1470877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2248117" y="4142232"/>
            <a:ext cx="1342861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image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55524" y="4178808"/>
            <a:ext cx="928047" cy="91440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2284693" y="5193792"/>
            <a:ext cx="126970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Гострий курячий соус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284693" y="5577840"/>
            <a:ext cx="12697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4F7C"/>
                </a:solidFill>
                <a:latin typeface="Segoe UI"/>
              </a:rPr>
              <a:t>HAIDILAO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175 г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284693" y="5760720"/>
            <a:ext cx="1269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650 грн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84693" y="6053327"/>
            <a:ext cx="126970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Daruy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764715" y="4078224"/>
            <a:ext cx="1470877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28723" y="4142232"/>
            <a:ext cx="1342861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image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42954" y="4178808"/>
            <a:ext cx="914400" cy="914400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3865299" y="5193792"/>
            <a:ext cx="126970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Грудинка з гірчичною зеленню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865299" y="5577840"/>
            <a:ext cx="12697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4F7C"/>
                </a:solidFill>
                <a:latin typeface="Segoe UI"/>
              </a:rPr>
              <a:t>HAIDILAO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360 г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865299" y="5760720"/>
            <a:ext cx="1269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1 190 грн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65299" y="6053327"/>
            <a:ext cx="126970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Daruy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345321" y="4078224"/>
            <a:ext cx="1470877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5409329" y="4142232"/>
            <a:ext cx="1342861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2" name="Picture 81" descr="image.jpe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23560" y="4178808"/>
            <a:ext cx="914400" cy="914400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5445905" y="5193792"/>
            <a:ext cx="126970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Яловичина з двома перцями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45905" y="5577840"/>
            <a:ext cx="12697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4F7C"/>
                </a:solidFill>
                <a:latin typeface="Segoe UI"/>
              </a:rPr>
              <a:t>ZIHAIGUO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440 г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445905" y="5760720"/>
            <a:ext cx="1269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735 грн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445905" y="6053327"/>
            <a:ext cx="126970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Скарби Азії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925926" y="4078224"/>
            <a:ext cx="1470877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6989934" y="4142232"/>
            <a:ext cx="1342861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9" name="Picture 88" descr="image.jpe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04165" y="4178808"/>
            <a:ext cx="914400" cy="914400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7026510" y="5193792"/>
            <a:ext cx="126970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Тушкована свинина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026510" y="5577840"/>
            <a:ext cx="12697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1" i="0">
                <a:solidFill>
                  <a:srgbClr val="C94F7C"/>
                </a:solidFill>
                <a:latin typeface="Segoe UI"/>
              </a:rPr>
              <a:t>RONGCHENG HAOJI · </a:t>
            </a:r>
            <a:r>
              <a:rPr sz="680" b="0" i="0">
                <a:solidFill>
                  <a:srgbClr val="717890"/>
                </a:solidFill>
                <a:latin typeface="Segoe UI"/>
              </a:rPr>
              <a:t>440 г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026510" y="5760720"/>
            <a:ext cx="1269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735 грн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026510" y="6053327"/>
            <a:ext cx="126970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Скарби Азії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8506532" y="4078224"/>
            <a:ext cx="1470877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8570540" y="4142232"/>
            <a:ext cx="1342861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6" name="Picture 95" descr="hd_spicy360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84771" y="4178808"/>
            <a:ext cx="914400" cy="914400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8607116" y="5193792"/>
            <a:ext cx="126970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Гострий м'ясний рис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607116" y="5577840"/>
            <a:ext cx="12697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4F7C"/>
                </a:solidFill>
                <a:latin typeface="Segoe UI"/>
              </a:rPr>
              <a:t>HAIDILAO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360 г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607116" y="5760720"/>
            <a:ext cx="1269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950 грн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607116" y="6053327"/>
            <a:ext cx="126970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Daruy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0087138" y="4078224"/>
            <a:ext cx="1470877" cy="2322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10151146" y="4142232"/>
            <a:ext cx="1342861" cy="98755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3" name="Picture 102" descr="forestia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65377" y="4178808"/>
            <a:ext cx="914400" cy="914400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10187722" y="5193792"/>
            <a:ext cx="126970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Бефстроганов з рисом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187722" y="5577840"/>
            <a:ext cx="12697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4F7C"/>
                </a:solidFill>
                <a:latin typeface="Segoe UI"/>
              </a:rPr>
              <a:t>FORESTIA · </a:t>
            </a:r>
            <a:r>
              <a:rPr sz="800" b="0" i="0">
                <a:solidFill>
                  <a:srgbClr val="717890"/>
                </a:solidFill>
                <a:latin typeface="Segoe UI"/>
              </a:rPr>
              <a:t>маса н/д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187722" y="5760720"/>
            <a:ext cx="1269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935 грн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187722" y="6053327"/>
            <a:ext cx="126970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Kamanti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03504" y="647395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Фото, вага й ціна — з карток продавців; ціна за одну упаковку (від–до серед продавців). Колір назви бренду: золотий — розігрів, бірюзовий — під окріп, рожевий — саморозігрів, фіолетовий — сублімат.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C95C"/>
                </a:solidFill>
                <a:latin typeface="Segoe UI"/>
              </a:rPr>
              <a:t>ФОРМАТ × ВАГА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Формат × вага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717890"/>
                </a:solidFill>
                <a:latin typeface="Segoe UI"/>
              </a:rPr>
              <a:t>Скільки позицій у кожній вазі. Помаранчеві мітки — наші формати.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719072"/>
            <a:ext cx="13354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303A5D"/>
                </a:solidFill>
                <a:latin typeface="Segoe UI"/>
              </a:rPr>
              <a:t>80–99 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75735" y="1719072"/>
            <a:ext cx="13354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303A5D"/>
                </a:solidFill>
                <a:latin typeface="Segoe UI"/>
              </a:rPr>
              <a:t>100–149 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1190" y="1719072"/>
            <a:ext cx="13354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303A5D"/>
                </a:solidFill>
                <a:latin typeface="Segoe UI"/>
              </a:rPr>
              <a:t>150–199 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6645" y="1719072"/>
            <a:ext cx="13354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303A5D"/>
                </a:solidFill>
                <a:latin typeface="Segoe UI"/>
              </a:rPr>
              <a:t>200–249 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2100" y="1719072"/>
            <a:ext cx="13354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303A5D"/>
                </a:solidFill>
                <a:latin typeface="Segoe UI"/>
              </a:rPr>
              <a:t>250–299 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7555" y="1719072"/>
            <a:ext cx="13354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303A5D"/>
                </a:solidFill>
                <a:latin typeface="Segoe UI"/>
              </a:rPr>
              <a:t>300–349 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53010" y="1719072"/>
            <a:ext cx="13354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303A5D"/>
                </a:solidFill>
                <a:latin typeface="Segoe UI"/>
              </a:rPr>
              <a:t>350+ 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9213" y="2029968"/>
            <a:ext cx="2725774" cy="3273552"/>
          </a:xfrm>
          <a:prstGeom prst="roundRect">
            <a:avLst>
              <a:gd name="adj" fmla="val 3000"/>
            </a:avLst>
          </a:prstGeom>
          <a:noFill/>
          <a:ln w="31750">
            <a:solidFill>
              <a:srgbClr val="F9A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" y="2231136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 i="0">
                <a:solidFill>
                  <a:srgbClr val="C4810A"/>
                </a:solidFill>
                <a:latin typeface="Segoe UI"/>
              </a:rPr>
              <a:t>Пауч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" y="2523744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17890"/>
                </a:solidFill>
                <a:latin typeface="Segoe UI"/>
              </a:rPr>
              <a:t>реторт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76856" y="2130551"/>
            <a:ext cx="1262303" cy="713232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40280" y="2139696"/>
            <a:ext cx="13354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 i="0">
                <a:solidFill>
                  <a:srgbClr val="A9B0C4"/>
                </a:solidFill>
                <a:latin typeface="Segoe UI"/>
              </a:rPr>
              <a:t>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12311" y="2130551"/>
            <a:ext cx="1262303" cy="713232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75735" y="2139696"/>
            <a:ext cx="13354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 i="0">
                <a:solidFill>
                  <a:srgbClr val="A9B0C4"/>
                </a:solidFill>
                <a:latin typeface="Segoe UI"/>
              </a:rPr>
              <a:t>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47766" y="2130551"/>
            <a:ext cx="1262303" cy="713232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11190" y="2139696"/>
            <a:ext cx="13354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 i="0">
                <a:solidFill>
                  <a:srgbClr val="F9A50B"/>
                </a:solidFill>
                <a:latin typeface="Segoe UI"/>
              </a:rPr>
              <a:t>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13157" y="2587751"/>
            <a:ext cx="731520" cy="210312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3157" y="2587751"/>
            <a:ext cx="73152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30" b="1" i="0">
                <a:solidFill>
                  <a:srgbClr val="303A5D"/>
                </a:solidFill>
                <a:latin typeface="Segoe UI"/>
              </a:rPr>
              <a:t>BSCM 150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83221" y="2130551"/>
            <a:ext cx="1262303" cy="713232"/>
          </a:xfrm>
          <a:prstGeom prst="roundRect">
            <a:avLst>
              <a:gd name="adj" fmla="val 8000"/>
            </a:avLst>
          </a:prstGeom>
          <a:solidFill>
            <a:srgbClr val="CA8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46645" y="2139696"/>
            <a:ext cx="13354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Segoe UI"/>
              </a:rPr>
              <a:t>14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6645" y="2432303"/>
            <a:ext cx="133545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Segoe UI"/>
              </a:rPr>
              <a:t>позицій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10653" y="2587751"/>
            <a:ext cx="1207439" cy="210312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10653" y="2587751"/>
            <a:ext cx="120743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30" b="1" i="0">
                <a:solidFill>
                  <a:srgbClr val="303A5D"/>
                </a:solidFill>
                <a:latin typeface="Segoe UI"/>
              </a:rPr>
              <a:t>BSCM 200 · BSCM 240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18676" y="2130551"/>
            <a:ext cx="1262303" cy="713232"/>
          </a:xfrm>
          <a:prstGeom prst="roundRect">
            <a:avLst>
              <a:gd name="adj" fmla="val 8000"/>
            </a:avLst>
          </a:prstGeom>
          <a:solidFill>
            <a:srgbClr val="E2C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82100" y="2139696"/>
            <a:ext cx="13354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 i="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2100" y="2432303"/>
            <a:ext cx="133545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717890"/>
                </a:solidFill>
                <a:latin typeface="Segoe UI"/>
              </a:rPr>
              <a:t>позицій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15487" y="2587751"/>
            <a:ext cx="868680" cy="210312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15487" y="2587751"/>
            <a:ext cx="86868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30" b="1" i="0">
                <a:solidFill>
                  <a:srgbClr val="303A5D"/>
                </a:solidFill>
                <a:latin typeface="Segoe UI"/>
              </a:rPr>
              <a:t>CM Premium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54131" y="2130551"/>
            <a:ext cx="1262303" cy="713232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17555" y="2139696"/>
            <a:ext cx="13354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 i="0">
                <a:solidFill>
                  <a:srgbClr val="A9B0C4"/>
                </a:solidFill>
                <a:latin typeface="Segoe UI"/>
              </a:rPr>
              <a:t>—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289586" y="2130551"/>
            <a:ext cx="1262303" cy="713232"/>
          </a:xfrm>
          <a:prstGeom prst="roundRect">
            <a:avLst>
              <a:gd name="adj" fmla="val 8000"/>
            </a:avLst>
          </a:prstGeom>
          <a:solidFill>
            <a:srgbClr val="CA8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53010" y="2139696"/>
            <a:ext cx="13354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Segoe UI"/>
              </a:rP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53010" y="2432303"/>
            <a:ext cx="133545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Segoe UI"/>
              </a:rPr>
              <a:t>позицій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504" y="301752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 i="0">
                <a:solidFill>
                  <a:srgbClr val="1E9EA6"/>
                </a:solidFill>
                <a:latin typeface="Segoe UI"/>
              </a:rPr>
              <a:t>Чаша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" y="3310127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17890"/>
                </a:solidFill>
                <a:latin typeface="Segoe UI"/>
              </a:rPr>
              <a:t>стакан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276856" y="2916935"/>
            <a:ext cx="1262303" cy="713232"/>
          </a:xfrm>
          <a:prstGeom prst="roundRect">
            <a:avLst>
              <a:gd name="adj" fmla="val 8000"/>
            </a:avLst>
          </a:prstGeom>
          <a:solidFill>
            <a:srgbClr val="BF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240280" y="2926079"/>
            <a:ext cx="13354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 i="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240280" y="3218687"/>
            <a:ext cx="133545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717890"/>
                </a:solidFill>
                <a:latin typeface="Segoe UI"/>
              </a:rPr>
              <a:t>позицій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612311" y="2916935"/>
            <a:ext cx="1262303" cy="713232"/>
          </a:xfrm>
          <a:prstGeom prst="roundRect">
            <a:avLst>
              <a:gd name="adj" fmla="val 8000"/>
            </a:avLst>
          </a:prstGeom>
          <a:solidFill>
            <a:srgbClr val="B3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75735" y="2926079"/>
            <a:ext cx="13354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 i="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75735" y="3218687"/>
            <a:ext cx="133545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717890"/>
                </a:solidFill>
                <a:latin typeface="Segoe UI"/>
              </a:rPr>
              <a:t>позицій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947766" y="2916935"/>
            <a:ext cx="1262303" cy="713232"/>
          </a:xfrm>
          <a:prstGeom prst="roundRect">
            <a:avLst>
              <a:gd name="adj" fmla="val 8000"/>
            </a:avLst>
          </a:prstGeom>
          <a:solidFill>
            <a:srgbClr val="9C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911190" y="2926079"/>
            <a:ext cx="13354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 i="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11190" y="3218687"/>
            <a:ext cx="133545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717890"/>
                </a:solidFill>
                <a:latin typeface="Segoe UI"/>
              </a:rPr>
              <a:t>позицій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110287" y="3374135"/>
            <a:ext cx="937259" cy="210312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110287" y="3374135"/>
            <a:ext cx="93725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30" b="1" i="0">
                <a:solidFill>
                  <a:srgbClr val="303A5D"/>
                </a:solidFill>
                <a:latin typeface="Segoe UI"/>
              </a:rPr>
              <a:t>BSCM стакан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83221" y="2916935"/>
            <a:ext cx="1262303" cy="713232"/>
          </a:xfrm>
          <a:prstGeom prst="roundRect">
            <a:avLst>
              <a:gd name="adj" fmla="val 8000"/>
            </a:avLst>
          </a:prstGeom>
          <a:solidFill>
            <a:srgbClr val="B3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46645" y="2926079"/>
            <a:ext cx="13354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 i="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46645" y="3218687"/>
            <a:ext cx="133545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717890"/>
                </a:solidFill>
                <a:latin typeface="Segoe UI"/>
              </a:rPr>
              <a:t>позицій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377162" y="3374135"/>
            <a:ext cx="1074420" cy="210312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77162" y="3374135"/>
            <a:ext cx="107442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30" b="1" i="0">
                <a:solidFill>
                  <a:srgbClr val="303A5D"/>
                </a:solidFill>
                <a:latin typeface="Segoe UI"/>
              </a:rPr>
              <a:t>ONE'S 200/210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618676" y="2916935"/>
            <a:ext cx="1262303" cy="713232"/>
          </a:xfrm>
          <a:prstGeom prst="roundRect">
            <a:avLst>
              <a:gd name="adj" fmla="val 8000"/>
            </a:avLst>
          </a:prstGeom>
          <a:solidFill>
            <a:srgbClr val="9C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582100" y="2926079"/>
            <a:ext cx="13354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 i="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582100" y="3218687"/>
            <a:ext cx="133545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717890"/>
                </a:solidFill>
                <a:latin typeface="Segoe UI"/>
              </a:rPr>
              <a:t>позицій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815487" y="3374135"/>
            <a:ext cx="868680" cy="210312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815487" y="3374135"/>
            <a:ext cx="86868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30" b="1" i="0">
                <a:solidFill>
                  <a:srgbClr val="303A5D"/>
                </a:solidFill>
                <a:latin typeface="Segoe UI"/>
              </a:rPr>
              <a:t>BSCM 2×125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954131" y="2916935"/>
            <a:ext cx="1262303" cy="713232"/>
          </a:xfrm>
          <a:prstGeom prst="roundRect">
            <a:avLst>
              <a:gd name="adj" fmla="val 8000"/>
            </a:avLst>
          </a:prstGeom>
          <a:solidFill>
            <a:srgbClr val="9C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917555" y="2926079"/>
            <a:ext cx="13354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 i="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17555" y="3218687"/>
            <a:ext cx="133545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717890"/>
                </a:solidFill>
                <a:latin typeface="Segoe UI"/>
              </a:rPr>
              <a:t>позицій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289586" y="2916935"/>
            <a:ext cx="1262303" cy="713232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253010" y="2926079"/>
            <a:ext cx="13354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 i="0">
                <a:solidFill>
                  <a:srgbClr val="A9B0C4"/>
                </a:solidFill>
                <a:latin typeface="Segoe UI"/>
              </a:rPr>
              <a:t>—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3504" y="3803903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 i="0">
                <a:solidFill>
                  <a:srgbClr val="5E4B94"/>
                </a:solidFill>
                <a:latin typeface="Segoe UI"/>
              </a:rPr>
              <a:t>Дойпак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03504" y="4096511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17890"/>
                </a:solidFill>
                <a:latin typeface="Segoe UI"/>
              </a:rPr>
              <a:t>плоский пакет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276856" y="3703320"/>
            <a:ext cx="1262303" cy="713232"/>
          </a:xfrm>
          <a:prstGeom prst="roundRect">
            <a:avLst>
              <a:gd name="adj" fmla="val 8000"/>
            </a:avLst>
          </a:prstGeom>
          <a:solidFill>
            <a:srgbClr val="8779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240280" y="3712463"/>
            <a:ext cx="13354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240280" y="4005072"/>
            <a:ext cx="133545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Segoe UI"/>
              </a:rPr>
              <a:t>позицій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612311" y="3703320"/>
            <a:ext cx="1262303" cy="713232"/>
          </a:xfrm>
          <a:prstGeom prst="roundRect">
            <a:avLst>
              <a:gd name="adj" fmla="val 8000"/>
            </a:avLst>
          </a:prstGeom>
          <a:solidFill>
            <a:srgbClr val="5E4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575735" y="3712463"/>
            <a:ext cx="13354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Segoe UI"/>
              </a:rPr>
              <a:t>18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575735" y="4005072"/>
            <a:ext cx="133545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Segoe UI"/>
              </a:rPr>
              <a:t>позицій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947766" y="3703320"/>
            <a:ext cx="1262303" cy="713232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911190" y="3712463"/>
            <a:ext cx="13354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 i="0">
                <a:solidFill>
                  <a:srgbClr val="A9B0C4"/>
                </a:solidFill>
                <a:latin typeface="Segoe UI"/>
              </a:rPr>
              <a:t>—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283221" y="3703320"/>
            <a:ext cx="1262303" cy="713232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246645" y="3712463"/>
            <a:ext cx="13354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 i="0">
                <a:solidFill>
                  <a:srgbClr val="A9B0C4"/>
                </a:solidFill>
                <a:latin typeface="Segoe UI"/>
              </a:rPr>
              <a:t>—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618676" y="3703320"/>
            <a:ext cx="1262303" cy="713232"/>
          </a:xfrm>
          <a:prstGeom prst="roundRect">
            <a:avLst>
              <a:gd name="adj" fmla="val 8000"/>
            </a:avLst>
          </a:prstGeom>
          <a:solidFill>
            <a:srgbClr val="C9C2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582100" y="3712463"/>
            <a:ext cx="13354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 i="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582100" y="4005072"/>
            <a:ext cx="133545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717890"/>
                </a:solidFill>
                <a:latin typeface="Segoe UI"/>
              </a:rPr>
              <a:t>позицій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954131" y="3703320"/>
            <a:ext cx="1262303" cy="713232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917555" y="3712463"/>
            <a:ext cx="13354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 i="0">
                <a:solidFill>
                  <a:srgbClr val="A9B0C4"/>
                </a:solidFill>
                <a:latin typeface="Segoe UI"/>
              </a:rPr>
              <a:t>—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0289586" y="3703320"/>
            <a:ext cx="1262303" cy="713232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253010" y="3712463"/>
            <a:ext cx="13354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 i="0">
                <a:solidFill>
                  <a:srgbClr val="A9B0C4"/>
                </a:solidFill>
                <a:latin typeface="Segoe UI"/>
              </a:rPr>
              <a:t>—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03504" y="459028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 i="0">
                <a:solidFill>
                  <a:srgbClr val="C94F7C"/>
                </a:solidFill>
                <a:latin typeface="Segoe UI"/>
              </a:rPr>
              <a:t>Коробка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3504" y="4882896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17890"/>
                </a:solidFill>
                <a:latin typeface="Segoe UI"/>
              </a:rPr>
              <a:t>з нагрівачем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2276856" y="4489704"/>
            <a:ext cx="1262303" cy="713232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240280" y="4498848"/>
            <a:ext cx="13354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 i="0">
                <a:solidFill>
                  <a:srgbClr val="A9B0C4"/>
                </a:solidFill>
                <a:latin typeface="Segoe UI"/>
              </a:rPr>
              <a:t>—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3612311" y="4489704"/>
            <a:ext cx="1262303" cy="713232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575735" y="4498848"/>
            <a:ext cx="13354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 i="0">
                <a:solidFill>
                  <a:srgbClr val="A9B0C4"/>
                </a:solidFill>
                <a:latin typeface="Segoe UI"/>
              </a:rPr>
              <a:t>—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4947766" y="4489704"/>
            <a:ext cx="1262303" cy="713232"/>
          </a:xfrm>
          <a:prstGeom prst="roundRect">
            <a:avLst>
              <a:gd name="adj" fmla="val 8000"/>
            </a:avLst>
          </a:prstGeom>
          <a:solidFill>
            <a:srgbClr val="E4A9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911190" y="4498848"/>
            <a:ext cx="13354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 i="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911190" y="4791456"/>
            <a:ext cx="133545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717890"/>
                </a:solidFill>
                <a:latin typeface="Segoe UI"/>
              </a:rPr>
              <a:t>позицій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283221" y="4489704"/>
            <a:ext cx="1262303" cy="713232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246645" y="4498848"/>
            <a:ext cx="13354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 i="0">
                <a:solidFill>
                  <a:srgbClr val="A9B0C4"/>
                </a:solidFill>
                <a:latin typeface="Segoe UI"/>
              </a:rPr>
              <a:t>—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7618676" y="4489704"/>
            <a:ext cx="1262303" cy="713232"/>
          </a:xfrm>
          <a:prstGeom prst="roundRect">
            <a:avLst>
              <a:gd name="adj" fmla="val 8000"/>
            </a:avLst>
          </a:prstGeom>
          <a:solidFill>
            <a:srgbClr val="ECC4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582100" y="4498848"/>
            <a:ext cx="13354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 i="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582100" y="4791456"/>
            <a:ext cx="133545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717890"/>
                </a:solidFill>
                <a:latin typeface="Segoe UI"/>
              </a:rPr>
              <a:t>позицій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8954131" y="4489704"/>
            <a:ext cx="1262303" cy="713232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917555" y="4498848"/>
            <a:ext cx="13354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 i="0">
                <a:solidFill>
                  <a:srgbClr val="A9B0C4"/>
                </a:solidFill>
                <a:latin typeface="Segoe UI"/>
              </a:rPr>
              <a:t>—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10289586" y="4489704"/>
            <a:ext cx="1262303" cy="713232"/>
          </a:xfrm>
          <a:prstGeom prst="roundRect">
            <a:avLst>
              <a:gd name="adj" fmla="val 8000"/>
            </a:avLst>
          </a:prstGeom>
          <a:solidFill>
            <a:srgbClr val="EAB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253010" y="4498848"/>
            <a:ext cx="13354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 i="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253010" y="4791456"/>
            <a:ext cx="133545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717890"/>
                </a:solidFill>
                <a:latin typeface="Segoe UI"/>
              </a:rPr>
              <a:t>позицій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246645" y="1847088"/>
            <a:ext cx="2670910" cy="9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1C2235"/>
                </a:solidFill>
                <a:latin typeface="Segoe UI"/>
              </a:rPr>
              <a:t/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03504" y="5449824"/>
            <a:ext cx="3564117" cy="896112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603504" y="5449824"/>
            <a:ext cx="73152" cy="896112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22960" y="5541264"/>
            <a:ext cx="319835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ПОРЦІЙНЕ ВІКНО 200–299 г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22960" y="5742432"/>
            <a:ext cx="319835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303A5D"/>
                </a:solidFill>
                <a:latin typeface="Segoe UI"/>
              </a:rPr>
              <a:t>34 позицій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22960" y="6053328"/>
            <a:ext cx="319835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30" b="0" i="0">
                <a:solidFill>
                  <a:srgbClr val="1C2235"/>
                </a:solidFill>
                <a:latin typeface="Segoe UI"/>
              </a:rPr>
              <a:t>Пауч і чаша: одна порція на людину. Тут стоять BSCM 200/240, CM Premium, ONE'S і подвійний стакан.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4313925" y="5449824"/>
            <a:ext cx="3564117" cy="896112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4313925" y="5449824"/>
            <a:ext cx="73152" cy="896112"/>
          </a:xfrm>
          <a:prstGeom prst="roundRect">
            <a:avLst>
              <a:gd name="adj" fmla="val 50000"/>
            </a:avLst>
          </a:prstGeom>
          <a:solidFill>
            <a:srgbClr val="5E4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4533381" y="5541264"/>
            <a:ext cx="319835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НАЙЩІЛЬНІША КЛІТИНКА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533381" y="5742432"/>
            <a:ext cx="319835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303A5D"/>
                </a:solidFill>
                <a:latin typeface="Segoe UI"/>
              </a:rPr>
              <a:t>дойпак 100–149 г — 18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533381" y="6053328"/>
            <a:ext cx="319835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30" b="0" i="0">
                <a:solidFill>
                  <a:srgbClr val="1C2235"/>
                </a:solidFill>
                <a:latin typeface="Segoe UI"/>
              </a:rPr>
              <a:t>Це сухий сублімат для походів, інший привід і канал. Наші формати з ним не перетинаються.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8024347" y="5449824"/>
            <a:ext cx="3564117" cy="896112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8024347" y="5449824"/>
            <a:ext cx="73152" cy="896112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243803" y="5541264"/>
            <a:ext cx="319835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ВІЛЬНІ КЛІТИНКИ ДЛЯ НАС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243803" y="5742432"/>
            <a:ext cx="319835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303A5D"/>
                </a:solidFill>
                <a:latin typeface="Segoe UI"/>
              </a:rPr>
              <a:t>пауч 150–199 г — 0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243803" y="6053328"/>
            <a:ext cx="319835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30" b="0" i="0">
                <a:solidFill>
                  <a:srgbClr val="1C2235"/>
                </a:solidFill>
                <a:latin typeface="Segoe UI"/>
              </a:rPr>
              <a:t>Жодного пауча 150–199 г. BSCM пауч 150 г заходить без прямого конкурента; найближчий — Ben's 220 г.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03504" y="647395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Вага — готової страви; для сухого рису й сублімату — вага продукту. Позиції без вказаної маси (Trek'n Eat ×2) не враховано. Наші формати — за комерційними пропозиціями BSCM, CM Premium, One's.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C95C"/>
                </a:solidFill>
                <a:latin typeface="Segoe UI"/>
              </a:rPr>
              <a:t>НАЙПОПУЛЯРНІШІ ФОРМАТИ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Топ поєднань формат + вага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717890"/>
                </a:solidFill>
                <a:latin typeface="Segoe UI"/>
              </a:rPr>
              <a:t>Які упаковки ринок обирає найчастіше — і де стоять наші ваги.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645920"/>
            <a:ext cx="7726679" cy="4700016"/>
          </a:xfrm>
          <a:prstGeom prst="roundRect">
            <a:avLst>
              <a:gd name="adj" fmla="val 3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173736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717890"/>
                </a:solidFill>
                <a:latin typeface="Segoe UI"/>
              </a:rPr>
              <a:t>ТОП-13 ПОЄДНАНЬ «ФОРМАТ + ГРАМАЖ», ПОЗИЦІЙ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093976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Пауч 350 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32304" y="2103120"/>
            <a:ext cx="1691640" cy="228600"/>
          </a:xfrm>
          <a:prstGeom prst="roundRect">
            <a:avLst>
              <a:gd name="adj" fmla="val 25000"/>
            </a:avLst>
          </a:prstGeom>
          <a:solidFill>
            <a:srgbClr val="C48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97096" y="207568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03A5D"/>
                </a:solidFill>
                <a:latin typeface="Segoe UI"/>
              </a:rPr>
              <a:t>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2103120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C2235"/>
                </a:solidFill>
                <a:latin typeface="Segoe UI"/>
              </a:rPr>
              <a:t>медіана 101 грн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44184" y="2112264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 i="0">
                <a:solidFill>
                  <a:srgbClr val="717890"/>
                </a:solidFill>
                <a:latin typeface="Segoe UI"/>
              </a:rPr>
              <a:t>МАКРО · Маркел · Верес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241858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Дойпак 85 г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32304" y="2427732"/>
            <a:ext cx="1076498" cy="228600"/>
          </a:xfrm>
          <a:prstGeom prst="roundRect">
            <a:avLst>
              <a:gd name="adj" fmla="val 25000"/>
            </a:avLst>
          </a:prstGeom>
          <a:solidFill>
            <a:srgbClr val="5E4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81954" y="24003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2427732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C2235"/>
                </a:solidFill>
                <a:latin typeface="Segoe UI"/>
              </a:rPr>
              <a:t>медіана 130 грн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44184" y="24368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 i="0">
                <a:solidFill>
                  <a:srgbClr val="717890"/>
                </a:solidFill>
                <a:latin typeface="Segoe UI"/>
              </a:rPr>
              <a:t>Харчі · Їжа в Похід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274320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Пауч 220 г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2304" y="2752344"/>
            <a:ext cx="1076498" cy="228600"/>
          </a:xfrm>
          <a:prstGeom prst="roundRect">
            <a:avLst>
              <a:gd name="adj" fmla="val 25000"/>
            </a:avLst>
          </a:prstGeom>
          <a:solidFill>
            <a:srgbClr val="C48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81954" y="272491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81144" y="2752344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C2235"/>
                </a:solidFill>
                <a:latin typeface="Segoe UI"/>
              </a:rPr>
              <a:t>медіана 139 грн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44184" y="276148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 i="0">
                <a:solidFill>
                  <a:srgbClr val="717890"/>
                </a:solidFill>
                <a:latin typeface="Segoe UI"/>
              </a:rPr>
              <a:t>Ben's Original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3067812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Пауч 240 г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432304" y="3076956"/>
            <a:ext cx="1076498" cy="228600"/>
          </a:xfrm>
          <a:prstGeom prst="roundRect">
            <a:avLst>
              <a:gd name="adj" fmla="val 25000"/>
            </a:avLst>
          </a:prstGeom>
          <a:solidFill>
            <a:srgbClr val="C48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81954" y="304952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81144" y="3076956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C2235"/>
                </a:solidFill>
                <a:latin typeface="Segoe UI"/>
              </a:rPr>
              <a:t>медіана 225 грн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44184" y="3086100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 i="0">
                <a:solidFill>
                  <a:srgbClr val="717890"/>
                </a:solidFill>
                <a:latin typeface="Segoe UI"/>
              </a:rPr>
              <a:t>Seeds of Change · Ben's Original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" y="3392424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Пауч 250 г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432304" y="3401568"/>
            <a:ext cx="922712" cy="228600"/>
          </a:xfrm>
          <a:prstGeom prst="roundRect">
            <a:avLst>
              <a:gd name="adj" fmla="val 25000"/>
            </a:avLst>
          </a:prstGeom>
          <a:solidFill>
            <a:srgbClr val="C48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28168" y="337413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81144" y="3401568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C2235"/>
                </a:solidFill>
                <a:latin typeface="Segoe UI"/>
              </a:rPr>
              <a:t>медіана 90 грн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44184" y="3410712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 i="0">
                <a:solidFill>
                  <a:srgbClr val="717890"/>
                </a:solidFill>
                <a:latin typeface="Segoe UI"/>
              </a:rPr>
              <a:t>Ben's Original · Clearspring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" y="3717036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Чаша 174 г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432304" y="3726180"/>
            <a:ext cx="768927" cy="228600"/>
          </a:xfrm>
          <a:prstGeom prst="roundRect">
            <a:avLst>
              <a:gd name="adj" fmla="val 25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74383" y="369874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81144" y="3726180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C2235"/>
                </a:solidFill>
                <a:latin typeface="Segoe UI"/>
              </a:rPr>
              <a:t>медіана 118 грн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44184" y="3735324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 i="0">
                <a:solidFill>
                  <a:srgbClr val="717890"/>
                </a:solidFill>
                <a:latin typeface="Segoe UI"/>
              </a:rPr>
              <a:t>Henan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672" y="404164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Дойпак 110 г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432304" y="4050792"/>
            <a:ext cx="615141" cy="228600"/>
          </a:xfrm>
          <a:prstGeom prst="roundRect">
            <a:avLst>
              <a:gd name="adj" fmla="val 25000"/>
            </a:avLst>
          </a:prstGeom>
          <a:solidFill>
            <a:srgbClr val="5E4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20597" y="402336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81144" y="4050792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C2235"/>
                </a:solidFill>
                <a:latin typeface="Segoe UI"/>
              </a:rPr>
              <a:t>медіана 384 грн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44184" y="405993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 i="0">
                <a:solidFill>
                  <a:srgbClr val="717890"/>
                </a:solidFill>
                <a:latin typeface="Segoe UI"/>
              </a:rPr>
              <a:t>Adventure Menu · Mountain House · SubliMate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4672" y="436626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Дойпак 125 г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432304" y="4375404"/>
            <a:ext cx="615141" cy="228600"/>
          </a:xfrm>
          <a:prstGeom prst="roundRect">
            <a:avLst>
              <a:gd name="adj" fmla="val 25000"/>
            </a:avLst>
          </a:prstGeom>
          <a:solidFill>
            <a:srgbClr val="5E4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120597" y="434797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81144" y="4375404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C2235"/>
                </a:solidFill>
                <a:latin typeface="Segoe UI"/>
              </a:rPr>
              <a:t>медіана 405 грн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44184" y="438454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 i="0">
                <a:solidFill>
                  <a:srgbClr val="717890"/>
                </a:solidFill>
                <a:latin typeface="Segoe UI"/>
              </a:rPr>
              <a:t>Travellunch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4672" y="4690872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Дойпак 146 г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432304" y="4700016"/>
            <a:ext cx="615141" cy="228600"/>
          </a:xfrm>
          <a:prstGeom prst="roundRect">
            <a:avLst>
              <a:gd name="adj" fmla="val 25000"/>
            </a:avLst>
          </a:prstGeom>
          <a:solidFill>
            <a:srgbClr val="5E4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120597" y="46725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81144" y="4700016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C2235"/>
                </a:solidFill>
                <a:latin typeface="Segoe UI"/>
              </a:rPr>
              <a:t>медіана 501 грн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44184" y="4709160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 i="0">
                <a:solidFill>
                  <a:srgbClr val="717890"/>
                </a:solidFill>
                <a:latin typeface="Segoe UI"/>
              </a:rPr>
              <a:t>Qiaoshanmei · Adventure Food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4672" y="5015484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Коробка 187 г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432304" y="5024628"/>
            <a:ext cx="461356" cy="228600"/>
          </a:xfrm>
          <a:prstGeom prst="roundRect">
            <a:avLst>
              <a:gd name="adj" fmla="val 25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966812" y="499719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81144" y="5024628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C2235"/>
                </a:solidFill>
                <a:latin typeface="Segoe UI"/>
              </a:rPr>
              <a:t>медіана 650 грн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44184" y="5033772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 i="0">
                <a:solidFill>
                  <a:srgbClr val="717890"/>
                </a:solidFill>
                <a:latin typeface="Segoe UI"/>
              </a:rPr>
              <a:t>Haidilao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672" y="5340096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Коробка 272 г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432304" y="5349240"/>
            <a:ext cx="461356" cy="228600"/>
          </a:xfrm>
          <a:prstGeom prst="roundRect">
            <a:avLst>
              <a:gd name="adj" fmla="val 25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966812" y="532180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81144" y="5349240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C2235"/>
                </a:solidFill>
                <a:latin typeface="Segoe UI"/>
              </a:rPr>
              <a:t>медіана 799 грн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044184" y="5358384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 i="0">
                <a:solidFill>
                  <a:srgbClr val="717890"/>
                </a:solidFill>
                <a:latin typeface="Segoe UI"/>
              </a:rPr>
              <a:t>Haidilao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4672" y="566470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Чаша 144 г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432304" y="5673852"/>
            <a:ext cx="461356" cy="228600"/>
          </a:xfrm>
          <a:prstGeom prst="roundRect">
            <a:avLst>
              <a:gd name="adj" fmla="val 25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966812" y="564642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81144" y="5673852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C2235"/>
                </a:solidFill>
                <a:latin typeface="Segoe UI"/>
              </a:rPr>
              <a:t>медіана 135 грн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44184" y="568299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 i="0">
                <a:solidFill>
                  <a:srgbClr val="717890"/>
                </a:solidFill>
                <a:latin typeface="Segoe UI"/>
              </a:rPr>
              <a:t>Henan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" y="598932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Дойпак 90 г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432304" y="5998464"/>
            <a:ext cx="461356" cy="228600"/>
          </a:xfrm>
          <a:prstGeom prst="roundRect">
            <a:avLst>
              <a:gd name="adj" fmla="val 25000"/>
            </a:avLst>
          </a:prstGeom>
          <a:solidFill>
            <a:srgbClr val="5E4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966812" y="597103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581144" y="5998464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C2235"/>
                </a:solidFill>
                <a:latin typeface="Segoe UI"/>
              </a:rPr>
              <a:t>медіана 73 грн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044184" y="600760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 i="0">
                <a:solidFill>
                  <a:srgbClr val="717890"/>
                </a:solidFill>
                <a:latin typeface="Segoe UI"/>
              </a:rPr>
              <a:t>James Cook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531352" y="1645920"/>
            <a:ext cx="3057113" cy="21396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714232" y="1737360"/>
            <a:ext cx="278279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17890"/>
                </a:solidFill>
                <a:latin typeface="Segoe UI"/>
              </a:rPr>
              <a:t>ЧАСТКА ФОРМАТУ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714232" y="2011680"/>
            <a:ext cx="278279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C2235"/>
                </a:solidFill>
                <a:latin typeface="Segoe UI"/>
              </a:rPr>
              <a:t>Усі 105 позицій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714232" y="2249424"/>
            <a:ext cx="871485" cy="329184"/>
          </a:xfrm>
          <a:prstGeom prst="rect">
            <a:avLst/>
          </a:prstGeom>
          <a:solidFill>
            <a:srgbClr val="5E4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714232" y="2249424"/>
            <a:ext cx="87148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32 %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585717" y="2249424"/>
            <a:ext cx="871485" cy="329184"/>
          </a:xfrm>
          <a:prstGeom prst="rect">
            <a:avLst/>
          </a:prstGeom>
          <a:solidFill>
            <a:srgbClr val="C48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585717" y="2249424"/>
            <a:ext cx="87148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32 %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457203" y="2249424"/>
            <a:ext cx="589534" cy="329184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457203" y="2249424"/>
            <a:ext cx="58953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22 %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1046738" y="2249424"/>
            <a:ext cx="358847" cy="329184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1046738" y="2249424"/>
            <a:ext cx="35884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13 %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714232" y="2852928"/>
            <a:ext cx="278279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C2235"/>
                </a:solidFill>
                <a:latin typeface="Segoe UI"/>
              </a:rPr>
              <a:t>Без туристичних і військових · 60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714232" y="3090672"/>
            <a:ext cx="1390532" cy="329184"/>
          </a:xfrm>
          <a:prstGeom prst="rect">
            <a:avLst/>
          </a:prstGeom>
          <a:solidFill>
            <a:srgbClr val="C48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714232" y="3090672"/>
            <a:ext cx="139053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52 %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104764" y="3090672"/>
            <a:ext cx="1031685" cy="329184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104764" y="3090672"/>
            <a:ext cx="103168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38 %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1136450" y="3090672"/>
            <a:ext cx="134567" cy="329184"/>
          </a:xfrm>
          <a:prstGeom prst="rect">
            <a:avLst/>
          </a:prstGeom>
          <a:solidFill>
            <a:srgbClr val="5E4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1271017" y="3090672"/>
            <a:ext cx="134567" cy="329184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714232" y="3474720"/>
            <a:ext cx="273707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Тобто є хоча б в одному магазині поза цим каналом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8531352" y="3913632"/>
            <a:ext cx="3057113" cy="2432304"/>
          </a:xfrm>
          <a:prstGeom prst="roundRect">
            <a:avLst>
              <a:gd name="adj" fmla="val 5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8531352" y="3913632"/>
            <a:ext cx="82296" cy="2432304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787384" y="4023360"/>
            <a:ext cx="269135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FC95C"/>
                </a:solidFill>
                <a:latin typeface="Segoe UI"/>
              </a:rPr>
              <a:t>НАШІ ВАГИ НА ЦІЙ КАРТІ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787384" y="4370832"/>
            <a:ext cx="16855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Пауч 150 г · BSCM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445465" y="43708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FFC95C"/>
                </a:solidFill>
                <a:latin typeface="Segoe UI"/>
              </a:rPr>
              <a:t>0 конкурентів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787384" y="4681728"/>
            <a:ext cx="16855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Пауч 200 г · BSCM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445465" y="4681728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FFC95C"/>
                </a:solidFill>
                <a:latin typeface="Segoe UI"/>
              </a:rPr>
              <a:t>0 конкурентів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787384" y="4992624"/>
            <a:ext cx="16855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Пауч 240 г · BSCM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445465" y="4992624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D5DBEA"/>
                </a:solidFill>
                <a:latin typeface="Segoe UI"/>
              </a:rPr>
              <a:t>7 в цій вазі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787384" y="5303520"/>
            <a:ext cx="16855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Пауч 250 г · CM Premium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445465" y="530352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D5DBEA"/>
                </a:solidFill>
                <a:latin typeface="Segoe UI"/>
              </a:rPr>
              <a:t>6 в цій вазі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787384" y="5614416"/>
            <a:ext cx="16855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Стакан 150 г · BSCM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445465" y="5614416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FFC95C"/>
                </a:solidFill>
                <a:latin typeface="Segoe UI"/>
              </a:rPr>
              <a:t>0 конкурентів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787384" y="5925312"/>
            <a:ext cx="16855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Лоток 210 г · ONE'S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445465" y="59253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D5DBEA"/>
                </a:solidFill>
                <a:latin typeface="Segoe UI"/>
              </a:rPr>
              <a:t>1 в цій вазі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03504" y="647395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Позиції — за картками продавців (105 SKU). «Поза туристичними й військовими магазинами» — позиції, які є хоча б в одному магазині, що не є туристичним чи військовим (мережі, маркетплейси, азійські й гастро-магазини). «Конкурентів» — позицій того самого формату з точно такою вагою.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C95C"/>
                </a:solidFill>
                <a:latin typeface="Segoe UI"/>
              </a:rPr>
              <a:t>ЦІНА ЗА ОДНУ УПАКОВКУ · 1 З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Ціна: готовий рис і наші бренди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717890"/>
                </a:solidFill>
                <a:latin typeface="Segoe UI"/>
              </a:rPr>
              <a:t>Сегмент 1 — розігрів у мікрохвильовці: усі бренди й наші позиції на одній шкалі.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74920" y="1645920"/>
            <a:ext cx="10972" cy="4206240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59" y="5879592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6712" y="1645920"/>
            <a:ext cx="10972" cy="4206240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60952" y="5879592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717890"/>
                </a:solidFill>
                <a:latin typeface="Segoe UI"/>
              </a:rPr>
              <a:t>100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78504" y="1645920"/>
            <a:ext cx="10972" cy="4206240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12744" y="5879592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717890"/>
                </a:solidFill>
                <a:latin typeface="Segoe UI"/>
              </a:rPr>
              <a:t>200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30296" y="1645920"/>
            <a:ext cx="10972" cy="4206240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4536" y="5879592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717890"/>
                </a:solidFill>
                <a:latin typeface="Segoe UI"/>
              </a:rPr>
              <a:t>300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82089" y="1645920"/>
            <a:ext cx="10972" cy="4206240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16329" y="5879592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717890"/>
                </a:solidFill>
                <a:latin typeface="Segoe UI"/>
              </a:rPr>
              <a:t>400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833881" y="1645920"/>
            <a:ext cx="10972" cy="4206240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68121" y="5879592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717890"/>
                </a:solidFill>
                <a:latin typeface="Segoe UI"/>
              </a:rPr>
              <a:t>500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93226" y="1645920"/>
            <a:ext cx="1554919" cy="4206240"/>
          </a:xfrm>
          <a:prstGeom prst="rect">
            <a:avLst/>
          </a:prstGeom>
          <a:solidFill>
            <a:srgbClr val="FF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93226" y="6080760"/>
            <a:ext cx="3840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9A50B"/>
                </a:solidFill>
                <a:latin typeface="Segoe UI"/>
              </a:rPr>
              <a:t>вікно мережевої полиці 45–180 грн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5879592"/>
            <a:ext cx="4023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717890"/>
                </a:solidFill>
                <a:latin typeface="Segoe UI"/>
              </a:rPr>
              <a:t>ГРН/УПАКОВКА · ВЕЛИКА ТОЧКА — МЕДІАНА, МАЛІ — ПОЗИЦІЇ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" y="1655064"/>
            <a:ext cx="10984961" cy="256032"/>
          </a:xfrm>
          <a:prstGeom prst="roundRect">
            <a:avLst>
              <a:gd name="adj" fmla="val 30000"/>
            </a:avLst>
          </a:prstGeom>
          <a:solidFill>
            <a:srgbClr val="C48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1655064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СЕГМЕНТ 1 · РОЗІГРІВ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46704" y="165506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КРАЇНА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59935" y="165506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ВАГА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28032" y="165506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Segoe UI"/>
              </a:rPr>
              <a:t>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1939747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Portion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46704" y="1967179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59935" y="1967179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350 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18304" y="1967179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892692" y="2017471"/>
            <a:ext cx="437681" cy="82296"/>
          </a:xfrm>
          <a:prstGeom prst="roundRect">
            <a:avLst>
              <a:gd name="adj" fmla="val 50000"/>
            </a:avLst>
          </a:prstGeom>
          <a:solidFill>
            <a:srgbClr val="C48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842400" y="2008327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782964" y="1948891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C4810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13253" y="1948891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71–109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2179929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М'ясниця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46704" y="2207361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59935" y="2207361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350 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18304" y="2207361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88497" y="2257653"/>
            <a:ext cx="36576" cy="82296"/>
          </a:xfrm>
          <a:prstGeom prst="roundRect">
            <a:avLst>
              <a:gd name="adj" fmla="val 50000"/>
            </a:avLst>
          </a:prstGeom>
          <a:solidFill>
            <a:srgbClr val="C48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038205" y="2248509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978769" y="2189073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C4810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82895" y="2189073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88–89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2420112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Ben's Original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46704" y="2447544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59935" y="2447544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220–250 г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18304" y="2447544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17890"/>
                </a:solidFill>
                <a:latin typeface="Segoe UI"/>
              </a:rPr>
              <a:t>13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593226" y="2497836"/>
            <a:ext cx="1900457" cy="82296"/>
          </a:xfrm>
          <a:prstGeom prst="roundRect">
            <a:avLst>
              <a:gd name="adj" fmla="val 50000"/>
            </a:avLst>
          </a:prstGeom>
          <a:solidFill>
            <a:srgbClr val="C48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542934" y="248869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061241" y="248869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061241" y="248869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061241" y="248869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061241" y="248869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061241" y="248869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176420" y="248869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6280081" y="248869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683208" y="248869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740798" y="248869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7086336" y="248869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625619" y="248869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625619" y="248869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116984" y="2429256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C4810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676563" y="2429256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45–210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1520" y="2660294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МАКРО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346704" y="2687726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059935" y="2687726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350 г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718304" y="2687726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17890"/>
                </a:solidFill>
                <a:latin typeface="Segoe UI"/>
              </a:rPr>
              <a:t>3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180640" y="2738018"/>
            <a:ext cx="449199" cy="82296"/>
          </a:xfrm>
          <a:prstGeom prst="roundRect">
            <a:avLst>
              <a:gd name="adj" fmla="val 50000"/>
            </a:avLst>
          </a:prstGeom>
          <a:solidFill>
            <a:srgbClr val="C48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6130348" y="272887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6187938" y="272887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6222492" y="272887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6128502" y="2669438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C4810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812719" y="266943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96–135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1520" y="2900476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Маркел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346704" y="2927908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059935" y="2927908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350 г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718304" y="2927908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996353" y="2978200"/>
            <a:ext cx="737147" cy="82296"/>
          </a:xfrm>
          <a:prstGeom prst="roundRect">
            <a:avLst>
              <a:gd name="adj" fmla="val 50000"/>
            </a:avLst>
          </a:prstGeom>
          <a:solidFill>
            <a:srgbClr val="C48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5946061" y="296905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6487404" y="296905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6157297" y="2909620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C4810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916380" y="2909620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80–144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3140659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Верес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346704" y="3168091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059935" y="3168091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350 г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718304" y="3168091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226712" y="3218383"/>
            <a:ext cx="403127" cy="82296"/>
          </a:xfrm>
          <a:prstGeom prst="roundRect">
            <a:avLst>
              <a:gd name="adj" fmla="val 50000"/>
            </a:avLst>
          </a:prstGeom>
          <a:solidFill>
            <a:srgbClr val="C48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6176420" y="3209239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6268563" y="3209239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6163055" y="3149803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C4810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812719" y="3149803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100–135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31520" y="3380841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Ходорівський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346704" y="3408273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059935" y="3408273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350 г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718304" y="3408273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284301" y="3458565"/>
            <a:ext cx="1082684" cy="82296"/>
          </a:xfrm>
          <a:prstGeom prst="roundRect">
            <a:avLst>
              <a:gd name="adj" fmla="val 50000"/>
            </a:avLst>
          </a:prstGeom>
          <a:solidFill>
            <a:srgbClr val="C48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6234009" y="3449421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6637137" y="3449421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6376137" y="3389985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C4810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549866" y="3389985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105–199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31520" y="3621024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Bibigo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346704" y="3648456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Корея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059935" y="3648456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210 г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718304" y="3648456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6629839" y="3698748"/>
            <a:ext cx="621967" cy="82296"/>
          </a:xfrm>
          <a:prstGeom prst="roundRect">
            <a:avLst>
              <a:gd name="adj" fmla="val 50000"/>
            </a:avLst>
          </a:prstGeom>
          <a:solidFill>
            <a:srgbClr val="C48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6579547" y="368960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6520111" y="3630168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C4810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434687" y="363016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135–189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31520" y="3861206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Seeds of Change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346704" y="3888638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США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059935" y="3888638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240 г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718304" y="3888638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17890"/>
                </a:solidFill>
                <a:latin typeface="Segoe UI"/>
              </a:rPr>
              <a:t>6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7470648" y="3938930"/>
            <a:ext cx="2775819" cy="82296"/>
          </a:xfrm>
          <a:prstGeom prst="roundRect">
            <a:avLst>
              <a:gd name="adj" fmla="val 50000"/>
            </a:avLst>
          </a:prstGeom>
          <a:solidFill>
            <a:srgbClr val="C48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7616160" y="392978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ounded Rectangle 116"/>
          <p:cNvSpPr/>
          <p:nvPr/>
        </p:nvSpPr>
        <p:spPr>
          <a:xfrm>
            <a:off x="8480004" y="392978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8007770" y="392978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7420356" y="392978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ounded Rectangle 119"/>
          <p:cNvSpPr/>
          <p:nvPr/>
        </p:nvSpPr>
        <p:spPr>
          <a:xfrm>
            <a:off x="7443391" y="392978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9712422" y="392978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ounded Rectangle 121"/>
          <p:cNvSpPr/>
          <p:nvPr/>
        </p:nvSpPr>
        <p:spPr>
          <a:xfrm>
            <a:off x="7752529" y="3870350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C4810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0429347" y="3870350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208–449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31520" y="4101388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Clearspring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346704" y="4128820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059935" y="4128820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250 г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718304" y="412882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7977436" y="4179112"/>
            <a:ext cx="2234477" cy="82296"/>
          </a:xfrm>
          <a:prstGeom prst="roundRect">
            <a:avLst>
              <a:gd name="adj" fmla="val 50000"/>
            </a:avLst>
          </a:prstGeom>
          <a:solidFill>
            <a:srgbClr val="C48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ounded Rectangle 128"/>
          <p:cNvSpPr/>
          <p:nvPr/>
        </p:nvSpPr>
        <p:spPr>
          <a:xfrm>
            <a:off x="7927144" y="416996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ounded Rectangle 129"/>
          <p:cNvSpPr/>
          <p:nvPr/>
        </p:nvSpPr>
        <p:spPr>
          <a:xfrm>
            <a:off x="7867708" y="4110532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C4810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0394793" y="411053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252–446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31520" y="4341571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346704" y="4369003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Корея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059935" y="4369003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217,5–320 г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718304" y="4369003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17890"/>
                </a:solidFill>
                <a:latin typeface="Segoe UI"/>
              </a:rPr>
              <a:t>10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7666452" y="4419295"/>
            <a:ext cx="1508847" cy="82296"/>
          </a:xfrm>
          <a:prstGeom prst="roundRect">
            <a:avLst>
              <a:gd name="adj" fmla="val 50000"/>
            </a:avLst>
          </a:prstGeom>
          <a:solidFill>
            <a:srgbClr val="C48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ounded Rectangle 136"/>
          <p:cNvSpPr/>
          <p:nvPr/>
        </p:nvSpPr>
        <p:spPr>
          <a:xfrm>
            <a:off x="7927144" y="4410151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ounded Rectangle 137"/>
          <p:cNvSpPr/>
          <p:nvPr/>
        </p:nvSpPr>
        <p:spPr>
          <a:xfrm>
            <a:off x="7961698" y="4410151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ounded Rectangle 138"/>
          <p:cNvSpPr/>
          <p:nvPr/>
        </p:nvSpPr>
        <p:spPr>
          <a:xfrm>
            <a:off x="7927144" y="4410151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ounded Rectangle 139"/>
          <p:cNvSpPr/>
          <p:nvPr/>
        </p:nvSpPr>
        <p:spPr>
          <a:xfrm>
            <a:off x="7961698" y="4410151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ounded Rectangle 140"/>
          <p:cNvSpPr/>
          <p:nvPr/>
        </p:nvSpPr>
        <p:spPr>
          <a:xfrm>
            <a:off x="7961698" y="4410151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ounded Rectangle 141"/>
          <p:cNvSpPr/>
          <p:nvPr/>
        </p:nvSpPr>
        <p:spPr>
          <a:xfrm>
            <a:off x="7616160" y="4410151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ounded Rectangle 142"/>
          <p:cNvSpPr/>
          <p:nvPr/>
        </p:nvSpPr>
        <p:spPr>
          <a:xfrm>
            <a:off x="7927144" y="4410151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8871614" y="4410151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ounded Rectangle 144"/>
          <p:cNvSpPr/>
          <p:nvPr/>
        </p:nvSpPr>
        <p:spPr>
          <a:xfrm>
            <a:off x="9125008" y="4410151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ounded Rectangle 145"/>
          <p:cNvSpPr/>
          <p:nvPr/>
        </p:nvSpPr>
        <p:spPr>
          <a:xfrm>
            <a:off x="7961698" y="4410151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ounded Rectangle 146"/>
          <p:cNvSpPr/>
          <p:nvPr/>
        </p:nvSpPr>
        <p:spPr>
          <a:xfrm>
            <a:off x="7902262" y="4350715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C4810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9358180" y="4350715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225–356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31520" y="4581753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Adventure Menu · пауч 400 г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346704" y="4609185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059935" y="4609185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400 г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718304" y="4609185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17890"/>
                </a:solidFill>
                <a:latin typeface="Segoe UI"/>
              </a:rPr>
              <a:t>3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8703065" y="4659477"/>
            <a:ext cx="1025095" cy="82296"/>
          </a:xfrm>
          <a:prstGeom prst="roundRect">
            <a:avLst>
              <a:gd name="adj" fmla="val 50000"/>
            </a:avLst>
          </a:prstGeom>
          <a:solidFill>
            <a:srgbClr val="C48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ounded Rectangle 153"/>
          <p:cNvSpPr/>
          <p:nvPr/>
        </p:nvSpPr>
        <p:spPr>
          <a:xfrm>
            <a:off x="9355367" y="4650333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ounded Rectangle 154"/>
          <p:cNvSpPr/>
          <p:nvPr/>
        </p:nvSpPr>
        <p:spPr>
          <a:xfrm>
            <a:off x="8652773" y="4650333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ounded Rectangle 155"/>
          <p:cNvSpPr/>
          <p:nvPr/>
        </p:nvSpPr>
        <p:spPr>
          <a:xfrm>
            <a:off x="8894650" y="4650333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ounded Rectangle 156"/>
          <p:cNvSpPr/>
          <p:nvPr/>
        </p:nvSpPr>
        <p:spPr>
          <a:xfrm>
            <a:off x="8835214" y="4590897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C4810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9911040" y="4590897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315–404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603504" y="4848148"/>
            <a:ext cx="10984961" cy="256032"/>
          </a:xfrm>
          <a:prstGeom prst="roundRect">
            <a:avLst>
              <a:gd name="adj" fmla="val 30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731520" y="484814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НАШІ БРЕНДИ · ПОЛИЦЯ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3346704" y="4848148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КРАЇНА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059935" y="4848148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ВАГА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828032" y="4848148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Segoe UI"/>
              </a:rPr>
              <a:t>SKU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603504" y="5149900"/>
            <a:ext cx="10984961" cy="203606"/>
          </a:xfrm>
          <a:prstGeom prst="roundRect">
            <a:avLst>
              <a:gd name="adj" fmla="val 20000"/>
            </a:avLst>
          </a:prstGeom>
          <a:solidFill>
            <a:srgbClr val="FFF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31520" y="5132832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03A5D"/>
                </a:solidFill>
                <a:latin typeface="Segoe UI"/>
              </a:rPr>
              <a:t>НАШ · BSCM Foods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3346704" y="5160264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Таїланд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4059935" y="5160264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150–250 г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4718304" y="5160264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17890"/>
                </a:solidFill>
                <a:latin typeface="Segoe UI"/>
              </a:rPr>
              <a:t>24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6603911" y="5210556"/>
            <a:ext cx="1691949" cy="8229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ounded Rectangle 169"/>
          <p:cNvSpPr/>
          <p:nvPr/>
        </p:nvSpPr>
        <p:spPr>
          <a:xfrm>
            <a:off x="6553619" y="520141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F9A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ounded Rectangle 170"/>
          <p:cNvSpPr/>
          <p:nvPr/>
        </p:nvSpPr>
        <p:spPr>
          <a:xfrm>
            <a:off x="6804405" y="520141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F9A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ounded Rectangle 171"/>
          <p:cNvSpPr/>
          <p:nvPr/>
        </p:nvSpPr>
        <p:spPr>
          <a:xfrm>
            <a:off x="6804405" y="520141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F9A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ounded Rectangle 172"/>
          <p:cNvSpPr/>
          <p:nvPr/>
        </p:nvSpPr>
        <p:spPr>
          <a:xfrm>
            <a:off x="6966203" y="520141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F9A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ounded Rectangle 173"/>
          <p:cNvSpPr/>
          <p:nvPr/>
        </p:nvSpPr>
        <p:spPr>
          <a:xfrm>
            <a:off x="6752634" y="520141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F9A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ounded Rectangle 174"/>
          <p:cNvSpPr/>
          <p:nvPr/>
        </p:nvSpPr>
        <p:spPr>
          <a:xfrm>
            <a:off x="6972562" y="520141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F9A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ounded Rectangle 175"/>
          <p:cNvSpPr/>
          <p:nvPr/>
        </p:nvSpPr>
        <p:spPr>
          <a:xfrm>
            <a:off x="6972562" y="520141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F9A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ounded Rectangle 176"/>
          <p:cNvSpPr/>
          <p:nvPr/>
        </p:nvSpPr>
        <p:spPr>
          <a:xfrm>
            <a:off x="7161071" y="520141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F9A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ounded Rectangle 177"/>
          <p:cNvSpPr/>
          <p:nvPr/>
        </p:nvSpPr>
        <p:spPr>
          <a:xfrm>
            <a:off x="6830389" y="520141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F9A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ounded Rectangle 178"/>
          <p:cNvSpPr/>
          <p:nvPr/>
        </p:nvSpPr>
        <p:spPr>
          <a:xfrm>
            <a:off x="7088355" y="520141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F9A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ounded Rectangle 179"/>
          <p:cNvSpPr/>
          <p:nvPr/>
        </p:nvSpPr>
        <p:spPr>
          <a:xfrm>
            <a:off x="7088355" y="520141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F9A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ounded Rectangle 180"/>
          <p:cNvSpPr/>
          <p:nvPr/>
        </p:nvSpPr>
        <p:spPr>
          <a:xfrm>
            <a:off x="7346320" y="520141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F9A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ounded Rectangle 181"/>
          <p:cNvSpPr/>
          <p:nvPr/>
        </p:nvSpPr>
        <p:spPr>
          <a:xfrm>
            <a:off x="6623619" y="520141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F9A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ounded Rectangle 182"/>
          <p:cNvSpPr/>
          <p:nvPr/>
        </p:nvSpPr>
        <p:spPr>
          <a:xfrm>
            <a:off x="6623566" y="520141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F9A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ounded Rectangle 183"/>
          <p:cNvSpPr/>
          <p:nvPr/>
        </p:nvSpPr>
        <p:spPr>
          <a:xfrm>
            <a:off x="6756810" y="520141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F9A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ounded Rectangle 184"/>
          <p:cNvSpPr/>
          <p:nvPr/>
        </p:nvSpPr>
        <p:spPr>
          <a:xfrm>
            <a:off x="6756810" y="520141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F9A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ounded Rectangle 185"/>
          <p:cNvSpPr/>
          <p:nvPr/>
        </p:nvSpPr>
        <p:spPr>
          <a:xfrm>
            <a:off x="6756810" y="520141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F9A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ounded Rectangle 186"/>
          <p:cNvSpPr/>
          <p:nvPr/>
        </p:nvSpPr>
        <p:spPr>
          <a:xfrm>
            <a:off x="7977157" y="520141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F9A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ounded Rectangle 187"/>
          <p:cNvSpPr/>
          <p:nvPr/>
        </p:nvSpPr>
        <p:spPr>
          <a:xfrm>
            <a:off x="7708746" y="520141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F9A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ounded Rectangle 188"/>
          <p:cNvSpPr/>
          <p:nvPr/>
        </p:nvSpPr>
        <p:spPr>
          <a:xfrm>
            <a:off x="7977157" y="520141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F9A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ounded Rectangle 189"/>
          <p:cNvSpPr/>
          <p:nvPr/>
        </p:nvSpPr>
        <p:spPr>
          <a:xfrm>
            <a:off x="7977244" y="520141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F9A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ounded Rectangle 190"/>
          <p:cNvSpPr/>
          <p:nvPr/>
        </p:nvSpPr>
        <p:spPr>
          <a:xfrm>
            <a:off x="8245568" y="520141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F9A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ounded Rectangle 191"/>
          <p:cNvSpPr/>
          <p:nvPr/>
        </p:nvSpPr>
        <p:spPr>
          <a:xfrm>
            <a:off x="7547699" y="520141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F9A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ounded Rectangle 192"/>
          <p:cNvSpPr/>
          <p:nvPr/>
        </p:nvSpPr>
        <p:spPr>
          <a:xfrm>
            <a:off x="7977157" y="520141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F9A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ounded Rectangle 193"/>
          <p:cNvSpPr/>
          <p:nvPr/>
        </p:nvSpPr>
        <p:spPr>
          <a:xfrm>
            <a:off x="6913126" y="5141976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 w="25400">
            <a:solidFill>
              <a:srgbClr val="303A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8478740" y="5141976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133–280</a:t>
            </a:r>
          </a:p>
        </p:txBody>
      </p:sp>
      <p:sp>
        <p:nvSpPr>
          <p:cNvPr id="196" name="Rounded Rectangle 195"/>
          <p:cNvSpPr/>
          <p:nvPr/>
        </p:nvSpPr>
        <p:spPr>
          <a:xfrm>
            <a:off x="603504" y="5390083"/>
            <a:ext cx="10984961" cy="203606"/>
          </a:xfrm>
          <a:prstGeom prst="roundRect">
            <a:avLst>
              <a:gd name="adj" fmla="val 20000"/>
            </a:avLst>
          </a:prstGeom>
          <a:solidFill>
            <a:srgbClr val="FFF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731520" y="5373014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03A5D"/>
                </a:solidFill>
                <a:latin typeface="Segoe UI"/>
              </a:rPr>
              <a:t>НАШ · CM Premium · Chefrey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3346704" y="5400446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Таїланд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4059935" y="5400446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250 г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4718304" y="5400446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7130266" y="5450738"/>
            <a:ext cx="36576" cy="8229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ounded Rectangle 201"/>
          <p:cNvSpPr/>
          <p:nvPr/>
        </p:nvSpPr>
        <p:spPr>
          <a:xfrm>
            <a:off x="7079974" y="544159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F9A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ounded Rectangle 202"/>
          <p:cNvSpPr/>
          <p:nvPr/>
        </p:nvSpPr>
        <p:spPr>
          <a:xfrm>
            <a:off x="7079974" y="544159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F9A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ounded Rectangle 203"/>
          <p:cNvSpPr/>
          <p:nvPr/>
        </p:nvSpPr>
        <p:spPr>
          <a:xfrm>
            <a:off x="7079974" y="544159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F9A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ounded Rectangle 204"/>
          <p:cNvSpPr/>
          <p:nvPr/>
        </p:nvSpPr>
        <p:spPr>
          <a:xfrm>
            <a:off x="7079974" y="544159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F9A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ounded Rectangle 205"/>
          <p:cNvSpPr/>
          <p:nvPr/>
        </p:nvSpPr>
        <p:spPr>
          <a:xfrm>
            <a:off x="7020538" y="5382158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 w="25400">
            <a:solidFill>
              <a:srgbClr val="303A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7313146" y="538215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178</a:t>
            </a:r>
          </a:p>
        </p:txBody>
      </p:sp>
      <p:sp>
        <p:nvSpPr>
          <p:cNvPr id="208" name="Rounded Rectangle 207"/>
          <p:cNvSpPr/>
          <p:nvPr/>
        </p:nvSpPr>
        <p:spPr>
          <a:xfrm>
            <a:off x="603504" y="5630265"/>
            <a:ext cx="10984961" cy="203606"/>
          </a:xfrm>
          <a:prstGeom prst="roundRect">
            <a:avLst>
              <a:gd name="adj" fmla="val 20000"/>
            </a:avLst>
          </a:prstGeom>
          <a:solidFill>
            <a:srgbClr val="FFF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731520" y="5613196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03A5D"/>
                </a:solidFill>
                <a:latin typeface="Segoe UI"/>
              </a:rPr>
              <a:t>НАШ · ONE'S International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3346704" y="5640628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Корея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4059935" y="5640628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200–210 г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4718304" y="5640628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6837249" y="5690920"/>
            <a:ext cx="2056045" cy="8229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ounded Rectangle 213"/>
          <p:cNvSpPr/>
          <p:nvPr/>
        </p:nvSpPr>
        <p:spPr>
          <a:xfrm>
            <a:off x="6786957" y="568177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F9A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ounded Rectangle 214"/>
          <p:cNvSpPr/>
          <p:nvPr/>
        </p:nvSpPr>
        <p:spPr>
          <a:xfrm>
            <a:off x="8843002" y="568177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F9A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ounded Rectangle 215"/>
          <p:cNvSpPr/>
          <p:nvPr/>
        </p:nvSpPr>
        <p:spPr>
          <a:xfrm>
            <a:off x="8843002" y="568177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F9A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ounded Rectangle 216"/>
          <p:cNvSpPr/>
          <p:nvPr/>
        </p:nvSpPr>
        <p:spPr>
          <a:xfrm>
            <a:off x="8843002" y="568177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F9A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ounded Rectangle 217"/>
          <p:cNvSpPr/>
          <p:nvPr/>
        </p:nvSpPr>
        <p:spPr>
          <a:xfrm>
            <a:off x="8783566" y="5622340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 w="25400">
            <a:solidFill>
              <a:srgbClr val="303A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9076174" y="5622340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153–332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603504" y="647395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Роздрібна ціна за одну упаковку на сайтах продавців; кожна позиція — її мінімальна ціна. Наші бренди — полиця за фінмоделлю: ціна партнеру з ПДВ × 1,4 (20' навалом, курс 45). Смуга — від найдешевшої до найдорожчої позиції.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C95C"/>
                </a:solidFill>
                <a:latin typeface="Segoe UI"/>
              </a:rPr>
              <a:t>ЦІНА ЗА ОДНУ УПАКОВКУ · 2 З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Ціна: під окріп і саморозігрів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717890"/>
                </a:solidFill>
                <a:latin typeface="Segoe UI"/>
              </a:rPr>
              <a:t>Henan стоїть на рівні пауча, саморозігрів — у п'ять–вісім разів дорожче.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74920" y="1645920"/>
            <a:ext cx="10972" cy="3493008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59" y="5166360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2783" y="1645920"/>
            <a:ext cx="10972" cy="3493008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07023" y="5166360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717890"/>
                </a:solidFill>
                <a:latin typeface="Segoe UI"/>
              </a:rPr>
              <a:t>250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70648" y="1645920"/>
            <a:ext cx="10972" cy="3493008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04888" y="5166360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717890"/>
                </a:solidFill>
                <a:latin typeface="Segoe UI"/>
              </a:rPr>
              <a:t>500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68512" y="1645920"/>
            <a:ext cx="10972" cy="3493008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5166360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717890"/>
                </a:solidFill>
                <a:latin typeface="Segoe UI"/>
              </a:rPr>
              <a:t>750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866376" y="1645920"/>
            <a:ext cx="10972" cy="3493008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0615" y="5166360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717890"/>
                </a:solidFill>
                <a:latin typeface="Segoe UI"/>
              </a:rPr>
              <a:t>1 000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064240" y="1645920"/>
            <a:ext cx="10972" cy="3493008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98480" y="5166360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717890"/>
                </a:solidFill>
                <a:latin typeface="Segoe UI"/>
              </a:rPr>
              <a:t>1 250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" y="5166360"/>
            <a:ext cx="4023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717890"/>
                </a:solidFill>
                <a:latin typeface="Segoe UI"/>
              </a:rPr>
              <a:t>ГРН/УПАКОВКА · ВЕЛИКА ТОЧКА — МЕДІАНА, МАЛІ — ПОЗИЦІЇ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" y="1655064"/>
            <a:ext cx="10984961" cy="256032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1655064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СЕГМЕНТ 2 · ПІД ОКРІП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46704" y="165506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КРАЇНА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59935" y="165506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ВАГА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28032" y="165506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Segoe UI"/>
              </a:rPr>
              <a:t>SKU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2000250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Henan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46704" y="2027681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59935" y="2027681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144–174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18304" y="2027681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17890"/>
                </a:solidFill>
                <a:latin typeface="Segoe UI"/>
              </a:rPr>
              <a:t>8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72610" y="2077974"/>
            <a:ext cx="349776" cy="82296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642725" y="2068829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E9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695431" y="2068829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E9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590019" y="2068829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E9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590019" y="2068829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E9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561271" y="2068829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E9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422318" y="2068829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E9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671474" y="2068829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E9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752929" y="2068829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E9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556936" y="2009393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05267" y="2009393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83–156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2361438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Gallina Blanca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46704" y="2388870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59935" y="2388870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84 г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18304" y="238887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72163" y="2439162"/>
            <a:ext cx="36576" cy="82296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121871" y="243001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E9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121871" y="243001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E9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062435" y="2370582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55043" y="237058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229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" y="2722626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Qiaoshanmei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46704" y="2750058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059935" y="2750058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146 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18304" y="2750058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17890"/>
                </a:solidFill>
                <a:latin typeface="Segoe UI"/>
              </a:rPr>
              <a:t>3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475439" y="2800350"/>
            <a:ext cx="36576" cy="82296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7425147" y="279120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E9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7425147" y="279120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E9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7425147" y="279120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E9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7365711" y="2731770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658319" y="2731770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501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03504" y="3049524"/>
            <a:ext cx="10984961" cy="256032"/>
          </a:xfrm>
          <a:prstGeom prst="roundRect">
            <a:avLst>
              <a:gd name="adj" fmla="val 3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31520" y="3049524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СЕГМЕНТ 3 · САМОРОЗІГРІВ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46704" y="30495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КРАЇНА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59935" y="30495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ВАГА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28032" y="30495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Segoe UI"/>
              </a:rPr>
              <a:t>SKU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" y="3394710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Haidilao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46704" y="342214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059935" y="3422142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165–360 г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18304" y="3422142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17890"/>
                </a:solidFill>
                <a:latin typeface="Segoe UI"/>
              </a:rPr>
              <a:t>11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895673" y="3472434"/>
            <a:ext cx="3881079" cy="82296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6845381" y="346329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94F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8714049" y="346329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94F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8853001" y="346329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94F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8853001" y="346329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94F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8282818" y="346329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94F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8139074" y="346329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94F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8139074" y="346329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94F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8139074" y="346329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94F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8139074" y="346329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94F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10726460" y="346329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94F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9576511" y="346329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94F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8223382" y="3403854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959632" y="3403854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380–1 190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3755898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Zihaiguo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346704" y="3783330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059935" y="3783330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440 г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718304" y="378333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596640" y="3833622"/>
            <a:ext cx="36576" cy="82296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8546348" y="382447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94F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8486912" y="3765041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779520" y="3765041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735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31520" y="4117086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Rongcheng Haoji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346704" y="4144518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059935" y="4144518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440 г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718304" y="4144518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8596640" y="4194810"/>
            <a:ext cx="36576" cy="82296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8546348" y="418566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94F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8486912" y="4126230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779520" y="4126230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735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31520" y="4478274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Mo Xiao Xian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346704" y="4505706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059935" y="4505706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275 г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718304" y="4505706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9535765" y="4555998"/>
            <a:ext cx="36576" cy="82296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9485473" y="454685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94F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9485473" y="454685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94F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9426037" y="4487418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718645" y="448741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931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31520" y="4839462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Forestia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346704" y="4866894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059935" y="4866894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маса н/д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718304" y="4866894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9554931" y="4917186"/>
            <a:ext cx="36576" cy="82296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9504639" y="490804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94F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9445203" y="4848605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737811" y="4848605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935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603504" y="5733288"/>
            <a:ext cx="10954512" cy="621792"/>
          </a:xfrm>
          <a:prstGeom prst="roundRect">
            <a:avLst>
              <a:gd name="adj" fmla="val 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603504" y="5733288"/>
            <a:ext cx="82296" cy="621792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914400" y="5916168"/>
            <a:ext cx="104058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D5DBEA"/>
                </a:solidFill>
                <a:latin typeface="Segoe UI"/>
              </a:rPr>
              <a:t>Henan (чаша 144–174 г): медіана 124 грн проти 118 грн у пауча. Саморозігрів: Haidilao 380–1 190 грн, решта бренди — 735–935 грн; це інший привід (похід, дача), а не мережева полиця.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03504" y="647395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Роздрібна ціна за одну упаковку на сайтах продавців; кожна позиція — її мінімальна ціна.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C95C"/>
                </a:solidFill>
                <a:latin typeface="Segoe UI"/>
              </a:rPr>
              <a:t>ЦІНА ЗА ОДНУ УПАКОВКУ · 3 З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Ціна: сублімація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717890"/>
                </a:solidFill>
                <a:latin typeface="Segoe UI"/>
              </a:rPr>
              <a:t>Український сублімат — від 55 до 370 грн, імпортний — від 270 до 890.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74920" y="1645920"/>
            <a:ext cx="10972" cy="3493008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59" y="5166360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35829" y="1645920"/>
            <a:ext cx="10972" cy="3493008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70069" y="5166360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717890"/>
                </a:solidFill>
                <a:latin typeface="Segoe UI"/>
              </a:rPr>
              <a:t>200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96738" y="1645920"/>
            <a:ext cx="10972" cy="3493008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30978" y="5166360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717890"/>
                </a:solidFill>
                <a:latin typeface="Segoe UI"/>
              </a:rPr>
              <a:t>400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57648" y="1645920"/>
            <a:ext cx="10972" cy="3493008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91888" y="5166360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717890"/>
                </a:solidFill>
                <a:latin typeface="Segoe UI"/>
              </a:rPr>
              <a:t>600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118557" y="1645920"/>
            <a:ext cx="10972" cy="3493008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52797" y="5166360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717890"/>
                </a:solidFill>
                <a:latin typeface="Segoe UI"/>
              </a:rPr>
              <a:t>800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" y="5166360"/>
            <a:ext cx="4023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717890"/>
                </a:solidFill>
                <a:latin typeface="Segoe UI"/>
              </a:rPr>
              <a:t>ГРН/УПАКОВКА · ВЕЛИКА ТОЧКА — МЕДІАНА, МАЛІ — ПОЗИЦІЇ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" y="1655064"/>
            <a:ext cx="10984961" cy="256032"/>
          </a:xfrm>
          <a:prstGeom prst="roundRect">
            <a:avLst>
              <a:gd name="adj" fmla="val 30000"/>
            </a:avLst>
          </a:prstGeom>
          <a:solidFill>
            <a:srgbClr val="5E4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1655064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СЕГМЕНТ 4 · СУБЛІМАЦІЯ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165506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КРАЇНА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59935" y="165506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ВАГА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28032" y="165506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Segoe UI"/>
              </a:rPr>
              <a:t>SKU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1979676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James Cook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46704" y="2007107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59935" y="2007107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80–90 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18304" y="2007107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21670" y="2057400"/>
            <a:ext cx="636759" cy="82296"/>
          </a:xfrm>
          <a:prstGeom prst="roundRect">
            <a:avLst>
              <a:gd name="adj" fmla="val 50000"/>
            </a:avLst>
          </a:prstGeom>
          <a:solidFill>
            <a:srgbClr val="5E4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547905" y="2048255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5E4B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484859" y="2048255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5E4B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008137" y="2048255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5E4B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371378" y="2048255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5E4B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456946" y="1988819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5E4B9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41309" y="1988819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55–156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2299716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!FEST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46704" y="2327148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59935" y="2327148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100 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18304" y="2327148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13424" y="2377440"/>
            <a:ext cx="661977" cy="82296"/>
          </a:xfrm>
          <a:prstGeom prst="roundRect">
            <a:avLst>
              <a:gd name="adj" fmla="val 50000"/>
            </a:avLst>
          </a:prstGeom>
          <a:solidFill>
            <a:srgbClr val="5E4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863132" y="236829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5E4B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803696" y="2308860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5E4B9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58282" y="2308860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133–238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2619756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Їжа в Похід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46704" y="2647188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59935" y="2647188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85 г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18304" y="2647188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894511" y="2697480"/>
            <a:ext cx="94568" cy="82296"/>
          </a:xfrm>
          <a:prstGeom prst="roundRect">
            <a:avLst>
              <a:gd name="adj" fmla="val 50000"/>
            </a:avLst>
          </a:prstGeom>
          <a:solidFill>
            <a:srgbClr val="5E4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938787" y="268833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5E4B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844219" y="268833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5E4B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832067" y="2628900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5E4B9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71959" y="2628900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130–145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2939796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Харчі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46704" y="2967228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59935" y="2967228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85–100 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18304" y="2967228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17890"/>
                </a:solidFill>
                <a:latin typeface="Segoe UI"/>
              </a:rPr>
              <a:t>6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598197" y="3017520"/>
            <a:ext cx="1500482" cy="82296"/>
          </a:xfrm>
          <a:prstGeom prst="roundRect">
            <a:avLst>
              <a:gd name="adj" fmla="val 50000"/>
            </a:avLst>
          </a:prstGeom>
          <a:solidFill>
            <a:srgbClr val="5E4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5781173" y="300837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5E4B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5781173" y="300837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5E4B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5547905" y="300837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5E4B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7048387" y="300837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5E4B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254014" y="300837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5E4B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392714" y="300837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5E4B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5958158" y="2948940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5E4B9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281559" y="2948940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83–321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" y="3259836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SubliMate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46704" y="3287268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059935" y="3287268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110–140 г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18304" y="3287268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17890"/>
                </a:solidFill>
                <a:latin typeface="Segoe UI"/>
              </a:rPr>
              <a:t>3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903238" y="3337560"/>
            <a:ext cx="504363" cy="82296"/>
          </a:xfrm>
          <a:prstGeom prst="roundRect">
            <a:avLst>
              <a:gd name="adj" fmla="val 50000"/>
            </a:avLst>
          </a:prstGeom>
          <a:solidFill>
            <a:srgbClr val="5E4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6972733" y="332841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5E4B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6852946" y="332841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5E4B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7357310" y="332841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5E4B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6913297" y="3268980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5E4B9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590482" y="3268980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290–370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31520" y="3579876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Adventure Menu · дойпак 110 г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346704" y="3607308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059935" y="3607308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110 г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718304" y="3607308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458038" y="3657600"/>
            <a:ext cx="661977" cy="82296"/>
          </a:xfrm>
          <a:prstGeom prst="roundRect">
            <a:avLst>
              <a:gd name="adj" fmla="val 50000"/>
            </a:avLst>
          </a:prstGeom>
          <a:solidFill>
            <a:srgbClr val="5E4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7407746" y="364845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5E4B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7483401" y="364845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5E4B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7386138" y="3589020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5E4B9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302896" y="3589020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378–483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3899916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Trek'n Eat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346704" y="3927348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059935" y="3927348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маса н/д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718304" y="3927348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770843" y="3977640"/>
            <a:ext cx="2811828" cy="82296"/>
          </a:xfrm>
          <a:prstGeom prst="roundRect">
            <a:avLst>
              <a:gd name="adj" fmla="val 50000"/>
            </a:avLst>
          </a:prstGeom>
          <a:solidFill>
            <a:srgbClr val="5E4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6720551" y="396849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5E4B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9532379" y="396849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5E4B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8067029" y="3909060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5E4B9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765551" y="3909060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269–715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31520" y="4219956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Adventure Food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346704" y="4247388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059935" y="4247388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140–146 г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718304" y="4247388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8176757" y="4297680"/>
            <a:ext cx="36576" cy="82296"/>
          </a:xfrm>
          <a:prstGeom prst="roundRect">
            <a:avLst>
              <a:gd name="adj" fmla="val 50000"/>
            </a:avLst>
          </a:prstGeom>
          <a:solidFill>
            <a:srgbClr val="5E4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8126465" y="428853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5E4B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8126465" y="428853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5E4B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8067029" y="4229100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5E4B9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359637" y="4229100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492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31520" y="4539996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Travellunch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346704" y="4567428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059935" y="4567428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125–250 г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718304" y="4567428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17890"/>
                </a:solidFill>
                <a:latin typeface="Segoe UI"/>
              </a:rPr>
              <a:t>7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6808670" y="4617720"/>
            <a:ext cx="3870992" cy="82296"/>
          </a:xfrm>
          <a:prstGeom prst="roundRect">
            <a:avLst>
              <a:gd name="adj" fmla="val 50000"/>
            </a:avLst>
          </a:prstGeom>
          <a:solidFill>
            <a:srgbClr val="5E4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6758378" y="460857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5E4B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6884469" y="460857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5E4B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8599306" y="460857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5E4B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8271469" y="460857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5E4B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7641015" y="460857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5E4B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10137615" y="460857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5E4B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10629370" y="460857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5E4B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8212033" y="4549140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5E4B9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0862542" y="4549140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275–889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31520" y="4860036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Mountain House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346704" y="4887468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США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059935" y="4887468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110–133 г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718304" y="4887468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9481798" y="4937759"/>
            <a:ext cx="36576" cy="82296"/>
          </a:xfrm>
          <a:prstGeom prst="roundRect">
            <a:avLst>
              <a:gd name="adj" fmla="val 50000"/>
            </a:avLst>
          </a:prstGeom>
          <a:solidFill>
            <a:srgbClr val="5E4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ounded Rectangle 122"/>
          <p:cNvSpPr/>
          <p:nvPr/>
        </p:nvSpPr>
        <p:spPr>
          <a:xfrm>
            <a:off x="9431506" y="492861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5E4B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ounded Rectangle 123"/>
          <p:cNvSpPr/>
          <p:nvPr/>
        </p:nvSpPr>
        <p:spPr>
          <a:xfrm>
            <a:off x="9431506" y="492861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5E4B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ounded Rectangle 124"/>
          <p:cNvSpPr/>
          <p:nvPr/>
        </p:nvSpPr>
        <p:spPr>
          <a:xfrm>
            <a:off x="9372070" y="4869179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5E4B9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664678" y="4869179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699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603504" y="5733288"/>
            <a:ext cx="10954512" cy="621792"/>
          </a:xfrm>
          <a:prstGeom prst="roundRect">
            <a:avLst>
              <a:gd name="adj" fmla="val 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603504" y="5733288"/>
            <a:ext cx="82296" cy="621792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914400" y="5916168"/>
            <a:ext cx="104058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D5DBEA"/>
                </a:solidFill>
                <a:latin typeface="Segoe UI"/>
              </a:rPr>
              <a:t>Український сублімат (James Cook, Харчі, Їжа в Похід, !FEST, SubliMate) — 80–140 г і 55–370 грн; імпортний (Travellunch, Trek'n Eat, Mountain House, Adventure) — 110–250 г і 269–889 грн. Продається в туристичних магазинах.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03504" y="647395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Роздрібна ціна за одну упаковку на сайтах продавців; кожна позиція — її мінімальна ціна. Вага — продукту в упаковці (сухого).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C95C"/>
                </a:solidFill>
                <a:latin typeface="Segoe UI"/>
              </a:rPr>
              <a:t>РИТЕЙЛ-АУДИТ · МЕРЕЖІ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Що з готового рису стоїть у мережах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717890"/>
                </a:solidFill>
                <a:latin typeface="Segoe UI"/>
              </a:rPr>
              <a:t>Каталоги 9 мереж, 28.09.2026: усього 26 позицій, а готового рису кімнатного зберігання — лише 12.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645920"/>
            <a:ext cx="222199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717890"/>
                </a:solidFill>
                <a:latin typeface="Segoe UI"/>
              </a:rPr>
              <a:t>МЕРЕЖА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26664" y="1645920"/>
            <a:ext cx="12161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717890"/>
                </a:solidFill>
                <a:latin typeface="Segoe UI"/>
              </a:rPr>
              <a:t>КІМНАТНЕ ЗБЕРІГАННЯ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2544" y="1645920"/>
            <a:ext cx="12161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717890"/>
                </a:solidFill>
                <a:latin typeface="Segoe UI"/>
              </a:rPr>
              <a:t>ОХОЛОДЖЕНА КУЛІНАРІЯ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78424" y="1645920"/>
            <a:ext cx="117043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717890"/>
                </a:solidFill>
                <a:latin typeface="Segoe UI"/>
              </a:rPr>
              <a:t>СУМІШІ ПІД ВАРІННЯ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58583" y="1645920"/>
            <a:ext cx="71323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717890"/>
                </a:solidFill>
                <a:latin typeface="Segoe UI"/>
              </a:rPr>
              <a:t/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" y="2029968"/>
            <a:ext cx="7086600" cy="329184"/>
          </a:xfrm>
          <a:prstGeom prst="roundRect">
            <a:avLst>
              <a:gd name="adj" fmla="val 2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048256"/>
            <a:ext cx="2240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Сільпо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221992"/>
            <a:ext cx="2240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717890"/>
                </a:solidFill>
                <a:latin typeface="Segoe UI"/>
              </a:rPr>
              <a:t>Ben's ×11 · Чіл Міл ×2 · боули ×6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23844" y="2066544"/>
            <a:ext cx="548640" cy="256032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35224" y="2066544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49724" y="2066544"/>
            <a:ext cx="548640" cy="256032"/>
          </a:xfrm>
          <a:prstGeom prst="roundRect">
            <a:avLst>
              <a:gd name="adj" fmla="val 30000"/>
            </a:avLst>
          </a:prstGeom>
          <a:solidFill>
            <a:srgbClr val="5E4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61104" y="2066544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52744" y="2066544"/>
            <a:ext cx="548640" cy="256032"/>
          </a:xfrm>
          <a:prstGeom prst="roundRect">
            <a:avLst>
              <a:gd name="adj" fmla="val 30000"/>
            </a:avLst>
          </a:prstGeom>
          <a:solidFill>
            <a:srgbClr val="C48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86984" y="2066544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3504" y="2395728"/>
            <a:ext cx="7086600" cy="32918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2414016"/>
            <a:ext cx="2240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МегаМаркет · Ultramarket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2587752"/>
            <a:ext cx="2240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717890"/>
                </a:solidFill>
                <a:latin typeface="Segoe UI"/>
              </a:rPr>
              <a:t>The Local Food · рис японський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23844" y="2432304"/>
            <a:ext cx="548640" cy="256032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35224" y="2432304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49724" y="2432304"/>
            <a:ext cx="548640" cy="256032"/>
          </a:xfrm>
          <a:prstGeom prst="roundRect">
            <a:avLst>
              <a:gd name="adj" fmla="val 30000"/>
            </a:avLst>
          </a:prstGeom>
          <a:solidFill>
            <a:srgbClr val="5E4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61104" y="2432304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52744" y="2432304"/>
            <a:ext cx="548640" cy="256032"/>
          </a:xfrm>
          <a:prstGeom prst="roundRect">
            <a:avLst>
              <a:gd name="adj" fmla="val 30000"/>
            </a:avLst>
          </a:prstGeom>
          <a:solidFill>
            <a:srgbClr val="C48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86984" y="2432304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3504" y="2761488"/>
            <a:ext cx="7086600" cy="329184"/>
          </a:xfrm>
          <a:prstGeom prst="roundRect">
            <a:avLst>
              <a:gd name="adj" fmla="val 2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2779776"/>
            <a:ext cx="2240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NOVUS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2953512"/>
            <a:ext cx="2240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717890"/>
                </a:solidFill>
                <a:latin typeface="Segoe UI"/>
              </a:rPr>
              <a:t>«Майстри Смаку»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35224" y="2798064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A9B0C4"/>
                </a:solidFill>
                <a:latin typeface="Segoe UI"/>
              </a:rPr>
              <a:t>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49724" y="2798064"/>
            <a:ext cx="548640" cy="256032"/>
          </a:xfrm>
          <a:prstGeom prst="roundRect">
            <a:avLst>
              <a:gd name="adj" fmla="val 30000"/>
            </a:avLst>
          </a:prstGeom>
          <a:solidFill>
            <a:srgbClr val="5E4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61104" y="2798064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52744" y="2798064"/>
            <a:ext cx="548640" cy="256032"/>
          </a:xfrm>
          <a:prstGeom prst="roundRect">
            <a:avLst>
              <a:gd name="adj" fmla="val 30000"/>
            </a:avLst>
          </a:prstGeom>
          <a:solidFill>
            <a:srgbClr val="C48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586984" y="2798064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03504" y="3127248"/>
            <a:ext cx="7086600" cy="32918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3145536"/>
            <a:ext cx="2240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Ашан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3319272"/>
            <a:ext cx="2240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717890"/>
                </a:solidFill>
                <a:latin typeface="Segoe UI"/>
              </a:rPr>
              <a:t>«Легко!»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35224" y="3163824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A9B0C4"/>
                </a:solidFill>
                <a:latin typeface="Segoe UI"/>
              </a:rPr>
              <a:t>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649724" y="3163824"/>
            <a:ext cx="548640" cy="256032"/>
          </a:xfrm>
          <a:prstGeom prst="roundRect">
            <a:avLst>
              <a:gd name="adj" fmla="val 30000"/>
            </a:avLst>
          </a:prstGeom>
          <a:solidFill>
            <a:srgbClr val="5E4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61104" y="3163824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52744" y="3163824"/>
            <a:ext cx="548640" cy="256032"/>
          </a:xfrm>
          <a:prstGeom prst="roundRect">
            <a:avLst>
              <a:gd name="adj" fmla="val 30000"/>
            </a:avLst>
          </a:prstGeom>
          <a:solidFill>
            <a:srgbClr val="C48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86984" y="3163824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03504" y="3493008"/>
            <a:ext cx="7086600" cy="329184"/>
          </a:xfrm>
          <a:prstGeom prst="roundRect">
            <a:avLst>
              <a:gd name="adj" fmla="val 2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3511296"/>
            <a:ext cx="2240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METRO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3685032"/>
            <a:ext cx="2240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717890"/>
                </a:solidFill>
                <a:latin typeface="Segoe UI"/>
              </a:rPr>
              <a:t>нічого не знайдено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35224" y="3529584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A9B0C4"/>
                </a:solidFill>
                <a:latin typeface="Segoe UI"/>
              </a:rPr>
              <a:t>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61104" y="3529584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A9B0C4"/>
                </a:solidFill>
                <a:latin typeface="Segoe UI"/>
              </a:rPr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86984" y="3529584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A9B0C4"/>
                </a:solidFill>
                <a:latin typeface="Segoe UI"/>
              </a:rPr>
              <a:t>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03504" y="3858768"/>
            <a:ext cx="7086600" cy="32918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20" y="3877055"/>
            <a:ext cx="2240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ЕКО маркет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4050791"/>
            <a:ext cx="2240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717890"/>
                </a:solidFill>
                <a:latin typeface="Segoe UI"/>
              </a:rPr>
              <a:t>нічого не знайдено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935224" y="3895344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A9B0C4"/>
                </a:solidFill>
                <a:latin typeface="Segoe UI"/>
              </a:rPr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61104" y="3895344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A9B0C4"/>
                </a:solidFill>
                <a:latin typeface="Segoe UI"/>
              </a:rPr>
              <a:t>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86984" y="3895344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A9B0C4"/>
                </a:solidFill>
                <a:latin typeface="Segoe UI"/>
              </a:rPr>
              <a:t>0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03504" y="4224528"/>
            <a:ext cx="7086600" cy="329184"/>
          </a:xfrm>
          <a:prstGeom prst="roundRect">
            <a:avLst>
              <a:gd name="adj" fmla="val 2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1520" y="4242816"/>
            <a:ext cx="2240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Epicentr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520" y="4416552"/>
            <a:ext cx="2240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717890"/>
                </a:solidFill>
                <a:latin typeface="Segoe UI"/>
              </a:rPr>
              <a:t>нічого не знайдено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35224" y="4261104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A9B0C4"/>
                </a:solidFill>
                <a:latin typeface="Segoe UI"/>
              </a:rPr>
              <a:t>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61104" y="4261104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A9B0C4"/>
                </a:solidFill>
                <a:latin typeface="Segoe UI"/>
              </a:rPr>
              <a:t>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586984" y="4261104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A9B0C4"/>
                </a:solidFill>
                <a:latin typeface="Segoe UI"/>
              </a:rPr>
              <a:t>0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03504" y="4590288"/>
            <a:ext cx="7086600" cy="32918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608576"/>
            <a:ext cx="2240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Космос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782312"/>
            <a:ext cx="2240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717890"/>
                </a:solidFill>
                <a:latin typeface="Segoe UI"/>
              </a:rPr>
              <a:t>нічого не знайдено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935224" y="4626864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A9B0C4"/>
                </a:solidFill>
                <a:latin typeface="Segoe UI"/>
              </a:rPr>
              <a:t>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261104" y="4626864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A9B0C4"/>
                </a:solidFill>
                <a:latin typeface="Segoe UI"/>
              </a:rPr>
              <a:t>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586984" y="4626864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A9B0C4"/>
                </a:solidFill>
                <a:latin typeface="Segoe UI"/>
              </a:rPr>
              <a:t>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03504" y="4974336"/>
            <a:ext cx="7086600" cy="365760"/>
          </a:xfrm>
          <a:prstGeom prst="roundRect">
            <a:avLst>
              <a:gd name="adj" fmla="val 20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31520" y="4974336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"/>
              </a:rPr>
              <a:t>Унікальних SKU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935224" y="4974336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C95C"/>
                </a:solidFill>
                <a:latin typeface="Segoe UI"/>
              </a:rPr>
              <a:t>12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261104" y="4974336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C95C"/>
                </a:solidFill>
                <a:latin typeface="Segoe UI"/>
              </a:rPr>
              <a:t>11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86984" y="4974336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C95C"/>
                </a:solidFill>
                <a:latin typeface="Segoe UI"/>
              </a:rPr>
              <a:t>3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891272" y="1645920"/>
            <a:ext cx="3697193" cy="37307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092440" y="1737360"/>
            <a:ext cx="333143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17890"/>
                </a:solidFill>
                <a:latin typeface="Segoe UI"/>
              </a:rPr>
              <a:t>BEN'S ORIGINAL У «СІЛЬПО» · 11 ПОЗИЦІЙ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092440" y="2048256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C2235"/>
                </a:solidFill>
                <a:latin typeface="Segoe UI"/>
              </a:rPr>
              <a:t>Long Grain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857232" y="2048256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399745" y="2048256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303A5D"/>
                </a:solidFill>
                <a:latin typeface="Segoe UI"/>
              </a:rPr>
              <a:t>45 грн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092440" y="2339035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C2235"/>
                </a:solidFill>
                <a:latin typeface="Segoe UI"/>
              </a:rPr>
              <a:t>Curry з сочевицею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857232" y="2339035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17890"/>
                </a:solidFill>
                <a:latin typeface="Segoe UI"/>
              </a:rPr>
              <a:t>220 г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399745" y="2339035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303A5D"/>
                </a:solidFill>
                <a:latin typeface="Segoe UI"/>
              </a:rPr>
              <a:t>90 грн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92440" y="2629814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C2235"/>
                </a:solidFill>
                <a:latin typeface="Segoe UI"/>
              </a:rPr>
              <a:t>Basmati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857232" y="262981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399745" y="2629814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303A5D"/>
                </a:solidFill>
                <a:latin typeface="Segoe UI"/>
              </a:rPr>
              <a:t>90 грн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092440" y="2920593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C2235"/>
                </a:solidFill>
                <a:latin typeface="Segoe UI"/>
              </a:rPr>
              <a:t>Mediterran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857232" y="2920593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399745" y="2920593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303A5D"/>
                </a:solidFill>
                <a:latin typeface="Segoe UI"/>
              </a:rPr>
              <a:t>90 грн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092440" y="3211372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C2235"/>
                </a:solidFill>
                <a:latin typeface="Segoe UI"/>
              </a:rPr>
              <a:t>Risi Bisi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857232" y="321137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399745" y="3211372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303A5D"/>
                </a:solidFill>
                <a:latin typeface="Segoe UI"/>
              </a:rPr>
              <a:t>90 грн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092440" y="3502152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C2235"/>
                </a:solidFill>
                <a:latin typeface="Segoe UI"/>
              </a:rPr>
              <a:t>Indian Curry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857232" y="350215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399745" y="3502152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303A5D"/>
                </a:solidFill>
                <a:latin typeface="Segoe UI"/>
              </a:rPr>
              <a:t>90 грн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092440" y="3792931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C2235"/>
                </a:solidFill>
                <a:latin typeface="Segoe UI"/>
              </a:rPr>
              <a:t>Basmati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857232" y="3792931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17890"/>
                </a:solidFill>
                <a:latin typeface="Segoe UI"/>
              </a:rPr>
              <a:t>220 г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399745" y="3792931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303A5D"/>
                </a:solidFill>
                <a:latin typeface="Segoe UI"/>
              </a:rPr>
              <a:t>100 грн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092440" y="4083710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C2235"/>
                </a:solidFill>
                <a:latin typeface="Segoe UI"/>
              </a:rPr>
              <a:t>Mexikanisch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857232" y="408371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17890"/>
                </a:solidFill>
                <a:latin typeface="Segoe UI"/>
              </a:rPr>
              <a:t>220 г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399745" y="4083710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303A5D"/>
                </a:solidFill>
                <a:latin typeface="Segoe UI"/>
              </a:rPr>
              <a:t>109 грн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092440" y="4374489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C2235"/>
                </a:solidFill>
                <a:latin typeface="Segoe UI"/>
              </a:rPr>
              <a:t>Curryreis Indien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857232" y="4374489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17890"/>
                </a:solidFill>
                <a:latin typeface="Segoe UI"/>
              </a:rPr>
              <a:t>220 г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399745" y="4374489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303A5D"/>
                </a:solidFill>
                <a:latin typeface="Segoe UI"/>
              </a:rPr>
              <a:t>144 грн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92440" y="4665268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C2235"/>
                </a:solidFill>
                <a:latin typeface="Segoe UI"/>
              </a:rPr>
              <a:t>Для боулів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857232" y="4665268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17890"/>
                </a:solidFill>
                <a:latin typeface="Segoe UI"/>
              </a:rPr>
              <a:t>220 г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399745" y="4665268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303A5D"/>
                </a:solidFill>
                <a:latin typeface="Segoe UI"/>
              </a:rPr>
              <a:t>149 грн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092440" y="4956047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C2235"/>
                </a:solidFill>
                <a:latin typeface="Segoe UI"/>
              </a:rPr>
              <a:t>Sweet Chili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857232" y="4956047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17890"/>
                </a:solidFill>
                <a:latin typeface="Segoe UI"/>
              </a:rPr>
              <a:t>220 г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399745" y="4956047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303A5D"/>
                </a:solidFill>
                <a:latin typeface="Segoe UI"/>
              </a:rPr>
              <a:t>179 грн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603504" y="5486400"/>
            <a:ext cx="2270760" cy="859536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603504" y="5486400"/>
            <a:ext cx="73152" cy="859536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22960" y="5559552"/>
            <a:ext cx="199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22960" y="5961888"/>
            <a:ext cx="1996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1C2235"/>
                </a:solidFill>
                <a:latin typeface="Segoe UI"/>
              </a:rPr>
              <a:t>SKU кімнатного зберігання на всю країну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3011424" y="5486400"/>
            <a:ext cx="2270760" cy="859536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3011424" y="5486400"/>
            <a:ext cx="73152" cy="859536"/>
          </a:xfrm>
          <a:prstGeom prst="roundRect">
            <a:avLst>
              <a:gd name="adj" fmla="val 50000"/>
            </a:avLst>
          </a:prstGeom>
          <a:solidFill>
            <a:srgbClr val="C48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3230880" y="5559552"/>
            <a:ext cx="199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303A5D"/>
                </a:solidFill>
                <a:latin typeface="Segoe UI"/>
              </a:rPr>
              <a:t>11 з 12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230880" y="5961888"/>
            <a:ext cx="1996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1C2235"/>
                </a:solidFill>
                <a:latin typeface="Segoe UI"/>
              </a:rPr>
              <a:t>це Ben's Original в одній мережі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5419344" y="5486400"/>
            <a:ext cx="2270760" cy="859536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ounded Rectangle 121"/>
          <p:cNvSpPr/>
          <p:nvPr/>
        </p:nvSpPr>
        <p:spPr>
          <a:xfrm>
            <a:off x="5419344" y="5486400"/>
            <a:ext cx="73152" cy="859536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5638800" y="5559552"/>
            <a:ext cx="199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303A5D"/>
                </a:solidFill>
                <a:latin typeface="Segoe UI"/>
              </a:rPr>
              <a:t>0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638800" y="5961888"/>
            <a:ext cx="1996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1C2235"/>
                </a:solidFill>
                <a:latin typeface="Segoe UI"/>
              </a:rPr>
              <a:t>у METRO, Ашан, NOVUS, ЕКО маркет, Epicentr, Космос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7891272" y="5486400"/>
            <a:ext cx="3697193" cy="859536"/>
          </a:xfrm>
          <a:prstGeom prst="roundRect">
            <a:avLst>
              <a:gd name="adj" fmla="val 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ounded Rectangle 125"/>
          <p:cNvSpPr/>
          <p:nvPr/>
        </p:nvSpPr>
        <p:spPr>
          <a:xfrm>
            <a:off x="7891272" y="5486400"/>
            <a:ext cx="82296" cy="85953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8202168" y="5669280"/>
            <a:ext cx="3148553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D5DBEA"/>
                </a:solidFill>
                <a:latin typeface="Segoe UI"/>
              </a:rPr>
              <a:t>Ben's у «Сільпо» — єдиний мережевий гарнір; інших немає.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03504" y="647395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Каталоги мереж на 28.09.2026: Ашан, Сільпо, METRO, NOVUS, МегаМаркет, Ultramarket (одна платформа з МегаМаркет), ЕКО маркет, Epicentr, Космос. Кімнатне зберігання — готовий рис у паучі/лотку; охолоджена — кулінарія 2–5 діб; суміші — сира крупа в пакеті для варіння.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C95C"/>
                </a:solidFill>
                <a:latin typeface="Segoe UI"/>
              </a:rPr>
              <a:t>РИТЕЙЛ-АУДИТ · ПОЗИЦІЇ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Що саме стоїть на полицях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717890"/>
                </a:solidFill>
                <a:latin typeface="Segoe UI"/>
              </a:rPr>
              <a:t>Усі 26 знайдених позицій: де, який формат, скільки SKU і яка ціна за упаковку.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627632"/>
            <a:ext cx="2514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МЕРЕЖА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27832" y="1627632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ЩО САМЕ СТОЇТЬ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68312" y="1627632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ФОРМАТ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162763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717890"/>
                </a:solidFill>
                <a:latin typeface="Segoe UI"/>
              </a:rPr>
              <a:t>SKU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34272" y="1627632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ЦІНА, ГРН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60151" y="1627632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ПОХОДЖЕННЯ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" y="1865376"/>
            <a:ext cx="10954512" cy="29260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1865376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КІМНАТНЕ ЗБЕРІГАННЯ · НАШ СЕТ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3104" y="1865376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Segoe UI"/>
              </a:rPr>
              <a:t>12 SKU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" y="2194560"/>
            <a:ext cx="10954512" cy="306323"/>
          </a:xfrm>
          <a:prstGeom prst="roundRect">
            <a:avLst>
              <a:gd name="adj" fmla="val 2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2235708"/>
            <a:ext cx="2368296" cy="269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Сільпо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27832" y="2235708"/>
            <a:ext cx="3694176" cy="269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Ben's Original / Uncle Ben's Express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68312" y="2235708"/>
            <a:ext cx="1271016" cy="269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C2235"/>
                </a:solidFill>
                <a:latin typeface="Segoe UI"/>
              </a:rPr>
              <a:t>пауч 220–250 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2235708"/>
            <a:ext cx="402335" cy="269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 i="0">
                <a:solidFill>
                  <a:srgbClr val="303A5D"/>
                </a:solidFill>
                <a:latin typeface="Segoe UI"/>
              </a:rPr>
              <a:t>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34272" y="2235708"/>
            <a:ext cx="1179576" cy="269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45–179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60151" y="2235708"/>
            <a:ext cx="1161288" cy="269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C2235"/>
                </a:solidFill>
                <a:latin typeface="Segoe UI"/>
              </a:rPr>
              <a:t>Mars · ЄС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2560320"/>
            <a:ext cx="2368296" cy="269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МегаМаркет · Ultramarket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27832" y="2560320"/>
            <a:ext cx="3694176" cy="269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The Local Food, по-тайськи з куркою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68312" y="2560320"/>
            <a:ext cx="1271016" cy="269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C2235"/>
                </a:solidFill>
                <a:latin typeface="Segoe UI"/>
              </a:rPr>
              <a:t>лоток 350 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85632" y="2560320"/>
            <a:ext cx="402335" cy="269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 i="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34272" y="2560320"/>
            <a:ext cx="1179576" cy="269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207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60151" y="2560320"/>
            <a:ext cx="1161288" cy="269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C2235"/>
                </a:solidFill>
                <a:latin typeface="Segoe UI"/>
              </a:rPr>
              <a:t>Україна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3504" y="2935224"/>
            <a:ext cx="10954512" cy="292608"/>
          </a:xfrm>
          <a:prstGeom prst="roundRect">
            <a:avLst>
              <a:gd name="adj" fmla="val 30000"/>
            </a:avLst>
          </a:prstGeom>
          <a:solidFill>
            <a:srgbClr val="5E4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2935224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ОХОЛОДЖЕНА КУЛІНАРІЯ · 2–5 ДІБ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33104" y="2935224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Segoe UI"/>
              </a:rPr>
              <a:t>11 SKU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3504" y="3264408"/>
            <a:ext cx="10954512" cy="306323"/>
          </a:xfrm>
          <a:prstGeom prst="roundRect">
            <a:avLst>
              <a:gd name="adj" fmla="val 2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2" y="3305556"/>
            <a:ext cx="2368296" cy="269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Ашан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27832" y="3305556"/>
            <a:ext cx="3694176" cy="269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«Легко!» рис з овочами та курячим фрікасе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68312" y="3305556"/>
            <a:ext cx="1271016" cy="269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C2235"/>
                </a:solidFill>
                <a:latin typeface="Segoe UI"/>
              </a:rPr>
              <a:t>лоток 280 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85632" y="3305556"/>
            <a:ext cx="402335" cy="269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 i="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34272" y="3305556"/>
            <a:ext cx="1179576" cy="269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112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60151" y="3305556"/>
            <a:ext cx="1161288" cy="269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C2235"/>
                </a:solidFill>
                <a:latin typeface="Segoe UI"/>
              </a:rPr>
              <a:t>Україна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" y="3630168"/>
            <a:ext cx="2368296" cy="269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Сільпо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27832" y="3630168"/>
            <a:ext cx="3694176" cy="269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«Чіл Міл» рис паровий · рис з яйцем і овочами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68312" y="3630168"/>
            <a:ext cx="1271016" cy="269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C2235"/>
                </a:solidFill>
                <a:latin typeface="Segoe UI"/>
              </a:rPr>
              <a:t>лоток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85632" y="3630168"/>
            <a:ext cx="402335" cy="269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 i="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34272" y="3630168"/>
            <a:ext cx="1179576" cy="269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75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60151" y="3630168"/>
            <a:ext cx="1161288" cy="269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C2235"/>
                </a:solidFill>
                <a:latin typeface="Segoe UI"/>
              </a:rPr>
              <a:t>Україна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03504" y="3913631"/>
            <a:ext cx="10954512" cy="306323"/>
          </a:xfrm>
          <a:prstGeom prst="roundRect">
            <a:avLst>
              <a:gd name="adj" fmla="val 2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3232" y="3954779"/>
            <a:ext cx="2368296" cy="269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Сільпо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27832" y="3954779"/>
            <a:ext cx="3694176" cy="269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Боули з рисом · теріякі · рис по-китайськи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68312" y="3954779"/>
            <a:ext cx="1271016" cy="269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C2235"/>
                </a:solidFill>
                <a:latin typeface="Segoe UI"/>
              </a:rPr>
              <a:t>кулінарія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85632" y="3954779"/>
            <a:ext cx="402335" cy="269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 i="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34272" y="3954779"/>
            <a:ext cx="1179576" cy="269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139–439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60151" y="3954779"/>
            <a:ext cx="1161288" cy="269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C2235"/>
                </a:solidFill>
                <a:latin typeface="Segoe UI"/>
              </a:rPr>
              <a:t>Україна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3232" y="4279392"/>
            <a:ext cx="2368296" cy="269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NOVUS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27832" y="4279392"/>
            <a:ext cx="3694176" cy="269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«Майстри Смаку» рис з овочами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68312" y="4279392"/>
            <a:ext cx="1271016" cy="269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C2235"/>
                </a:solidFill>
                <a:latin typeface="Segoe UI"/>
              </a:rPr>
              <a:t>кулінарія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85632" y="4279392"/>
            <a:ext cx="402335" cy="269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 i="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34272" y="4279392"/>
            <a:ext cx="1179576" cy="269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299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60151" y="4279392"/>
            <a:ext cx="1161288" cy="269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C2235"/>
                </a:solidFill>
                <a:latin typeface="Segoe UI"/>
              </a:rPr>
              <a:t>Україна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03504" y="4562856"/>
            <a:ext cx="10954512" cy="306323"/>
          </a:xfrm>
          <a:prstGeom prst="roundRect">
            <a:avLst>
              <a:gd name="adj" fmla="val 2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13232" y="4604004"/>
            <a:ext cx="2368296" cy="269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МегаМаркет · Ultramarket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227832" y="4604004"/>
            <a:ext cx="3694176" cy="269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C2235"/>
                </a:solidFill>
                <a:latin typeface="Segoe UI"/>
              </a:rPr>
              <a:t>Рис японський з овочами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068312" y="4604004"/>
            <a:ext cx="1271016" cy="269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C2235"/>
                </a:solidFill>
                <a:latin typeface="Segoe UI"/>
              </a:rPr>
              <a:t>кулінарія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85632" y="4604004"/>
            <a:ext cx="402335" cy="269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 i="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34272" y="4604004"/>
            <a:ext cx="1179576" cy="269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366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360151" y="4604004"/>
            <a:ext cx="1161288" cy="269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C2235"/>
                </a:solidFill>
                <a:latin typeface="Segoe UI"/>
              </a:rPr>
              <a:t>Україна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03504" y="4978908"/>
            <a:ext cx="10954512" cy="292608"/>
          </a:xfrm>
          <a:prstGeom prst="roundRect">
            <a:avLst>
              <a:gd name="adj" fmla="val 30000"/>
            </a:avLst>
          </a:prstGeom>
          <a:solidFill>
            <a:srgbClr val="C48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49808" y="4978908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СУМІШ ПІД ВАРІННЯ · НЕ ГОТОВИЙ ПРОДУКТ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833104" y="4978908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Segoe UI"/>
              </a:rPr>
              <a:t>3 SKU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03504" y="5308092"/>
            <a:ext cx="10954512" cy="306323"/>
          </a:xfrm>
          <a:prstGeom prst="roundRect">
            <a:avLst>
              <a:gd name="adj" fmla="val 2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13232" y="5349240"/>
            <a:ext cx="2368296" cy="269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303A5D"/>
                </a:solidFill>
                <a:latin typeface="Segoe UI"/>
              </a:rPr>
              <a:t>Ашан · NOVUS · МегаМаркет · Сільпо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27832" y="5349240"/>
            <a:ext cx="3694176" cy="269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«Жменька» Tasty Mix басматі з овочами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068312" y="5349240"/>
            <a:ext cx="1271016" cy="269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C2235"/>
                </a:solidFill>
                <a:latin typeface="Segoe UI"/>
              </a:rPr>
              <a:t>пакет 200 г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485632" y="5349240"/>
            <a:ext cx="402335" cy="269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 i="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034272" y="5349240"/>
            <a:ext cx="1179576" cy="269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89–92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360151" y="5349240"/>
            <a:ext cx="1161288" cy="269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C2235"/>
                </a:solidFill>
                <a:latin typeface="Segoe UI"/>
              </a:rPr>
              <a:t>Україна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13232" y="5673852"/>
            <a:ext cx="2368296" cy="269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NOVUS · Сільпо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227832" y="5673852"/>
            <a:ext cx="3694176" cy="269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Trapeza басматі з карі по-індійськи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068312" y="5673852"/>
            <a:ext cx="1271016" cy="269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C2235"/>
                </a:solidFill>
                <a:latin typeface="Segoe UI"/>
              </a:rPr>
              <a:t>пакет 250 г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85632" y="5673852"/>
            <a:ext cx="402335" cy="269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 i="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034272" y="5673852"/>
            <a:ext cx="1179576" cy="269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59–85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360151" y="5673852"/>
            <a:ext cx="1161288" cy="269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C2235"/>
                </a:solidFill>
                <a:latin typeface="Segoe UI"/>
              </a:rPr>
              <a:t>Україна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03504" y="5957316"/>
            <a:ext cx="10954512" cy="306323"/>
          </a:xfrm>
          <a:prstGeom prst="roundRect">
            <a:avLst>
              <a:gd name="adj" fmla="val 2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13232" y="5998464"/>
            <a:ext cx="2368296" cy="269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МегаМаркет · Ultramarket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227832" y="5998464"/>
            <a:ext cx="3694176" cy="269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C2235"/>
                </a:solidFill>
                <a:latin typeface="Segoe UI"/>
              </a:rPr>
              <a:t>«Зерновита» рис з овочами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068312" y="5998464"/>
            <a:ext cx="1271016" cy="269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C2235"/>
                </a:solidFill>
                <a:latin typeface="Segoe UI"/>
              </a:rPr>
              <a:t>пакет 500 г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485632" y="5998464"/>
            <a:ext cx="402335" cy="269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 i="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034272" y="5998464"/>
            <a:ext cx="1179576" cy="269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78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360151" y="5998464"/>
            <a:ext cx="1161288" cy="269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C2235"/>
                </a:solidFill>
                <a:latin typeface="Segoe UI"/>
              </a:rPr>
              <a:t>Україна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3504" y="647395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Ашан, Сільпо, METRO, NOVUS, МегаМаркет, Ultramarket, ЕКО маркет, Epicentr, Космос — каталоги на 28.09.2026. METRO, ЕКО маркет, Epicentr і Космос — жодної позиції цих трьох груп.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C95C"/>
                </a:solidFill>
                <a:latin typeface="Segoe UI"/>
              </a:rPr>
              <a:t>КАНАЛИ ПРОДАЖУ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Де продається категорія і кому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717890"/>
                </a:solidFill>
                <a:latin typeface="Segoe UI"/>
              </a:rPr>
              <a:t>Усі магазини, де ми знайшли готовий рис і суміжні формати, — по каналах.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645920"/>
            <a:ext cx="3246120" cy="4700016"/>
          </a:xfrm>
          <a:prstGeom prst="roundRect">
            <a:avLst>
              <a:gd name="adj" fmla="val 3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755648"/>
            <a:ext cx="2880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17890"/>
                </a:solidFill>
                <a:latin typeface="Segoe UI"/>
              </a:rPr>
              <a:t>ТОЧОК ПРОДАЖУ В КАНАЛІ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066543"/>
            <a:ext cx="28803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303A5D"/>
                </a:solidFill>
                <a:latin typeface="Segoe UI"/>
              </a:rPr>
              <a:t>Мережевий роздріб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" y="2523744"/>
            <a:ext cx="949569" cy="310896"/>
          </a:xfrm>
          <a:prstGeom prst="roundRect">
            <a:avLst>
              <a:gd name="adj" fmla="val 25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45681" y="248716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303A5D"/>
                </a:solidFill>
                <a:latin typeface="Segoe UI"/>
              </a:rPr>
              <a:t>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2935224"/>
            <a:ext cx="28803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303A5D"/>
                </a:solidFill>
                <a:latin typeface="Segoe UI"/>
              </a:rPr>
              <a:t>Онлайн-маркетплейси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" y="3392424"/>
            <a:ext cx="158261" cy="310896"/>
          </a:xfrm>
          <a:prstGeom prst="roundRect">
            <a:avLst>
              <a:gd name="adj" fmla="val 25000"/>
            </a:avLst>
          </a:prstGeom>
          <a:solidFill>
            <a:srgbClr val="C48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73" y="335584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3803904"/>
            <a:ext cx="28803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303A5D"/>
                </a:solidFill>
                <a:latin typeface="Segoe UI"/>
              </a:rPr>
              <a:t>Азійські й етнічні фудшопи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" y="4261104"/>
            <a:ext cx="1055076" cy="310896"/>
          </a:xfrm>
          <a:prstGeom prst="roundRect">
            <a:avLst>
              <a:gd name="adj" fmla="val 25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51188" y="422452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303A5D"/>
                </a:solidFill>
                <a:latin typeface="Segoe UI"/>
              </a:rPr>
              <a:t>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4672584"/>
            <a:ext cx="28803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303A5D"/>
                </a:solidFill>
                <a:latin typeface="Segoe UI"/>
              </a:rPr>
              <a:t>Гастро- й фірмові інтернет-магазини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" y="5129784"/>
            <a:ext cx="791307" cy="310896"/>
          </a:xfrm>
          <a:prstGeom prst="roundRect">
            <a:avLst>
              <a:gd name="adj" fmla="val 25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87419" y="509320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303A5D"/>
                </a:solidFill>
                <a:latin typeface="Segoe UI"/>
              </a:rPr>
              <a:t>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5541264"/>
            <a:ext cx="28803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303A5D"/>
                </a:solidFill>
                <a:latin typeface="Segoe UI"/>
              </a:rPr>
              <a:t>Туристичні й військові магазини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" y="5998464"/>
            <a:ext cx="2057400" cy="310896"/>
          </a:xfrm>
          <a:prstGeom prst="roundRect">
            <a:avLst>
              <a:gd name="adj" fmla="val 25000"/>
            </a:avLst>
          </a:prstGeom>
          <a:solidFill>
            <a:srgbClr val="5E4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53512" y="596188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303A5D"/>
                </a:solidFill>
                <a:latin typeface="Segoe UI"/>
              </a:rPr>
              <a:t>39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32504" y="1645920"/>
            <a:ext cx="7555961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032504" y="1645920"/>
            <a:ext cx="73152" cy="868680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51960" y="1709928"/>
            <a:ext cx="517852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Мережевий роздріб · 18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51105" y="1719072"/>
            <a:ext cx="1627632" cy="201168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51105" y="1719072"/>
            <a:ext cx="162763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ЦІЛЬОВИЙ КАНАЛ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1975104"/>
            <a:ext cx="7190201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 i="0">
                <a:solidFill>
                  <a:srgbClr val="C94F7C"/>
                </a:solidFill>
                <a:latin typeface="Segoe UI"/>
              </a:rPr>
              <a:t>3 мережі з категорією: </a:t>
            </a:r>
            <a:r>
              <a:rPr sz="950" b="0" i="0">
                <a:solidFill>
                  <a:srgbClr val="1C2235"/>
                </a:solidFill>
                <a:latin typeface="Segoe UI"/>
              </a:rPr>
              <a:t>Сільпо · МегаМаркет · Ultramarket</a:t>
            </a:r>
          </a:p>
          <a:p>
            <a:pPr algn="l">
              <a:lnSpc>
                <a:spcPct val="112000"/>
              </a:lnSpc>
            </a:pPr>
            <a:r>
              <a:rPr sz="950" b="1" i="0">
                <a:solidFill>
                  <a:srgbClr val="C94F7C"/>
                </a:solidFill>
                <a:latin typeface="Segoe UI"/>
              </a:rPr>
              <a:t>ще 15 перевірених без категорії: </a:t>
            </a:r>
            <a:r>
              <a:rPr sz="950" b="0" i="0">
                <a:solidFill>
                  <a:srgbClr val="1C2235"/>
                </a:solidFill>
                <a:latin typeface="Segoe UI"/>
              </a:rPr>
              <a:t>NOVUS · METRO · Таврія В · Cosmos · Восторг · Kharkiv · Чудо-маркет · Епіцентр · Ашан · Грона · Ідеал · ОнДе · Za Raz · ЕКО маркет · Торба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032504" y="2578608"/>
            <a:ext cx="7555961" cy="6492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032504" y="2578608"/>
            <a:ext cx="73152" cy="649224"/>
          </a:xfrm>
          <a:prstGeom prst="roundRect">
            <a:avLst>
              <a:gd name="adj" fmla="val 50000"/>
            </a:avLst>
          </a:prstGeom>
          <a:solidFill>
            <a:srgbClr val="C48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51960" y="2642616"/>
            <a:ext cx="517852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Онлайн-маркетплейси · 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51105" y="2651760"/>
            <a:ext cx="1627632" cy="201168"/>
          </a:xfrm>
          <a:prstGeom prst="roundRect">
            <a:avLst>
              <a:gd name="adj" fmla="val 50000"/>
            </a:avLst>
          </a:prstGeom>
          <a:solidFill>
            <a:srgbClr val="C48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51105" y="2651760"/>
            <a:ext cx="162763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ЦІЛЬОВИЙ КАНАЛ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51960" y="2907792"/>
            <a:ext cx="719020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 i="0">
                <a:solidFill>
                  <a:srgbClr val="C4810A"/>
                </a:solidFill>
                <a:latin typeface="Segoe UI"/>
              </a:rPr>
              <a:t/>
            </a:r>
            <a:r>
              <a:rPr sz="950" b="0" i="0">
                <a:solidFill>
                  <a:srgbClr val="1C2235"/>
                </a:solidFill>
                <a:latin typeface="Segoe UI"/>
              </a:rPr>
              <a:t>MAUDAU · Rozetka · Prom. На Prom ще 7 перепродавців iHerb (Seeds of Change).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032504" y="3291840"/>
            <a:ext cx="7555961" cy="9418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032504" y="3291840"/>
            <a:ext cx="73152" cy="941832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51960" y="3355848"/>
            <a:ext cx="517852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Азійські й етнічні фудшопи · 20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851105" y="3364992"/>
            <a:ext cx="1627632" cy="201168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51105" y="3364992"/>
            <a:ext cx="162763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ЦІЛЬОВИЙ · ВХІД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51960" y="3621024"/>
            <a:ext cx="7190201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 i="0">
                <a:solidFill>
                  <a:srgbClr val="1E9EA6"/>
                </a:solidFill>
                <a:latin typeface="Segoe UI"/>
              </a:rPr>
              <a:t/>
            </a:r>
            <a:r>
              <a:rPr sz="950" b="0" i="0">
                <a:solidFill>
                  <a:srgbClr val="1C2235"/>
                </a:solidFill>
                <a:latin typeface="Segoe UI"/>
              </a:rPr>
              <a:t>Смак Кореї · Тайякі Март · Pulsar · Апетітаріум · Gurmissimo · Edison Lee · OMG! Asia · СНЕКІС · DCM · Скарби Азії · AsiaStyle · ASIA FOODS · Wèi Māo · AsianFoods · Asia Goods Store · SushiPovar · KladezGroup · Sweet Svitt · Товари з Іспанії · Asia Foods Trade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032504" y="4297680"/>
            <a:ext cx="7555961" cy="850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032504" y="4297680"/>
            <a:ext cx="73152" cy="850392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51960" y="4361688"/>
            <a:ext cx="517852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Гастро- й фірмові інтернет-магазини · 15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851105" y="4370832"/>
            <a:ext cx="1627632" cy="201168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851105" y="4370832"/>
            <a:ext cx="162763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СУМІЖНИЙ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51960" y="4626864"/>
            <a:ext cx="7190201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 i="0">
                <a:solidFill>
                  <a:srgbClr val="37A169"/>
                </a:solidFill>
                <a:latin typeface="Segoe UI"/>
              </a:rPr>
              <a:t/>
            </a:r>
            <a:r>
              <a:rPr sz="950" b="0" i="0">
                <a:solidFill>
                  <a:srgbClr val="1C2235"/>
                </a:solidFill>
                <a:latin typeface="Segoe UI"/>
              </a:rPr>
              <a:t>Харчі ТМ · Їжа в Похід · UPcompany · СУХПАЙ · Belorfoods · МореПродуктів · Козуб · Смачна адреса · Продукт-Shop · Молочний склад · Foodi Shop · Food Shop · Мартел-shop · portion.com.ua · Euro-komplekt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032504" y="5212080"/>
            <a:ext cx="7555961" cy="11612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4032504" y="5212080"/>
            <a:ext cx="73152" cy="1161288"/>
          </a:xfrm>
          <a:prstGeom prst="roundRect">
            <a:avLst>
              <a:gd name="adj" fmla="val 50000"/>
            </a:avLst>
          </a:prstGeom>
          <a:solidFill>
            <a:srgbClr val="5E4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51960" y="5276088"/>
            <a:ext cx="517852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Туристичні й військові магазини · 39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851105" y="5285232"/>
            <a:ext cx="1627632" cy="201168"/>
          </a:xfrm>
          <a:prstGeom prst="roundRect">
            <a:avLst>
              <a:gd name="adj" fmla="val 50000"/>
            </a:avLst>
          </a:prstGeom>
          <a:solidFill>
            <a:srgbClr val="5E4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851105" y="5285232"/>
            <a:ext cx="162763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НЕ НАШ ПОКУПЕЦЬ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51960" y="5541264"/>
            <a:ext cx="7190201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 i="0">
                <a:solidFill>
                  <a:srgbClr val="5E4B94"/>
                </a:solidFill>
                <a:latin typeface="Segoe UI"/>
              </a:rPr>
              <a:t/>
            </a:r>
            <a:r>
              <a:rPr sz="950" b="0" i="0">
                <a:solidFill>
                  <a:srgbClr val="1C2235"/>
                </a:solidFill>
                <a:latin typeface="Segoe UI"/>
              </a:rPr>
              <a:t>ALANTUR · Highlander · ForCamp · Гайдамака · Freeride · MK-Sport · Daruy · Tactico · Лєєр · Activity · ВсеОпт · Шериф · Суренж · OXO · Desna · Kalush-Craft · SportStorm · Klever-Shop · Terra Incognita · 110вольт · Virnyy vybir · Vkladovke.com.ua · Експрес Шоп · Клуб Мандрівників · Вояджер · Непереможні · Вартовий · Драйв Сенс · Ліхтар · Іграшка Мрії · Military Style · Націоналіст · Modern Shop · Palmer · Kamanti · Mr.Fishkin · Висот-Нік · UA-market · Skaut.in.ua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3504" y="647395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Покупець: мережі — масовий, щоденне харчування; маркетплейси — масовий, планове замовлення; азійські магазини — знає категорію; туристичні й військові — автономне харчування. Мереж перевірено 18 (17 через zakaz.ua + Сільпо); магазини — за картками продавців 23.09–06.10.2026.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C95C"/>
                </a:solidFill>
                <a:latin typeface="Segoe UI"/>
              </a:rPr>
              <a:t>ЦІНОУТВОРЕННЯ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З чого складається ціна на полиці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717890"/>
                </a:solidFill>
                <a:latin typeface="Segoe UI"/>
              </a:rPr>
              <a:t>Полиця — це собівартість плюс бонус мережі, наша маржа й націнка магазину. Закупівля (FOB) — окремо, справа.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645920"/>
            <a:ext cx="10954512" cy="1024128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" y="171907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17890"/>
                </a:solidFill>
                <a:latin typeface="Segoe UI"/>
              </a:rPr>
              <a:t>З КОЖНИХ 100 ГРН НА ПОЛИЦІ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" y="1993392"/>
            <a:ext cx="2999232" cy="365760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" y="1993392"/>
            <a:ext cx="299923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28,6 %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395728"/>
            <a:ext cx="29443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1C2235"/>
                </a:solidFill>
                <a:latin typeface="Segoe UI"/>
              </a:rPr>
              <a:t>Собівартість (СС)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31336" y="1993392"/>
            <a:ext cx="1874519" cy="365760"/>
          </a:xfrm>
          <a:prstGeom prst="rect">
            <a:avLst/>
          </a:prstGeom>
          <a:solidFill>
            <a:srgbClr val="C48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31336" y="1993392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17,9 %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67912" y="2395728"/>
            <a:ext cx="18196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1C2235"/>
                </a:solidFill>
                <a:latin typeface="Segoe UI"/>
              </a:rPr>
              <a:t>Бонус мережі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05856" y="1993392"/>
            <a:ext cx="2624328" cy="3657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05856" y="1993392"/>
            <a:ext cx="262432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303A5D"/>
                </a:solidFill>
                <a:latin typeface="Segoe UI"/>
              </a:rPr>
              <a:t>25,0 %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42432" y="2395728"/>
            <a:ext cx="25694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1C2235"/>
                </a:solidFill>
                <a:latin typeface="Segoe UI"/>
              </a:rPr>
              <a:t>Наша маржа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30183" y="1993392"/>
            <a:ext cx="2999232" cy="365760"/>
          </a:xfrm>
          <a:prstGeom prst="rect">
            <a:avLst/>
          </a:prstGeom>
          <a:solidFill>
            <a:srgbClr val="A9B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0183" y="1993392"/>
            <a:ext cx="299923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303A5D"/>
                </a:solidFill>
                <a:latin typeface="Segoe UI"/>
              </a:rPr>
              <a:t>28,6 %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59" y="2395728"/>
            <a:ext cx="29443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1C2235"/>
                </a:solidFill>
                <a:latin typeface="Segoe UI"/>
              </a:rPr>
              <a:t>Націнка магазину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2834640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ТОВАР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43784" y="2834640"/>
            <a:ext cx="4937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ПОЛИЦЯ, ГРН ЗА ОДНУ УПАКОВКУ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11896" y="2816352"/>
            <a:ext cx="10972" cy="3291840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21624" y="2834640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ЗАКУПІВЛЯ · ОКРЕМО ВІД ПОЛИЦІ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21624" y="3035808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FOB, $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36024" y="3035808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СС, $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50424" y="303580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СС, грн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3504" y="3209544"/>
            <a:ext cx="10954512" cy="402336"/>
          </a:xfrm>
          <a:prstGeom prst="roundRect">
            <a:avLst>
              <a:gd name="adj" fmla="val 2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330098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03A5D"/>
                </a:solidFill>
                <a:latin typeface="Segoe UI"/>
              </a:rPr>
              <a:t>BSCM стакан 150 г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43784" y="3282696"/>
            <a:ext cx="522705" cy="292608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43784" y="3282696"/>
            <a:ext cx="522705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40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66489" y="3282696"/>
            <a:ext cx="326691" cy="292608"/>
          </a:xfrm>
          <a:prstGeom prst="rect">
            <a:avLst/>
          </a:prstGeom>
          <a:solidFill>
            <a:srgbClr val="C48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66489" y="3282696"/>
            <a:ext cx="326691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93180" y="3282696"/>
            <a:ext cx="457367" cy="29260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93180" y="3282696"/>
            <a:ext cx="457367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303A5D"/>
                </a:solidFill>
                <a:latin typeface="Segoe UI"/>
              </a:rPr>
              <a:t>35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50548" y="3282696"/>
            <a:ext cx="522705" cy="292608"/>
          </a:xfrm>
          <a:prstGeom prst="rect">
            <a:avLst/>
          </a:prstGeom>
          <a:solidFill>
            <a:srgbClr val="A9B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50548" y="3282696"/>
            <a:ext cx="522705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303A5D"/>
                </a:solidFill>
                <a:latin typeface="Segoe UI"/>
              </a:rPr>
              <a:t>40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64694" y="328269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303A5D"/>
                </a:solidFill>
                <a:latin typeface="Segoe UI"/>
              </a:rPr>
              <a:t>139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21624" y="330098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$0.500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36024" y="330098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C2235"/>
                </a:solidFill>
                <a:latin typeface="Segoe UI"/>
              </a:rPr>
              <a:t>$0.881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50424" y="330098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C2235"/>
                </a:solidFill>
                <a:latin typeface="Segoe UI"/>
              </a:rPr>
              <a:t>39,7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" y="372160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03A5D"/>
                </a:solidFill>
                <a:latin typeface="Segoe UI"/>
              </a:rPr>
              <a:t>BSCM пауч 150 г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843784" y="3703320"/>
            <a:ext cx="499822" cy="292608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843784" y="3703320"/>
            <a:ext cx="49982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38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43606" y="3703320"/>
            <a:ext cx="312389" cy="292608"/>
          </a:xfrm>
          <a:prstGeom prst="rect">
            <a:avLst/>
          </a:prstGeom>
          <a:solidFill>
            <a:srgbClr val="C48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43606" y="3703320"/>
            <a:ext cx="31238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24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5996" y="3703320"/>
            <a:ext cx="437345" cy="29260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5996" y="3703320"/>
            <a:ext cx="437345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303A5D"/>
                </a:solidFill>
                <a:latin typeface="Segoe UI"/>
              </a:rPr>
              <a:t>33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093341" y="3703320"/>
            <a:ext cx="499822" cy="292608"/>
          </a:xfrm>
          <a:prstGeom prst="rect">
            <a:avLst/>
          </a:prstGeom>
          <a:solidFill>
            <a:srgbClr val="A9B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093341" y="3703320"/>
            <a:ext cx="49982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303A5D"/>
                </a:solidFill>
                <a:latin typeface="Segoe UI"/>
              </a:rPr>
              <a:t>38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84604" y="3703320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303A5D"/>
                </a:solidFill>
                <a:latin typeface="Segoe UI"/>
              </a:rPr>
              <a:t>133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21624" y="372160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$0.472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36024" y="372160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C2235"/>
                </a:solidFill>
                <a:latin typeface="Segoe UI"/>
              </a:rPr>
              <a:t>$0.843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50424" y="372160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C2235"/>
                </a:solidFill>
                <a:latin typeface="Segoe UI"/>
              </a:rPr>
              <a:t>37,9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03504" y="4050791"/>
            <a:ext cx="10954512" cy="402336"/>
          </a:xfrm>
          <a:prstGeom prst="roundRect">
            <a:avLst>
              <a:gd name="adj" fmla="val 2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13232" y="414223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03A5D"/>
                </a:solidFill>
                <a:latin typeface="Segoe UI"/>
              </a:rPr>
              <a:t>BSCM пауч 200 г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843784" y="4123944"/>
            <a:ext cx="564880" cy="292608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843784" y="4123944"/>
            <a:ext cx="5648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43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408664" y="4123944"/>
            <a:ext cx="353050" cy="292608"/>
          </a:xfrm>
          <a:prstGeom prst="rect">
            <a:avLst/>
          </a:prstGeom>
          <a:solidFill>
            <a:srgbClr val="C48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408664" y="4123944"/>
            <a:ext cx="35305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27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761714" y="4123944"/>
            <a:ext cx="494270" cy="29260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761714" y="4123944"/>
            <a:ext cx="49427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303A5D"/>
                </a:solidFill>
                <a:latin typeface="Segoe UI"/>
              </a:rPr>
              <a:t>38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255985" y="4123944"/>
            <a:ext cx="564880" cy="292608"/>
          </a:xfrm>
          <a:prstGeom prst="rect">
            <a:avLst/>
          </a:prstGeom>
          <a:solidFill>
            <a:srgbClr val="A9B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255985" y="4123944"/>
            <a:ext cx="5648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303A5D"/>
                </a:solidFill>
                <a:latin typeface="Segoe UI"/>
              </a:rPr>
              <a:t>43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912305" y="4123944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303A5D"/>
                </a:solidFill>
                <a:latin typeface="Segoe UI"/>
              </a:rPr>
              <a:t>150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421624" y="414223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$0.550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336024" y="414223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C2235"/>
                </a:solidFill>
                <a:latin typeface="Segoe UI"/>
              </a:rPr>
              <a:t>$0.953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250424" y="4142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C2235"/>
                </a:solidFill>
                <a:latin typeface="Segoe UI"/>
              </a:rPr>
              <a:t>42,9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13232" y="456285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03A5D"/>
                </a:solidFill>
                <a:latin typeface="Segoe UI"/>
              </a:rPr>
              <a:t>BSCM пауч 240 г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843784" y="4544568"/>
            <a:ext cx="590298" cy="292608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843784" y="4544568"/>
            <a:ext cx="59029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45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434082" y="4544568"/>
            <a:ext cx="368936" cy="292608"/>
          </a:xfrm>
          <a:prstGeom prst="rect">
            <a:avLst/>
          </a:prstGeom>
          <a:solidFill>
            <a:srgbClr val="C48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434082" y="4544568"/>
            <a:ext cx="36893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28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803018" y="4544568"/>
            <a:ext cx="516511" cy="29260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803018" y="4544568"/>
            <a:ext cx="516511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303A5D"/>
                </a:solidFill>
                <a:latin typeface="Segoe UI"/>
              </a:rPr>
              <a:t>39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319530" y="4544568"/>
            <a:ext cx="590298" cy="292608"/>
          </a:xfrm>
          <a:prstGeom prst="rect">
            <a:avLst/>
          </a:prstGeom>
          <a:solidFill>
            <a:srgbClr val="A9B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319530" y="4544568"/>
            <a:ext cx="59029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303A5D"/>
                </a:solidFill>
                <a:latin typeface="Segoe UI"/>
              </a:rPr>
              <a:t>45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001268" y="4544568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303A5D"/>
                </a:solidFill>
                <a:latin typeface="Segoe UI"/>
              </a:rPr>
              <a:t>157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21624" y="456285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$0.583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336024" y="456285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C2235"/>
                </a:solidFill>
                <a:latin typeface="Segoe UI"/>
              </a:rPr>
              <a:t>$0.995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250424" y="456285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C2235"/>
                </a:solidFill>
                <a:latin typeface="Segoe UI"/>
              </a:rPr>
              <a:t>44,8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03504" y="4892040"/>
            <a:ext cx="10954512" cy="402336"/>
          </a:xfrm>
          <a:prstGeom prst="roundRect">
            <a:avLst>
              <a:gd name="adj" fmla="val 2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13232" y="49834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03A5D"/>
                </a:solidFill>
                <a:latin typeface="Segoe UI"/>
              </a:rPr>
              <a:t>CM Premium 250 г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843784" y="4965192"/>
            <a:ext cx="671886" cy="292608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843784" y="4965192"/>
            <a:ext cx="67188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51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515670" y="4965192"/>
            <a:ext cx="419929" cy="292608"/>
          </a:xfrm>
          <a:prstGeom prst="rect">
            <a:avLst/>
          </a:prstGeom>
          <a:solidFill>
            <a:srgbClr val="C48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515670" y="4965192"/>
            <a:ext cx="41992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32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935600" y="4965192"/>
            <a:ext cx="587901" cy="29260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935600" y="4965192"/>
            <a:ext cx="587901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303A5D"/>
                </a:solidFill>
                <a:latin typeface="Segoe UI"/>
              </a:rPr>
              <a:t>45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523501" y="4965192"/>
            <a:ext cx="671886" cy="292608"/>
          </a:xfrm>
          <a:prstGeom prst="rect">
            <a:avLst/>
          </a:prstGeom>
          <a:solidFill>
            <a:srgbClr val="A9B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523501" y="4965192"/>
            <a:ext cx="67188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303A5D"/>
                </a:solidFill>
                <a:latin typeface="Segoe UI"/>
              </a:rPr>
              <a:t>51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286828" y="4965192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303A5D"/>
                </a:solidFill>
                <a:latin typeface="Segoe UI"/>
              </a:rPr>
              <a:t>178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421624" y="49834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$0.667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336024" y="49834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C2235"/>
                </a:solidFill>
                <a:latin typeface="Segoe UI"/>
              </a:rPr>
              <a:t>$1.133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250424" y="4983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C2235"/>
                </a:solidFill>
                <a:latin typeface="Segoe UI"/>
              </a:rPr>
              <a:t>51,0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13232" y="540410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03A5D"/>
                </a:solidFill>
                <a:latin typeface="Segoe UI"/>
              </a:rPr>
              <a:t>ONE'S білий 210 г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843784" y="5385816"/>
            <a:ext cx="576100" cy="292608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843784" y="5385816"/>
            <a:ext cx="5761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44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419884" y="5385816"/>
            <a:ext cx="360062" cy="292608"/>
          </a:xfrm>
          <a:prstGeom prst="rect">
            <a:avLst/>
          </a:prstGeom>
          <a:solidFill>
            <a:srgbClr val="C48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419884" y="5385816"/>
            <a:ext cx="36006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27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779947" y="5385816"/>
            <a:ext cx="504087" cy="29260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779947" y="5385816"/>
            <a:ext cx="504087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303A5D"/>
                </a:solidFill>
                <a:latin typeface="Segoe UI"/>
              </a:rPr>
              <a:t>38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284034" y="5385816"/>
            <a:ext cx="576100" cy="292608"/>
          </a:xfrm>
          <a:prstGeom prst="rect">
            <a:avLst/>
          </a:prstGeom>
          <a:solidFill>
            <a:srgbClr val="A9B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284034" y="5385816"/>
            <a:ext cx="5761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303A5D"/>
                </a:solidFill>
                <a:latin typeface="Segoe UI"/>
              </a:rPr>
              <a:t>44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951575" y="538581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303A5D"/>
                </a:solidFill>
                <a:latin typeface="Segoe UI"/>
              </a:rPr>
              <a:t>153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421624" y="540410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717890"/>
                </a:solidFill>
                <a:latin typeface="Segoe UI"/>
              </a:rPr>
              <a:t>н/д*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336024" y="540410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C2235"/>
                </a:solidFill>
                <a:latin typeface="Segoe UI"/>
              </a:rPr>
              <a:t>$0.971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250424" y="540410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C2235"/>
                </a:solidFill>
                <a:latin typeface="Segoe UI"/>
              </a:rPr>
              <a:t>43,7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603504" y="5733288"/>
            <a:ext cx="10954512" cy="402336"/>
          </a:xfrm>
          <a:prstGeom prst="roundRect">
            <a:avLst>
              <a:gd name="adj" fmla="val 2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13232" y="582472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03A5D"/>
                </a:solidFill>
                <a:latin typeface="Segoe UI"/>
              </a:rPr>
              <a:t>ONE'S fried 200 г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2843784" y="5806440"/>
            <a:ext cx="1248215" cy="292608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2843784" y="5806440"/>
            <a:ext cx="1248215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95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4091999" y="5806440"/>
            <a:ext cx="780134" cy="292608"/>
          </a:xfrm>
          <a:prstGeom prst="rect">
            <a:avLst/>
          </a:prstGeom>
          <a:solidFill>
            <a:srgbClr val="C48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4091999" y="5806440"/>
            <a:ext cx="78013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59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872134" y="5806440"/>
            <a:ext cx="1092188" cy="29260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872134" y="5806440"/>
            <a:ext cx="109218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303A5D"/>
                </a:solidFill>
                <a:latin typeface="Segoe UI"/>
              </a:rPr>
              <a:t>83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964323" y="5806440"/>
            <a:ext cx="1248215" cy="292608"/>
          </a:xfrm>
          <a:prstGeom prst="rect">
            <a:avLst/>
          </a:prstGeom>
          <a:solidFill>
            <a:srgbClr val="A9B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964323" y="5806440"/>
            <a:ext cx="1248215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303A5D"/>
                </a:solidFill>
                <a:latin typeface="Segoe UI"/>
              </a:rPr>
              <a:t>95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303979" y="5806440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303A5D"/>
                </a:solidFill>
                <a:latin typeface="Segoe UI"/>
              </a:rPr>
              <a:t>332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421624" y="582472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717890"/>
                </a:solidFill>
                <a:latin typeface="Segoe UI"/>
              </a:rPr>
              <a:t>н/д*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336024" y="582472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C2235"/>
                </a:solidFill>
                <a:latin typeface="Segoe UI"/>
              </a:rPr>
              <a:t>$2.105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0250424" y="58247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C2235"/>
                </a:solidFill>
                <a:latin typeface="Segoe UI"/>
              </a:rPr>
              <a:t>94,7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603504" y="6309359"/>
            <a:ext cx="137160" cy="137160"/>
          </a:xfrm>
          <a:prstGeom prst="roundRect">
            <a:avLst>
              <a:gd name="adj" fmla="val 30000"/>
            </a:avLst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804672" y="6272783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Собівартість (СС)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2427732" y="6309359"/>
            <a:ext cx="137160" cy="137160"/>
          </a:xfrm>
          <a:prstGeom prst="roundRect">
            <a:avLst>
              <a:gd name="adj" fmla="val 30000"/>
            </a:avLst>
          </a:prstGeom>
          <a:solidFill>
            <a:srgbClr val="C48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628900" y="6272783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Бонус мережі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3863340" y="6309359"/>
            <a:ext cx="137160" cy="137160"/>
          </a:xfrm>
          <a:prstGeom prst="roundRect">
            <a:avLst>
              <a:gd name="adj" fmla="val 3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064508" y="6272783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Наша маржа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5143500" y="6309359"/>
            <a:ext cx="137160" cy="137160"/>
          </a:xfrm>
          <a:prstGeom prst="roundRect">
            <a:avLst>
              <a:gd name="adj" fmla="val 30000"/>
            </a:avLst>
          </a:prstGeom>
          <a:solidFill>
            <a:srgbClr val="A9B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5344668" y="6272783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Націнка магазину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03504" y="647395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Фінмодель покупця (20' FCL навалом, курс 45 грн/$, ціна вже з ПДВ): ціна партнеру = СС ÷ 0,4; бонус мережі = 25 % і наша маржа = 35 % від ціни партнеру; полиця = ціна партнеру × 1,4. СС — Self_Cost. FOB — комерційна пропозиція постачальника, до полиці не входить. *ONE'S не розкрив FOB.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C95C"/>
                </a:solidFill>
                <a:latin typeface="Segoe UI"/>
              </a:rPr>
              <a:t>ПОЛИЦЯ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Наша ціна на полиці: усі формати й смаки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717890"/>
                </a:solidFill>
                <a:latin typeface="Segoe UI"/>
              </a:rPr>
              <a:t>32 позиції трьох брендів. Ціна партнеру й роздрібна полиця — з ПДВ, за одну упаковку.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682496"/>
            <a:ext cx="25054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СМАК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682496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717890"/>
                </a:solidFill>
                <a:latin typeface="Segoe UI"/>
              </a:rPr>
              <a:t>ВАГА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67328" y="1682496"/>
            <a:ext cx="10058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717890"/>
                </a:solidFill>
                <a:latin typeface="Segoe UI"/>
              </a:rPr>
              <a:t>ПАРТНЕРУ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64608" y="1682496"/>
            <a:ext cx="9875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717890"/>
                </a:solidFill>
                <a:latin typeface="Segoe UI"/>
              </a:rPr>
              <a:t>ПОЛИЦЯ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" y="1920240"/>
            <a:ext cx="5340096" cy="246888"/>
          </a:xfrm>
          <a:prstGeom prst="roundRect">
            <a:avLst>
              <a:gd name="adj" fmla="val 30000"/>
            </a:avLst>
          </a:prstGeom>
          <a:solidFill>
            <a:srgbClr val="C48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1920240"/>
            <a:ext cx="3204057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Segoe UI"/>
              </a:rPr>
              <a:t>ПАУЧ · РЕТОРТ 240 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73552" y="1920240"/>
            <a:ext cx="256032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Segoe UI"/>
              </a:rPr>
              <a:t>BSCM Foods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" y="2194560"/>
            <a:ext cx="5340096" cy="190195"/>
          </a:xfrm>
          <a:prstGeom prst="roundRect">
            <a:avLst>
              <a:gd name="adj" fmla="val 2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2203703"/>
            <a:ext cx="2487168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C2235"/>
                </a:solidFill>
                <a:latin typeface="Segoe UI"/>
              </a:rPr>
              <a:t>Jasmine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2203703"/>
            <a:ext cx="457200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1C2235"/>
                </a:solidFill>
                <a:latin typeface="Segoe UI"/>
              </a:rPr>
              <a:t>240 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67328" y="2203703"/>
            <a:ext cx="987552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1C2235"/>
                </a:solidFill>
                <a:latin typeface="Segoe UI"/>
              </a:rPr>
              <a:t>112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64608" y="2203703"/>
            <a:ext cx="969264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C4810A"/>
                </a:solidFill>
                <a:latin typeface="Segoe UI"/>
              </a:rPr>
              <a:t>157 грн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2393899"/>
            <a:ext cx="2487168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C2235"/>
                </a:solidFill>
                <a:latin typeface="Segoe UI"/>
              </a:rPr>
              <a:t>Mexican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2393899"/>
            <a:ext cx="457200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1C2235"/>
                </a:solidFill>
                <a:latin typeface="Segoe UI"/>
              </a:rPr>
              <a:t>240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67328" y="2393899"/>
            <a:ext cx="987552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1C2235"/>
                </a:solidFill>
                <a:latin typeface="Segoe UI"/>
              </a:rPr>
              <a:t>128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4608" y="2393899"/>
            <a:ext cx="969264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C4810A"/>
                </a:solidFill>
                <a:latin typeface="Segoe UI"/>
              </a:rPr>
              <a:t>179 грн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" y="2574950"/>
            <a:ext cx="5340096" cy="190195"/>
          </a:xfrm>
          <a:prstGeom prst="roundRect">
            <a:avLst>
              <a:gd name="adj" fmla="val 2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2584094"/>
            <a:ext cx="2487168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C2235"/>
                </a:solidFill>
                <a:latin typeface="Segoe UI"/>
              </a:rPr>
              <a:t>Japanese Style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2584094"/>
            <a:ext cx="457200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1C2235"/>
                </a:solidFill>
                <a:latin typeface="Segoe UI"/>
              </a:rPr>
              <a:t>240 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67328" y="2584094"/>
            <a:ext cx="987552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1C2235"/>
                </a:solidFill>
                <a:latin typeface="Segoe UI"/>
              </a:rPr>
              <a:t>128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64608" y="2584094"/>
            <a:ext cx="969264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C4810A"/>
                </a:solidFill>
                <a:latin typeface="Segoe UI"/>
              </a:rPr>
              <a:t>179 грн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" y="2774289"/>
            <a:ext cx="2487168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C2235"/>
                </a:solidFill>
                <a:latin typeface="Segoe UI"/>
              </a:rPr>
              <a:t>Hot &amp; Spicy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2774289"/>
            <a:ext cx="457200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1C2235"/>
                </a:solidFill>
                <a:latin typeface="Segoe UI"/>
              </a:rPr>
              <a:t>240 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67328" y="2774289"/>
            <a:ext cx="987552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1C2235"/>
                </a:solidFill>
                <a:latin typeface="Segoe UI"/>
              </a:rPr>
              <a:t>144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64608" y="2774289"/>
            <a:ext cx="969264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C4810A"/>
                </a:solidFill>
                <a:latin typeface="Segoe UI"/>
              </a:rPr>
              <a:t>202 грн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3504" y="3028492"/>
            <a:ext cx="5340096" cy="246888"/>
          </a:xfrm>
          <a:prstGeom prst="roundRect">
            <a:avLst>
              <a:gd name="adj" fmla="val 30000"/>
            </a:avLst>
          </a:prstGeom>
          <a:solidFill>
            <a:srgbClr val="C48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2" y="3028492"/>
            <a:ext cx="3204057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Segoe UI"/>
              </a:rPr>
              <a:t>ПАУЧ · РЕТОРТ 200 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73552" y="3028492"/>
            <a:ext cx="256032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Segoe UI"/>
              </a:rPr>
              <a:t>BSCM Foods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3504" y="3302812"/>
            <a:ext cx="5340096" cy="190195"/>
          </a:xfrm>
          <a:prstGeom prst="roundRect">
            <a:avLst>
              <a:gd name="adj" fmla="val 2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4944" y="3311956"/>
            <a:ext cx="2487168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C2235"/>
                </a:solidFill>
                <a:latin typeface="Segoe UI"/>
              </a:rPr>
              <a:t>Jasmine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0" y="3311956"/>
            <a:ext cx="457200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1C2235"/>
                </a:solidFill>
                <a:latin typeface="Segoe UI"/>
              </a:rPr>
              <a:t>200 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67328" y="3311956"/>
            <a:ext cx="987552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1C2235"/>
                </a:solidFill>
                <a:latin typeface="Segoe UI"/>
              </a:rPr>
              <a:t>107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64608" y="3311956"/>
            <a:ext cx="969264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C4810A"/>
                </a:solidFill>
                <a:latin typeface="Segoe UI"/>
              </a:rPr>
              <a:t>150 грн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" y="3502152"/>
            <a:ext cx="2487168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C2235"/>
                </a:solidFill>
                <a:latin typeface="Segoe UI"/>
              </a:rPr>
              <a:t>Mexican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0" y="3502152"/>
            <a:ext cx="457200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1C2235"/>
                </a:solidFill>
                <a:latin typeface="Segoe UI"/>
              </a:rPr>
              <a:t>200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67328" y="3502152"/>
            <a:ext cx="987552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1C2235"/>
                </a:solidFill>
                <a:latin typeface="Segoe UI"/>
              </a:rPr>
              <a:t>121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64608" y="3502152"/>
            <a:ext cx="969264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C4810A"/>
                </a:solidFill>
                <a:latin typeface="Segoe UI"/>
              </a:rPr>
              <a:t>169 грн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03504" y="3683203"/>
            <a:ext cx="5340096" cy="190195"/>
          </a:xfrm>
          <a:prstGeom prst="roundRect">
            <a:avLst>
              <a:gd name="adj" fmla="val 2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4944" y="3692347"/>
            <a:ext cx="2487168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C2235"/>
                </a:solidFill>
                <a:latin typeface="Segoe UI"/>
              </a:rPr>
              <a:t>Japanese Style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00400" y="3692347"/>
            <a:ext cx="457200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1C2235"/>
                </a:solidFill>
                <a:latin typeface="Segoe UI"/>
              </a:rPr>
              <a:t>200 г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67328" y="3692347"/>
            <a:ext cx="987552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1C2235"/>
                </a:solidFill>
                <a:latin typeface="Segoe UI"/>
              </a:rPr>
              <a:t>121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64608" y="3692347"/>
            <a:ext cx="969264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C4810A"/>
                </a:solidFill>
                <a:latin typeface="Segoe UI"/>
              </a:rPr>
              <a:t>169 грн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4944" y="3882542"/>
            <a:ext cx="2487168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C2235"/>
                </a:solidFill>
                <a:latin typeface="Segoe UI"/>
              </a:rPr>
              <a:t>Hot &amp; Spicy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00400" y="3882542"/>
            <a:ext cx="457200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1C2235"/>
                </a:solidFill>
                <a:latin typeface="Segoe UI"/>
              </a:rPr>
              <a:t>200 г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67328" y="3882542"/>
            <a:ext cx="987552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1C2235"/>
                </a:solidFill>
                <a:latin typeface="Segoe UI"/>
              </a:rPr>
              <a:t>132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64608" y="3882542"/>
            <a:ext cx="969264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C4810A"/>
                </a:solidFill>
                <a:latin typeface="Segoe UI"/>
              </a:rPr>
              <a:t>185 грн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03504" y="4136745"/>
            <a:ext cx="5340096" cy="246888"/>
          </a:xfrm>
          <a:prstGeom prst="roundRect">
            <a:avLst>
              <a:gd name="adj" fmla="val 30000"/>
            </a:avLst>
          </a:prstGeom>
          <a:solidFill>
            <a:srgbClr val="C48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13232" y="4136745"/>
            <a:ext cx="3204057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Segoe UI"/>
              </a:rPr>
              <a:t>ПАУЧ · РЕТОРТ 150 г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73552" y="4136745"/>
            <a:ext cx="256032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Segoe UI"/>
              </a:rPr>
              <a:t>BSCM Foods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03504" y="4411065"/>
            <a:ext cx="5340096" cy="190195"/>
          </a:xfrm>
          <a:prstGeom prst="roundRect">
            <a:avLst>
              <a:gd name="adj" fmla="val 2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94944" y="4420209"/>
            <a:ext cx="2487168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C2235"/>
                </a:solidFill>
                <a:latin typeface="Segoe UI"/>
              </a:rPr>
              <a:t>Jasmine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00400" y="4420209"/>
            <a:ext cx="457200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1C2235"/>
                </a:solidFill>
                <a:latin typeface="Segoe UI"/>
              </a:rPr>
              <a:t>150 г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767328" y="4420209"/>
            <a:ext cx="987552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1C2235"/>
                </a:solidFill>
                <a:latin typeface="Segoe UI"/>
              </a:rPr>
              <a:t>95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64608" y="4420209"/>
            <a:ext cx="969264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C4810A"/>
                </a:solidFill>
                <a:latin typeface="Segoe UI"/>
              </a:rPr>
              <a:t>133 грн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4944" y="4610404"/>
            <a:ext cx="2487168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C2235"/>
                </a:solidFill>
                <a:latin typeface="Segoe UI"/>
              </a:rPr>
              <a:t>Mexican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00400" y="4610404"/>
            <a:ext cx="457200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1C2235"/>
                </a:solidFill>
                <a:latin typeface="Segoe UI"/>
              </a:rPr>
              <a:t>150 г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767328" y="4610404"/>
            <a:ext cx="987552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1C2235"/>
                </a:solidFill>
                <a:latin typeface="Segoe UI"/>
              </a:rPr>
              <a:t>110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864608" y="4610404"/>
            <a:ext cx="969264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C4810A"/>
                </a:solidFill>
                <a:latin typeface="Segoe UI"/>
              </a:rPr>
              <a:t>155 грн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03504" y="4791456"/>
            <a:ext cx="5340096" cy="190195"/>
          </a:xfrm>
          <a:prstGeom prst="roundRect">
            <a:avLst>
              <a:gd name="adj" fmla="val 2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94944" y="4800600"/>
            <a:ext cx="2487168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C2235"/>
                </a:solidFill>
                <a:latin typeface="Segoe UI"/>
              </a:rPr>
              <a:t>Japanese Style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200400" y="4800600"/>
            <a:ext cx="457200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1C2235"/>
                </a:solidFill>
                <a:latin typeface="Segoe UI"/>
              </a:rPr>
              <a:t>150 г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767328" y="4800600"/>
            <a:ext cx="987552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1C2235"/>
                </a:solidFill>
                <a:latin typeface="Segoe UI"/>
              </a:rPr>
              <a:t>110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864608" y="4800600"/>
            <a:ext cx="969264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C4810A"/>
                </a:solidFill>
                <a:latin typeface="Segoe UI"/>
              </a:rPr>
              <a:t>155 грн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94944" y="4990795"/>
            <a:ext cx="2487168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C2235"/>
                </a:solidFill>
                <a:latin typeface="Segoe UI"/>
              </a:rPr>
              <a:t>Hot &amp; Spicy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200400" y="4990795"/>
            <a:ext cx="457200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1C2235"/>
                </a:solidFill>
                <a:latin typeface="Segoe UI"/>
              </a:rPr>
              <a:t>150 г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767328" y="4990795"/>
            <a:ext cx="987552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1C2235"/>
                </a:solidFill>
                <a:latin typeface="Segoe UI"/>
              </a:rPr>
              <a:t>120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64608" y="4990795"/>
            <a:ext cx="969264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C4810A"/>
                </a:solidFill>
                <a:latin typeface="Segoe UI"/>
              </a:rPr>
              <a:t>169 грн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03504" y="5244998"/>
            <a:ext cx="5340096" cy="246888"/>
          </a:xfrm>
          <a:prstGeom prst="roundRect">
            <a:avLst>
              <a:gd name="adj" fmla="val 3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13232" y="5244998"/>
            <a:ext cx="3204057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Segoe UI"/>
              </a:rPr>
              <a:t>ПАУЧ · РЕТОРТ 250 г, ОРГАНІК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273552" y="5244998"/>
            <a:ext cx="256032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Segoe UI"/>
              </a:rPr>
              <a:t>CM Premium · Chefrey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03504" y="5519318"/>
            <a:ext cx="5340096" cy="190195"/>
          </a:xfrm>
          <a:prstGeom prst="roundRect">
            <a:avLst>
              <a:gd name="adj" fmla="val 2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94944" y="5528462"/>
            <a:ext cx="2487168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C2235"/>
                </a:solidFill>
                <a:latin typeface="Segoe UI"/>
              </a:rPr>
              <a:t>Garlic Fried Rice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200400" y="5528462"/>
            <a:ext cx="457200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1C2235"/>
                </a:solidFill>
                <a:latin typeface="Segoe UI"/>
              </a:rPr>
              <a:t>250 г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767328" y="5528462"/>
            <a:ext cx="987552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1C2235"/>
                </a:solidFill>
                <a:latin typeface="Segoe UI"/>
              </a:rPr>
              <a:t>127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64608" y="5528462"/>
            <a:ext cx="969264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37A169"/>
                </a:solidFill>
                <a:latin typeface="Segoe UI"/>
              </a:rPr>
              <a:t>178 грн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94944" y="5718657"/>
            <a:ext cx="2487168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C2235"/>
                </a:solidFill>
                <a:latin typeface="Segoe UI"/>
              </a:rPr>
              <a:t>Cilantro Lime Rice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200400" y="5718657"/>
            <a:ext cx="457200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1C2235"/>
                </a:solidFill>
                <a:latin typeface="Segoe UI"/>
              </a:rPr>
              <a:t>250 г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767328" y="5718657"/>
            <a:ext cx="987552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1C2235"/>
                </a:solidFill>
                <a:latin typeface="Segoe UI"/>
              </a:rPr>
              <a:t>127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864608" y="5718657"/>
            <a:ext cx="969264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37A169"/>
                </a:solidFill>
                <a:latin typeface="Segoe UI"/>
              </a:rPr>
              <a:t>178 грн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03504" y="5899708"/>
            <a:ext cx="5340096" cy="190195"/>
          </a:xfrm>
          <a:prstGeom prst="roundRect">
            <a:avLst>
              <a:gd name="adj" fmla="val 2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94944" y="5908852"/>
            <a:ext cx="2487168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C2235"/>
                </a:solidFill>
                <a:latin typeface="Segoe UI"/>
              </a:rPr>
              <a:t>Turmeric Basmati + Cumin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200400" y="5908852"/>
            <a:ext cx="457200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1C2235"/>
                </a:solidFill>
                <a:latin typeface="Segoe UI"/>
              </a:rPr>
              <a:t>250 г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767328" y="5908852"/>
            <a:ext cx="987552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1C2235"/>
                </a:solidFill>
                <a:latin typeface="Segoe UI"/>
              </a:rPr>
              <a:t>127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864608" y="5908852"/>
            <a:ext cx="969264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37A169"/>
                </a:solidFill>
                <a:latin typeface="Segoe UI"/>
              </a:rPr>
              <a:t>178 грн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94944" y="6099048"/>
            <a:ext cx="2487168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C2235"/>
                </a:solidFill>
                <a:latin typeface="Segoe UI"/>
              </a:rPr>
              <a:t>Jasmine Rice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200400" y="6099048"/>
            <a:ext cx="457200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1C2235"/>
                </a:solidFill>
                <a:latin typeface="Segoe UI"/>
              </a:rPr>
              <a:t>250 г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767328" y="6099048"/>
            <a:ext cx="987552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1C2235"/>
                </a:solidFill>
                <a:latin typeface="Segoe UI"/>
              </a:rPr>
              <a:t>127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864608" y="6099048"/>
            <a:ext cx="969264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37A169"/>
                </a:solidFill>
                <a:latin typeface="Segoe UI"/>
              </a:rPr>
              <a:t>178 грн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309359" y="1682496"/>
            <a:ext cx="25054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СМАК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814816" y="1682496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717890"/>
                </a:solidFill>
                <a:latin typeface="Segoe UI"/>
              </a:rPr>
              <a:t>ВАГА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381744" y="1682496"/>
            <a:ext cx="10058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717890"/>
                </a:solidFill>
                <a:latin typeface="Segoe UI"/>
              </a:rPr>
              <a:t>ПАРТНЕРУ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479024" y="1682496"/>
            <a:ext cx="9875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717890"/>
                </a:solidFill>
                <a:latin typeface="Segoe UI"/>
              </a:rPr>
              <a:t>ПОЛИЦЯ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217920" y="1920240"/>
            <a:ext cx="5340096" cy="24688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327648" y="1920240"/>
            <a:ext cx="3204057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Segoe UI"/>
              </a:rPr>
              <a:t>СТАКАН 150 г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887967" y="1920240"/>
            <a:ext cx="256032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Segoe UI"/>
              </a:rPr>
              <a:t>BSCM Foods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6217920" y="2194560"/>
            <a:ext cx="5340096" cy="190195"/>
          </a:xfrm>
          <a:prstGeom prst="roundRect">
            <a:avLst>
              <a:gd name="adj" fmla="val 2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309359" y="2203703"/>
            <a:ext cx="2487168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C2235"/>
                </a:solidFill>
                <a:latin typeface="Segoe UI"/>
              </a:rPr>
              <a:t>Thai Jasmine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814816" y="2203703"/>
            <a:ext cx="457200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1C2235"/>
                </a:solidFill>
                <a:latin typeface="Segoe UI"/>
              </a:rPr>
              <a:t>150 г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381744" y="2203703"/>
            <a:ext cx="987552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1C2235"/>
                </a:solidFill>
                <a:latin typeface="Segoe UI"/>
              </a:rPr>
              <a:t>99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479024" y="2203703"/>
            <a:ext cx="969264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1E9EA6"/>
                </a:solidFill>
                <a:latin typeface="Segoe UI"/>
              </a:rPr>
              <a:t>139 грн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309359" y="2393899"/>
            <a:ext cx="2487168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C2235"/>
                </a:solidFill>
                <a:latin typeface="Segoe UI"/>
              </a:rPr>
              <a:t>Thai Brown Jasmine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814816" y="2393899"/>
            <a:ext cx="457200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1C2235"/>
                </a:solidFill>
                <a:latin typeface="Segoe UI"/>
              </a:rPr>
              <a:t>150 г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381744" y="2393899"/>
            <a:ext cx="987552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1C2235"/>
                </a:solidFill>
                <a:latin typeface="Segoe UI"/>
              </a:rPr>
              <a:t>99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479024" y="2393899"/>
            <a:ext cx="969264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1E9EA6"/>
                </a:solidFill>
                <a:latin typeface="Segoe UI"/>
              </a:rPr>
              <a:t>139 грн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6217920" y="2574950"/>
            <a:ext cx="5340096" cy="190195"/>
          </a:xfrm>
          <a:prstGeom prst="roundRect">
            <a:avLst>
              <a:gd name="adj" fmla="val 2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309359" y="2584094"/>
            <a:ext cx="2487168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C2235"/>
                </a:solidFill>
                <a:latin typeface="Segoe UI"/>
              </a:rPr>
              <a:t>Thai Red Jasmine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814816" y="2584094"/>
            <a:ext cx="457200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1C2235"/>
                </a:solidFill>
                <a:latin typeface="Segoe UI"/>
              </a:rPr>
              <a:t>150 г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381744" y="2584094"/>
            <a:ext cx="987552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1C2235"/>
                </a:solidFill>
                <a:latin typeface="Segoe UI"/>
              </a:rPr>
              <a:t>107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479024" y="2584094"/>
            <a:ext cx="969264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1E9EA6"/>
                </a:solidFill>
                <a:latin typeface="Segoe UI"/>
              </a:rPr>
              <a:t>150 грн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309359" y="2774289"/>
            <a:ext cx="2487168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C2235"/>
                </a:solidFill>
                <a:latin typeface="Segoe UI"/>
              </a:rPr>
              <a:t>Rice Berry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814816" y="2774289"/>
            <a:ext cx="457200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1C2235"/>
                </a:solidFill>
                <a:latin typeface="Segoe UI"/>
              </a:rPr>
              <a:t>150 г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381744" y="2774289"/>
            <a:ext cx="987552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1C2235"/>
                </a:solidFill>
                <a:latin typeface="Segoe UI"/>
              </a:rPr>
              <a:t>107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479024" y="2774289"/>
            <a:ext cx="969264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1E9EA6"/>
                </a:solidFill>
                <a:latin typeface="Segoe UI"/>
              </a:rPr>
              <a:t>150 грн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6217920" y="2955340"/>
            <a:ext cx="5340096" cy="190195"/>
          </a:xfrm>
          <a:prstGeom prst="roundRect">
            <a:avLst>
              <a:gd name="adj" fmla="val 2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309359" y="2964484"/>
            <a:ext cx="2487168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C2235"/>
                </a:solidFill>
                <a:latin typeface="Segoe UI"/>
              </a:rPr>
              <a:t>Brown Jasmine + Red Quinoa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814816" y="2964484"/>
            <a:ext cx="457200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1C2235"/>
                </a:solidFill>
                <a:latin typeface="Segoe UI"/>
              </a:rPr>
              <a:t>150 г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381744" y="2964484"/>
            <a:ext cx="987552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1C2235"/>
                </a:solidFill>
                <a:latin typeface="Segoe UI"/>
              </a:rPr>
              <a:t>107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479024" y="2964484"/>
            <a:ext cx="969264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1E9EA6"/>
                </a:solidFill>
                <a:latin typeface="Segoe UI"/>
              </a:rPr>
              <a:t>150 грн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6217920" y="3218688"/>
            <a:ext cx="5340096" cy="24688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6327648" y="3218688"/>
            <a:ext cx="3204057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Segoe UI"/>
              </a:rPr>
              <a:t>ПОДВІЙНИЙ СТАКАН 2×125 г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887967" y="3218688"/>
            <a:ext cx="256032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Segoe UI"/>
              </a:rPr>
              <a:t>BSCM Foods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6217920" y="3493008"/>
            <a:ext cx="5340096" cy="190195"/>
          </a:xfrm>
          <a:prstGeom prst="roundRect">
            <a:avLst>
              <a:gd name="adj" fmla="val 2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309359" y="3502152"/>
            <a:ext cx="2487168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C2235"/>
                </a:solidFill>
                <a:latin typeface="Segoe UI"/>
              </a:rPr>
              <a:t>Jasmine · з олією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814816" y="3502152"/>
            <a:ext cx="457200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1C2235"/>
                </a:solidFill>
                <a:latin typeface="Segoe UI"/>
              </a:rPr>
              <a:t>250 г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381744" y="3502152"/>
            <a:ext cx="987552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1C2235"/>
                </a:solidFill>
                <a:latin typeface="Segoe UI"/>
              </a:rPr>
              <a:t>183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0479024" y="3502152"/>
            <a:ext cx="969264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1E9EA6"/>
                </a:solidFill>
                <a:latin typeface="Segoe UI"/>
              </a:rPr>
              <a:t>256 грн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309359" y="3692347"/>
            <a:ext cx="2487168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C2235"/>
                </a:solidFill>
                <a:latin typeface="Segoe UI"/>
              </a:rPr>
              <a:t>Jasmine Pathum · з олією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814816" y="3692347"/>
            <a:ext cx="457200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1C2235"/>
                </a:solidFill>
                <a:latin typeface="Segoe UI"/>
              </a:rPr>
              <a:t>250 г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381744" y="3692347"/>
            <a:ext cx="987552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1C2235"/>
                </a:solidFill>
                <a:latin typeface="Segoe UI"/>
              </a:rPr>
              <a:t>166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479024" y="3692347"/>
            <a:ext cx="969264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1E9EA6"/>
                </a:solidFill>
                <a:latin typeface="Segoe UI"/>
              </a:rPr>
              <a:t>233 грн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6217920" y="3873398"/>
            <a:ext cx="5340096" cy="190195"/>
          </a:xfrm>
          <a:prstGeom prst="roundRect">
            <a:avLst>
              <a:gd name="adj" fmla="val 2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309359" y="3882542"/>
            <a:ext cx="2487168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C2235"/>
                </a:solidFill>
                <a:latin typeface="Segoe UI"/>
              </a:rPr>
              <a:t>Brown Jasmine · з олією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814816" y="3882542"/>
            <a:ext cx="457200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1C2235"/>
                </a:solidFill>
                <a:latin typeface="Segoe UI"/>
              </a:rPr>
              <a:t>250 г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9381744" y="3882542"/>
            <a:ext cx="987552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1C2235"/>
                </a:solidFill>
                <a:latin typeface="Segoe UI"/>
              </a:rPr>
              <a:t>183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0479024" y="3882542"/>
            <a:ext cx="969264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1E9EA6"/>
                </a:solidFill>
                <a:latin typeface="Segoe UI"/>
              </a:rPr>
              <a:t>256 грн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309359" y="4072737"/>
            <a:ext cx="2487168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C2235"/>
                </a:solidFill>
                <a:latin typeface="Segoe UI"/>
              </a:rPr>
              <a:t>Brown Rice · з олією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814816" y="4072737"/>
            <a:ext cx="457200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1C2235"/>
                </a:solidFill>
                <a:latin typeface="Segoe UI"/>
              </a:rPr>
              <a:t>250 г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9381744" y="4072737"/>
            <a:ext cx="987552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1C2235"/>
                </a:solidFill>
                <a:latin typeface="Segoe UI"/>
              </a:rPr>
              <a:t>183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0479024" y="4072737"/>
            <a:ext cx="969264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1E9EA6"/>
                </a:solidFill>
                <a:latin typeface="Segoe UI"/>
              </a:rPr>
              <a:t>256 грн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6217920" y="4253788"/>
            <a:ext cx="5340096" cy="190195"/>
          </a:xfrm>
          <a:prstGeom prst="roundRect">
            <a:avLst>
              <a:gd name="adj" fmla="val 2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309359" y="4262932"/>
            <a:ext cx="2487168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C2235"/>
                </a:solidFill>
                <a:latin typeface="Segoe UI"/>
              </a:rPr>
              <a:t>Basmati* · з олією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814816" y="4262932"/>
            <a:ext cx="457200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1C2235"/>
                </a:solidFill>
                <a:latin typeface="Segoe UI"/>
              </a:rPr>
              <a:t>250 г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381744" y="4262932"/>
            <a:ext cx="987552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1C2235"/>
                </a:solidFill>
                <a:latin typeface="Segoe UI"/>
              </a:rPr>
              <a:t>200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479024" y="4262932"/>
            <a:ext cx="969264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1E9EA6"/>
                </a:solidFill>
                <a:latin typeface="Segoe UI"/>
              </a:rPr>
              <a:t>280 грн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309359" y="4453128"/>
            <a:ext cx="2487168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C2235"/>
                </a:solidFill>
                <a:latin typeface="Segoe UI"/>
              </a:rPr>
              <a:t>Long Grain · з олією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814816" y="4453128"/>
            <a:ext cx="457200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1C2235"/>
                </a:solidFill>
                <a:latin typeface="Segoe UI"/>
              </a:rPr>
              <a:t>250 г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9381744" y="4453128"/>
            <a:ext cx="987552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1C2235"/>
                </a:solidFill>
                <a:latin typeface="Segoe UI"/>
              </a:rPr>
              <a:t>156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0479024" y="4453128"/>
            <a:ext cx="969264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1E9EA6"/>
                </a:solidFill>
                <a:latin typeface="Segoe UI"/>
              </a:rPr>
              <a:t>219 грн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6217920" y="4634179"/>
            <a:ext cx="5340096" cy="190195"/>
          </a:xfrm>
          <a:prstGeom prst="roundRect">
            <a:avLst>
              <a:gd name="adj" fmla="val 2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6309359" y="4643323"/>
            <a:ext cx="2487168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C2235"/>
                </a:solidFill>
                <a:latin typeface="Segoe UI"/>
              </a:rPr>
              <a:t>Jasmine · без олії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814816" y="4643323"/>
            <a:ext cx="457200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1C2235"/>
                </a:solidFill>
                <a:latin typeface="Segoe UI"/>
              </a:rPr>
              <a:t>250 г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9381744" y="4643323"/>
            <a:ext cx="987552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1C2235"/>
                </a:solidFill>
                <a:latin typeface="Segoe UI"/>
              </a:rPr>
              <a:t>183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0479024" y="4643323"/>
            <a:ext cx="969264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1E9EA6"/>
                </a:solidFill>
                <a:latin typeface="Segoe UI"/>
              </a:rPr>
              <a:t>256 грн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6217920" y="4897526"/>
            <a:ext cx="5340096" cy="246888"/>
          </a:xfrm>
          <a:prstGeom prst="roundRect">
            <a:avLst>
              <a:gd name="adj" fmla="val 30000"/>
            </a:avLst>
          </a:prstGeom>
          <a:solidFill>
            <a:srgbClr val="5E4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327648" y="4897526"/>
            <a:ext cx="3204057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Segoe UI"/>
              </a:rPr>
              <a:t>ЛОТОК 200–210 г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8887967" y="4897526"/>
            <a:ext cx="256032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Segoe UI"/>
              </a:rPr>
              <a:t>ONE'S International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6217920" y="5171846"/>
            <a:ext cx="5340096" cy="190195"/>
          </a:xfrm>
          <a:prstGeom prst="roundRect">
            <a:avLst>
              <a:gd name="adj" fmla="val 2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6309359" y="5180990"/>
            <a:ext cx="2487168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C2235"/>
                </a:solidFill>
                <a:latin typeface="Segoe UI"/>
              </a:rPr>
              <a:t>Cooked White Rice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8814816" y="5180990"/>
            <a:ext cx="457200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1C2235"/>
                </a:solidFill>
                <a:latin typeface="Segoe UI"/>
              </a:rPr>
              <a:t>210 г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9381744" y="5180990"/>
            <a:ext cx="987552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1C2235"/>
                </a:solidFill>
                <a:latin typeface="Segoe UI"/>
              </a:rPr>
              <a:t>109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0479024" y="5180990"/>
            <a:ext cx="969264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5E4B94"/>
                </a:solidFill>
                <a:latin typeface="Segoe UI"/>
              </a:rPr>
              <a:t>153 грн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6309359" y="5371185"/>
            <a:ext cx="2487168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C2235"/>
                </a:solidFill>
                <a:latin typeface="Segoe UI"/>
              </a:rPr>
              <a:t>Kimchi Fried Rice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8814816" y="5371185"/>
            <a:ext cx="457200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1C2235"/>
                </a:solidFill>
                <a:latin typeface="Segoe UI"/>
              </a:rPr>
              <a:t>200 г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9381744" y="5371185"/>
            <a:ext cx="987552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1C2235"/>
                </a:solidFill>
                <a:latin typeface="Segoe UI"/>
              </a:rPr>
              <a:t>237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0479024" y="5371185"/>
            <a:ext cx="969264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5E4B94"/>
                </a:solidFill>
                <a:latin typeface="Segoe UI"/>
              </a:rPr>
              <a:t>332 грн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6217920" y="5552236"/>
            <a:ext cx="5340096" cy="190195"/>
          </a:xfrm>
          <a:prstGeom prst="roundRect">
            <a:avLst>
              <a:gd name="adj" fmla="val 2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6309359" y="5561380"/>
            <a:ext cx="2487168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C2235"/>
                </a:solidFill>
                <a:latin typeface="Segoe UI"/>
              </a:rPr>
              <a:t>Vegetable Fried Rice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8814816" y="5561380"/>
            <a:ext cx="457200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1C2235"/>
                </a:solidFill>
                <a:latin typeface="Segoe UI"/>
              </a:rPr>
              <a:t>200 г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9381744" y="5561380"/>
            <a:ext cx="987552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1C2235"/>
                </a:solidFill>
                <a:latin typeface="Segoe UI"/>
              </a:rPr>
              <a:t>237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10479024" y="5561380"/>
            <a:ext cx="969264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5E4B94"/>
                </a:solidFill>
                <a:latin typeface="Segoe UI"/>
              </a:rPr>
              <a:t>332 грн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6309359" y="5751576"/>
            <a:ext cx="2487168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C2235"/>
                </a:solidFill>
                <a:latin typeface="Segoe UI"/>
              </a:rPr>
              <a:t>Japchae Fried Rice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8814816" y="5751576"/>
            <a:ext cx="457200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1C2235"/>
                </a:solidFill>
                <a:latin typeface="Segoe UI"/>
              </a:rPr>
              <a:t>200 г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9381744" y="5751576"/>
            <a:ext cx="987552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1C2235"/>
                </a:solidFill>
                <a:latin typeface="Segoe UI"/>
              </a:rPr>
              <a:t>237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0479024" y="5751576"/>
            <a:ext cx="969264" cy="171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5E4B94"/>
                </a:solidFill>
                <a:latin typeface="Segoe UI"/>
              </a:rPr>
              <a:t>332 грн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603504" y="647395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Фінмодель покупця (20' FCL навалом): курс 45 грн/$, бонус мережі 25 %, маржа 35 %. Ціна партнеру = собівартість ÷ 0,4, полиця = ціна партнеру × 1,4. Варіанти змішаного контейнера (Bags+Cups) не показано. Basmati* — за комерційною пропозицією.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C95C"/>
                </a:solidFill>
                <a:latin typeface="Segoe UI"/>
              </a:rPr>
              <a:t>ХТО З КИМ СТОЇТЬ · ПАУЧ 1 З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Де ми стоїмо: пауч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717890"/>
                </a:solidFill>
                <a:latin typeface="Segoe UI"/>
              </a:rPr>
              <a:t>Наш пауч 133–202 грн стоїть між українським реторт-паучем (медіана 101) і Seeds of Change (242). Помаранчеве — наші.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74920" y="1645920"/>
            <a:ext cx="10972" cy="4206240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59" y="5879592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2695" y="1645920"/>
            <a:ext cx="10972" cy="4206240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56934" y="5879592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717890"/>
                </a:solidFill>
                <a:latin typeface="Segoe UI"/>
              </a:rPr>
              <a:t>100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70470" y="1645920"/>
            <a:ext cx="10972" cy="4206240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04710" y="5879592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717890"/>
                </a:solidFill>
                <a:latin typeface="Segoe UI"/>
              </a:rPr>
              <a:t>200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18245" y="1645920"/>
            <a:ext cx="10972" cy="4206240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2485" y="5879592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717890"/>
                </a:solidFill>
                <a:latin typeface="Segoe UI"/>
              </a:rPr>
              <a:t>300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66020" y="1645920"/>
            <a:ext cx="10972" cy="4206240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00260" y="5879592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717890"/>
                </a:solidFill>
                <a:latin typeface="Segoe UI"/>
              </a:rPr>
              <a:t>400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36418" y="1645920"/>
            <a:ext cx="1684496" cy="4206240"/>
          </a:xfrm>
          <a:prstGeom prst="rect">
            <a:avLst/>
          </a:prstGeom>
          <a:solidFill>
            <a:srgbClr val="FF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36418" y="6080760"/>
            <a:ext cx="3840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9A50B"/>
                </a:solidFill>
                <a:latin typeface="Segoe UI"/>
              </a:rPr>
              <a:t>вікно мережевої полиці 45–180 грн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" y="5879592"/>
            <a:ext cx="4023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717890"/>
                </a:solidFill>
                <a:latin typeface="Segoe UI"/>
              </a:rPr>
              <a:t>ГРН/УПАКОВКА · ВЕЛИКА ТОЧКА — МЕДІАНА, МАЛІ — ПОЗИЦІЇ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" y="1655064"/>
            <a:ext cx="10984961" cy="256032"/>
          </a:xfrm>
          <a:prstGeom prst="roundRect">
            <a:avLst>
              <a:gd name="adj" fmla="val 30000"/>
            </a:avLst>
          </a:prstGeom>
          <a:solidFill>
            <a:srgbClr val="C48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1655064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ПАУЧ · ВІД ДЕШЕВИХ ДО ДОРОГИХ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46704" y="165506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КРАЇНА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59935" y="165506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ВАГА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28032" y="165506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Segoe UI"/>
              </a:rPr>
              <a:t>SKU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1950110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Portion · 350 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46704" y="197754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59935" y="1977542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350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18304" y="1977542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60840" y="2027834"/>
            <a:ext cx="474154" cy="82296"/>
          </a:xfrm>
          <a:prstGeom prst="roundRect">
            <a:avLst>
              <a:gd name="adj" fmla="val 50000"/>
            </a:avLst>
          </a:prstGeom>
          <a:solidFill>
            <a:srgbClr val="C48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910548" y="201869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851112" y="1959254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C4810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17874" y="1959254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71–109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2211019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М'ясниця · 350 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46704" y="2238451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59935" y="2238451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350 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18304" y="2238451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72961" y="2288743"/>
            <a:ext cx="36576" cy="82296"/>
          </a:xfrm>
          <a:prstGeom prst="roundRect">
            <a:avLst>
              <a:gd name="adj" fmla="val 50000"/>
            </a:avLst>
          </a:prstGeom>
          <a:solidFill>
            <a:srgbClr val="C48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122670" y="2279599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063233" y="2220163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C4810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68319" y="2220163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88–89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2471928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Ben's Original · 240–250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46704" y="2499360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59935" y="2499360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240–250 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18304" y="249936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17890"/>
                </a:solidFill>
                <a:latin typeface="Segoe UI"/>
              </a:rPr>
              <a:t>6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636418" y="2549652"/>
            <a:ext cx="1172908" cy="82296"/>
          </a:xfrm>
          <a:prstGeom prst="roundRect">
            <a:avLst>
              <a:gd name="adj" fmla="val 50000"/>
            </a:avLst>
          </a:prstGeom>
          <a:solidFill>
            <a:srgbClr val="C48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586126" y="254050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147625" y="254050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147625" y="254050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147625" y="254050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147625" y="254050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759035" y="254050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088189" y="2481072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C4810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992207" y="248107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45–139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2732836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МАКРО · 350 г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46704" y="2760268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59935" y="2760268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350 г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18304" y="2760268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17890"/>
                </a:solidFill>
                <a:latin typeface="Segoe UI"/>
              </a:rPr>
              <a:t>3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72783" y="2810560"/>
            <a:ext cx="486632" cy="82296"/>
          </a:xfrm>
          <a:prstGeom prst="roundRect">
            <a:avLst>
              <a:gd name="adj" fmla="val 50000"/>
            </a:avLst>
          </a:prstGeom>
          <a:solidFill>
            <a:srgbClr val="C48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222492" y="280141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284880" y="280141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322314" y="280141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225444" y="2741980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C4810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942296" y="2741980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96–135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" y="2993745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Маркел · 350 г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46704" y="3021177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059935" y="3021177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350 г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18304" y="3021177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073140" y="3071469"/>
            <a:ext cx="798575" cy="82296"/>
          </a:xfrm>
          <a:prstGeom prst="roundRect">
            <a:avLst>
              <a:gd name="adj" fmla="val 50000"/>
            </a:avLst>
          </a:prstGeom>
          <a:solidFill>
            <a:srgbClr val="C48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6022848" y="3062325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6609302" y="3062325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6256639" y="3002889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C4810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054596" y="3002889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80–144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1520" y="3254654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Верес · 350 г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346704" y="3282086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059935" y="3282086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350 г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718304" y="3282086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322695" y="3332378"/>
            <a:ext cx="436721" cy="82296"/>
          </a:xfrm>
          <a:prstGeom prst="roundRect">
            <a:avLst>
              <a:gd name="adj" fmla="val 50000"/>
            </a:avLst>
          </a:prstGeom>
          <a:solidFill>
            <a:srgbClr val="C48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6272403" y="332323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6372225" y="332323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6262878" y="3263798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C4810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942296" y="326379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100–135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3515563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Ходорівський · 350 г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346704" y="3542995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059935" y="3542995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350 г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718304" y="3542995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385083" y="3593287"/>
            <a:ext cx="1172908" cy="82296"/>
          </a:xfrm>
          <a:prstGeom prst="roundRect">
            <a:avLst>
              <a:gd name="adj" fmla="val 50000"/>
            </a:avLst>
          </a:prstGeom>
          <a:solidFill>
            <a:srgbClr val="C48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6334791" y="3584143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6771513" y="3584143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6493716" y="3524707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C4810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740872" y="3524707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105–199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31520" y="3776472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Ben's Original · 220 г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346704" y="3803904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059935" y="3803904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220 г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718304" y="3803904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17890"/>
                </a:solidFill>
                <a:latin typeface="Segoe UI"/>
              </a:rPr>
              <a:t>7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197917" y="3854196"/>
            <a:ext cx="1497330" cy="82296"/>
          </a:xfrm>
          <a:prstGeom prst="roundRect">
            <a:avLst>
              <a:gd name="adj" fmla="val 50000"/>
            </a:avLst>
          </a:prstGeom>
          <a:solidFill>
            <a:srgbClr val="C48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6147625" y="384505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6272403" y="384505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6384702" y="384505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6821424" y="384505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6883812" y="384505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7258145" y="384505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6759035" y="384505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6699599" y="3785616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C4810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878127" y="3785616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90–210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603504" y="4044086"/>
            <a:ext cx="10984961" cy="224332"/>
          </a:xfrm>
          <a:prstGeom prst="roundRect">
            <a:avLst>
              <a:gd name="adj" fmla="val 20000"/>
            </a:avLst>
          </a:prstGeom>
          <a:solidFill>
            <a:srgbClr val="FFF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31520" y="4037380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03A5D"/>
                </a:solidFill>
                <a:latin typeface="Segoe UI"/>
              </a:rPr>
              <a:t>НАШ · BSCM пауч 150 г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346704" y="406481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—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059935" y="4064812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150 г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718304" y="4064812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6731327" y="4115104"/>
            <a:ext cx="446966" cy="8229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6681035" y="410596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F9A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6952720" y="410596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F9A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6952720" y="410596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F9A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ounded Rectangle 116"/>
          <p:cNvSpPr/>
          <p:nvPr/>
        </p:nvSpPr>
        <p:spPr>
          <a:xfrm>
            <a:off x="7128001" y="410596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F9A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6893284" y="4046524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 w="25400">
            <a:solidFill>
              <a:srgbClr val="303A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7361173" y="4046524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133–169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603504" y="4304995"/>
            <a:ext cx="10984961" cy="224332"/>
          </a:xfrm>
          <a:prstGeom prst="roundRect">
            <a:avLst>
              <a:gd name="adj" fmla="val 20000"/>
            </a:avLst>
          </a:prstGeom>
          <a:solidFill>
            <a:srgbClr val="FFF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31520" y="4298289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03A5D"/>
                </a:solidFill>
                <a:latin typeface="Segoe UI"/>
              </a:rPr>
              <a:t>НАШ · BSCM пауч 200 г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346704" y="4325721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—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059935" y="4325721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200 г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718304" y="4325721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6946926" y="4376013"/>
            <a:ext cx="442473" cy="8229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ounded Rectangle 125"/>
          <p:cNvSpPr/>
          <p:nvPr/>
        </p:nvSpPr>
        <p:spPr>
          <a:xfrm>
            <a:off x="6896634" y="4366869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F9A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ounded Rectangle 126"/>
          <p:cNvSpPr/>
          <p:nvPr/>
        </p:nvSpPr>
        <p:spPr>
          <a:xfrm>
            <a:off x="7134889" y="4366869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F9A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7134889" y="4366869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F9A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ounded Rectangle 128"/>
          <p:cNvSpPr/>
          <p:nvPr/>
        </p:nvSpPr>
        <p:spPr>
          <a:xfrm>
            <a:off x="7339108" y="4366869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F9A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ounded Rectangle 129"/>
          <p:cNvSpPr/>
          <p:nvPr/>
        </p:nvSpPr>
        <p:spPr>
          <a:xfrm>
            <a:off x="7075453" y="4307433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 w="25400">
            <a:solidFill>
              <a:srgbClr val="303A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7572280" y="4307433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150–185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603504" y="4565903"/>
            <a:ext cx="10984961" cy="224332"/>
          </a:xfrm>
          <a:prstGeom prst="roundRect">
            <a:avLst>
              <a:gd name="adj" fmla="val 20000"/>
            </a:avLst>
          </a:prstGeom>
          <a:solidFill>
            <a:srgbClr val="FFF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31520" y="4559198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03A5D"/>
                </a:solidFill>
                <a:latin typeface="Segoe UI"/>
              </a:rPr>
              <a:t>НАШ · CM Premium пауч 250 г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346704" y="4586630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—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059935" y="4586630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250 г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718304" y="458663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7301545" y="4636922"/>
            <a:ext cx="36576" cy="8229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ounded Rectangle 137"/>
          <p:cNvSpPr/>
          <p:nvPr/>
        </p:nvSpPr>
        <p:spPr>
          <a:xfrm>
            <a:off x="7251253" y="462777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F9A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ounded Rectangle 138"/>
          <p:cNvSpPr/>
          <p:nvPr/>
        </p:nvSpPr>
        <p:spPr>
          <a:xfrm>
            <a:off x="7251253" y="462777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F9A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ounded Rectangle 139"/>
          <p:cNvSpPr/>
          <p:nvPr/>
        </p:nvSpPr>
        <p:spPr>
          <a:xfrm>
            <a:off x="7251253" y="462777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F9A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ounded Rectangle 140"/>
          <p:cNvSpPr/>
          <p:nvPr/>
        </p:nvSpPr>
        <p:spPr>
          <a:xfrm>
            <a:off x="7251253" y="462777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F9A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ounded Rectangle 141"/>
          <p:cNvSpPr/>
          <p:nvPr/>
        </p:nvSpPr>
        <p:spPr>
          <a:xfrm>
            <a:off x="7191817" y="4568342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 w="25400">
            <a:solidFill>
              <a:srgbClr val="303A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7484425" y="456834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178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603504" y="4826812"/>
            <a:ext cx="10984961" cy="224332"/>
          </a:xfrm>
          <a:prstGeom prst="roundRect">
            <a:avLst>
              <a:gd name="adj" fmla="val 20000"/>
            </a:avLst>
          </a:prstGeom>
          <a:solidFill>
            <a:srgbClr val="FFF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731520" y="4820107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03A5D"/>
                </a:solidFill>
                <a:latin typeface="Segoe UI"/>
              </a:rPr>
              <a:t>НАШ · BSCM пауч 240 г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346704" y="4847539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—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059935" y="4847539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240 г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718304" y="4847539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7031162" y="4897831"/>
            <a:ext cx="558925" cy="8229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ounded Rectangle 149"/>
          <p:cNvSpPr/>
          <p:nvPr/>
        </p:nvSpPr>
        <p:spPr>
          <a:xfrm>
            <a:off x="6980870" y="4888687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F9A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ounded Rectangle 150"/>
          <p:cNvSpPr/>
          <p:nvPr/>
        </p:nvSpPr>
        <p:spPr>
          <a:xfrm>
            <a:off x="7260332" y="4888687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F9A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ounded Rectangle 151"/>
          <p:cNvSpPr/>
          <p:nvPr/>
        </p:nvSpPr>
        <p:spPr>
          <a:xfrm>
            <a:off x="7260332" y="4888687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F9A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ounded Rectangle 152"/>
          <p:cNvSpPr/>
          <p:nvPr/>
        </p:nvSpPr>
        <p:spPr>
          <a:xfrm>
            <a:off x="7539795" y="4888687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F9A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ounded Rectangle 153"/>
          <p:cNvSpPr/>
          <p:nvPr/>
        </p:nvSpPr>
        <p:spPr>
          <a:xfrm>
            <a:off x="7200896" y="4829251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 w="25400">
            <a:solidFill>
              <a:srgbClr val="303A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7772967" y="4829251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157–202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31520" y="5081015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Seeds of Change · 240 г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3346704" y="5108447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США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4059935" y="5108447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240 г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718304" y="5108447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17890"/>
                </a:solidFill>
                <a:latin typeface="Segoe UI"/>
              </a:rPr>
              <a:t>6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7670291" y="5158739"/>
            <a:ext cx="3007137" cy="82296"/>
          </a:xfrm>
          <a:prstGeom prst="roundRect">
            <a:avLst>
              <a:gd name="adj" fmla="val 50000"/>
            </a:avLst>
          </a:prstGeom>
          <a:solidFill>
            <a:srgbClr val="C48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ounded Rectangle 160"/>
          <p:cNvSpPr/>
          <p:nvPr/>
        </p:nvSpPr>
        <p:spPr>
          <a:xfrm>
            <a:off x="7832121" y="5149595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ounded Rectangle 161"/>
          <p:cNvSpPr/>
          <p:nvPr/>
        </p:nvSpPr>
        <p:spPr>
          <a:xfrm>
            <a:off x="8767953" y="5149595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ounded Rectangle 162"/>
          <p:cNvSpPr/>
          <p:nvPr/>
        </p:nvSpPr>
        <p:spPr>
          <a:xfrm>
            <a:off x="8256365" y="5149595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ounded Rectangle 163"/>
          <p:cNvSpPr/>
          <p:nvPr/>
        </p:nvSpPr>
        <p:spPr>
          <a:xfrm>
            <a:off x="7619999" y="5149595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ounded Rectangle 164"/>
          <p:cNvSpPr/>
          <p:nvPr/>
        </p:nvSpPr>
        <p:spPr>
          <a:xfrm>
            <a:off x="7644955" y="5149595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ounded Rectangle 165"/>
          <p:cNvSpPr/>
          <p:nvPr/>
        </p:nvSpPr>
        <p:spPr>
          <a:xfrm>
            <a:off x="10103072" y="5149595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ounded Rectangle 166"/>
          <p:cNvSpPr/>
          <p:nvPr/>
        </p:nvSpPr>
        <p:spPr>
          <a:xfrm>
            <a:off x="7984807" y="5090159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C4810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10860309" y="5090159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208–449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731520" y="5341924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Clearspring · 250 г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3346704" y="5369356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059935" y="5369356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250 г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4718304" y="5369356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8219313" y="5419648"/>
            <a:ext cx="2420683" cy="82296"/>
          </a:xfrm>
          <a:prstGeom prst="roundRect">
            <a:avLst>
              <a:gd name="adj" fmla="val 50000"/>
            </a:avLst>
          </a:prstGeom>
          <a:solidFill>
            <a:srgbClr val="C48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ounded Rectangle 173"/>
          <p:cNvSpPr/>
          <p:nvPr/>
        </p:nvSpPr>
        <p:spPr>
          <a:xfrm>
            <a:off x="8169021" y="541050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ounded Rectangle 174"/>
          <p:cNvSpPr/>
          <p:nvPr/>
        </p:nvSpPr>
        <p:spPr>
          <a:xfrm>
            <a:off x="8109585" y="5351068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C4810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10822876" y="535106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252–446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731520" y="5602833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Adventure Menu · 400 г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3346704" y="5630265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4059935" y="5630265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400 г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4718304" y="5630265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17890"/>
                </a:solidFill>
                <a:latin typeface="Segoe UI"/>
              </a:rPr>
              <a:t>3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9005411" y="5680557"/>
            <a:ext cx="1110519" cy="82296"/>
          </a:xfrm>
          <a:prstGeom prst="roundRect">
            <a:avLst>
              <a:gd name="adj" fmla="val 50000"/>
            </a:avLst>
          </a:prstGeom>
          <a:solidFill>
            <a:srgbClr val="C48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ounded Rectangle 181"/>
          <p:cNvSpPr/>
          <p:nvPr/>
        </p:nvSpPr>
        <p:spPr>
          <a:xfrm>
            <a:off x="9716262" y="5671413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ounded Rectangle 182"/>
          <p:cNvSpPr/>
          <p:nvPr/>
        </p:nvSpPr>
        <p:spPr>
          <a:xfrm>
            <a:off x="8955119" y="5671413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ounded Rectangle 183"/>
          <p:cNvSpPr/>
          <p:nvPr/>
        </p:nvSpPr>
        <p:spPr>
          <a:xfrm>
            <a:off x="9217151" y="5671413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48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ounded Rectangle 184"/>
          <p:cNvSpPr/>
          <p:nvPr/>
        </p:nvSpPr>
        <p:spPr>
          <a:xfrm>
            <a:off x="9157715" y="5611977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C4810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10298810" y="5611977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315–404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603504" y="647395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Роздрібна ціна за одну упаковку: конкуренти — мінімальна ціна позиції на сайтах продавців; наші — полиця за фінмоделлю з ПДВ.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C95C"/>
                </a:solidFill>
                <a:latin typeface="Segoe UI"/>
              </a:rPr>
              <a:t>ХТО З КИМ СТОЇТЬ · ЧАША 2 З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Де ми стоїмо: чаша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717890"/>
                </a:solidFill>
                <a:latin typeface="Segoe UI"/>
              </a:rPr>
              <a:t>Наш стакан 150 г стоїть між Henan (медіана 124) і Bibigo (135–189); ONE'S fried rice — на рівні Ottogi. Помаранчеве — наші.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74920" y="1645920"/>
            <a:ext cx="10972" cy="4206240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59" y="5879592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2783" y="1645920"/>
            <a:ext cx="10972" cy="4206240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07023" y="5879592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717890"/>
                </a:solidFill>
                <a:latin typeface="Segoe UI"/>
              </a:rPr>
              <a:t>200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70648" y="1645920"/>
            <a:ext cx="10972" cy="4206240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04888" y="5879592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717890"/>
                </a:solidFill>
                <a:latin typeface="Segoe UI"/>
              </a:rPr>
              <a:t>400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68512" y="1645920"/>
            <a:ext cx="10972" cy="4206240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5879592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717890"/>
                </a:solidFill>
                <a:latin typeface="Segoe UI"/>
              </a:rPr>
              <a:t>600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866376" y="1645920"/>
            <a:ext cx="10972" cy="4206240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0615" y="5879592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717890"/>
                </a:solidFill>
                <a:latin typeface="Segoe UI"/>
              </a:rPr>
              <a:t>800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064240" y="1645920"/>
            <a:ext cx="10972" cy="4206240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98480" y="5879592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717890"/>
                </a:solidFill>
                <a:latin typeface="Segoe UI"/>
              </a:rPr>
              <a:t>1 000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44439" y="1645920"/>
            <a:ext cx="808558" cy="4206240"/>
          </a:xfrm>
          <a:prstGeom prst="rect">
            <a:avLst/>
          </a:prstGeom>
          <a:solidFill>
            <a:srgbClr val="FF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44439" y="6080760"/>
            <a:ext cx="3840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9A50B"/>
                </a:solidFill>
                <a:latin typeface="Segoe UI"/>
              </a:rPr>
              <a:t>вікно мережевої полиці 45–180 грн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5879592"/>
            <a:ext cx="4023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717890"/>
                </a:solidFill>
                <a:latin typeface="Segoe UI"/>
              </a:rPr>
              <a:t>ГРН/УПАКОВКА · ВЕЛИКА ТОЧКА — МЕДІАНА, МАЛІ — ПОЗИЦІЇ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" y="1655064"/>
            <a:ext cx="10984961" cy="256032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1655064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ЧАША · ВІД ДЕШЕВИХ ДО ДОРОГИХ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46704" y="165506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КРАЇНА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59935" y="165506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ВАГА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28032" y="165506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Segoe UI"/>
              </a:rPr>
              <a:t>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1982724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Henan · 174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46704" y="2010156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59935" y="2010156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174 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18304" y="2010156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45723" y="2060448"/>
            <a:ext cx="263530" cy="82296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797250" y="2051303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E9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863132" y="2051303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E9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731367" y="2051303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E9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731367" y="2051303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E9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695431" y="2051303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E9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671931" y="1991868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92133" y="199186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112–156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2308860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Henan · 144 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46704" y="2336291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59935" y="2336291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144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18304" y="2336291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17890"/>
                </a:solidFill>
                <a:latin typeface="Segoe UI"/>
              </a:rPr>
              <a:t>3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572033" y="2386584"/>
            <a:ext cx="413263" cy="82296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521741" y="2377439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E9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833186" y="2377439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E9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935004" y="2377439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E9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773750" y="2318003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68176" y="2318003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83–152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" y="2634995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Bibigo · 210 г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46704" y="2662427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Корея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059935" y="2662427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210 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18304" y="2662427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883478" y="2712719"/>
            <a:ext cx="323423" cy="82296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5833186" y="2703575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E9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5773750" y="2644139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89781" y="2644139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135–189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03504" y="2935223"/>
            <a:ext cx="10984961" cy="289560"/>
          </a:xfrm>
          <a:prstGeom prst="roundRect">
            <a:avLst>
              <a:gd name="adj" fmla="val 20000"/>
            </a:avLst>
          </a:prstGeom>
          <a:solidFill>
            <a:srgbClr val="FFF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20" y="2961131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03A5D"/>
                </a:solidFill>
                <a:latin typeface="Segoe UI"/>
              </a:rPr>
              <a:t>НАШ · BSCM стакан 150 г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46704" y="2988563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059935" y="2988563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150 г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18304" y="2988563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906367" y="3038855"/>
            <a:ext cx="69287" cy="8229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5856103" y="3029711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F9A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5856075" y="3029711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F9A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5925362" y="3029711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F9A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5925362" y="3029711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F9A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5925362" y="3029711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F9A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5865926" y="2970275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 w="25400">
            <a:solidFill>
              <a:srgbClr val="303A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158534" y="2970275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139–150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03504" y="3261359"/>
            <a:ext cx="10984961" cy="289560"/>
          </a:xfrm>
          <a:prstGeom prst="roundRect">
            <a:avLst>
              <a:gd name="adj" fmla="val 20000"/>
            </a:avLst>
          </a:prstGeom>
          <a:solidFill>
            <a:srgbClr val="FFF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31520" y="3287267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03A5D"/>
                </a:solidFill>
                <a:latin typeface="Segoe UI"/>
              </a:rPr>
              <a:t>НАШ · ONE'S лоток 210 г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346704" y="3314699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—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059935" y="3314699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210 г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718304" y="3314699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991331" y="3364991"/>
            <a:ext cx="36576" cy="8229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5941039" y="3355847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F9A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5881603" y="3296411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 w="25400">
            <a:solidFill>
              <a:srgbClr val="303A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74211" y="3296411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153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31520" y="3613403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Gallina Blanca Yatekomo · 84 г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346704" y="3640835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059935" y="3640835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84 г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718304" y="3640835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446474" y="3691127"/>
            <a:ext cx="36576" cy="82296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6396182" y="3681983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E9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6396182" y="3681983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E9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6336746" y="3622547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629354" y="3622547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229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31520" y="3939539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Ottogi · 217–247 г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346704" y="3966971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Корея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059935" y="3966971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217,5–247 г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718304" y="3966971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422517" y="4017263"/>
            <a:ext cx="568985" cy="82296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6372225" y="4008119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E9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6551904" y="4008119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E9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6402628" y="3948683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174382" y="3948683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225–320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31520" y="4265675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Ottogi · 269–280 г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346704" y="4293107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Корея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059935" y="4293107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269–280 г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718304" y="4293107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17890"/>
                </a:solidFill>
                <a:latin typeface="Segoe UI"/>
              </a:rPr>
              <a:t>3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6584228" y="4343399"/>
            <a:ext cx="491124" cy="82296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6551904" y="4334255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E9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6533936" y="4334255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E9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7025060" y="4334255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E9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6492468" y="4274819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258232" y="4274819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252–334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31520" y="4591811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Ottogi · 310–320 г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346704" y="4619243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Корея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059935" y="4619243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310–320 г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718304" y="4619243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6584228" y="4669535"/>
            <a:ext cx="622889" cy="82296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6533936" y="4660391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E9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6551904" y="4660391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E9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ounded Rectangle 116"/>
          <p:cNvSpPr/>
          <p:nvPr/>
        </p:nvSpPr>
        <p:spPr>
          <a:xfrm>
            <a:off x="6533936" y="4660391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E9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6551904" y="4660391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E9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7156825" y="4660391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E9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ounded Rectangle 119"/>
          <p:cNvSpPr/>
          <p:nvPr/>
        </p:nvSpPr>
        <p:spPr>
          <a:xfrm>
            <a:off x="6492468" y="4600955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389997" y="4600955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252–356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603504" y="4892039"/>
            <a:ext cx="10984961" cy="289560"/>
          </a:xfrm>
          <a:prstGeom prst="roundRect">
            <a:avLst>
              <a:gd name="adj" fmla="val 20000"/>
            </a:avLst>
          </a:prstGeom>
          <a:solidFill>
            <a:srgbClr val="FFF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31520" y="4917947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03A5D"/>
                </a:solidFill>
                <a:latin typeface="Segoe UI"/>
              </a:rPr>
              <a:t>НАШ · BSCM подвійний 2×125 г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346704" y="4945379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—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059935" y="4945379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2×125 г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718304" y="4945379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17890"/>
                </a:solidFill>
                <a:latin typeface="Segoe UI"/>
              </a:rPr>
              <a:t>7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6386917" y="4995671"/>
            <a:ext cx="362891" cy="8229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6559943" y="4986527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F9A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ounded Rectangle 128"/>
          <p:cNvSpPr/>
          <p:nvPr/>
        </p:nvSpPr>
        <p:spPr>
          <a:xfrm>
            <a:off x="6420369" y="4986527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F9A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ounded Rectangle 129"/>
          <p:cNvSpPr/>
          <p:nvPr/>
        </p:nvSpPr>
        <p:spPr>
          <a:xfrm>
            <a:off x="6559943" y="4986527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F9A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ounded Rectangle 130"/>
          <p:cNvSpPr/>
          <p:nvPr/>
        </p:nvSpPr>
        <p:spPr>
          <a:xfrm>
            <a:off x="6559988" y="4986527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F9A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ounded Rectangle 131"/>
          <p:cNvSpPr/>
          <p:nvPr/>
        </p:nvSpPr>
        <p:spPr>
          <a:xfrm>
            <a:off x="6699517" y="4986527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F9A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6336625" y="4986527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F9A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ounded Rectangle 133"/>
          <p:cNvSpPr/>
          <p:nvPr/>
        </p:nvSpPr>
        <p:spPr>
          <a:xfrm>
            <a:off x="6559943" y="4986527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F9A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ounded Rectangle 134"/>
          <p:cNvSpPr/>
          <p:nvPr/>
        </p:nvSpPr>
        <p:spPr>
          <a:xfrm>
            <a:off x="6500507" y="4927091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 w="25400">
            <a:solidFill>
              <a:srgbClr val="303A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932689" y="4927091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219–280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603504" y="5218175"/>
            <a:ext cx="10984961" cy="289560"/>
          </a:xfrm>
          <a:prstGeom prst="roundRect">
            <a:avLst>
              <a:gd name="adj" fmla="val 20000"/>
            </a:avLst>
          </a:prstGeom>
          <a:solidFill>
            <a:srgbClr val="FFF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731520" y="5244083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03A5D"/>
                </a:solidFill>
                <a:latin typeface="Segoe UI"/>
              </a:rPr>
              <a:t>НАШ · ONE'S fried rice 200 г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346704" y="5271515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—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059935" y="5271515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200 г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4718304" y="5271515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17890"/>
                </a:solidFill>
                <a:latin typeface="Segoe UI"/>
              </a:rPr>
              <a:t>3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7060474" y="5321807"/>
            <a:ext cx="36576" cy="8229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ounded Rectangle 142"/>
          <p:cNvSpPr/>
          <p:nvPr/>
        </p:nvSpPr>
        <p:spPr>
          <a:xfrm>
            <a:off x="7010182" y="5312663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F9A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7010182" y="5312663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F9A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ounded Rectangle 144"/>
          <p:cNvSpPr/>
          <p:nvPr/>
        </p:nvSpPr>
        <p:spPr>
          <a:xfrm>
            <a:off x="7010182" y="5312663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F9A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ounded Rectangle 145"/>
          <p:cNvSpPr/>
          <p:nvPr/>
        </p:nvSpPr>
        <p:spPr>
          <a:xfrm>
            <a:off x="6950746" y="5253227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 w="25400">
            <a:solidFill>
              <a:srgbClr val="303A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243354" y="5253227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332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731520" y="5570219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Mo Xiao Xian · 275 г (саморозігрів)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346704" y="5597651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059935" y="5597651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C2235"/>
                </a:solidFill>
                <a:latin typeface="Segoe UI"/>
              </a:rPr>
              <a:t>275 г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718304" y="5597651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10650976" y="5647943"/>
            <a:ext cx="36576" cy="82296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ounded Rectangle 152"/>
          <p:cNvSpPr/>
          <p:nvPr/>
        </p:nvSpPr>
        <p:spPr>
          <a:xfrm>
            <a:off x="10600684" y="5638799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E9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ounded Rectangle 153"/>
          <p:cNvSpPr/>
          <p:nvPr/>
        </p:nvSpPr>
        <p:spPr>
          <a:xfrm>
            <a:off x="10600684" y="5638799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E9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ounded Rectangle 154"/>
          <p:cNvSpPr/>
          <p:nvPr/>
        </p:nvSpPr>
        <p:spPr>
          <a:xfrm>
            <a:off x="10541248" y="5579363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0833856" y="5579363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931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03504" y="647395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Роздрібна ціна за одну упаковку: конкуренти — мінімальна ціна позиції на сайтах продавців; наші — полиця за фінмоделлю з ПДВ.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C95C"/>
                </a:solidFill>
                <a:latin typeface="Segoe UI"/>
              </a:rPr>
              <a:t>ХТО З КИМ СТОЇТЬ · КАРТА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Карта цін: формат × цінова смуга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717890"/>
                </a:solidFill>
                <a:latin typeface="Segoe UI"/>
              </a:rPr>
              <a:t>Усі бренди в клітинках за мінімальною ціною позиції; помаранчеве — наші товари за ціною полиці.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91640" y="1627632"/>
            <a:ext cx="2402586" cy="292608"/>
          </a:xfrm>
          <a:prstGeom prst="roundRect">
            <a:avLst>
              <a:gd name="adj" fmla="val 25000"/>
            </a:avLst>
          </a:prstGeom>
          <a:solidFill>
            <a:srgbClr val="C48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91640" y="1627632"/>
            <a:ext cx="240258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Пауч · 34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7378" y="1627632"/>
            <a:ext cx="2402586" cy="292608"/>
          </a:xfrm>
          <a:prstGeom prst="roundRect">
            <a:avLst>
              <a:gd name="adj" fmla="val 25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7378" y="1627632"/>
            <a:ext cx="240258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Чаша · 23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43116" y="1627632"/>
            <a:ext cx="2402586" cy="292608"/>
          </a:xfrm>
          <a:prstGeom prst="roundRect">
            <a:avLst>
              <a:gd name="adj" fmla="val 25000"/>
            </a:avLst>
          </a:prstGeom>
          <a:solidFill>
            <a:srgbClr val="5E4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43116" y="1627632"/>
            <a:ext cx="240258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Дойпак · 34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18854" y="1627632"/>
            <a:ext cx="2402586" cy="292608"/>
          </a:xfrm>
          <a:prstGeom prst="roundRect">
            <a:avLst>
              <a:gd name="adj" fmla="val 25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18854" y="1627632"/>
            <a:ext cx="240258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Коробка · 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" y="2225040"/>
            <a:ext cx="9601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до 100 грн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91640" y="1993392"/>
            <a:ext cx="2402586" cy="691895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83080" y="2029968"/>
            <a:ext cx="2219706" cy="627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1C2235"/>
                </a:solidFill>
                <a:latin typeface="Segoe UI"/>
              </a:rPr>
              <a:t>Ben's Original ×6 · Portion · Маркел · М'ясниця · МАКРО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7378" y="1993392"/>
            <a:ext cx="2402586" cy="691895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58818" y="2029968"/>
            <a:ext cx="2219706" cy="627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1C2235"/>
                </a:solidFill>
                <a:latin typeface="Segoe UI"/>
              </a:rPr>
              <a:t>Henan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43116" y="1993392"/>
            <a:ext cx="2402586" cy="691895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34555" y="2029968"/>
            <a:ext cx="2219706" cy="627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1C2235"/>
                </a:solidFill>
                <a:latin typeface="Segoe UI"/>
              </a:rPr>
              <a:t>James Cook ×3 · Харчі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18854" y="1993392"/>
            <a:ext cx="2402586" cy="691895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0294" y="2029968"/>
            <a:ext cx="221970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A9B0C4"/>
                </a:solidFill>
                <a:latin typeface="Segoe UI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" y="2962656"/>
            <a:ext cx="9601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100–149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691640" y="2731008"/>
            <a:ext cx="2402586" cy="691895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83080" y="2767584"/>
            <a:ext cx="2219706" cy="4632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1C2235"/>
                </a:solidFill>
                <a:latin typeface="Segoe UI"/>
              </a:rPr>
              <a:t>Ben's Original ×6 · МАКРО ×2 · Верес ×2 · Ходорівський ×2 · Маркел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764792" y="3230880"/>
            <a:ext cx="2256282" cy="150876"/>
          </a:xfrm>
          <a:prstGeom prst="roundRect">
            <a:avLst>
              <a:gd name="adj" fmla="val 4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64792" y="3230880"/>
            <a:ext cx="2256282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303A5D"/>
                </a:solidFill>
                <a:latin typeface="Segoe UI"/>
              </a:rPr>
              <a:t>BSCM пауч 150 г ×1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67378" y="2731008"/>
            <a:ext cx="2402586" cy="691895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58818" y="2767584"/>
            <a:ext cx="2219706" cy="4632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1C2235"/>
                </a:solidFill>
                <a:latin typeface="Segoe UI"/>
              </a:rPr>
              <a:t>Henan ×6 · Bibigo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40530" y="3230880"/>
            <a:ext cx="2256282" cy="150876"/>
          </a:xfrm>
          <a:prstGeom prst="roundRect">
            <a:avLst>
              <a:gd name="adj" fmla="val 4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40530" y="3230880"/>
            <a:ext cx="2256282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303A5D"/>
                </a:solidFill>
                <a:latin typeface="Segoe UI"/>
              </a:rPr>
              <a:t>BSCM стакан 150 г ×2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43116" y="2731008"/>
            <a:ext cx="2402586" cy="691895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34555" y="2767584"/>
            <a:ext cx="2219706" cy="627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1C2235"/>
                </a:solidFill>
                <a:latin typeface="Segoe UI"/>
              </a:rPr>
              <a:t>Їжа в Похід ×2 · Харчі ×2 · !FEST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18854" y="2731008"/>
            <a:ext cx="2402586" cy="691895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10294" y="2767584"/>
            <a:ext cx="221970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A9B0C4"/>
                </a:solidFill>
                <a:latin typeface="Segoe UI"/>
              </a:rP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504" y="3700272"/>
            <a:ext cx="9601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150–199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691640" y="3468624"/>
            <a:ext cx="2402586" cy="691895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783080" y="3505200"/>
            <a:ext cx="2219706" cy="134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1C2235"/>
                </a:solidFill>
                <a:latin typeface="Segoe UI"/>
              </a:rPr>
              <a:t>Ben's Original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764792" y="3639312"/>
            <a:ext cx="2256282" cy="150876"/>
          </a:xfrm>
          <a:prstGeom prst="roundRect">
            <a:avLst>
              <a:gd name="adj" fmla="val 4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764792" y="3639312"/>
            <a:ext cx="2256282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303A5D"/>
                </a:solidFill>
                <a:latin typeface="Segoe UI"/>
              </a:rPr>
              <a:t>BSCM пауч 150 г ×3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764792" y="3803904"/>
            <a:ext cx="2256282" cy="150876"/>
          </a:xfrm>
          <a:prstGeom prst="roundRect">
            <a:avLst>
              <a:gd name="adj" fmla="val 4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764792" y="3803904"/>
            <a:ext cx="2256282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303A5D"/>
                </a:solidFill>
                <a:latin typeface="Segoe UI"/>
              </a:rPr>
              <a:t>BSCM пауч 200 г ×4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764792" y="3968496"/>
            <a:ext cx="2256282" cy="150876"/>
          </a:xfrm>
          <a:prstGeom prst="roundRect">
            <a:avLst>
              <a:gd name="adj" fmla="val 4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764792" y="3968496"/>
            <a:ext cx="2256282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303A5D"/>
                </a:solidFill>
                <a:latin typeface="Segoe UI"/>
              </a:rPr>
              <a:t>BSCM пауч 240 г ×3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167378" y="3468624"/>
            <a:ext cx="2402586" cy="691895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58818" y="3505200"/>
            <a:ext cx="2219706" cy="298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1C2235"/>
                </a:solidFill>
                <a:latin typeface="Segoe UI"/>
              </a:rPr>
              <a:t>Henan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240530" y="3803904"/>
            <a:ext cx="2256282" cy="150876"/>
          </a:xfrm>
          <a:prstGeom prst="roundRect">
            <a:avLst>
              <a:gd name="adj" fmla="val 4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40530" y="3803904"/>
            <a:ext cx="2256282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303A5D"/>
                </a:solidFill>
                <a:latin typeface="Segoe UI"/>
              </a:rPr>
              <a:t>BSCM стакан 150 г ×3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240530" y="3968496"/>
            <a:ext cx="2256282" cy="150876"/>
          </a:xfrm>
          <a:prstGeom prst="roundRect">
            <a:avLst>
              <a:gd name="adj" fmla="val 4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40530" y="3968496"/>
            <a:ext cx="2256282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303A5D"/>
                </a:solidFill>
                <a:latin typeface="Segoe UI"/>
              </a:rPr>
              <a:t>ONE'S лоток 210 г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643116" y="3468624"/>
            <a:ext cx="2402586" cy="691895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734555" y="3505200"/>
            <a:ext cx="2219706" cy="627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1C2235"/>
                </a:solidFill>
                <a:latin typeface="Segoe UI"/>
              </a:rPr>
              <a:t>James Cook · Харчі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118854" y="3468624"/>
            <a:ext cx="2402586" cy="691895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210294" y="3505200"/>
            <a:ext cx="221970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A9B0C4"/>
                </a:solidFill>
                <a:latin typeface="Segoe UI"/>
              </a:rPr>
              <a:t>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3504" y="4437888"/>
            <a:ext cx="9601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200–299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691640" y="4206240"/>
            <a:ext cx="2402586" cy="691895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783080" y="4242816"/>
            <a:ext cx="2219706" cy="4632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1C2235"/>
                </a:solidFill>
                <a:latin typeface="Segoe UI"/>
              </a:rPr>
              <a:t>Seeds of Change ×4 · Clearspring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764792" y="4706112"/>
            <a:ext cx="2256282" cy="150876"/>
          </a:xfrm>
          <a:prstGeom prst="roundRect">
            <a:avLst>
              <a:gd name="adj" fmla="val 4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764792" y="4706112"/>
            <a:ext cx="2256282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303A5D"/>
                </a:solidFill>
                <a:latin typeface="Segoe UI"/>
              </a:rPr>
              <a:t>BSCM пауч 240 г ×1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167378" y="4206240"/>
            <a:ext cx="2402586" cy="691895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258818" y="4242816"/>
            <a:ext cx="2219706" cy="4632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1C2235"/>
                </a:solidFill>
                <a:latin typeface="Segoe UI"/>
              </a:rPr>
              <a:t>Ottogi ×8 · Gallina Blanca ×2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240530" y="4706112"/>
            <a:ext cx="2256282" cy="150876"/>
          </a:xfrm>
          <a:prstGeom prst="roundRect">
            <a:avLst>
              <a:gd name="adj" fmla="val 4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240530" y="4706112"/>
            <a:ext cx="2256282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303A5D"/>
                </a:solidFill>
                <a:latin typeface="Segoe UI"/>
              </a:rPr>
              <a:t>BSCM подвійний 2×125 г ×7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643116" y="4206240"/>
            <a:ext cx="2402586" cy="691895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734555" y="4242816"/>
            <a:ext cx="2219706" cy="627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1C2235"/>
                </a:solidFill>
                <a:latin typeface="Segoe UI"/>
              </a:rPr>
              <a:t>Travellunch ×2 · Trek'n Eat · SubliMate · Харчі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118854" y="4206240"/>
            <a:ext cx="2402586" cy="691895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210294" y="4242816"/>
            <a:ext cx="221970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A9B0C4"/>
                </a:solidFill>
                <a:latin typeface="Segoe UI"/>
              </a:rPr>
              <a:t>—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03504" y="5175504"/>
            <a:ext cx="9601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300–499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691640" y="4943856"/>
            <a:ext cx="2402586" cy="691895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783080" y="4980432"/>
            <a:ext cx="2219706" cy="627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1C2235"/>
                </a:solidFill>
                <a:latin typeface="Segoe UI"/>
              </a:rPr>
              <a:t>Adventure Menu ×3 · Seeds of Change ×2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167378" y="4943856"/>
            <a:ext cx="2402586" cy="691895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258818" y="4980432"/>
            <a:ext cx="2219706" cy="4632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1C2235"/>
                </a:solidFill>
                <a:latin typeface="Segoe UI"/>
              </a:rPr>
              <a:t>Ottogi ×2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240530" y="5443728"/>
            <a:ext cx="2256282" cy="150876"/>
          </a:xfrm>
          <a:prstGeom prst="roundRect">
            <a:avLst>
              <a:gd name="adj" fmla="val 4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240530" y="5443728"/>
            <a:ext cx="2256282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303A5D"/>
                </a:solidFill>
                <a:latin typeface="Segoe UI"/>
              </a:rPr>
              <a:t>ONE'S fried rice 200 г ×3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643116" y="4943856"/>
            <a:ext cx="2402586" cy="691895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734555" y="4980432"/>
            <a:ext cx="2219706" cy="627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1C2235"/>
                </a:solidFill>
                <a:latin typeface="Segoe UI"/>
              </a:rPr>
              <a:t>Adventure Food ×2 · Adventure Menu ×2 · SubliMate ×2 · Travellunch · Харчі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118854" y="4943856"/>
            <a:ext cx="2402586" cy="691895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210294" y="4980432"/>
            <a:ext cx="2219706" cy="627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1C2235"/>
                </a:solidFill>
                <a:latin typeface="Segoe UI"/>
              </a:rPr>
              <a:t>Haidilao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3504" y="5913120"/>
            <a:ext cx="9601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500+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691640" y="5681472"/>
            <a:ext cx="2402586" cy="691895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783080" y="5718048"/>
            <a:ext cx="221970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A9B0C4"/>
                </a:solidFill>
                <a:latin typeface="Segoe UI"/>
              </a:rPr>
              <a:t>—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167378" y="5681472"/>
            <a:ext cx="2402586" cy="691895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258818" y="5718048"/>
            <a:ext cx="2219706" cy="627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1C2235"/>
                </a:solidFill>
                <a:latin typeface="Segoe UI"/>
              </a:rPr>
              <a:t>Mo Xiao Xian ×2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643116" y="5681472"/>
            <a:ext cx="2402586" cy="691895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734555" y="5718048"/>
            <a:ext cx="2219706" cy="627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1C2235"/>
                </a:solidFill>
                <a:latin typeface="Segoe UI"/>
              </a:rPr>
              <a:t>Travellunch ×4 · Qiaoshanmei ×3 · Mountain House ×2 · Trek'n Eat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9118854" y="5681472"/>
            <a:ext cx="2402586" cy="691895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210294" y="5718048"/>
            <a:ext cx="2219706" cy="627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1C2235"/>
                </a:solidFill>
                <a:latin typeface="Segoe UI"/>
              </a:rPr>
              <a:t>Haidilao ×10 · Zihaiguo · Rongcheng Haoji · Forestia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03504" y="647395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Чорний текст — бренди конкурентів і кількість їхніх позицій у смузі (за мінімальною ціною на сайтах продавців); помаранчеві плашки — наші товарні групи (полиця за фінмоделлю з ПДВ), ×n — число смаків у смузі.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C95C"/>
                </a:solidFill>
                <a:latin typeface="Segoe UI"/>
              </a:rPr>
              <a:t>ХТО З КИМ СТОЇТЬ · СУСІДИ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Найближчі за ціною до кожного нашого товару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717890"/>
                </a:solidFill>
                <a:latin typeface="Segoe UI"/>
              </a:rPr>
              <a:t>Конкуренти сегментів 1–2 (готовий рис і рис під окріп): три найближчі нижче й вище, плюс коридор ±20 %.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627632"/>
            <a:ext cx="2331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НАШ ТОВАР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4952" y="1627632"/>
            <a:ext cx="3246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ДЕШЕВШЕ ЗА НАС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91072" y="1627632"/>
            <a:ext cx="3246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ДОРОЖЧЕ ЗА НАС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37191" y="1627632"/>
            <a:ext cx="21305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КОРИДОР ±20 %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" y="1847088"/>
            <a:ext cx="10954512" cy="512063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" y="1847088"/>
            <a:ext cx="64008" cy="512063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1892807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03A5D"/>
                </a:solidFill>
                <a:latin typeface="Segoe UI"/>
              </a:rPr>
              <a:t>BSCM пауч 150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2112264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9A50B"/>
                </a:solidFill>
                <a:latin typeface="Segoe UI"/>
              </a:rPr>
              <a:t>133–169 грн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4952" y="1874519"/>
            <a:ext cx="3063239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C2235"/>
                </a:solidFill>
                <a:latin typeface="Segoe UI"/>
              </a:rPr>
              <a:t>Henan Тушкована курка · 174 г · 129</a:t>
            </a:r>
          </a:p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C2235"/>
                </a:solidFill>
                <a:latin typeface="Segoe UI"/>
              </a:rPr>
              <a:t>Маркел Рис із рослинним фарш… · 350 г · 127</a:t>
            </a:r>
          </a:p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C2235"/>
                </a:solidFill>
                <a:latin typeface="Segoe UI"/>
              </a:rPr>
              <a:t>Henan Кантонська ковбаска · 174 г · 118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1874519"/>
            <a:ext cx="3063239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C2235"/>
                </a:solidFill>
                <a:latin typeface="Segoe UI"/>
              </a:rPr>
              <a:t>Ben's Original Sweet Chili · 220 г · 179</a:t>
            </a:r>
          </a:p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C2235"/>
                </a:solidFill>
                <a:latin typeface="Segoe UI"/>
              </a:rPr>
              <a:t>Seeds of Change Brown Basmati Rice · 240 г · 208</a:t>
            </a:r>
          </a:p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C2235"/>
                </a:solidFill>
                <a:latin typeface="Segoe UI"/>
              </a:rPr>
              <a:t>Seeds of Change Quinoa &amp; Brown Rice з… · 240 г · 210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37191" y="1883664"/>
            <a:ext cx="1947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03A5D"/>
                </a:solidFill>
                <a:latin typeface="Segoe UI"/>
              </a:rPr>
              <a:t>12 позицій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37191" y="2093976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717890"/>
                </a:solidFill>
                <a:latin typeface="Segoe UI"/>
              </a:rPr>
              <a:t>Henan, Ben's Original, Ходорівський, Bibigo…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" y="2395728"/>
            <a:ext cx="64008" cy="512063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2441448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03A5D"/>
                </a:solidFill>
                <a:latin typeface="Segoe UI"/>
              </a:rPr>
              <a:t>BSCM пауч 200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2660904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9A50B"/>
                </a:solidFill>
                <a:latin typeface="Segoe UI"/>
              </a:rPr>
              <a:t>150–185 грн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44952" y="2423160"/>
            <a:ext cx="3063239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C2235"/>
                </a:solidFill>
                <a:latin typeface="Segoe UI"/>
              </a:rPr>
              <a:t>Ben's Original Для боулів · 220 г · 149</a:t>
            </a:r>
          </a:p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C2235"/>
                </a:solidFill>
                <a:latin typeface="Segoe UI"/>
              </a:rPr>
              <a:t>Ben's Original Curryreis Indien · 220 г · 144</a:t>
            </a:r>
          </a:p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C2235"/>
                </a:solidFill>
                <a:latin typeface="Segoe UI"/>
              </a:rPr>
              <a:t>Henan Гребінці та гриби · 174 г · 140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91072" y="2423160"/>
            <a:ext cx="3063239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C2235"/>
                </a:solidFill>
                <a:latin typeface="Segoe UI"/>
              </a:rPr>
              <a:t>Seeds of Change Brown Basmati Rice · 240 г · 208</a:t>
            </a:r>
          </a:p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C2235"/>
                </a:solidFill>
                <a:latin typeface="Segoe UI"/>
              </a:rPr>
              <a:t>Seeds of Change Quinoa &amp; Brown Rice з… · 240 г · 210</a:t>
            </a:r>
          </a:p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C2235"/>
                </a:solidFill>
                <a:latin typeface="Segoe UI"/>
              </a:rPr>
              <a:t>Ottogi Тунець і майонез · 247 г · 225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37191" y="2432304"/>
            <a:ext cx="1947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03A5D"/>
                </a:solidFill>
                <a:latin typeface="Segoe UI"/>
              </a:rPr>
              <a:t>8 позицій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37191" y="2642616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717890"/>
                </a:solidFill>
                <a:latin typeface="Segoe UI"/>
              </a:rPr>
              <a:t>Ben's Original, Henan, Ходорівський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" y="2944368"/>
            <a:ext cx="10954512" cy="512063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03504" y="2944368"/>
            <a:ext cx="64008" cy="512063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2990088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03A5D"/>
                </a:solidFill>
                <a:latin typeface="Segoe UI"/>
              </a:rPr>
              <a:t>BSCM пауч 240 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" y="3209544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9A50B"/>
                </a:solidFill>
                <a:latin typeface="Segoe UI"/>
              </a:rPr>
              <a:t>157–202 грн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44952" y="2971800"/>
            <a:ext cx="3063239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C2235"/>
                </a:solidFill>
                <a:latin typeface="Segoe UI"/>
              </a:rPr>
              <a:t>Henan Курка з баклажанами · 144 г · 152</a:t>
            </a:r>
          </a:p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C2235"/>
                </a:solidFill>
                <a:latin typeface="Segoe UI"/>
              </a:rPr>
              <a:t>Ben's Original Для боулів · 220 г · 149</a:t>
            </a:r>
          </a:p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C2235"/>
                </a:solidFill>
                <a:latin typeface="Segoe UI"/>
              </a:rPr>
              <a:t>Ben's Original Curryreis Indien · 220 г · 144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1072" y="2971800"/>
            <a:ext cx="3063239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C2235"/>
                </a:solidFill>
                <a:latin typeface="Segoe UI"/>
              </a:rPr>
              <a:t>Seeds of Change Brown Basmati Rice · 240 г · 208</a:t>
            </a:r>
          </a:p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C2235"/>
                </a:solidFill>
                <a:latin typeface="Segoe UI"/>
              </a:rPr>
              <a:t>Seeds of Change Quinoa &amp; Brown Rice з… · 240 г · 210</a:t>
            </a:r>
          </a:p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C2235"/>
                </a:solidFill>
                <a:latin typeface="Segoe UI"/>
              </a:rPr>
              <a:t>Ottogi Тунець і майонез · 247 г · 225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37191" y="2980944"/>
            <a:ext cx="1947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03A5D"/>
                </a:solidFill>
                <a:latin typeface="Segoe UI"/>
              </a:rPr>
              <a:t>6 позицій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1" y="3191256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717890"/>
                </a:solidFill>
                <a:latin typeface="Segoe UI"/>
              </a:rPr>
              <a:t>Ben's Original, Henan, Seeds of Change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3504" y="3493008"/>
            <a:ext cx="64008" cy="512063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8096" y="3538728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03A5D"/>
                </a:solidFill>
                <a:latin typeface="Segoe UI"/>
              </a:rPr>
              <a:t>CM Premium пауч 250 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" y="3758184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9A50B"/>
                </a:solidFill>
                <a:latin typeface="Segoe UI"/>
              </a:rPr>
              <a:t>178 грн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44952" y="3520440"/>
            <a:ext cx="3063239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C2235"/>
                </a:solidFill>
                <a:latin typeface="Segoe UI"/>
              </a:rPr>
              <a:t>Henan Курка з баклажанами · 144 г · 152</a:t>
            </a:r>
          </a:p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C2235"/>
                </a:solidFill>
                <a:latin typeface="Segoe UI"/>
              </a:rPr>
              <a:t>Ben's Original Для боулів · 220 г · 149</a:t>
            </a:r>
          </a:p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C2235"/>
                </a:solidFill>
                <a:latin typeface="Segoe UI"/>
              </a:rPr>
              <a:t>Ben's Original Curryreis Indien · 220 г · 144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91072" y="3520440"/>
            <a:ext cx="3063239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C2235"/>
                </a:solidFill>
                <a:latin typeface="Segoe UI"/>
              </a:rPr>
              <a:t>Ben's Original Sweet Chili · 220 г · 179</a:t>
            </a:r>
          </a:p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C2235"/>
                </a:solidFill>
                <a:latin typeface="Segoe UI"/>
              </a:rPr>
              <a:t>Seeds of Change Brown Basmati Rice · 240 г · 208</a:t>
            </a:r>
          </a:p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C2235"/>
                </a:solidFill>
                <a:latin typeface="Segoe UI"/>
              </a:rPr>
              <a:t>Seeds of Change Quinoa &amp; Brown Rice з… · 240 г · 210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37191" y="3529584"/>
            <a:ext cx="1947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03A5D"/>
                </a:solidFill>
                <a:latin typeface="Segoe UI"/>
              </a:rPr>
              <a:t>6 позицій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37191" y="3739896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717890"/>
                </a:solidFill>
                <a:latin typeface="Segoe UI"/>
              </a:rPr>
              <a:t>Ben's Original, Henan, Seeds of Change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3504" y="4041648"/>
            <a:ext cx="10954512" cy="512063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03504" y="4041648"/>
            <a:ext cx="64008" cy="512063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8096" y="4087368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03A5D"/>
                </a:solidFill>
                <a:latin typeface="Segoe UI"/>
              </a:rPr>
              <a:t>BSCM стакан 150 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8096" y="4306824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9A50B"/>
                </a:solidFill>
                <a:latin typeface="Segoe UI"/>
              </a:rPr>
              <a:t>139–150 грн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44952" y="4069080"/>
            <a:ext cx="3063239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C2235"/>
                </a:solidFill>
                <a:latin typeface="Segoe UI"/>
              </a:rPr>
              <a:t>Henan Кисло-солодка яловичи… · 144 г · 135</a:t>
            </a:r>
          </a:p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C2235"/>
                </a:solidFill>
                <a:latin typeface="Segoe UI"/>
              </a:rPr>
              <a:t>Bibigo Білий рис · 210 г · 135</a:t>
            </a:r>
          </a:p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C2235"/>
                </a:solidFill>
                <a:latin typeface="Segoe UI"/>
              </a:rPr>
              <a:t>Henan Тушкована курка · 174 г · 129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91072" y="4069080"/>
            <a:ext cx="3063239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C2235"/>
                </a:solidFill>
                <a:latin typeface="Segoe UI"/>
              </a:rPr>
              <a:t>Henan Курка з баклажанами · 144 г · 152</a:t>
            </a:r>
          </a:p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C2235"/>
                </a:solidFill>
                <a:latin typeface="Segoe UI"/>
              </a:rPr>
              <a:t>Ben's Original Sweet Chili · 220 г · 179</a:t>
            </a:r>
          </a:p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C2235"/>
                </a:solidFill>
                <a:latin typeface="Segoe UI"/>
              </a:rPr>
              <a:t>Seeds of Change Brown Basmati Rice · 240 г · 208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37191" y="4078224"/>
            <a:ext cx="1947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03A5D"/>
                </a:solidFill>
                <a:latin typeface="Segoe UI"/>
              </a:rPr>
              <a:t>12 позицій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37191" y="4288536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717890"/>
                </a:solidFill>
                <a:latin typeface="Segoe UI"/>
              </a:rPr>
              <a:t>Ben's Original, Henan, Ходорівський, Bibigo…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03504" y="4590288"/>
            <a:ext cx="64008" cy="512063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68096" y="4636007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03A5D"/>
                </a:solidFill>
                <a:latin typeface="Segoe UI"/>
              </a:rPr>
              <a:t>BSCM подвійний 2×125 г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8096" y="4855464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9A50B"/>
                </a:solidFill>
                <a:latin typeface="Segoe UI"/>
              </a:rPr>
              <a:t>219–280 грн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44952" y="4617720"/>
            <a:ext cx="3063239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C2235"/>
                </a:solidFill>
                <a:latin typeface="Segoe UI"/>
              </a:rPr>
              <a:t>Seeds of Change Quinoa &amp; Brown Rice з… · 240 г · 210</a:t>
            </a:r>
          </a:p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C2235"/>
                </a:solidFill>
                <a:latin typeface="Segoe UI"/>
              </a:rPr>
              <a:t>Seeds of Change Brown Basmati Rice · 240 г · 208</a:t>
            </a:r>
          </a:p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C2235"/>
                </a:solidFill>
                <a:latin typeface="Segoe UI"/>
              </a:rPr>
              <a:t>Ben's Original Sweet Chili · 220 г · 179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91072" y="4617720"/>
            <a:ext cx="3063239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C2235"/>
                </a:solidFill>
                <a:latin typeface="Segoe UI"/>
              </a:rPr>
              <a:t>Seeds of Change Brown &amp; Wild Rice, то… · 240 г · 300</a:t>
            </a:r>
          </a:p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C2235"/>
                </a:solidFill>
                <a:latin typeface="Segoe UI"/>
              </a:rPr>
              <a:t>Adventure Menu Курка в томатному соу… · 400 г · 315</a:t>
            </a:r>
          </a:p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C2235"/>
                </a:solidFill>
                <a:latin typeface="Segoe UI"/>
              </a:rPr>
              <a:t>Ottogi Гостра свинина · 269 г · 334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37191" y="4626864"/>
            <a:ext cx="1947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03A5D"/>
                </a:solidFill>
                <a:latin typeface="Segoe UI"/>
              </a:rPr>
              <a:t>16 позицій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37191" y="4837175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717890"/>
                </a:solidFill>
                <a:latin typeface="Segoe UI"/>
              </a:rPr>
              <a:t>Ottogi, Seeds of Change, Clearspring, Gallina Blanca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03504" y="5138927"/>
            <a:ext cx="10954512" cy="512063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03504" y="5138927"/>
            <a:ext cx="64008" cy="512063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68096" y="5184647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03A5D"/>
                </a:solidFill>
                <a:latin typeface="Segoe UI"/>
              </a:rPr>
              <a:t>ONE'S лоток 210 г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8096" y="5404103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9A50B"/>
                </a:solidFill>
                <a:latin typeface="Segoe UI"/>
              </a:rPr>
              <a:t>153 грн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044952" y="5166359"/>
            <a:ext cx="3063239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C2235"/>
                </a:solidFill>
                <a:latin typeface="Segoe UI"/>
              </a:rPr>
              <a:t>Henan Курка з баклажанами · 144 г · 152</a:t>
            </a:r>
          </a:p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C2235"/>
                </a:solidFill>
                <a:latin typeface="Segoe UI"/>
              </a:rPr>
              <a:t>Ben's Original Для боулів · 220 г · 149</a:t>
            </a:r>
          </a:p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C2235"/>
                </a:solidFill>
                <a:latin typeface="Segoe UI"/>
              </a:rPr>
              <a:t>Ben's Original Curryreis Indien · 220 г · 144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91072" y="5166359"/>
            <a:ext cx="3063239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C2235"/>
                </a:solidFill>
                <a:latin typeface="Segoe UI"/>
              </a:rPr>
              <a:t>Ben's Original Sweet Chili · 220 г · 179</a:t>
            </a:r>
          </a:p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C2235"/>
                </a:solidFill>
                <a:latin typeface="Segoe UI"/>
              </a:rPr>
              <a:t>Seeds of Change Brown Basmati Rice · 240 г · 208</a:t>
            </a:r>
          </a:p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C2235"/>
                </a:solidFill>
                <a:latin typeface="Segoe UI"/>
              </a:rPr>
              <a:t>Seeds of Change Quinoa &amp; Brown Rice з… · 240 г · 210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537191" y="5175503"/>
            <a:ext cx="1947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03A5D"/>
                </a:solidFill>
                <a:latin typeface="Segoe UI"/>
              </a:rPr>
              <a:t>12 позицій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537191" y="5385815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717890"/>
                </a:solidFill>
                <a:latin typeface="Segoe UI"/>
              </a:rPr>
              <a:t>Henan, Ben's Original, Ходорівський, Bibigo…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03504" y="5687567"/>
            <a:ext cx="64008" cy="512063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68096" y="5733287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03A5D"/>
                </a:solidFill>
                <a:latin typeface="Segoe UI"/>
              </a:rPr>
              <a:t>ONE'S fried rice 200 г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8096" y="5952743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9A50B"/>
                </a:solidFill>
                <a:latin typeface="Segoe UI"/>
              </a:rPr>
              <a:t>332 грн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044952" y="5714999"/>
            <a:ext cx="3063239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C2235"/>
                </a:solidFill>
                <a:latin typeface="Segoe UI"/>
              </a:rPr>
              <a:t>Adventure Menu Курка в томатному соу… · 400 г · 315</a:t>
            </a:r>
          </a:p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C2235"/>
                </a:solidFill>
                <a:latin typeface="Segoe UI"/>
              </a:rPr>
              <a:t>Seeds of Change Brown &amp; Wild Rice, то… · 240 г · 300</a:t>
            </a:r>
          </a:p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C2235"/>
                </a:solidFill>
                <a:latin typeface="Segoe UI"/>
              </a:rPr>
              <a:t>Seeds of Change Brown Jasmine, кінза … · 240 г · 259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91072" y="5714999"/>
            <a:ext cx="3063239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C2235"/>
                </a:solidFill>
                <a:latin typeface="Segoe UI"/>
              </a:rPr>
              <a:t>Ottogi Гостра свинина · 269 г · 334</a:t>
            </a:r>
          </a:p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C2235"/>
                </a:solidFill>
                <a:latin typeface="Segoe UI"/>
              </a:rPr>
              <a:t>Adventure Menu Фрикадельки з басматі · 400 г · 336</a:t>
            </a:r>
          </a:p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C2235"/>
                </a:solidFill>
                <a:latin typeface="Segoe UI"/>
              </a:rPr>
              <a:t>Ottogi Гостра яловичина · 320 г · 356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537191" y="5724143"/>
            <a:ext cx="1947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03A5D"/>
                </a:solidFill>
                <a:latin typeface="Segoe UI"/>
              </a:rPr>
              <a:t>6 позицій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537191" y="5934455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717890"/>
                </a:solidFill>
                <a:latin typeface="Segoe UI"/>
              </a:rPr>
              <a:t>Ottogi, Adventure Menu, Seeds of Change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03504" y="647395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Формат запису: бренд, назва, вага, мінімальна ціна на сайтах продавців, грн. Коридор — позиції сегментів 1–2 із ціною ±20 % від медіани нашого товару. Наші ціни — полиця за фінмоделлю з ПДВ. Саморозігрів і сублімат — інший привід, до сусідів не входять.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</TotalTime>
  <Words>2952</Words>
  <Application>Microsoft Office PowerPoint</Application>
  <PresentationFormat>Широкий екран</PresentationFormat>
  <Paragraphs>836</Paragraphs>
  <Slides>23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6</vt:i4>
      </vt:variant>
      <vt:variant>
        <vt:lpstr>Тема</vt:lpstr>
      </vt:variant>
      <vt:variant>
        <vt:i4>11</vt:i4>
      </vt:variant>
      <vt:variant>
        <vt:lpstr>Заголовки слайдів</vt:lpstr>
      </vt:variant>
      <vt:variant>
        <vt:i4>23</vt:i4>
      </vt:variant>
    </vt:vector>
  </HeadingPairs>
  <TitlesOfParts>
    <vt:vector size="40" baseType="lpstr">
      <vt:lpstr>Arial</vt:lpstr>
      <vt:lpstr>Calibri</vt:lpstr>
      <vt:lpstr>Segoe UI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>generated using python-pptx</dc:description>
  <cp:lastModifiedBy>Чаплигін lлля</cp:lastModifiedBy>
  <cp:revision>9</cp:revision>
  <dcterms:created xsi:type="dcterms:W3CDTF">2013-01-27T09:14:16Z</dcterms:created>
  <dcterms:modified xsi:type="dcterms:W3CDTF">2026-10-06T08:49:21Z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